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9.2: Chapter 2, "The Privateers". Banner quote: “Most money you ever had, eh?” — “Yes, sir!” (Chapter 2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does Nat risk — and why? In Chapter 2, Nat spends the only coin he has on something uncertain — a share of a privateer voyage he may never see returned. What does it mean to invest in something when you can’t control the outcome? A poet named Emily Dickinson knew something about voyages, too — the kind you take inside a book.
Objectives:
- 📖 Reading: I will identify the storytelling choices Latham makes in Chapter 2 — scene and dialogue instead of summary.
- ✏️ Grammar: I will identify appositives and their commas in sentences from the novel.
- 🔤 Spelling: I will identify the quiet (schwa) syllable in new nautical words.
- 📜 Poetry: I will read and reflect on a poem about books as voyages.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father and nat hurried down to the wharf in salem to watch the privateers
Corrected: Father and Nat hurried down to the wharf in Salem to watch the privateers.
Four fixes: “Father” is capitalized because Nat uses it as a name (like “Dad”); “Nat” is a person’s name; “Salem” is the name of a town; the sentence needs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father and nat hurried down to the wharf in salem to watch the privateers
Corrected: Father and Nat hurried down to the wharf in Salem to watch the privateers.
Four fixes: “Father” is capitalized because Nat uses it as a name (like “Dad”); “Nat” is a person’s name; “Salem” is the name of a town; the sentence needs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
Emily Dickinson wrote this poem in the 1870s — just a few decades after Nathaniel Bowditch’s time. She had never been to sea, but she understood something important about what reading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 and answer someone who disagrees.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naut / nav and port — Review &amp; Extend — Same roots, new words — deeper understanding.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to its meaning. Letters are scrambled.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aeronautics = the science of air travel — “sailors” of the sky
navy = a country’s official fleet of warships
export = to carry goods out of a country for sale abroad
report = to carry information back; an account of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Word Sort — Sort the week’s words by what kind of thing they name.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A Place, Ship, or Object you could point to it: privateer, chandlery, wharf, cooperage
A Promise or Agreement written on paper: expectation, indenture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Appositives &amp; Descriptive Phrases — Identify — find the appositive and its commas.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Nat’s father, a cooper by trade, could not keep the family out of debt. — spot1
2. The Salem wharves, crowded with ships from every ocean, drew Nat back again and again. — spot2
3. He was indentured to Ropes and Hodges, a ship chandlery on the waterfront. — spot3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Accent &amp; Schwa in Nautical Words — Identify — hear the quiet syllable.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Accent on syllable 1: anchor, captain, compass, harbor
Accent on syllable 2: equator, horizon, meridian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aloud twice. Work through Reader → Writer →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their own sentence in the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Research Claim: Test and strengthen your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Research Claim: Test and strengthen your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9  ·  DAY 2  ·  LESSON 9.2</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2 — The Privateers</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“Most money you ever had, eh?” — “Yes, sir!”</a:t>
            </a:r>
            <a:pPr indent="0" marL="0">
              <a:buNone/>
            </a:pPr>
            <a:r>
              <a:rPr lang="en-US" sz="1600" dirty="0">
                <a:solidFill>
                  <a:srgbClr val="55C8E8"/>
                </a:solidFill>
                <a:latin typeface="Calibri" pitchFamily="34" charset="0"/>
                <a:ea typeface="Calibri" pitchFamily="34" charset="-122"/>
                <a:cs typeface="Calibri" pitchFamily="34" charset="-120"/>
              </a:rPr>
              <a:t>  — Chapter 2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OBJECTIVES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BIG QUESTION</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900"/>
              </a:spcAft>
              <a:buNone/>
            </a:pPr>
            <a:r>
              <a:rPr lang="en-US" sz="1900" b="1" dirty="0">
                <a:solidFill>
                  <a:srgbClr val="6B4FA8"/>
                </a:solidFill>
                <a:latin typeface="Calibri" pitchFamily="34" charset="0"/>
                <a:ea typeface="Calibri" pitchFamily="34" charset="-122"/>
                <a:cs typeface="Calibri" pitchFamily="34" charset="-120"/>
              </a:rPr>
              <a:t>What does Nat risk — and why?</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In Chapter 2, Nat spends the only coin he has on something uncertain — a share of a privateer voyage he may never see returned. What does it mean to invest in something when you can’t control the outcome?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A poet named Emily Dickinson knew something about voyages, too — the kind you take inside a book.</a:t>
            </a:r>
            <a:endParaRPr lang="en-US" sz="19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identify the storytelling choices Latham makes in Chapter 2 — scene and dialogue instead of summary.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identify appositives and their commas in sentences from the novel.</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identify the quiet (schwa) syllable in new nautical words.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Poetry: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read and reflect on a poem about books as voyages.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CLOSELY — WHERE A REAL LIFE TURNS INTO A STORY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Read closely today and gather evidence. Chapter 2 gives Nat a real decision to make, and Latham writes it as a scene with dialogue rather than a summary of events. Ask yourself what a plain record of Nat’s life would have said about this day — and what Latham does instead.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Remember it happened: This was a real life. Ask what Latham could actually have known, and where she must be filling in.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Watch for story shape: A biography still uses scenes, dialogue and suspense. Notice where Latham writes like a novelist.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Separate record from craft: Ask which details are the historical record, and which are the author’s choices about how to tell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does Nat decide to do with his shilling? What makes this decision surprising or unexpected?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CLOSELY — WHERE A REAL LIFE TURNS INTO A STORY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does spending his only coin tell you about what Nat values? What does it say about how he thinks about the future?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Nat promises to “tell no man,” but he decides he can tell one person. Who? What does that choice reveal?</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b="1" u="sng" dirty="0">
                <a:solidFill>
                  <a:srgbClr val="1E8E52"/>
                </a:solidFill>
                <a:latin typeface="Calibri" pitchFamily="34" charset="0"/>
                <a:ea typeface="Calibri" pitchFamily="34" charset="-122"/>
                <a:cs typeface="Calibri" pitchFamily="34" charset="-120"/>
              </a:rPr>
              <a:t>Tom</a:t>
            </a:r>
            <a:pPr indent="0" marL="0">
              <a:buNone/>
            </a:pPr>
            <a:r>
              <a:rPr lang="en-US" sz="2600" dirty="0">
                <a:solidFill>
                  <a:srgbClr val="1E293B"/>
                </a:solidFill>
                <a:latin typeface="Calibri" pitchFamily="34" charset="0"/>
                <a:ea typeface="Calibri" pitchFamily="34" charset="-122"/>
                <a:cs typeface="Calibri" pitchFamily="34" charset="-120"/>
              </a:rPr>
              <a:t> </a:t>
            </a:r>
            <a:pPr indent="0" marL="0">
              <a:buNone/>
            </a:pPr>
            <a:r>
              <a:rPr lang="en-US" sz="2600" b="1" u="sng" dirty="0">
                <a:solidFill>
                  <a:srgbClr val="1E8E52"/>
                </a:solidFill>
                <a:latin typeface="Calibri" pitchFamily="34" charset="0"/>
                <a:ea typeface="Calibri" pitchFamily="34" charset="-122"/>
                <a:cs typeface="Calibri" pitchFamily="34" charset="-120"/>
              </a:rPr>
              <a:t>Perry</a:t>
            </a:r>
            <a:pPr indent="0" marL="0">
              <a:buNone/>
            </a:pPr>
            <a:r>
              <a:rPr lang="en-US" sz="2600" dirty="0">
                <a:solidFill>
                  <a:srgbClr val="1E293B"/>
                </a:solidFill>
                <a:latin typeface="Calibri" pitchFamily="34" charset="0"/>
                <a:ea typeface="Calibri" pitchFamily="34" charset="-122"/>
                <a:cs typeface="Calibri" pitchFamily="34" charset="-120"/>
              </a:rPr>
              <a:t> pointed across the water toward </a:t>
            </a:r>
            <a:pPr indent="0" marL="0">
              <a:buNone/>
            </a:pPr>
            <a:r>
              <a:rPr lang="en-US" sz="2600" b="1" u="sng" dirty="0">
                <a:solidFill>
                  <a:srgbClr val="1E8E52"/>
                </a:solidFill>
                <a:latin typeface="Calibri" pitchFamily="34" charset="0"/>
                <a:ea typeface="Calibri" pitchFamily="34" charset="-122"/>
                <a:cs typeface="Calibri" pitchFamily="34" charset="-120"/>
              </a:rPr>
              <a:t>Beverly.</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Tom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"Tom" is a proper noun — a person’s first name — so it always starts with a capital letter.</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Perry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"Perry" is a proper noun — a person’s last name — and must also be capitalized.</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Beverly.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"Beverly" is the name of a specific town — a proper noun — so it gets a capital letter.</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father and nat hurried down to the wharf in salem to watch the privateers</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father and nat hurried down to the wharf in salem to watch the privateers</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Father and Nat hurried down to the wharf in Salem to watch the privateers.</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Four fixes: “Father” is capitalized because Nat uses it as a name (like “Dad”); “Nat” is a person’s name; “Salem” is the name of a town; the sentence needs a period at the end.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THERE IS NO FRIGATE LIKE A BOOK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Poetry Corner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6035040"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691640"/>
            <a:ext cx="5577840" cy="36576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by Emily Dickinson (c. 1873) — public domain</a:t>
            </a:r>
            <a:endParaRPr lang="en-US" sz="1500" dirty="0"/>
          </a:p>
        </p:txBody>
      </p:sp>
      <p:sp>
        <p:nvSpPr>
          <p:cNvPr id="8" name="Text 6"/>
          <p:cNvSpPr/>
          <p:nvPr/>
        </p:nvSpPr>
        <p:spPr>
          <a:xfrm>
            <a:off x="731520" y="2103120"/>
            <a:ext cx="5577840" cy="4206240"/>
          </a:xfrm>
          <a:prstGeom prst="rect">
            <a:avLst/>
          </a:prstGeom>
          <a:noFill/>
          <a:ln/>
        </p:spPr>
        <p:txBody>
          <a:bodyPr wrap="square" lIns="0" tIns="0" rIns="0" bIns="0" rtlCol="0" anchor="t">
            <a:normAutofit/>
          </a:bodyPr>
          <a:lstStyle/>
          <a:p>
            <a:pPr indent="0" marL="0">
              <a:buNone/>
            </a:pPr>
            <a:r>
              <a:rPr lang="en-US" sz="1700" i="1" dirty="0">
                <a:solidFill>
                  <a:srgbClr val="1E293B"/>
                </a:solidFill>
                <a:latin typeface="Georgia" pitchFamily="34" charset="0"/>
                <a:ea typeface="Georgia" pitchFamily="34" charset="-122"/>
                <a:cs typeface="Georgia" pitchFamily="34" charset="-120"/>
              </a:rPr>
              <a:t>There is no Frigate like a Book</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To take us Lands away,</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Nor any Coursers like a Page</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Of prancing Poetry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This Traverse may the poorest take</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Without oppress of Toll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How frugal is the Chariot</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That bears the Human Soul.</a:t>
            </a:r>
            <a:endParaRPr lang="en-US" sz="1700" dirty="0"/>
          </a:p>
        </p:txBody>
      </p:sp>
      <p:sp>
        <p:nvSpPr>
          <p:cNvPr id="9" name="Shape 7"/>
          <p:cNvSpPr/>
          <p:nvPr/>
        </p:nvSpPr>
        <p:spPr>
          <a:xfrm>
            <a:off x="6812280" y="1554480"/>
            <a:ext cx="4876495" cy="4892040"/>
          </a:xfrm>
          <a:prstGeom prst="roundRect">
            <a:avLst>
              <a:gd name="adj" fmla="val 1500"/>
            </a:avLst>
          </a:prstGeom>
          <a:solidFill>
            <a:srgbClr val="F0E8FF"/>
          </a:solidFill>
          <a:ln w="15875">
            <a:solidFill>
              <a:srgbClr val="D6C8F0"/>
            </a:solidFill>
            <a:prstDash val="solid"/>
          </a:ln>
        </p:spPr>
      </p:sp>
      <p:sp>
        <p:nvSpPr>
          <p:cNvPr id="10" name="Text 8"/>
          <p:cNvSpPr/>
          <p:nvPr/>
        </p:nvSpPr>
        <p:spPr>
          <a:xfrm>
            <a:off x="7040880" y="1737360"/>
            <a:ext cx="4419295"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 THINK ABOUT THIS</a:t>
            </a:r>
            <a:endParaRPr lang="en-US" sz="1300" dirty="0"/>
          </a:p>
        </p:txBody>
      </p:sp>
      <p:sp>
        <p:nvSpPr>
          <p:cNvPr id="11" name="Text 9"/>
          <p:cNvSpPr/>
          <p:nvPr/>
        </p:nvSpPr>
        <p:spPr>
          <a:xfrm>
            <a:off x="7040880" y="2103120"/>
            <a:ext cx="4419295" cy="416052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A few unfamiliar words: A frigate is a large, fast sailing ship. Coursers are fast horses. A traverse is a journey across something. A toll is money paid to travel a road or cross a bridge.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Dickinson says a book is like a frigate — a ship that can take us to distant lands. Nat Bowditch lives surrounded by real ships and a real harbor. Why might this poem feel especially true as you begin reading his story? Where is the book carrying you?</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800" dirty="0">
                <a:solidFill>
                  <a:srgbClr val="1E293B"/>
                </a:solidFill>
                <a:latin typeface="Calibri" pitchFamily="34" charset="0"/>
                <a:ea typeface="Calibri" pitchFamily="34" charset="-122"/>
                <a:cs typeface="Calibri" pitchFamily="34" charset="-120"/>
              </a:rPr>
              <a:t>Nat spends his shilling on an expectation from Tom Perry. Was that a wise risk or a reckless one for a boy whose family has so little? Defend your answer with evidence from Chapter 2. Then answer someone who disagrees.</a:t>
            </a:r>
            <a:endParaRPr lang="en-US" sz="28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Nat spends his shilling on an expectation from Tom Perry. Was that a wise risk or a reckless one for a boy whose family has so little? Defend your answer with evidence from Chapter 2. Then answer someone who disagrees.</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Someone might disagree, but...</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Could I combine two of these sentences to make my thinking clearer?</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SAME ROOTS, NEW WORDS — DEEPER UNDERSTANDING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 — Review &amp; Extend</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You already know that naut/nav means ship or sailor, and port means carry. Now see how far these roots travel — even beyond the sea.</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 New words, same roots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aeronautics → aero (air) + naut (ship/travel) → the study and science of air travel. Early hot-air balloonists were called “aeronauts” — sailors of the air.</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navy → nav (ship) → a country’s official fleet of warships. Privateers like the Pilgrim were not part of the navy, but they fought the same enemy.</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export → ex (out) + port (carry) → to carry goods out of a country for sale elsewhere. Salem merchants export and import goods from across the world.</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report → re (back) + port (carry) → to carry information back; an account of events. Ships sailing home to Salem carried back reports of news from far away.</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SAME ROOTS, NEW WORDS — DEEPER UNDERSTANDING</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 — Review &amp; Extend</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MATCH EACH WORD TO ITS MEANING</a:t>
            </a:r>
            <a:endParaRPr lang="en-US" sz="1300" dirty="0"/>
          </a:p>
        </p:txBody>
      </p:sp>
      <p:sp>
        <p:nvSpPr>
          <p:cNvPr id="9" name="Shape 7"/>
          <p:cNvSpPr/>
          <p:nvPr/>
        </p:nvSpPr>
        <p:spPr>
          <a:xfrm>
            <a:off x="502920" y="1965960"/>
            <a:ext cx="3291840" cy="982980"/>
          </a:xfrm>
          <a:prstGeom prst="roundRect">
            <a:avLst>
              <a:gd name="adj" fmla="val 7442"/>
            </a:avLst>
          </a:prstGeom>
          <a:solidFill>
            <a:srgbClr val="F0E8FF"/>
          </a:solidFill>
          <a:ln w="15875">
            <a:solidFill>
              <a:srgbClr val="D6C8F0"/>
            </a:solidFill>
            <a:prstDash val="solid"/>
          </a:ln>
        </p:spPr>
      </p:sp>
      <p:sp>
        <p:nvSpPr>
          <p:cNvPr id="10" name="Text 8"/>
          <p:cNvSpPr/>
          <p:nvPr/>
        </p:nvSpPr>
        <p:spPr>
          <a:xfrm>
            <a:off x="685800" y="196596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1. aeronautics</a:t>
            </a:r>
            <a:endParaRPr lang="en-US" sz="2200" dirty="0"/>
          </a:p>
        </p:txBody>
      </p:sp>
      <p:sp>
        <p:nvSpPr>
          <p:cNvPr id="11" name="Shape 9"/>
          <p:cNvSpPr/>
          <p:nvPr/>
        </p:nvSpPr>
        <p:spPr>
          <a:xfrm>
            <a:off x="4069080" y="1965960"/>
            <a:ext cx="7619695" cy="982980"/>
          </a:xfrm>
          <a:prstGeom prst="roundRect">
            <a:avLst>
              <a:gd name="adj" fmla="val 7442"/>
            </a:avLst>
          </a:prstGeom>
          <a:solidFill>
            <a:srgbClr val="F8FAFC"/>
          </a:solidFill>
          <a:ln w="15875">
            <a:solidFill>
              <a:srgbClr val="CBD5E1"/>
            </a:solidFill>
            <a:prstDash val="solid"/>
          </a:ln>
        </p:spPr>
      </p:sp>
      <p:sp>
        <p:nvSpPr>
          <p:cNvPr id="12" name="Text 10"/>
          <p:cNvSpPr/>
          <p:nvPr/>
        </p:nvSpPr>
        <p:spPr>
          <a:xfrm>
            <a:off x="4251960" y="196596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A. to carry goods out of a country for sale abroad</a:t>
            </a:r>
            <a:endParaRPr lang="en-US" sz="1900" dirty="0"/>
          </a:p>
        </p:txBody>
      </p:sp>
      <p:sp>
        <p:nvSpPr>
          <p:cNvPr id="13" name="Shape 11"/>
          <p:cNvSpPr/>
          <p:nvPr/>
        </p:nvSpPr>
        <p:spPr>
          <a:xfrm>
            <a:off x="502920" y="3086100"/>
            <a:ext cx="3291840" cy="982980"/>
          </a:xfrm>
          <a:prstGeom prst="roundRect">
            <a:avLst>
              <a:gd name="adj" fmla="val 7442"/>
            </a:avLst>
          </a:prstGeom>
          <a:solidFill>
            <a:srgbClr val="F0E8FF"/>
          </a:solidFill>
          <a:ln w="15875">
            <a:solidFill>
              <a:srgbClr val="D6C8F0"/>
            </a:solidFill>
            <a:prstDash val="solid"/>
          </a:ln>
        </p:spPr>
      </p:sp>
      <p:sp>
        <p:nvSpPr>
          <p:cNvPr id="14" name="Text 12"/>
          <p:cNvSpPr/>
          <p:nvPr/>
        </p:nvSpPr>
        <p:spPr>
          <a:xfrm>
            <a:off x="685800" y="308610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2. navy</a:t>
            </a:r>
            <a:endParaRPr lang="en-US" sz="2200" dirty="0"/>
          </a:p>
        </p:txBody>
      </p:sp>
      <p:sp>
        <p:nvSpPr>
          <p:cNvPr id="15" name="Shape 13"/>
          <p:cNvSpPr/>
          <p:nvPr/>
        </p:nvSpPr>
        <p:spPr>
          <a:xfrm>
            <a:off x="4069080" y="3086100"/>
            <a:ext cx="7619695" cy="982980"/>
          </a:xfrm>
          <a:prstGeom prst="roundRect">
            <a:avLst>
              <a:gd name="adj" fmla="val 7442"/>
            </a:avLst>
          </a:prstGeom>
          <a:solidFill>
            <a:srgbClr val="F8FAFC"/>
          </a:solidFill>
          <a:ln w="15875">
            <a:solidFill>
              <a:srgbClr val="CBD5E1"/>
            </a:solidFill>
            <a:prstDash val="solid"/>
          </a:ln>
        </p:spPr>
      </p:sp>
      <p:sp>
        <p:nvSpPr>
          <p:cNvPr id="16" name="Text 14"/>
          <p:cNvSpPr/>
          <p:nvPr/>
        </p:nvSpPr>
        <p:spPr>
          <a:xfrm>
            <a:off x="4251960" y="308610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B. to carry information back; an account of events</a:t>
            </a:r>
            <a:endParaRPr lang="en-US" sz="1900" dirty="0"/>
          </a:p>
        </p:txBody>
      </p:sp>
      <p:sp>
        <p:nvSpPr>
          <p:cNvPr id="17" name="Shape 15"/>
          <p:cNvSpPr/>
          <p:nvPr/>
        </p:nvSpPr>
        <p:spPr>
          <a:xfrm>
            <a:off x="502920" y="4206240"/>
            <a:ext cx="3291840" cy="982980"/>
          </a:xfrm>
          <a:prstGeom prst="roundRect">
            <a:avLst>
              <a:gd name="adj" fmla="val 7442"/>
            </a:avLst>
          </a:prstGeom>
          <a:solidFill>
            <a:srgbClr val="F0E8FF"/>
          </a:solidFill>
          <a:ln w="15875">
            <a:solidFill>
              <a:srgbClr val="D6C8F0"/>
            </a:solidFill>
            <a:prstDash val="solid"/>
          </a:ln>
        </p:spPr>
      </p:sp>
      <p:sp>
        <p:nvSpPr>
          <p:cNvPr id="18" name="Text 16"/>
          <p:cNvSpPr/>
          <p:nvPr/>
        </p:nvSpPr>
        <p:spPr>
          <a:xfrm>
            <a:off x="685800" y="420624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3. export</a:t>
            </a:r>
            <a:endParaRPr lang="en-US" sz="2200" dirty="0"/>
          </a:p>
        </p:txBody>
      </p:sp>
      <p:sp>
        <p:nvSpPr>
          <p:cNvPr id="19" name="Shape 17"/>
          <p:cNvSpPr/>
          <p:nvPr/>
        </p:nvSpPr>
        <p:spPr>
          <a:xfrm>
            <a:off x="4069080" y="4206240"/>
            <a:ext cx="7619695" cy="982980"/>
          </a:xfrm>
          <a:prstGeom prst="roundRect">
            <a:avLst>
              <a:gd name="adj" fmla="val 7442"/>
            </a:avLst>
          </a:prstGeom>
          <a:solidFill>
            <a:srgbClr val="F8FAFC"/>
          </a:solidFill>
          <a:ln w="15875">
            <a:solidFill>
              <a:srgbClr val="CBD5E1"/>
            </a:solidFill>
            <a:prstDash val="solid"/>
          </a:ln>
        </p:spPr>
      </p:sp>
      <p:sp>
        <p:nvSpPr>
          <p:cNvPr id="20" name="Text 18"/>
          <p:cNvSpPr/>
          <p:nvPr/>
        </p:nvSpPr>
        <p:spPr>
          <a:xfrm>
            <a:off x="4251960" y="420624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C. the science of air travel — “sailors” of the sky</a:t>
            </a:r>
            <a:endParaRPr lang="en-US" sz="1900" dirty="0"/>
          </a:p>
        </p:txBody>
      </p:sp>
      <p:sp>
        <p:nvSpPr>
          <p:cNvPr id="21" name="Shape 19"/>
          <p:cNvSpPr/>
          <p:nvPr/>
        </p:nvSpPr>
        <p:spPr>
          <a:xfrm>
            <a:off x="502920" y="5326380"/>
            <a:ext cx="3291840" cy="982980"/>
          </a:xfrm>
          <a:prstGeom prst="roundRect">
            <a:avLst>
              <a:gd name="adj" fmla="val 7442"/>
            </a:avLst>
          </a:prstGeom>
          <a:solidFill>
            <a:srgbClr val="F0E8FF"/>
          </a:solidFill>
          <a:ln w="15875">
            <a:solidFill>
              <a:srgbClr val="D6C8F0"/>
            </a:solidFill>
            <a:prstDash val="solid"/>
          </a:ln>
        </p:spPr>
      </p:sp>
      <p:sp>
        <p:nvSpPr>
          <p:cNvPr id="22" name="Text 20"/>
          <p:cNvSpPr/>
          <p:nvPr/>
        </p:nvSpPr>
        <p:spPr>
          <a:xfrm>
            <a:off x="685800" y="532638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4. report</a:t>
            </a:r>
            <a:endParaRPr lang="en-US" sz="2200" dirty="0"/>
          </a:p>
        </p:txBody>
      </p:sp>
      <p:sp>
        <p:nvSpPr>
          <p:cNvPr id="23" name="Shape 21"/>
          <p:cNvSpPr/>
          <p:nvPr/>
        </p:nvSpPr>
        <p:spPr>
          <a:xfrm>
            <a:off x="4069080" y="5326380"/>
            <a:ext cx="7619695" cy="982980"/>
          </a:xfrm>
          <a:prstGeom prst="roundRect">
            <a:avLst>
              <a:gd name="adj" fmla="val 7442"/>
            </a:avLst>
          </a:prstGeom>
          <a:solidFill>
            <a:srgbClr val="F8FAFC"/>
          </a:solidFill>
          <a:ln w="15875">
            <a:solidFill>
              <a:srgbClr val="CBD5E1"/>
            </a:solidFill>
            <a:prstDash val="solid"/>
          </a:ln>
        </p:spPr>
      </p:sp>
      <p:sp>
        <p:nvSpPr>
          <p:cNvPr id="24" name="Text 22"/>
          <p:cNvSpPr/>
          <p:nvPr/>
        </p:nvSpPr>
        <p:spPr>
          <a:xfrm>
            <a:off x="4251960" y="532638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D. a country’s official fleet of warships</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SAME ROOTS, NEW WORDS — DEEPER UNDERSTANDING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naut / nav and port — Review &amp; Extend</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MATCHED</a:t>
            </a:r>
            <a:endParaRPr lang="en-US" sz="1300" dirty="0"/>
          </a:p>
        </p:txBody>
      </p:sp>
      <p:sp>
        <p:nvSpPr>
          <p:cNvPr id="9" name="Shape 7"/>
          <p:cNvSpPr/>
          <p:nvPr/>
        </p:nvSpPr>
        <p:spPr>
          <a:xfrm>
            <a:off x="502920" y="1965960"/>
            <a:ext cx="11185855" cy="982980"/>
          </a:xfrm>
          <a:prstGeom prst="roundRect">
            <a:avLst>
              <a:gd name="adj" fmla="val 7442"/>
            </a:avLst>
          </a:prstGeom>
          <a:solidFill>
            <a:srgbClr val="E8F8EF"/>
          </a:solidFill>
          <a:ln w="15875">
            <a:solidFill>
              <a:srgbClr val="9ED9B5"/>
            </a:solidFill>
            <a:prstDash val="solid"/>
          </a:ln>
        </p:spPr>
      </p:sp>
      <p:sp>
        <p:nvSpPr>
          <p:cNvPr id="10" name="Text 8"/>
          <p:cNvSpPr/>
          <p:nvPr/>
        </p:nvSpPr>
        <p:spPr>
          <a:xfrm>
            <a:off x="731520" y="196596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aeronautics  =  </a:t>
            </a:r>
            <a:pPr indent="0" marL="0">
              <a:buNone/>
            </a:pPr>
            <a:r>
              <a:rPr lang="en-US" sz="2000" dirty="0">
                <a:solidFill>
                  <a:srgbClr val="1E293B"/>
                </a:solidFill>
                <a:latin typeface="Calibri" pitchFamily="34" charset="0"/>
                <a:ea typeface="Calibri" pitchFamily="34" charset="-122"/>
                <a:cs typeface="Calibri" pitchFamily="34" charset="-120"/>
              </a:rPr>
              <a:t>the science of air travel — “sailors” of the sky</a:t>
            </a:r>
            <a:endParaRPr lang="en-US" sz="2200" dirty="0"/>
          </a:p>
        </p:txBody>
      </p:sp>
      <p:sp>
        <p:nvSpPr>
          <p:cNvPr id="11" name="Shape 9"/>
          <p:cNvSpPr/>
          <p:nvPr/>
        </p:nvSpPr>
        <p:spPr>
          <a:xfrm>
            <a:off x="502920" y="3086100"/>
            <a:ext cx="11185855" cy="982980"/>
          </a:xfrm>
          <a:prstGeom prst="roundRect">
            <a:avLst>
              <a:gd name="adj" fmla="val 7442"/>
            </a:avLst>
          </a:prstGeom>
          <a:solidFill>
            <a:srgbClr val="E8F8EF"/>
          </a:solidFill>
          <a:ln w="15875">
            <a:solidFill>
              <a:srgbClr val="9ED9B5"/>
            </a:solidFill>
            <a:prstDash val="solid"/>
          </a:ln>
        </p:spPr>
      </p:sp>
      <p:sp>
        <p:nvSpPr>
          <p:cNvPr id="12" name="Text 10"/>
          <p:cNvSpPr/>
          <p:nvPr/>
        </p:nvSpPr>
        <p:spPr>
          <a:xfrm>
            <a:off x="731520" y="308610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navy  =  </a:t>
            </a:r>
            <a:pPr indent="0" marL="0">
              <a:buNone/>
            </a:pPr>
            <a:r>
              <a:rPr lang="en-US" sz="2000" dirty="0">
                <a:solidFill>
                  <a:srgbClr val="1E293B"/>
                </a:solidFill>
                <a:latin typeface="Calibri" pitchFamily="34" charset="0"/>
                <a:ea typeface="Calibri" pitchFamily="34" charset="-122"/>
                <a:cs typeface="Calibri" pitchFamily="34" charset="-120"/>
              </a:rPr>
              <a:t>a country’s official fleet of warships</a:t>
            </a:r>
            <a:endParaRPr lang="en-US" sz="2200" dirty="0"/>
          </a:p>
        </p:txBody>
      </p:sp>
      <p:sp>
        <p:nvSpPr>
          <p:cNvPr id="13" name="Shape 11"/>
          <p:cNvSpPr/>
          <p:nvPr/>
        </p:nvSpPr>
        <p:spPr>
          <a:xfrm>
            <a:off x="502920" y="4206240"/>
            <a:ext cx="11185855" cy="982980"/>
          </a:xfrm>
          <a:prstGeom prst="roundRect">
            <a:avLst>
              <a:gd name="adj" fmla="val 7442"/>
            </a:avLst>
          </a:prstGeom>
          <a:solidFill>
            <a:srgbClr val="E8F8EF"/>
          </a:solidFill>
          <a:ln w="15875">
            <a:solidFill>
              <a:srgbClr val="9ED9B5"/>
            </a:solidFill>
            <a:prstDash val="solid"/>
          </a:ln>
        </p:spPr>
      </p:sp>
      <p:sp>
        <p:nvSpPr>
          <p:cNvPr id="14" name="Text 12"/>
          <p:cNvSpPr/>
          <p:nvPr/>
        </p:nvSpPr>
        <p:spPr>
          <a:xfrm>
            <a:off x="731520" y="420624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export  =  </a:t>
            </a:r>
            <a:pPr indent="0" marL="0">
              <a:buNone/>
            </a:pPr>
            <a:r>
              <a:rPr lang="en-US" sz="2000" dirty="0">
                <a:solidFill>
                  <a:srgbClr val="1E293B"/>
                </a:solidFill>
                <a:latin typeface="Calibri" pitchFamily="34" charset="0"/>
                <a:ea typeface="Calibri" pitchFamily="34" charset="-122"/>
                <a:cs typeface="Calibri" pitchFamily="34" charset="-120"/>
              </a:rPr>
              <a:t>to carry goods out of a country for sale abroad</a:t>
            </a:r>
            <a:endParaRPr lang="en-US" sz="2200" dirty="0"/>
          </a:p>
        </p:txBody>
      </p:sp>
      <p:sp>
        <p:nvSpPr>
          <p:cNvPr id="15" name="Shape 13"/>
          <p:cNvSpPr/>
          <p:nvPr/>
        </p:nvSpPr>
        <p:spPr>
          <a:xfrm>
            <a:off x="502920" y="5326380"/>
            <a:ext cx="11185855" cy="982980"/>
          </a:xfrm>
          <a:prstGeom prst="roundRect">
            <a:avLst>
              <a:gd name="adj" fmla="val 7442"/>
            </a:avLst>
          </a:prstGeom>
          <a:solidFill>
            <a:srgbClr val="E8F8EF"/>
          </a:solidFill>
          <a:ln w="15875">
            <a:solidFill>
              <a:srgbClr val="9ED9B5"/>
            </a:solidFill>
            <a:prstDash val="solid"/>
          </a:ln>
        </p:spPr>
      </p:sp>
      <p:sp>
        <p:nvSpPr>
          <p:cNvPr id="16" name="Text 14"/>
          <p:cNvSpPr/>
          <p:nvPr/>
        </p:nvSpPr>
        <p:spPr>
          <a:xfrm>
            <a:off x="731520" y="532638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report  =  </a:t>
            </a:r>
            <a:pPr indent="0" marL="0">
              <a:buNone/>
            </a:pPr>
            <a:r>
              <a:rPr lang="en-US" sz="2000" dirty="0">
                <a:solidFill>
                  <a:srgbClr val="1E293B"/>
                </a:solidFill>
                <a:latin typeface="Calibri" pitchFamily="34" charset="0"/>
                <a:ea typeface="Calibri" pitchFamily="34" charset="-122"/>
                <a:cs typeface="Calibri" pitchFamily="34" charset="-120"/>
              </a:rPr>
              <a:t>to carry information back; an account of events</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SORT THE WEEK’S WORDS BY WHAT KIND OF THING THEY NAME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 Sort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You learned five key words from Nat’s world this week. Let’s look at what kind of thing each one names. Some of these words name a place, ship, or concrete object — something you could point to. Others name a promise, agreement, or idea — something you’d find written on paper.</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Sort It! Tap a word to select it (it will glow), then tap the column where it belongs. Try to place all six words.</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After sorting, notice something interesting: expectation and indenture are both things Nat encounters in these early chapters — and both change his life in ways he can’t fully predict yet.</a:t>
            </a:r>
            <a:endParaRPr lang="en-US" sz="2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SORT THE WEEK’S WORDS BY WHAT KIND OF THING THEY NAME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 Sort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privateer     ·     chandlery     ·     wharf     ·     cooperage     ·     expectation     ·     indenture</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550148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 Place, Ship, or Object you could point to it</a:t>
            </a:r>
            <a:endParaRPr lang="en-US" sz="2200" dirty="0"/>
          </a:p>
        </p:txBody>
      </p:sp>
      <p:sp>
        <p:nvSpPr>
          <p:cNvPr id="14" name="Shape 12"/>
          <p:cNvSpPr/>
          <p:nvPr/>
        </p:nvSpPr>
        <p:spPr>
          <a:xfrm>
            <a:off x="6187288" y="3977640"/>
            <a:ext cx="550148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6370168"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 Promise or Agreement written on paper</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SORT THE WEEK’S WORDS BY WHAT KIND OF THING THEY NAME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 Sort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5501488" cy="4892040"/>
          </a:xfrm>
          <a:prstGeom prst="roundRect">
            <a:avLst>
              <a:gd name="adj" fmla="val 1495"/>
            </a:avLst>
          </a:prstGeom>
          <a:solidFill>
            <a:srgbClr val="E8F8EF"/>
          </a:solidFill>
          <a:ln w="15875">
            <a:solidFill>
              <a:srgbClr val="9ED9B5"/>
            </a:solidFill>
            <a:prstDash val="solid"/>
          </a:ln>
        </p:spPr>
      </p:sp>
      <p:sp>
        <p:nvSpPr>
          <p:cNvPr id="9" name="Text 7"/>
          <p:cNvSpPr/>
          <p:nvPr/>
        </p:nvSpPr>
        <p:spPr>
          <a:xfrm>
            <a:off x="685800"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 Place, Ship, or Object you could point to it</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privateer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chandlery</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wharf</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cooperage</a:t>
            </a:r>
            <a:endParaRPr lang="en-US" sz="2100" dirty="0"/>
          </a:p>
        </p:txBody>
      </p:sp>
      <p:sp>
        <p:nvSpPr>
          <p:cNvPr id="10" name="Shape 8"/>
          <p:cNvSpPr/>
          <p:nvPr/>
        </p:nvSpPr>
        <p:spPr>
          <a:xfrm>
            <a:off x="6187288" y="1554480"/>
            <a:ext cx="5501488" cy="4892040"/>
          </a:xfrm>
          <a:prstGeom prst="roundRect">
            <a:avLst>
              <a:gd name="adj" fmla="val 1495"/>
            </a:avLst>
          </a:prstGeom>
          <a:solidFill>
            <a:srgbClr val="E8F8EF"/>
          </a:solidFill>
          <a:ln w="15875">
            <a:solidFill>
              <a:srgbClr val="9ED9B5"/>
            </a:solidFill>
            <a:prstDash val="solid"/>
          </a:ln>
        </p:spPr>
      </p:sp>
      <p:sp>
        <p:nvSpPr>
          <p:cNvPr id="11" name="Text 9"/>
          <p:cNvSpPr/>
          <p:nvPr/>
        </p:nvSpPr>
        <p:spPr>
          <a:xfrm>
            <a:off x="6370168"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 Promise or Agreement written on paper</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expectation</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indenture</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FIND THE APPOSITIVE AND ITS COMMAS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Before you start: find the extra piece and the punctuation holding it.</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Yesterday you learned what an appositive is. Today, identify the punctuation it needs. The commas are not optional: they are what tell the reader the phrase can be lifted out.</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 The Rules</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An appositive is a noun phrase that renames the noun right before it: Nathaniel Bowditch, a boy of twelve, was already keeping accounts at a ship chandlery.</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Commas fence it off on both sides. Lift the appositive out and the sentence still stands: Nathaniel Bowditch was already keeping accounts at a ship chandlery.</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A descriptive phrase does similar work without renaming: Salem, crowded with masts and rigging, smelled of tar and salt.</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Why writers use them: an appositive packs a whole fact into one sentence instead of two. Biography and expository writing lean on them constantly.</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FIND THE APPOSITIVE AND ITS COMMAS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version is punctuated correctly?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Nat’s father a cooper by trade could not keep the family out of debt.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Nat’s father, a cooper by trade, could not keep the family out of debt.</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version is punctuated correctly?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Salem wharves, crowded with ships from every ocean, drew Nat back again and again.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Salem wharves crowded with ships from every ocean, drew Nat back again and again.</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version is punctuated correctly?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He was indentured to Ropes and Hodges, a ship chandlery on the waterfront.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He was indentured to Ropes and Hodges a ship chandlery, on the waterfront.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FIND THE APPOSITIVE AND ITS COMMAS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version is punctuated correctly?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Nat’s father a cooper by trade could not keep the family out of debt.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Nat’s father, a cooper by trade, could not keep the family out of debt.</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version is punctuated correctly?</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Salem wharves, crowded with ships from every ocean, drew Nat back again and again.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 Salem wharves crowded with ships from every ocean, drew Nat back again and again.</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version is punctuated correctly?</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He was indentured to Ropes and Hodges, a ship chandlery on the waterfront.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He was indentured to Ropes and Hodges a ship chandlery, on the waterfront.</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Grammar</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Add an appositive to each sentence, punctuated correctly: (1) Nathaniel Bowditch taught himself Latin. (2) Salem sent ships to every ocean. (3) The almanac was full of errors.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Write all three sentences with an appositive added. Check that each one has a comma on both sides.</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HEAR THE QUIET SYLLABLE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Before you start: find the lazy beat and notice its vowel is not what it looks like.</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Yesterday you found where the accent falls. Today, identify what happens to the syllables that do not get it. Sort each word by which syllable carries the stress — then notice that every unstressed vowel has gone lazy.</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Your clue: say the word twice, stressing a different syllable each time. One version sounds like English; the other does not.</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Accent Sort! Tap a word to select it, then tap the column for the syllable that carries its accent.</a:t>
            </a:r>
            <a:endParaRPr lang="en-US" sz="2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HEAR THE QUIET SYLLABLE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anchor     ·     captain     ·     compass     ·     equator     ·     harbor     ·     horizon     ·     meridian</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550148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Accent on syllable 1</a:t>
            </a:r>
            <a:endParaRPr lang="en-US" sz="2200" dirty="0"/>
          </a:p>
        </p:txBody>
      </p:sp>
      <p:sp>
        <p:nvSpPr>
          <p:cNvPr id="14" name="Shape 12"/>
          <p:cNvSpPr/>
          <p:nvPr/>
        </p:nvSpPr>
        <p:spPr>
          <a:xfrm>
            <a:off x="6187288" y="3977640"/>
            <a:ext cx="550148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6370168"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Accent on syllable 2</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HEAR THE QUIET SYLLABLE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5501488" cy="4892040"/>
          </a:xfrm>
          <a:prstGeom prst="roundRect">
            <a:avLst>
              <a:gd name="adj" fmla="val 1495"/>
            </a:avLst>
          </a:prstGeom>
          <a:solidFill>
            <a:srgbClr val="E8F8EF"/>
          </a:solidFill>
          <a:ln w="15875">
            <a:solidFill>
              <a:srgbClr val="9ED9B5"/>
            </a:solidFill>
            <a:prstDash val="solid"/>
          </a:ln>
        </p:spPr>
      </p:sp>
      <p:sp>
        <p:nvSpPr>
          <p:cNvPr id="9" name="Text 7"/>
          <p:cNvSpPr/>
          <p:nvPr/>
        </p:nvSpPr>
        <p:spPr>
          <a:xfrm>
            <a:off x="685800"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Accent on syllable 1</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anchor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captain</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compass</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harbor</a:t>
            </a:r>
            <a:endParaRPr lang="en-US" sz="2100" dirty="0"/>
          </a:p>
        </p:txBody>
      </p:sp>
      <p:sp>
        <p:nvSpPr>
          <p:cNvPr id="10" name="Shape 8"/>
          <p:cNvSpPr/>
          <p:nvPr/>
        </p:nvSpPr>
        <p:spPr>
          <a:xfrm>
            <a:off x="6187288" y="1554480"/>
            <a:ext cx="5501488" cy="4892040"/>
          </a:xfrm>
          <a:prstGeom prst="roundRect">
            <a:avLst>
              <a:gd name="adj" fmla="val 1495"/>
            </a:avLst>
          </a:prstGeom>
          <a:solidFill>
            <a:srgbClr val="E8F8EF"/>
          </a:solidFill>
          <a:ln w="15875">
            <a:solidFill>
              <a:srgbClr val="9ED9B5"/>
            </a:solidFill>
            <a:prstDash val="solid"/>
          </a:ln>
        </p:spPr>
      </p:sp>
      <p:sp>
        <p:nvSpPr>
          <p:cNvPr id="11" name="Text 9"/>
          <p:cNvSpPr/>
          <p:nvPr/>
        </p:nvSpPr>
        <p:spPr>
          <a:xfrm>
            <a:off x="6370168"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Accent on syllable 2</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equator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horizon</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meridian</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MENTOR SENTENCE · CHAPTER 2</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RWM — Read like a Reader, Read like a Writer, Mimic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463040"/>
          </a:xfrm>
          <a:prstGeom prst="roundRect">
            <a:avLst>
              <a:gd name="adj" fmla="val 5000"/>
            </a:avLst>
          </a:prstGeom>
          <a:solidFill>
            <a:srgbClr val="FEF6E8"/>
          </a:solidFill>
          <a:ln w="15875">
            <a:solidFill>
              <a:srgbClr val="C7922C"/>
            </a:solidFill>
            <a:prstDash val="solid"/>
          </a:ln>
        </p:spPr>
      </p:sp>
      <p:sp>
        <p:nvSpPr>
          <p:cNvPr id="7" name="Text 5"/>
          <p:cNvSpPr/>
          <p:nvPr/>
        </p:nvSpPr>
        <p:spPr>
          <a:xfrm>
            <a:off x="777240" y="1645920"/>
            <a:ext cx="10637215" cy="1280160"/>
          </a:xfrm>
          <a:prstGeom prst="rect">
            <a:avLst/>
          </a:prstGeom>
          <a:noFill/>
          <a:ln/>
        </p:spPr>
        <p:txBody>
          <a:bodyPr wrap="square" lIns="0" tIns="0" rIns="0" bIns="0" rtlCol="0" anchor="ctr">
            <a:normAutofit/>
          </a:bodyPr>
          <a:lstStyle/>
          <a:p>
            <a:pPr indent="0" marL="0">
              <a:buNone/>
            </a:pPr>
            <a:r>
              <a:rPr lang="en-US" sz="2400" i="1" dirty="0">
                <a:solidFill>
                  <a:srgbClr val="1E293B"/>
                </a:solidFill>
                <a:latin typeface="Georgia" pitchFamily="34" charset="0"/>
                <a:ea typeface="Georgia" pitchFamily="34" charset="-122"/>
                <a:cs typeface="Georgia" pitchFamily="34" charset="-120"/>
              </a:rPr>
              <a:t>“The first sunny day, when Nat came down to breakfast, he still had not thought of anything to do about his good-luck spell.”</a:t>
            </a:r>
            <a:endParaRPr lang="en-US" sz="2400" dirty="0"/>
          </a:p>
        </p:txBody>
      </p:sp>
      <p:sp>
        <p:nvSpPr>
          <p:cNvPr id="8" name="Shape 6"/>
          <p:cNvSpPr/>
          <p:nvPr/>
        </p:nvSpPr>
        <p:spPr>
          <a:xfrm>
            <a:off x="502920" y="3246120"/>
            <a:ext cx="3606698" cy="3200400"/>
          </a:xfrm>
          <a:prstGeom prst="roundRect">
            <a:avLst>
              <a:gd name="adj" fmla="val 2286"/>
            </a:avLst>
          </a:prstGeom>
          <a:solidFill>
            <a:srgbClr val="F8FAFC"/>
          </a:solidFill>
          <a:ln w="15875">
            <a:solidFill>
              <a:srgbClr val="CBD5E1"/>
            </a:solidFill>
            <a:prstDash val="solid"/>
          </a:ln>
        </p:spPr>
      </p:sp>
      <p:sp>
        <p:nvSpPr>
          <p:cNvPr id="9" name="Text 7"/>
          <p:cNvSpPr/>
          <p:nvPr/>
        </p:nvSpPr>
        <p:spPr>
          <a:xfrm>
            <a:off x="685800"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Reader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Nat has been turning over a good-luck spell for days. This sentence catches him at breakfast still without an idea. What does it tell you about how much time has passed — and about how long this has been sitting on his mind?</a:t>
            </a:r>
            <a:endParaRPr lang="en-US" sz="1900" dirty="0"/>
          </a:p>
        </p:txBody>
      </p:sp>
      <p:sp>
        <p:nvSpPr>
          <p:cNvPr id="10" name="Shape 8"/>
          <p:cNvSpPr/>
          <p:nvPr/>
        </p:nvSpPr>
        <p:spPr>
          <a:xfrm>
            <a:off x="4292498" y="3246120"/>
            <a:ext cx="3606698" cy="3200400"/>
          </a:xfrm>
          <a:prstGeom prst="roundRect">
            <a:avLst>
              <a:gd name="adj" fmla="val 2286"/>
            </a:avLst>
          </a:prstGeom>
          <a:solidFill>
            <a:srgbClr val="F8FAFC"/>
          </a:solidFill>
          <a:ln w="15875">
            <a:solidFill>
              <a:srgbClr val="CBD5E1"/>
            </a:solidFill>
            <a:prstDash val="solid"/>
          </a:ln>
        </p:spPr>
      </p:sp>
      <p:sp>
        <p:nvSpPr>
          <p:cNvPr id="11" name="Text 9"/>
          <p:cNvSpPr/>
          <p:nvPr/>
        </p:nvSpPr>
        <p:spPr>
          <a:xfrm>
            <a:off x="4475378"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Writer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Look at the order Latham puts things in. She fixes the time first — The first sunny day — then narrows to one moment inside it, when Nat came down to breakfast, and only then tells you how things stand. That is chronological organization working inside a single sentence: the reader is placed in time before being handed the news.</a:t>
            </a:r>
            <a:endParaRPr lang="en-US" sz="1900" dirty="0"/>
          </a:p>
        </p:txBody>
      </p:sp>
      <p:sp>
        <p:nvSpPr>
          <p:cNvPr id="12" name="Shape 10"/>
          <p:cNvSpPr/>
          <p:nvPr/>
        </p:nvSpPr>
        <p:spPr>
          <a:xfrm>
            <a:off x="8082077" y="3246120"/>
            <a:ext cx="3606698" cy="3200400"/>
          </a:xfrm>
          <a:prstGeom prst="roundRect">
            <a:avLst>
              <a:gd name="adj" fmla="val 2286"/>
            </a:avLst>
          </a:prstGeom>
          <a:solidFill>
            <a:srgbClr val="F8FAFC"/>
          </a:solidFill>
          <a:ln w="15875">
            <a:solidFill>
              <a:srgbClr val="CBD5E1"/>
            </a:solidFill>
            <a:prstDash val="solid"/>
          </a:ln>
        </p:spPr>
      </p:sp>
      <p:sp>
        <p:nvSpPr>
          <p:cNvPr id="13" name="Text 11"/>
          <p:cNvSpPr/>
          <p:nvPr/>
        </p:nvSpPr>
        <p:spPr>
          <a:xfrm>
            <a:off x="8264957"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Mimic</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Write one sentence about a moment in Chapter 2 that fixes the time first, then narrows to a single moment, and only then tells the reader what happened.</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THE SAME TECHNIQUE IN YOUR OWN SENTENCE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Mimic — Your Turn</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280160"/>
          </a:xfrm>
          <a:prstGeom prst="roundRect">
            <a:avLst>
              <a:gd name="adj" fmla="val 5714"/>
            </a:avLst>
          </a:prstGeom>
          <a:solidFill>
            <a:srgbClr val="FEF6E8"/>
          </a:solidFill>
          <a:ln w="15875">
            <a:solidFill>
              <a:srgbClr val="C7922C"/>
            </a:solidFill>
            <a:prstDash val="solid"/>
          </a:ln>
        </p:spPr>
      </p:sp>
      <p:sp>
        <p:nvSpPr>
          <p:cNvPr id="7" name="Text 5"/>
          <p:cNvSpPr/>
          <p:nvPr/>
        </p:nvSpPr>
        <p:spPr>
          <a:xfrm>
            <a:off x="777240" y="1645920"/>
            <a:ext cx="10637215" cy="1097280"/>
          </a:xfrm>
          <a:prstGeom prst="rect">
            <a:avLst/>
          </a:prstGeom>
          <a:noFill/>
          <a:ln/>
        </p:spPr>
        <p:txBody>
          <a:bodyPr wrap="square" lIns="0" tIns="0" rIns="0" bIns="0" rtlCol="0" anchor="ctr">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“The first sunny day, when Nat came down to breakfast, he still had not thought of anything to do about his good-luck spell.”</a:t>
            </a:r>
            <a:endParaRPr lang="en-US" sz="2200" dirty="0"/>
          </a:p>
        </p:txBody>
      </p:sp>
      <p:sp>
        <p:nvSpPr>
          <p:cNvPr id="8" name="Text 6"/>
          <p:cNvSpPr/>
          <p:nvPr/>
        </p:nvSpPr>
        <p:spPr>
          <a:xfrm>
            <a:off x="502920" y="3017520"/>
            <a:ext cx="11185855" cy="1463040"/>
          </a:xfrm>
          <a:prstGeom prst="rect">
            <a:avLst/>
          </a:prstGeom>
          <a:noFill/>
          <a:ln/>
        </p:spPr>
        <p:txBody>
          <a:bodyPr wrap="square" lIns="0" tIns="0" rIns="0" bIns="0" rtlCol="0" anchor="t"/>
          <a:lstStyle/>
          <a:p>
            <a:pPr indent="0" marL="0">
              <a:buNone/>
            </a:pPr>
            <a:r>
              <a:rPr lang="en-US" sz="2200" dirty="0">
                <a:solidFill>
                  <a:srgbClr val="1E293B"/>
                </a:solidFill>
                <a:latin typeface="Calibri" pitchFamily="34" charset="0"/>
                <a:ea typeface="Calibri" pitchFamily="34" charset="-122"/>
                <a:cs typeface="Calibri" pitchFamily="34" charset="-120"/>
              </a:rPr>
              <a:t>Write one sentence about a moment in Chapter 2 that fixes the time first, then narrows to a single moment, and only then tells the reader what happened.</a:t>
            </a:r>
            <a:endParaRPr lang="en-US" sz="2200" dirty="0"/>
          </a:p>
        </p:txBody>
      </p:sp>
      <p:sp>
        <p:nvSpPr>
          <p:cNvPr id="9" name="Text 7"/>
          <p:cNvSpPr/>
          <p:nvPr/>
        </p:nvSpPr>
        <p:spPr>
          <a:xfrm>
            <a:off x="502920" y="4617720"/>
            <a:ext cx="5486400"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FRAME</a:t>
            </a:r>
            <a:endParaRPr lang="en-US" sz="1300" dirty="0"/>
          </a:p>
        </p:txBody>
      </p:sp>
      <p:sp>
        <p:nvSpPr>
          <p:cNvPr id="10" name="Shape 8"/>
          <p:cNvSpPr/>
          <p:nvPr/>
        </p:nvSpPr>
        <p:spPr>
          <a:xfrm>
            <a:off x="502920" y="4937760"/>
            <a:ext cx="11185855" cy="1097280"/>
          </a:xfrm>
          <a:prstGeom prst="roundRect">
            <a:avLst>
              <a:gd name="adj" fmla="val 6667"/>
            </a:avLst>
          </a:prstGeom>
          <a:solidFill>
            <a:srgbClr val="FFFFFF"/>
          </a:solidFill>
          <a:ln w="15875">
            <a:solidFill>
              <a:srgbClr val="C7922C"/>
            </a:solidFill>
            <a:prstDash val="solid"/>
          </a:ln>
        </p:spPr>
      </p:sp>
      <p:sp>
        <p:nvSpPr>
          <p:cNvPr id="11" name="Text 9"/>
          <p:cNvSpPr/>
          <p:nvPr/>
        </p:nvSpPr>
        <p:spPr>
          <a:xfrm>
            <a:off x="777240" y="4983480"/>
            <a:ext cx="10637215" cy="1005840"/>
          </a:xfrm>
          <a:prstGeom prst="rect">
            <a:avLst/>
          </a:prstGeom>
          <a:noFill/>
          <a:ln/>
        </p:spPr>
        <p:txBody>
          <a:bodyPr wrap="square" lIns="0" tIns="0" rIns="0" bIns="0" rtlCol="0" anchor="ctr">
            <a:normAutofit/>
          </a:bodyPr>
          <a:lstStyle/>
          <a:p>
            <a:pPr indent="0" marL="0">
              <a:buNone/>
            </a:pPr>
            <a:r>
              <a:rPr lang="en-US" sz="2600" b="1" dirty="0">
                <a:solidFill>
                  <a:srgbClr val="0E1C42"/>
                </a:solidFill>
                <a:latin typeface="Calibri" pitchFamily="34" charset="0"/>
                <a:ea typeface="Calibri" pitchFamily="34" charset="-122"/>
                <a:cs typeface="Calibri" pitchFamily="34" charset="-120"/>
              </a:rPr>
              <a:t>The first ___, when [character] ___, he still had not ___.</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2 — “THE PRIVATEERS”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Chapter 2 — The Privateers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Chapter 2, Father takes Nat down to the Salem wharves to watch the activity around the privateer ships. Nat is young and small, but he’s watching everything. Pay attention to the moment he meets Tom Perry — and what Nat decides to do with his shilling.</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2</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When Nat Meets Tom Perry: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Tom Perry has something Nat has never had: a chance to be part of a real privateer voyage. Tom Perry stares at Nat’s shilling and says, “Most money you ever had, eh?” Then Nat spends it. What kind of risk is Nat taking? What does his decision tell you about him?</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at the End of Chapter 2: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Tom Perry makes Nat promise to keep his share a secret, and Nat says, “I’ll tell no man!” Why does Nat decide he can still tell Lizza? What does his relationship with Lizza seem like, based on this moment?</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What is an “expectation,” and why does Nat decide to buy one from Tom Perry? What makes his decision surprising, given what we know about his family’s situation? Use a specific detail from Chapter 2.</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Tom Perry says to Nat about his shilling: “Most money you ever had, eh?” Then Nat spends it. What does Nat’s willingness to take this risk tell you about his character? How does this connect to what we saw in Chapter 1, when the nor’easter ruined his plan but he said “I’ll think of something”?</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After buying his share in the Pilgrim’s voyage, Nat promises Tom Perry, “I’ll tell no man!” But he decides he can still tell Lizza. Why does he choose her? What does this choice tell you about the relationship between Nat and Lizza?</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RESEARCH CLAIM · TEST AND STRENGTHEN YOUR CLAIM</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9 · RESEARCH CLAIM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The best claims can survive a counterargument. Today you test your claim by playing devil’s advocate — arguing against yourself.</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tests the claim by imagining what a skeptic would say. BEFORE Someone could argue: Bowditch was just lucky to have access to books and time to study. AFTER Alex’s response: That’s exactly why the claim is interesting — he DIDN’T have those advantages. He was indentured, self-taught, and worked at night. That makes the claim stronger, not weaker. Notice: Testing your claim against the strongest counterargument doesn’t weaken your essay — it makes your evidence selection stronger. If the counterargument is too easy to defeat, your claim is too obvious.</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RESEARCH CLAIM · TEST AND STRENGTHEN YOUR CLAIM</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9 · RESEARCH CLAIM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Claim Test: Devil's Advocate: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Write the strongest possible argument AGAINST your claim. Then explain why your evidence still wins. Alex’s example (filled): Alex’s claim: What made Bowditch extraordinary was his belief that complex navigation was accessible to any willing sailor. Strongest counterargument: He was just lucky — right place, right time, access to books. Alex’s response: Except he had NO luck — indentured at 12, no school, taught himself at night. That’s not luck; that’s character. Your turn — do the same in your reading journal: My claim: ____________________ Strongest argument against it: ____________________ Why my evidence wins anyway: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“Someone might argue ___, but the evidence shows ___.” “While it’s true that ___, what’s more significant is ___.” “Even though ___, what makes Bowditch extraordinary is specifically ___...”</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9.2 — Carry On, Mr. Bowditch, Chapter 2</dc:title>
  <dc:subject>PptxGenJS Presentation</dc:subject>
  <dc:creator>Optima Academy Online</dc:creator>
  <cp:lastModifiedBy>Optima Academy Online</cp:lastModifiedBy>
  <cp:revision>1</cp:revision>
  <dcterms:created xsi:type="dcterms:W3CDTF">2026-10-29T19:41:21Z</dcterms:created>
  <dcterms:modified xsi:type="dcterms:W3CDTF">2026-10-29T19:41:21Z</dcterms:modified>
</cp:coreProperties>
</file>