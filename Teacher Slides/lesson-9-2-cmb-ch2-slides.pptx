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9, Day 2, Chapter 2 — The Privateers.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In Chapter 2, Nat spends the only coin he has on something uncertain — a share of a privateer voyage he may never see returned. What does it mean to invest in something when you can’t control the outcome? A poet named Emily Dickinson knew something about voyages, too — the kind you take inside a book.
Grammar: I will identify active and passive voice in sentences from the novel.
Spelling: I will identify the long /ā/ pattern in new maritime words.
Poetry: I will read and reflect on a poem about books as voyages.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"father and nat hurried down to the wharf to watch the pilgrim"
Corrected: "Father and Nat hurried down to the wharf to watch the Pilgrim."
Four fixes: “Father” is capitalized because Nat uses it as a name (like “Dad”); “Nat” is a person’s name; “Pilgrim” is the ship’s name; the sentence needs a period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"father and nat hurried down to the wharf to watch the pilgrim"
Corrected: "Father and Nat hurried down to the wharf to watch the Pilgrim."
Four fixes: “Father” is capitalized because Nat uses it as a name (like “Dad”); “Nat” is a person’s name; “Pilgrim” is the ship’s name; the sentence needs a period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poem aloud. Give students a moment to notice before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Could I combine two of these sentences to make my thinking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Sort or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Long /ā/ — Identify the Pattern in New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2 — The Privateers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RESEARCH CLAIM: Test and strengthen your claim
Focus: The best claims can survive a counterargument. Today you test your claim by playing devil’s advocate — arguing against yourself.
Before: BEFORE Someone could argue: Bowditch was just lucky to have access to books and time to study.
After: AFTER Alex’s response: That’s exactly why the claim is interesting — he DIDN’T have those advantages. He was indentured, self-taught, and worked at night. That makes the claim stronger, not weaker.
Notice: Notice: Testing your claim against the strongest counterargument doesn’t weaken your essay — it makes your evidence selection stronger. If the counterargument is too easy to defeat, your claim is too obvious.
Tool: Today’s Tool: Claim Test: Devil's Advocate — Write the strongest possible argument AGAINST your claim. Then explain why your evidence still wins.
Frames: “Someone might argue ___, but the evidence shows ___.” | “While it’s true that ___, what’s more significant is ___.” | “Even though ___, what makes Bowditch extraordinary is specifically ___...”
Prompt: Test your claim: write the strongest argument against it, then explain why your evidence holds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9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2 — The Privateers</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9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In Chapter 2, Nat spends the only coin he has on something uncertain — a share of a privateer voyage he may never see returned. What does it mean to invest in something when you can’t control the outcome? A poet named Emily Dickinson knew something about voyages, too — the kind you take inside a book.</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I will identify active and passive voice in sentences from the novel.</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 will identify the long /ā/ pattern in new maritime words.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Poetry: </a:t>
            </a:r>
            <a:pPr indent="0" marL="0">
              <a:buNone/>
            </a:pPr>
            <a:r>
              <a:rPr lang="en-US" sz="1250" dirty="0">
                <a:solidFill>
                  <a:srgbClr val="1E293B"/>
                </a:solidFill>
                <a:latin typeface="Calibri" pitchFamily="34" charset="0"/>
                <a:ea typeface="Calibri" pitchFamily="34" charset="-122"/>
                <a:cs typeface="Calibri" pitchFamily="34" charset="-120"/>
              </a:rPr>
              <a:t>I will read and reflect on a poem about books as voyages.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Yesterday you noticed what Nat wants and how he responds when things go wrong. Good readers keep watching that pattern as the story grows. In Chapter 2, something shifts: Nat is offered a chance to take a real risk. When a character makes a surprising choice — especially one that costs something — good readers ask why. Hold these questions as you read:</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Nat decide to do with his shilling? What makes this decision surprising or unexpected?</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spending his only coin tell you about what Nat values? What does it say about how he thinks about the future?</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Nat tells only one person about his decision. Who? What does that choice reveal?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Tom Perry pointed toward the masts of the Pilgrim.</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Tom  </a:t>
            </a:r>
            <a:pPr indent="0" marL="0">
              <a:buNone/>
            </a:pPr>
            <a:r>
              <a:rPr lang="en-US" sz="1200" dirty="0">
                <a:solidFill>
                  <a:srgbClr val="1E293B"/>
                </a:solidFill>
                <a:latin typeface="Calibri" pitchFamily="34" charset="0"/>
                <a:ea typeface="Calibri" pitchFamily="34" charset="-122"/>
                <a:cs typeface="Calibri" pitchFamily="34" charset="-120"/>
              </a:rPr>
              <a:t>"Tom" is a proper noun — a person’s first name — so it always starts with a capital letter.</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Perry  </a:t>
            </a:r>
            <a:pPr indent="0" marL="0">
              <a:buNone/>
            </a:pPr>
            <a:r>
              <a:rPr lang="en-US" sz="1200" dirty="0">
                <a:solidFill>
                  <a:srgbClr val="1E293B"/>
                </a:solidFill>
                <a:latin typeface="Calibri" pitchFamily="34" charset="0"/>
                <a:ea typeface="Calibri" pitchFamily="34" charset="-122"/>
                <a:cs typeface="Calibri" pitchFamily="34" charset="-120"/>
              </a:rPr>
              <a:t>"Perry" is a proper noun — a person’s last name — and must also be capitalized.</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Pilgrim.  </a:t>
            </a:r>
            <a:pPr indent="0" marL="0">
              <a:buNone/>
            </a:pPr>
            <a:r>
              <a:rPr lang="en-US" sz="1200" dirty="0">
                <a:solidFill>
                  <a:srgbClr val="1E293B"/>
                </a:solidFill>
                <a:latin typeface="Calibri" pitchFamily="34" charset="0"/>
                <a:ea typeface="Calibri" pitchFamily="34" charset="-122"/>
                <a:cs typeface="Calibri" pitchFamily="34" charset="-120"/>
              </a:rPr>
              <a:t>"Pilgrim" is the name of a specific ship — a proper noun — so it gets a capital letter.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father and nat hurried down to the wharf to watch the pilgrim</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father and nat hurried down to the wharf to watch the pilgrim</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Father and Nat hurried down to the wharf to watch the Pilgrim.</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Four fixes: “Father” is capitalized because Nat uses it as a name (like “Dad”); “Nat” is a person’s name; “Pilgrim” is the ship’s name; the sentence needs a period at the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Poetry Corner</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365760" y="868680"/>
            <a:ext cx="8412480" cy="2423160"/>
          </a:xfrm>
          <a:prstGeom prst="roundRect">
            <a:avLst>
              <a:gd name="adj" fmla="val 3774"/>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960120"/>
            <a:ext cx="79552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There Is No Frigate Like a Book</a:t>
            </a:r>
            <a:endParaRPr lang="en-US" sz="2000" dirty="0"/>
          </a:p>
        </p:txBody>
      </p:sp>
      <p:sp>
        <p:nvSpPr>
          <p:cNvPr id="6" name="Text 4"/>
          <p:cNvSpPr/>
          <p:nvPr/>
        </p:nvSpPr>
        <p:spPr>
          <a:xfrm>
            <a:off x="594360" y="1325880"/>
            <a:ext cx="7955280" cy="2743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by by Emily Dickinson (c. 1873) — public domain</a:t>
            </a:r>
            <a:endParaRPr lang="en-US" sz="1300" dirty="0"/>
          </a:p>
        </p:txBody>
      </p:sp>
      <p:sp>
        <p:nvSpPr>
          <p:cNvPr id="7" name="Text 5"/>
          <p:cNvSpPr/>
          <p:nvPr/>
        </p:nvSpPr>
        <p:spPr>
          <a:xfrm>
            <a:off x="594360" y="1645920"/>
            <a:ext cx="7955280" cy="1554480"/>
          </a:xfrm>
          <a:prstGeom prst="rect">
            <a:avLst/>
          </a:prstGeom>
          <a:noFill/>
          <a:ln/>
        </p:spPr>
        <p:txBody>
          <a:bodyPr wrap="square" lIns="0" tIns="0" rIns="0" bIns="0" rtlCol="0" anchor="t"/>
          <a:lstStyle/>
          <a:p>
            <a:pPr indent="0" marL="0">
              <a:buNone/>
            </a:pPr>
            <a:r>
              <a:rPr lang="en-US" sz="1500" i="1" dirty="0">
                <a:solidFill>
                  <a:srgbClr val="1E293B"/>
                </a:solidFill>
                <a:latin typeface="Georgia" pitchFamily="34" charset="0"/>
                <a:ea typeface="Georgia" pitchFamily="34" charset="-122"/>
                <a:cs typeface="Georgia" pitchFamily="34" charset="-120"/>
              </a:rPr>
              <a:t>There is no Frigate like a Book</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To take us Lands away,</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Nor any Coursers like a Page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Of prancing Poetry —</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This Traverse may the poorest take</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Without oppress of Toll —</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How frugal is the Chariot</a:t>
            </a:r>
            <a:endParaRPr lang="en-US" sz="1500" dirty="0"/>
          </a:p>
          <a:p>
            <a:pPr indent="0" marL="0">
              <a:buNone/>
            </a:pPr>
            <a:r>
              <a:rPr lang="en-US" sz="1500" i="1" dirty="0">
                <a:solidFill>
                  <a:srgbClr val="1E293B"/>
                </a:solidFill>
                <a:latin typeface="Georgia" pitchFamily="34" charset="0"/>
                <a:ea typeface="Georgia" pitchFamily="34" charset="-122"/>
                <a:cs typeface="Georgia" pitchFamily="34" charset="-120"/>
              </a:rPr>
              <a:t>That bears the Human Soul.</a:t>
            </a:r>
            <a:endParaRPr lang="en-US" sz="1500" dirty="0"/>
          </a:p>
        </p:txBody>
      </p:sp>
      <p:sp>
        <p:nvSpPr>
          <p:cNvPr id="8" name="Text 6"/>
          <p:cNvSpPr/>
          <p:nvPr/>
        </p:nvSpPr>
        <p:spPr>
          <a:xfrm>
            <a:off x="36576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THINK ABOUT THIS</a:t>
            </a:r>
            <a:endParaRPr lang="en-US" sz="1100" dirty="0"/>
          </a:p>
        </p:txBody>
      </p:sp>
      <p:sp>
        <p:nvSpPr>
          <p:cNvPr id="9" name="Shape 7"/>
          <p:cNvSpPr/>
          <p:nvPr/>
        </p:nvSpPr>
        <p:spPr>
          <a:xfrm>
            <a:off x="365760" y="3685032"/>
            <a:ext cx="8412480" cy="914400"/>
          </a:xfrm>
          <a:prstGeom prst="roundRect">
            <a:avLst>
              <a:gd name="adj" fmla="val 1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3776472"/>
            <a:ext cx="795528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Dickinson says a book is like a frigate — a ship that can take us to distant lands. Nat Bowditch lives surrounded by real ships and a real harbor. Why might this poem feel especially true as you begin reading his story? Where is the book carrying you?</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gives up his last shilling for a share in the Pilgrim's voyage. Was that a wise risk or a reckless one? Defend your answer with evidence from Chapter 2.</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Someone might disagree, but...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gives up his last shilling for a share in the Pilgrim's voyage. Was that a wise risk or a reckless one? Defend your answer with evidence from Chapter 2.</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Someone might disagree, but...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Could I combine two of these sentences to make my thinking clearer?</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Roots naut / nav and port — Review &amp; Extend</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aeronautics → aero (air) + naut (ship/travel) → the study and science of air travel. Early hot-air balloonists were called “aeronauts” — sailors of the air. | navy → nav (ship) → a country’s official fleet of warships. Nat reads about real naval battles throughout this story. | export → ex (out) + port (carry) → to carry goods out of a country for sale elsewhere. Salem merchants export and import goods from across the world. | report → re (back) + port (carry) → to carry information back; an account of events. Nat will write detailed navigational reports during his voyages.</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aeronautics = the science of air travel — “sailors” of the sky</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export = to carry goods out of a country for sale abroad</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navy = a country’s official fleet of warships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Sort or Match</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Sort the week’s words by what kind of thing they name</a:t>
            </a:r>
            <a:endParaRPr lang="en-US" sz="1100" dirty="0"/>
          </a:p>
        </p:txBody>
      </p:sp>
      <p:sp>
        <p:nvSpPr>
          <p:cNvPr id="5" name="Text 3"/>
          <p:cNvSpPr/>
          <p:nvPr/>
        </p:nvSpPr>
        <p:spPr>
          <a:xfrm>
            <a:off x="36576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a:t>
            </a:r>
            <a:endParaRPr lang="en-US" sz="1300" dirty="0"/>
          </a:p>
        </p:txBody>
      </p:sp>
      <p:sp>
        <p:nvSpPr>
          <p:cNvPr id="6" name="Text 4"/>
          <p:cNvSpPr/>
          <p:nvPr/>
        </p:nvSpPr>
        <p:spPr>
          <a:xfrm>
            <a:off x="36576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privateer  ·  chandlery  ·  wharf  ·  cooperage</a:t>
            </a:r>
            <a:endParaRPr lang="en-US" sz="1300" dirty="0"/>
          </a:p>
        </p:txBody>
      </p:sp>
      <p:sp>
        <p:nvSpPr>
          <p:cNvPr id="7" name="Text 5"/>
          <p:cNvSpPr/>
          <p:nvPr/>
        </p:nvSpPr>
        <p:spPr>
          <a:xfrm>
            <a:off x="4663440" y="109728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B</a:t>
            </a:r>
            <a:endParaRPr lang="en-US" sz="1300" dirty="0"/>
          </a:p>
        </p:txBody>
      </p:sp>
      <p:sp>
        <p:nvSpPr>
          <p:cNvPr id="8" name="Text 6"/>
          <p:cNvSpPr/>
          <p:nvPr/>
        </p:nvSpPr>
        <p:spPr>
          <a:xfrm>
            <a:off x="4663440" y="1481328"/>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expectation  ·  indenture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Active and Passive Voice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Identify — spot active and passive voice in the wild</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Subject + action verb. “Father led Nat to the docks.” (Father does the leading.) Passive: was/were + past participle. “Nat was led to the docks by Father.” (Nat receives the action.) Look for was or were as your signal.</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Pilgrim was anchored at the far end of the wharf.”</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Active   /   Passive</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“Father led Nat through the busy crowd at the wharves.”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Active   /   Passive</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“Tom’s share of earnings was offered to Nat for his shilling.”</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Active   /   Passive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Active and Passive Voice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Identify — spot active and passive voice in the wild</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Subject + action verb. “Father led Nat to the docks.” (Father does the leading.) Passive: was/were + past participle. “Nat was led to the docks by Father.” (Nat receives the action.) Look for was or were as your signal.</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Pilgrim was anchored at the far end of the wharf.”
</a:t>
            </a:r>
            <a:pPr indent="0" marL="0">
              <a:buNone/>
            </a:pPr>
            <a:r>
              <a:rPr lang="en-US" sz="1200" b="1" dirty="0">
                <a:solidFill>
                  <a:srgbClr val="34B76F"/>
                </a:solidFill>
                <a:latin typeface="Calibri" pitchFamily="34" charset="0"/>
                <a:ea typeface="Calibri" pitchFamily="34" charset="-122"/>
                <a:cs typeface="Calibri" pitchFamily="34" charset="-120"/>
              </a:rPr>
              <a:t>✅ Passive</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“Father led Nat through the busy crowd at the wharves.”
</a:t>
            </a:r>
            <a:pPr indent="0" marL="0">
              <a:buNone/>
            </a:pPr>
            <a:r>
              <a:rPr lang="en-US" sz="1200" b="1" dirty="0">
                <a:solidFill>
                  <a:srgbClr val="34B76F"/>
                </a:solidFill>
                <a:latin typeface="Calibri" pitchFamily="34" charset="0"/>
                <a:ea typeface="Calibri" pitchFamily="34" charset="-122"/>
                <a:cs typeface="Calibri" pitchFamily="34" charset="-120"/>
              </a:rPr>
              <a:t>✅ Active</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“Tom’s share of earnings was offered to Nat for his shilling.”
</a:t>
            </a:r>
            <a:pPr indent="0" marL="0">
              <a:buNone/>
            </a:pPr>
            <a:r>
              <a:rPr lang="en-US" sz="1200" b="1" dirty="0">
                <a:solidFill>
                  <a:srgbClr val="34B76F"/>
                </a:solidFill>
                <a:latin typeface="Calibri" pitchFamily="34" charset="0"/>
                <a:ea typeface="Calibri" pitchFamily="34" charset="-122"/>
                <a:cs typeface="Calibri" pitchFamily="34" charset="-120"/>
              </a:rPr>
              <a:t>✅ Passive</a:t>
            </a:r>
            <a:endParaRPr lang="en-US" sz="1200" dirty="0"/>
          </a:p>
        </p:txBody>
      </p:sp>
      <p:sp>
        <p:nvSpPr>
          <p:cNvPr id="14" name="Shape 12"/>
          <p:cNvSpPr/>
          <p:nvPr/>
        </p:nvSpPr>
        <p:spPr>
          <a:xfrm>
            <a:off x="365760" y="3950208"/>
            <a:ext cx="8412480" cy="685800"/>
          </a:xfrm>
          <a:prstGeom prst="roundRect">
            <a:avLst>
              <a:gd name="adj" fmla="val 13333"/>
            </a:avLst>
          </a:prstGeom>
          <a:solidFill>
            <a:srgbClr val="FEF6E8"/>
          </a:solidFill>
          <a:ln w="12700">
            <a:solidFill>
              <a:srgbClr val="C7922C"/>
            </a:solidFill>
            <a:prstDash val="solid"/>
          </a:ln>
        </p:spPr>
      </p:sp>
      <p:sp>
        <p:nvSpPr>
          <p:cNvPr id="15" name="Text 13"/>
          <p:cNvSpPr/>
          <p:nvPr/>
        </p:nvSpPr>
        <p:spPr>
          <a:xfrm>
            <a:off x="548640" y="4005072"/>
            <a:ext cx="8046720" cy="548640"/>
          </a:xfrm>
          <a:prstGeom prst="rect">
            <a:avLst/>
          </a:prstGeom>
          <a:noFill/>
          <a:ln/>
        </p:spPr>
        <p:txBody>
          <a:bodyPr wrap="square" lIns="0" tIns="0" rIns="0" bIns="0" rtlCol="0" anchor="t"/>
          <a:lstStyle/>
          <a:p>
            <a:pPr indent="0" marL="0">
              <a:buNone/>
            </a:pPr>
            <a:r>
              <a:rPr lang="en-US" sz="1000" b="1" dirty="0">
                <a:solidFill>
                  <a:srgbClr val="C7922C"/>
                </a:solidFill>
                <a:latin typeface="Calibri" pitchFamily="34" charset="0"/>
                <a:ea typeface="Calibri" pitchFamily="34" charset="-122"/>
                <a:cs typeface="Calibri" pitchFamily="34" charset="-120"/>
              </a:rPr>
              <a:t>🫖 Show What You Know · Grammar
</a:t>
            </a:r>
            <a:pPr indent="0" marL="0">
              <a:buNone/>
            </a:pPr>
            <a:r>
              <a:rPr lang="en-US" sz="1000" i="1" dirty="0">
                <a:solidFill>
                  <a:srgbClr val="1E293B"/>
                </a:solidFill>
                <a:latin typeface="Calibri" pitchFamily="34" charset="0"/>
                <a:ea typeface="Calibri" pitchFamily="34" charset="-122"/>
                <a:cs typeface="Calibri" pitchFamily="34" charset="-120"/>
              </a:rPr>
              <a:t>Read the two sentences below. For each one, write “Active” or “Passive” and explain how you can tell. Then write your own active-voice sentence about something that happens in Chapter 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Long /ā/ — Identify the Pattern in New Words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Identify — ai or a_e? Put your pattern knowledge to work</a:t>
            </a:r>
            <a:endParaRPr lang="en-US" sz="1100" dirty="0"/>
          </a:p>
        </p:txBody>
      </p:sp>
      <p:sp>
        <p:nvSpPr>
          <p:cNvPr id="7" name="Text 5"/>
          <p:cNvSpPr/>
          <p:nvPr/>
        </p:nvSpPr>
        <p:spPr>
          <a:xfrm>
            <a:off x="365760" y="114300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ai pattern two vowels together</a:t>
            </a:r>
            <a:endParaRPr lang="en-US" sz="1300" dirty="0"/>
          </a:p>
        </p:txBody>
      </p:sp>
      <p:sp>
        <p:nvSpPr>
          <p:cNvPr id="8" name="Text 6"/>
          <p:cNvSpPr/>
          <p:nvPr/>
        </p:nvSpPr>
        <p:spPr>
          <a:xfrm>
            <a:off x="365760" y="1508760"/>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train  ·  chain  ·  strain  ·  plain</a:t>
            </a:r>
            <a:endParaRPr lang="en-US" sz="1300" dirty="0"/>
          </a:p>
        </p:txBody>
      </p:sp>
      <p:sp>
        <p:nvSpPr>
          <p:cNvPr id="9" name="Text 7"/>
          <p:cNvSpPr/>
          <p:nvPr/>
        </p:nvSpPr>
        <p:spPr>
          <a:xfrm>
            <a:off x="4663440" y="114300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a_e pattern vowel + consonant + silent e</a:t>
            </a:r>
            <a:endParaRPr lang="en-US" sz="1300" dirty="0"/>
          </a:p>
        </p:txBody>
      </p:sp>
      <p:sp>
        <p:nvSpPr>
          <p:cNvPr id="10" name="Text 8"/>
          <p:cNvSpPr/>
          <p:nvPr/>
        </p:nvSpPr>
        <p:spPr>
          <a:xfrm>
            <a:off x="4663440" y="1508760"/>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trade  ·  blade  ·  frame  ·  name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2 — The Privateers</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2 — The Privateers</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What does Nat decide to do with his shilling? What makes this decision surprising or unexpected?</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What does spending his only coin tell you about what Nat values? What does it say about how he thinks about the future?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What is an “expectation,” and why does Nat decide to buy one from Tom Perry? What makes his decision surprising, given what we know about his family’s situation? Use a specific detail from Chapter 2.</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Father says to Nat about his shilling: “Most money you ever had, eh?” Then Nat spends it. What does Nat’s willingness to take this risk tell you about his character? How does this connect to what we saw in Chapter 1, when the nor’easter ruined his plan but he said “I’ll think of something”?</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After buying his share in the Pilgrim’s voyage, Nat tells only Lizza about it. What does this secrecy tell you about the relationship between Nat and Lizza? What might Nat be protecting by keeping this a secret from Father and others?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RESEARCH CLAIM  ·  Test and strengthen your claim</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The best claims can survive a counterargument. Today you test your claim by playing devil’s advocate — arguing against yourself.</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Someone could argue: Bowditch was just lucky to have access to books and time to study.</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response: That’s exactly why the claim is interesting — he DIDN’T have those advantages. He was indentured, self-taught, and worked at night. That makes the claim stronger, not weaker.</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Testing your claim against the strongest counterargument doesn’t weaken your essay — it makes your evidence selection stronger. If the counterargument is too easy to defeat, your claim is too obvious.</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CLAIM TEST: DEVIL'S ADVOCATE</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Write the strongest possible argument AGAINST your claim. Then explain why your evidence still wins.</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Test your claim: write the strongest argument against it, then explain why your evidence holds up.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