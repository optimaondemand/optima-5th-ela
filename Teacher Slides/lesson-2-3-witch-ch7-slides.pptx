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 Day 3,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someone decides they want you — but never asks what you want?
Reading: I will make connections with Chapter 7 and answer comprehension questions about character perspective.
Grammar: I will write using compound subjects and predicates to combine sentences.
Spelling: I will apply suffix spelling rules (drop e, double consonant, y to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"william ashby visited the wood family every saturday evening and kit learned to nit"
Corrected: "William Ashby visited the Wood family every Saturday evening, and Kit learned to knit."
Compare with the model: capitalize names (William, Ashby, Wood, Kit) and the day of the week (Saturday). “Knit” not “nit.” Add a comma before “and” when joining two complete actions, plus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"william ashby visited the wood family every saturday evening and kit learned to nit"
Corrected: "William Ashby visited the Wood family every Saturday evening, and Kit learned to knit."
Compare with the model: capitalize names (William, Ashby, Wood, Kit) and the day of the week (Saturday). “Knit” not “nit.” Add a comma before “and” when joining two complete actions, plus a period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Suffix Spelling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7 — William’s Saturday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2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7 — William’s Courtship</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someone decides they want you — but never asks what you want?</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7 and answer comprehension questions about character perspective.</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write using compound subjects and predicates to combine sentences.</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apply suffix spelling rules (drop e, double consonant, y to 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As you read today, notice how Kit’s perspective on William keeps shifting. She finds his silence frustrating, then flattering, then suffocating. Good readers track how a character’s feelings change — even within a single chapter.</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When does Kit feel flattered by William — and when does she feel trapped?</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moments reveal that Kit’s perspective is more complicated than simply liking or disliking William?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Ashby visited the Wood family every Saturday evening , and Kit learned to knit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William  </a:t>
            </a:r>
            <a:pPr indent="0" marL="0">
              <a:buNone/>
            </a:pPr>
            <a:r>
              <a:rPr lang="en-US" sz="1200" dirty="0">
                <a:solidFill>
                  <a:srgbClr val="1E293B"/>
                </a:solidFill>
                <a:latin typeface="Calibri" pitchFamily="34" charset="0"/>
                <a:ea typeface="Calibri" pitchFamily="34" charset="-122"/>
                <a:cs typeface="Calibri" pitchFamily="34" charset="-120"/>
              </a:rPr>
              <a:t>"William" is a name — it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Ashby  </a:t>
            </a:r>
            <a:pPr indent="0" marL="0">
              <a:buNone/>
            </a:pPr>
            <a:r>
              <a:rPr lang="en-US" sz="1200" dirty="0">
                <a:solidFill>
                  <a:srgbClr val="1E293B"/>
                </a:solidFill>
                <a:latin typeface="Calibri" pitchFamily="34" charset="0"/>
                <a:ea typeface="Calibri" pitchFamily="34" charset="-122"/>
                <a:cs typeface="Calibri" pitchFamily="34" charset="-120"/>
              </a:rPr>
              <a:t>"Ashby" is a last name — also capitalized.</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Wood  </a:t>
            </a:r>
            <a:pPr indent="0" marL="0">
              <a:buNone/>
            </a:pPr>
            <a:r>
              <a:rPr lang="en-US" sz="1200" dirty="0">
                <a:solidFill>
                  <a:srgbClr val="1E293B"/>
                </a:solidFill>
                <a:latin typeface="Calibri" pitchFamily="34" charset="0"/>
                <a:ea typeface="Calibri" pitchFamily="34" charset="-122"/>
                <a:cs typeface="Calibri" pitchFamily="34" charset="-120"/>
              </a:rPr>
              <a:t>"Wood" is a family name — capitalized.</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Saturday  </a:t>
            </a:r>
            <a:pPr indent="0" marL="0">
              <a:buNone/>
            </a:pPr>
            <a:r>
              <a:rPr lang="en-US" sz="1200" dirty="0">
                <a:solidFill>
                  <a:srgbClr val="1E293B"/>
                </a:solidFill>
                <a:latin typeface="Calibri" pitchFamily="34" charset="0"/>
                <a:ea typeface="Calibri" pitchFamily="34" charset="-122"/>
                <a:cs typeface="Calibri" pitchFamily="34" charset="-120"/>
              </a:rPr>
              <a:t>"Saturday" is a day of the week — always 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ashby visited the wood family every saturday evening and kit learned to nit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william ashby visited the wood family every saturday evening and kit learned to nit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William Ashby visited the Wood family every Saturday evening, and Kit learned to knit.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capitalize names (William, Ashby, Wood, Kit) and the day of the week (Saturday). “Knit” not “nit.” Add a comma before “and” when joining two complete actions, plus a period at the 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detail shows William's real feelings for Kit more clearly — his long silences, or his sudden defense of Matthew during the political argument? Defend your choice with evidence from Chapter 7.</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detail shows William's real feelings for Kit more clearly — his long silences, or his sudden defense of Matthew during the political argument? Defend your choice with evidence from Chapter 7.</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Could I combine two of these sentences?</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-ion / -ation</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admire (verb) + -ation = admiration (noun) — the feeling of admiring someone | submit (verb) + -ion = submission (noun) — the act of submitting | converse (verb) + -ation = conversation (noun) — the act of conversing | rebel (verb) + -ion = rebellion (noun) — the act of rebelling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Use It</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This week's words in context</a:t>
            </a:r>
            <a:endParaRPr lang="en-US" sz="1100" dirty="0"/>
          </a:p>
        </p:txBody>
      </p:sp>
      <p:sp>
        <p:nvSpPr>
          <p:cNvPr id="5" name="Shape 3"/>
          <p:cNvSpPr/>
          <p:nvPr/>
        </p:nvSpPr>
        <p:spPr>
          <a:xfrm>
            <a:off x="365760" y="109728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Matthew argued that ___ to the King meant giving up their rights.</a:t>
            </a:r>
            <a:endParaRPr lang="en-US" sz="1200" dirty="0"/>
          </a:p>
        </p:txBody>
      </p:sp>
      <p:sp>
        <p:nvSpPr>
          <p:cNvPr id="7" name="Shape 5"/>
          <p:cNvSpPr/>
          <p:nvPr/>
        </p:nvSpPr>
        <p:spPr>
          <a:xfrm>
            <a:off x="365760" y="170992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64792"/>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sat ___ with her hands folded, eyes lowered.</a:t>
            </a:r>
            <a:endParaRPr lang="en-US" sz="1200" dirty="0"/>
          </a:p>
        </p:txBody>
      </p:sp>
      <p:sp>
        <p:nvSpPr>
          <p:cNvPr id="9" name="Shape 7"/>
          <p:cNvSpPr/>
          <p:nvPr/>
        </p:nvSpPr>
        <p:spPr>
          <a:xfrm>
            <a:off x="365760" y="2322576"/>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77440"/>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Kit’s silk gowns made her ___ in a town of plain wool.</a:t>
            </a:r>
            <a:endParaRPr lang="en-US" sz="1200" dirty="0"/>
          </a:p>
        </p:txBody>
      </p:sp>
      <p:sp>
        <p:nvSpPr>
          <p:cNvPr id="11" name="Shape 9"/>
          <p:cNvSpPr/>
          <p:nvPr/>
        </p:nvSpPr>
        <p:spPr>
          <a:xfrm>
            <a:off x="365760" y="2935224"/>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90088"/>
            <a:ext cx="8046720" cy="438912"/>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Judith dismissed Kit’s fine dresses as useless ___.</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Sentence Combining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Write using compound subjects and predicates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Compound predicate: “William sat stiffly.” + “William stared at Kit.” → “William sat stiffly and stared at Kit.” Compound subject: “Mercy smiled warmly.” + “Rachel smiled warmly.” → “Mercy and Rachel smiled warmly.”</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popped corn. John popped corn.”
</a:t>
            </a:r>
            <a:pPr indent="0" marL="0">
              <a:buNone/>
            </a:pPr>
            <a:r>
              <a:rPr lang="en-US" sz="1100" dirty="0">
                <a:solidFill>
                  <a:srgbClr val="64748B"/>
                </a:solidFill>
                <a:latin typeface="Calibri" pitchFamily="34" charset="0"/>
                <a:ea typeface="Calibri" pitchFamily="34" charset="-122"/>
                <a:cs typeface="Calibri" pitchFamily="34" charset="-120"/>
              </a:rPr>
              <a:t>Kit and John popped corn.   /   Kit popped corn and John.</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“Matthew questioned William. Matthew challenged William.”
</a:t>
            </a:r>
            <a:pPr indent="0" marL="0">
              <a:buNone/>
            </a:pPr>
            <a:r>
              <a:rPr lang="en-US" sz="1100" dirty="0">
                <a:solidFill>
                  <a:srgbClr val="64748B"/>
                </a:solidFill>
                <a:latin typeface="Calibri" pitchFamily="34" charset="0"/>
                <a:ea typeface="Calibri" pitchFamily="34" charset="-122"/>
                <a:cs typeface="Calibri" pitchFamily="34" charset="-120"/>
              </a:rPr>
              <a:t>Matthew questioned and William challenged.   /   Matthew questioned and challenged William.</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knitted quietly. Kit watched William.”
</a:t>
            </a:r>
            <a:pPr indent="0" marL="0">
              <a:buNone/>
            </a:pPr>
            <a:r>
              <a:rPr lang="en-US" sz="1100" dirty="0">
                <a:solidFill>
                  <a:srgbClr val="64748B"/>
                </a:solidFill>
                <a:latin typeface="Calibri" pitchFamily="34" charset="0"/>
                <a:ea typeface="Calibri" pitchFamily="34" charset="-122"/>
                <a:cs typeface="Calibri" pitchFamily="34" charset="-120"/>
              </a:rPr>
              <a:t>Kit knitted quietly and watched William.   /   Kit and William knitted quietly.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Sentence Combining</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Write using compound subjects and predicates</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Compound predicate: “William sat stiffly.” + “William stared at Kit.” → “William sat stiffly and stared at Kit.” Compound subject: “Mercy smiled warmly.” + “Rachel smiled warmly.” → “Mercy and Rachel smiled warmly.”</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popped corn. John popped corn.”
</a:t>
            </a:r>
            <a:pPr indent="0" marL="0">
              <a:buNone/>
            </a:pPr>
            <a:r>
              <a:rPr lang="en-US" sz="1200" b="1" dirty="0">
                <a:solidFill>
                  <a:srgbClr val="34B76F"/>
                </a:solidFill>
                <a:latin typeface="Calibri" pitchFamily="34" charset="0"/>
                <a:ea typeface="Calibri" pitchFamily="34" charset="-122"/>
                <a:cs typeface="Calibri" pitchFamily="34" charset="-120"/>
              </a:rPr>
              <a:t>✅ Kit and John popped corn.</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“Matthew questioned William. Matthew challenged William.”
</a:t>
            </a:r>
            <a:pPr indent="0" marL="0">
              <a:buNone/>
            </a:pPr>
            <a:r>
              <a:rPr lang="en-US" sz="1200" b="1" dirty="0">
                <a:solidFill>
                  <a:srgbClr val="34B76F"/>
                </a:solidFill>
                <a:latin typeface="Calibri" pitchFamily="34" charset="0"/>
                <a:ea typeface="Calibri" pitchFamily="34" charset="-122"/>
                <a:cs typeface="Calibri" pitchFamily="34" charset="-120"/>
              </a:rPr>
              <a:t>✅ Matthew questioned and challenged William.</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knitted quietly. Kit watched William.”
</a:t>
            </a:r>
            <a:pPr indent="0" marL="0">
              <a:buNone/>
            </a:pPr>
            <a:r>
              <a:rPr lang="en-US" sz="1200" b="1" dirty="0">
                <a:solidFill>
                  <a:srgbClr val="34B76F"/>
                </a:solidFill>
                <a:latin typeface="Calibri" pitchFamily="34" charset="0"/>
                <a:ea typeface="Calibri" pitchFamily="34" charset="-122"/>
                <a:cs typeface="Calibri" pitchFamily="34" charset="-120"/>
              </a:rPr>
              <a:t>✅ Kit knitted quietly and watched William.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Suffix Spelling Changes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Apply — drop e, double consonant, y to i</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Drop the 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admiration  ·  reckoning  ·  conversation</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Double the consonant</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submission  ·  knitting  ·  rebellion</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Apply the correct spelling rule to add the suffix. Write each new word: admire + -ation = ___; submit + -ion = ___; envy + -ous = ___</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was so sure! Without even asking, he was reckoning on her as deliberately as he calculated his growing pile of lumber.”</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Kit feeling about William in this moment? She notices his certainty — but is she flattered, frustrated, or both? What does the word “reckoning” suggest about how she sees his intentions?</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Speare compares William’s courtship to calculating lumber. How does this metaphor reveal Kit’s frustration? What does it tell you that the author chose something so practical and unromantic for the comparison?</a:t>
            </a:r>
            <a:endParaRPr lang="en-US" sz="1200" dirty="0"/>
          </a:p>
        </p:txBody>
      </p:sp>
      <p:sp>
        <p:nvSpPr>
          <p:cNvPr id="10" name="Shape 8"/>
          <p:cNvSpPr/>
          <p:nvPr/>
        </p:nvSpPr>
        <p:spPr>
          <a:xfrm>
            <a:off x="365760" y="3300984"/>
            <a:ext cx="8412480" cy="640080"/>
          </a:xfrm>
          <a:prstGeom prst="roundRect">
            <a:avLst>
              <a:gd name="adj" fmla="val 14286"/>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5029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a sentence where a character compares someone’s behavior to something mechanical or calculated. No sentence frame — trust your instincts.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7 — William’s Saturday Visits</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7 — William’s Courtship</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When does Kit feel flattered by William — and when does she feel trapped?</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What moments reveal that Kit’s perspective is more complicated than simply liking or disliking William?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Why does Kit find William’s silence both frustrating and flattering? What does this tell you about her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How does William surprise Kit and the family during the political argument? What does this reveal about him?</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Judith suddenly declare she’ll marry John Holbrook? What do you think is really motivating her?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William never says much, but his actions speak for him. Write 3–4 sentences describing William’s courtship from his perspective. What is he thinking during those long silent Saturday evenings?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