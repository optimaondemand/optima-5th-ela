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25, Day 4, Week 25 — Chapter 3: News of the Sea Raven.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Praiseworthy insists he was “born to be a butler” — yet this week he has shoveled coal, trapped a thief, and helped a fever ship. None of that is in any butler’s handbook. By the end of Chapter 3, you will begin to understand what Fleischman is really saying about calling, talent, and purpose.
Vocab SWYK: I will complete a vocabulary choice board to show what I know about all five words.
Grammar: I will explain how prepositional phrases build setting, using examples from Chapters 1–3.
Reading: I will answer a reflective question that spans all three chapters.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"captain swain rubbed his nose cocked an eye at the square-rigger and raised the speaking tube to his lips and shouted glad to help sir."
Corrected: "Captain Swain rubbed his nose, cocked an eye at the square-rigger, and raised the speaking tube to his lips and shouted, “Glad to help, sir!”"
Fixes: Capitalize Captain Swain (proper name/title); commas after nose and square-rigger (series of three actions); add a comma before the direct quotation; add quotation marks around the dialogue; capitalize Glad as first word of the direct quotation.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"captain swain rubbed his nose cocked an eye at the square-rigger and raised the speaking tube to his lips and shouted glad to help sir."
Corrected: "Captain Swain rubbed his nose, cocked an eye at the square-rigger, and raised the speaking tube to his lips and shouted, “Glad to help, sir!”"
Fixes: Capitalize Captain Swain (proper name/title); commas after nose and square-rigger (series of three actions); add a comma before the direct quotation; add quotation marks around the dialogue; capitalize Glad as first word of the direct quotation.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poem aloud. Give students a moment to notice before discussing.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 use if time allows. Read the prompt aloud. Remind students: pick a side, defend with evidence, anticipate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Does this detail actually support my point, or is it just filler?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choice_board. Graded SWYK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content — this novel uses explain/tap-to-notice practice rather than a scored quiz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Geography Words — 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Six Weeks with By the Great Horn Spoon! — Week 25 — Chapter 3: News of the Sea Raven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in the Reading tab as they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Stage: PLAN (Final)
Focus: Complete your plan — next week the draft begins
Task: Write your complete Week 25 plan. All four required elements + any bonus elements you want to include.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4A2E"/>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5CB85C">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5CB85C"/>
                </a:solidFill>
                <a:latin typeface="Calibri" pitchFamily="34" charset="0"/>
                <a:ea typeface="Calibri" pitchFamily="34" charset="-122"/>
                <a:cs typeface="Calibri" pitchFamily="34" charset="-120"/>
              </a:rPr>
              <a:t>WEEK 25  ·  DAY 4</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By the Great Horn Spoon!</a:t>
            </a:r>
            <a:endParaRPr lang="en-US" sz="2600" dirty="0"/>
          </a:p>
          <a:p>
            <a:pPr algn="l" indent="0" marL="0">
              <a:buNone/>
            </a:pPr>
            <a:r>
              <a:rPr lang="en-US" sz="2600" b="1" dirty="0">
                <a:solidFill>
                  <a:srgbClr val="FFFFFF"/>
                </a:solidFill>
                <a:latin typeface="Calibri" pitchFamily="34" charset="0"/>
                <a:ea typeface="Calibri" pitchFamily="34" charset="-122"/>
                <a:cs typeface="Calibri" pitchFamily="34" charset="-120"/>
              </a:rPr>
              <a:t>Week 25 — Chapter 3: News of the Sea Raven</a:t>
            </a:r>
            <a:endParaRPr lang="en-US" sz="26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25  ·  Grit, Wit &amp; Adventure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Praiseworthy insists he was “born to be a butler” — yet this week he has shoveled coal, trapped a thief, and helped a fever ship. None of that is in any butler’s handbook. By the end of Chapter 3, you will begin to understand what Fleischman is really saying about calling, talent, and purpose.</a:t>
            </a:r>
            <a:endParaRPr lang="en-US" sz="13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59152"/>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Vocab SWYK: </a:t>
            </a:r>
            <a:pPr indent="0" marL="0">
              <a:buNone/>
            </a:pPr>
            <a:r>
              <a:rPr lang="en-US" sz="1250" dirty="0">
                <a:solidFill>
                  <a:srgbClr val="1E293B"/>
                </a:solidFill>
                <a:latin typeface="Calibri" pitchFamily="34" charset="0"/>
                <a:ea typeface="Calibri" pitchFamily="34" charset="-122"/>
                <a:cs typeface="Calibri" pitchFamily="34" charset="-120"/>
              </a:rPr>
              <a:t>I will complete a vocabulary choice board to show what I know about all five words.</a:t>
            </a:r>
            <a:endParaRPr lang="en-US" sz="1500" dirty="0"/>
          </a:p>
        </p:txBody>
      </p:sp>
      <p:sp>
        <p:nvSpPr>
          <p:cNvPr id="10" name="Shape 8"/>
          <p:cNvSpPr/>
          <p:nvPr/>
        </p:nvSpPr>
        <p:spPr>
          <a:xfrm>
            <a:off x="365760" y="3090672"/>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63824"/>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Grammar: </a:t>
            </a:r>
            <a:pPr indent="0" marL="0">
              <a:buNone/>
            </a:pPr>
            <a:r>
              <a:rPr lang="en-US" sz="1250" dirty="0">
                <a:solidFill>
                  <a:srgbClr val="1E293B"/>
                </a:solidFill>
                <a:latin typeface="Calibri" pitchFamily="34" charset="0"/>
                <a:ea typeface="Calibri" pitchFamily="34" charset="-122"/>
                <a:cs typeface="Calibri" pitchFamily="34" charset="-120"/>
              </a:rPr>
              <a:t>I will explain how prepositional phrases build setting, using examples from Chapters 1–3.</a:t>
            </a:r>
            <a:endParaRPr lang="en-US" sz="1500" dirty="0"/>
          </a:p>
        </p:txBody>
      </p:sp>
      <p:sp>
        <p:nvSpPr>
          <p:cNvPr id="12" name="Shape 10"/>
          <p:cNvSpPr/>
          <p:nvPr/>
        </p:nvSpPr>
        <p:spPr>
          <a:xfrm>
            <a:off x="365760" y="389534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968496"/>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Reading: </a:t>
            </a:r>
            <a:pPr indent="0" marL="0">
              <a:buNone/>
            </a:pPr>
            <a:r>
              <a:rPr lang="en-US" sz="1250" dirty="0">
                <a:solidFill>
                  <a:srgbClr val="1E293B"/>
                </a:solidFill>
                <a:latin typeface="Calibri" pitchFamily="34" charset="0"/>
                <a:ea typeface="Calibri" pitchFamily="34" charset="-122"/>
                <a:cs typeface="Calibri" pitchFamily="34" charset="-120"/>
              </a:rPr>
              <a:t>I will answer a reflective question that spans all three chapters.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What Good Readers Do</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SET YOUR READING LENS</a:t>
            </a:r>
            <a:endParaRPr lang="en-US" sz="1100" dirty="0"/>
          </a:p>
        </p:txBody>
      </p:sp>
      <p:sp>
        <p:nvSpPr>
          <p:cNvPr id="5" name="Shape 3"/>
          <p:cNvSpPr/>
          <p:nvPr/>
        </p:nvSpPr>
        <p:spPr>
          <a:xfrm>
            <a:off x="365760" y="1078992"/>
            <a:ext cx="8412480" cy="1554480"/>
          </a:xfrm>
          <a:prstGeom prst="roundRect">
            <a:avLst>
              <a:gd name="adj" fmla="val 588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70432"/>
            <a:ext cx="7955280" cy="137160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Chapter 3 ends with Praiseworthy looking at the Southern Cross and saying, calmly, that he was “born to his calling” — born to be a butler, just like his father, and his father before him. But think about what he has done in three chapters: he’s survived hidden in a barrel, shoveled coal, outwitted a thief, and helped a ship in distress. A butler who does all of this isn’t unusual because of his job. He’s extraordinary because of his character . That’s what Fleischman is building toward: the idea that who you are is not the same as what your title says you are.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Under the tropical sun , the brass buttons on his coat glowed like lumps of fire .</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Under the tropical sun  </a:t>
            </a:r>
            <a:pPr indent="0" marL="0">
              <a:buNone/>
            </a:pPr>
            <a:r>
              <a:rPr lang="en-US" sz="1150" dirty="0">
                <a:solidFill>
                  <a:srgbClr val="1E293B"/>
                </a:solidFill>
                <a:latin typeface="Calibri" pitchFamily="34" charset="0"/>
                <a:ea typeface="Calibri" pitchFamily="34" charset="-122"/>
                <a:cs typeface="Calibri" pitchFamily="34" charset="-120"/>
              </a:rPr>
              <a:t>“Under the tropical sun” = prepositional phrase: WHERE the captain was standing. Also sets the mood — hot, uncomfortable, dramatic decision ahead.</a:t>
            </a:r>
            <a:endParaRPr lang="en-US" sz="1250" dirty="0"/>
          </a:p>
        </p:txBody>
      </p:sp>
      <p:sp>
        <p:nvSpPr>
          <p:cNvPr id="10" name="Shape 8"/>
          <p:cNvSpPr/>
          <p:nvPr/>
        </p:nvSpPr>
        <p:spPr>
          <a:xfrm>
            <a:off x="365760" y="2889504"/>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2935224"/>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on his coat  </a:t>
            </a:r>
            <a:pPr indent="0" marL="0">
              <a:buNone/>
            </a:pPr>
            <a:r>
              <a:rPr lang="en-US" sz="1150" dirty="0">
                <a:solidFill>
                  <a:srgbClr val="1E293B"/>
                </a:solidFill>
                <a:latin typeface="Calibri" pitchFamily="34" charset="0"/>
                <a:ea typeface="Calibri" pitchFamily="34" charset="-122"/>
                <a:cs typeface="Calibri" pitchFamily="34" charset="-120"/>
              </a:rPr>
              <a:t>“on his coat” = prepositional phrase: WHERE the buttons are. Simple location detail.</a:t>
            </a:r>
            <a:endParaRPr lang="en-US" sz="1250" dirty="0"/>
          </a:p>
        </p:txBody>
      </p:sp>
      <p:sp>
        <p:nvSpPr>
          <p:cNvPr id="12" name="Shape 10"/>
          <p:cNvSpPr/>
          <p:nvPr/>
        </p:nvSpPr>
        <p:spPr>
          <a:xfrm>
            <a:off x="365760" y="3401568"/>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447288"/>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like lumps of fire  </a:t>
            </a:r>
            <a:pPr indent="0" marL="0">
              <a:buNone/>
            </a:pPr>
            <a:r>
              <a:rPr lang="en-US" sz="1150" dirty="0">
                <a:solidFill>
                  <a:srgbClr val="1E293B"/>
                </a:solidFill>
                <a:latin typeface="Calibri" pitchFamily="34" charset="0"/>
                <a:ea typeface="Calibri" pitchFamily="34" charset="-122"/>
                <a:cs typeface="Calibri" pitchFamily="34" charset="-120"/>
              </a:rPr>
              <a:t>“like lumps of fire” = simile using a prepositional phrase structure. Compares the buttons to fire — vivid heat imagery at the moment of the captain's hardest decision.</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captain swain rubbed his nose cocked an eye at the square-rigger and raised the speaking tube to his lips and shouted glad to help sir.</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reading journal.</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captain swain rubbed his nose cocked an eye at the square-rigger and raised the speaking tube to his lips and shouted glad to help sir.</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reading journal.</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Captain Swain rubbed his nose, cocked an eye at the square-rigger, and raised the speaking tube to his lips and shouted, “Glad to help, sir!”</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Fixes: Capitalize Captain Swain (proper name/title); commas after nose and square-rigger (series of three actions); add a comma before the direct quotation; add quotation marks around the dialogue; capitalize Glad as first word of the direct quotation.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Poetry Corner</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Shape 2"/>
          <p:cNvSpPr/>
          <p:nvPr/>
        </p:nvSpPr>
        <p:spPr>
          <a:xfrm>
            <a:off x="365760" y="868680"/>
            <a:ext cx="8412480" cy="2331720"/>
          </a:xfrm>
          <a:prstGeom prst="roundRect">
            <a:avLst>
              <a:gd name="adj" fmla="val 3922"/>
            </a:avLst>
          </a:prstGeom>
          <a:solidFill>
            <a:srgbClr val="FEF6E8"/>
          </a:solidFill>
          <a:ln/>
          <a:effectLst>
            <a:outerShdw sx="100000" sy="100000" kx="0" ky="0" algn="bl" rotWithShape="0" blurRad="101600" dist="38100" dir="2700000">
              <a:srgbClr val="000000">
                <a:alpha val="12000"/>
              </a:srgbClr>
            </a:outerShdw>
          </a:effectLst>
        </p:spPr>
      </p:sp>
      <p:sp>
        <p:nvSpPr>
          <p:cNvPr id="5" name="Text 3"/>
          <p:cNvSpPr/>
          <p:nvPr/>
        </p:nvSpPr>
        <p:spPr>
          <a:xfrm>
            <a:off x="594360" y="960120"/>
            <a:ext cx="7955280" cy="36576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“The Road Not Taken”</a:t>
            </a:r>
            <a:endParaRPr lang="en-US" sz="1900" dirty="0"/>
          </a:p>
        </p:txBody>
      </p:sp>
      <p:sp>
        <p:nvSpPr>
          <p:cNvPr id="6" name="Text 4"/>
          <p:cNvSpPr/>
          <p:nvPr/>
        </p:nvSpPr>
        <p:spPr>
          <a:xfrm>
            <a:off x="594360" y="1325880"/>
            <a:ext cx="7955280" cy="27432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by Robert Frost, 1916 — public domain</a:t>
            </a:r>
            <a:endParaRPr lang="en-US" sz="1300" dirty="0"/>
          </a:p>
        </p:txBody>
      </p:sp>
      <p:sp>
        <p:nvSpPr>
          <p:cNvPr id="7" name="Text 5"/>
          <p:cNvSpPr/>
          <p:nvPr/>
        </p:nvSpPr>
        <p:spPr>
          <a:xfrm>
            <a:off x="594360" y="1627632"/>
            <a:ext cx="7955280" cy="1463040"/>
          </a:xfrm>
          <a:prstGeom prst="rect">
            <a:avLst/>
          </a:prstGeom>
          <a:noFill/>
          <a:ln/>
        </p:spPr>
        <p:txBody>
          <a:bodyPr wrap="square" lIns="0" tIns="0" rIns="0" bIns="0" rtlCol="0" anchor="t"/>
          <a:lstStyle/>
          <a:p>
            <a:pPr indent="0" marL="0">
              <a:buNone/>
            </a:pPr>
            <a:r>
              <a:rPr lang="en-US" sz="1400" i="1" dirty="0">
                <a:solidFill>
                  <a:srgbClr val="1E293B"/>
                </a:solidFill>
                <a:latin typeface="Georgia" pitchFamily="34" charset="0"/>
                <a:ea typeface="Georgia" pitchFamily="34" charset="-122"/>
                <a:cs typeface="Georgia" pitchFamily="34" charset="-120"/>
              </a:rPr>
              <a:t>Two roads diverged in a yellow wood,</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And sorry I could not travel both</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And be one traveler, long I stood</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And looked down one as far as I could</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To where it bent in the undergrowth;</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Then took the other, as just as fair,</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And having perhaps the better claim,</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Because it was grassy and wanted wear;</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Though as for that the passing there</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Had worn them really about the same,</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And both that morning equally lay</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In leaves no step had trodden black.</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Oh, I kept the first for another day!</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Yet knowing how way leads on to way,</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I doubted if I should ever come back.</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I shall be telling this with a sigh</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Somewhere ages and ages hence:</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Two roads diverged in a wood, and I —</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I took the one less traveled by,</a:t>
            </a:r>
            <a:endParaRPr lang="en-US" sz="1400" dirty="0"/>
          </a:p>
          <a:p>
            <a:pPr indent="0" marL="0">
              <a:buNone/>
            </a:pPr>
            <a:r>
              <a:rPr lang="en-US" sz="1400" i="1" dirty="0">
                <a:solidFill>
                  <a:srgbClr val="1E293B"/>
                </a:solidFill>
                <a:latin typeface="Georgia" pitchFamily="34" charset="0"/>
                <a:ea typeface="Georgia" pitchFamily="34" charset="-122"/>
                <a:cs typeface="Georgia" pitchFamily="34" charset="-120"/>
              </a:rPr>
              <a:t>And that has made all the difference.</a:t>
            </a:r>
            <a:endParaRPr lang="en-US" sz="1400" dirty="0"/>
          </a:p>
        </p:txBody>
      </p:sp>
      <p:sp>
        <p:nvSpPr>
          <p:cNvPr id="8" name="Text 6"/>
          <p:cNvSpPr/>
          <p:nvPr/>
        </p:nvSpPr>
        <p:spPr>
          <a:xfrm>
            <a:off x="365760" y="331012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THINK ABOUT THIS</a:t>
            </a:r>
            <a:endParaRPr lang="en-US" sz="1100" dirty="0"/>
          </a:p>
        </p:txBody>
      </p:sp>
      <p:sp>
        <p:nvSpPr>
          <p:cNvPr id="9" name="Shape 7"/>
          <p:cNvSpPr/>
          <p:nvPr/>
        </p:nvSpPr>
        <p:spPr>
          <a:xfrm>
            <a:off x="365760" y="3566160"/>
            <a:ext cx="8412480" cy="1051560"/>
          </a:xfrm>
          <a:prstGeom prst="roundRect">
            <a:avLst>
              <a:gd name="adj" fmla="val 8696"/>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3657600"/>
            <a:ext cx="7955280" cy="868680"/>
          </a:xfrm>
          <a:prstGeom prst="rect">
            <a:avLst/>
          </a:prstGeom>
          <a:noFill/>
          <a:ln/>
        </p:spPr>
        <p:txBody>
          <a:bodyPr wrap="square" lIns="0" tIns="0" rIns="0" bIns="0" rtlCol="0" anchor="ctr"/>
          <a:lstStyle/>
          <a:p>
            <a:pPr indent="0" marL="0">
              <a:buNone/>
            </a:pPr>
            <a:r>
              <a:rPr lang="en-US" sz="1200" i="1" dirty="0">
                <a:solidFill>
                  <a:srgbClr val="1E293B"/>
                </a:solidFill>
                <a:latin typeface="Calibri" pitchFamily="34" charset="0"/>
                <a:ea typeface="Calibri" pitchFamily="34" charset="-122"/>
                <a:cs typeface="Calibri" pitchFamily="34" charset="-120"/>
              </a:rPr>
              <a:t>Captain Swain faces two roads in Chapter 3: race ahead or stop to help. He stops. How does Frost’s poem help you understand the significance of that choice? Write 2–3 sentences in your reading journal connecting the poem to Swain’s decision.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463040"/>
          </a:xfrm>
          <a:prstGeom prst="roundRect">
            <a:avLst>
              <a:gd name="adj" fmla="val 6250"/>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2344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Looking back at Chapters 1-3, has Praiseworthy changed more than Jack has, or is it the other way around? Defend your answer with evidence from this week's reading.</a:t>
            </a:r>
            <a:endParaRPr lang="en-US" sz="1600" dirty="0"/>
          </a:p>
        </p:txBody>
      </p:sp>
      <p:sp>
        <p:nvSpPr>
          <p:cNvPr id="7" name="Text 5"/>
          <p:cNvSpPr/>
          <p:nvPr/>
        </p:nvSpPr>
        <p:spPr>
          <a:xfrm>
            <a:off x="457200" y="2926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218688"/>
            <a:ext cx="8229600" cy="822960"/>
          </a:xfrm>
          <a:prstGeom prst="rect">
            <a:avLst/>
          </a:prstGeom>
          <a:noFill/>
          <a:ln/>
        </p:spPr>
        <p:txBody>
          <a:bodyPr wrap="square" lIns="0" tIns="0" rIns="0" bIns="0" rtlCol="0" anchor="ctr"/>
          <a:lstStyle/>
          <a:p>
            <a:pPr indent="0" marL="0">
              <a:buNone/>
            </a:pPr>
            <a:r>
              <a:rPr lang="en-US" sz="1150" i="1" dirty="0">
                <a:solidFill>
                  <a:srgbClr val="0E1C42"/>
                </a:solidFill>
                <a:latin typeface="Calibri" pitchFamily="34" charset="0"/>
                <a:ea typeface="Calibri" pitchFamily="34" charset="-122"/>
                <a:cs typeface="Calibri" pitchFamily="34" charset="-120"/>
              </a:rPr>
              <a:t>I think...   →   because...   →   One piece of evidence is...   →   Someone might disagree, but...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Looking back at Chapters 1-3, has Praiseworthy changed more than Jack has, or is it the other way around? Defend your answer with evidence from this week's reading.</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15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Someone might disagree, but...</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Does this detail actually support my point, or is it just filler?</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Roots aud + oral/or — Explain</a:t>
            </a:r>
            <a:endParaRPr lang="en-US" sz="1100" dirty="0"/>
          </a:p>
        </p:txBody>
      </p:sp>
      <p:sp>
        <p:nvSpPr>
          <p:cNvPr id="5" name="Shape 3"/>
          <p:cNvSpPr/>
          <p:nvPr/>
        </p:nvSpPr>
        <p:spPr>
          <a:xfrm>
            <a:off x="365760" y="1097280"/>
            <a:ext cx="8412480" cy="603504"/>
          </a:xfrm>
          <a:prstGeom prst="roundRect">
            <a:avLst>
              <a:gd name="adj" fmla="val 1515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51206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In your reading journal: Explain aud and or to a classmate who missed the week. For each root, give the meaning, two example words, and one sentence explaining how knowing the root helps you figure out an unfamiliar word. Write 3–5 sentences total.</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Explain — show what you know, your way</a:t>
            </a:r>
            <a:endParaRPr lang="en-US" sz="1100" dirty="0"/>
          </a:p>
        </p:txBody>
      </p:sp>
      <p:sp>
        <p:nvSpPr>
          <p:cNvPr id="5" name="Shape 3"/>
          <p:cNvSpPr/>
          <p:nvPr/>
        </p:nvSpPr>
        <p:spPr>
          <a:xfrm>
            <a:off x="365760" y="1097280"/>
            <a:ext cx="8412480" cy="457200"/>
          </a:xfrm>
          <a:prstGeom prst="roundRect">
            <a:avLst>
              <a:gd name="adj" fmla="val 20000"/>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36576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Show what you know about: expedition · argonaut · stowaway · paddlewheel · porthole</a:t>
            </a:r>
            <a:endParaRPr lang="en-US" sz="1200" dirty="0"/>
          </a:p>
        </p:txBody>
      </p:sp>
      <p:sp>
        <p:nvSpPr>
          <p:cNvPr id="7" name="Shape 5"/>
          <p:cNvSpPr/>
          <p:nvPr/>
        </p:nvSpPr>
        <p:spPr>
          <a:xfrm>
            <a:off x="365760" y="1664208"/>
            <a:ext cx="8412480" cy="512064"/>
          </a:xfrm>
          <a:prstGeom prst="roundRect">
            <a:avLst>
              <a:gd name="adj" fmla="val 17857"/>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00784"/>
            <a:ext cx="8046720" cy="438912"/>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Ship’s Log Entry:  </a:t>
            </a:r>
            <a:pPr indent="0" marL="0">
              <a:buNone/>
            </a:pPr>
            <a:r>
              <a:rPr lang="en-US" sz="1050" dirty="0">
                <a:solidFill>
                  <a:srgbClr val="1E293B"/>
                </a:solidFill>
                <a:latin typeface="Calibri" pitchFamily="34" charset="0"/>
                <a:ea typeface="Calibri" pitchFamily="34" charset="-122"/>
                <a:cs typeface="Calibri" pitchFamily="34" charset="-120"/>
              </a:rPr>
              <a:t>Write a 5–7 sentence ship’s log entry from the Lady Wilma’s first officer, using all five vocabulary words naturally. Date it January 29, 1849.</a:t>
            </a:r>
            <a:endParaRPr lang="en-US" sz="1150" dirty="0"/>
          </a:p>
        </p:txBody>
      </p:sp>
      <p:sp>
        <p:nvSpPr>
          <p:cNvPr id="9" name="Shape 7"/>
          <p:cNvSpPr/>
          <p:nvPr/>
        </p:nvSpPr>
        <p:spPr>
          <a:xfrm>
            <a:off x="365760" y="2231136"/>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267712"/>
            <a:ext cx="8046720" cy="438912"/>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Word + Root + Meaning:  </a:t>
            </a:r>
            <a:pPr indent="0" marL="0">
              <a:buNone/>
            </a:pPr>
            <a:r>
              <a:rPr lang="en-US" sz="1050" dirty="0">
                <a:solidFill>
                  <a:srgbClr val="1E293B"/>
                </a:solidFill>
                <a:latin typeface="Calibri" pitchFamily="34" charset="0"/>
                <a:ea typeface="Calibri" pitchFamily="34" charset="-122"/>
                <a:cs typeface="Calibri" pitchFamily="34" charset="-120"/>
              </a:rPr>
              <a:t>For each word: write the word, break it into its parts (prefix, root, suffix if applicable), and explain how the parts give you the meaning. Show your word-detective work.</a:t>
            </a:r>
            <a:endParaRPr lang="en-US" sz="1150" dirty="0"/>
          </a:p>
        </p:txBody>
      </p:sp>
      <p:sp>
        <p:nvSpPr>
          <p:cNvPr id="11" name="Shape 9"/>
          <p:cNvSpPr/>
          <p:nvPr/>
        </p:nvSpPr>
        <p:spPr>
          <a:xfrm>
            <a:off x="365760" y="2798064"/>
            <a:ext cx="8412480" cy="512064"/>
          </a:xfrm>
          <a:prstGeom prst="roundRect">
            <a:avLst>
              <a:gd name="adj" fmla="val 17857"/>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834640"/>
            <a:ext cx="8046720" cy="438912"/>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Definition + Context Sentence:  </a:t>
            </a:r>
            <a:pPr indent="0" marL="0">
              <a:buNone/>
            </a:pPr>
            <a:r>
              <a:rPr lang="en-US" sz="1050" dirty="0">
                <a:solidFill>
                  <a:srgbClr val="1E293B"/>
                </a:solidFill>
                <a:latin typeface="Calibri" pitchFamily="34" charset="0"/>
                <a:ea typeface="Calibri" pitchFamily="34" charset="-122"/>
                <a:cs typeface="Calibri" pitchFamily="34" charset="-120"/>
              </a:rPr>
              <a:t>For each word: write a precise definition in your own words and an original sentence that shows the meaning clearly. The sentences should all connect to the Gold Rush world of the novel.</a:t>
            </a:r>
            <a:endParaRPr lang="en-US" sz="1150" dirty="0"/>
          </a:p>
        </p:txBody>
      </p:sp>
      <p:sp>
        <p:nvSpPr>
          <p:cNvPr id="13" name="Shape 11"/>
          <p:cNvSpPr/>
          <p:nvPr/>
        </p:nvSpPr>
        <p:spPr>
          <a:xfrm>
            <a:off x="365760" y="3364992"/>
            <a:ext cx="8412480" cy="512064"/>
          </a:xfrm>
          <a:prstGeom prst="roundRect">
            <a:avLst>
              <a:gd name="adj" fmla="val 17857"/>
            </a:avLst>
          </a:prstGeom>
          <a:solidFill>
            <a:srgbClr val="F8FA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401568"/>
            <a:ext cx="8046720" cy="438912"/>
          </a:xfrm>
          <a:prstGeom prst="rect">
            <a:avLst/>
          </a:prstGeom>
          <a:noFill/>
          <a:ln/>
        </p:spPr>
        <p:txBody>
          <a:bodyPr wrap="square" lIns="0" tIns="0" rIns="0" bIns="0" rtlCol="0" anchor="ctr"/>
          <a:lstStyle/>
          <a:p>
            <a:pPr indent="0" marL="0">
              <a:buNone/>
            </a:pPr>
            <a:r>
              <a:rPr lang="en-US" sz="1150" b="1" dirty="0">
                <a:solidFill>
                  <a:srgbClr val="0E1C42"/>
                </a:solidFill>
                <a:latin typeface="Calibri" pitchFamily="34" charset="0"/>
                <a:ea typeface="Calibri" pitchFamily="34" charset="-122"/>
                <a:cs typeface="Calibri" pitchFamily="34" charset="-120"/>
              </a:rPr>
              <a:t>🔗 Connection Web:  </a:t>
            </a:r>
            <a:pPr indent="0" marL="0">
              <a:buNone/>
            </a:pPr>
            <a:r>
              <a:rPr lang="en-US" sz="1050" dirty="0">
                <a:solidFill>
                  <a:srgbClr val="1E293B"/>
                </a:solidFill>
                <a:latin typeface="Calibri" pitchFamily="34" charset="0"/>
                <a:ea typeface="Calibri" pitchFamily="34" charset="-122"/>
                <a:cs typeface="Calibri" pitchFamily="34" charset="-120"/>
              </a:rPr>
              <a:t>How are these five words connected? Write a paragraph explaining how they all relate to the world of the Lady Wilma and the Gold Rush. Use every word at least once.</a:t>
            </a:r>
            <a:endParaRPr lang="en-US" sz="1150" dirty="0"/>
          </a:p>
        </p:txBody>
      </p:sp>
      <p:sp>
        <p:nvSpPr>
          <p:cNvPr id="15" name="Shape 13"/>
          <p:cNvSpPr/>
          <p:nvPr/>
        </p:nvSpPr>
        <p:spPr>
          <a:xfrm>
            <a:off x="365760" y="3977640"/>
            <a:ext cx="8412480" cy="777240"/>
          </a:xfrm>
          <a:prstGeom prst="roundRect">
            <a:avLst>
              <a:gd name="adj" fmla="val 11765"/>
            </a:avLst>
          </a:prstGeom>
          <a:solidFill>
            <a:srgbClr val="FEF6E8"/>
          </a:solidFill>
          <a:ln w="12700">
            <a:solidFill>
              <a:srgbClr val="C7922C"/>
            </a:solidFill>
            <a:prstDash val="solid"/>
          </a:ln>
        </p:spPr>
      </p:sp>
      <p:sp>
        <p:nvSpPr>
          <p:cNvPr id="16" name="Text 14"/>
          <p:cNvSpPr/>
          <p:nvPr/>
        </p:nvSpPr>
        <p:spPr>
          <a:xfrm>
            <a:off x="548640" y="4050792"/>
            <a:ext cx="8046720" cy="640080"/>
          </a:xfrm>
          <a:prstGeom prst="rect">
            <a:avLst/>
          </a:prstGeom>
          <a:noFill/>
          <a:ln/>
        </p:spPr>
        <p:txBody>
          <a:bodyPr wrap="square" lIns="0" tIns="0" rIns="0" bIns="0" rtlCol="0" anchor="t"/>
          <a:lstStyle/>
          <a:p>
            <a:pPr indent="0" marL="0">
              <a:buNone/>
            </a:pPr>
            <a:r>
              <a:rPr lang="en-US" sz="1050" b="1" dirty="0">
                <a:solidFill>
                  <a:srgbClr val="C7922C"/>
                </a:solidFill>
                <a:latin typeface="Calibri" pitchFamily="34" charset="0"/>
                <a:ea typeface="Calibri" pitchFamily="34" charset="-122"/>
                <a:cs typeface="Calibri" pitchFamily="34" charset="-120"/>
              </a:rPr>
              <a:t>🫖 Show What You Know · Vocabulary
</a:t>
            </a:r>
            <a:pPr indent="0" marL="0">
              <a:buNone/>
            </a:pPr>
            <a:r>
              <a:rPr lang="en-US" sz="1050" i="1" dirty="0">
                <a:solidFill>
                  <a:srgbClr val="1E293B"/>
                </a:solidFill>
                <a:latin typeface="Calibri" pitchFamily="34" charset="0"/>
                <a:ea typeface="Calibri" pitchFamily="34" charset="-122"/>
                <a:cs typeface="Calibri" pitchFamily="34" charset="-120"/>
              </a:rPr>
              <a:t>Choose one option above and complete it. Identify your option at the top.</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Prepositional Phrases — Explain</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Explain why writers use them to build setting</a:t>
            </a:r>
            <a:endParaRPr lang="en-US" sz="1100" dirty="0"/>
          </a:p>
        </p:txBody>
      </p:sp>
      <p:sp>
        <p:nvSpPr>
          <p:cNvPr id="5" name="Shape 3"/>
          <p:cNvSpPr/>
          <p:nvPr/>
        </p:nvSpPr>
        <p:spPr>
          <a:xfrm>
            <a:off x="365760" y="1115568"/>
            <a:ext cx="8412480" cy="566928"/>
          </a:xfrm>
          <a:prstGeom prst="roundRect">
            <a:avLst>
              <a:gd name="adj" fmla="val 1612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61288"/>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 classmate asks: “Why does Fleischman use so many prepositional phrases? Can’t he just say where things are without all that?”</a:t>
            </a:r>
            <a:endParaRPr lang="en-US" sz="1150" dirty="0"/>
          </a:p>
        </p:txBody>
      </p:sp>
      <p:sp>
        <p:nvSpPr>
          <p:cNvPr id="7" name="Shape 5"/>
          <p:cNvSpPr/>
          <p:nvPr/>
        </p:nvSpPr>
        <p:spPr>
          <a:xfrm>
            <a:off x="365760" y="1737360"/>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83080"/>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In your journal, write your answer. Give at least two examples from this week’s chapters to show how the prepositional phrases do something a simpler sentence couldn’t.</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Geography Words — Explain</a:t>
            </a:r>
            <a:endParaRPr lang="en-US" sz="2600" dirty="0"/>
          </a:p>
        </p:txBody>
      </p:sp>
      <p:sp>
        <p:nvSpPr>
          <p:cNvPr id="3" name="Shape 1"/>
          <p:cNvSpPr/>
          <p:nvPr/>
        </p:nvSpPr>
        <p:spPr>
          <a:xfrm>
            <a:off x="365760" y="749808"/>
            <a:ext cx="8412480" cy="0"/>
          </a:xfrm>
          <a:prstGeom prst="line">
            <a:avLst/>
          </a:prstGeom>
          <a:noFill/>
          <a:ln w="19050">
            <a:solidFill>
              <a:srgbClr val="0E1C42"/>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Explain the spelling patterns you discovered this week</a:t>
            </a:r>
            <a:endParaRPr lang="en-US" sz="1100" dirty="0"/>
          </a:p>
        </p:txBody>
      </p:sp>
      <p:sp>
        <p:nvSpPr>
          <p:cNvPr id="5" name="Shape 3"/>
          <p:cNvSpPr/>
          <p:nvPr/>
        </p:nvSpPr>
        <p:spPr>
          <a:xfrm>
            <a:off x="365760" y="1115568"/>
            <a:ext cx="8412480" cy="566928"/>
          </a:xfrm>
          <a:prstGeom prst="roundRect">
            <a:avLst>
              <a:gd name="adj" fmla="val 16129"/>
            </a:avLst>
          </a:prstGeom>
          <a:solidFill>
            <a:srgbClr val="EEF2FA"/>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61288"/>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In your reading journal: Why are multisyllabic words easier to spell once you know the syllables? Use two of this week’s words as examples. Explain what you look for when you spell a word you’ve never seen before.</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640080"/>
          </a:xfrm>
          <a:prstGeom prst="roundRect">
            <a:avLst>
              <a:gd name="adj" fmla="val 14286"/>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52144"/>
            <a:ext cx="7955280" cy="493776"/>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Six Weeks with By the Great Horn Spoon! — Week 25 — Chapter 3: News of the Sea Raven</a:t>
            </a:r>
            <a:endParaRPr lang="en-US" sz="1250" dirty="0"/>
          </a:p>
        </p:txBody>
      </p:sp>
      <p:sp>
        <p:nvSpPr>
          <p:cNvPr id="9" name="Text 7"/>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5CB85C"/>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084832"/>
            <a:ext cx="8412480" cy="548640"/>
          </a:xfrm>
          <a:prstGeom prst="roundRect">
            <a:avLst>
              <a:gd name="adj" fmla="val 16667"/>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139696"/>
            <a:ext cx="7955280" cy="438912"/>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Week 25 — Chapter 3: News of the Sea Raven</a:t>
            </a:r>
            <a:endParaRPr lang="en-US" sz="1400" dirty="0"/>
          </a:p>
        </p:txBody>
      </p:sp>
      <p:sp>
        <p:nvSpPr>
          <p:cNvPr id="12" name="Text 10"/>
          <p:cNvSpPr/>
          <p:nvPr/>
        </p:nvSpPr>
        <p:spPr>
          <a:xfrm>
            <a:off x="365760" y="274320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READING FOCUS</a:t>
            </a:r>
            <a:endParaRPr lang="en-US" sz="1100" dirty="0"/>
          </a:p>
        </p:txBody>
      </p:sp>
      <p:sp>
        <p:nvSpPr>
          <p:cNvPr id="13" name="Shape 11"/>
          <p:cNvSpPr/>
          <p:nvPr/>
        </p:nvSpPr>
        <p:spPr>
          <a:xfrm>
            <a:off x="365760" y="2999232"/>
            <a:ext cx="8412480" cy="1600200"/>
          </a:xfrm>
          <a:prstGeom prst="roundRect">
            <a:avLst>
              <a:gd name="adj" fmla="val 5714"/>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090672"/>
            <a:ext cx="7955280" cy="1417320"/>
          </a:xfrm>
          <a:prstGeom prst="rect">
            <a:avLst/>
          </a:prstGeom>
          <a:noFill/>
          <a:ln/>
        </p:spPr>
        <p:txBody>
          <a:bodyPr wrap="square" lIns="0" tIns="0" rIns="0" bIns="0" rtlCol="0" anchor="t"/>
          <a:lstStyle/>
          <a:p>
            <a:pPr indent="0" marL="0">
              <a:buNone/>
            </a:pPr>
            <a:r>
              <a:rPr lang="en-US" sz="1150" i="1" dirty="0">
                <a:solidFill>
                  <a:srgbClr val="1E293B"/>
                </a:solidFill>
                <a:latin typeface="Calibri" pitchFamily="34" charset="0"/>
                <a:ea typeface="Calibri" pitchFamily="34" charset="-122"/>
                <a:cs typeface="Calibri" pitchFamily="34" charset="-120"/>
              </a:rPr>
              <a:t>📌 Reading Focus Chapter 3 gives you two things: Jack’s letter home (which reveals what he “forgot” to mention before, and hides what he doesn’t want Aunt Arabella to worry about), and Captain Swain’s choice (to tow the fever ship even though it could cost him the race). Look at both moments closely. They both say something about how people make choices when something more important than winning is at stake.</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 Read: Chapter 3 — “News of the Sea Raven”</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TODAY</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1.  </a:t>
            </a:r>
            <a:pPr indent="0" marL="0">
              <a:buNone/>
            </a:pPr>
            <a:r>
              <a:rPr lang="en-US" sz="1100" dirty="0">
                <a:solidFill>
                  <a:srgbClr val="1E293B"/>
                </a:solidFill>
                <a:latin typeface="Calibri" pitchFamily="34" charset="0"/>
                <a:ea typeface="Calibri" pitchFamily="34" charset="-122"/>
                <a:cs typeface="Calibri" pitchFamily="34" charset="-120"/>
              </a:rPr>
              <a:t>In Chapter 3, Jack’s letter home reveals the full story of Cut-Eye Higgins — something he had previously described only as “a certain misfortune.” What specific details did Jack include in the letter that he hadn’t mentioned before? What does the way he tells the story reveal about his character?</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39696"/>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2.  </a:t>
            </a:r>
            <a:pPr indent="0" marL="0">
              <a:buNone/>
            </a:pPr>
            <a:r>
              <a:rPr lang="en-US" sz="1100" dirty="0">
                <a:solidFill>
                  <a:srgbClr val="1E293B"/>
                </a:solidFill>
                <a:latin typeface="Calibri" pitchFamily="34" charset="0"/>
                <a:ea typeface="Calibri" pitchFamily="34" charset="-122"/>
                <a:cs typeface="Calibri" pitchFamily="34" charset="-120"/>
              </a:rPr>
              <a:t>When the fever ship calls for help, the Sea Raven runs while Captain Swain stops to tow them. What does the captain’s choice cost him? What does it tell us about the kind of person he is? Use evidence from Chapter 3 in your answer.</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27248"/>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3.  </a:t>
            </a:r>
            <a:pPr indent="0" marL="0">
              <a:buNone/>
            </a:pPr>
            <a:r>
              <a:rPr lang="en-US" sz="1100" dirty="0">
                <a:solidFill>
                  <a:srgbClr val="1E293B"/>
                </a:solidFill>
                <a:latin typeface="Calibri" pitchFamily="34" charset="0"/>
                <a:ea typeface="Calibri" pitchFamily="34" charset="-122"/>
                <a:cs typeface="Calibri" pitchFamily="34" charset="-120"/>
              </a:rPr>
              <a:t>At the end of Chapter 3, Praiseworthy says he was “born to his calling” as a butler — yet almost nothing he has done in Chapters 1–3 is something a butler usually does. Based on everything you have read this week, what do you think Fleischman is saying about the relationship between a person’s role (their title or job) and their true ability (who they really are)? Use at least one specific detail from the chapters to support your thinking.</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STAGE: PLAN (Final)</a:t>
            </a:r>
            <a:endParaRPr lang="en-US" sz="1100" dirty="0"/>
          </a:p>
        </p:txBody>
      </p:sp>
      <p:sp>
        <p:nvSpPr>
          <p:cNvPr id="5" name="Shape 3"/>
          <p:cNvSpPr/>
          <p:nvPr/>
        </p:nvSpPr>
        <p:spPr>
          <a:xfrm>
            <a:off x="365760" y="1097280"/>
            <a:ext cx="8412480" cy="502920"/>
          </a:xfrm>
          <a:prstGeom prst="roundRect">
            <a:avLst>
              <a:gd name="adj" fmla="val 18182"/>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1148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Complete your plan — next week the draft begins</a:t>
            </a:r>
            <a:endParaRPr lang="en-US" sz="1300" dirty="0"/>
          </a:p>
        </p:txBody>
      </p:sp>
      <p:sp>
        <p:nvSpPr>
          <p:cNvPr id="7" name="Text 5"/>
          <p:cNvSpPr/>
          <p:nvPr/>
        </p:nvSpPr>
        <p:spPr>
          <a:xfrm>
            <a:off x="365760" y="175564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TODAY'S TASK</a:t>
            </a:r>
            <a:endParaRPr lang="en-US" sz="1100" dirty="0"/>
          </a:p>
        </p:txBody>
      </p:sp>
      <p:sp>
        <p:nvSpPr>
          <p:cNvPr id="8" name="Shape 6"/>
          <p:cNvSpPr/>
          <p:nvPr/>
        </p:nvSpPr>
        <p:spPr>
          <a:xfrm>
            <a:off x="365760" y="2011680"/>
            <a:ext cx="8412480" cy="2377440"/>
          </a:xfrm>
          <a:prstGeom prst="roundRect">
            <a:avLst>
              <a:gd name="adj" fmla="val 3846"/>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03120"/>
            <a:ext cx="8046720" cy="21945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Write your complete Week 25 plan. All four required elements + any bonus elements you want to include.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2026-07-13T17:56:39Z</dcterms:created>
  <dcterms:modified xsi:type="dcterms:W3CDTF">2026-07-13T17:56:39Z</dcterms:modified>
</cp:coreProperties>
</file>