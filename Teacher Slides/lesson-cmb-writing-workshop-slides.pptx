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standalone Writing Workshop essay-compilation page. This is not a normal 4-tab lesson day — it is the single page where students assemble every piece drafted across Weeks 9-14 into one submitted essay.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below is its own collapsible section-card on the page with a scaffold box and a textarea, plus a live word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0 on the page — students write this first, before drafting anything else. It anchors the whole essay.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Corresponds to essay-writing work done across Weeks 9-10 (Research Claim stage).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Corresponds to Draft stage, Weeks 11-12.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Corresponds to Draft / Add Craft stage, Weeks 12-13 (varied transitions is the craft focus).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section — most students will submit a 4-paragraph essay (Intro, Body 1, Body 2, Conclusion) without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Corresponds to Publish stage, Week 14 — the synthesis/don’t-repeat distinction is the key teaching point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 Cited — matches the MLA citation practice from the Week 14 Grammar strand.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auto-assembles the compiled essay from whatever the student has typed into each section’s textarea, in submission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this checklist as a class before students click submit — it mirrors the 8-item checklist embedded in the HTML page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5C8E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WORKSHOP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On, Mr. Bowditch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Your Expository Research Essay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Weeks 9-14 Capstone  ·  5th Grade ELA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Your Expository Research Piece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What made Nathaniel Bowditch extraordinary?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PAGE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1343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building this essay all unit long — one section at a time. This page is where you bring it all together. Write each section, then compile your complete essay for submission.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STEPS ON THIS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67543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A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1567543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Intro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69326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</p:spPr>
      </p:sp>
      <p:sp>
        <p:nvSpPr>
          <p:cNvPr id="16" name="Text 14"/>
          <p:cNvSpPr/>
          <p:nvPr/>
        </p:nvSpPr>
        <p:spPr>
          <a:xfrm>
            <a:off x="2769326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Body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71109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A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Body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72891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</p:spPr>
      </p:sp>
      <p:sp>
        <p:nvSpPr>
          <p:cNvPr id="20" name="Text 18"/>
          <p:cNvSpPr/>
          <p:nvPr/>
        </p:nvSpPr>
        <p:spPr>
          <a:xfrm>
            <a:off x="5172891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Body 3 (optional)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74674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A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6374674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Conclusion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76457" y="3657600"/>
            <a:ext cx="1146919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</p:spPr>
      </p:sp>
      <p:sp>
        <p:nvSpPr>
          <p:cNvPr id="24" name="Text 22"/>
          <p:cNvSpPr/>
          <p:nvPr/>
        </p:nvSpPr>
        <p:spPr>
          <a:xfrm>
            <a:off x="7576457" y="3657600"/>
            <a:ext cx="11469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Sources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My Research Claim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WRITE THIS 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GUIDES YOUR WHOLE ESSAY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research claim?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claim is the one-sentence answer to the research question. Every piece of evidence in your essay should support this claim.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 — not "Nat was great" but what specifically made him extraordinary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Arguable — someone could disagree and need evidence to be convinced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Provable — you can back it up with specific events from the novel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SCAFFOLD 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18104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made Nathaniel Bowditch extraordinary was not just his mathematical genius but his determination to make that genius available to every ordinary sailor who needed it."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82219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221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sentences. This is your thesis — write it clearly, then revise it as you draft.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WEEKS 9-10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→ CONTEXT → THESIS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 your introduction? (3-5 sentences)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Hook: Start with something vivid, surprising, or thought-provoking. Don’t start with "In this essay I will..."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Context: Briefly introduce Nathaniel Bowditch — who he was, when he lived, what he accomplished.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Thesis: End with your research claim, stated clearly.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SCAFFOLD 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80944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idea: Start with the fog scene from Chapter 24 — a ship navigating blind through impenetrable fog, the crew terrified, guided only by one man’s mathematics. Then zoom out: "That man was Nathaniel Bowditch..."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7647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76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80–150 words. Your hook should make a reader want to keep reading.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Body Section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WEEKS 11-12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→ EVIDENCE → SIGNIFICANCE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 Body Section 1? (4-7 sentences)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 sentence: Name the quality or achievement you’re arguing supports your claim.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— Fact (what happened, with chapter reference) + Explanation (what it means) + Significance (how it supports your claim).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Closing sentence: Connect back to your main claim.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SCAFFOLD 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6207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sentence example: "One quality that made Bowditch extraordinary was his refusal to accept errors that put sailors in danger."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9359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935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120–200 words. Use at least one specific chapter 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Body Section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WEEKS 12-13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TRANSITION + EVIDENCE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 Body Section 2? (4-7 sentences)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Varied transition + topic sentence — don’t just say "Another reason." Add: Furthermore, Moreover, In addition to this... Contrast: However, Beyond just X... Deepen: What made this even more remarkable was...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(Fact + Explanation + Significance)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Closing sentence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120–200 words. Underline your transition word when you revise.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Body Section 3 (Optional)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OPTIONAL / WEEK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EVIDENCE IS STRONG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include a third body section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third body section if you have strong evidence from Chapters 21-24 that supports a different aspect of your claim than Body 1 and 2.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Don’t add it just to make the essay longer — only if it genuinely strengthens your argument.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Leave blank if writing a 4-paragraph essay.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WEEK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— DON’T JUST REPEAT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 your conclusion? (3-5 sentences)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Synthesis (not repetition): What do your body sections, taken together, reveal about Bowditch? What is the larger insight?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to the opening: Call back to your hook with new meaning now that the reader knows your whole argument.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Closing thought: Why does this matter beyond Bowditch himself?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SCAFFOLD 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8094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"In conclusion, I have shown that Nat was extraordinary because he was good at math and also because he helped sailors." (just repeats)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INSTEAD: "Taken together, these examples reveal that Bowditch’s greatness was not the knowledge itself but his insistence that knowledge belongs to everyone..."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1363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80–130 words. Synthesize, don’t repeat. Return to your hook if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WEEK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YOUR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cite your novel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Last name, First name. Title of Book. Publisher, Year.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used any other sources (encyclopedia articles, websites), list them here too. Ask your teacher for the correct format.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SCAFFOLD EXAMPLE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478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Latham, Jean Lee. Carry On, Mr. Bowditch. Houghton Mifflin, 1955.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992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citation minimum — the novel itself.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Compile &amp; Submit Your Essay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PAGE COMPILES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sections are complete, students click "Compile My Essay" to assemble every section into one formatted document, in order: Claim → Introduction → Body 1 → Body 2 → Body 3 (if used) → Conclusion → Works Cited.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SUBMISSION OPTIONS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505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Compile My Essay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2450592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27832" y="24505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Clipboard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2450592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9904" y="24505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Download as PDF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56616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copy the compiled essay into their Canvas submission or download the PDF version to turn 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Before You Submit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SELF-CHECK — 8 ITEMS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338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claim is specific and arguable — it makes a real argument, not just a fact.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8648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230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introduction has a hook, context about Bowditch, and ends with my thesis.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12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body section has a topic sentence, evidence (Fact + Explanation + Significance), and a closing sentence.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489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014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varied transitions between my body sections (not just "Also" or "Another reason").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906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conclusion synthesizes my argument — it does not just repeat my body paragraphs.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433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5798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navigation concept I mentioned is explained clearly for a reader who hasn’t read the book.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032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0690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cited Carry On, Mr. Bowditch in my Sources section.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52170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5582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compiled my essay and copied/downloaded it for submission.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2026-07-13T16:51:01Z</dcterms:created>
  <dcterms:modified xsi:type="dcterms:W3CDTF">2026-07-13T16:51:01Z</dcterms:modified>
</cp:coreProperties>
</file>