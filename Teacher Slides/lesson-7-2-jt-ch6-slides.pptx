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7, Day 2, Chapter 6 — Salt-Water Tea.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What happens when talent becomes pride—and pride blinds you to warnings that could save you?
Reading: I will identify how the author builds toward a turning point through warnings, character choices, and foreshadowing.
Grammar: I will identify appositives in sentences from the novel.
Spelling: I will sort words by root pattern—dict vs. scrib/script.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
Corrected: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
Corrected: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optional routine — use it if time allows. 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Does this support what I'm actually trying to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Practice only today — not the graded strand.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Sort or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dict vs. scrib/script Roots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sequence: Reader, Writer, Mimic. Reveal progressively if desired.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Johnny’s Path Through Johnny Tremain — 📍 You are here: Chapter 6 — Salt-Water Tea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argument-writing arc. Stage: Reasons. Focus: Learn what REASONS are—the “because” statements that support your claim.
Prompt: Write TWO reasons that support your claim. Use the “because test.” Write two reasons. Each should answer “why” your claim is true. Use the because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C1A1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C7922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C7922C"/>
                </a:solidFill>
                <a:latin typeface="Calibri" pitchFamily="34" charset="0"/>
                <a:ea typeface="Calibri" pitchFamily="34" charset="-122"/>
                <a:cs typeface="Calibri" pitchFamily="34" charset="-120"/>
              </a:rPr>
              <a:t>WEEK 7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Johnny Tremain</a:t>
            </a:r>
            <a:endParaRPr lang="en-US" sz="3000" dirty="0"/>
          </a:p>
          <a:p>
            <a:pPr algn="l" indent="0" marL="0">
              <a:buNone/>
            </a:pPr>
            <a:r>
              <a:rPr lang="en-US" sz="3000" b="1" dirty="0">
                <a:solidFill>
                  <a:srgbClr val="FFFFFF"/>
                </a:solidFill>
                <a:latin typeface="Calibri" pitchFamily="34" charset="0"/>
                <a:ea typeface="Calibri" pitchFamily="34" charset="-122"/>
                <a:cs typeface="Calibri" pitchFamily="34" charset="-120"/>
              </a:rPr>
              <a:t>Chapter 6 — Salt-Water Tea</a:t>
            </a:r>
            <a:endParaRPr lang="en-US" sz="30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7  ·  Virtue: Integrity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What happens when talent becomes pride—and pride blinds you to warnings that could save you?</a:t>
            </a:r>
            <a:endParaRPr lang="en-US" sz="14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7744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Reading: </a:t>
            </a:r>
            <a:pPr indent="0" marL="0">
              <a:buNone/>
            </a:pPr>
            <a:r>
              <a:rPr lang="en-US" sz="1400" dirty="0">
                <a:solidFill>
                  <a:srgbClr val="1E293B"/>
                </a:solidFill>
                <a:latin typeface="Calibri" pitchFamily="34" charset="0"/>
                <a:ea typeface="Calibri" pitchFamily="34" charset="-122"/>
                <a:cs typeface="Calibri" pitchFamily="34" charset="-120"/>
              </a:rPr>
              <a:t>I will identify how the author builds toward a turning point through warnings, character choices, and foreshadowing.</a:t>
            </a:r>
            <a:endParaRPr lang="en-US" sz="1600" dirty="0"/>
          </a:p>
        </p:txBody>
      </p:sp>
      <p:sp>
        <p:nvSpPr>
          <p:cNvPr id="10" name="Shape 8"/>
          <p:cNvSpPr/>
          <p:nvPr/>
        </p:nvSpPr>
        <p:spPr>
          <a:xfrm>
            <a:off x="365760" y="310896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20040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Grammar: </a:t>
            </a:r>
            <a:pPr indent="0" marL="0">
              <a:buNone/>
            </a:pPr>
            <a:r>
              <a:rPr lang="en-US" sz="1400" dirty="0">
                <a:solidFill>
                  <a:srgbClr val="1E293B"/>
                </a:solidFill>
                <a:latin typeface="Calibri" pitchFamily="34" charset="0"/>
                <a:ea typeface="Calibri" pitchFamily="34" charset="-122"/>
                <a:cs typeface="Calibri" pitchFamily="34" charset="-120"/>
              </a:rPr>
              <a:t>I will identify appositives in sentences from the novel.</a:t>
            </a:r>
            <a:endParaRPr lang="en-US" sz="1600" dirty="0"/>
          </a:p>
        </p:txBody>
      </p:sp>
      <p:sp>
        <p:nvSpPr>
          <p:cNvPr id="12" name="Shape 10"/>
          <p:cNvSpPr/>
          <p:nvPr/>
        </p:nvSpPr>
        <p:spPr>
          <a:xfrm>
            <a:off x="365760" y="39319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402336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Spelling: </a:t>
            </a:r>
            <a:pPr indent="0" marL="0">
              <a:buNone/>
            </a:pPr>
            <a:r>
              <a:rPr lang="en-US" sz="1400" dirty="0">
                <a:solidFill>
                  <a:srgbClr val="1E293B"/>
                </a:solidFill>
                <a:latin typeface="Calibri" pitchFamily="34" charset="0"/>
                <a:ea typeface="Calibri" pitchFamily="34" charset="-122"/>
                <a:cs typeface="Calibri" pitchFamily="34" charset="-120"/>
              </a:rPr>
              <a:t>I will sort words by root pattern—dict vs. scrib/script.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8686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track how an author builds toward a turning point. Today, pay attention to the warnings Johnny receives. Ask yourself: Who tries to warn Johnny? Does he listen? What signals does the author give that something is about to go wrong?</a:t>
            </a:r>
            <a:endParaRPr lang="en-US" sz="13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 AS YOU READ</a:t>
            </a:r>
            <a:endParaRPr lang="en-US" sz="1100" dirty="0"/>
          </a:p>
        </p:txBody>
      </p:sp>
      <p:sp>
        <p:nvSpPr>
          <p:cNvPr id="8" name="Shape 6"/>
          <p:cNvSpPr/>
          <p:nvPr/>
        </p:nvSpPr>
        <p:spPr>
          <a:xfrm>
            <a:off x="365760" y="2606040"/>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9192"/>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Mr. Lapham warns Johnny directly about his pride. How does Johnny respond? What does his response tell you?</a:t>
            </a:r>
            <a:endParaRPr lang="en-US" sz="1300" dirty="0"/>
          </a:p>
        </p:txBody>
      </p:sp>
      <p:sp>
        <p:nvSpPr>
          <p:cNvPr id="10" name="Shape 8"/>
          <p:cNvSpPr/>
          <p:nvPr/>
        </p:nvSpPr>
        <p:spPr>
          <a:xfrm>
            <a:off x="365760" y="331927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9242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Before the accident, what small clues does the author plant that something terrible is about to happen?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men of Boston gathered silently at Griffin’s Wharf, their faces dark with soot and their axes raised.</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The men  </a:t>
            </a:r>
            <a:pPr indent="0" marL="0">
              <a:buNone/>
            </a:pPr>
            <a:r>
              <a:rPr lang="en-US" sz="1200" dirty="0">
                <a:solidFill>
                  <a:srgbClr val="1E293B"/>
                </a:solidFill>
                <a:latin typeface="Calibri" pitchFamily="34" charset="0"/>
                <a:ea typeface="Calibri" pitchFamily="34" charset="-122"/>
                <a:cs typeface="Calibri" pitchFamily="34" charset="-120"/>
              </a:rPr>
              <a:t>“Men” is the irregular plural of “man”—it doesn’t just add -s.</a:t>
            </a:r>
            <a:endParaRPr lang="en-US" sz="13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Griffin’s Wharf,  </a:t>
            </a:r>
            <a:pPr indent="0" marL="0">
              <a:buNone/>
            </a:pPr>
            <a:r>
              <a:rPr lang="en-US" sz="1200" dirty="0">
                <a:solidFill>
                  <a:srgbClr val="1E293B"/>
                </a:solidFill>
                <a:latin typeface="Calibri" pitchFamily="34" charset="0"/>
                <a:ea typeface="Calibri" pitchFamily="34" charset="-122"/>
                <a:cs typeface="Calibri" pitchFamily="34" charset="-120"/>
              </a:rPr>
              <a:t>“Griffin’s Wharf” is a proper noun—both words are capitalized because it’s the name of a specific place.</a:t>
            </a:r>
            <a:endParaRPr lang="en-US" sz="13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faces  </a:t>
            </a:r>
            <a:pPr indent="0" marL="0">
              <a:buNone/>
            </a:pPr>
            <a:r>
              <a:rPr lang="en-US" sz="1200" dirty="0">
                <a:solidFill>
                  <a:srgbClr val="1E293B"/>
                </a:solidFill>
                <a:latin typeface="Calibri" pitchFamily="34" charset="0"/>
                <a:ea typeface="Calibri" pitchFamily="34" charset="-122"/>
                <a:cs typeface="Calibri" pitchFamily="34" charset="-120"/>
              </a:rPr>
              <a:t>“Faces” is a regular plural of “face”—it just adds -s.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Poetry Corner</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423160"/>
          </a:xfrm>
          <a:prstGeom prst="roundRect">
            <a:avLst>
              <a:gd name="adj" fmla="val 3774"/>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Concord Hymn (stanzas 1–2)</a:t>
            </a:r>
            <a:endParaRPr lang="en-US" sz="20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Ralph Waldo Emerson</a:t>
            </a:r>
            <a:endParaRPr lang="en-US" sz="1300" dirty="0"/>
          </a:p>
        </p:txBody>
      </p:sp>
      <p:sp>
        <p:nvSpPr>
          <p:cNvPr id="7" name="Text 5"/>
          <p:cNvSpPr/>
          <p:nvPr/>
        </p:nvSpPr>
        <p:spPr>
          <a:xfrm>
            <a:off x="594360" y="1645920"/>
            <a:ext cx="7955280" cy="1554480"/>
          </a:xfrm>
          <a:prstGeom prst="rect">
            <a:avLst/>
          </a:prstGeom>
          <a:noFill/>
          <a:ln/>
        </p:spPr>
        <p:txBody>
          <a:bodyPr wrap="square" lIns="0" tIns="0" rIns="0" bIns="0" rtlCol="0" anchor="t"/>
          <a:lstStyle/>
          <a:p>
            <a:pPr indent="0" marL="0">
              <a:buNone/>
            </a:pPr>
            <a:r>
              <a:rPr lang="en-US" sz="1600" i="1" dirty="0">
                <a:solidFill>
                  <a:srgbClr val="1E293B"/>
                </a:solidFill>
                <a:latin typeface="Georgia" pitchFamily="34" charset="0"/>
                <a:ea typeface="Georgia" pitchFamily="34" charset="-122"/>
                <a:cs typeface="Georgia" pitchFamily="34" charset="-120"/>
              </a:rPr>
              <a:t>By the rude bridge that arched the flood,</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  Their flag to April’s breeze unfurled,</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Here once the embattled farmers stood,</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  And fired the shot heard round the world.</a:t>
            </a:r>
            <a:endParaRPr lang="en-US" sz="1600" dirty="0"/>
          </a:p>
          <a:p>
            <a:pPr indent="0" marL="0">
              <a:buNone/>
            </a:pP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The foe long since in silence slept;</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  Alike the conqueror silent sleeps;</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And Time the ruined bridge has swept</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  Down the dark stream which seaward creeps.</a:t>
            </a:r>
            <a:endParaRPr lang="en-US" sz="1600" dirty="0"/>
          </a:p>
        </p:txBody>
      </p:sp>
      <p:sp>
        <p:nvSpPr>
          <p:cNvPr id="8" name="Text 6"/>
          <p:cNvSpPr/>
          <p:nvPr/>
        </p:nvSpPr>
        <p:spPr>
          <a:xfrm>
            <a:off x="365760" y="34290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THINK ABOUT THIS</a:t>
            </a:r>
            <a:endParaRPr lang="en-US" sz="1100" dirty="0"/>
          </a:p>
        </p:txBody>
      </p:sp>
      <p:sp>
        <p:nvSpPr>
          <p:cNvPr id="9" name="Shape 7"/>
          <p:cNvSpPr/>
          <p:nvPr/>
        </p:nvSpPr>
        <p:spPr>
          <a:xfrm>
            <a:off x="365760" y="3685032"/>
            <a:ext cx="84124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776472"/>
            <a:ext cx="7955280" cy="73152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Emerson calls the farmers “embattled”—ready to fight despite great odds. The colonists at the Tea Party were also ordinary people taking a dramatic stand. What does both Emerson’s poem and Chapter 6 suggest about what ordinary people are capable of when they believe in a cause?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371600"/>
          </a:xfrm>
          <a:prstGeom prst="roundRect">
            <a:avLst>
              <a:gd name="adj" fmla="val 6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1430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Was destroying the tea at Griffin's Wharf the right choice for the Sons of Liberty, or should they have found another way to protest? Defend your answer with evidence from Chapter 6. Someone might disagree and say destroying property only makes things worse. What would you say back?</a:t>
            </a:r>
            <a:endParaRPr lang="en-US" sz="1600" dirty="0"/>
          </a:p>
        </p:txBody>
      </p:sp>
      <p:sp>
        <p:nvSpPr>
          <p:cNvPr id="7" name="Text 5"/>
          <p:cNvSpPr/>
          <p:nvPr/>
        </p:nvSpPr>
        <p:spPr>
          <a:xfrm>
            <a:off x="457200" y="28346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127248"/>
            <a:ext cx="8229600" cy="82296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I think...   →   because...   →   One piece of evidence is...   →   This matters because...   →   Someone might disagree, but...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Was destroying the tea at Griffin's Wharf the right choice for the Sons of Liberty, or should they have found another way to protest? Defend your answer with evidence from Chapter 6. Someone might disagree and say destroying property only makes things worse. What would you say back?</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20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This matters 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Does this support what I'm actually trying to say?</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dict &amp; scrib/script</a:t>
            </a:r>
            <a:endParaRPr lang="en-US" sz="1100" dirty="0"/>
          </a:p>
        </p:txBody>
      </p:sp>
      <p:sp>
        <p:nvSpPr>
          <p:cNvPr id="5" name="Shape 3"/>
          <p:cNvSpPr/>
          <p:nvPr/>
        </p:nvSpPr>
        <p:spPr>
          <a:xfrm>
            <a:off x="365760" y="1097280"/>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You learned that con-/com- means “together” or “with.” Now identify these roots in the story of the Tea Party. | The colonists gathered to conspire (con + spire: breathe together/plan together) | Sam Adams called the meeting to convene (con + vene: come together) | The men acted in concert (con + cert: decided/agreed together) | Their plan was composed of many small acts (com + pose: put together)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 — Sort or Match</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Chapter 6 · Quick Match</a:t>
            </a:r>
            <a:endParaRPr lang="en-US" sz="1100" dirty="0"/>
          </a:p>
        </p:txBody>
      </p:sp>
      <p:sp>
        <p:nvSpPr>
          <p:cNvPr id="5" name="Shape 3"/>
          <p:cNvSpPr/>
          <p:nvPr/>
        </p:nvSpPr>
        <p:spPr>
          <a:xfrm>
            <a:off x="365760" y="1097280"/>
            <a:ext cx="8412480" cy="502920"/>
          </a:xfrm>
          <a:prstGeom prst="roundRect">
            <a:avLst>
              <a:gd name="adj" fmla="val 18182"/>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Tory  </a:t>
            </a:r>
            <a:pPr indent="0" marL="0">
              <a:buNone/>
            </a:pPr>
            <a:r>
              <a:rPr lang="en-US" sz="1100" dirty="0">
                <a:solidFill>
                  <a:srgbClr val="1E293B"/>
                </a:solidFill>
                <a:latin typeface="Calibri" pitchFamily="34" charset="0"/>
                <a:ea typeface="Calibri" pitchFamily="34" charset="-122"/>
                <a:cs typeface="Calibri" pitchFamily="34" charset="-120"/>
              </a:rPr>
              <a:t>a colonist who remained loyal to the British Crown</a:t>
            </a:r>
            <a:endParaRPr lang="en-US" sz="1300" dirty="0"/>
          </a:p>
        </p:txBody>
      </p:sp>
      <p:sp>
        <p:nvSpPr>
          <p:cNvPr id="7" name="Shape 5"/>
          <p:cNvSpPr/>
          <p:nvPr/>
        </p:nvSpPr>
        <p:spPr>
          <a:xfrm>
            <a:off x="365760" y="1664208"/>
            <a:ext cx="8412480" cy="502920"/>
          </a:xfrm>
          <a:prstGeom prst="roundRect">
            <a:avLst>
              <a:gd name="adj" fmla="val 18182"/>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09928"/>
            <a:ext cx="8046720" cy="4114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Whig  </a:t>
            </a:r>
            <a:pPr indent="0" marL="0">
              <a:buNone/>
            </a:pPr>
            <a:r>
              <a:rPr lang="en-US" sz="1100" dirty="0">
                <a:solidFill>
                  <a:srgbClr val="1E293B"/>
                </a:solidFill>
                <a:latin typeface="Calibri" pitchFamily="34" charset="0"/>
                <a:ea typeface="Calibri" pitchFamily="34" charset="-122"/>
                <a:cs typeface="Calibri" pitchFamily="34" charset="-120"/>
              </a:rPr>
              <a:t>a colonist who supported colonial independence from Britain</a:t>
            </a:r>
            <a:endParaRPr lang="en-US" sz="1300" dirty="0"/>
          </a:p>
        </p:txBody>
      </p:sp>
      <p:sp>
        <p:nvSpPr>
          <p:cNvPr id="9" name="Shape 7"/>
          <p:cNvSpPr/>
          <p:nvPr/>
        </p:nvSpPr>
        <p:spPr>
          <a:xfrm>
            <a:off x="365760" y="2231136"/>
            <a:ext cx="8412480" cy="502920"/>
          </a:xfrm>
          <a:prstGeom prst="roundRect">
            <a:avLst>
              <a:gd name="adj" fmla="val 18182"/>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276856"/>
            <a:ext cx="8046720" cy="4114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boycott  </a:t>
            </a:r>
            <a:pPr indent="0" marL="0">
              <a:buNone/>
            </a:pPr>
            <a:r>
              <a:rPr lang="en-US" sz="1100" dirty="0">
                <a:solidFill>
                  <a:srgbClr val="1E293B"/>
                </a:solidFill>
                <a:latin typeface="Calibri" pitchFamily="34" charset="0"/>
                <a:ea typeface="Calibri" pitchFamily="34" charset="-122"/>
                <a:cs typeface="Calibri" pitchFamily="34" charset="-120"/>
              </a:rPr>
              <a:t>a refusal to buy or use something as a form of protest</a:t>
            </a:r>
            <a:endParaRPr lang="en-US" sz="1300" dirty="0"/>
          </a:p>
        </p:txBody>
      </p:sp>
      <p:sp>
        <p:nvSpPr>
          <p:cNvPr id="11" name="Shape 9"/>
          <p:cNvSpPr/>
          <p:nvPr/>
        </p:nvSpPr>
        <p:spPr>
          <a:xfrm>
            <a:off x="365760" y="2798064"/>
            <a:ext cx="8412480" cy="502920"/>
          </a:xfrm>
          <a:prstGeom prst="roundRect">
            <a:avLst>
              <a:gd name="adj" fmla="val 18182"/>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843784"/>
            <a:ext cx="8046720" cy="4114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placard  </a:t>
            </a:r>
            <a:pPr indent="0" marL="0">
              <a:buNone/>
            </a:pPr>
            <a:r>
              <a:rPr lang="en-US" sz="1100" dirty="0">
                <a:solidFill>
                  <a:srgbClr val="1E293B"/>
                </a:solidFill>
                <a:latin typeface="Calibri" pitchFamily="34" charset="0"/>
                <a:ea typeface="Calibri" pitchFamily="34" charset="-122"/>
                <a:cs typeface="Calibri" pitchFamily="34" charset="-120"/>
              </a:rPr>
              <a:t>a printed notice or sign posted in a public place</a:t>
            </a:r>
            <a:endParaRPr lang="en-US" sz="1300" dirty="0"/>
          </a:p>
        </p:txBody>
      </p:sp>
      <p:sp>
        <p:nvSpPr>
          <p:cNvPr id="13" name="Shape 11"/>
          <p:cNvSpPr/>
          <p:nvPr/>
        </p:nvSpPr>
        <p:spPr>
          <a:xfrm>
            <a:off x="365760" y="3364992"/>
            <a:ext cx="8412480" cy="502920"/>
          </a:xfrm>
          <a:prstGeom prst="roundRect">
            <a:avLst>
              <a:gd name="adj" fmla="val 18182"/>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410712"/>
            <a:ext cx="8046720" cy="4114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seditious  </a:t>
            </a:r>
            <a:pPr indent="0" marL="0">
              <a:buNone/>
            </a:pPr>
            <a:r>
              <a:rPr lang="en-US" sz="1100" dirty="0">
                <a:solidFill>
                  <a:srgbClr val="1E293B"/>
                </a:solidFill>
                <a:latin typeface="Calibri" pitchFamily="34" charset="0"/>
                <a:ea typeface="Calibri" pitchFamily="34" charset="-122"/>
                <a:cs typeface="Calibri" pitchFamily="34" charset="-120"/>
              </a:rPr>
              <a:t>likely to stir up rebellion or resistance against the government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Appositives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Apply · Use irregular plurals correctly in sentences</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“Johnny, the most skilled apprentice , took charge of the order.” — The appositive “the most skilled apprentice” renames Johnny. “Mr. Hancock, a wealthy Boston merchant , commissioned a sugar basin.” — The appositive “a wealthy Boston merchant” explains who Mr. Hancock is. Test it: Remove the phrase between the commas. If the sentence still makes sense, you found the appositive.</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Mr. Lapham, the elderly master silversmith, warned Johnny about his pride.</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Dove, the clumsiest apprentice, fetched the cracked crucible from the shelf.</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Paul Revere, the finest craftsman in Boston, offered to buy Johnny’s time.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Appositives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Apply · Use irregular plurals correctly in sentences</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“Johnny, the most skilled apprentice , took charge of the order.” — The appositive “the most skilled apprentice” renames Johnny. “Mr. Hancock, a wealthy Boston merchant , commissioned a sugar basin.” — The appositive “a wealthy Boston merchant” explains who Mr. Hancock is. Test it: Remove the phrase between the commas. If the sentence still makes sense, you found the appositive.</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Mr. Lapham, the elderly master silversmith, warned Johnny about his pride.
</a:t>
            </a:r>
            <a:pPr indent="0" marL="0">
              <a:buNone/>
            </a:pPr>
            <a:r>
              <a:rPr lang="en-US" sz="1200" b="1" dirty="0">
                <a:solidFill>
                  <a:srgbClr val="34B76F"/>
                </a:solidFill>
                <a:latin typeface="Calibri" pitchFamily="34" charset="0"/>
                <a:ea typeface="Calibri" pitchFamily="34" charset="-122"/>
                <a:cs typeface="Calibri" pitchFamily="34" charset="-120"/>
              </a:rPr>
              <a:t>✅ the elderly master silversmith,</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Dove, the clumsiest apprentice, fetched the cracked crucible from the shelf.
</a:t>
            </a:r>
            <a:pPr indent="0" marL="0">
              <a:buNone/>
            </a:pPr>
            <a:r>
              <a:rPr lang="en-US" sz="1200" b="1" dirty="0">
                <a:solidFill>
                  <a:srgbClr val="34B76F"/>
                </a:solidFill>
                <a:latin typeface="Calibri" pitchFamily="34" charset="0"/>
                <a:ea typeface="Calibri" pitchFamily="34" charset="-122"/>
                <a:cs typeface="Calibri" pitchFamily="34" charset="-120"/>
              </a:rPr>
              <a:t>✅ the clumsiest apprentice,</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Paul Revere, the finest craftsman in Boston, offered to buy Johnny’s time.
</a:t>
            </a:r>
            <a:pPr indent="0" marL="0">
              <a:buNone/>
            </a:pPr>
            <a:r>
              <a:rPr lang="en-US" sz="1200" b="1" dirty="0">
                <a:solidFill>
                  <a:srgbClr val="34B76F"/>
                </a:solidFill>
                <a:latin typeface="Calibri" pitchFamily="34" charset="0"/>
                <a:ea typeface="Calibri" pitchFamily="34" charset="-122"/>
                <a:cs typeface="Calibri" pitchFamily="34" charset="-120"/>
              </a:rPr>
              <a:t>✅ the finest craftsman in Boston,</a:t>
            </a:r>
            <a:endParaRPr lang="en-US" sz="1200" dirty="0"/>
          </a:p>
        </p:txBody>
      </p:sp>
      <p:sp>
        <p:nvSpPr>
          <p:cNvPr id="14" name="Shape 12"/>
          <p:cNvSpPr/>
          <p:nvPr/>
        </p:nvSpPr>
        <p:spPr>
          <a:xfrm>
            <a:off x="365760" y="3950208"/>
            <a:ext cx="8412480" cy="685800"/>
          </a:xfrm>
          <a:prstGeom prst="roundRect">
            <a:avLst>
              <a:gd name="adj" fmla="val 13333"/>
            </a:avLst>
          </a:prstGeom>
          <a:solidFill>
            <a:srgbClr val="FEF6E8"/>
          </a:solidFill>
          <a:ln w="12700">
            <a:solidFill>
              <a:srgbClr val="C7922C"/>
            </a:solidFill>
            <a:prstDash val="solid"/>
          </a:ln>
        </p:spPr>
      </p:sp>
      <p:sp>
        <p:nvSpPr>
          <p:cNvPr id="15" name="Text 13"/>
          <p:cNvSpPr/>
          <p:nvPr/>
        </p:nvSpPr>
        <p:spPr>
          <a:xfrm>
            <a:off x="548640" y="4005072"/>
            <a:ext cx="8046720" cy="548640"/>
          </a:xfrm>
          <a:prstGeom prst="rect">
            <a:avLst/>
          </a:prstGeom>
          <a:noFill/>
          <a:ln/>
        </p:spPr>
        <p:txBody>
          <a:bodyPr wrap="square" lIns="0" tIns="0" rIns="0" bIns="0" rtlCol="0" anchor="t"/>
          <a:lstStyle/>
          <a:p>
            <a:pPr indent="0" marL="0">
              <a:buNone/>
            </a:pPr>
            <a:r>
              <a:rPr lang="en-US" sz="1000" b="1" dirty="0">
                <a:solidFill>
                  <a:srgbClr val="C7922C"/>
                </a:solidFill>
                <a:latin typeface="Calibri" pitchFamily="34" charset="0"/>
                <a:ea typeface="Calibri" pitchFamily="34" charset="-122"/>
                <a:cs typeface="Calibri" pitchFamily="34" charset="-120"/>
              </a:rPr>
              <a:t>🫖 Show What You Know · Grammar
</a:t>
            </a:r>
            <a:pPr indent="0" marL="0">
              <a:buNone/>
            </a:pPr>
            <a:r>
              <a:rPr lang="en-US" sz="1000" i="1" dirty="0">
                <a:solidFill>
                  <a:srgbClr val="1E293B"/>
                </a:solidFill>
                <a:latin typeface="Calibri" pitchFamily="34" charset="0"/>
                <a:ea typeface="Calibri" pitchFamily="34" charset="-122"/>
                <a:cs typeface="Calibri" pitchFamily="34" charset="-120"/>
              </a:rPr>
              <a:t>Find the appositive in this sentence and explain what information it adds: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 Spelling: dict vs. scrib/script Roots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words by root pattern</a:t>
            </a:r>
            <a:endParaRPr lang="en-US" sz="1100" dirty="0"/>
          </a:p>
        </p:txBody>
      </p:sp>
      <p:sp>
        <p:nvSpPr>
          <p:cNvPr id="7" name="Text 5"/>
          <p:cNvSpPr/>
          <p:nvPr/>
        </p:nvSpPr>
        <p:spPr>
          <a:xfrm>
            <a:off x="36576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dict (say / declare)</a:t>
            </a:r>
            <a:endParaRPr lang="en-US" sz="1300" dirty="0"/>
          </a:p>
        </p:txBody>
      </p:sp>
      <p:sp>
        <p:nvSpPr>
          <p:cNvPr id="8" name="Text 6"/>
          <p:cNvSpPr/>
          <p:nvPr/>
        </p:nvSpPr>
        <p:spPr>
          <a:xfrm>
            <a:off x="36576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dictate  ·  predict  ·  verdict</a:t>
            </a:r>
            <a:endParaRPr lang="en-US" sz="1300" dirty="0"/>
          </a:p>
        </p:txBody>
      </p:sp>
      <p:sp>
        <p:nvSpPr>
          <p:cNvPr id="9" name="Text 7"/>
          <p:cNvSpPr/>
          <p:nvPr/>
        </p:nvSpPr>
        <p:spPr>
          <a:xfrm>
            <a:off x="466344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scrib / script (write)</a:t>
            </a:r>
            <a:endParaRPr lang="en-US" sz="1300" dirty="0"/>
          </a:p>
        </p:txBody>
      </p:sp>
      <p:sp>
        <p:nvSpPr>
          <p:cNvPr id="10" name="Text 8"/>
          <p:cNvSpPr/>
          <p:nvPr/>
        </p:nvSpPr>
        <p:spPr>
          <a:xfrm>
            <a:off x="466344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prescribe  ·  scripture  ·  inscribe  ·  description  ·  manuscript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RWM — Reader · Writer · Mimic</a:t>
            </a:r>
            <a:endParaRPr lang="en-US" sz="26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Shape 2"/>
          <p:cNvSpPr/>
          <p:nvPr/>
        </p:nvSpPr>
        <p:spPr>
          <a:xfrm>
            <a:off x="365760" y="868680"/>
            <a:ext cx="8412480" cy="640080"/>
          </a:xfrm>
          <a:prstGeom prst="roundRect">
            <a:avLst>
              <a:gd name="adj" fmla="val 14286"/>
            </a:avLst>
          </a:prstGeom>
          <a:solidFill>
            <a:srgbClr val="F8FAFC"/>
          </a:solidFill>
          <a:ln w="12700">
            <a:solidFill>
              <a:srgbClr val="0E1C42"/>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48640" y="978408"/>
            <a:ext cx="8046720" cy="41148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“He flew up Salt Lane in the opposite direction from the waterfront. Now they were flinging themselves down back alleys. Running so fast it seemed more like a dream of flying than reality.”</a:t>
            </a:r>
            <a:endParaRPr lang="en-US" sz="1600" dirty="0"/>
          </a:p>
        </p:txBody>
      </p:sp>
      <p:sp>
        <p:nvSpPr>
          <p:cNvPr id="6" name="Shape 4"/>
          <p:cNvSpPr/>
          <p:nvPr/>
        </p:nvSpPr>
        <p:spPr>
          <a:xfrm>
            <a:off x="365760" y="1600200"/>
            <a:ext cx="8412480" cy="777240"/>
          </a:xfrm>
          <a:prstGeom prst="roundRect">
            <a:avLst>
              <a:gd name="adj" fmla="val 11765"/>
            </a:avLst>
          </a:prstGeom>
          <a:solidFill>
            <a:srgbClr val="E5F7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673352"/>
            <a:ext cx="8046720" cy="6400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Read like a Reader: </a:t>
            </a:r>
            <a:pPr indent="0" marL="0">
              <a:buNone/>
            </a:pPr>
            <a:r>
              <a:rPr lang="en-US" sz="1200" dirty="0">
                <a:solidFill>
                  <a:srgbClr val="1E293B"/>
                </a:solidFill>
                <a:latin typeface="Calibri" pitchFamily="34" charset="0"/>
                <a:ea typeface="Calibri" pitchFamily="34" charset="-122"/>
                <a:cs typeface="Calibri" pitchFamily="34" charset="-120"/>
              </a:rPr>
              <a:t>What has just happened? The narrator says this right after the accident. Why does the narrator call Johnny’s pride “vaunting” and “cocksure”? What is the difference between confidence and this kind of pride?</a:t>
            </a:r>
            <a:endParaRPr lang="en-US" sz="1200" dirty="0"/>
          </a:p>
        </p:txBody>
      </p:sp>
      <p:sp>
        <p:nvSpPr>
          <p:cNvPr id="8" name="Shape 6"/>
          <p:cNvSpPr/>
          <p:nvPr/>
        </p:nvSpPr>
        <p:spPr>
          <a:xfrm>
            <a:off x="365760" y="2450592"/>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523744"/>
            <a:ext cx="8046720" cy="6400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Read like a Writer: </a:t>
            </a:r>
            <a:pPr indent="0" marL="0">
              <a:buNone/>
            </a:pPr>
            <a:r>
              <a:rPr lang="en-US" sz="1200" dirty="0">
                <a:solidFill>
                  <a:srgbClr val="1E293B"/>
                </a:solidFill>
                <a:latin typeface="Calibri" pitchFamily="34" charset="0"/>
                <a:ea typeface="Calibri" pitchFamily="34" charset="-122"/>
                <a:cs typeface="Calibri" pitchFamily="34" charset="-120"/>
              </a:rPr>
              <a:t>Notice the structure: two short sentences. The first is blunt—“It was his own fault.” The second adds weight with those two sharp adjectives before “pride.” How does this rhythm make the reader feel the blow of the moment?</a:t>
            </a:r>
            <a:endParaRPr lang="en-US" sz="1200" dirty="0"/>
          </a:p>
        </p:txBody>
      </p:sp>
      <p:sp>
        <p:nvSpPr>
          <p:cNvPr id="10" name="Shape 8"/>
          <p:cNvSpPr/>
          <p:nvPr/>
        </p:nvSpPr>
        <p:spPr>
          <a:xfrm>
            <a:off x="365760" y="3300984"/>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74136"/>
            <a:ext cx="8046720" cy="8229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Mimic: </a:t>
            </a:r>
            <a:pPr indent="0" marL="0">
              <a:buNone/>
            </a:pPr>
            <a:r>
              <a:rPr lang="en-US" sz="1200" dirty="0">
                <a:solidFill>
                  <a:srgbClr val="1E293B"/>
                </a:solidFill>
                <a:latin typeface="Calibri" pitchFamily="34" charset="0"/>
                <a:ea typeface="Calibri" pitchFamily="34" charset="-122"/>
                <a:cs typeface="Calibri" pitchFamily="34" charset="-120"/>
              </a:rPr>
              <a:t>Write two sentences about a character’s mistake. Make the first short and blunt. Make the second longer, adding detail with adjectives.</a:t>
            </a:r>
            <a:pPr indent="0" marL="0">
              <a:buNone/>
            </a:pPr>
            <a:endParaRPr lang="en-US" sz="1200" dirty="0"/>
          </a:p>
          <a:p>
            <a:pPr indent="0" marL="0">
              <a:buNone/>
            </a:pPr>
            <a:r>
              <a:rPr lang="en-US" sz="1200" b="1" i="1" dirty="0">
                <a:solidFill>
                  <a:srgbClr val="34B76F"/>
                </a:solidFill>
                <a:latin typeface="Calibri" pitchFamily="34" charset="0"/>
                <a:ea typeface="Calibri" pitchFamily="34" charset="-122"/>
                <a:cs typeface="Calibri" pitchFamily="34" charset="-120"/>
              </a:rPr>
              <a:t>Frame: It was ___. His/Her own ___, ___ ___.</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Johnny’s Path Through Johnny Tremain — 📍 You are here: Chapter 6 — Salt-Water Tea</a:t>
            </a:r>
            <a:endParaRPr lang="en-US" sz="130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6 — Salt-Water Tea</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Mr. Lapham warns Johnny directly about his pride. How does Johnny respond? What does his response tell you?</a:t>
            </a:r>
            <a:endParaRPr lang="en-US" sz="1200" dirty="0"/>
          </a:p>
          <a:p>
            <a:pPr indent="0" marL="0">
              <a:buNone/>
            </a:pPr>
            <a:endParaRPr lang="en-US" sz="1200" dirty="0"/>
          </a:p>
          <a:p>
            <a:pPr indent="0" marL="0">
              <a:buNone/>
            </a:pPr>
            <a:r>
              <a:rPr lang="en-US" sz="1200" i="1" dirty="0">
                <a:solidFill>
                  <a:srgbClr val="1E293B"/>
                </a:solidFill>
                <a:latin typeface="Calibri" pitchFamily="34" charset="0"/>
                <a:ea typeface="Calibri" pitchFamily="34" charset="-122"/>
                <a:cs typeface="Calibri" pitchFamily="34" charset="-120"/>
              </a:rPr>
              <a:t>Before the accident, what small clues does the author plant that something terrible is about to happen?</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Why does Sam Adams want the tea destroyed rather than simply returned to England? What does his goal reveal about his true aims?</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How do Rab and Johnny each participate in the Tea Party? What different roles do they play—and which one does more of the “quiet” planning?</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The Coffin House voice warns that Boston has “got to pay the fiddler yet.” What might he mean? Looking ahead to Chapter 7, how is this foreshadowing proved right?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 — Argument Writing</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THIS WEEK'S ARGUMENT-WRITING ARC</a:t>
            </a:r>
            <a:endParaRPr lang="en-US" sz="1100" dirty="0"/>
          </a:p>
        </p:txBody>
      </p:sp>
      <p:sp>
        <p:nvSpPr>
          <p:cNvPr id="5" name="Shape 3"/>
          <p:cNvSpPr/>
          <p:nvPr/>
        </p:nvSpPr>
        <p:spPr>
          <a:xfrm>
            <a:off x="365760" y="1115568"/>
            <a:ext cx="2029968" cy="502920"/>
          </a:xfrm>
          <a:prstGeom prst="roundRect">
            <a:avLst>
              <a:gd name="adj" fmla="val 14545"/>
            </a:avLst>
          </a:prstGeom>
          <a:solidFill>
            <a:srgbClr val="34B76F"/>
          </a:solidFill>
          <a:ln/>
        </p:spPr>
      </p:sp>
      <p:sp>
        <p:nvSpPr>
          <p:cNvPr id="6" name="Text 4"/>
          <p:cNvSpPr/>
          <p:nvPr/>
        </p:nvSpPr>
        <p:spPr>
          <a:xfrm>
            <a:off x="393192" y="1115568"/>
            <a:ext cx="1975104"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Reasons</a:t>
            </a:r>
            <a:endParaRPr lang="en-US" sz="950" dirty="0"/>
          </a:p>
        </p:txBody>
      </p:sp>
      <p:sp>
        <p:nvSpPr>
          <p:cNvPr id="7" name="Shape 5"/>
          <p:cNvSpPr/>
          <p:nvPr/>
        </p:nvSpPr>
        <p:spPr>
          <a:xfrm>
            <a:off x="2468880" y="1115568"/>
            <a:ext cx="2029968" cy="502920"/>
          </a:xfrm>
          <a:prstGeom prst="roundRect">
            <a:avLst>
              <a:gd name="adj" fmla="val 14545"/>
            </a:avLst>
          </a:prstGeom>
          <a:solidFill>
            <a:srgbClr val="F8FAFC"/>
          </a:solidFill>
          <a:ln/>
        </p:spPr>
      </p:sp>
      <p:sp>
        <p:nvSpPr>
          <p:cNvPr id="8" name="Text 6"/>
          <p:cNvSpPr/>
          <p:nvPr/>
        </p:nvSpPr>
        <p:spPr>
          <a:xfrm>
            <a:off x="2496312" y="1115568"/>
            <a:ext cx="1975104" cy="50292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Evidence</a:t>
            </a:r>
            <a:endParaRPr lang="en-US" sz="950" dirty="0"/>
          </a:p>
        </p:txBody>
      </p:sp>
      <p:sp>
        <p:nvSpPr>
          <p:cNvPr id="9" name="Shape 7"/>
          <p:cNvSpPr/>
          <p:nvPr/>
        </p:nvSpPr>
        <p:spPr>
          <a:xfrm>
            <a:off x="4572000" y="1115568"/>
            <a:ext cx="2029968" cy="502920"/>
          </a:xfrm>
          <a:prstGeom prst="roundRect">
            <a:avLst>
              <a:gd name="adj" fmla="val 14545"/>
            </a:avLst>
          </a:prstGeom>
          <a:solidFill>
            <a:srgbClr val="F8FAFC"/>
          </a:solidFill>
          <a:ln/>
        </p:spPr>
      </p:sp>
      <p:sp>
        <p:nvSpPr>
          <p:cNvPr id="10" name="Text 8"/>
          <p:cNvSpPr/>
          <p:nvPr/>
        </p:nvSpPr>
        <p:spPr>
          <a:xfrm>
            <a:off x="4599432" y="1115568"/>
            <a:ext cx="1975104" cy="50292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Draft</a:t>
            </a:r>
            <a:endParaRPr lang="en-US" sz="950" dirty="0"/>
          </a:p>
        </p:txBody>
      </p:sp>
      <p:sp>
        <p:nvSpPr>
          <p:cNvPr id="11" name="Shape 9"/>
          <p:cNvSpPr/>
          <p:nvPr/>
        </p:nvSpPr>
        <p:spPr>
          <a:xfrm>
            <a:off x="6675120" y="1115568"/>
            <a:ext cx="2029968" cy="502920"/>
          </a:xfrm>
          <a:prstGeom prst="roundRect">
            <a:avLst>
              <a:gd name="adj" fmla="val 14545"/>
            </a:avLst>
          </a:prstGeom>
          <a:solidFill>
            <a:srgbClr val="F8FAFC"/>
          </a:solidFill>
          <a:ln/>
        </p:spPr>
      </p:sp>
      <p:sp>
        <p:nvSpPr>
          <p:cNvPr id="12" name="Text 10"/>
          <p:cNvSpPr/>
          <p:nvPr/>
        </p:nvSpPr>
        <p:spPr>
          <a:xfrm>
            <a:off x="6702552" y="1115568"/>
            <a:ext cx="1975104" cy="50292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Revise</a:t>
            </a:r>
            <a:endParaRPr lang="en-US" sz="950" dirty="0"/>
          </a:p>
        </p:txBody>
      </p:sp>
      <p:sp>
        <p:nvSpPr>
          <p:cNvPr id="13" name="Text 11"/>
          <p:cNvSpPr/>
          <p:nvPr/>
        </p:nvSpPr>
        <p:spPr>
          <a:xfrm>
            <a:off x="365760" y="178308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 — REASONS</a:t>
            </a:r>
            <a:endParaRPr lang="en-US" sz="1100" dirty="0"/>
          </a:p>
        </p:txBody>
      </p:sp>
      <p:sp>
        <p:nvSpPr>
          <p:cNvPr id="14" name="Shape 12"/>
          <p:cNvSpPr/>
          <p:nvPr/>
        </p:nvSpPr>
        <p:spPr>
          <a:xfrm>
            <a:off x="365760" y="2029968"/>
            <a:ext cx="8412480" cy="603504"/>
          </a:xfrm>
          <a:prstGeom prst="roundRect">
            <a:avLst>
              <a:gd name="adj" fmla="val 15152"/>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2084832"/>
            <a:ext cx="8046720" cy="493776"/>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Learn what REASONS are—the “because” statements that support your claim.</a:t>
            </a:r>
            <a:endParaRPr lang="en-US" sz="1300" dirty="0"/>
          </a:p>
        </p:txBody>
      </p:sp>
      <p:sp>
        <p:nvSpPr>
          <p:cNvPr id="16" name="Text 14"/>
          <p:cNvSpPr/>
          <p:nvPr/>
        </p:nvSpPr>
        <p:spPr>
          <a:xfrm>
            <a:off x="365760" y="27432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SENTENCE FRAMES</a:t>
            </a:r>
            <a:endParaRPr lang="en-US" sz="1100" dirty="0"/>
          </a:p>
        </p:txBody>
      </p:sp>
      <p:sp>
        <p:nvSpPr>
          <p:cNvPr id="17" name="Shape 15"/>
          <p:cNvSpPr/>
          <p:nvPr/>
        </p:nvSpPr>
        <p:spPr>
          <a:xfrm>
            <a:off x="365760" y="299923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18" name="Text 16"/>
          <p:cNvSpPr/>
          <p:nvPr/>
        </p:nvSpPr>
        <p:spPr>
          <a:xfrm>
            <a:off x="548640" y="3054096"/>
            <a:ext cx="8046720" cy="667512"/>
          </a:xfrm>
          <a:prstGeom prst="rect">
            <a:avLst/>
          </a:prstGeom>
          <a:noFill/>
          <a:ln/>
        </p:spPr>
        <p:txBody>
          <a:bodyPr wrap="square" lIns="0" tIns="0" rIns="0" bIns="0" rtlCol="0" anchor="t"/>
          <a:lstStyle/>
          <a:p>
            <a:pPr indent="0" marL="0">
              <a:buNone/>
            </a:pPr>
            <a:r>
              <a:rPr lang="en-US" sz="1050" i="1" dirty="0">
                <a:solidFill>
                  <a:srgbClr val="1E293B"/>
                </a:solidFill>
                <a:latin typeface="Calibri" pitchFamily="34" charset="0"/>
                <a:ea typeface="Calibri" pitchFamily="34" charset="-122"/>
                <a:cs typeface="Calibri" pitchFamily="34" charset="-120"/>
              </a:rPr>
              <a:t>Write TWO reasons that support your claim. Use the “because test.” Write two reasons. Each should answer “why” your claim is true. Use the because test.</a:t>
            </a:r>
            <a:endParaRPr lang="en-US" sz="1050" dirty="0"/>
          </a:p>
        </p:txBody>
      </p:sp>
      <p:sp>
        <p:nvSpPr>
          <p:cNvPr id="19" name="Text 17"/>
          <p:cNvSpPr/>
          <p:nvPr/>
        </p:nvSpPr>
        <p:spPr>
          <a:xfrm>
            <a:off x="365760" y="385876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NOW YOU TRY</a:t>
            </a:r>
            <a:endParaRPr lang="en-US" sz="1100" dirty="0"/>
          </a:p>
        </p:txBody>
      </p:sp>
      <p:sp>
        <p:nvSpPr>
          <p:cNvPr id="20" name="Shape 18"/>
          <p:cNvSpPr/>
          <p:nvPr/>
        </p:nvSpPr>
        <p:spPr>
          <a:xfrm>
            <a:off x="365760" y="4114800"/>
            <a:ext cx="8412480" cy="914400"/>
          </a:xfrm>
          <a:prstGeom prst="roundRect">
            <a:avLst>
              <a:gd name="adj" fmla="val 10000"/>
            </a:avLst>
          </a:prstGeom>
          <a:solidFill>
            <a:srgbClr val="FEF6E8"/>
          </a:solidFill>
          <a:ln/>
          <a:effectLst>
            <a:outerShdw sx="100000" sy="100000" kx="0" ky="0" algn="bl" rotWithShape="0" blurRad="101600" dist="38100" dir="2700000">
              <a:srgbClr val="000000">
                <a:alpha val="12000"/>
              </a:srgbClr>
            </a:outerShdw>
          </a:effectLst>
        </p:spPr>
      </p:sp>
      <p:sp>
        <p:nvSpPr>
          <p:cNvPr id="21" name="Text 19"/>
          <p:cNvSpPr/>
          <p:nvPr/>
        </p:nvSpPr>
        <p:spPr>
          <a:xfrm>
            <a:off x="548640" y="4169664"/>
            <a:ext cx="8046720" cy="804672"/>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Write TWO reasons that support your claim. Use the “because test.” Write two reasons. Each should answer “why” your claim is true. Use the because test.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2026-07-12T13:39:51Z</dcterms:created>
  <dcterms:modified xsi:type="dcterms:W3CDTF">2026-07-12T13:39:51Z</dcterms:modified>
</cp:coreProperties>
</file>