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7, Day 4, Chapter 8 — A World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When you are accused of something you didn’t do, how do you prove the truth—and what does loyalty look like?
Reading: I will explain how Johnny’s path from Chapter 1 to Chapter 4 changes his understanding of himself.
Grammar: I will explain how appositives work and justify my comma placement when I write them.
Spelling: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people who watched from the wharfs were mostly woman and child who kept very quiet so the british would not notice"
Corrected: "The people who watched from the wharves were mostly women and children who kept very quiet so the British would not notice."
Compare with the model: “Wharfs”→“wharves” (irregular plural of wharf). “Woman”→“women” and “child”→“children” are irregular plurals. “British” is a proper adjective—capital. “The people” starts the sentence—capital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people who watched from the wharfs were mostly woman and child who kept very quiet so the british would not notice"
Corrected: "The people who watched from the wharves were mostly women and children who kept very quiet so the British would not notice."
Compare with the model: “Wharfs”→“wharves” (irregular plural of wharf). “Woman”→“women” and “child”→“children” are irregular plurals. “British” is a proper adjective—capital. “The people” starts the sentence—capital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optional routine — use it if time allows.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 Practice only today — not the graded strand.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dict vs. scrib/script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Johnny’s Path Through Johnny Tremain — 📍 You are here: Chapter 8 — A World to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argument-writing arc. Stage: Putting It Together. Focus: Learn how to write a strong CONCLUSION—one that echoes your claim, acknowledges what you’ve proven, and leaves the reader with something worth thinking about.
Prompt: Fill in your own Argument Map. Write your claim, two reasons, and one piece of evidence for each reason. Use the map above as your guide. Name your claim about Johnny, write two reasons, and give one specific piece of evidence from the chapters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A1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C7922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C7922C"/>
                </a:solidFill>
                <a:latin typeface="Calibri" pitchFamily="34" charset="0"/>
                <a:ea typeface="Calibri" pitchFamily="34" charset="-122"/>
                <a:cs typeface="Calibri" pitchFamily="34" charset="-120"/>
              </a:rPr>
              <a:t>WEEK 7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Johnny Tremain</a:t>
            </a:r>
            <a:endParaRPr lang="en-US" sz="3000" dirty="0"/>
          </a:p>
          <a:p>
            <a:pPr algn="l" indent="0" marL="0">
              <a:buNone/>
            </a:pPr>
            <a:r>
              <a:rPr lang="en-US" sz="3000" b="1" dirty="0">
                <a:solidFill>
                  <a:srgbClr val="FFFFFF"/>
                </a:solidFill>
                <a:latin typeface="Calibri" pitchFamily="34" charset="0"/>
                <a:ea typeface="Calibri" pitchFamily="34" charset="-122"/>
                <a:cs typeface="Calibri" pitchFamily="34" charset="-120"/>
              </a:rPr>
              <a:t>Chapter 8 — A World to Come</a:t>
            </a:r>
            <a:endParaRPr lang="en-US" sz="30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7  ·  Virtue: Integrity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400" i="1" dirty="0">
                <a:solidFill>
                  <a:srgbClr val="1E293B"/>
                </a:solidFill>
                <a:latin typeface="Calibri" pitchFamily="34" charset="0"/>
                <a:ea typeface="Calibri" pitchFamily="34" charset="-122"/>
                <a:cs typeface="Calibri" pitchFamily="34" charset="-120"/>
              </a:rPr>
              <a:t>When you are accused of something you didn’t do, how do you prove the truth—and what does loyalty look like?</a:t>
            </a:r>
            <a:endParaRPr lang="en-US" sz="14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7744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Reading: </a:t>
            </a:r>
            <a:pPr indent="0" marL="0">
              <a:buNone/>
            </a:pPr>
            <a:r>
              <a:rPr lang="en-US" sz="1400" dirty="0">
                <a:solidFill>
                  <a:srgbClr val="1E293B"/>
                </a:solidFill>
                <a:latin typeface="Calibri" pitchFamily="34" charset="0"/>
                <a:ea typeface="Calibri" pitchFamily="34" charset="-122"/>
                <a:cs typeface="Calibri" pitchFamily="34" charset="-120"/>
              </a:rPr>
              <a:t>I will explain how Johnny’s path from Chapter 1 to Chapter 4 changes his understanding of himself.</a:t>
            </a:r>
            <a:endParaRPr lang="en-US" sz="1600" dirty="0"/>
          </a:p>
        </p:txBody>
      </p:sp>
      <p:sp>
        <p:nvSpPr>
          <p:cNvPr id="10" name="Shape 8"/>
          <p:cNvSpPr/>
          <p:nvPr/>
        </p:nvSpPr>
        <p:spPr>
          <a:xfrm>
            <a:off x="365760" y="310896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200400"/>
            <a:ext cx="8046720" cy="530352"/>
          </a:xfrm>
          <a:prstGeom prst="rect">
            <a:avLst/>
          </a:prstGeom>
          <a:noFill/>
          <a:ln/>
        </p:spPr>
        <p:txBody>
          <a:bodyPr wrap="square" lIns="0" tIns="0" rIns="0" bIns="0" rtlCol="0" anchor="ctr"/>
          <a:lstStyle/>
          <a:p>
            <a:pPr indent="0" marL="0">
              <a:buNone/>
            </a:pPr>
            <a:r>
              <a:rPr lang="en-US" sz="1600" dirty="0">
                <a:solidFill>
                  <a:srgbClr val="000000"/>
                </a:solidFill>
              </a:rPr>
              <a:t>✏️  </a:t>
            </a:r>
            <a:pPr indent="0" marL="0">
              <a:buNone/>
            </a:pPr>
            <a:r>
              <a:rPr lang="en-US" sz="1400" b="1" dirty="0">
                <a:solidFill>
                  <a:srgbClr val="0E1C42"/>
                </a:solidFill>
                <a:latin typeface="Calibri" pitchFamily="34" charset="0"/>
                <a:ea typeface="Calibri" pitchFamily="34" charset="-122"/>
                <a:cs typeface="Calibri" pitchFamily="34" charset="-120"/>
              </a:rPr>
              <a:t>Grammar: </a:t>
            </a:r>
            <a:pPr indent="0" marL="0">
              <a:buNone/>
            </a:pPr>
            <a:r>
              <a:rPr lang="en-US" sz="1400" dirty="0">
                <a:solidFill>
                  <a:srgbClr val="1E293B"/>
                </a:solidFill>
                <a:latin typeface="Calibri" pitchFamily="34" charset="0"/>
                <a:ea typeface="Calibri" pitchFamily="34" charset="-122"/>
                <a:cs typeface="Calibri" pitchFamily="34" charset="-120"/>
              </a:rPr>
              <a:t>I will explain how appositives work and justify my comma placement when I write them.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Pause &amp; Think as you read — watch for these moments:</a:t>
            </a:r>
            <a:endParaRPr lang="en-US" sz="13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 AS YOU READ</a:t>
            </a:r>
            <a:endParaRPr lang="en-US" sz="1100" dirty="0"/>
          </a:p>
        </p:txBody>
      </p:sp>
      <p:sp>
        <p:nvSpPr>
          <p:cNvPr id="8" name="Shape 6"/>
          <p:cNvSpPr/>
          <p:nvPr/>
        </p:nvSpPr>
        <p:spPr>
          <a:xfrm>
            <a:off x="365760" y="2606040"/>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9192"/>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Longfellow writes “Listen, my children”—directly addressing his readers as if telling a story around a fire. We are now at the eve of the events this poem describes. Chapter 8 shows the political pressure building in Boston. How does reading the poem before those events unfold change the feeling of the poem? What does it mean to know history is already coming?</a:t>
            </a:r>
            <a:endParaRPr lang="en-US" sz="1300" dirty="0"/>
          </a:p>
        </p:txBody>
      </p:sp>
      <p:sp>
        <p:nvSpPr>
          <p:cNvPr id="10" name="Shape 8"/>
          <p:cNvSpPr/>
          <p:nvPr/>
        </p:nvSpPr>
        <p:spPr>
          <a:xfrm>
            <a:off x="365760" y="331927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39242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Miss Lavinia asks for Doctor Warren even though he is a known rebel. Why might she do this? What does her choice reveal about her—and about the limits of political loyalty when someone you love is in danger?</a:t>
            </a:r>
            <a:endParaRPr lang="en-US" sz="1300" dirty="0"/>
          </a:p>
        </p:txBody>
      </p:sp>
      <p:sp>
        <p:nvSpPr>
          <p:cNvPr id="12" name="Shape 10"/>
          <p:cNvSpPr/>
          <p:nvPr/>
        </p:nvSpPr>
        <p:spPr>
          <a:xfrm>
            <a:off x="365760" y="403250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410565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The accident just happened. How will this change Johnny’s life? Think about everything silversmithing meant to him—his identity, his income, his future. What has he lost?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Boxes of tea, hundreds of chests full, were tossed from the ship’s decks by the men disguised as Mohawks.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Boxes of tea,  </a:t>
            </a:r>
            <a:pPr indent="0" marL="0">
              <a:buNone/>
            </a:pPr>
            <a:r>
              <a:rPr lang="en-US" sz="1200" dirty="0">
                <a:solidFill>
                  <a:srgbClr val="1E293B"/>
                </a:solidFill>
                <a:latin typeface="Calibri" pitchFamily="34" charset="0"/>
                <a:ea typeface="Calibri" pitchFamily="34" charset="-122"/>
                <a:cs typeface="Calibri" pitchFamily="34" charset="-120"/>
              </a:rPr>
              <a:t>“Boxes of tea”—the plural of “box” is “boxes” (Rule 2: add -es after -x).</a:t>
            </a:r>
            <a:endParaRPr lang="en-US" sz="13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men  </a:t>
            </a:r>
            <a:pPr indent="0" marL="0">
              <a:buNone/>
            </a:pPr>
            <a:r>
              <a:rPr lang="en-US" sz="1200" dirty="0">
                <a:solidFill>
                  <a:srgbClr val="1E293B"/>
                </a:solidFill>
                <a:latin typeface="Calibri" pitchFamily="34" charset="0"/>
                <a:ea typeface="Calibri" pitchFamily="34" charset="-122"/>
                <a:cs typeface="Calibri" pitchFamily="34" charset="-120"/>
              </a:rPr>
              <a:t>“Men” is the irregular plural of “man”—not “mans.” No rule; must be memorized.</a:t>
            </a:r>
            <a:endParaRPr lang="en-US" sz="13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Mohawks.  </a:t>
            </a:r>
            <a:pPr indent="0" marL="0">
              <a:buNone/>
            </a:pPr>
            <a:r>
              <a:rPr lang="en-US" sz="1200" dirty="0">
                <a:solidFill>
                  <a:srgbClr val="1E293B"/>
                </a:solidFill>
                <a:latin typeface="Calibri" pitchFamily="34" charset="0"/>
                <a:ea typeface="Calibri" pitchFamily="34" charset="-122"/>
                <a:cs typeface="Calibri" pitchFamily="34" charset="-120"/>
              </a:rPr>
              <a:t>“Mohawks” is the plural of “Mohawk”—a regular plural, just add -s.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people who watched from the wharfs were mostly woman and child who kept very quiet so the british would not notice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people who watched from the wharfs were mostly woman and child who kept very quiet so the british would not notice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people who watched from the wharves were mostly women and children who kept very quiet so the British would not notice.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Compare with the model: “Wharfs”→“wharves” (irregular plural of wharf). “Woman”→“women” and “child”→“children” are irregular plurals. “British” is a proper adjective—capital. “The people” starts the sentence—capital 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423160"/>
          </a:xfrm>
          <a:prstGeom prst="roundRect">
            <a:avLst>
              <a:gd name="adj" fmla="val 3774"/>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Paul Revere’s Ride (stanzas 1–2)</a:t>
            </a:r>
            <a:endParaRPr lang="en-US" sz="20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Henry Wadsworth Longfellow</a:t>
            </a:r>
            <a:endParaRPr lang="en-US" sz="1300" dirty="0"/>
          </a:p>
        </p:txBody>
      </p:sp>
      <p:sp>
        <p:nvSpPr>
          <p:cNvPr id="7" name="Text 5"/>
          <p:cNvSpPr/>
          <p:nvPr/>
        </p:nvSpPr>
        <p:spPr>
          <a:xfrm>
            <a:off x="594360" y="1645920"/>
            <a:ext cx="7955280" cy="155448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Listen, my children, and you shall hear</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Of the midnight ride of Paul Revere,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On the eighteenth of April, in Seventy-five;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Hardly a man is now alive</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Who remembers that famous day and year.</a:t>
            </a:r>
            <a:endParaRPr lang="en-US" sz="1600" dirty="0"/>
          </a:p>
          <a:p>
            <a:pPr indent="0" marL="0">
              <a:buNone/>
            </a:pP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He said to his friend, “If the British march</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By land or sea from the town tonight,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Hang a lantern aloft in the belfry arch</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Of the North Church tower as a signal light,—</a:t>
            </a:r>
            <a:endParaRPr lang="en-US" sz="1600" dirty="0"/>
          </a:p>
          <a:p>
            <a:pPr indent="0" marL="0">
              <a:buNone/>
            </a:pPr>
            <a:r>
              <a:rPr lang="en-US" sz="1600" i="1" dirty="0">
                <a:solidFill>
                  <a:srgbClr val="1E293B"/>
                </a:solidFill>
                <a:latin typeface="Georgia" pitchFamily="34" charset="0"/>
                <a:ea typeface="Georgia" pitchFamily="34" charset="-122"/>
                <a:cs typeface="Georgia" pitchFamily="34" charset="-120"/>
              </a:rPr>
              <a:t>One, if by land, and two, if by sea;”</a:t>
            </a:r>
            <a:endParaRPr lang="en-US" sz="1600" dirty="0"/>
          </a:p>
        </p:txBody>
      </p:sp>
      <p:sp>
        <p:nvSpPr>
          <p:cNvPr id="8" name="Text 6"/>
          <p:cNvSpPr/>
          <p:nvPr/>
        </p:nvSpPr>
        <p:spPr>
          <a:xfrm>
            <a:off x="365760" y="34290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685032"/>
            <a:ext cx="84124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776472"/>
            <a:ext cx="795528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Longfellow writes “Listen, my children”—directly addressing his readers as if telling a story around a fire. We are now at the eve of the events this poem describes. Chapter 8 shows the political pressure building in Boston. How does reading the poem before those events unfold change the feeling of the poem? What does it mean to know history is already coming?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371600"/>
          </a:xfrm>
          <a:prstGeom prst="roundRect">
            <a:avLst>
              <a:gd name="adj" fmla="val 6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1430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Who shows more courage as Boston changes — the Lytes, who flee their country house, or the Observers, who keep meeting in secret? Defend your answer with evidence from Chapter 8. Someone might disagree and say fleeing to protect your family takes courage too. What would you say back?</a:t>
            </a:r>
            <a:endParaRPr lang="en-US" sz="1600" dirty="0"/>
          </a:p>
        </p:txBody>
      </p:sp>
      <p:sp>
        <p:nvSpPr>
          <p:cNvPr id="7" name="Text 5"/>
          <p:cNvSpPr/>
          <p:nvPr/>
        </p:nvSpPr>
        <p:spPr>
          <a:xfrm>
            <a:off x="457200" y="28346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127248"/>
            <a:ext cx="8229600" cy="82296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I think...   →   because...   →   One piece of evidence is...   →   This matters because...   →   Someone might disagree, but...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Who shows more courage as Boston changes — the Lytes, who flee their country house, or the Observers, who keep meeting in secret? Defend your answer with evidence from Chapter 8. Someone might disagree and say fleeing to protect your family takes courage too. What would you say back?</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20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This matters because...</a:t>
            </a:r>
            <a:endParaRPr lang="en-US" sz="1300" dirty="0"/>
          </a:p>
          <a:p>
            <a:pPr indent="0" marL="0">
              <a:buNone/>
            </a:pPr>
            <a:r>
              <a:rPr lang="en-US" sz="120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dict &amp; scrib/script</a:t>
            </a:r>
            <a:endParaRPr lang="en-US" sz="1100" dirty="0"/>
          </a:p>
        </p:txBody>
      </p:sp>
      <p:sp>
        <p:nvSpPr>
          <p:cNvPr id="5" name="Shape 3"/>
          <p:cNvSpPr/>
          <p:nvPr/>
        </p:nvSpPr>
        <p:spPr>
          <a:xfrm>
            <a:off x="365760" y="1097280"/>
            <a:ext cx="8412480" cy="502920"/>
          </a:xfrm>
          <a:prstGeom prst="roundRect">
            <a:avLst>
              <a:gd name="adj" fmla="val 181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393192"/>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You have now seen con-/com- in three chapters of Johnny Tremain . This is your chance to show you understand why the prefix changes form. | Why “com-” before b, m, or p? These three sounds are all made with your lips. When you say “com-” before “b” or “m,” the sounds flow together naturally. “Con-” before “b” would be awkward to say. | Examples: com bine , com mand , com press — all before labial (lip) sounds. | con nect , con flict , con vene — before all other consonants.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 — Choice Menu</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Week 7 Words · Vocabulary Choice</a:t>
            </a:r>
            <a:endParaRPr lang="en-US" sz="1100" dirty="0"/>
          </a:p>
        </p:txBody>
      </p:sp>
      <p:sp>
        <p:nvSpPr>
          <p:cNvPr id="5" name="Shape 3"/>
          <p:cNvSpPr/>
          <p:nvPr/>
        </p:nvSpPr>
        <p:spPr>
          <a:xfrm>
            <a:off x="365760" y="10972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7" name="Shape 5"/>
          <p:cNvSpPr/>
          <p:nvPr/>
        </p:nvSpPr>
        <p:spPr>
          <a:xfrm>
            <a:off x="365760" y="17830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8379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9" name="Shape 7"/>
          <p:cNvSpPr/>
          <p:nvPr/>
        </p:nvSpPr>
        <p:spPr>
          <a:xfrm>
            <a:off x="365760" y="2468880"/>
            <a:ext cx="8412480" cy="621792"/>
          </a:xfrm>
          <a:prstGeom prst="roundRect">
            <a:avLst>
              <a:gd name="adj" fmla="val 14706"/>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5237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
        <p:nvSpPr>
          <p:cNvPr id="11" name="Shape 9"/>
          <p:cNvSpPr/>
          <p:nvPr/>
        </p:nvSpPr>
        <p:spPr>
          <a:xfrm>
            <a:off x="365760" y="3154680"/>
            <a:ext cx="8412480" cy="621792"/>
          </a:xfrm>
          <a:prstGeom prst="roundRect">
            <a:avLst>
              <a:gd name="adj" fmla="val 14706"/>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209544"/>
            <a:ext cx="8046720" cy="51206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undefined  </a:t>
            </a:r>
            <a:pPr indent="0" marL="0">
              <a:buNone/>
            </a:pP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&amp; Justify · Explain appositive rules in Chapter 4 context</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“Rab, the printer’s apprentice at the Boston Observer , listened without pity or false comfort.” “Lavinia Lyte, a tall dark woman of striking beauty , stepped off the gangplank as if the crowd were there to greet her.” Try it: NOUN + comma + [your phrase] + comma + rest of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Rab,</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printer’s apprentice at the Boston Observer,   /   Boston’s most famous publisher,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elderly master silversmith,   /   a ship captain on Hancock’s Wharf,</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Lavinia Lyte,</a:t>
            </a:r>
            <a:pPr indent="0" marL="0">
              <a:buNone/>
            </a:pPr>
            <a:endParaRPr lang="en-US" sz="1200" dirty="0"/>
          </a:p>
          <a:p>
            <a:pPr indent="0" marL="0">
              <a:buNone/>
            </a:pPr>
            <a:r>
              <a:rPr lang="en-US" sz="1100" dirty="0">
                <a:solidFill>
                  <a:srgbClr val="64748B"/>
                </a:solidFill>
                <a:latin typeface="Calibri" pitchFamily="34" charset="0"/>
                <a:ea typeface="Calibri" pitchFamily="34" charset="-122"/>
                <a:cs typeface="Calibri" pitchFamily="34" charset="-120"/>
              </a:rPr>
              <a:t>the judge’s daughter,   /   a tall dark woman newly returned from London,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 Grammar: Appositives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&amp; Justify · Explain appositive rules in Chapter 4 context</a:t>
            </a:r>
            <a:endParaRPr lang="en-US" sz="1100" dirty="0"/>
          </a:p>
        </p:txBody>
      </p:sp>
      <p:sp>
        <p:nvSpPr>
          <p:cNvPr id="7" name="Text 5"/>
          <p:cNvSpPr/>
          <p:nvPr/>
        </p:nvSpPr>
        <p:spPr>
          <a:xfrm>
            <a:off x="365760" y="1078992"/>
            <a:ext cx="8412480" cy="59436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“Rab, the printer’s apprentice at the Boston Observer , listened without pity or false comfort.” “Lavinia Lyte, a tall dark woman of striking beauty , stepped off the gangplank as if the crowd were there to greet her.” Try it: NOUN + comma + [your phrase] + comma + rest of sentence</a:t>
            </a:r>
            <a:endParaRPr lang="en-US" sz="1100" dirty="0"/>
          </a:p>
        </p:txBody>
      </p:sp>
      <p:sp>
        <p:nvSpPr>
          <p:cNvPr id="8" name="Shape 6"/>
          <p:cNvSpPr/>
          <p:nvPr/>
        </p:nvSpPr>
        <p:spPr>
          <a:xfrm>
            <a:off x="365760" y="173736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79222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Rab,
</a:t>
            </a:r>
            <a:pPr indent="0" marL="0">
              <a:buNone/>
            </a:pPr>
            <a:r>
              <a:rPr lang="en-US" sz="1200" b="1" dirty="0">
                <a:solidFill>
                  <a:srgbClr val="34B76F"/>
                </a:solidFill>
                <a:latin typeface="Calibri" pitchFamily="34" charset="0"/>
                <a:ea typeface="Calibri" pitchFamily="34" charset="-122"/>
                <a:cs typeface="Calibri" pitchFamily="34" charset="-120"/>
              </a:rPr>
              <a:t>✅ the printer’s apprentice at the Boston Observer,</a:t>
            </a:r>
            <a:endParaRPr lang="en-US" sz="1200" dirty="0"/>
          </a:p>
        </p:txBody>
      </p:sp>
      <p:sp>
        <p:nvSpPr>
          <p:cNvPr id="10" name="Shape 8"/>
          <p:cNvSpPr/>
          <p:nvPr/>
        </p:nvSpPr>
        <p:spPr>
          <a:xfrm>
            <a:off x="365760" y="246888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52374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Mr. Lapham,
</a:t>
            </a:r>
            <a:pPr indent="0" marL="0">
              <a:buNone/>
            </a:pPr>
            <a:r>
              <a:rPr lang="en-US" sz="1200" b="1" dirty="0">
                <a:solidFill>
                  <a:srgbClr val="34B76F"/>
                </a:solidFill>
                <a:latin typeface="Calibri" pitchFamily="34" charset="0"/>
                <a:ea typeface="Calibri" pitchFamily="34" charset="-122"/>
                <a:cs typeface="Calibri" pitchFamily="34" charset="-120"/>
              </a:rPr>
              <a:t>✅ the elderly master silversmith,</a:t>
            </a:r>
            <a:endParaRPr lang="en-US" sz="1200" dirty="0"/>
          </a:p>
        </p:txBody>
      </p:sp>
      <p:sp>
        <p:nvSpPr>
          <p:cNvPr id="12" name="Shape 10"/>
          <p:cNvSpPr/>
          <p:nvPr/>
        </p:nvSpPr>
        <p:spPr>
          <a:xfrm>
            <a:off x="365760" y="3200400"/>
            <a:ext cx="8412480" cy="658368"/>
          </a:xfrm>
          <a:prstGeom prst="roundRect">
            <a:avLst>
              <a:gd name="adj" fmla="val 13889"/>
            </a:avLst>
          </a:prstGeom>
          <a:solidFill>
            <a:srgbClr val="FFFFFF"/>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255264"/>
            <a:ext cx="8046720" cy="54864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Lavinia Lyte,
</a:t>
            </a:r>
            <a:pPr indent="0" marL="0">
              <a:buNone/>
            </a:pPr>
            <a:r>
              <a:rPr lang="en-US" sz="1200" b="1" dirty="0">
                <a:solidFill>
                  <a:srgbClr val="34B76F"/>
                </a:solidFill>
                <a:latin typeface="Calibri" pitchFamily="34" charset="0"/>
                <a:ea typeface="Calibri" pitchFamily="34" charset="-122"/>
                <a:cs typeface="Calibri" pitchFamily="34" charset="-120"/>
              </a:rPr>
              <a:t>✅ a tall dark woman newly returned from London,</a:t>
            </a:r>
            <a:endParaRPr lang="en-US" sz="1200" dirty="0"/>
          </a:p>
        </p:txBody>
      </p:sp>
      <p:sp>
        <p:nvSpPr>
          <p:cNvPr id="14" name="Shape 12"/>
          <p:cNvSpPr/>
          <p:nvPr/>
        </p:nvSpPr>
        <p:spPr>
          <a:xfrm>
            <a:off x="365760" y="3950208"/>
            <a:ext cx="8412480" cy="685800"/>
          </a:xfrm>
          <a:prstGeom prst="roundRect">
            <a:avLst>
              <a:gd name="adj" fmla="val 13333"/>
            </a:avLst>
          </a:prstGeom>
          <a:solidFill>
            <a:srgbClr val="FEF6E8"/>
          </a:solidFill>
          <a:ln w="12700">
            <a:solidFill>
              <a:srgbClr val="C7922C"/>
            </a:solidFill>
            <a:prstDash val="solid"/>
          </a:ln>
        </p:spPr>
      </p:sp>
      <p:sp>
        <p:nvSpPr>
          <p:cNvPr id="15" name="Text 13"/>
          <p:cNvSpPr/>
          <p:nvPr/>
        </p:nvSpPr>
        <p:spPr>
          <a:xfrm>
            <a:off x="548640" y="40050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Write a sentence using that word, then explain how the root helps you understand its meaning.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 Spelling: dict vs. scrib/script Roots</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words by root pattern</a:t>
            </a:r>
            <a:endParaRPr lang="en-US" sz="1100" dirty="0"/>
          </a:p>
        </p:txBody>
      </p:sp>
      <p:sp>
        <p:nvSpPr>
          <p:cNvPr id="7" name="Text 5"/>
          <p:cNvSpPr/>
          <p:nvPr/>
        </p:nvSpPr>
        <p:spPr>
          <a:xfrm>
            <a:off x="36576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dict (say / declare)</a:t>
            </a:r>
            <a:endParaRPr lang="en-US" sz="1300" dirty="0"/>
          </a:p>
        </p:txBody>
      </p:sp>
      <p:sp>
        <p:nvSpPr>
          <p:cNvPr id="8" name="Text 6"/>
          <p:cNvSpPr/>
          <p:nvPr/>
        </p:nvSpPr>
        <p:spPr>
          <a:xfrm>
            <a:off x="36576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dictate  ·  predict  ·  verdict</a:t>
            </a:r>
            <a:endParaRPr lang="en-US" sz="1300" dirty="0"/>
          </a:p>
        </p:txBody>
      </p:sp>
      <p:sp>
        <p:nvSpPr>
          <p:cNvPr id="9" name="Text 7"/>
          <p:cNvSpPr/>
          <p:nvPr/>
        </p:nvSpPr>
        <p:spPr>
          <a:xfrm>
            <a:off x="4663440" y="1143000"/>
            <a:ext cx="402336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scrib / script (write)</a:t>
            </a:r>
            <a:endParaRPr lang="en-US" sz="1300" dirty="0"/>
          </a:p>
        </p:txBody>
      </p:sp>
      <p:sp>
        <p:nvSpPr>
          <p:cNvPr id="10" name="Text 8"/>
          <p:cNvSpPr/>
          <p:nvPr/>
        </p:nvSpPr>
        <p:spPr>
          <a:xfrm>
            <a:off x="4663440" y="1508760"/>
            <a:ext cx="402336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prescribe  ·  scripture  ·  inscribe  ·  description  ·  manuscript</a:t>
            </a:r>
            <a:endParaRPr lang="en-US" sz="1300" dirty="0"/>
          </a:p>
        </p:txBody>
      </p:sp>
      <p:sp>
        <p:nvSpPr>
          <p:cNvPr id="11" name="Shape 9"/>
          <p:cNvSpPr/>
          <p:nvPr/>
        </p:nvSpPr>
        <p:spPr>
          <a:xfrm>
            <a:off x="365760" y="3264408"/>
            <a:ext cx="8412480" cy="685800"/>
          </a:xfrm>
          <a:prstGeom prst="roundRect">
            <a:avLst>
              <a:gd name="adj" fmla="val 13333"/>
            </a:avLst>
          </a:prstGeom>
          <a:solidFill>
            <a:srgbClr val="FEF6E8"/>
          </a:solidFill>
          <a:ln w="12700">
            <a:solidFill>
              <a:srgbClr val="C7922C"/>
            </a:solidFill>
            <a:prstDash val="solid"/>
          </a:ln>
        </p:spPr>
      </p:sp>
      <p:sp>
        <p:nvSpPr>
          <p:cNvPr id="12" name="Text 10"/>
          <p:cNvSpPr/>
          <p:nvPr/>
        </p:nvSpPr>
        <p:spPr>
          <a:xfrm>
            <a:off x="548640" y="3319272"/>
            <a:ext cx="8046720" cy="54864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00" i="1" dirty="0">
                <a:solidFill>
                  <a:srgbClr val="1E293B"/>
                </a:solidFill>
                <a:latin typeface="Calibri" pitchFamily="34" charset="0"/>
                <a:ea typeface="Calibri" pitchFamily="34" charset="-122"/>
                <a:cs typeface="Calibri" pitchFamily="34" charset="-120"/>
              </a:rPr>
              <a:t>Choose one word with the root scrib or script . Write a sentence using that word, then explain how the root helps you understand its meaning.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6492240" y="173736"/>
            <a:ext cx="2286000" cy="502920"/>
          </a:xfrm>
          <a:prstGeom prst="roundRect">
            <a:avLst>
              <a:gd name="adj" fmla="val 21818"/>
            </a:avLst>
          </a:prstGeom>
          <a:solidFill>
            <a:srgbClr val="C7922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Johnny’s Path Through Johnny Tremain — 📍 You are here: Chapter 8 — A World to Come</a:t>
            </a:r>
            <a:endParaRPr lang="en-US" sz="130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8 — A World to Come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200" i="1" dirty="0">
                <a:solidFill>
                  <a:srgbClr val="1E293B"/>
                </a:solidFill>
                <a:latin typeface="Calibri" pitchFamily="34" charset="0"/>
                <a:ea typeface="Calibri" pitchFamily="34" charset="-122"/>
                <a:cs typeface="Calibri" pitchFamily="34" charset="-120"/>
              </a:rPr>
              <a:t>Longfellow writes “Listen, my children”—directly addressing his readers as if telling a story around a fire. We are now at the eve of the events this poem describes. Chapter 8 shows the political pressure building in Boston. How does reading the poem before those events unfold change the feeling of the poem? What does it mean to know history is already coming?</a:t>
            </a:r>
            <a:endParaRPr lang="en-US" sz="1200" dirty="0"/>
          </a:p>
          <a:p>
            <a:pPr indent="0" marL="0">
              <a:buNone/>
            </a:pPr>
            <a:endParaRPr lang="en-US" sz="1200" dirty="0"/>
          </a:p>
          <a:p>
            <a:pPr indent="0" marL="0">
              <a:buNone/>
            </a:pPr>
            <a:r>
              <a:rPr lang="en-US" sz="1200" i="1" dirty="0">
                <a:solidFill>
                  <a:srgbClr val="1E293B"/>
                </a:solidFill>
                <a:latin typeface="Calibri" pitchFamily="34" charset="0"/>
                <a:ea typeface="Calibri" pitchFamily="34" charset="-122"/>
                <a:cs typeface="Calibri" pitchFamily="34" charset="-120"/>
              </a:rPr>
              <a:t>Miss Lavinia asks for Doctor Warren even though he is a known rebel. Why might she do this? What does her choice reveal about her—and about the limits of political loyalty when someone you love is in danger?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Why are the Lytes forced to flee their country house in Milton? What does their flight tell you about how the balance of power in Boston is shifting?</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When Johnny catches a glimpse of Cilla sitting on the coach box beside the coachman, what does he think? What does his reaction reveal about his feelings toward her?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C7922C"/>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Think across Chapters 5 through 8: how has Johnny changed since we first met him in Chapter 1? Use details from at least two different chapters.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 — Argument Writing</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THIS WEEK'S ARGUMENT-WRITING ARC</a:t>
            </a:r>
            <a:endParaRPr lang="en-US" sz="1100" dirty="0"/>
          </a:p>
        </p:txBody>
      </p:sp>
      <p:sp>
        <p:nvSpPr>
          <p:cNvPr id="5" name="Shape 3"/>
          <p:cNvSpPr/>
          <p:nvPr/>
        </p:nvSpPr>
        <p:spPr>
          <a:xfrm>
            <a:off x="365760" y="1115568"/>
            <a:ext cx="2029968" cy="502920"/>
          </a:xfrm>
          <a:prstGeom prst="roundRect">
            <a:avLst>
              <a:gd name="adj" fmla="val 14545"/>
            </a:avLst>
          </a:prstGeom>
          <a:solidFill>
            <a:srgbClr val="E8F8EF"/>
          </a:solidFill>
          <a:ln/>
        </p:spPr>
      </p:sp>
      <p:sp>
        <p:nvSpPr>
          <p:cNvPr id="6" name="Text 4"/>
          <p:cNvSpPr/>
          <p:nvPr/>
        </p:nvSpPr>
        <p:spPr>
          <a:xfrm>
            <a:off x="39319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Reasons</a:t>
            </a:r>
            <a:endParaRPr lang="en-US" sz="950" dirty="0"/>
          </a:p>
        </p:txBody>
      </p:sp>
      <p:sp>
        <p:nvSpPr>
          <p:cNvPr id="7" name="Shape 5"/>
          <p:cNvSpPr/>
          <p:nvPr/>
        </p:nvSpPr>
        <p:spPr>
          <a:xfrm>
            <a:off x="2468880" y="1115568"/>
            <a:ext cx="2029968" cy="502920"/>
          </a:xfrm>
          <a:prstGeom prst="roundRect">
            <a:avLst>
              <a:gd name="adj" fmla="val 14545"/>
            </a:avLst>
          </a:prstGeom>
          <a:solidFill>
            <a:srgbClr val="E8F8EF"/>
          </a:solidFill>
          <a:ln/>
        </p:spPr>
      </p:sp>
      <p:sp>
        <p:nvSpPr>
          <p:cNvPr id="8" name="Text 6"/>
          <p:cNvSpPr/>
          <p:nvPr/>
        </p:nvSpPr>
        <p:spPr>
          <a:xfrm>
            <a:off x="2496312" y="1115568"/>
            <a:ext cx="1975104" cy="502920"/>
          </a:xfrm>
          <a:prstGeom prst="rect">
            <a:avLst/>
          </a:prstGeom>
          <a:noFill/>
          <a:ln/>
        </p:spPr>
        <p:txBody>
          <a:bodyPr wrap="square" lIns="0" tIns="0" rIns="0" bIns="0" rtlCol="0" anchor="ctr"/>
          <a:lstStyle/>
          <a:p>
            <a:pPr algn="ctr" indent="0" marL="0">
              <a:buNone/>
            </a:pPr>
            <a:r>
              <a:rPr lang="en-US" sz="950" dirty="0">
                <a:solidFill>
                  <a:srgbClr val="34B76F"/>
                </a:solidFill>
                <a:latin typeface="Calibri" pitchFamily="34" charset="0"/>
                <a:ea typeface="Calibri" pitchFamily="34" charset="-122"/>
                <a:cs typeface="Calibri" pitchFamily="34" charset="-120"/>
              </a:rPr>
              <a:t>Evidence</a:t>
            </a:r>
            <a:endParaRPr lang="en-US" sz="950" dirty="0"/>
          </a:p>
        </p:txBody>
      </p:sp>
      <p:sp>
        <p:nvSpPr>
          <p:cNvPr id="9" name="Shape 7"/>
          <p:cNvSpPr/>
          <p:nvPr/>
        </p:nvSpPr>
        <p:spPr>
          <a:xfrm>
            <a:off x="4572000" y="1115568"/>
            <a:ext cx="2029968" cy="502920"/>
          </a:xfrm>
          <a:prstGeom prst="roundRect">
            <a:avLst>
              <a:gd name="adj" fmla="val 14545"/>
            </a:avLst>
          </a:prstGeom>
          <a:solidFill>
            <a:srgbClr val="34B76F"/>
          </a:solidFill>
          <a:ln/>
        </p:spPr>
      </p:sp>
      <p:sp>
        <p:nvSpPr>
          <p:cNvPr id="10" name="Text 8"/>
          <p:cNvSpPr/>
          <p:nvPr/>
        </p:nvSpPr>
        <p:spPr>
          <a:xfrm>
            <a:off x="4599432" y="1115568"/>
            <a:ext cx="1975104"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Putting It Together</a:t>
            </a:r>
            <a:endParaRPr lang="en-US" sz="950" dirty="0"/>
          </a:p>
        </p:txBody>
      </p:sp>
      <p:sp>
        <p:nvSpPr>
          <p:cNvPr id="11" name="Shape 9"/>
          <p:cNvSpPr/>
          <p:nvPr/>
        </p:nvSpPr>
        <p:spPr>
          <a:xfrm>
            <a:off x="6675120" y="1115568"/>
            <a:ext cx="2029968" cy="502920"/>
          </a:xfrm>
          <a:prstGeom prst="roundRect">
            <a:avLst>
              <a:gd name="adj" fmla="val 14545"/>
            </a:avLst>
          </a:prstGeom>
          <a:solidFill>
            <a:srgbClr val="F8FAFC"/>
          </a:solidFill>
          <a:ln/>
        </p:spPr>
      </p:sp>
      <p:sp>
        <p:nvSpPr>
          <p:cNvPr id="12" name="Text 10"/>
          <p:cNvSpPr/>
          <p:nvPr/>
        </p:nvSpPr>
        <p:spPr>
          <a:xfrm>
            <a:off x="6702552" y="1115568"/>
            <a:ext cx="1975104" cy="50292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Draft</a:t>
            </a:r>
            <a:endParaRPr lang="en-US" sz="950" dirty="0"/>
          </a:p>
        </p:txBody>
      </p:sp>
      <p:sp>
        <p:nvSpPr>
          <p:cNvPr id="13" name="Text 11"/>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 — PUTTING IT TOGETHER</a:t>
            </a:r>
            <a:endParaRPr lang="en-US" sz="1100" dirty="0"/>
          </a:p>
        </p:txBody>
      </p:sp>
      <p:sp>
        <p:nvSpPr>
          <p:cNvPr id="14" name="Shape 12"/>
          <p:cNvSpPr/>
          <p:nvPr/>
        </p:nvSpPr>
        <p:spPr>
          <a:xfrm>
            <a:off x="365760" y="2029968"/>
            <a:ext cx="8412480" cy="603504"/>
          </a:xfrm>
          <a:prstGeom prst="roundRect">
            <a:avLst>
              <a:gd name="adj" fmla="val 15152"/>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2084832"/>
            <a:ext cx="8046720" cy="493776"/>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Learn how to write a strong CONCLUSION—one that echoes your claim, acknowledges what you’ve proven, and leaves the reader with something worth thinking about.</a:t>
            </a:r>
            <a:endParaRPr lang="en-US" sz="1300" dirty="0"/>
          </a:p>
        </p:txBody>
      </p:sp>
      <p:sp>
        <p:nvSpPr>
          <p:cNvPr id="16" name="Text 14"/>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SENTENCE FRAMES</a:t>
            </a:r>
            <a:endParaRPr lang="en-US" sz="1100" dirty="0"/>
          </a:p>
        </p:txBody>
      </p:sp>
      <p:sp>
        <p:nvSpPr>
          <p:cNvPr id="17" name="Shape 15"/>
          <p:cNvSpPr/>
          <p:nvPr/>
        </p:nvSpPr>
        <p:spPr>
          <a:xfrm>
            <a:off x="365760" y="299923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3054096"/>
            <a:ext cx="8046720" cy="667512"/>
          </a:xfrm>
          <a:prstGeom prst="rect">
            <a:avLst/>
          </a:prstGeom>
          <a:noFill/>
          <a:ln/>
        </p:spPr>
        <p:txBody>
          <a:bodyPr wrap="square" lIns="0" tIns="0" rIns="0" bIns="0" rtlCol="0" anchor="t"/>
          <a:lstStyle/>
          <a:p>
            <a:pPr indent="0" marL="0">
              <a:buNone/>
            </a:pPr>
            <a:r>
              <a:rPr lang="en-US" sz="1050" i="1" dirty="0">
                <a:solidFill>
                  <a:srgbClr val="1E293B"/>
                </a:solidFill>
                <a:latin typeface="Calibri" pitchFamily="34" charset="0"/>
                <a:ea typeface="Calibri" pitchFamily="34" charset="-122"/>
                <a:cs typeface="Calibri" pitchFamily="34" charset="-120"/>
              </a:rPr>
              <a:t>Fill in your own Argument Map. Write your claim, two reasons, and one piece of evidence for each reason. Use the map above as your guide. Name your claim about Johnny, write two reasons, and give one specific piece of evidence from the chapters for each.</a:t>
            </a:r>
            <a:endParaRPr lang="en-US" sz="1050" dirty="0"/>
          </a:p>
        </p:txBody>
      </p:sp>
      <p:sp>
        <p:nvSpPr>
          <p:cNvPr id="19" name="Text 17"/>
          <p:cNvSpPr/>
          <p:nvPr/>
        </p:nvSpPr>
        <p:spPr>
          <a:xfrm>
            <a:off x="365760" y="385876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NOW YOU TRY</a:t>
            </a:r>
            <a:endParaRPr lang="en-US" sz="1100" dirty="0"/>
          </a:p>
        </p:txBody>
      </p:sp>
      <p:sp>
        <p:nvSpPr>
          <p:cNvPr id="20" name="Shape 18"/>
          <p:cNvSpPr/>
          <p:nvPr/>
        </p:nvSpPr>
        <p:spPr>
          <a:xfrm>
            <a:off x="365760" y="4114800"/>
            <a:ext cx="8412480" cy="914400"/>
          </a:xfrm>
          <a:prstGeom prst="roundRect">
            <a:avLst>
              <a:gd name="adj" fmla="val 10000"/>
            </a:avLst>
          </a:prstGeom>
          <a:solidFill>
            <a:srgbClr val="FEF6E8"/>
          </a:solidFill>
          <a:ln/>
          <a:effectLst>
            <a:outerShdw sx="100000" sy="100000" kx="0" ky="0" algn="bl" rotWithShape="0" blurRad="101600" dist="38100" dir="2700000">
              <a:srgbClr val="000000">
                <a:alpha val="12000"/>
              </a:srgbClr>
            </a:outerShdw>
          </a:effectLst>
        </p:spPr>
      </p:sp>
      <p:sp>
        <p:nvSpPr>
          <p:cNvPr id="21" name="Text 19"/>
          <p:cNvSpPr/>
          <p:nvPr/>
        </p:nvSpPr>
        <p:spPr>
          <a:xfrm>
            <a:off x="548640" y="4169664"/>
            <a:ext cx="80467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Fill in your own Argument Map. Write your claim, two reasons, and one piece of evidence for each reason. Use the map above as your guide. Name your claim about Johnny, write two reasons, and give one specific piece of evidence from the chapters for each.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2026-07-12T13:39:51Z</dcterms:created>
  <dcterms:modified xsi:type="dcterms:W3CDTF">2026-07-12T13:39:51Z</dcterms:modified>
</cp:coreProperties>
</file>