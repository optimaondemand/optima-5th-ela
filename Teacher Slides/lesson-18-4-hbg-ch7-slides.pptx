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18, Day 4, Chapter 7 — Snow Monsters. Historical content note: this novel is narrated by a Choctaw boy during the Trail of Tears / removal era — handle with the same care as the source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Isaac tells you on the first page that he is already a ghost. How does knowing the ending change how you feel as you read the beginning?
Reading: I will analyze Isaac's first-person narrative voice in Chapter 1.
Grammar: I will identify appositives in sentences from Chapter 1.
Spelling: I will sort historical vocabulary words by syllable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"i was picked up by my father and i was held by him close to him"
Corrected: "My father picked me up and held me close."
“Picked me up and held me close” is simple but precise. Passive voice (“was picked up by”) loses the warmth. Shorter and stronger.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"i was picked up by my father and i was held by him close to him"
Corrected: "My father picked me up and held me close."
“Picked me up and held me close” is simple but precise. Passive voice (“was picked up by”) loses the warmth. Shorter and stronger.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Does this detail actually support what I'm trying to say, or is it just filler?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review — same word set practiced across the week (match/identify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tap/discuss and guess the appositive.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word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Open &amp; Closed Syllables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Isaac’s Path — 📍 Chapter 7 — Snow Monsters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SUBMIT
Focus: Developing First-Person Voice
Task: Today is the Submit stage. Write a clean, final version of your moment — 5–7 sentences. Include: a specific opening, at least one inside detail, and a strong closing line. Then write one sentence about what you learned from Isaac about how to tell a story from the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0A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8B6FC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8B6FC0"/>
                </a:solidFill>
                <a:latin typeface="Calibri" pitchFamily="34" charset="0"/>
                <a:ea typeface="Calibri" pitchFamily="34" charset="-122"/>
                <a:cs typeface="Calibri" pitchFamily="34" charset="-120"/>
              </a:rPr>
              <a:t>WEEK 18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How I Became a Ghost</a:t>
            </a:r>
            <a:endParaRPr lang="en-US" sz="2800" dirty="0"/>
          </a:p>
          <a:p>
            <a:pPr algn="l" indent="0" marL="0">
              <a:buNone/>
            </a:pPr>
            <a:r>
              <a:rPr lang="en-US" sz="2800" b="1" dirty="0">
                <a:solidFill>
                  <a:srgbClr val="FFFFFF"/>
                </a:solidFill>
                <a:latin typeface="Calibri" pitchFamily="34" charset="0"/>
                <a:ea typeface="Calibri" pitchFamily="34" charset="-122"/>
                <a:cs typeface="Calibri" pitchFamily="34" charset="-120"/>
              </a:rPr>
              <a:t>Chapter 7 — Snow Monsters</a:t>
            </a:r>
            <a:endParaRPr lang="en-US" sz="28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18  ·  Courage &amp; Remembrance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Isaac tells you on the first page that he is already a ghost. How does knowing the ending change how you feel as you read the beginning?</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Isaac's first-person narrative voice in Chapter 1.</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a:t>
            </a:r>
            <a:pPr indent="0" marL="0">
              <a:buNone/>
            </a:pPr>
            <a:r>
              <a:rPr lang="en-US" sz="1250" dirty="0">
                <a:solidFill>
                  <a:srgbClr val="1E293B"/>
                </a:solidFill>
                <a:latin typeface="Calibri" pitchFamily="34" charset="0"/>
                <a:ea typeface="Calibri" pitchFamily="34" charset="-122"/>
                <a:cs typeface="Calibri" pitchFamily="34" charset="-120"/>
              </a:rPr>
              <a:t>I will identify appositives in sentences from Chapter 1.</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a:t>
            </a:r>
            <a:pPr indent="0" marL="0">
              <a:buNone/>
            </a:pPr>
            <a:r>
              <a:rPr lang="en-US" sz="1250" dirty="0">
                <a:solidFill>
                  <a:srgbClr val="1E293B"/>
                </a:solidFill>
                <a:latin typeface="Calibri" pitchFamily="34" charset="0"/>
                <a:ea typeface="Calibri" pitchFamily="34" charset="-122"/>
                <a:cs typeface="Calibri" pitchFamily="34" charset="-120"/>
              </a:rPr>
              <a:t>I will sort historical vocabulary words by syllable count.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554480"/>
          </a:xfrm>
          <a:prstGeom prst="roundRect">
            <a:avLst>
              <a:gd name="adj" fmla="val 58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13716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notice when an author shifts the tone. Chapter 7 is funny — really funny — in the middle of a survival story. As you read, ask yourself: why would Tim Tingle put this chapter HERE? What is he saying about Isaac’s family and what they carry with them?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My father picked me up and held me close.</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father  </a:t>
            </a:r>
            <a:pPr indent="0" marL="0">
              <a:buNone/>
            </a:pPr>
            <a:r>
              <a:rPr lang="en-US" sz="1150" dirty="0">
                <a:solidFill>
                  <a:srgbClr val="1E293B"/>
                </a:solidFill>
                <a:latin typeface="Calibri" pitchFamily="34" charset="0"/>
                <a:ea typeface="Calibri" pitchFamily="34" charset="-122"/>
                <a:cs typeface="Calibri" pitchFamily="34" charset="-120"/>
              </a:rPr>
              <a:t>Subject — Father acts.</a:t>
            </a:r>
            <a:endParaRPr lang="en-US" sz="1250" dirty="0"/>
          </a:p>
        </p:txBody>
      </p:sp>
      <p:sp>
        <p:nvSpPr>
          <p:cNvPr id="10" name="Shape 8"/>
          <p:cNvSpPr/>
          <p:nvPr/>
        </p:nvSpPr>
        <p:spPr>
          <a:xfrm>
            <a:off x="365760" y="288950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935224"/>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picked  </a:t>
            </a:r>
            <a:pPr indent="0" marL="0">
              <a:buNone/>
            </a:pPr>
            <a:r>
              <a:rPr lang="en-US" sz="1150" dirty="0">
                <a:solidFill>
                  <a:srgbClr val="1E293B"/>
                </a:solidFill>
                <a:latin typeface="Calibri" pitchFamily="34" charset="0"/>
                <a:ea typeface="Calibri" pitchFamily="34" charset="-122"/>
                <a:cs typeface="Calibri" pitchFamily="34" charset="-120"/>
              </a:rPr>
              <a:t>Strong physical verb.</a:t>
            </a:r>
            <a:endParaRPr lang="en-US" sz="1250" dirty="0"/>
          </a:p>
        </p:txBody>
      </p:sp>
      <p:sp>
        <p:nvSpPr>
          <p:cNvPr id="12" name="Shape 10"/>
          <p:cNvSpPr/>
          <p:nvPr/>
        </p:nvSpPr>
        <p:spPr>
          <a:xfrm>
            <a:off x="365760" y="3401568"/>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447288"/>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held  </a:t>
            </a:r>
            <a:pPr indent="0" marL="0">
              <a:buNone/>
            </a:pPr>
            <a:r>
              <a:rPr lang="en-US" sz="1150" dirty="0">
                <a:solidFill>
                  <a:srgbClr val="1E293B"/>
                </a:solidFill>
                <a:latin typeface="Calibri" pitchFamily="34" charset="0"/>
                <a:ea typeface="Calibri" pitchFamily="34" charset="-122"/>
                <a:cs typeface="Calibri" pitchFamily="34" charset="-120"/>
              </a:rPr>
              <a:t>Strong verb — warmth in one word.</a:t>
            </a:r>
            <a:endParaRPr lang="en-US" sz="1250" dirty="0"/>
          </a:p>
        </p:txBody>
      </p:sp>
      <p:sp>
        <p:nvSpPr>
          <p:cNvPr id="14" name="Shape 12"/>
          <p:cNvSpPr/>
          <p:nvPr/>
        </p:nvSpPr>
        <p:spPr>
          <a:xfrm>
            <a:off x="365760" y="3913632"/>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959352"/>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close.  </a:t>
            </a:r>
            <a:pPr indent="0" marL="0">
              <a:buNone/>
            </a:pPr>
            <a:r>
              <a:rPr lang="en-US" sz="1150" dirty="0">
                <a:solidFill>
                  <a:srgbClr val="1E293B"/>
                </a:solidFill>
                <a:latin typeface="Calibri" pitchFamily="34" charset="0"/>
                <a:ea typeface="Calibri" pitchFamily="34" charset="-122"/>
                <a:cs typeface="Calibri" pitchFamily="34" charset="-120"/>
              </a:rPr>
              <a:t>Period. Simple and powerful.</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 was picked up by my father and i was held by him close to him</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 was picked up by my father and i was held by him close to him</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My father picked me up and held me close.</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“Picked me up and held me close” is simple but precise. Passive voice (“was picked up by”) loses the warmth. Shorter and stronger.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Poetry Corner</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2331720"/>
          </a:xfrm>
          <a:prstGeom prst="roundRect">
            <a:avLst>
              <a:gd name="adj" fmla="val 3922"/>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36576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Nothing Gold Can Stay</a:t>
            </a:r>
            <a:endParaRPr lang="en-US" sz="1900" dirty="0"/>
          </a:p>
        </p:txBody>
      </p:sp>
      <p:sp>
        <p:nvSpPr>
          <p:cNvPr id="6" name="Text 4"/>
          <p:cNvSpPr/>
          <p:nvPr/>
        </p:nvSpPr>
        <p:spPr>
          <a:xfrm>
            <a:off x="594360" y="1325880"/>
            <a:ext cx="79552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by Robert Frost (1923)</a:t>
            </a:r>
            <a:endParaRPr lang="en-US" sz="1300" dirty="0"/>
          </a:p>
        </p:txBody>
      </p:sp>
      <p:sp>
        <p:nvSpPr>
          <p:cNvPr id="7" name="Text 5"/>
          <p:cNvSpPr/>
          <p:nvPr/>
        </p:nvSpPr>
        <p:spPr>
          <a:xfrm>
            <a:off x="594360" y="1627632"/>
            <a:ext cx="7955280" cy="1463040"/>
          </a:xfrm>
          <a:prstGeom prst="rect">
            <a:avLst/>
          </a:prstGeom>
          <a:noFill/>
          <a:ln/>
        </p:spPr>
        <p:txBody>
          <a:bodyPr wrap="square" lIns="0" tIns="0" rIns="0" bIns="0" rtlCol="0" anchor="t"/>
          <a:lstStyle/>
          <a:p>
            <a:pPr indent="0" marL="0">
              <a:buNone/>
            </a:pPr>
            <a:r>
              <a:rPr lang="en-US" sz="1400" i="1" dirty="0">
                <a:solidFill>
                  <a:srgbClr val="1E293B"/>
                </a:solidFill>
                <a:latin typeface="Georgia" pitchFamily="34" charset="0"/>
                <a:ea typeface="Georgia" pitchFamily="34" charset="-122"/>
                <a:cs typeface="Georgia" pitchFamily="34" charset="-120"/>
              </a:rPr>
              <a:t>Nature’s first green is gold,</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Her hardest hue to hold.</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Her early leaf’s a flower;</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But only so an hour.</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Then leaf subsides to leaf.</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So Eden sank to grief,</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So dawn goes down to day.</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Nothing gold can stay.</a:t>
            </a:r>
            <a:endParaRPr lang="en-US" sz="1400" dirty="0"/>
          </a:p>
        </p:txBody>
      </p:sp>
      <p:sp>
        <p:nvSpPr>
          <p:cNvPr id="8" name="Text 6"/>
          <p:cNvSpPr/>
          <p:nvPr/>
        </p:nvSpPr>
        <p:spPr>
          <a:xfrm>
            <a:off x="365760" y="331012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THINK ABOUT THIS</a:t>
            </a:r>
            <a:endParaRPr lang="en-US" sz="1100" dirty="0"/>
          </a:p>
        </p:txBody>
      </p:sp>
      <p:sp>
        <p:nvSpPr>
          <p:cNvPr id="9" name="Shape 7"/>
          <p:cNvSpPr/>
          <p:nvPr/>
        </p:nvSpPr>
        <p:spPr>
          <a:xfrm>
            <a:off x="365760" y="3566160"/>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3657600"/>
            <a:ext cx="7955280" cy="86868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Frost says the most precious things are hardest to keep. What was the “gold” that couldn’t stay for Isaac’s family? And what do they keep, even after everything is taken?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Looking back at Chapters 4-7, which single moment best shows how quickly Isaac's family's world was upended? Defend your answer with evidence from this week's reading.</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Someone might disagree, but...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Looking back at Chapters 4-7, which single moment best shows how quickly Isaac's family's world was upended? Defend your answer with evidence from this week's reading.</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Does this detail actually support what I'm trying to say, or is it just filler?</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Roots mem/memor + script</a:t>
            </a:r>
            <a:endParaRPr lang="en-US" sz="1100" dirty="0"/>
          </a:p>
        </p:txBody>
      </p:sp>
      <p:sp>
        <p:nvSpPr>
          <p:cNvPr id="5" name="Shape 3"/>
          <p:cNvSpPr/>
          <p:nvPr/>
        </p:nvSpPr>
        <p:spPr>
          <a:xfrm>
            <a:off x="365760" y="109728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mem / memor = memory → memoir, memorial, memorize, commemorate script = write → script, inscription, description, manuscript, prescribe</a:t>
            </a:r>
            <a:endParaRPr lang="en-US" sz="1150" dirty="0"/>
          </a:p>
        </p:txBody>
      </p:sp>
      <p:sp>
        <p:nvSpPr>
          <p:cNvPr id="7" name="Shape 5"/>
          <p:cNvSpPr/>
          <p:nvPr/>
        </p:nvSpPr>
        <p:spPr>
          <a:xfrm>
            <a:off x="365760" y="1737360"/>
            <a:ext cx="8412480" cy="566928"/>
          </a:xfrm>
          <a:prstGeom prst="roundRect">
            <a:avLst>
              <a:gd name="adj" fmla="val 16129"/>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9222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commemorate → Root: mem/memor (memory)</a:t>
            </a:r>
            <a:endParaRPr lang="en-US" sz="1150" dirty="0"/>
          </a:p>
        </p:txBody>
      </p:sp>
      <p:sp>
        <p:nvSpPr>
          <p:cNvPr id="9" name="Shape 7"/>
          <p:cNvSpPr/>
          <p:nvPr/>
        </p:nvSpPr>
        <p:spPr>
          <a:xfrm>
            <a:off x="365760" y="237744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3230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manuscript → Root: script (write)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this week's chapters.</a:t>
            </a: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narrator  </a:t>
            </a:r>
            <a:pPr indent="0" marL="0">
              <a:buNone/>
            </a:pPr>
            <a:r>
              <a:rPr lang="en-US" sz="1150" dirty="0">
                <a:solidFill>
                  <a:srgbClr val="1E293B"/>
                </a:solidFill>
                <a:latin typeface="Calibri" pitchFamily="34" charset="0"/>
                <a:ea typeface="Calibri" pitchFamily="34" charset="-122"/>
                <a:cs typeface="Calibri" pitchFamily="34" charset="-120"/>
              </a:rPr>
              <a:t>The person telling the story in their own words.</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treaty  </a:t>
            </a:r>
            <a:pPr indent="0" marL="0">
              <a:buNone/>
            </a:pPr>
            <a:r>
              <a:rPr lang="en-US" sz="1150" dirty="0">
                <a:solidFill>
                  <a:srgbClr val="1E293B"/>
                </a:solidFill>
                <a:latin typeface="Calibri" pitchFamily="34" charset="0"/>
                <a:ea typeface="Calibri" pitchFamily="34" charset="-122"/>
                <a:cs typeface="Calibri" pitchFamily="34" charset="-120"/>
              </a:rPr>
              <a:t>A formal agreement between governments.</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memoir  </a:t>
            </a:r>
            <a:pPr indent="0" marL="0">
              <a:buNone/>
            </a:pPr>
            <a:r>
              <a:rPr lang="en-US" sz="1150" dirty="0">
                <a:solidFill>
                  <a:srgbClr val="1E293B"/>
                </a:solidFill>
                <a:latin typeface="Calibri" pitchFamily="34" charset="0"/>
                <a:ea typeface="Calibri" pitchFamily="34" charset="-122"/>
                <a:cs typeface="Calibri" pitchFamily="34" charset="-120"/>
              </a:rPr>
              <a:t>A written account of events a person lived through.</a:t>
            </a:r>
            <a:endParaRPr lang="en-US" sz="1300" dirty="0"/>
          </a:p>
        </p:txBody>
      </p:sp>
      <p:sp>
        <p:nvSpPr>
          <p:cNvPr id="11" name="Shape 9"/>
          <p:cNvSpPr/>
          <p:nvPr/>
        </p:nvSpPr>
        <p:spPr>
          <a:xfrm>
            <a:off x="365760" y="288036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2608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removal  </a:t>
            </a:r>
            <a:pPr indent="0" marL="0">
              <a:buNone/>
            </a:pPr>
            <a:r>
              <a:rPr lang="en-US" sz="1150" dirty="0">
                <a:solidFill>
                  <a:srgbClr val="1E293B"/>
                </a:solidFill>
                <a:latin typeface="Calibri" pitchFamily="34" charset="0"/>
                <a:ea typeface="Calibri" pitchFamily="34" charset="-122"/>
                <a:cs typeface="Calibri" pitchFamily="34" charset="-120"/>
              </a:rPr>
              <a:t>Being forced from your homeland.</a:t>
            </a:r>
            <a:endParaRPr lang="en-US" sz="1300" dirty="0"/>
          </a:p>
        </p:txBody>
      </p:sp>
      <p:sp>
        <p:nvSpPr>
          <p:cNvPr id="13" name="Shape 11"/>
          <p:cNvSpPr/>
          <p:nvPr/>
        </p:nvSpPr>
        <p:spPr>
          <a:xfrm>
            <a:off x="365760" y="347472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2044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prophecy  </a:t>
            </a:r>
            <a:pPr indent="0" marL="0">
              <a:buNone/>
            </a:pPr>
            <a:r>
              <a:rPr lang="en-US" sz="1150" dirty="0">
                <a:solidFill>
                  <a:srgbClr val="1E293B"/>
                </a:solidFill>
                <a:latin typeface="Calibri" pitchFamily="34" charset="0"/>
                <a:ea typeface="Calibri" pitchFamily="34" charset="-122"/>
                <a:cs typeface="Calibri" pitchFamily="34" charset="-120"/>
              </a:rPr>
              <a:t>A prediction of what will happen in the future.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
</a:t>
            </a:r>
            <a:pPr indent="0" marL="0">
              <a:buNone/>
            </a:pPr>
            <a:r>
              <a:rPr lang="en-US" sz="1200" b="1" dirty="0">
                <a:solidFill>
                  <a:srgbClr val="34B76F"/>
                </a:solidFill>
                <a:latin typeface="Calibri" pitchFamily="34" charset="0"/>
                <a:ea typeface="Calibri" pitchFamily="34" charset="-122"/>
                <a:cs typeface="Calibri" pitchFamily="34" charset="-120"/>
              </a:rPr>
              <a:t>✅ news</a:t>
            </a:r>
            <a:endParaRPr lang="en-US" sz="1150" dirty="0"/>
          </a:p>
        </p:txBody>
      </p:sp>
      <p:sp>
        <p:nvSpPr>
          <p:cNvPr id="16" name="Shape 14"/>
          <p:cNvSpPr/>
          <p:nvPr/>
        </p:nvSpPr>
        <p:spPr>
          <a:xfrm>
            <a:off x="365760" y="4014216"/>
            <a:ext cx="8412480" cy="777240"/>
          </a:xfrm>
          <a:prstGeom prst="roundRect">
            <a:avLst>
              <a:gd name="adj" fmla="val 11765"/>
            </a:avLst>
          </a:prstGeom>
          <a:solidFill>
            <a:srgbClr val="FEF6E8"/>
          </a:solidFill>
          <a:ln w="12700">
            <a:solidFill>
              <a:srgbClr val="C7922C"/>
            </a:solidFill>
            <a:prstDash val="solid"/>
          </a:ln>
        </p:spPr>
      </p:sp>
      <p:sp>
        <p:nvSpPr>
          <p:cNvPr id="17" name="Text 15"/>
          <p:cNvSpPr/>
          <p:nvPr/>
        </p:nvSpPr>
        <p:spPr>
          <a:xfrm>
            <a:off x="548640" y="4087368"/>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Show What You Know
</a:t>
            </a:r>
            <a:pPr indent="0" marL="0">
              <a:buNone/>
            </a:pPr>
            <a:r>
              <a:rPr lang="en-US" sz="1050" i="1" dirty="0">
                <a:solidFill>
                  <a:srgbClr val="1E293B"/>
                </a:solidFill>
                <a:latin typeface="Calibri" pitchFamily="34" charset="0"/>
                <a:ea typeface="Calibri" pitchFamily="34" charset="-122"/>
                <a:cs typeface="Calibri" pitchFamily="34" charset="-120"/>
              </a:rPr>
              <a:t>Read this sentence: “Isaac’s father, a quiet and dignified man, held Mother’s hand.” What is the appositive? What does it tell you about Isaac’s father?</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Spelling: Open &amp; Closed Syllables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the words by their first syllable.</a:t>
            </a:r>
            <a:endParaRPr lang="en-US" sz="1100" dirty="0"/>
          </a:p>
        </p:txBody>
      </p:sp>
      <p:sp>
        <p:nvSpPr>
          <p:cNvPr id="7" name="Text 5"/>
          <p:cNvSpPr/>
          <p:nvPr/>
        </p:nvSpPr>
        <p:spPr>
          <a:xfrm>
            <a:off x="36576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2 syllables</a:t>
            </a:r>
            <a:endParaRPr lang="en-US" sz="1300" dirty="0"/>
          </a:p>
        </p:txBody>
      </p:sp>
      <p:sp>
        <p:nvSpPr>
          <p:cNvPr id="8" name="Text 6"/>
          <p:cNvSpPr/>
          <p:nvPr/>
        </p:nvSpPr>
        <p:spPr>
          <a:xfrm>
            <a:off x="36576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Choctaw</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treaty</a:t>
            </a:r>
            <a:endParaRPr lang="en-US" sz="1300" dirty="0"/>
          </a:p>
        </p:txBody>
      </p:sp>
      <p:sp>
        <p:nvSpPr>
          <p:cNvPr id="9" name="Text 7"/>
          <p:cNvSpPr/>
          <p:nvPr/>
        </p:nvSpPr>
        <p:spPr>
          <a:xfrm>
            <a:off x="316992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4 syllables</a:t>
            </a:r>
            <a:endParaRPr lang="en-US" sz="1300" dirty="0"/>
          </a:p>
        </p:txBody>
      </p:sp>
      <p:sp>
        <p:nvSpPr>
          <p:cNvPr id="10" name="Text 8"/>
          <p:cNvSpPr/>
          <p:nvPr/>
        </p:nvSpPr>
        <p:spPr>
          <a:xfrm>
            <a:off x="316992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Mississippi</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territory</a:t>
            </a:r>
            <a:endParaRPr lang="en-US" sz="1300" dirty="0"/>
          </a:p>
        </p:txBody>
      </p:sp>
      <p:sp>
        <p:nvSpPr>
          <p:cNvPr id="11" name="Text 9"/>
          <p:cNvSpPr/>
          <p:nvPr/>
        </p:nvSpPr>
        <p:spPr>
          <a:xfrm>
            <a:off x="597408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3 syllables</a:t>
            </a:r>
            <a:endParaRPr lang="en-US" sz="1300" dirty="0"/>
          </a:p>
        </p:txBody>
      </p:sp>
      <p:sp>
        <p:nvSpPr>
          <p:cNvPr id="12" name="Text 10"/>
          <p:cNvSpPr/>
          <p:nvPr/>
        </p:nvSpPr>
        <p:spPr>
          <a:xfrm>
            <a:off x="597408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removal</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government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Isaac’s Path — 📍 Chapter 7 — Snow Monsters</a:t>
            </a:r>
            <a:endParaRPr lang="en-US" sz="125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7 — Snow Monsters</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Good readers notice when an author shifts the tone. Chapter 7 is funny — really funny — in the middle of a survival story. As you read, ask yourself: why would Tim Tingle put this chapter HERE? What is he saying about Isaac’s family and what they carry with them?</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1.  </a:t>
            </a:r>
            <a:pPr indent="0" marL="0">
              <a:buNone/>
            </a:pPr>
            <a:r>
              <a:rPr lang="en-US" sz="1150" dirty="0">
                <a:solidFill>
                  <a:srgbClr val="1E293B"/>
                </a:solidFill>
                <a:latin typeface="Calibri" pitchFamily="34" charset="0"/>
                <a:ea typeface="Calibri" pitchFamily="34" charset="-122"/>
                <a:cs typeface="Calibri" pitchFamily="34" charset="-120"/>
              </a:rPr>
              <a:t>The snow monster scene is funny. But why does Tim Tingle include it here, in the middle of a survival story? What does the scene reveal about Isaac’s family and what they value?</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2.  </a:t>
            </a:r>
            <a:pPr indent="0" marL="0">
              <a:buNone/>
            </a:pPr>
            <a:r>
              <a:rPr lang="en-US" sz="1150" dirty="0">
                <a:solidFill>
                  <a:srgbClr val="1E293B"/>
                </a:solidFill>
                <a:latin typeface="Calibri" pitchFamily="34" charset="0"/>
                <a:ea typeface="Calibri" pitchFamily="34" charset="-122"/>
                <a:cs typeface="Calibri" pitchFamily="34" charset="-120"/>
              </a:rPr>
              <a:t>At the end of Chapter 7, Isaac says: “Being a snow monster was better than being a ghost.” What does this mean? What has the afternoon shown him about staying alive?</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3.  </a:t>
            </a:r>
            <a:pPr indent="0" marL="0">
              <a:buNone/>
            </a:pPr>
            <a:r>
              <a:rPr lang="en-US" sz="1150" dirty="0">
                <a:solidFill>
                  <a:srgbClr val="1E293B"/>
                </a:solidFill>
                <a:latin typeface="Calibri" pitchFamily="34" charset="0"/>
                <a:ea typeface="Calibri" pitchFamily="34" charset="-122"/>
                <a:cs typeface="Calibri" pitchFamily="34" charset="-120"/>
              </a:rPr>
              <a:t>Isaac’s father appears in three moments this week: shielding the family in the fire (Ch. 4), hunting and building in the swamp (Ch. 5), and the snow monster game (Ch. 7). What different sides of Father does Tingle show? What does having all three scenes together reveal?</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SUBMIT</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Developing First-Person Voice</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Today is the Submit stage. Write a clean, final version of your moment — 5–7 sentences. Include: a specific opening, at least one inside detail, and a strong closing line. Then write one sentence about what you learned from Isaac about how to tell a story from the inside.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2026-07-13T17:32:02Z</dcterms:created>
  <dcterms:modified xsi:type="dcterms:W3CDTF">2026-07-13T17:32:02Z</dcterms:modified>
</cp:coreProperties>
</file>