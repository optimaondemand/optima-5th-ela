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4, Day 4, Chapter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When your strongest beliefs put someone you love in danger, is holding to your principles courage or cruelty?
Reading: I will explain how theme emerges through repeated conflicts in Ch. 17.
Grammar: I will explain why verb tense consistency matters in narrative writing.
Spelling: I will challenge myself with accent and syllable stress puzzles.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"rachel raise her eyes to matthew and is begging him to sends for the doctor"
Corrected: "Rachel raised her eyes to Matthew and begged him to send for the doctor."
Compare with the model: names are capitalized (Rachel, Matthew). All verbs are past tense (“raised,” “begged”) — not mixed (“raise,” “is begging,” “sends”). “Send” stays base form after “to.” The sentence needs a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"rachel raise her eyes to matthew and is begging him to sends for the doctor"
Corrected: "Rachel raised her eyes to Matthew and begged him to send for the doctor."
Compare with the model: names are capitalized (Rachel, Matthew). All verbs are past tense (“raised,” “begged”) — not mixed (“raise,” “is begging,” “sends”). “Send” stays base form after “to.” The sentence needs a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word I could use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Choice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Accent &amp; Syllable Stress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Kit’s Path Through The Witch of Blackbird Pond — 📍 You are here: Chapter 17 — Illness sweeps Wethersfield; Mercy fights for her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distinct from the Quick Write — it is graded reading-response writing tied directly to today's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4A90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4A90D9"/>
                </a:solidFill>
                <a:latin typeface="Calibri" pitchFamily="34" charset="0"/>
                <a:ea typeface="Calibri" pitchFamily="34" charset="-122"/>
                <a:cs typeface="Calibri" pitchFamily="34" charset="-120"/>
              </a:rPr>
              <a:t>WEEK 4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Witch of Blackbird Pond</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17 — Illness sweeps Wethersfield</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4  ·  Virtue: Perseverance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When your strongest beliefs put someone you love in danger, is holding to your principles courage or cruelty?</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explain how theme emerges through repeated conflicts in Ch. 17.</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explain why verb tense consistency matters in narrative writing.</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challenge myself with accent and syllable stress puzzles.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As you finish this week’s reading, think about what Chapter 17 reveals about the cost of principles. Matthew refuses to call Dr. Bulkeley — the one man who might save Mercy — because of a political disagreement. Rachel watches her daughter suffer and begs her husband to bend. When do principles matter more than love? When does holding firm become cruelty?</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When Matthew refuses to call Bulkeley, is he protecting his family’s integrity or endangering his daughter’s life?</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How does this chapter show that the same belief can be both a strength and a weakness?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Rachel raised her eyes to Matthew and begged him to send for the doctor .</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Rachel  </a:t>
            </a:r>
            <a:pPr indent="0" marL="0">
              <a:buNone/>
            </a:pPr>
            <a:r>
              <a:rPr lang="en-US" sz="1200" dirty="0">
                <a:solidFill>
                  <a:srgbClr val="1E293B"/>
                </a:solidFill>
                <a:latin typeface="Calibri" pitchFamily="34" charset="0"/>
                <a:ea typeface="Calibri" pitchFamily="34" charset="-122"/>
                <a:cs typeface="Calibri" pitchFamily="34" charset="-120"/>
              </a:rPr>
              <a:t>"Rachel" is a name, so it starts with a capital letter.</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raised  </a:t>
            </a:r>
            <a:pPr indent="0" marL="0">
              <a:buNone/>
            </a:pPr>
            <a:r>
              <a:rPr lang="en-US" sz="1200" dirty="0">
                <a:solidFill>
                  <a:srgbClr val="1E293B"/>
                </a:solidFill>
                <a:latin typeface="Calibri" pitchFamily="34" charset="0"/>
                <a:ea typeface="Calibri" pitchFamily="34" charset="-122"/>
                <a:cs typeface="Calibri" pitchFamily="34" charset="-120"/>
              </a:rPr>
              <a:t>"raised" is past tense — matching the rest of the sentence.</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Matthew  </a:t>
            </a:r>
            <a:pPr indent="0" marL="0">
              <a:buNone/>
            </a:pPr>
            <a:r>
              <a:rPr lang="en-US" sz="1200" dirty="0">
                <a:solidFill>
                  <a:srgbClr val="1E293B"/>
                </a:solidFill>
                <a:latin typeface="Calibri" pitchFamily="34" charset="0"/>
                <a:ea typeface="Calibri" pitchFamily="34" charset="-122"/>
                <a:cs typeface="Calibri" pitchFamily="34" charset="-120"/>
              </a:rPr>
              <a:t>"Matthew" is a name, so it starts with a capital letter.</a:t>
            </a:r>
            <a:endParaRPr lang="en-US" sz="1300" dirty="0"/>
          </a:p>
        </p:txBody>
      </p:sp>
      <p:sp>
        <p:nvSpPr>
          <p:cNvPr id="14" name="Shape 12"/>
          <p:cNvSpPr/>
          <p:nvPr/>
        </p:nvSpPr>
        <p:spPr>
          <a:xfrm>
            <a:off x="365760" y="410565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4160520"/>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begged  </a:t>
            </a:r>
            <a:pPr indent="0" marL="0">
              <a:buNone/>
            </a:pPr>
            <a:r>
              <a:rPr lang="en-US" sz="1200" dirty="0">
                <a:solidFill>
                  <a:srgbClr val="1E293B"/>
                </a:solidFill>
                <a:latin typeface="Calibri" pitchFamily="34" charset="0"/>
                <a:ea typeface="Calibri" pitchFamily="34" charset="-122"/>
                <a:cs typeface="Calibri" pitchFamily="34" charset="-120"/>
              </a:rPr>
              <a:t>"begged" is past tense — consistent with "raised."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rachel raise her eyes to matthew and is begging him to sends for the doctor</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rachel raise her eyes to matthew and is begging him to sends for the doctor</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Rachel raised her eyes to Matthew and begged him to send for the doctor.</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names are capitalized (Rachel, Matthew). All verbs are past tense (“raised,” “begged”) — not mixed (“raise,” “is begging,” “sends”). “Send” stays base form after “to.” The sentence needs a period.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423160"/>
          </a:xfrm>
          <a:prstGeom prst="roundRect">
            <a:avLst>
              <a:gd name="adj" fmla="val 3774"/>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The Sick Child</a:t>
            </a:r>
            <a:endParaRPr lang="en-US" sz="20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Robert Louis Stevenson</a:t>
            </a:r>
            <a:endParaRPr lang="en-US" sz="1300" dirty="0"/>
          </a:p>
        </p:txBody>
      </p:sp>
      <p:sp>
        <p:nvSpPr>
          <p:cNvPr id="7" name="Text 5"/>
          <p:cNvSpPr/>
          <p:nvPr/>
        </p:nvSpPr>
        <p:spPr>
          <a:xfrm>
            <a:off x="594360" y="1645920"/>
            <a:ext cx="7955280" cy="155448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Child. O mother, lay your hand on my brow!</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O mother, mother, where am I now?</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Why is the room so gaunt and great?</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Why am I lying awake so late?</a:t>
            </a:r>
            <a:endParaRPr lang="en-US" sz="1600" dirty="0"/>
          </a:p>
          <a:p>
            <a:pPr indent="0" marL="0">
              <a:buNone/>
            </a:pP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Mother. Fear not at all: the night is still.</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Nothing is here that means you ill—</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Nothing but lamps the whole town through,</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And never a child awake but you.</a:t>
            </a:r>
            <a:endParaRPr lang="en-US" sz="1600" dirty="0"/>
          </a:p>
        </p:txBody>
      </p:sp>
      <p:sp>
        <p:nvSpPr>
          <p:cNvPr id="8" name="Text 6"/>
          <p:cNvSpPr/>
          <p:nvPr/>
        </p:nvSpPr>
        <p:spPr>
          <a:xfrm>
            <a:off x="365760" y="34290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685032"/>
            <a:ext cx="84124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776472"/>
            <a:ext cx="7955280" cy="73152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Mercy lies dangerously ill while her family watches helplessly. How does this poem capture the feeling of keeping vigil over someone you love? What emotions do the mother’s words try to hold back?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Is Matthew right to refuse Dr. Bulkeley's help for Mercy, or should love for family come before principle? Defend your answer with evidence from Chapter 17. Someone might disagree with you — what would you say back?</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Is Matthew right to refuse Dr. Bulkeley's help for Mercy, or should love for family come before principle? Defend your answer with evidence from Chapter 17. Someone might disagree with you — what would you say back?</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stronger word I could use here?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Suffixes -able / -ible</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bear → bearable (capable of being borne) | comfort → comfortable (capable of giving comfort) | remark → remarkable (worthy of remark) | resist → irresistible (not capable of being resisted)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Choice Menu</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This week's words from Chapters 14–17</a:t>
            </a:r>
            <a:endParaRPr lang="en-US" sz="1100" dirty="0"/>
          </a:p>
        </p:txBody>
      </p:sp>
      <p:sp>
        <p:nvSpPr>
          <p:cNvPr id="5" name="Text 3"/>
          <p:cNvSpPr/>
          <p:nvPr/>
        </p:nvSpPr>
        <p:spPr>
          <a:xfrm>
            <a:off x="365760" y="1097280"/>
            <a:ext cx="8412480" cy="3657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Words: delirious, nauseous, vitality, malady, convulsed</a:t>
            </a:r>
            <a:endParaRPr lang="en-US" sz="1200" dirty="0"/>
          </a:p>
        </p:txBody>
      </p:sp>
      <p:sp>
        <p:nvSpPr>
          <p:cNvPr id="6" name="Shape 4"/>
          <p:cNvSpPr/>
          <p:nvPr/>
        </p:nvSpPr>
        <p:spPr>
          <a:xfrm>
            <a:off x="365760" y="1554480"/>
            <a:ext cx="8412480" cy="457200"/>
          </a:xfrm>
          <a:prstGeom prst="roundRect">
            <a:avLst>
              <a:gd name="adj" fmla="val 20000"/>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00200"/>
            <a:ext cx="80467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Write 3 sentences using 3 different vocabulary words (delirious, nauseous, vitality, malady, convulsed). Show you understand each word’s meaning.</a:t>
            </a:r>
            <a:endParaRPr lang="en-US" sz="1100" dirty="0"/>
          </a:p>
        </p:txBody>
      </p:sp>
      <p:sp>
        <p:nvSpPr>
          <p:cNvPr id="8" name="Shape 6"/>
          <p:cNvSpPr/>
          <p:nvPr/>
        </p:nvSpPr>
        <p:spPr>
          <a:xfrm>
            <a:off x="365760" y="2066544"/>
            <a:ext cx="8412480" cy="457200"/>
          </a:xfrm>
          <a:prstGeom prst="roundRect">
            <a:avLst>
              <a:gd name="adj" fmla="val 20000"/>
            </a:avLst>
          </a:prstGeom>
          <a:solidFill>
            <a:srgbClr val="EAF6FA"/>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12264"/>
            <a:ext cx="80467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Create a word web connecting 3 vocabulary words to Chapter 17. Explain how each word connects to what happens during the illness.</a:t>
            </a:r>
            <a:endParaRPr lang="en-US" sz="1100" dirty="0"/>
          </a:p>
        </p:txBody>
      </p:sp>
      <p:sp>
        <p:nvSpPr>
          <p:cNvPr id="10" name="Shape 8"/>
          <p:cNvSpPr/>
          <p:nvPr/>
        </p:nvSpPr>
        <p:spPr>
          <a:xfrm>
            <a:off x="365760" y="2578608"/>
            <a:ext cx="8412480" cy="457200"/>
          </a:xfrm>
          <a:prstGeom prst="roundRect">
            <a:avLst>
              <a:gd name="adj" fmla="val 20000"/>
            </a:avLst>
          </a:prstGeom>
          <a:solidFill>
            <a:srgbClr val="E5F7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624328"/>
            <a:ext cx="80467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Write a paragraph using 4 or more vocabulary words. The paragraph should describe the crisis in Chapter 17.</a:t>
            </a:r>
            <a:endParaRPr lang="en-US" sz="1100" dirty="0"/>
          </a:p>
        </p:txBody>
      </p:sp>
      <p:sp>
        <p:nvSpPr>
          <p:cNvPr id="12" name="Shape 10"/>
          <p:cNvSpPr/>
          <p:nvPr/>
        </p:nvSpPr>
        <p:spPr>
          <a:xfrm>
            <a:off x="365760" y="3090672"/>
            <a:ext cx="8412480" cy="457200"/>
          </a:xfrm>
          <a:prstGeom prst="roundRect">
            <a:avLst>
              <a:gd name="adj" fmla="val 20000"/>
            </a:avLst>
          </a:prstGeom>
          <a:solidFill>
            <a:srgbClr val="EAF6FA"/>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136392"/>
            <a:ext cx="80467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Describe a scene from Chapter 17 that illustrates 2 vocabulary words. Explain how each word fits what is happening to the characters.</a:t>
            </a:r>
            <a:endParaRPr lang="en-US" sz="1100" dirty="0"/>
          </a:p>
        </p:txBody>
      </p:sp>
      <p:sp>
        <p:nvSpPr>
          <p:cNvPr id="14" name="Shape 12"/>
          <p:cNvSpPr/>
          <p:nvPr/>
        </p:nvSpPr>
        <p:spPr>
          <a:xfrm>
            <a:off x="365760" y="3648456"/>
            <a:ext cx="8412480" cy="640080"/>
          </a:xfrm>
          <a:prstGeom prst="roundRect">
            <a:avLst>
              <a:gd name="adj" fmla="val 14286"/>
            </a:avLst>
          </a:prstGeom>
          <a:solidFill>
            <a:srgbClr val="FEF6E8"/>
          </a:solidFill>
          <a:ln w="12700">
            <a:solidFill>
              <a:srgbClr val="C7922C"/>
            </a:solidFill>
            <a:prstDash val="solid"/>
          </a:ln>
        </p:spPr>
      </p:sp>
      <p:sp>
        <p:nvSpPr>
          <p:cNvPr id="15" name="Text 13"/>
          <p:cNvSpPr/>
          <p:nvPr/>
        </p:nvSpPr>
        <p:spPr>
          <a:xfrm>
            <a:off x="548640" y="3694176"/>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Vocabulary
</a:t>
            </a:r>
            <a:pPr indent="0" marL="0">
              <a:buNone/>
            </a:pPr>
            <a:r>
              <a:rPr lang="en-US" sz="1000" i="1" dirty="0">
                <a:solidFill>
                  <a:srgbClr val="1E293B"/>
                </a:solidFill>
                <a:latin typeface="Calibri" pitchFamily="34" charset="0"/>
                <a:ea typeface="Calibri" pitchFamily="34" charset="-122"/>
                <a:cs typeface="Calibri" pitchFamily="34" charset="-120"/>
              </a:rPr>
              <a:t>Choose ONE activity from the board. Then write your response in the box below.</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Verb Tense Consistency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Explain the purpose</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Consistent: Kit recovered quickly. She got out of bed and helped Rachel care for the others. Inconsistent: Kit recovered quickly. She gets out of bed and is helping Rachel care for the others. The consistent version stays in past tense throughout. The inconsistent version jumps between past and present, confusing the reader about when events happen.</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100" dirty="0">
                <a:solidFill>
                  <a:srgbClr val="64748B"/>
                </a:solidFill>
                <a:latin typeface="Calibri" pitchFamily="34" charset="0"/>
                <a:ea typeface="Calibri" pitchFamily="34" charset="-122"/>
                <a:cs typeface="Calibri" pitchFamily="34" charset="-120"/>
              </a:rPr>
              <a:t>The fever struck without warning and spreads through the household.   /   The fever struck without warning and spread through the household.</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100" dirty="0">
                <a:solidFill>
                  <a:srgbClr val="64748B"/>
                </a:solidFill>
                <a:latin typeface="Calibri" pitchFamily="34" charset="0"/>
                <a:ea typeface="Calibri" pitchFamily="34" charset="-122"/>
                <a:cs typeface="Calibri" pitchFamily="34" charset="-120"/>
              </a:rPr>
              <a:t>Rachel begged Matthew to call the doctor, but he refused .   /   Rachel begged Matthew to call the doctor, but he refuses .</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100" dirty="0">
                <a:solidFill>
                  <a:srgbClr val="64748B"/>
                </a:solidFill>
                <a:latin typeface="Calibri" pitchFamily="34" charset="0"/>
                <a:ea typeface="Calibri" pitchFamily="34" charset="-122"/>
                <a:cs typeface="Calibri" pitchFamily="34" charset="-120"/>
              </a:rPr>
              <a:t>Kit recovered quickly because she has strength from her years in Barbados.   /   Kit recovered quickly because she had strength from her years in Barbados.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Verb Tense Consistency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Explain the purpose</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Consistent: Kit recovered quickly. She got out of bed and helped Rachel care for the others. Inconsistent: Kit recovered quickly. She gets out of bed and is helping Rachel care for the others. The consistent version stays in past tense throughout. The inconsistent version jumps between past and present, confusing the reader about when events happen.</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200" b="1" dirty="0">
                <a:solidFill>
                  <a:srgbClr val="34B76F"/>
                </a:solidFill>
                <a:latin typeface="Calibri" pitchFamily="34" charset="0"/>
                <a:ea typeface="Calibri" pitchFamily="34" charset="-122"/>
                <a:cs typeface="Calibri" pitchFamily="34" charset="-120"/>
              </a:rPr>
              <a:t>✅ The fever struck without warning and spread through the household.</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200" b="1" dirty="0">
                <a:solidFill>
                  <a:srgbClr val="34B76F"/>
                </a:solidFill>
                <a:latin typeface="Calibri" pitchFamily="34" charset="0"/>
                <a:ea typeface="Calibri" pitchFamily="34" charset="-122"/>
                <a:cs typeface="Calibri" pitchFamily="34" charset="-120"/>
              </a:rPr>
              <a:t>✅ Rachel begged Matthew to call the doctor, but he refused .</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200" b="1" dirty="0">
                <a:solidFill>
                  <a:srgbClr val="34B76F"/>
                </a:solidFill>
                <a:latin typeface="Calibri" pitchFamily="34" charset="0"/>
                <a:ea typeface="Calibri" pitchFamily="34" charset="-122"/>
                <a:cs typeface="Calibri" pitchFamily="34" charset="-120"/>
              </a:rPr>
              <a:t>✅ Kit recovered quickly because she had strength from her years in Barbados.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Accent &amp; Syllable Stress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Challenge — decode the stress pattern</a:t>
            </a:r>
            <a:endParaRPr lang="en-US" sz="1100" dirty="0"/>
          </a:p>
        </p:txBody>
      </p:sp>
      <p:sp>
        <p:nvSpPr>
          <p:cNvPr id="7" name="Shape 5"/>
          <p:cNvSpPr/>
          <p:nvPr/>
        </p:nvSpPr>
        <p:spPr>
          <a:xfrm>
            <a:off x="365760" y="1143000"/>
            <a:ext cx="8412480" cy="68580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197864"/>
            <a:ext cx="8046720" cy="57607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de·LIR·i·ous or DEL·ir·i·ous?
</a:t>
            </a:r>
            <a:pPr indent="0" marL="0">
              <a:buNone/>
            </a:pPr>
            <a:r>
              <a:rPr lang="en-US" sz="1100" i="1" dirty="0">
                <a:solidFill>
                  <a:srgbClr val="64748B"/>
                </a:solidFill>
                <a:latin typeface="Calibri" pitchFamily="34" charset="0"/>
                <a:ea typeface="Calibri" pitchFamily="34" charset="-122"/>
                <a:cs typeface="Calibri" pitchFamily="34" charset="-120"/>
              </a:rPr>
              <a:t>de-LIR-i-ous   (— the stress falls on the second syllable. The “lir” is spoken loudest.)</a:t>
            </a:r>
            <a:endParaRPr lang="en-US" sz="1400" dirty="0"/>
          </a:p>
        </p:txBody>
      </p:sp>
      <p:sp>
        <p:nvSpPr>
          <p:cNvPr id="9" name="Shape 7"/>
          <p:cNvSpPr/>
          <p:nvPr/>
        </p:nvSpPr>
        <p:spPr>
          <a:xfrm>
            <a:off x="365760" y="1901952"/>
            <a:ext cx="8412480" cy="68580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1956816"/>
            <a:ext cx="8046720" cy="57607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vi·TAL·i·ty or VIT·al·i·ty?
</a:t>
            </a:r>
            <a:pPr indent="0" marL="0">
              <a:buNone/>
            </a:pPr>
            <a:r>
              <a:rPr lang="en-US" sz="1100" i="1" dirty="0">
                <a:solidFill>
                  <a:srgbClr val="64748B"/>
                </a:solidFill>
                <a:latin typeface="Calibri" pitchFamily="34" charset="0"/>
                <a:ea typeface="Calibri" pitchFamily="34" charset="-122"/>
                <a:cs typeface="Calibri" pitchFamily="34" charset="-120"/>
              </a:rPr>
              <a:t>vi-TAL-i-ty   (— the stress falls on the second syllable. Say it: vi- TAL -i-ty.)</a:t>
            </a:r>
            <a:endParaRPr lang="en-US" sz="1400" dirty="0"/>
          </a:p>
        </p:txBody>
      </p:sp>
      <p:sp>
        <p:nvSpPr>
          <p:cNvPr id="11" name="Shape 9"/>
          <p:cNvSpPr/>
          <p:nvPr/>
        </p:nvSpPr>
        <p:spPr>
          <a:xfrm>
            <a:off x="365760" y="2660904"/>
            <a:ext cx="8412480" cy="68580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715768"/>
            <a:ext cx="8046720" cy="57607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MAL·a·dy or ma·LA·dy?
</a:t>
            </a:r>
            <a:pPr indent="0" marL="0">
              <a:buNone/>
            </a:pPr>
            <a:r>
              <a:rPr lang="en-US" sz="1100" i="1" dirty="0">
                <a:solidFill>
                  <a:srgbClr val="64748B"/>
                </a:solidFill>
                <a:latin typeface="Calibri" pitchFamily="34" charset="0"/>
                <a:ea typeface="Calibri" pitchFamily="34" charset="-122"/>
                <a:cs typeface="Calibri" pitchFamily="34" charset="-120"/>
              </a:rPr>
              <a:t>MAL-a-dy   (— the stress falls on the first syllable. The “mal” is spoken loudest.)</a:t>
            </a:r>
            <a:endParaRPr lang="en-US" sz="1400" dirty="0"/>
          </a:p>
        </p:txBody>
      </p:sp>
      <p:sp>
        <p:nvSpPr>
          <p:cNvPr id="13" name="Shape 11"/>
          <p:cNvSpPr/>
          <p:nvPr/>
        </p:nvSpPr>
        <p:spPr>
          <a:xfrm>
            <a:off x="365760" y="3419856"/>
            <a:ext cx="8412480" cy="68580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474720"/>
            <a:ext cx="8046720" cy="57607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con·VULSED or CON·vulsed?
</a:t>
            </a:r>
            <a:pPr indent="0" marL="0">
              <a:buNone/>
            </a:pPr>
            <a:r>
              <a:rPr lang="en-US" sz="1100" i="1" dirty="0">
                <a:solidFill>
                  <a:srgbClr val="64748B"/>
                </a:solidFill>
                <a:latin typeface="Calibri" pitchFamily="34" charset="0"/>
                <a:ea typeface="Calibri" pitchFamily="34" charset="-122"/>
                <a:cs typeface="Calibri" pitchFamily="34" charset="-120"/>
              </a:rPr>
              <a:t>con-VULSED   (— the stress falls on the second syllable. The “vulsed” is spoken loudest.)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Kit’s Path Through The Witch of Blackbird Pond — 📍 You are here: Chapter 17 — Illness sweeps Wethersfield; Mercy fights for her life</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4A90D9"/>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17 — Illness sweeps Wethersfield</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When Matthew refuses to call Bulkeley, is he protecting his family’s integrity or endangering his daughter’s life?</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How does this chapter show that the same belief can be both a strength and a weakness?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1 Why does Kit recover quickly while Mercy doesn’t? What does this contrast tell us about the two cousins?</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2 Why does Matthew refuse to let Dr. Bulkeley help Mercy? What is the conflict between his principles and his love for his daughter?</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3 Cross-Week Question: Across Chapters 14–17, how has Kit’s understanding of freedom changed? Use evidence from at least two chapters.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(Part C)</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SHORT CRAFT-FOCUSED RESPONSE</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Matthew refuses to call the one doctor who might save Mercy. Write 3–4 sentences explaining whether you think Matthew is right to hold to his principles, or whether love for family should come first. Use evidence from Chapter 17.</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2026-07-12T13:24:41Z</dcterms:created>
  <dcterms:modified xsi:type="dcterms:W3CDTF">2026-07-12T13:24:41Z</dcterms:modified>
</cp:coreProperties>
</file>