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12.3: Chapter 15, "Sail Ho-o-o-o-o!". Banner quote: “Sail ho-o-o-o-o-o! Off the larboard bow!” (Chapter 15 • Carry On, Mr. Bowditch).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question: What does a cry from the masthead reveal about a character? Today you read Chapter 15 and continue drafting your expository research piece. Keep asking: How do conflict and setting shape Nat’s decisions?
Objectives:
- 🌱 Morphology: Use fract/frag and rupt words in original sentences.
- 🔤 Spelling SWYK: Spell -ous/-ious/-eous words correctly and use them accurately.
- ✏️ Grammar: I will write using commas after introductory phrases.
- 📖 Reading: I will analyze how much of the tension in Chapter 15 lives inside the sailing vocabulary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 no answer needed. Ask students why each highlighted word or mark is correct before revealing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 rigorous study of navigation allowed nat to remain calm in even the most hazardous situations at sea
Corrected: A rigorous study of navigation allowed Nat to remain calm in even the most hazardous situations at sea.
Fixes: capitalize “A”; capitalize “Nat”; period at end. The prepositional phrases “of navigation” and “at sea” add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 rigorous study of navigation allowed nat to remain calm in even the most hazardous situations at sea
Corrected: A rigorous study of navigation allowed Nat to remain calm in even the most hazardous situations at sea.
Fixes: capitalize “A”; capitalize “Nat”; period at end. The prepositional phrases “of navigation” and “at sea” add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Read the prompt aloud. Remind students: pick a side, defend it with evidence, and answer someone who disagrees.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stronger, more specific word I could use here instead of a vague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Invite respectful disagreement about their choice and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Morphology: Roots fract/frag + rupt — Use — put the roots to work.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fill each blank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fragment  2. fracture  3. interrupt  4. eruption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rupture
2. fragment
3. fragile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fill each blank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practical  2. erroneous  3. lunar  4. hazardous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Commas with Introductory Phrases — Use — place the comma yourself.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fill each blank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sea  2. cabin  3. wrong  4. Astrea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Show What You Know for today. Students write it in the Word Study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sentence aloud twice. Work through Reader → Writer → Mimic.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reading. Students open their novels to Chapter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stopping points before students read, so they know where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Add Craft: Add transitions to connect your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Add Craft: Add transitions to connect your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5715000"/>
            <a:ext cx="12191695" cy="1143000"/>
          </a:xfrm>
          <a:prstGeom prst="rect">
            <a:avLst/>
          </a:prstGeom>
          <a:solidFill>
            <a:srgbClr val="17295C"/>
          </a:solidFill>
          <a:ln w="12700">
            <a:solidFill>
              <a:srgbClr val="17295C"/>
            </a:solidFill>
            <a:prstDash val="solid"/>
          </a:ln>
        </p:spPr>
      </p:sp>
      <p:sp>
        <p:nvSpPr>
          <p:cNvPr id="3" name="Text 1"/>
          <p:cNvSpPr/>
          <p:nvPr/>
        </p:nvSpPr>
        <p:spPr>
          <a:xfrm>
            <a:off x="731520" y="914400"/>
            <a:ext cx="10058400" cy="457200"/>
          </a:xfrm>
          <a:prstGeom prst="rect">
            <a:avLst/>
          </a:prstGeom>
          <a:noFill/>
          <a:ln/>
        </p:spPr>
        <p:txBody>
          <a:bodyPr wrap="square" lIns="0" tIns="0" rIns="0" bIns="0" rtlCol="0" anchor="ctr"/>
          <a:lstStyle/>
          <a:p>
            <a:pPr indent="0" marL="0">
              <a:buNone/>
            </a:pPr>
            <a:r>
              <a:rPr lang="en-US" sz="1800" b="1" spc="300" kern="0" dirty="0">
                <a:solidFill>
                  <a:srgbClr val="55C8E8"/>
                </a:solidFill>
                <a:latin typeface="Calibri" pitchFamily="34" charset="0"/>
                <a:ea typeface="Calibri" pitchFamily="34" charset="-122"/>
                <a:cs typeface="Calibri" pitchFamily="34" charset="-120"/>
              </a:rPr>
              <a:t>WEEK 12  ·  DAY 3  ·  LESSON 12.3</a:t>
            </a:r>
            <a:endParaRPr lang="en-US" sz="1800" dirty="0"/>
          </a:p>
        </p:txBody>
      </p:sp>
      <p:sp>
        <p:nvSpPr>
          <p:cNvPr id="4" name="Text 2"/>
          <p:cNvSpPr/>
          <p:nvPr/>
        </p:nvSpPr>
        <p:spPr>
          <a:xfrm>
            <a:off x="731520" y="173736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Carry On, Mr. Bowditch</a:t>
            </a:r>
            <a:endParaRPr lang="en-US" sz="4400" dirty="0"/>
          </a:p>
        </p:txBody>
      </p:sp>
      <p:sp>
        <p:nvSpPr>
          <p:cNvPr id="5" name="Text 3"/>
          <p:cNvSpPr/>
          <p:nvPr/>
        </p:nvSpPr>
        <p:spPr>
          <a:xfrm>
            <a:off x="731520" y="2606040"/>
            <a:ext cx="10515600" cy="822960"/>
          </a:xfrm>
          <a:prstGeom prst="rect">
            <a:avLst/>
          </a:prstGeom>
          <a:noFill/>
          <a:ln/>
        </p:spPr>
        <p:txBody>
          <a:bodyPr wrap="square" lIns="0" tIns="0" rIns="0" bIns="0" rtlCol="0" anchor="ctr"/>
          <a:lstStyle/>
          <a:p>
            <a:pPr indent="0" marL="0">
              <a:buNone/>
            </a:pPr>
            <a:r>
              <a:rPr lang="en-US" sz="3400" dirty="0">
                <a:solidFill>
                  <a:srgbClr val="FFFFFF"/>
                </a:solidFill>
                <a:latin typeface="Calibri" pitchFamily="34" charset="0"/>
                <a:ea typeface="Calibri" pitchFamily="34" charset="-122"/>
                <a:cs typeface="Calibri" pitchFamily="34" charset="-120"/>
              </a:rPr>
              <a:t>Chapter 15 — Sail Ho-o-o-o-o!</a:t>
            </a:r>
            <a:endParaRPr lang="en-US" sz="3400" dirty="0"/>
          </a:p>
        </p:txBody>
      </p:sp>
      <p:sp>
        <p:nvSpPr>
          <p:cNvPr id="6" name="Text 4"/>
          <p:cNvSpPr/>
          <p:nvPr/>
        </p:nvSpPr>
        <p:spPr>
          <a:xfrm>
            <a:off x="731520" y="3794760"/>
            <a:ext cx="10607040" cy="1371600"/>
          </a:xfrm>
          <a:prstGeom prst="rect">
            <a:avLst/>
          </a:prstGeom>
          <a:noFill/>
          <a:ln/>
        </p:spPr>
        <p:txBody>
          <a:bodyPr wrap="square" lIns="0" tIns="0" rIns="0" bIns="0" rtlCol="0" anchor="t"/>
          <a:lstStyle/>
          <a:p>
            <a:pPr indent="0" marL="0">
              <a:buNone/>
            </a:pPr>
            <a:r>
              <a:rPr lang="en-US" sz="2000" i="1" dirty="0">
                <a:solidFill>
                  <a:srgbClr val="DCE6F5"/>
                </a:solidFill>
                <a:latin typeface="Calibri" pitchFamily="34" charset="0"/>
                <a:ea typeface="Calibri" pitchFamily="34" charset="-122"/>
                <a:cs typeface="Calibri" pitchFamily="34" charset="-120"/>
              </a:rPr>
              <a:t>“Sail ho-o-o-o-o-o! Off the larboard bow!”</a:t>
            </a:r>
            <a:pPr indent="0" marL="0">
              <a:buNone/>
            </a:pPr>
            <a:r>
              <a:rPr lang="en-US" sz="1600" dirty="0">
                <a:solidFill>
                  <a:srgbClr val="55C8E8"/>
                </a:solidFill>
                <a:latin typeface="Calibri" pitchFamily="34" charset="0"/>
                <a:ea typeface="Calibri" pitchFamily="34" charset="-122"/>
                <a:cs typeface="Calibri" pitchFamily="34" charset="-120"/>
              </a:rPr>
              <a:t>  — Chapter 15 • Carry On, Mr. Bowditch</a:t>
            </a:r>
            <a:endParaRPr lang="en-US" sz="2000" dirty="0"/>
          </a:p>
        </p:txBody>
      </p:sp>
      <p:sp>
        <p:nvSpPr>
          <p:cNvPr id="7" name="Text 5"/>
          <p:cNvSpPr/>
          <p:nvPr/>
        </p:nvSpPr>
        <p:spPr>
          <a:xfrm>
            <a:off x="731520" y="5943600"/>
            <a:ext cx="10058400" cy="548640"/>
          </a:xfrm>
          <a:prstGeom prst="rect">
            <a:avLst/>
          </a:prstGeom>
          <a:noFill/>
          <a:ln/>
        </p:spPr>
        <p:txBody>
          <a:bodyPr wrap="square" lIns="0" tIns="0" rIns="0" bIns="0" rtlCol="0" anchor="ctr"/>
          <a:lstStyle/>
          <a:p>
            <a:pPr indent="0" marL="0">
              <a:buNone/>
            </a:pPr>
            <a:r>
              <a:rPr lang="en-US" sz="1800" dirty="0">
                <a:solidFill>
                  <a:srgbClr val="DCE6F5"/>
                </a:solidFill>
                <a:latin typeface="Calibri" pitchFamily="34" charset="0"/>
                <a:ea typeface="Calibri" pitchFamily="34" charset="-122"/>
                <a:cs typeface="Calibri" pitchFamily="34" charset="-120"/>
              </a:rPr>
              <a:t>🧭  Grade 5 ELA  ·  Optima Academy Online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TODAY’S ARC — USE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Today's Objectives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4754880" cy="4892040"/>
          </a:xfrm>
          <a:prstGeom prst="roundRect">
            <a:avLst>
              <a:gd name="adj" fmla="val 1538"/>
            </a:avLst>
          </a:prstGeom>
          <a:solidFill>
            <a:srgbClr val="F0E8FF"/>
          </a:solidFill>
          <a:ln w="15875">
            <a:solidFill>
              <a:srgbClr val="D6C8F0"/>
            </a:solidFill>
            <a:prstDash val="solid"/>
          </a:ln>
        </p:spPr>
      </p:sp>
      <p:sp>
        <p:nvSpPr>
          <p:cNvPr id="7" name="Text 5"/>
          <p:cNvSpPr/>
          <p:nvPr/>
        </p:nvSpPr>
        <p:spPr>
          <a:xfrm>
            <a:off x="731520" y="1737360"/>
            <a:ext cx="4297680"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CHAPTER 15</a:t>
            </a:r>
            <a:endParaRPr lang="en-US" sz="1300" dirty="0"/>
          </a:p>
        </p:txBody>
      </p:sp>
      <p:sp>
        <p:nvSpPr>
          <p:cNvPr id="8" name="Text 6"/>
          <p:cNvSpPr/>
          <p:nvPr/>
        </p:nvSpPr>
        <p:spPr>
          <a:xfrm>
            <a:off x="731520" y="2103120"/>
            <a:ext cx="4297680" cy="4160520"/>
          </a:xfrm>
          <a:prstGeom prst="rect">
            <a:avLst/>
          </a:prstGeom>
          <a:noFill/>
          <a:ln/>
        </p:spPr>
        <p:txBody>
          <a:bodyPr wrap="square" lIns="0" tIns="0" rIns="0" bIns="0" rtlCol="0" anchor="t"/>
          <a:lstStyle/>
          <a:p>
            <a:pPr indent="0" marL="0">
              <a:spcAft>
                <a:spcPts val="1100"/>
              </a:spcAft>
              <a:buNone/>
            </a:pPr>
            <a:r>
              <a:rPr lang="en-US" sz="2400" b="1" dirty="0">
                <a:solidFill>
                  <a:srgbClr val="6B4FA8"/>
                </a:solidFill>
                <a:latin typeface="Calibri" pitchFamily="34" charset="0"/>
                <a:ea typeface="Calibri" pitchFamily="34" charset="-122"/>
                <a:cs typeface="Calibri" pitchFamily="34" charset="-120"/>
              </a:rPr>
              <a:t>What does a cry from the masthead reveal about a character?</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Today you read Chapter 15 and continue drafting your expository research piece. Keep asking: How do conflict and setting shape Nat’s decisions?</a:t>
            </a:r>
            <a:endParaRPr lang="en-US" sz="2400" dirty="0"/>
          </a:p>
        </p:txBody>
      </p:sp>
      <p:sp>
        <p:nvSpPr>
          <p:cNvPr id="9" name="Shape 7"/>
          <p:cNvSpPr/>
          <p:nvPr/>
        </p:nvSpPr>
        <p:spPr>
          <a:xfrm>
            <a:off x="5532120" y="1554480"/>
            <a:ext cx="6156655" cy="4892040"/>
          </a:xfrm>
          <a:prstGeom prst="roundRect">
            <a:avLst>
              <a:gd name="adj" fmla="val 1495"/>
            </a:avLst>
          </a:prstGeom>
          <a:solidFill>
            <a:srgbClr val="F8FAFC"/>
          </a:solidFill>
          <a:ln w="15875">
            <a:solidFill>
              <a:srgbClr val="CBD5E1"/>
            </a:solidFill>
            <a:prstDash val="solid"/>
          </a:ln>
        </p:spPr>
      </p:sp>
      <p:sp>
        <p:nvSpPr>
          <p:cNvPr id="10" name="Text 8"/>
          <p:cNvSpPr/>
          <p:nvPr/>
        </p:nvSpPr>
        <p:spPr>
          <a:xfrm>
            <a:off x="5760720" y="1737360"/>
            <a:ext cx="56994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BY THE END OF THIS LESSON…</a:t>
            </a:r>
            <a:endParaRPr lang="en-US" sz="1300" dirty="0"/>
          </a:p>
        </p:txBody>
      </p:sp>
      <p:sp>
        <p:nvSpPr>
          <p:cNvPr id="11" name="Text 9"/>
          <p:cNvSpPr/>
          <p:nvPr/>
        </p:nvSpPr>
        <p:spPr>
          <a:xfrm>
            <a:off x="5760720" y="2103120"/>
            <a:ext cx="5699455" cy="416052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Morphology: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Use fract/frag and rupt words in original sentences.</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Spelling SWYK: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Spell -ous/-ious/-eous words correctly and use them accurately.</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Grammar: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write using commas after introductory phrases.</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Reading: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analyze how much of the tension in Chapter 15 lives inside the sailing vocabulary itself.</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REREAD — ONE TERM, AND WHAT IT MAKES POSSIBLE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Today reread the moment in Chapter 15 when the lookout cries Sail ho! from the masthead. Three words, and everyone on deck has to decide whether to flee, fight or hold course. Reread it and work out how much of the tension is living inside the vocabulary itself.</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Collect the terms: List the navigation and sailing words the chapter needs — longitude, lunars, masthead, bearing, tables.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Work out the meaning from the work it does: Ask what the word lets a sailor do. In this book a technical term is a tool, not decoration.</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Test what the term unlocks: Reread the moment with the term defined and see how much the scene changes.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Watch for as you read: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When “Sail ho!” is called, what is Nat’s role? Does he panic, calculate, or simply observe? What does his response reveal?</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REREAD — ONE TERM, AND WHAT IT MAKES POSSIBLE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How does the conflict of the unknown sail shape the captain’s decisions? Who is in charge at sea, and how does Nat’s knowledge fit into that hierarchy?</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What connection do you see between the “Sail ho!” moment and Nat’s work teaching the crew navigation — including Lem Harvey?</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CORRECT MODEL — NOTICE WHAT EACH HIGHLIGHTED PART TEACHES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Study What’s Right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371600"/>
          </a:xfrm>
          <a:prstGeom prst="roundRect">
            <a:avLst>
              <a:gd name="adj" fmla="val 5333"/>
            </a:avLst>
          </a:prstGeom>
          <a:solidFill>
            <a:srgbClr val="E8F8EF"/>
          </a:solidFill>
          <a:ln w="15875">
            <a:solidFill>
              <a:srgbClr val="9ED9B5"/>
            </a:solidFill>
            <a:prstDash val="solid"/>
          </a:ln>
        </p:spPr>
      </p:sp>
      <p:sp>
        <p:nvSpPr>
          <p:cNvPr id="7" name="Text 5"/>
          <p:cNvSpPr/>
          <p:nvPr/>
        </p:nvSpPr>
        <p:spPr>
          <a:xfrm>
            <a:off x="777240" y="1645920"/>
            <a:ext cx="10637215" cy="118872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colors </a:t>
            </a:r>
            <a:pPr indent="0" marL="0">
              <a:buNone/>
            </a:pPr>
            <a:r>
              <a:rPr lang="en-US" sz="2600" b="1" u="sng" dirty="0">
                <a:solidFill>
                  <a:srgbClr val="1E8E52"/>
                </a:solidFill>
                <a:latin typeface="Calibri" pitchFamily="34" charset="0"/>
                <a:ea typeface="Calibri" pitchFamily="34" charset="-122"/>
                <a:cs typeface="Calibri" pitchFamily="34" charset="-120"/>
              </a:rPr>
              <a:t>of the approaching vessel</a:t>
            </a:r>
            <a:pPr indent="0" marL="0">
              <a:buNone/>
            </a:pPr>
            <a:r>
              <a:rPr lang="en-US" sz="2600" dirty="0">
                <a:solidFill>
                  <a:srgbClr val="1E293B"/>
                </a:solidFill>
                <a:latin typeface="Calibri" pitchFamily="34" charset="0"/>
                <a:ea typeface="Calibri" pitchFamily="34" charset="-122"/>
                <a:cs typeface="Calibri" pitchFamily="34" charset="-120"/>
              </a:rPr>
              <a:t> told Captain Prince </a:t>
            </a:r>
            <a:pPr indent="0" marL="0">
              <a:buNone/>
            </a:pPr>
            <a:r>
              <a:rPr lang="en-US" sz="2600" b="1" u="sng" dirty="0">
                <a:solidFill>
                  <a:srgbClr val="1E8E52"/>
                </a:solidFill>
                <a:latin typeface="Calibri" pitchFamily="34" charset="0"/>
                <a:ea typeface="Calibri" pitchFamily="34" charset="-122"/>
                <a:cs typeface="Calibri" pitchFamily="34" charset="-120"/>
              </a:rPr>
              <a:t>in an instant</a:t>
            </a:r>
            <a:pPr indent="0" marL="0">
              <a:buNone/>
            </a:pPr>
            <a:r>
              <a:rPr lang="en-US" sz="2600" dirty="0">
                <a:solidFill>
                  <a:srgbClr val="1E293B"/>
                </a:solidFill>
                <a:latin typeface="Calibri" pitchFamily="34" charset="0"/>
                <a:ea typeface="Calibri" pitchFamily="34" charset="-122"/>
                <a:cs typeface="Calibri" pitchFamily="34" charset="-120"/>
              </a:rPr>
              <a:t> that she belonged </a:t>
            </a:r>
            <a:pPr indent="0" marL="0">
              <a:buNone/>
            </a:pPr>
            <a:r>
              <a:rPr lang="en-US" sz="2600" b="1" u="sng" dirty="0">
                <a:solidFill>
                  <a:srgbClr val="1E8E52"/>
                </a:solidFill>
                <a:latin typeface="Calibri" pitchFamily="34" charset="0"/>
                <a:ea typeface="Calibri" pitchFamily="34" charset="-122"/>
                <a:cs typeface="Calibri" pitchFamily="34" charset="-120"/>
              </a:rPr>
              <a:t>to the East India Company</a:t>
            </a:r>
            <a:pPr indent="0" marL="0">
              <a:buNone/>
            </a:pPr>
            <a:r>
              <a:rPr lang="en-US" sz="2600" dirty="0">
                <a:solidFill>
                  <a:srgbClr val="1E293B"/>
                </a:solidFill>
                <a:latin typeface="Calibri" pitchFamily="34" charset="0"/>
                <a:ea typeface="Calibri" pitchFamily="34" charset="-122"/>
                <a:cs typeface="Calibri" pitchFamily="34" charset="-120"/>
              </a:rPr>
              <a:t>.</a:t>
            </a:r>
            <a:endParaRPr lang="en-US" sz="2600" dirty="0"/>
          </a:p>
        </p:txBody>
      </p:sp>
      <p:sp>
        <p:nvSpPr>
          <p:cNvPr id="8" name="Text 6"/>
          <p:cNvSpPr/>
          <p:nvPr/>
        </p:nvSpPr>
        <p:spPr>
          <a:xfrm>
            <a:off x="502920" y="3063240"/>
            <a:ext cx="11185855"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WHAT EACH HIGHLIGHTED PART TEACHES</a:t>
            </a:r>
            <a:endParaRPr lang="en-US" sz="1300" dirty="0"/>
          </a:p>
        </p:txBody>
      </p:sp>
      <p:sp>
        <p:nvSpPr>
          <p:cNvPr id="9" name="Text 7"/>
          <p:cNvSpPr/>
          <p:nvPr/>
        </p:nvSpPr>
        <p:spPr>
          <a:xfrm>
            <a:off x="594360" y="3383280"/>
            <a:ext cx="11002975" cy="306324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of the approaching vessel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“of the approaching vessel” is a prepositional phrase telling which colors.</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in an instant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“in an instant” is a prepositional phrase telling when.</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to the East India Company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“to the East India Company” is a prepositional phrase telling whom she belonged to.</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HOW MANY ERRORS CAN YOU FIND?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a rigorous study of navigation allowed nat to remain calm in even the most hazardous situations at sea</a:t>
            </a:r>
            <a:endParaRPr lang="en-US" sz="2600" dirty="0"/>
          </a:p>
        </p:txBody>
      </p:sp>
      <p:sp>
        <p:nvSpPr>
          <p:cNvPr id="11" name="Text 9"/>
          <p:cNvSpPr/>
          <p:nvPr/>
        </p:nvSpPr>
        <p:spPr>
          <a:xfrm>
            <a:off x="502920" y="3566160"/>
            <a:ext cx="11185855" cy="54864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Rewrite the sentence correctly in your reading journal. Use the model to guide you.</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ANSWER REVEALED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a rigorous study of navigation allowed nat to remain calm in even the most hazardous situations at sea</a:t>
            </a:r>
            <a:endParaRPr lang="en-US" sz="2600" dirty="0"/>
          </a:p>
        </p:txBody>
      </p:sp>
      <p:sp>
        <p:nvSpPr>
          <p:cNvPr id="11" name="Text 9"/>
          <p:cNvSpPr/>
          <p:nvPr/>
        </p:nvSpPr>
        <p:spPr>
          <a:xfrm>
            <a:off x="502920" y="3520440"/>
            <a:ext cx="11185855"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 CORRECTED</a:t>
            </a:r>
            <a:endParaRPr lang="en-US" sz="1300" dirty="0"/>
          </a:p>
        </p:txBody>
      </p:sp>
      <p:sp>
        <p:nvSpPr>
          <p:cNvPr id="12" name="Shape 10"/>
          <p:cNvSpPr/>
          <p:nvPr/>
        </p:nvSpPr>
        <p:spPr>
          <a:xfrm>
            <a:off x="502920" y="3840480"/>
            <a:ext cx="11185855" cy="1280160"/>
          </a:xfrm>
          <a:prstGeom prst="roundRect">
            <a:avLst>
              <a:gd name="adj" fmla="val 5714"/>
            </a:avLst>
          </a:prstGeom>
          <a:solidFill>
            <a:srgbClr val="E8F8EF"/>
          </a:solidFill>
          <a:ln w="15875">
            <a:solidFill>
              <a:srgbClr val="9ED9B5"/>
            </a:solidFill>
            <a:prstDash val="solid"/>
          </a:ln>
        </p:spPr>
      </p:sp>
      <p:sp>
        <p:nvSpPr>
          <p:cNvPr id="13" name="Text 11"/>
          <p:cNvSpPr/>
          <p:nvPr/>
        </p:nvSpPr>
        <p:spPr>
          <a:xfrm>
            <a:off x="777240" y="3886200"/>
            <a:ext cx="10637215" cy="1188720"/>
          </a:xfrm>
          <a:prstGeom prst="rect">
            <a:avLst/>
          </a:prstGeom>
          <a:noFill/>
          <a:ln/>
        </p:spPr>
        <p:txBody>
          <a:bodyPr wrap="square" lIns="0" tIns="0" rIns="0" bIns="0" rtlCol="0" anchor="ctr">
            <a:normAutofit/>
          </a:bodyPr>
          <a:lstStyle/>
          <a:p>
            <a:pPr indent="0" marL="0">
              <a:buNone/>
            </a:pPr>
            <a:r>
              <a:rPr lang="en-US" sz="2600" b="1" dirty="0">
                <a:solidFill>
                  <a:srgbClr val="1E8E52"/>
                </a:solidFill>
                <a:latin typeface="Calibri" pitchFamily="34" charset="0"/>
                <a:ea typeface="Calibri" pitchFamily="34" charset="-122"/>
                <a:cs typeface="Calibri" pitchFamily="34" charset="-120"/>
              </a:rPr>
              <a:t>A rigorous study of navigation allowed Nat to remain calm in even the most hazardous situations at sea.</a:t>
            </a:r>
            <a:endParaRPr lang="en-US" sz="2600" dirty="0"/>
          </a:p>
        </p:txBody>
      </p:sp>
      <p:sp>
        <p:nvSpPr>
          <p:cNvPr id="14" name="Text 12"/>
          <p:cNvSpPr/>
          <p:nvPr/>
        </p:nvSpPr>
        <p:spPr>
          <a:xfrm>
            <a:off x="502920" y="5257800"/>
            <a:ext cx="11185855" cy="1188720"/>
          </a:xfrm>
          <a:prstGeom prst="rect">
            <a:avLst/>
          </a:prstGeom>
          <a:noFill/>
          <a:ln/>
        </p:spPr>
        <p:txBody>
          <a:bodyPr wrap="square" lIns="0" tIns="0" rIns="0" bIns="0" rtlCol="0" anchor="t"/>
          <a:lstStyle/>
          <a:p>
            <a:pPr indent="0" marL="0">
              <a:buNone/>
            </a:pPr>
            <a:r>
              <a:rPr lang="en-US" sz="1800" i="1" dirty="0">
                <a:solidFill>
                  <a:srgbClr val="475569"/>
                </a:solidFill>
                <a:latin typeface="Calibri" pitchFamily="34" charset="0"/>
                <a:ea typeface="Calibri" pitchFamily="34" charset="-122"/>
                <a:cs typeface="Calibri" pitchFamily="34" charset="-120"/>
              </a:rPr>
              <a:t>Fixes: capitalize “A”; capitalize “Nat”; period at end. The prepositional phrases “of navigation” and “at sea” add detail.</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THE PROMPT — 1 MINUTE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Quick Write (Optional)</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2651760"/>
          </a:xfrm>
          <a:prstGeom prst="roundRect">
            <a:avLst>
              <a:gd name="adj" fmla="val 2759"/>
            </a:avLst>
          </a:prstGeom>
          <a:solidFill>
            <a:srgbClr val="FEF6E8"/>
          </a:solidFill>
          <a:ln w="15875">
            <a:solidFill>
              <a:srgbClr val="C7922C"/>
            </a:solidFill>
            <a:prstDash val="solid"/>
          </a:ln>
        </p:spPr>
      </p:sp>
      <p:sp>
        <p:nvSpPr>
          <p:cNvPr id="7" name="Text 5"/>
          <p:cNvSpPr/>
          <p:nvPr/>
        </p:nvSpPr>
        <p:spPr>
          <a:xfrm>
            <a:off x="822960" y="1691640"/>
            <a:ext cx="10545775" cy="2377440"/>
          </a:xfrm>
          <a:prstGeom prst="rect">
            <a:avLst/>
          </a:prstGeom>
          <a:noFill/>
          <a:ln/>
        </p:spPr>
        <p:txBody>
          <a:bodyPr wrap="square" lIns="0" tIns="0" rIns="0" bIns="0" rtlCol="0" anchor="ctr"/>
          <a:lstStyle/>
          <a:p>
            <a:pPr indent="0" marL="0">
              <a:buNone/>
            </a:pPr>
            <a:r>
              <a:rPr lang="en-US" sz="2300" dirty="0">
                <a:solidFill>
                  <a:srgbClr val="1E293B"/>
                </a:solidFill>
                <a:latin typeface="Calibri" pitchFamily="34" charset="0"/>
                <a:ea typeface="Calibri" pitchFamily="34" charset="-122"/>
                <a:cs typeface="Calibri" pitchFamily="34" charset="-120"/>
              </a:rPr>
              <a:t>In Chapter 15 the lookout cries "Sail ho!" and a strange ship appears. Through all the tension, Nat keeps teaching the crew, even Lem Harvey. Is teaching the crew the most important thing Nat does on this voyage? Defend your answer with evidence. Then answer someone who disagrees.</a:t>
            </a:r>
            <a:endParaRPr lang="en-US" sz="2300" dirty="0"/>
          </a:p>
        </p:txBody>
      </p:sp>
      <p:sp>
        <p:nvSpPr>
          <p:cNvPr id="8" name="Text 6"/>
          <p:cNvSpPr/>
          <p:nvPr/>
        </p:nvSpPr>
        <p:spPr>
          <a:xfrm>
            <a:off x="502920" y="4434840"/>
            <a:ext cx="111858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SCAFFOLD (USE WHAT HELPS)</a:t>
            </a:r>
            <a:endParaRPr lang="en-US" sz="1300" dirty="0"/>
          </a:p>
        </p:txBody>
      </p:sp>
      <p:sp>
        <p:nvSpPr>
          <p:cNvPr id="9" name="Text 7"/>
          <p:cNvSpPr/>
          <p:nvPr/>
        </p:nvSpPr>
        <p:spPr>
          <a:xfrm>
            <a:off x="502920" y="4754880"/>
            <a:ext cx="11185855" cy="822960"/>
          </a:xfrm>
          <a:prstGeom prst="rect">
            <a:avLst/>
          </a:prstGeom>
          <a:noFill/>
          <a:ln/>
        </p:spPr>
        <p:txBody>
          <a:bodyPr wrap="square" lIns="0" tIns="0" rIns="0" bIns="0" rtlCol="0" anchor="t"/>
          <a:lstStyle/>
          <a:p>
            <a:pPr indent="0" marL="0">
              <a:buNone/>
            </a:pPr>
            <a:r>
              <a:rPr lang="en-US" sz="2000"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502920" y="36576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Writing Time</a:t>
            </a:r>
            <a:endParaRPr lang="en-US" sz="3600" dirty="0"/>
          </a:p>
        </p:txBody>
      </p:sp>
      <p:sp>
        <p:nvSpPr>
          <p:cNvPr id="3" name="Text 1"/>
          <p:cNvSpPr/>
          <p:nvPr/>
        </p:nvSpPr>
        <p:spPr>
          <a:xfrm>
            <a:off x="502920" y="1051560"/>
            <a:ext cx="11185855" cy="457200"/>
          </a:xfrm>
          <a:prstGeom prst="rect">
            <a:avLst/>
          </a:prstGeom>
          <a:noFill/>
          <a:ln/>
        </p:spPr>
        <p:txBody>
          <a:bodyPr wrap="square" lIns="0" tIns="0" rIns="0" bIns="0" rtlCol="0" anchor="ctr"/>
          <a:lstStyle/>
          <a:p>
            <a:pPr algn="ctr" indent="0" marL="0">
              <a:buNone/>
            </a:pPr>
            <a:r>
              <a:rPr lang="en-US" sz="2200" dirty="0">
                <a:solidFill>
                  <a:srgbClr val="C7922C"/>
                </a:solidFill>
                <a:latin typeface="Calibri" pitchFamily="34" charset="0"/>
                <a:ea typeface="Calibri" pitchFamily="34" charset="-122"/>
                <a:cs typeface="Calibri" pitchFamily="34" charset="-120"/>
              </a:rPr>
              <a:t>5 minutes — keep your pencil moving!</a:t>
            </a:r>
            <a:endParaRPr lang="en-US" sz="2200" dirty="0"/>
          </a:p>
        </p:txBody>
      </p:sp>
      <p:sp>
        <p:nvSpPr>
          <p:cNvPr id="4" name="Shape 2"/>
          <p:cNvSpPr/>
          <p:nvPr/>
        </p:nvSpPr>
        <p:spPr>
          <a:xfrm>
            <a:off x="502920" y="1737360"/>
            <a:ext cx="11185855" cy="2194560"/>
          </a:xfrm>
          <a:prstGeom prst="roundRect">
            <a:avLst>
              <a:gd name="adj" fmla="val 3333"/>
            </a:avLst>
          </a:prstGeom>
          <a:solidFill>
            <a:srgbClr val="FFFFFF"/>
          </a:solidFill>
          <a:ln w="15875">
            <a:solidFill>
              <a:srgbClr val="C7922C"/>
            </a:solidFill>
            <a:prstDash val="solid"/>
          </a:ln>
        </p:spPr>
      </p:sp>
      <p:sp>
        <p:nvSpPr>
          <p:cNvPr id="5" name="Text 3"/>
          <p:cNvSpPr/>
          <p:nvPr/>
        </p:nvSpPr>
        <p:spPr>
          <a:xfrm>
            <a:off x="777240" y="1828800"/>
            <a:ext cx="10637215" cy="2011680"/>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Prompt: </a:t>
            </a:r>
            <a:pPr indent="0" marL="0">
              <a:buNone/>
            </a:pPr>
            <a:r>
              <a:rPr lang="en-US" sz="2200" dirty="0">
                <a:solidFill>
                  <a:srgbClr val="1E293B"/>
                </a:solidFill>
                <a:latin typeface="Calibri" pitchFamily="34" charset="0"/>
                <a:ea typeface="Calibri" pitchFamily="34" charset="-122"/>
                <a:cs typeface="Calibri" pitchFamily="34" charset="-120"/>
              </a:rPr>
              <a:t>In Chapter 15 the lookout cries "Sail ho!" and a strange ship appears. Through all the tension, Nat keeps teaching the crew, even Lem Harvey. Is teaching the crew the most important thing Nat does on this voyage? Defend your answer with evidence. Then answer someone who disagrees.</a:t>
            </a:r>
            <a:endParaRPr lang="en-US" sz="2200" dirty="0"/>
          </a:p>
        </p:txBody>
      </p:sp>
      <p:sp>
        <p:nvSpPr>
          <p:cNvPr id="6" name="Shape 4"/>
          <p:cNvSpPr/>
          <p:nvPr/>
        </p:nvSpPr>
        <p:spPr>
          <a:xfrm>
            <a:off x="2926080" y="4160520"/>
            <a:ext cx="6339535" cy="2286000"/>
          </a:xfrm>
          <a:prstGeom prst="roundRect">
            <a:avLst>
              <a:gd name="adj" fmla="val 3200"/>
            </a:avLst>
          </a:prstGeom>
          <a:solidFill>
            <a:srgbClr val="FFFFFF"/>
          </a:solidFill>
          <a:ln w="15875">
            <a:solidFill>
              <a:srgbClr val="EBD3A2"/>
            </a:solidFill>
            <a:prstDash val="solid"/>
          </a:ln>
        </p:spPr>
      </p:sp>
      <p:sp>
        <p:nvSpPr>
          <p:cNvPr id="7" name="Text 5"/>
          <p:cNvSpPr/>
          <p:nvPr/>
        </p:nvSpPr>
        <p:spPr>
          <a:xfrm>
            <a:off x="3154680" y="4251960"/>
            <a:ext cx="5882335" cy="210312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Scaffold, if you need it:</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 think...</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One piece of evidence is...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This matters 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Someone might disagree, but...</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Edit &amp; Revise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E8E52"/>
                </a:solidFill>
                <a:latin typeface="Calibri" pitchFamily="34" charset="0"/>
                <a:ea typeface="Calibri" pitchFamily="34" charset="-122"/>
                <a:cs typeface="Calibri" pitchFamily="34" charset="-120"/>
              </a:rPr>
              <a:t>1 minute — one deliberate decision, not a full edit pass</a:t>
            </a:r>
            <a:endParaRPr lang="en-US" sz="2200" dirty="0"/>
          </a:p>
        </p:txBody>
      </p:sp>
      <p:sp>
        <p:nvSpPr>
          <p:cNvPr id="4" name="Shape 2"/>
          <p:cNvSpPr/>
          <p:nvPr/>
        </p:nvSpPr>
        <p:spPr>
          <a:xfrm>
            <a:off x="1463040" y="2194560"/>
            <a:ext cx="9265615" cy="1737360"/>
          </a:xfrm>
          <a:prstGeom prst="roundRect">
            <a:avLst>
              <a:gd name="adj" fmla="val 4211"/>
            </a:avLst>
          </a:prstGeom>
          <a:solidFill>
            <a:srgbClr val="FFFFFF"/>
          </a:solidFill>
          <a:ln w="15875">
            <a:solidFill>
              <a:srgbClr val="1E8E52"/>
            </a:solidFill>
            <a:prstDash val="solid"/>
          </a:ln>
        </p:spPr>
      </p:sp>
      <p:sp>
        <p:nvSpPr>
          <p:cNvPr id="5" name="Text 3"/>
          <p:cNvSpPr/>
          <p:nvPr/>
        </p:nvSpPr>
        <p:spPr>
          <a:xfrm>
            <a:off x="1737360" y="2286000"/>
            <a:ext cx="8716975" cy="1554480"/>
          </a:xfrm>
          <a:prstGeom prst="rect">
            <a:avLst/>
          </a:prstGeom>
          <a:noFill/>
          <a:ln/>
        </p:spPr>
        <p:txBody>
          <a:bodyPr wrap="square" lIns="0" tIns="0" rIns="0" bIns="0" rtlCol="0" anchor="ctr"/>
          <a:lstStyle/>
          <a:p>
            <a:pPr algn="ctr" indent="0" marL="0">
              <a:buNone/>
            </a:pPr>
            <a:r>
              <a:rPr lang="en-US" sz="2600" b="1" dirty="0">
                <a:solidFill>
                  <a:srgbClr val="1E8E52"/>
                </a:solidFill>
                <a:latin typeface="Calibri" pitchFamily="34" charset="0"/>
                <a:ea typeface="Calibri" pitchFamily="34" charset="-122"/>
                <a:cs typeface="Calibri" pitchFamily="34" charset="-120"/>
              </a:rPr>
              <a:t>Today's revision check: </a:t>
            </a:r>
            <a:pPr algn="ctr" indent="0" marL="0">
              <a:buNone/>
            </a:pPr>
            <a:r>
              <a:rPr lang="en-US" sz="2600" dirty="0">
                <a:solidFill>
                  <a:srgbClr val="1E293B"/>
                </a:solidFill>
                <a:latin typeface="Calibri" pitchFamily="34" charset="0"/>
                <a:ea typeface="Calibri" pitchFamily="34" charset="-122"/>
                <a:cs typeface="Calibri" pitchFamily="34" charset="-120"/>
              </a:rPr>
              <a:t>Is there a stronger, more specific word I could use here instead of a vague one?</a:t>
            </a:r>
            <a:endParaRPr lang="en-US" sz="2600" dirty="0"/>
          </a:p>
        </p:txBody>
      </p:sp>
      <p:sp>
        <p:nvSpPr>
          <p:cNvPr id="6" name="Text 4"/>
          <p:cNvSpPr/>
          <p:nvPr/>
        </p:nvSpPr>
        <p:spPr>
          <a:xfrm>
            <a:off x="502920" y="4389120"/>
            <a:ext cx="11185855" cy="548640"/>
          </a:xfrm>
          <a:prstGeom prst="rect">
            <a:avLst/>
          </a:prstGeom>
          <a:noFill/>
          <a:ln/>
        </p:spPr>
        <p:txBody>
          <a:bodyPr wrap="square" lIns="0" tIns="0" rIns="0" bIns="0" rtlCol="0" anchor="ctr"/>
          <a:lstStyle/>
          <a:p>
            <a:pPr algn="ctr" indent="0" marL="0">
              <a:buNone/>
            </a:pPr>
            <a:r>
              <a:rPr lang="en-US" sz="2000" i="1" dirty="0">
                <a:solidFill>
                  <a:srgbClr val="475569"/>
                </a:solidFill>
                <a:latin typeface="Calibri" pitchFamily="34" charset="0"/>
                <a:ea typeface="Calibri" pitchFamily="34" charset="-122"/>
                <a:cs typeface="Calibri" pitchFamily="34" charset="-120"/>
              </a:rPr>
              <a:t>Revision = improving ideas.   Editing = fixing conventions.   Pick ONE thing.</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Share Time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B7FA0"/>
                </a:solidFill>
                <a:latin typeface="Calibri" pitchFamily="34" charset="0"/>
                <a:ea typeface="Calibri" pitchFamily="34" charset="-122"/>
                <a:cs typeface="Calibri" pitchFamily="34" charset="-120"/>
              </a:rPr>
              <a:t>3 minutes — let's hear your thinking!</a:t>
            </a:r>
            <a:endParaRPr lang="en-US" sz="2200" dirty="0"/>
          </a:p>
        </p:txBody>
      </p:sp>
      <p:sp>
        <p:nvSpPr>
          <p:cNvPr id="4" name="Shape 2"/>
          <p:cNvSpPr/>
          <p:nvPr/>
        </p:nvSpPr>
        <p:spPr>
          <a:xfrm>
            <a:off x="1828800" y="2194560"/>
            <a:ext cx="8534095" cy="2377440"/>
          </a:xfrm>
          <a:prstGeom prst="roundRect">
            <a:avLst>
              <a:gd name="adj" fmla="val 3077"/>
            </a:avLst>
          </a:prstGeom>
          <a:solidFill>
            <a:srgbClr val="FFFFFF"/>
          </a:solidFill>
          <a:ln w="15875">
            <a:solidFill>
              <a:srgbClr val="55C8E8"/>
            </a:solidFill>
            <a:prstDash val="solid"/>
          </a:ln>
        </p:spPr>
      </p:sp>
      <p:sp>
        <p:nvSpPr>
          <p:cNvPr id="5" name="Text 3"/>
          <p:cNvSpPr/>
          <p:nvPr/>
        </p:nvSpPr>
        <p:spPr>
          <a:xfrm>
            <a:off x="2103120" y="2331720"/>
            <a:ext cx="7985455" cy="2103120"/>
          </a:xfrm>
          <a:prstGeom prst="rect">
            <a:avLst/>
          </a:prstGeom>
          <a:noFill/>
          <a:ln/>
        </p:spPr>
        <p:txBody>
          <a:bodyPr wrap="square" lIns="0" tIns="0" rIns="0" bIns="0" rtlCol="0" anchor="ctr"/>
          <a:lstStyle/>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Raise your hand to share, or paste your writing in the chat.</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If you disagree with a classmate’s choice, say so respectfully — and give your evidence. That is part of the thinking.</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PUT THE ROOTS TO WORK</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fract/frag + rupt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 Two Roots, One Meaning</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fract / frag = break → fracture, fraction, fragment, fragile, infraction</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rupt = break → rupture, erupt, interrupt, disrupt, abrupt</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A fraction is a broken-off piece of a whole number. A fragment is a broken-off piece of anything.</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Fragile means breakable — and a sentence fragment is a broken piece of a sentence.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Watch for: both roots take the prefixes you already know. Inter- + rupt = break between. In- + fract = a breaking of the rules.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fract / frag = break. rupt = burst, break.</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Put the roots to work.</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PUT THE ROOTS TO WORK</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fract/frag + rupt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457200"/>
          </a:xfrm>
          <a:prstGeom prst="rect">
            <a:avLst/>
          </a:prstGeom>
          <a:noFill/>
          <a:ln/>
        </p:spPr>
        <p:txBody>
          <a:bodyPr wrap="square" lIns="0" tIns="0" rIns="0" bIns="0" rtlCol="0" anchor="ctr"/>
          <a:lstStyle/>
          <a:p>
            <a:pPr indent="0" marL="0">
              <a:buNone/>
            </a:pPr>
            <a:r>
              <a:rPr lang="en-US" sz="2000" i="1" dirty="0">
                <a:solidFill>
                  <a:srgbClr val="C7922C"/>
                </a:solidFill>
                <a:latin typeface="Calibri" pitchFamily="34" charset="0"/>
                <a:ea typeface="Calibri" pitchFamily="34" charset="-122"/>
                <a:cs typeface="Calibri" pitchFamily="34" charset="-120"/>
              </a:rPr>
              <a:t>Word bank: fragment · fracture · interrupt · eruption</a:t>
            </a:r>
            <a:endParaRPr lang="en-US" sz="2000" dirty="0"/>
          </a:p>
        </p:txBody>
      </p:sp>
      <p:sp>
        <p:nvSpPr>
          <p:cNvPr id="9" name="Shape 7"/>
          <p:cNvSpPr/>
          <p:nvPr/>
        </p:nvSpPr>
        <p:spPr>
          <a:xfrm>
            <a:off x="502920" y="2103120"/>
            <a:ext cx="11185855" cy="948690"/>
          </a:xfrm>
          <a:prstGeom prst="roundRect">
            <a:avLst>
              <a:gd name="adj" fmla="val 7711"/>
            </a:avLst>
          </a:prstGeom>
          <a:solidFill>
            <a:srgbClr val="F8FAFC"/>
          </a:solidFill>
          <a:ln w="15875">
            <a:solidFill>
              <a:srgbClr val="CBD5E1"/>
            </a:solidFill>
            <a:prstDash val="solid"/>
          </a:ln>
        </p:spPr>
      </p:sp>
      <p:sp>
        <p:nvSpPr>
          <p:cNvPr id="10" name="Text 8"/>
          <p:cNvSpPr/>
          <p:nvPr/>
        </p:nvSpPr>
        <p:spPr>
          <a:xfrm>
            <a:off x="731520" y="21031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A piece broken off something is a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502920" y="3188970"/>
            <a:ext cx="11185855" cy="948690"/>
          </a:xfrm>
          <a:prstGeom prst="roundRect">
            <a:avLst>
              <a:gd name="adj" fmla="val 7711"/>
            </a:avLst>
          </a:prstGeom>
          <a:solidFill>
            <a:srgbClr val="F8FAFC"/>
          </a:solidFill>
          <a:ln w="15875">
            <a:solidFill>
              <a:srgbClr val="CBD5E1"/>
            </a:solidFill>
            <a:prstDash val="solid"/>
          </a:ln>
        </p:spPr>
      </p:sp>
      <p:sp>
        <p:nvSpPr>
          <p:cNvPr id="12" name="Text 10"/>
          <p:cNvSpPr/>
          <p:nvPr/>
        </p:nvSpPr>
        <p:spPr>
          <a:xfrm>
            <a:off x="731520" y="31889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A broken bone is a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502920" y="4274820"/>
            <a:ext cx="11185855" cy="948690"/>
          </a:xfrm>
          <a:prstGeom prst="roundRect">
            <a:avLst>
              <a:gd name="adj" fmla="val 7711"/>
            </a:avLst>
          </a:prstGeom>
          <a:solidFill>
            <a:srgbClr val="F8FAFC"/>
          </a:solidFill>
          <a:ln w="15875">
            <a:solidFill>
              <a:srgbClr val="CBD5E1"/>
            </a:solidFill>
            <a:prstDash val="solid"/>
          </a:ln>
        </p:spPr>
      </p:sp>
      <p:sp>
        <p:nvSpPr>
          <p:cNvPr id="14" name="Text 12"/>
          <p:cNvSpPr/>
          <p:nvPr/>
        </p:nvSpPr>
        <p:spPr>
          <a:xfrm>
            <a:off x="731520" y="42748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To break into someone’s speech is to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them.</a:t>
            </a:r>
            <a:endParaRPr lang="en-US" sz="2200" dirty="0"/>
          </a:p>
        </p:txBody>
      </p:sp>
      <p:sp>
        <p:nvSpPr>
          <p:cNvPr id="15" name="Shape 13"/>
          <p:cNvSpPr/>
          <p:nvPr/>
        </p:nvSpPr>
        <p:spPr>
          <a:xfrm>
            <a:off x="502920" y="5360670"/>
            <a:ext cx="11185855" cy="948690"/>
          </a:xfrm>
          <a:prstGeom prst="roundRect">
            <a:avLst>
              <a:gd name="adj" fmla="val 7711"/>
            </a:avLst>
          </a:prstGeom>
          <a:solidFill>
            <a:srgbClr val="F8FAFC"/>
          </a:solidFill>
          <a:ln w="15875">
            <a:solidFill>
              <a:srgbClr val="CBD5E1"/>
            </a:solidFill>
            <a:prstDash val="solid"/>
          </a:ln>
        </p:spPr>
      </p:sp>
      <p:sp>
        <p:nvSpPr>
          <p:cNvPr id="16" name="Text 14"/>
          <p:cNvSpPr/>
          <p:nvPr/>
        </p:nvSpPr>
        <p:spPr>
          <a:xfrm>
            <a:off x="731520" y="53606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When a volcano bursts open it is an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PUT THE ROOTS TO WORK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fract/frag + rupt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2103120"/>
            <a:ext cx="11185855" cy="948690"/>
          </a:xfrm>
          <a:prstGeom prst="roundRect">
            <a:avLst>
              <a:gd name="adj" fmla="val 7711"/>
            </a:avLst>
          </a:prstGeom>
          <a:solidFill>
            <a:srgbClr val="E8F8EF"/>
          </a:solidFill>
          <a:ln w="15875">
            <a:solidFill>
              <a:srgbClr val="9ED9B5"/>
            </a:solidFill>
            <a:prstDash val="solid"/>
          </a:ln>
        </p:spPr>
      </p:sp>
      <p:sp>
        <p:nvSpPr>
          <p:cNvPr id="9" name="Text 7"/>
          <p:cNvSpPr/>
          <p:nvPr/>
        </p:nvSpPr>
        <p:spPr>
          <a:xfrm>
            <a:off x="731520" y="21031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A piece broken off something is a </a:t>
            </a:r>
            <a:pPr indent="0" marL="0">
              <a:buNone/>
            </a:pPr>
            <a:r>
              <a:rPr lang="en-US" sz="2200" b="1" dirty="0">
                <a:solidFill>
                  <a:srgbClr val="1E8E52"/>
                </a:solidFill>
                <a:latin typeface="Calibri" pitchFamily="34" charset="0"/>
                <a:ea typeface="Calibri" pitchFamily="34" charset="-122"/>
                <a:cs typeface="Calibri" pitchFamily="34" charset="-120"/>
              </a:rPr>
              <a:t>fragment</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502920" y="3188970"/>
            <a:ext cx="11185855" cy="948690"/>
          </a:xfrm>
          <a:prstGeom prst="roundRect">
            <a:avLst>
              <a:gd name="adj" fmla="val 7711"/>
            </a:avLst>
          </a:prstGeom>
          <a:solidFill>
            <a:srgbClr val="E8F8EF"/>
          </a:solidFill>
          <a:ln w="15875">
            <a:solidFill>
              <a:srgbClr val="9ED9B5"/>
            </a:solidFill>
            <a:prstDash val="solid"/>
          </a:ln>
        </p:spPr>
      </p:sp>
      <p:sp>
        <p:nvSpPr>
          <p:cNvPr id="11" name="Text 9"/>
          <p:cNvSpPr/>
          <p:nvPr/>
        </p:nvSpPr>
        <p:spPr>
          <a:xfrm>
            <a:off x="731520" y="31889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A broken bone is a </a:t>
            </a:r>
            <a:pPr indent="0" marL="0">
              <a:buNone/>
            </a:pPr>
            <a:r>
              <a:rPr lang="en-US" sz="2200" b="1" dirty="0">
                <a:solidFill>
                  <a:srgbClr val="1E8E52"/>
                </a:solidFill>
                <a:latin typeface="Calibri" pitchFamily="34" charset="0"/>
                <a:ea typeface="Calibri" pitchFamily="34" charset="-122"/>
                <a:cs typeface="Calibri" pitchFamily="34" charset="-120"/>
              </a:rPr>
              <a:t>fracture</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502920" y="4274820"/>
            <a:ext cx="11185855" cy="948690"/>
          </a:xfrm>
          <a:prstGeom prst="roundRect">
            <a:avLst>
              <a:gd name="adj" fmla="val 7711"/>
            </a:avLst>
          </a:prstGeom>
          <a:solidFill>
            <a:srgbClr val="E8F8EF"/>
          </a:solidFill>
          <a:ln w="15875">
            <a:solidFill>
              <a:srgbClr val="9ED9B5"/>
            </a:solidFill>
            <a:prstDash val="solid"/>
          </a:ln>
        </p:spPr>
      </p:sp>
      <p:sp>
        <p:nvSpPr>
          <p:cNvPr id="13" name="Text 11"/>
          <p:cNvSpPr/>
          <p:nvPr/>
        </p:nvSpPr>
        <p:spPr>
          <a:xfrm>
            <a:off x="731520" y="42748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To break into someone’s speech is to </a:t>
            </a:r>
            <a:pPr indent="0" marL="0">
              <a:buNone/>
            </a:pPr>
            <a:r>
              <a:rPr lang="en-US" sz="2200" b="1" dirty="0">
                <a:solidFill>
                  <a:srgbClr val="1E8E52"/>
                </a:solidFill>
                <a:latin typeface="Calibri" pitchFamily="34" charset="0"/>
                <a:ea typeface="Calibri" pitchFamily="34" charset="-122"/>
                <a:cs typeface="Calibri" pitchFamily="34" charset="-120"/>
              </a:rPr>
              <a:t>interrupt</a:t>
            </a:r>
            <a:pPr indent="0" marL="0">
              <a:buNone/>
            </a:pPr>
            <a:r>
              <a:rPr lang="en-US" sz="2200" dirty="0">
                <a:solidFill>
                  <a:srgbClr val="1E293B"/>
                </a:solidFill>
                <a:latin typeface="Calibri" pitchFamily="34" charset="0"/>
                <a:ea typeface="Calibri" pitchFamily="34" charset="-122"/>
                <a:cs typeface="Calibri" pitchFamily="34" charset="-120"/>
              </a:rPr>
              <a:t> them.</a:t>
            </a:r>
            <a:endParaRPr lang="en-US" sz="2200" dirty="0"/>
          </a:p>
        </p:txBody>
      </p:sp>
      <p:sp>
        <p:nvSpPr>
          <p:cNvPr id="14" name="Shape 12"/>
          <p:cNvSpPr/>
          <p:nvPr/>
        </p:nvSpPr>
        <p:spPr>
          <a:xfrm>
            <a:off x="502920" y="5360670"/>
            <a:ext cx="11185855" cy="948690"/>
          </a:xfrm>
          <a:prstGeom prst="roundRect">
            <a:avLst>
              <a:gd name="adj" fmla="val 7711"/>
            </a:avLst>
          </a:prstGeom>
          <a:solidFill>
            <a:srgbClr val="E8F8EF"/>
          </a:solidFill>
          <a:ln w="15875">
            <a:solidFill>
              <a:srgbClr val="9ED9B5"/>
            </a:solidFill>
            <a:prstDash val="solid"/>
          </a:ln>
        </p:spPr>
      </p:sp>
      <p:sp>
        <p:nvSpPr>
          <p:cNvPr id="15" name="Text 13"/>
          <p:cNvSpPr/>
          <p:nvPr/>
        </p:nvSpPr>
        <p:spPr>
          <a:xfrm>
            <a:off x="731520" y="53606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When a volcano bursts open it is an </a:t>
            </a:r>
            <a:pPr indent="0" marL="0">
              <a:buNone/>
            </a:pPr>
            <a:r>
              <a:rPr lang="en-US" sz="2200" b="1" dirty="0">
                <a:solidFill>
                  <a:srgbClr val="1E8E52"/>
                </a:solidFill>
                <a:latin typeface="Calibri" pitchFamily="34" charset="0"/>
                <a:ea typeface="Calibri" pitchFamily="34" charset="-122"/>
                <a:cs typeface="Calibri" pitchFamily="34" charset="-120"/>
              </a:rPr>
              <a:t>eruption</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PUT THE ROOTS TO WORK</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fract/frag + rupt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A rope parts suddenly under strain. Which word names that kind of break?</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rupture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fraction</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A piece has broken off a whole. Which word names it?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interrupt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fragment</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Something is easily broken. Which word describes it?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fragile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abrupt</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PUT THE ROOTS TO WORK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fract/frag + rupt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A rope parts suddenly under strain. Which word names that kind of break?</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rupture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fraction</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A piece has broken off a whole. Which word names it?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interrupt</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fragment</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Something is easily broken. Which word describes it?</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fragile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abrupt</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COMPLETE SENTENCES WITH THIS WEEK’S WORDS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Fill In the Blank</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085850"/>
          </a:xfrm>
          <a:prstGeom prst="roundRect">
            <a:avLst>
              <a:gd name="adj" fmla="val 6737"/>
            </a:avLst>
          </a:prstGeom>
          <a:solidFill>
            <a:srgbClr val="F8FAFC"/>
          </a:solidFill>
          <a:ln w="15875">
            <a:solidFill>
              <a:srgbClr val="CBD5E1"/>
            </a:solidFill>
            <a:prstDash val="solid"/>
          </a:ln>
        </p:spPr>
      </p:sp>
      <p:sp>
        <p:nvSpPr>
          <p:cNvPr id="9" name="Text 7"/>
          <p:cNvSpPr/>
          <p:nvPr/>
        </p:nvSpPr>
        <p:spPr>
          <a:xfrm>
            <a:off x="731520" y="155448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Nat’s goal was to make navigation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 useful for every sailor, not just the mathematically educated.</a:t>
            </a:r>
            <a:endParaRPr lang="en-US" sz="2200" dirty="0"/>
          </a:p>
        </p:txBody>
      </p:sp>
      <p:sp>
        <p:nvSpPr>
          <p:cNvPr id="10" name="Shape 8"/>
          <p:cNvSpPr/>
          <p:nvPr/>
        </p:nvSpPr>
        <p:spPr>
          <a:xfrm>
            <a:off x="502920" y="2777490"/>
            <a:ext cx="11185855" cy="1085850"/>
          </a:xfrm>
          <a:prstGeom prst="roundRect">
            <a:avLst>
              <a:gd name="adj" fmla="val 6737"/>
            </a:avLst>
          </a:prstGeom>
          <a:solidFill>
            <a:srgbClr val="F8FAFC"/>
          </a:solidFill>
          <a:ln w="15875">
            <a:solidFill>
              <a:srgbClr val="CBD5E1"/>
            </a:solidFill>
            <a:prstDash val="solid"/>
          </a:ln>
        </p:spPr>
      </p:sp>
      <p:sp>
        <p:nvSpPr>
          <p:cNvPr id="11" name="Text 9"/>
          <p:cNvSpPr/>
          <p:nvPr/>
        </p:nvSpPr>
        <p:spPr>
          <a:xfrm>
            <a:off x="731520" y="277749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One of the tables in Moore’s Navigator was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Nat found a mistake in its figures.</a:t>
            </a:r>
            <a:endParaRPr lang="en-US" sz="2200" dirty="0"/>
          </a:p>
        </p:txBody>
      </p:sp>
      <p:sp>
        <p:nvSpPr>
          <p:cNvPr id="12" name="Shape 10"/>
          <p:cNvSpPr/>
          <p:nvPr/>
        </p:nvSpPr>
        <p:spPr>
          <a:xfrm>
            <a:off x="502920" y="4000500"/>
            <a:ext cx="11185855" cy="1085850"/>
          </a:xfrm>
          <a:prstGeom prst="roundRect">
            <a:avLst>
              <a:gd name="adj" fmla="val 6737"/>
            </a:avLst>
          </a:prstGeom>
          <a:solidFill>
            <a:srgbClr val="F8FAFC"/>
          </a:solidFill>
          <a:ln w="15875">
            <a:solidFill>
              <a:srgbClr val="CBD5E1"/>
            </a:solidFill>
            <a:prstDash val="solid"/>
          </a:ln>
        </p:spPr>
      </p:sp>
      <p:sp>
        <p:nvSpPr>
          <p:cNvPr id="13" name="Text 11"/>
          <p:cNvSpPr/>
          <p:nvPr/>
        </p:nvSpPr>
        <p:spPr>
          <a:xfrm>
            <a:off x="731520" y="400050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Taking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observations — measuring the moon’s angle from a known star — allowed navigators to find longitude at sea.</a:t>
            </a:r>
            <a:endParaRPr lang="en-US" sz="2200" dirty="0"/>
          </a:p>
        </p:txBody>
      </p:sp>
      <p:sp>
        <p:nvSpPr>
          <p:cNvPr id="14" name="Shape 12"/>
          <p:cNvSpPr/>
          <p:nvPr/>
        </p:nvSpPr>
        <p:spPr>
          <a:xfrm>
            <a:off x="502920" y="5223510"/>
            <a:ext cx="11185855" cy="1085850"/>
          </a:xfrm>
          <a:prstGeom prst="roundRect">
            <a:avLst>
              <a:gd name="adj" fmla="val 6737"/>
            </a:avLst>
          </a:prstGeom>
          <a:solidFill>
            <a:srgbClr val="F8FAFC"/>
          </a:solidFill>
          <a:ln w="15875">
            <a:solidFill>
              <a:srgbClr val="CBD5E1"/>
            </a:solidFill>
            <a:prstDash val="solid"/>
          </a:ln>
        </p:spPr>
      </p:sp>
      <p:sp>
        <p:nvSpPr>
          <p:cNvPr id="15" name="Text 13"/>
          <p:cNvSpPr/>
          <p:nvPr/>
        </p:nvSpPr>
        <p:spPr>
          <a:xfrm>
            <a:off x="731520" y="522351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Without accurate charts, sailing close to an unknown coastline was deeply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COMPLETE SENTENCES WITH THIS WEEK’S WORDS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Fill In the Blank</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085850"/>
          </a:xfrm>
          <a:prstGeom prst="roundRect">
            <a:avLst>
              <a:gd name="adj" fmla="val 6737"/>
            </a:avLst>
          </a:prstGeom>
          <a:solidFill>
            <a:srgbClr val="E8F8EF"/>
          </a:solidFill>
          <a:ln w="15875">
            <a:solidFill>
              <a:srgbClr val="9ED9B5"/>
            </a:solidFill>
            <a:prstDash val="solid"/>
          </a:ln>
        </p:spPr>
      </p:sp>
      <p:sp>
        <p:nvSpPr>
          <p:cNvPr id="9" name="Text 7"/>
          <p:cNvSpPr/>
          <p:nvPr/>
        </p:nvSpPr>
        <p:spPr>
          <a:xfrm>
            <a:off x="731520" y="155448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Nat’s goal was to make navigation </a:t>
            </a:r>
            <a:pPr indent="0" marL="0">
              <a:buNone/>
            </a:pPr>
            <a:r>
              <a:rPr lang="en-US" sz="2200" b="1" dirty="0">
                <a:solidFill>
                  <a:srgbClr val="1E8E52"/>
                </a:solidFill>
                <a:latin typeface="Calibri" pitchFamily="34" charset="0"/>
                <a:ea typeface="Calibri" pitchFamily="34" charset="-122"/>
                <a:cs typeface="Calibri" pitchFamily="34" charset="-120"/>
              </a:rPr>
              <a:t>practical</a:t>
            </a:r>
            <a:pPr indent="0" marL="0">
              <a:buNone/>
            </a:pPr>
            <a:r>
              <a:rPr lang="en-US" sz="2200" dirty="0">
                <a:solidFill>
                  <a:srgbClr val="1E293B"/>
                </a:solidFill>
                <a:latin typeface="Calibri" pitchFamily="34" charset="0"/>
                <a:ea typeface="Calibri" pitchFamily="34" charset="-122"/>
                <a:cs typeface="Calibri" pitchFamily="34" charset="-120"/>
              </a:rPr>
              <a:t> — useful for every sailor, not just the mathematically educated.</a:t>
            </a:r>
            <a:endParaRPr lang="en-US" sz="2200" dirty="0"/>
          </a:p>
        </p:txBody>
      </p:sp>
      <p:sp>
        <p:nvSpPr>
          <p:cNvPr id="10" name="Shape 8"/>
          <p:cNvSpPr/>
          <p:nvPr/>
        </p:nvSpPr>
        <p:spPr>
          <a:xfrm>
            <a:off x="502920" y="2777490"/>
            <a:ext cx="11185855" cy="1085850"/>
          </a:xfrm>
          <a:prstGeom prst="roundRect">
            <a:avLst>
              <a:gd name="adj" fmla="val 6737"/>
            </a:avLst>
          </a:prstGeom>
          <a:solidFill>
            <a:srgbClr val="E8F8EF"/>
          </a:solidFill>
          <a:ln w="15875">
            <a:solidFill>
              <a:srgbClr val="9ED9B5"/>
            </a:solidFill>
            <a:prstDash val="solid"/>
          </a:ln>
        </p:spPr>
      </p:sp>
      <p:sp>
        <p:nvSpPr>
          <p:cNvPr id="11" name="Text 9"/>
          <p:cNvSpPr/>
          <p:nvPr/>
        </p:nvSpPr>
        <p:spPr>
          <a:xfrm>
            <a:off x="731520" y="277749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One of the tables in Moore’s Navigator was </a:t>
            </a:r>
            <a:pPr indent="0" marL="0">
              <a:buNone/>
            </a:pPr>
            <a:r>
              <a:rPr lang="en-US" sz="2200" b="1" dirty="0">
                <a:solidFill>
                  <a:srgbClr val="1E8E52"/>
                </a:solidFill>
                <a:latin typeface="Calibri" pitchFamily="34" charset="0"/>
                <a:ea typeface="Calibri" pitchFamily="34" charset="-122"/>
                <a:cs typeface="Calibri" pitchFamily="34" charset="-120"/>
              </a:rPr>
              <a:t>erroneous</a:t>
            </a:r>
            <a:pPr indent="0" marL="0">
              <a:buNone/>
            </a:pPr>
            <a:r>
              <a:rPr lang="en-US" sz="2200" dirty="0">
                <a:solidFill>
                  <a:srgbClr val="1E293B"/>
                </a:solidFill>
                <a:latin typeface="Calibri" pitchFamily="34" charset="0"/>
                <a:ea typeface="Calibri" pitchFamily="34" charset="-122"/>
                <a:cs typeface="Calibri" pitchFamily="34" charset="-120"/>
              </a:rPr>
              <a:t>: Nat found a mistake in its figures.</a:t>
            </a:r>
            <a:endParaRPr lang="en-US" sz="2200" dirty="0"/>
          </a:p>
        </p:txBody>
      </p:sp>
      <p:sp>
        <p:nvSpPr>
          <p:cNvPr id="12" name="Shape 10"/>
          <p:cNvSpPr/>
          <p:nvPr/>
        </p:nvSpPr>
        <p:spPr>
          <a:xfrm>
            <a:off x="502920" y="4000500"/>
            <a:ext cx="11185855" cy="1085850"/>
          </a:xfrm>
          <a:prstGeom prst="roundRect">
            <a:avLst>
              <a:gd name="adj" fmla="val 6737"/>
            </a:avLst>
          </a:prstGeom>
          <a:solidFill>
            <a:srgbClr val="E8F8EF"/>
          </a:solidFill>
          <a:ln w="15875">
            <a:solidFill>
              <a:srgbClr val="9ED9B5"/>
            </a:solidFill>
            <a:prstDash val="solid"/>
          </a:ln>
        </p:spPr>
      </p:sp>
      <p:sp>
        <p:nvSpPr>
          <p:cNvPr id="13" name="Text 11"/>
          <p:cNvSpPr/>
          <p:nvPr/>
        </p:nvSpPr>
        <p:spPr>
          <a:xfrm>
            <a:off x="731520" y="400050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Taking </a:t>
            </a:r>
            <a:pPr indent="0" marL="0">
              <a:buNone/>
            </a:pPr>
            <a:r>
              <a:rPr lang="en-US" sz="2200" b="1" dirty="0">
                <a:solidFill>
                  <a:srgbClr val="1E8E52"/>
                </a:solidFill>
                <a:latin typeface="Calibri" pitchFamily="34" charset="0"/>
                <a:ea typeface="Calibri" pitchFamily="34" charset="-122"/>
                <a:cs typeface="Calibri" pitchFamily="34" charset="-120"/>
              </a:rPr>
              <a:t>lunar</a:t>
            </a:r>
            <a:pPr indent="0" marL="0">
              <a:buNone/>
            </a:pPr>
            <a:r>
              <a:rPr lang="en-US" sz="2200" dirty="0">
                <a:solidFill>
                  <a:srgbClr val="1E293B"/>
                </a:solidFill>
                <a:latin typeface="Calibri" pitchFamily="34" charset="0"/>
                <a:ea typeface="Calibri" pitchFamily="34" charset="-122"/>
                <a:cs typeface="Calibri" pitchFamily="34" charset="-120"/>
              </a:rPr>
              <a:t> observations — measuring the moon’s angle from a known star — allowed navigators to find longitude at sea.</a:t>
            </a:r>
            <a:endParaRPr lang="en-US" sz="2200" dirty="0"/>
          </a:p>
        </p:txBody>
      </p:sp>
      <p:sp>
        <p:nvSpPr>
          <p:cNvPr id="14" name="Shape 12"/>
          <p:cNvSpPr/>
          <p:nvPr/>
        </p:nvSpPr>
        <p:spPr>
          <a:xfrm>
            <a:off x="502920" y="5223510"/>
            <a:ext cx="11185855" cy="1085850"/>
          </a:xfrm>
          <a:prstGeom prst="roundRect">
            <a:avLst>
              <a:gd name="adj" fmla="val 6737"/>
            </a:avLst>
          </a:prstGeom>
          <a:solidFill>
            <a:srgbClr val="E8F8EF"/>
          </a:solidFill>
          <a:ln w="15875">
            <a:solidFill>
              <a:srgbClr val="9ED9B5"/>
            </a:solidFill>
            <a:prstDash val="solid"/>
          </a:ln>
        </p:spPr>
      </p:sp>
      <p:sp>
        <p:nvSpPr>
          <p:cNvPr id="15" name="Text 13"/>
          <p:cNvSpPr/>
          <p:nvPr/>
        </p:nvSpPr>
        <p:spPr>
          <a:xfrm>
            <a:off x="731520" y="522351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Without accurate charts, sailing close to an unknown coastline was deeply </a:t>
            </a:r>
            <a:pPr indent="0" marL="0">
              <a:buNone/>
            </a:pPr>
            <a:r>
              <a:rPr lang="en-US" sz="2200" b="1" dirty="0">
                <a:solidFill>
                  <a:srgbClr val="1E8E52"/>
                </a:solidFill>
                <a:latin typeface="Calibri" pitchFamily="34" charset="0"/>
                <a:ea typeface="Calibri" pitchFamily="34" charset="-122"/>
                <a:cs typeface="Calibri" pitchFamily="34" charset="-120"/>
              </a:rPr>
              <a:t>hazardous</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PLACE THE COMMA YOURSELF</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Commas with Introductory Phrases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900"/>
              </a:spcAft>
              <a:buNone/>
            </a:pPr>
            <a:r>
              <a:rPr lang="en-US" sz="2100" dirty="0">
                <a:solidFill>
                  <a:srgbClr val="1E293B"/>
                </a:solidFill>
                <a:latin typeface="Calibri" pitchFamily="34" charset="0"/>
                <a:ea typeface="Calibri" pitchFamily="34" charset="-122"/>
                <a:cs typeface="Calibri" pitchFamily="34" charset="-120"/>
              </a:rPr>
              <a:t>Before you start: find the comma and ask what the part in front of it is doing.</a:t>
            </a:r>
            <a:endParaRPr lang="en-US" sz="2100" dirty="0"/>
          </a:p>
          <a:p>
            <a:pPr indent="0" marL="0">
              <a:spcAft>
                <a:spcPts val="900"/>
              </a:spcAft>
              <a:buNone/>
            </a:pPr>
            <a:r>
              <a:rPr lang="en-US" sz="2100" dirty="0">
                <a:solidFill>
                  <a:srgbClr val="1E293B"/>
                </a:solidFill>
                <a:latin typeface="Calibri" pitchFamily="34" charset="0"/>
                <a:ea typeface="Calibri" pitchFamily="34" charset="-122"/>
                <a:cs typeface="Calibri" pitchFamily="34" charset="-120"/>
              </a:rPr>
              <a:t>Now use it. Chapter 15 moves quickly through time and place — “Near the end of July,” “The next day,” “After one week” — and Latham often marks each shift with an introductory phrase. Choose the correctly punctuated version.</a:t>
            </a:r>
            <a:endParaRPr lang="en-US" sz="2100" dirty="0"/>
          </a:p>
          <a:p>
            <a:pPr indent="0" marL="0">
              <a:spcAft>
                <a:spcPts val="900"/>
              </a:spcAft>
              <a:buNone/>
            </a:pPr>
            <a:r>
              <a:rPr lang="en-US" sz="2100" dirty="0">
                <a:solidFill>
                  <a:srgbClr val="1E293B"/>
                </a:solidFill>
                <a:latin typeface="Calibri" pitchFamily="34" charset="0"/>
                <a:ea typeface="Calibri" pitchFamily="34" charset="-122"/>
                <a:cs typeface="Calibri" pitchFamily="34" charset="-120"/>
              </a:rPr>
              <a:t>Write your revised sentences in your reading journal.</a:t>
            </a:r>
            <a:endParaRPr lang="en-US" sz="2100" dirty="0"/>
          </a:p>
          <a:p>
            <a:pPr indent="0" marL="0">
              <a:spcAft>
                <a:spcPts val="900"/>
              </a:spcAft>
              <a:buNone/>
            </a:pPr>
            <a:r>
              <a:rPr lang="en-US" sz="2100" dirty="0">
                <a:solidFill>
                  <a:srgbClr val="1E293B"/>
                </a:solidFill>
                <a:latin typeface="Calibri" pitchFamily="34" charset="0"/>
                <a:ea typeface="Calibri" pitchFamily="34" charset="-122"/>
                <a:cs typeface="Calibri" pitchFamily="34" charset="-120"/>
              </a:rPr>
              <a:t>An introductory phrase comes before the main sentence and takes a comma after it.</a:t>
            </a:r>
            <a:endParaRPr lang="en-US" sz="2100" dirty="0"/>
          </a:p>
          <a:p>
            <a:pPr indent="0" marL="0">
              <a:spcAft>
                <a:spcPts val="900"/>
              </a:spcAft>
              <a:buNone/>
            </a:pPr>
            <a:r>
              <a:rPr lang="en-US" sz="2100" dirty="0">
                <a:solidFill>
                  <a:srgbClr val="1E293B"/>
                </a:solidFill>
                <a:latin typeface="Calibri" pitchFamily="34" charset="0"/>
                <a:ea typeface="Calibri" pitchFamily="34" charset="-122"/>
                <a:cs typeface="Calibri" pitchFamily="34" charset="-120"/>
              </a:rPr>
              <a:t>Place the comma. Type the last word of the introductory phrase.</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PLACE THE COMMA YOURSELF</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Commas with Introductory Phrases</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085850"/>
          </a:xfrm>
          <a:prstGeom prst="roundRect">
            <a:avLst>
              <a:gd name="adj" fmla="val 6737"/>
            </a:avLst>
          </a:prstGeom>
          <a:solidFill>
            <a:srgbClr val="F8FAFC"/>
          </a:solidFill>
          <a:ln w="15875">
            <a:solidFill>
              <a:srgbClr val="CBD5E1"/>
            </a:solidFill>
            <a:prstDash val="solid"/>
          </a:ln>
        </p:spPr>
      </p:sp>
      <p:sp>
        <p:nvSpPr>
          <p:cNvPr id="9" name="Text 7"/>
          <p:cNvSpPr/>
          <p:nvPr/>
        </p:nvSpPr>
        <p:spPr>
          <a:xfrm>
            <a:off x="731520" y="155448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After three years at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Nat came home with a notebook full of corrections.</a:t>
            </a:r>
            <a:endParaRPr lang="en-US" sz="2200" dirty="0"/>
          </a:p>
        </p:txBody>
      </p:sp>
      <p:sp>
        <p:nvSpPr>
          <p:cNvPr id="10" name="Shape 8"/>
          <p:cNvSpPr/>
          <p:nvPr/>
        </p:nvSpPr>
        <p:spPr>
          <a:xfrm>
            <a:off x="502920" y="2777490"/>
            <a:ext cx="11185855" cy="1085850"/>
          </a:xfrm>
          <a:prstGeom prst="roundRect">
            <a:avLst>
              <a:gd name="adj" fmla="val 6737"/>
            </a:avLst>
          </a:prstGeom>
          <a:solidFill>
            <a:srgbClr val="F8FAFC"/>
          </a:solidFill>
          <a:ln w="15875">
            <a:solidFill>
              <a:srgbClr val="CBD5E1"/>
            </a:solidFill>
            <a:prstDash val="solid"/>
          </a:ln>
        </p:spPr>
      </p:sp>
      <p:sp>
        <p:nvSpPr>
          <p:cNvPr id="11" name="Text 9"/>
          <p:cNvSpPr/>
          <p:nvPr/>
        </p:nvSpPr>
        <p:spPr>
          <a:xfrm>
            <a:off x="731520" y="277749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In the ship’s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he worked by lamplight.</a:t>
            </a:r>
            <a:endParaRPr lang="en-US" sz="2200" dirty="0"/>
          </a:p>
        </p:txBody>
      </p:sp>
      <p:sp>
        <p:nvSpPr>
          <p:cNvPr id="12" name="Shape 10"/>
          <p:cNvSpPr/>
          <p:nvPr/>
        </p:nvSpPr>
        <p:spPr>
          <a:xfrm>
            <a:off x="502920" y="4000500"/>
            <a:ext cx="11185855" cy="1085850"/>
          </a:xfrm>
          <a:prstGeom prst="roundRect">
            <a:avLst>
              <a:gd name="adj" fmla="val 6737"/>
            </a:avLst>
          </a:prstGeom>
          <a:solidFill>
            <a:srgbClr val="F8FAFC"/>
          </a:solidFill>
          <a:ln w="15875">
            <a:solidFill>
              <a:srgbClr val="CBD5E1"/>
            </a:solidFill>
            <a:prstDash val="solid"/>
          </a:ln>
        </p:spPr>
      </p:sp>
      <p:sp>
        <p:nvSpPr>
          <p:cNvPr id="13" name="Text 11"/>
          <p:cNvSpPr/>
          <p:nvPr/>
        </p:nvSpPr>
        <p:spPr>
          <a:xfrm>
            <a:off x="731520" y="400050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Because the tables were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ships were running aground.</a:t>
            </a:r>
            <a:endParaRPr lang="en-US" sz="2200" dirty="0"/>
          </a:p>
        </p:txBody>
      </p:sp>
      <p:sp>
        <p:nvSpPr>
          <p:cNvPr id="14" name="Shape 12"/>
          <p:cNvSpPr/>
          <p:nvPr/>
        </p:nvSpPr>
        <p:spPr>
          <a:xfrm>
            <a:off x="502920" y="5223510"/>
            <a:ext cx="11185855" cy="1085850"/>
          </a:xfrm>
          <a:prstGeom prst="roundRect">
            <a:avLst>
              <a:gd name="adj" fmla="val 6737"/>
            </a:avLst>
          </a:prstGeom>
          <a:solidFill>
            <a:srgbClr val="F8FAFC"/>
          </a:solidFill>
          <a:ln w="15875">
            <a:solidFill>
              <a:srgbClr val="CBD5E1"/>
            </a:solidFill>
            <a:prstDash val="solid"/>
          </a:ln>
        </p:spPr>
      </p:sp>
      <p:sp>
        <p:nvSpPr>
          <p:cNvPr id="15" name="Text 13"/>
          <p:cNvSpPr/>
          <p:nvPr/>
        </p:nvSpPr>
        <p:spPr>
          <a:xfrm>
            <a:off x="731520" y="522351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By the time he sailed on the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he had taught himself three languages.</a:t>
            </a:r>
            <a:endParaRPr lang="en-US" sz="2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PLACE THE COMMA YOURSELF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Commas with Introductory Phrases</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085850"/>
          </a:xfrm>
          <a:prstGeom prst="roundRect">
            <a:avLst>
              <a:gd name="adj" fmla="val 6737"/>
            </a:avLst>
          </a:prstGeom>
          <a:solidFill>
            <a:srgbClr val="E8F8EF"/>
          </a:solidFill>
          <a:ln w="15875">
            <a:solidFill>
              <a:srgbClr val="9ED9B5"/>
            </a:solidFill>
            <a:prstDash val="solid"/>
          </a:ln>
        </p:spPr>
      </p:sp>
      <p:sp>
        <p:nvSpPr>
          <p:cNvPr id="9" name="Text 7"/>
          <p:cNvSpPr/>
          <p:nvPr/>
        </p:nvSpPr>
        <p:spPr>
          <a:xfrm>
            <a:off x="731520" y="155448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After three years at </a:t>
            </a:r>
            <a:pPr indent="0" marL="0">
              <a:buNone/>
            </a:pPr>
            <a:r>
              <a:rPr lang="en-US" sz="2200" b="1" dirty="0">
                <a:solidFill>
                  <a:srgbClr val="1E8E52"/>
                </a:solidFill>
                <a:latin typeface="Calibri" pitchFamily="34" charset="0"/>
                <a:ea typeface="Calibri" pitchFamily="34" charset="-122"/>
                <a:cs typeface="Calibri" pitchFamily="34" charset="-120"/>
              </a:rPr>
              <a:t>sea</a:t>
            </a:r>
            <a:pPr indent="0" marL="0">
              <a:buNone/>
            </a:pPr>
            <a:r>
              <a:rPr lang="en-US" sz="2200" dirty="0">
                <a:solidFill>
                  <a:srgbClr val="1E293B"/>
                </a:solidFill>
                <a:latin typeface="Calibri" pitchFamily="34" charset="0"/>
                <a:ea typeface="Calibri" pitchFamily="34" charset="-122"/>
                <a:cs typeface="Calibri" pitchFamily="34" charset="-120"/>
              </a:rPr>
              <a:t>, Nat came home with a notebook full of corrections.</a:t>
            </a:r>
            <a:endParaRPr lang="en-US" sz="2200" dirty="0"/>
          </a:p>
        </p:txBody>
      </p:sp>
      <p:sp>
        <p:nvSpPr>
          <p:cNvPr id="10" name="Shape 8"/>
          <p:cNvSpPr/>
          <p:nvPr/>
        </p:nvSpPr>
        <p:spPr>
          <a:xfrm>
            <a:off x="502920" y="2777490"/>
            <a:ext cx="11185855" cy="1085850"/>
          </a:xfrm>
          <a:prstGeom prst="roundRect">
            <a:avLst>
              <a:gd name="adj" fmla="val 6737"/>
            </a:avLst>
          </a:prstGeom>
          <a:solidFill>
            <a:srgbClr val="E8F8EF"/>
          </a:solidFill>
          <a:ln w="15875">
            <a:solidFill>
              <a:srgbClr val="9ED9B5"/>
            </a:solidFill>
            <a:prstDash val="solid"/>
          </a:ln>
        </p:spPr>
      </p:sp>
      <p:sp>
        <p:nvSpPr>
          <p:cNvPr id="11" name="Text 9"/>
          <p:cNvSpPr/>
          <p:nvPr/>
        </p:nvSpPr>
        <p:spPr>
          <a:xfrm>
            <a:off x="731520" y="277749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In the ship’s </a:t>
            </a:r>
            <a:pPr indent="0" marL="0">
              <a:buNone/>
            </a:pPr>
            <a:r>
              <a:rPr lang="en-US" sz="2200" b="1" dirty="0">
                <a:solidFill>
                  <a:srgbClr val="1E8E52"/>
                </a:solidFill>
                <a:latin typeface="Calibri" pitchFamily="34" charset="0"/>
                <a:ea typeface="Calibri" pitchFamily="34" charset="-122"/>
                <a:cs typeface="Calibri" pitchFamily="34" charset="-120"/>
              </a:rPr>
              <a:t>cabin</a:t>
            </a:r>
            <a:pPr indent="0" marL="0">
              <a:buNone/>
            </a:pPr>
            <a:r>
              <a:rPr lang="en-US" sz="2200" dirty="0">
                <a:solidFill>
                  <a:srgbClr val="1E293B"/>
                </a:solidFill>
                <a:latin typeface="Calibri" pitchFamily="34" charset="0"/>
                <a:ea typeface="Calibri" pitchFamily="34" charset="-122"/>
                <a:cs typeface="Calibri" pitchFamily="34" charset="-120"/>
              </a:rPr>
              <a:t>, he worked by lamplight.</a:t>
            </a:r>
            <a:endParaRPr lang="en-US" sz="2200" dirty="0"/>
          </a:p>
        </p:txBody>
      </p:sp>
      <p:sp>
        <p:nvSpPr>
          <p:cNvPr id="12" name="Shape 10"/>
          <p:cNvSpPr/>
          <p:nvPr/>
        </p:nvSpPr>
        <p:spPr>
          <a:xfrm>
            <a:off x="502920" y="4000500"/>
            <a:ext cx="11185855" cy="1085850"/>
          </a:xfrm>
          <a:prstGeom prst="roundRect">
            <a:avLst>
              <a:gd name="adj" fmla="val 6737"/>
            </a:avLst>
          </a:prstGeom>
          <a:solidFill>
            <a:srgbClr val="E8F8EF"/>
          </a:solidFill>
          <a:ln w="15875">
            <a:solidFill>
              <a:srgbClr val="9ED9B5"/>
            </a:solidFill>
            <a:prstDash val="solid"/>
          </a:ln>
        </p:spPr>
      </p:sp>
      <p:sp>
        <p:nvSpPr>
          <p:cNvPr id="13" name="Text 11"/>
          <p:cNvSpPr/>
          <p:nvPr/>
        </p:nvSpPr>
        <p:spPr>
          <a:xfrm>
            <a:off x="731520" y="400050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Because the tables were </a:t>
            </a:r>
            <a:pPr indent="0" marL="0">
              <a:buNone/>
            </a:pPr>
            <a:r>
              <a:rPr lang="en-US" sz="2200" b="1" dirty="0">
                <a:solidFill>
                  <a:srgbClr val="1E8E52"/>
                </a:solidFill>
                <a:latin typeface="Calibri" pitchFamily="34" charset="0"/>
                <a:ea typeface="Calibri" pitchFamily="34" charset="-122"/>
                <a:cs typeface="Calibri" pitchFamily="34" charset="-120"/>
              </a:rPr>
              <a:t>wrong</a:t>
            </a:r>
            <a:pPr indent="0" marL="0">
              <a:buNone/>
            </a:pPr>
            <a:r>
              <a:rPr lang="en-US" sz="2200" dirty="0">
                <a:solidFill>
                  <a:srgbClr val="1E293B"/>
                </a:solidFill>
                <a:latin typeface="Calibri" pitchFamily="34" charset="0"/>
                <a:ea typeface="Calibri" pitchFamily="34" charset="-122"/>
                <a:cs typeface="Calibri" pitchFamily="34" charset="-120"/>
              </a:rPr>
              <a:t>, ships were running aground.</a:t>
            </a:r>
            <a:endParaRPr lang="en-US" sz="2200" dirty="0"/>
          </a:p>
        </p:txBody>
      </p:sp>
      <p:sp>
        <p:nvSpPr>
          <p:cNvPr id="14" name="Shape 12"/>
          <p:cNvSpPr/>
          <p:nvPr/>
        </p:nvSpPr>
        <p:spPr>
          <a:xfrm>
            <a:off x="502920" y="5223510"/>
            <a:ext cx="11185855" cy="1085850"/>
          </a:xfrm>
          <a:prstGeom prst="roundRect">
            <a:avLst>
              <a:gd name="adj" fmla="val 6737"/>
            </a:avLst>
          </a:prstGeom>
          <a:solidFill>
            <a:srgbClr val="E8F8EF"/>
          </a:solidFill>
          <a:ln w="15875">
            <a:solidFill>
              <a:srgbClr val="9ED9B5"/>
            </a:solidFill>
            <a:prstDash val="solid"/>
          </a:ln>
        </p:spPr>
      </p:sp>
      <p:sp>
        <p:nvSpPr>
          <p:cNvPr id="15" name="Text 13"/>
          <p:cNvSpPr/>
          <p:nvPr/>
        </p:nvSpPr>
        <p:spPr>
          <a:xfrm>
            <a:off x="731520" y="522351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By the time he sailed on the </a:t>
            </a:r>
            <a:pPr indent="0" marL="0">
              <a:buNone/>
            </a:pPr>
            <a:r>
              <a:rPr lang="en-US" sz="2200" b="1" dirty="0">
                <a:solidFill>
                  <a:srgbClr val="1E8E52"/>
                </a:solidFill>
                <a:latin typeface="Calibri" pitchFamily="34" charset="0"/>
                <a:ea typeface="Calibri" pitchFamily="34" charset="-122"/>
                <a:cs typeface="Calibri" pitchFamily="34" charset="-120"/>
              </a:rPr>
              <a:t>Astrea</a:t>
            </a:r>
            <a:pPr indent="0" marL="0">
              <a:buNone/>
            </a:pPr>
            <a:r>
              <a:rPr lang="en-US" sz="2200" dirty="0">
                <a:solidFill>
                  <a:srgbClr val="1E293B"/>
                </a:solidFill>
                <a:latin typeface="Calibri" pitchFamily="34" charset="0"/>
                <a:ea typeface="Calibri" pitchFamily="34" charset="-122"/>
                <a:cs typeface="Calibri" pitchFamily="34" charset="-120"/>
              </a:rPr>
              <a:t>, he had taught himself three languages.</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GRADED TODAY</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 Show What You Know · Spelling</a:t>
            </a:r>
            <a:endParaRPr lang="en-US" sz="3000" dirty="0"/>
          </a:p>
        </p:txBody>
      </p:sp>
      <p:sp>
        <p:nvSpPr>
          <p:cNvPr id="5" name="Shape 3"/>
          <p:cNvSpPr/>
          <p:nvPr/>
        </p:nvSpPr>
        <p:spPr>
          <a:xfrm>
            <a:off x="9402775" y="384048"/>
            <a:ext cx="2286000" cy="457200"/>
          </a:xfrm>
          <a:prstGeom prst="roundRect">
            <a:avLst>
              <a:gd name="adj" fmla="val 24000"/>
            </a:avLst>
          </a:prstGeom>
          <a:solidFill>
            <a:srgbClr val="C7922C"/>
          </a:solidFill>
          <a:ln w="12700">
            <a:solidFill>
              <a:srgbClr val="C7922C"/>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SWYK</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4892040"/>
          </a:xfrm>
          <a:prstGeom prst="roundRect">
            <a:avLst>
              <a:gd name="adj" fmla="val 1495"/>
            </a:avLst>
          </a:prstGeom>
          <a:solidFill>
            <a:srgbClr val="FEF6E8"/>
          </a:solidFill>
          <a:ln w="15875">
            <a:solidFill>
              <a:srgbClr val="C7922C"/>
            </a:solidFill>
            <a:prstDash val="solid"/>
          </a:ln>
        </p:spPr>
      </p:sp>
      <p:sp>
        <p:nvSpPr>
          <p:cNvPr id="9" name="Text 7"/>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Build the adjective from each noun and name the ending: nautical from nautics, magnet, history, coast.</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to write: Write each adjective, name the ending it takes, and say what happened to the base word.</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MENTOR SENTENCE · CHAPTER 15</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RWM — Read like a Reader, Read like a Writer, Mimic</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463040"/>
          </a:xfrm>
          <a:prstGeom prst="roundRect">
            <a:avLst>
              <a:gd name="adj" fmla="val 5000"/>
            </a:avLst>
          </a:prstGeom>
          <a:solidFill>
            <a:srgbClr val="FEF6E8"/>
          </a:solidFill>
          <a:ln w="15875">
            <a:solidFill>
              <a:srgbClr val="C7922C"/>
            </a:solidFill>
            <a:prstDash val="solid"/>
          </a:ln>
        </p:spPr>
      </p:sp>
      <p:sp>
        <p:nvSpPr>
          <p:cNvPr id="7" name="Text 5"/>
          <p:cNvSpPr/>
          <p:nvPr/>
        </p:nvSpPr>
        <p:spPr>
          <a:xfrm>
            <a:off x="777240" y="1645920"/>
            <a:ext cx="10637215" cy="1280160"/>
          </a:xfrm>
          <a:prstGeom prst="rect">
            <a:avLst/>
          </a:prstGeom>
          <a:noFill/>
          <a:ln/>
        </p:spPr>
        <p:txBody>
          <a:bodyPr wrap="square" lIns="0" tIns="0" rIns="0" bIns="0" rtlCol="0" anchor="ctr">
            <a:normAutofit/>
          </a:bodyPr>
          <a:lstStyle/>
          <a:p>
            <a:pPr indent="0" marL="0">
              <a:buNone/>
            </a:pPr>
            <a:r>
              <a:rPr lang="en-US" sz="2400" i="1" dirty="0">
                <a:solidFill>
                  <a:srgbClr val="1E293B"/>
                </a:solidFill>
                <a:latin typeface="Georgia" pitchFamily="34" charset="0"/>
                <a:ea typeface="Georgia" pitchFamily="34" charset="-122"/>
                <a:cs typeface="Georgia" pitchFamily="34" charset="-120"/>
              </a:rPr>
              <a:t>“Celestial navigation — or sailing by the sky — is what we’ll talk about first.”</a:t>
            </a:r>
            <a:endParaRPr lang="en-US" sz="2400" dirty="0"/>
          </a:p>
        </p:txBody>
      </p:sp>
      <p:sp>
        <p:nvSpPr>
          <p:cNvPr id="8" name="Shape 6"/>
          <p:cNvSpPr/>
          <p:nvPr/>
        </p:nvSpPr>
        <p:spPr>
          <a:xfrm>
            <a:off x="502920" y="3246120"/>
            <a:ext cx="3606698" cy="3200400"/>
          </a:xfrm>
          <a:prstGeom prst="roundRect">
            <a:avLst>
              <a:gd name="adj" fmla="val 2286"/>
            </a:avLst>
          </a:prstGeom>
          <a:solidFill>
            <a:srgbClr val="F8FAFC"/>
          </a:solidFill>
          <a:ln w="15875">
            <a:solidFill>
              <a:srgbClr val="CBD5E1"/>
            </a:solidFill>
            <a:prstDash val="solid"/>
          </a:ln>
        </p:spPr>
      </p:sp>
      <p:sp>
        <p:nvSpPr>
          <p:cNvPr id="9" name="Text 7"/>
          <p:cNvSpPr/>
          <p:nvPr/>
        </p:nvSpPr>
        <p:spPr>
          <a:xfrm>
            <a:off x="685800"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Read like a Reader</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Nat is about to teach the crew something the experts said ordinary sailors could never learn. Why would he translate the term before he begins?</a:t>
            </a:r>
            <a:endParaRPr lang="en-US" sz="1900" dirty="0"/>
          </a:p>
        </p:txBody>
      </p:sp>
      <p:sp>
        <p:nvSpPr>
          <p:cNvPr id="10" name="Shape 8"/>
          <p:cNvSpPr/>
          <p:nvPr/>
        </p:nvSpPr>
        <p:spPr>
          <a:xfrm>
            <a:off x="4292498" y="3246120"/>
            <a:ext cx="3606698" cy="3200400"/>
          </a:xfrm>
          <a:prstGeom prst="roundRect">
            <a:avLst>
              <a:gd name="adj" fmla="val 2286"/>
            </a:avLst>
          </a:prstGeom>
          <a:solidFill>
            <a:srgbClr val="F8FAFC"/>
          </a:solidFill>
          <a:ln w="15875">
            <a:solidFill>
              <a:srgbClr val="CBD5E1"/>
            </a:solidFill>
            <a:prstDash val="solid"/>
          </a:ln>
        </p:spPr>
      </p:sp>
      <p:sp>
        <p:nvSpPr>
          <p:cNvPr id="11" name="Text 9"/>
          <p:cNvSpPr/>
          <p:nvPr/>
        </p:nvSpPr>
        <p:spPr>
          <a:xfrm>
            <a:off x="4475378"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Read like a Writer</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This is the cleanest version of the move: the technical term, then or, then the plain-English translation, and then the sentence carries on. The definition sits inside a pair of dashes, so it interrupts nothing. Celestial navigation keeps the precision; sailing by the sky makes it usable. Good explanatory writing keeps both.</a:t>
            </a:r>
            <a:endParaRPr lang="en-US" sz="1900" dirty="0"/>
          </a:p>
        </p:txBody>
      </p:sp>
      <p:sp>
        <p:nvSpPr>
          <p:cNvPr id="12" name="Shape 10"/>
          <p:cNvSpPr/>
          <p:nvPr/>
        </p:nvSpPr>
        <p:spPr>
          <a:xfrm>
            <a:off x="8082077" y="3246120"/>
            <a:ext cx="3606698" cy="3200400"/>
          </a:xfrm>
          <a:prstGeom prst="roundRect">
            <a:avLst>
              <a:gd name="adj" fmla="val 2286"/>
            </a:avLst>
          </a:prstGeom>
          <a:solidFill>
            <a:srgbClr val="F8FAFC"/>
          </a:solidFill>
          <a:ln w="15875">
            <a:solidFill>
              <a:srgbClr val="CBD5E1"/>
            </a:solidFill>
            <a:prstDash val="solid"/>
          </a:ln>
        </p:spPr>
      </p:sp>
      <p:sp>
        <p:nvSpPr>
          <p:cNvPr id="13" name="Text 11"/>
          <p:cNvSpPr/>
          <p:nvPr/>
        </p:nvSpPr>
        <p:spPr>
          <a:xfrm>
            <a:off x="8264957"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Mimic</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Write one sentence that uses a real navigation term from Chapter 15 and defines it inside a pair of dashes with or. Keep the precise term and add the plain one. No frame this time.</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CHAPTER 15 — “SAIL HO-O-O-O-O!”</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Reading Focus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E5F7FC"/>
          </a:solidFill>
          <a:ln w="15875">
            <a:solidFill>
              <a:srgbClr val="A6DDEE"/>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 You are here: Week 12 — Chapter 15 — “Sail Ho-o-o-o-o!”</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Chapter 15 picks up the same Astrea voyage. The ship leaves Madeira and heads south toward the Cape of Good Hope, the Indian Ocean, and Sunda Strait. The cry “Sail ho!” from the lookout announces a strange ship on the horizon — a moment of immediate tension and decision. Today, pay close attention to how the setting of open sea (with its vulnerability and urgency) shapes every decision, and how Nat’s knowledge — and what he still has to learn — plays a role in a moment of potential danger.</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STOPPING POINTS IN CHAPTER 15</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Pause &amp; Think</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0E8FF"/>
          </a:solidFill>
          <a:ln w="15875">
            <a:solidFill>
              <a:srgbClr val="D6C8F0"/>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Conflict at Sea: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When the unknown sail appears, what is the conflict? Who makes decisions, and how does Nat’s role in that moment reveal something about how he uses his abilities?</a:t>
            </a:r>
            <a:endParaRPr lang="en-US" sz="2400" dirty="0"/>
          </a:p>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Nat’s Ongoing Work: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Even amid the drama of Chapter 15, Nat keeps teaching the crew navigation — even Lem Harvey. What does this persistence tell you about how he sees his work? How does the hazardous setting make his work more meaningful?</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PART A: CHAPTER THINKING · WHAT STUDENTS WILL ANSWER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Comprehension Questions — Preview</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000"/>
              </a:spcAft>
              <a:buNone/>
            </a:pPr>
            <a:r>
              <a:rPr lang="en-US" sz="2200" b="1" dirty="0">
                <a:solidFill>
                  <a:srgbClr val="C7922C"/>
                </a:solidFill>
                <a:latin typeface="Calibri" pitchFamily="34" charset="0"/>
                <a:ea typeface="Calibri" pitchFamily="34" charset="-122"/>
                <a:cs typeface="Calibri" pitchFamily="34" charset="-120"/>
              </a:rPr>
              <a:t>1.  </a:t>
            </a:r>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“Sail Ho!” creates an immediate conflict at sea. Explain: what is the conflict, who has to make decisions, and how does the setting of open ocean shape the urgency of those decisions?</a:t>
            </a:r>
            <a:endParaRPr lang="en-US" sz="2200" dirty="0"/>
          </a:p>
          <a:p>
            <a:pPr indent="0" marL="0">
              <a:spcAft>
                <a:spcPts val="1000"/>
              </a:spcAft>
              <a:buNone/>
            </a:pPr>
            <a:r>
              <a:rPr lang="en-US" sz="2200" b="1" dirty="0">
                <a:solidFill>
                  <a:srgbClr val="C7922C"/>
                </a:solidFill>
                <a:latin typeface="Calibri" pitchFamily="34" charset="0"/>
                <a:ea typeface="Calibri" pitchFamily="34" charset="-122"/>
                <a:cs typeface="Calibri" pitchFamily="34" charset="-120"/>
              </a:rPr>
              <a:t>2.  </a:t>
            </a:r>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Even amid the drama of Chapter 15, Nat keeps teaching the crew navigation — even Lem Harvey. How does his persistence in the middle of a tense, potentially hazardous voyage reveal something important about his character?</a:t>
            </a:r>
            <a:endParaRPr lang="en-US" sz="2200" dirty="0"/>
          </a:p>
          <a:p>
            <a:pPr indent="0" marL="0">
              <a:spcAft>
                <a:spcPts val="1000"/>
              </a:spcAft>
              <a:buNone/>
            </a:pPr>
            <a:r>
              <a:rPr lang="en-US" sz="2200" b="1" dirty="0">
                <a:solidFill>
                  <a:srgbClr val="C7922C"/>
                </a:solidFill>
                <a:latin typeface="Calibri" pitchFamily="34" charset="0"/>
                <a:ea typeface="Calibri" pitchFamily="34" charset="-122"/>
                <a:cs typeface="Calibri" pitchFamily="34" charset="-120"/>
              </a:rPr>
              <a:t>3.  </a:t>
            </a:r>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Chapter 15 uses the cry “Sail ho!” as a dramatic moment. Explain how Latham uses this event — conflict + setting — to develop both the plot and Nat’s character. What does the way Nat responds tell you about who he is?</a:t>
            </a:r>
            <a:endParaRPr lang="en-US" sz="2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ADD CRAFT · ADD TRANSITIONS TO CONNECT YOUR IDEAS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12 · ADD CRAFT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Today’s focus: Your draft has content. Now you add CRAFT — starting with transitions that show how ideas connect. Today you find places where transitions are weak and replace them.</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Watch How — Meet Alex, our example writer: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Alex scans the draft for weak transition words and replaces them. BEFORE Alex’s draft has: “Also, he taught sailors...” and “Then, he corrected Moore’s...” AFTER Alex’s revision: “More significantly, his teaching transformed how sailors at sea understood their own position” and “As a direct result of his years of self-education, he was able to identify...” Notice: “Also” and “Then” are transition words that don’t say anything. Alex’s revisions use transitions that show MEANING: “more significantly” says this matters more; “as a direct result” shows cause-and-effect.</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ADD CRAFT · ADD TRANSITIONS TO CONNECT YOUR IDEAS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12 · ADD CRAFT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Today’s Tool: Transition Audit: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Find two places in your draft where your transition is weak. Replace each one with a stronger alternative. Alex’s example (filled): Weak transitions to watch for: also, then, next, and, another thing, in addition (alone), first/second (without connection) Alex’s Sentence 1: Also, he taught sailors... → More significantly, his teaching transformed how sailors... Alex’s Sentence 2: Then, he corrected Moore’s... → As a direct result of his years of study, he was able to identify... Your turn — do the same in your reading journal: Weak transition I found: “___” Revised: “___” (shows relationship: add/cause/contrast/emphasize) Second weak transition: “___” Revised: “___”</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Sentence Frames You Can Borrow: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“More significantly, ___.” “As a direct result of ___, he was able to ___.” “What made this especially remarkable was ___...”</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Now you try. Use what Alex showed you. Borrow a sentence frame if you want. Type below.</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12.3 — Carry On, Mr. Bowditch, Chapter 15</dc:title>
  <dc:subject>PptxGenJS Presentation</dc:subject>
  <dc:creator>Optima Academy Online</dc:creator>
  <cp:lastModifiedBy>Optima Academy Online</cp:lastModifiedBy>
  <cp:revision>1</cp:revision>
  <dcterms:created xsi:type="dcterms:W3CDTF">2026-10-29T19:41:22Z</dcterms:created>
  <dcterms:modified xsi:type="dcterms:W3CDTF">2026-10-29T19:41:22Z</dcterms:modified>
</cp:coreProperties>
</file>