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12, Day 3, Chapter 15 — “Sail Ho-o-o-o-o!”.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Today you read Chapter 15 and continue drafting your expository research piece. Keep asking: How do conflict and setting shape Nat’s decisions?
Morphology: Use -al and -ous words in original sentences about navigation.
Spelling SWYK: Spell -ous/-ious/-eous words correctly and use them accurately.
Grammar: Use prepositional phrases to revise vague expository sentences.
Reading: Chapter 15 — “Sail Ho-o-o-o-o!”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"a rigorous study of navigation allowed nat to remain calm in even the most hazardous situations at sea"
Corrected: "A rigorous study of navigation allowed Nat to remain calm in even the most hazardous situations at sea."
Fixes: capitalize “A”; capitalize “Nat”; period at end. The prepositional phrases “of navigation” and “at sea” add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"a rigorous study of navigation allowed nat to remain calm in even the most hazardous situations at sea"
Corrected: "A rigorous study of navigation allowed Nat to remain calm in even the most hazardous situations at sea."
Fixes: capitalize “A”; capitalize “Nat”; period at end. The prepositional phrases “of navigation” and “at sea” add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stronger, more specific word I could use here instead of a vague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practice for the day. Practice only today — not the graded strand.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Reflection/journal-based grammar task today — no quiz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SWYK: Use -ous Words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Six Weeks with Carry On, Mr. Bowditch — 📍 You are here: Week 12 — Chapter 15 — “Sail Ho-o-o-o-o!”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ADD CRAFT: Add transitions to connect your ideas
Focus: Your draft has content. Now you add CRAFT — starting with transitions that show how ideas connect. Today you find places where transitions are weak and replace them.
Before: BEFORE Alex’s draft has: “Also, he taught sailors...” and “Then, he corrected Moore’s...”
After: AFTER Alex’s revision: “More significantly, his teaching transformed how sailors at sea understood their own position” and “As a direct result of his years of self-education, he was able to identify...”
Notice: Notice: “Also” and “Then” are transition words that don’t say anything. Alex’s revisions use transitions that show MEANING: “more significantly” says this matters more; “as a direct result” shows cause-and-effect.
Tool: Today’s Tool: Transition Audit — Find two places in your draft where your transition is weak. Replace each one with a stronger alternative.
Frames: “More significantly, ___.” | “As a direct result of ___, he was able to ___.” | “What made this especially remarkable was ___...”
Prompt: Find one weak transition in your draft and replace it with a stronger one. Write the original and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12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15 — “Sail Ho-o-o-o-o!”</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12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Today you read Chapter 15 and continue drafting your expository research piece. Keep asking: How do conflict and setting shape Nat’s decisions?</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Morphology: </a:t>
            </a:r>
            <a:pPr indent="0" marL="0">
              <a:buNone/>
            </a:pPr>
            <a:r>
              <a:rPr lang="en-US" sz="1250" dirty="0">
                <a:solidFill>
                  <a:srgbClr val="1E293B"/>
                </a:solidFill>
                <a:latin typeface="Calibri" pitchFamily="34" charset="0"/>
                <a:ea typeface="Calibri" pitchFamily="34" charset="-122"/>
                <a:cs typeface="Calibri" pitchFamily="34" charset="-120"/>
              </a:rPr>
              <a:t>Use -al and -ous words in original sentences about navigation.</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SWYK: </a:t>
            </a:r>
            <a:pPr indent="0" marL="0">
              <a:buNone/>
            </a:pPr>
            <a:r>
              <a:rPr lang="en-US" sz="1250" dirty="0">
                <a:solidFill>
                  <a:srgbClr val="1E293B"/>
                </a:solidFill>
                <a:latin typeface="Calibri" pitchFamily="34" charset="0"/>
                <a:ea typeface="Calibri" pitchFamily="34" charset="-122"/>
                <a:cs typeface="Calibri" pitchFamily="34" charset="-120"/>
              </a:rPr>
              <a:t>Spell -ous/-ious/-eous words correctly and use them accurately.</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Use prepositional phrases to revise vague expository sentences.</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Chapter 15 — “Sail Ho-o-o-o-o!”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Chapter 15 returns Nat to sea, where a different kind of drama unfolds. When a lookout cries “Sail ho!” from the masthead, every person on deck must make a decision: prepare to flee, prepare to fight, or hold course. The setting (open ocean, no escape route) and conflict (unknown ship approaching) work together to force immediate decisions. Good readers see how Latham uses this moment to reveal what her characters are made of.</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
        <p:nvSpPr>
          <p:cNvPr id="8" name="Shape 6"/>
          <p:cNvSpPr/>
          <p:nvPr/>
        </p:nvSpPr>
        <p:spPr>
          <a:xfrm>
            <a:off x="365760" y="2606040"/>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679192"/>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When “Sail ho!” is called, what is Nat’s role? Does he panic, calculate, or simply observe? What does his response reveal?</a:t>
            </a:r>
            <a:endParaRPr lang="en-US" sz="1300" dirty="0"/>
          </a:p>
        </p:txBody>
      </p:sp>
      <p:sp>
        <p:nvSpPr>
          <p:cNvPr id="10" name="Shape 8"/>
          <p:cNvSpPr/>
          <p:nvPr/>
        </p:nvSpPr>
        <p:spPr>
          <a:xfrm>
            <a:off x="365760" y="3319272"/>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392424"/>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How does the conflict of the unknown sail shape the captain’s decisions? Who is in charge at sea, and how does Nat’s knowledge fit into that hierarchy?</a:t>
            </a:r>
            <a:endParaRPr lang="en-US" sz="1300" dirty="0"/>
          </a:p>
        </p:txBody>
      </p:sp>
      <p:sp>
        <p:nvSpPr>
          <p:cNvPr id="12" name="Shape 10"/>
          <p:cNvSpPr/>
          <p:nvPr/>
        </p:nvSpPr>
        <p:spPr>
          <a:xfrm>
            <a:off x="365760" y="4032504"/>
            <a:ext cx="8412480" cy="621792"/>
          </a:xfrm>
          <a:prstGeom prst="roundRect">
            <a:avLst>
              <a:gd name="adj" fmla="val 14706"/>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4105656"/>
            <a:ext cx="8046720" cy="475488"/>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  What connection do you see between the “Sail ho!” moment and Nat’s ongoing work correcting Moore’s Navigator?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mathematical calculations of the approaching vessel ’s speed and heading told Nat with confidence whether to worry.</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calculations of the approaching vessel  </a:t>
            </a:r>
            <a:pPr indent="0" marL="0">
              <a:buNone/>
            </a:pPr>
            <a:r>
              <a:rPr lang="en-US" sz="1200" dirty="0">
                <a:solidFill>
                  <a:srgbClr val="1E293B"/>
                </a:solidFill>
                <a:latin typeface="Calibri" pitchFamily="34" charset="0"/>
                <a:ea typeface="Calibri" pitchFamily="34" charset="-122"/>
                <a:cs typeface="Calibri" pitchFamily="34" charset="-120"/>
              </a:rPr>
              <a:t>“of the approaching vessel” is a prepositional phrase telling which calculations.</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speed and heading  </a:t>
            </a:r>
            <a:pPr indent="0" marL="0">
              <a:buNone/>
            </a:pPr>
            <a:r>
              <a:rPr lang="en-US" sz="1200" dirty="0">
                <a:solidFill>
                  <a:srgbClr val="1E293B"/>
                </a:solidFill>
                <a:latin typeface="Calibri" pitchFamily="34" charset="0"/>
                <a:ea typeface="Calibri" pitchFamily="34" charset="-122"/>
                <a:cs typeface="Calibri" pitchFamily="34" charset="-120"/>
              </a:rPr>
              <a:t>“speed and heading” are the objects of the understood preposition.</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with confidence  </a:t>
            </a:r>
            <a:pPr indent="0" marL="0">
              <a:buNone/>
            </a:pPr>
            <a:r>
              <a:rPr lang="en-US" sz="1200" dirty="0">
                <a:solidFill>
                  <a:srgbClr val="1E293B"/>
                </a:solidFill>
                <a:latin typeface="Calibri" pitchFamily="34" charset="0"/>
                <a:ea typeface="Calibri" pitchFamily="34" charset="-122"/>
                <a:cs typeface="Calibri" pitchFamily="34" charset="-120"/>
              </a:rPr>
              <a:t>“with confidence” is a prepositional phrase telling in what manner.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 rigorous study of navigation allowed nat to remain calm in even the most hazardous situations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a rigorous study of navigation allowed nat to remain calm in even the most hazardous situations at sea</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A rigorous study of navigation allowed Nat to remain calm in even the most hazardous situations at sea.</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Fixes: capitalize “A”; capitalize “Nat”; period at end. The prepositional phrases “of navigation” and “at sea” add detail.</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"Sail Ho!" usually means good news. Was the sighting in Chapter 15 more of a relief or more of a new problem for Nat and the crew? Defend your answer with evidence.</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"Sail Ho!" usually means good news. Was the sighting in Chapter 15 more of a relief or more of a new problem for Nat and the crew? Defend your answer with evidence.</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stronger, more specific word I could use here instead of a vague one?</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Morphology</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Morphology: Use -al and -ous in Context</a:t>
            </a:r>
            <a:endParaRPr lang="en-US" sz="1100" dirty="0"/>
          </a:p>
        </p:txBody>
      </p:sp>
      <p:sp>
        <p:nvSpPr>
          <p:cNvPr id="5" name="Shape 3"/>
          <p:cNvSpPr/>
          <p:nvPr/>
        </p:nvSpPr>
        <p:spPr>
          <a:xfrm>
            <a:off x="365760" y="1097280"/>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393192"/>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nautical · mathematical · practical · hazardous · rigorous · celestial</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Use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complete sentences with this week’s words</a:t>
            </a:r>
            <a:endParaRPr lang="en-US" sz="1100" dirty="0"/>
          </a:p>
        </p:txBody>
      </p:sp>
      <p:sp>
        <p:nvSpPr>
          <p:cNvPr id="5" name="Shape 3"/>
          <p:cNvSpPr/>
          <p:nvPr/>
        </p:nvSpPr>
        <p:spPr>
          <a:xfrm>
            <a:off x="365760" y="1097280"/>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Nat’s goal was to make navigation ___ — useful for every sailor, not just the mathematically educated.</a:t>
            </a:r>
            <a:endParaRPr lang="en-US" sz="1150" dirty="0"/>
          </a:p>
        </p:txBody>
      </p:sp>
      <p:sp>
        <p:nvSpPr>
          <p:cNvPr id="7" name="Shape 5"/>
          <p:cNvSpPr/>
          <p:nvPr/>
        </p:nvSpPr>
        <p:spPr>
          <a:xfrm>
            <a:off x="365760" y="1709928"/>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1764792"/>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The tables in Moore’s Navigator were ___ , containing hundreds of calculation mistakes.</a:t>
            </a:r>
            <a:endParaRPr lang="en-US" sz="1150" dirty="0"/>
          </a:p>
        </p:txBody>
      </p:sp>
      <p:sp>
        <p:nvSpPr>
          <p:cNvPr id="9" name="Shape 7"/>
          <p:cNvSpPr/>
          <p:nvPr/>
        </p:nvSpPr>
        <p:spPr>
          <a:xfrm>
            <a:off x="365760" y="2322576"/>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377440"/>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Taking ___ observations — measuring the moon’s angle from a known star — allowed navigators to find longitude at sea.</a:t>
            </a:r>
            <a:endParaRPr lang="en-US" sz="1150" dirty="0"/>
          </a:p>
        </p:txBody>
      </p:sp>
      <p:sp>
        <p:nvSpPr>
          <p:cNvPr id="11" name="Shape 9"/>
          <p:cNvSpPr/>
          <p:nvPr/>
        </p:nvSpPr>
        <p:spPr>
          <a:xfrm>
            <a:off x="365760" y="2935224"/>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2" name="Text 10"/>
          <p:cNvSpPr/>
          <p:nvPr/>
        </p:nvSpPr>
        <p:spPr>
          <a:xfrm>
            <a:off x="548640" y="2990088"/>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Without accurate charts, sailing close to an unknown coastline was deeply ___ .</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Revise with Prepositional Phrases</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 rewrite vague sentences with specific phrases</a:t>
            </a:r>
            <a:endParaRPr lang="en-US" sz="1100" dirty="0"/>
          </a:p>
        </p:txBody>
      </p:sp>
      <p:sp>
        <p:nvSpPr>
          <p:cNvPr id="5" name="Text 3"/>
          <p:cNvSpPr/>
          <p:nvPr/>
        </p:nvSpPr>
        <p:spPr>
          <a:xfrm>
            <a:off x="365760" y="10972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REFLECT IN YOUR READING JOURNAL</a:t>
            </a:r>
            <a:endParaRPr lang="en-US" sz="1100" dirty="0"/>
          </a:p>
        </p:txBody>
      </p:sp>
      <p:sp>
        <p:nvSpPr>
          <p:cNvPr id="6" name="Shape 4"/>
          <p:cNvSpPr/>
          <p:nvPr/>
        </p:nvSpPr>
        <p:spPr>
          <a:xfrm>
            <a:off x="365760" y="1371600"/>
            <a:ext cx="8412480" cy="1463040"/>
          </a:xfrm>
          <a:prstGeom prst="roundRect">
            <a:avLst>
              <a:gd name="adj" fmla="val 625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463040"/>
            <a:ext cx="8046720" cy="1280160"/>
          </a:xfrm>
          <a:prstGeom prst="rect">
            <a:avLst/>
          </a:prstGeom>
          <a:noFill/>
          <a:ln/>
        </p:spPr>
        <p:txBody>
          <a:bodyPr wrap="square" lIns="0" tIns="0" rIns="0" bIns="0" rtlCol="0" anchor="t"/>
          <a:lstStyle/>
          <a:p>
            <a:pPr indent="0" marL="0">
              <a:buNone/>
            </a:pPr>
            <a:r>
              <a:rPr lang="en-US" sz="1250" i="1" dirty="0">
                <a:solidFill>
                  <a:srgbClr val="1E293B"/>
                </a:solidFill>
                <a:latin typeface="Calibri" pitchFamily="34" charset="0"/>
                <a:ea typeface="Calibri" pitchFamily="34" charset="-122"/>
                <a:cs typeface="Calibri" pitchFamily="34" charset="-120"/>
              </a:rPr>
              <a:t>3. The sailors learned navigation from Nat by the light of a lantern on the open deck .</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SWYK: Use -ous Words Correctly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Show What You Know</a:t>
            </a:r>
            <a:endParaRPr lang="en-US" sz="1100" dirty="0"/>
          </a:p>
        </p:txBody>
      </p:sp>
      <p:sp>
        <p:nvSpPr>
          <p:cNvPr id="7" name="Shape 5"/>
          <p:cNvSpPr/>
          <p:nvPr/>
        </p:nvSpPr>
        <p:spPr>
          <a:xfrm>
            <a:off x="365760" y="1143000"/>
            <a:ext cx="8412480" cy="1005840"/>
          </a:xfrm>
          <a:prstGeom prst="roundRect">
            <a:avLst>
              <a:gd name="adj" fmla="val 9091"/>
            </a:avLst>
          </a:prstGeom>
          <a:solidFill>
            <a:srgbClr val="FEF6E8"/>
          </a:solidFill>
          <a:ln w="12700">
            <a:solidFill>
              <a:srgbClr val="C7922C"/>
            </a:solidFill>
            <a:prstDash val="solid"/>
          </a:ln>
        </p:spPr>
      </p:sp>
      <p:sp>
        <p:nvSpPr>
          <p:cNvPr id="8" name="Text 6"/>
          <p:cNvSpPr/>
          <p:nvPr/>
        </p:nvSpPr>
        <p:spPr>
          <a:xfrm>
            <a:off x="548640" y="1234440"/>
            <a:ext cx="8046720" cy="841248"/>
          </a:xfrm>
          <a:prstGeom prst="rect">
            <a:avLst/>
          </a:prstGeom>
          <a:noFill/>
          <a:ln/>
        </p:spPr>
        <p:txBody>
          <a:bodyPr wrap="square" lIns="0" tIns="0" rIns="0" bIns="0" rtlCol="0" anchor="t"/>
          <a:lstStyle/>
          <a:p>
            <a:pPr indent="0" marL="0">
              <a:buNone/>
            </a:pPr>
            <a:r>
              <a:rPr lang="en-US" sz="1100" b="1" dirty="0">
                <a:solidFill>
                  <a:srgbClr val="C7922C"/>
                </a:solidFill>
                <a:latin typeface="Calibri" pitchFamily="34" charset="0"/>
                <a:ea typeface="Calibri" pitchFamily="34" charset="-122"/>
                <a:cs typeface="Calibri" pitchFamily="34" charset="-120"/>
              </a:rPr>
              <a:t>🫖 Show What You Know · Spelling
</a:t>
            </a:r>
            <a:pPr indent="0" marL="0">
              <a:buNone/>
            </a:pPr>
            <a:r>
              <a:rPr lang="en-US" sz="1100" i="1" dirty="0">
                <a:solidFill>
                  <a:srgbClr val="1E293B"/>
                </a:solidFill>
                <a:latin typeface="Calibri" pitchFamily="34" charset="0"/>
                <a:ea typeface="Calibri" pitchFamily="34" charset="-122"/>
                <a:cs typeface="Calibri" pitchFamily="34" charset="-120"/>
              </a:rPr>
              <a:t>Choose four words from the list: hazardous · erroneous · rigorous · courageous · ambitious · mysterious · glorious . For each: (1) spell it correctly, (2) mark whether it uses -ous, -ious, or -eous, (3) write a sentence using it in the context of Nat’s story.</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Six Weeks with Carry On, Mr. Bowditch — 📍 You are here: Week 12 — Chapter 15 — “Sail Ho-o-o-o-o!”</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15 — “Sail Ho-o-o-o-o!”</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When “Sail ho!” is called, what is Nat’s role? Does he panic, calculate, or simply observe? What does his response reveal?</a:t>
            </a:r>
            <a:endParaRPr lang="en-US" sz="1200" dirty="0"/>
          </a:p>
          <a:p>
            <a:pPr indent="0" marL="0">
              <a:buNone/>
            </a:pPr>
            <a:endParaRPr lang="en-US" sz="1200" dirty="0"/>
          </a:p>
          <a:p>
            <a:pPr indent="0" marL="0">
              <a:buNone/>
            </a:pPr>
            <a:r>
              <a:rPr lang="en-US" sz="1200" i="1" dirty="0">
                <a:solidFill>
                  <a:srgbClr val="1E293B"/>
                </a:solidFill>
                <a:latin typeface="Calibri" pitchFamily="34" charset="0"/>
                <a:ea typeface="Calibri" pitchFamily="34" charset="-122"/>
                <a:cs typeface="Calibri" pitchFamily="34" charset="-120"/>
              </a:rPr>
              <a:t>How does the conflict of the unknown sail shape the captain’s decisions? Who is in charge at sea, and how does Nat’s knowledge fit into that hierarchy?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“Sail Ho!” creates an immediate conflict at sea. Explain: what is the conflict, who has to make decisions, and how does the setting of open ocean shape the urgency of those decisions?</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Even in Chapter 15, Nat continues correcting Moore’s Navigator. How does his persistence in the middle of a tense, potentially hazardous situation reveal something important about his character?</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Chapter 15 uses the cry “Sail ho!” as a dramatic moment. Explain how Latham uses this event — conflict + setting — to develop both the plot and Nat’s character. What does the way Nat responds tell you about who he is?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ADD CRAFT  ·  Add transitions to connect your ideas</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Your draft has content. Now you add CRAFT — starting with transitions that show how ideas connect. Today you find places where transitions are weak and replace them.</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draft has: “Also, he taught sailors...” and “Then, he corrected Moore’s...”</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revision: “More significantly, his teaching transformed how sailors at sea understood their own position” and “As a direct result of his years of self-education, he was able to identify...”</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“Also” and “Then” are transition words that don’t say anything. Alex’s revisions use transitions that show MEANING: “more significantly” says this matters more; “as a direct result” shows cause-and-effect.</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TRANSITION AUDIT</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Find two places in your draft where your transition is weak. Replace each one with a stronger alternative.</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Find one weak transition in your draft and replace it with a stronger one. Write the original and your revision.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2026-07-13T16:49:17Z</dcterms:created>
  <dcterms:modified xsi:type="dcterms:W3CDTF">2026-07-13T16:49:17Z</dcterms:modified>
</cp:coreProperties>
</file>