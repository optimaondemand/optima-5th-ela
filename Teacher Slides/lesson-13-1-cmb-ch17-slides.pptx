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Week 13, Day 1, Chapter 17 — Lunars and Moonlight.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Big Q: Today you read Chapter 17 and continue revising your expository piece. Keep asking: How does figurative language contribute to meaning?
Morphology: Define prefixes trans-, inter-, sub-.
Grammar: Define relative clauses; expand sentences with who/which/that.
Spelling: Discover assimilated prefixes and spelling shifts.
Reading: Chapter 17 — Lunars and Moonlight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lens aloud before students open their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answer needed — tap-and-notice only. Discuss why each highlighted word/punctuation mark is correct.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Fix-it: "the interval between lunar observations must be precise because even small errors in timing can translate into large errors in a ships position"
Corrected: "The interval between lunar observations must be precise, because even small errors in timing can translate into large errors in a ship’s position."
Fixes: capitalize “The”; comma before “because” is optional here (both correct); apostrophe in “ship’s”; period at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Fix-it: "the interval between lunar observations must be precise because even small errors in timing can translate into large errors in a ships position"
Corrected: "The interval between lunar observations must be precise, because even small errors in timing can translate into large errors in a ship’s position."
Fixes: capitalize “The”; comma before “because” is optional here (both correct); apostrophe in “ship’s”; period at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routine — use if time allows. Read the prompt aloud. Remind students: pick a side, defend with evidence, anticipate disagreement.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a 5-minute timer. Remind: choose a side, defend with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Focus: Is there a detail here I could cut because it doesn't support my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on 3-4 students. Encourage respectful disagreement about their choice/defense.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Morphology practice for the day. Graded SWYK strand today: Morphology.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Vocabulary mode: Decode &amp; Discover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answers yet — students discuss and guess.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revealed — correct labels in green.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Spelling focus: 🔤 Spelling: Assimilated Prefixes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Tracker: Six Weeks with Carry On, Mr. Bowditch — 📍 You are here: Week 13 — Chapter 17 — Lunars and Moonlight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Preview only — students answer these after reading, in the Assignment tab.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Connection — REVISE &amp; EDIT: Revise for technical clarity
Focus: Revision Week begins. Today’s focus: technical clarity. Read your essay as if you’ve never read Carry On, Mr. Bowditch . Every technical term you use needs to be explained.
Before: BEFORE Alex’s draft: Nat used lunar observations to find longitude at sea. This changed navigation.
After: AFTER Alex’s clarified version: Nat mastered a technique called lunar-distance observation — measuring the precise angle between the moon and a known star to calculate the ship’s longitude, the east-west position that navigators could not otherwise determine at sea. This technique, which Nat simplified into a process any sailor could follow, transformed navigation.
Notice: Notice: Alex added three things: (1) defined “lunar observation” with a quick phrase, (2) explained why longitude mattered, (3) added context (“any sailor could follow”). Now a reader who hasn’t read the book can follow the argument.
Tool: Today’s Tool: Technical Clarity Audit — Find one technical term in your essay. Define it using the define-show-connect pattern.
Frames: “___ — a process that involves ___ — allowed sailors to ___.” | “This technique, which Nat simplified so that ___, made it possible for ___.” | “Without ___, sailors could not ___; with it, they could...”
Prompt: Find one technical navigation term in your essay. Revise its sentence to define the term and explain why it matters — as if writing for a reader who hasn’t read the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C42"/>
        </a:solidFill>
      </p:bgPr>
    </p:bg>
    <p:spTree>
      <p:nvGrpSpPr>
        <p:cNvPr id="1" name=""/>
        <p:cNvGrpSpPr/>
        <p:nvPr/>
      </p:nvGrpSpPr>
      <p:grpSpPr>
        <a:xfrm>
          <a:off x="0" y="0"/>
          <a:ext cx="0" cy="0"/>
          <a:chOff x="0" y="0"/>
          <a:chExt cx="0" cy="0"/>
        </a:xfrm>
      </p:grpSpPr>
      <p:sp>
        <p:nvSpPr>
          <p:cNvPr id="2" name="Shape 0"/>
          <p:cNvSpPr/>
          <p:nvPr/>
        </p:nvSpPr>
        <p:spPr>
          <a:xfrm>
            <a:off x="0" y="4114800"/>
            <a:ext cx="9144000" cy="1028700"/>
          </a:xfrm>
          <a:prstGeom prst="rect">
            <a:avLst/>
          </a:prstGeom>
          <a:solidFill>
            <a:srgbClr val="55C8E8">
              <a:alpha val="15000"/>
            </a:srgbClr>
          </a:solidFill>
          <a:ln/>
        </p:spPr>
      </p:sp>
      <p:sp>
        <p:nvSpPr>
          <p:cNvPr id="3" name="Text 1"/>
          <p:cNvSpPr/>
          <p:nvPr/>
        </p:nvSpPr>
        <p:spPr>
          <a:xfrm>
            <a:off x="457200" y="640080"/>
            <a:ext cx="8229600" cy="365760"/>
          </a:xfrm>
          <a:prstGeom prst="rect">
            <a:avLst/>
          </a:prstGeom>
          <a:noFill/>
          <a:ln/>
        </p:spPr>
        <p:txBody>
          <a:bodyPr wrap="square" lIns="0" tIns="0" rIns="0" bIns="0" rtlCol="0" anchor="ctr"/>
          <a:lstStyle/>
          <a:p>
            <a:pPr algn="l" indent="0" marL="0">
              <a:buNone/>
            </a:pPr>
            <a:r>
              <a:rPr lang="en-US" sz="1300" b="1" spc="400" kern="0" dirty="0">
                <a:solidFill>
                  <a:srgbClr val="55C8E8"/>
                </a:solidFill>
                <a:latin typeface="Calibri" pitchFamily="34" charset="0"/>
                <a:ea typeface="Calibri" pitchFamily="34" charset="-122"/>
                <a:cs typeface="Calibri" pitchFamily="34" charset="-120"/>
              </a:rPr>
              <a:t>WEEK 13  ·  DAY 1</a:t>
            </a:r>
            <a:endParaRPr lang="en-US" sz="1300" dirty="0"/>
          </a:p>
        </p:txBody>
      </p:sp>
      <p:sp>
        <p:nvSpPr>
          <p:cNvPr id="4" name="Text 2"/>
          <p:cNvSpPr/>
          <p:nvPr/>
        </p:nvSpPr>
        <p:spPr>
          <a:xfrm>
            <a:off x="457200" y="1097280"/>
            <a:ext cx="8229600" cy="1645920"/>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Carry On, Mr. Bowditch</a:t>
            </a:r>
            <a:endParaRPr lang="en-US" sz="3000" dirty="0"/>
          </a:p>
          <a:p>
            <a:pPr algn="l" indent="0" marL="0">
              <a:buNone/>
            </a:pPr>
            <a:r>
              <a:rPr lang="en-US" sz="3000" b="1" dirty="0">
                <a:solidFill>
                  <a:srgbClr val="FFFFFF"/>
                </a:solidFill>
                <a:latin typeface="Calibri" pitchFamily="34" charset="0"/>
                <a:ea typeface="Calibri" pitchFamily="34" charset="-122"/>
                <a:cs typeface="Calibri" pitchFamily="34" charset="-120"/>
              </a:rPr>
              <a:t>Chapter 17 — Lunars and Moonlight</a:t>
            </a:r>
            <a:endParaRPr lang="en-US" sz="3000" dirty="0"/>
          </a:p>
        </p:txBody>
      </p:sp>
      <p:sp>
        <p:nvSpPr>
          <p:cNvPr id="5" name="Text 3"/>
          <p:cNvSpPr/>
          <p:nvPr/>
        </p:nvSpPr>
        <p:spPr>
          <a:xfrm>
            <a:off x="457200" y="4434840"/>
            <a:ext cx="8229600" cy="365760"/>
          </a:xfrm>
          <a:prstGeom prst="rect">
            <a:avLst/>
          </a:prstGeom>
          <a:noFill/>
          <a:ln/>
        </p:spPr>
        <p:txBody>
          <a:bodyPr wrap="square" lIns="0" tIns="0" rIns="0" bIns="0" rtlCol="0" anchor="ctr"/>
          <a:lstStyle/>
          <a:p>
            <a:pPr algn="l" indent="0" marL="0">
              <a:buNone/>
            </a:pPr>
            <a:r>
              <a:rPr lang="en-US" sz="1200" dirty="0">
                <a:solidFill>
                  <a:srgbClr val="FFFFFF"/>
                </a:solidFill>
                <a:latin typeface="Calibri" pitchFamily="34" charset="0"/>
                <a:ea typeface="Calibri" pitchFamily="34" charset="-122"/>
                <a:cs typeface="Calibri" pitchFamily="34" charset="-120"/>
              </a:rPr>
              <a:t>🧭  Week 13  ·  Virtue: Perseverance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Today's Objectives</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Text 2"/>
          <p:cNvSpPr/>
          <p:nvPr/>
        </p:nvSpPr>
        <p:spPr>
          <a:xfrm>
            <a:off x="365760" y="86868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BIG QUESTION</a:t>
            </a:r>
            <a:endParaRPr lang="en-US" sz="1100" dirty="0"/>
          </a:p>
        </p:txBody>
      </p:sp>
      <p:sp>
        <p:nvSpPr>
          <p:cNvPr id="5" name="Shape 3"/>
          <p:cNvSpPr/>
          <p:nvPr/>
        </p:nvSpPr>
        <p:spPr>
          <a:xfrm>
            <a:off x="365760" y="1115568"/>
            <a:ext cx="8412480" cy="777240"/>
          </a:xfrm>
          <a:prstGeom prst="roundRect">
            <a:avLst>
              <a:gd name="adj" fmla="val 11765"/>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207008"/>
            <a:ext cx="7955280" cy="594360"/>
          </a:xfrm>
          <a:prstGeom prst="rect">
            <a:avLst/>
          </a:prstGeom>
          <a:noFill/>
          <a:ln/>
        </p:spPr>
        <p:txBody>
          <a:bodyPr wrap="square" lIns="0" tIns="0" rIns="0" bIns="0" rtlCol="0" anchor="ctr"/>
          <a:lstStyle/>
          <a:p>
            <a:pPr indent="0" marL="0">
              <a:buNone/>
            </a:pPr>
            <a:r>
              <a:rPr lang="en-US" sz="1300" i="1" dirty="0">
                <a:solidFill>
                  <a:srgbClr val="1E293B"/>
                </a:solidFill>
                <a:latin typeface="Calibri" pitchFamily="34" charset="0"/>
                <a:ea typeface="Calibri" pitchFamily="34" charset="-122"/>
                <a:cs typeface="Calibri" pitchFamily="34" charset="-120"/>
              </a:rPr>
              <a:t>Today you read Chapter 17 and continue revising your expository piece. Keep asking: How does figurative language contribute to meaning?</a:t>
            </a:r>
            <a:endParaRPr lang="en-US" sz="1300" dirty="0"/>
          </a:p>
        </p:txBody>
      </p:sp>
      <p:sp>
        <p:nvSpPr>
          <p:cNvPr id="7" name="Text 5"/>
          <p:cNvSpPr/>
          <p:nvPr/>
        </p:nvSpPr>
        <p:spPr>
          <a:xfrm>
            <a:off x="365760" y="201168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BY THE END OF THIS LESSON...</a:t>
            </a:r>
            <a:endParaRPr lang="en-US" sz="1100" dirty="0"/>
          </a:p>
        </p:txBody>
      </p:sp>
      <p:sp>
        <p:nvSpPr>
          <p:cNvPr id="8" name="Shape 6"/>
          <p:cNvSpPr/>
          <p:nvPr/>
        </p:nvSpPr>
        <p:spPr>
          <a:xfrm>
            <a:off x="365760" y="2286000"/>
            <a:ext cx="8412480" cy="713232"/>
          </a:xfrm>
          <a:prstGeom prst="roundRect">
            <a:avLst>
              <a:gd name="adj" fmla="val 12821"/>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48640" y="2359152"/>
            <a:ext cx="8046720" cy="566928"/>
          </a:xfrm>
          <a:prstGeom prst="rect">
            <a:avLst/>
          </a:prstGeom>
          <a:noFill/>
          <a:ln/>
        </p:spPr>
        <p:txBody>
          <a:bodyPr wrap="square" lIns="0" tIns="0" rIns="0" bIns="0" rtlCol="0" anchor="ctr"/>
          <a:lstStyle/>
          <a:p>
            <a:pPr indent="0" marL="0">
              <a:buNone/>
            </a:pPr>
            <a:r>
              <a:rPr lang="en-US" sz="1500" dirty="0">
                <a:solidFill>
                  <a:srgbClr val="000000"/>
                </a:solidFill>
              </a:rPr>
              <a:t>🌱  </a:t>
            </a:r>
            <a:pPr indent="0" marL="0">
              <a:buNone/>
            </a:pPr>
            <a:r>
              <a:rPr lang="en-US" sz="1300" b="1" dirty="0">
                <a:solidFill>
                  <a:srgbClr val="0E1C42"/>
                </a:solidFill>
                <a:latin typeface="Calibri" pitchFamily="34" charset="0"/>
                <a:ea typeface="Calibri" pitchFamily="34" charset="-122"/>
                <a:cs typeface="Calibri" pitchFamily="34" charset="-120"/>
              </a:rPr>
              <a:t>Morphology: </a:t>
            </a:r>
            <a:pPr indent="0" marL="0">
              <a:buNone/>
            </a:pPr>
            <a:r>
              <a:rPr lang="en-US" sz="1250" dirty="0">
                <a:solidFill>
                  <a:srgbClr val="1E293B"/>
                </a:solidFill>
                <a:latin typeface="Calibri" pitchFamily="34" charset="0"/>
                <a:ea typeface="Calibri" pitchFamily="34" charset="-122"/>
                <a:cs typeface="Calibri" pitchFamily="34" charset="-120"/>
              </a:rPr>
              <a:t>Define prefixes trans-, inter-, sub-.</a:t>
            </a:r>
            <a:endParaRPr lang="en-US" sz="1500" dirty="0"/>
          </a:p>
        </p:txBody>
      </p:sp>
      <p:sp>
        <p:nvSpPr>
          <p:cNvPr id="10" name="Shape 8"/>
          <p:cNvSpPr/>
          <p:nvPr/>
        </p:nvSpPr>
        <p:spPr>
          <a:xfrm>
            <a:off x="365760" y="3090672"/>
            <a:ext cx="8412480" cy="713232"/>
          </a:xfrm>
          <a:prstGeom prst="roundRect">
            <a:avLst>
              <a:gd name="adj" fmla="val 12821"/>
            </a:avLst>
          </a:prstGeom>
          <a:solidFill>
            <a:srgbClr val="F8FAFC"/>
          </a:solidFill>
          <a:ln/>
          <a:effectLst>
            <a:outerShdw sx="100000" sy="100000" kx="0" ky="0" algn="bl" rotWithShape="0" blurRad="101600" dist="38100" dir="2700000">
              <a:srgbClr val="000000">
                <a:alpha val="12000"/>
              </a:srgbClr>
            </a:outerShdw>
          </a:effectLst>
        </p:spPr>
      </p:sp>
      <p:sp>
        <p:nvSpPr>
          <p:cNvPr id="11" name="Text 9"/>
          <p:cNvSpPr/>
          <p:nvPr/>
        </p:nvSpPr>
        <p:spPr>
          <a:xfrm>
            <a:off x="548640" y="3163824"/>
            <a:ext cx="8046720" cy="566928"/>
          </a:xfrm>
          <a:prstGeom prst="rect">
            <a:avLst/>
          </a:prstGeom>
          <a:noFill/>
          <a:ln/>
        </p:spPr>
        <p:txBody>
          <a:bodyPr wrap="square" lIns="0" tIns="0" rIns="0" bIns="0" rtlCol="0" anchor="ctr"/>
          <a:lstStyle/>
          <a:p>
            <a:pPr indent="0" marL="0">
              <a:buNone/>
            </a:pPr>
            <a:r>
              <a:rPr lang="en-US" sz="1500" dirty="0">
                <a:solidFill>
                  <a:srgbClr val="000000"/>
                </a:solidFill>
              </a:rPr>
              <a:t>✏️  </a:t>
            </a:r>
            <a:pPr indent="0" marL="0">
              <a:buNone/>
            </a:pPr>
            <a:r>
              <a:rPr lang="en-US" sz="1300" b="1" dirty="0">
                <a:solidFill>
                  <a:srgbClr val="0E1C42"/>
                </a:solidFill>
                <a:latin typeface="Calibri" pitchFamily="34" charset="0"/>
                <a:ea typeface="Calibri" pitchFamily="34" charset="-122"/>
                <a:cs typeface="Calibri" pitchFamily="34" charset="-120"/>
              </a:rPr>
              <a:t>Grammar: </a:t>
            </a:r>
            <a:pPr indent="0" marL="0">
              <a:buNone/>
            </a:pPr>
            <a:r>
              <a:rPr lang="en-US" sz="1250" dirty="0">
                <a:solidFill>
                  <a:srgbClr val="1E293B"/>
                </a:solidFill>
                <a:latin typeface="Calibri" pitchFamily="34" charset="0"/>
                <a:ea typeface="Calibri" pitchFamily="34" charset="-122"/>
                <a:cs typeface="Calibri" pitchFamily="34" charset="-120"/>
              </a:rPr>
              <a:t>Define relative clauses; expand sentences with who/which/that.</a:t>
            </a:r>
            <a:endParaRPr lang="en-US" sz="1500" dirty="0"/>
          </a:p>
        </p:txBody>
      </p:sp>
      <p:sp>
        <p:nvSpPr>
          <p:cNvPr id="12" name="Shape 10"/>
          <p:cNvSpPr/>
          <p:nvPr/>
        </p:nvSpPr>
        <p:spPr>
          <a:xfrm>
            <a:off x="365760" y="3895344"/>
            <a:ext cx="8412480" cy="713232"/>
          </a:xfrm>
          <a:prstGeom prst="roundRect">
            <a:avLst>
              <a:gd name="adj" fmla="val 12821"/>
            </a:avLst>
          </a:prstGeom>
          <a:solidFill>
            <a:srgbClr val="F8FAFC"/>
          </a:solidFill>
          <a:ln/>
          <a:effectLst>
            <a:outerShdw sx="100000" sy="100000" kx="0" ky="0" algn="bl" rotWithShape="0" blurRad="101600" dist="38100" dir="2700000">
              <a:srgbClr val="000000">
                <a:alpha val="12000"/>
              </a:srgbClr>
            </a:outerShdw>
          </a:effectLst>
        </p:spPr>
      </p:sp>
      <p:sp>
        <p:nvSpPr>
          <p:cNvPr id="13" name="Text 11"/>
          <p:cNvSpPr/>
          <p:nvPr/>
        </p:nvSpPr>
        <p:spPr>
          <a:xfrm>
            <a:off x="548640" y="3968496"/>
            <a:ext cx="8046720" cy="566928"/>
          </a:xfrm>
          <a:prstGeom prst="rect">
            <a:avLst/>
          </a:prstGeom>
          <a:noFill/>
          <a:ln/>
        </p:spPr>
        <p:txBody>
          <a:bodyPr wrap="square" lIns="0" tIns="0" rIns="0" bIns="0" rtlCol="0" anchor="ctr"/>
          <a:lstStyle/>
          <a:p>
            <a:pPr indent="0" marL="0">
              <a:buNone/>
            </a:pPr>
            <a:r>
              <a:rPr lang="en-US" sz="1500" dirty="0">
                <a:solidFill>
                  <a:srgbClr val="000000"/>
                </a:solidFill>
              </a:rPr>
              <a:t>🔤  </a:t>
            </a:r>
            <a:pPr indent="0" marL="0">
              <a:buNone/>
            </a:pPr>
            <a:r>
              <a:rPr lang="en-US" sz="1300" b="1" dirty="0">
                <a:solidFill>
                  <a:srgbClr val="0E1C42"/>
                </a:solidFill>
                <a:latin typeface="Calibri" pitchFamily="34" charset="0"/>
                <a:ea typeface="Calibri" pitchFamily="34" charset="-122"/>
                <a:cs typeface="Calibri" pitchFamily="34" charset="-120"/>
              </a:rPr>
              <a:t>Spelling: </a:t>
            </a:r>
            <a:pPr indent="0" marL="0">
              <a:buNone/>
            </a:pPr>
            <a:r>
              <a:rPr lang="en-US" sz="1250" dirty="0">
                <a:solidFill>
                  <a:srgbClr val="1E293B"/>
                </a:solidFill>
                <a:latin typeface="Calibri" pitchFamily="34" charset="0"/>
                <a:ea typeface="Calibri" pitchFamily="34" charset="-122"/>
                <a:cs typeface="Calibri" pitchFamily="34" charset="-120"/>
              </a:rPr>
              <a:t>Discover assimilated prefixes and spelling shifts.</a:t>
            </a:r>
            <a:endParaRPr lang="en-US" sz="1500" dirty="0"/>
          </a:p>
        </p:txBody>
      </p:sp>
      <p:sp>
        <p:nvSpPr>
          <p:cNvPr id="14" name="Shape 12"/>
          <p:cNvSpPr/>
          <p:nvPr/>
        </p:nvSpPr>
        <p:spPr>
          <a:xfrm>
            <a:off x="365760" y="4700016"/>
            <a:ext cx="8412480" cy="713232"/>
          </a:xfrm>
          <a:prstGeom prst="roundRect">
            <a:avLst>
              <a:gd name="adj" fmla="val 12821"/>
            </a:avLst>
          </a:prstGeom>
          <a:solidFill>
            <a:srgbClr val="F8FAFC"/>
          </a:solidFill>
          <a:ln/>
          <a:effectLst>
            <a:outerShdw sx="100000" sy="100000" kx="0" ky="0" algn="bl" rotWithShape="0" blurRad="101600" dist="38100" dir="2700000">
              <a:srgbClr val="000000">
                <a:alpha val="12000"/>
              </a:srgbClr>
            </a:outerShdw>
          </a:effectLst>
        </p:spPr>
      </p:sp>
      <p:sp>
        <p:nvSpPr>
          <p:cNvPr id="15" name="Text 13"/>
          <p:cNvSpPr/>
          <p:nvPr/>
        </p:nvSpPr>
        <p:spPr>
          <a:xfrm>
            <a:off x="548640" y="4773168"/>
            <a:ext cx="8046720" cy="566928"/>
          </a:xfrm>
          <a:prstGeom prst="rect">
            <a:avLst/>
          </a:prstGeom>
          <a:noFill/>
          <a:ln/>
        </p:spPr>
        <p:txBody>
          <a:bodyPr wrap="square" lIns="0" tIns="0" rIns="0" bIns="0" rtlCol="0" anchor="ctr"/>
          <a:lstStyle/>
          <a:p>
            <a:pPr indent="0" marL="0">
              <a:buNone/>
            </a:pPr>
            <a:r>
              <a:rPr lang="en-US" sz="1500" dirty="0">
                <a:solidFill>
                  <a:srgbClr val="000000"/>
                </a:solidFill>
              </a:rPr>
              <a:t>📖  </a:t>
            </a:r>
            <a:pPr indent="0" marL="0">
              <a:buNone/>
            </a:pPr>
            <a:r>
              <a:rPr lang="en-US" sz="1300" b="1" dirty="0">
                <a:solidFill>
                  <a:srgbClr val="0E1C42"/>
                </a:solidFill>
                <a:latin typeface="Calibri" pitchFamily="34" charset="0"/>
                <a:ea typeface="Calibri" pitchFamily="34" charset="-122"/>
                <a:cs typeface="Calibri" pitchFamily="34" charset="-120"/>
              </a:rPr>
              <a:t>Reading: </a:t>
            </a:r>
            <a:pPr indent="0" marL="0">
              <a:buNone/>
            </a:pPr>
            <a:r>
              <a:rPr lang="en-US" sz="1250" dirty="0">
                <a:solidFill>
                  <a:srgbClr val="1E293B"/>
                </a:solidFill>
                <a:latin typeface="Calibri" pitchFamily="34" charset="0"/>
                <a:ea typeface="Calibri" pitchFamily="34" charset="-122"/>
                <a:cs typeface="Calibri" pitchFamily="34" charset="-120"/>
              </a:rPr>
              <a:t>Chapter 17 — Lunars and Moonlight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What Good Readers Do</a:t>
            </a:r>
            <a:endParaRPr lang="en-US" sz="26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SET YOUR READING LENS</a:t>
            </a:r>
            <a:endParaRPr lang="en-US" sz="1100" dirty="0"/>
          </a:p>
        </p:txBody>
      </p:sp>
      <p:sp>
        <p:nvSpPr>
          <p:cNvPr id="5" name="Shape 3"/>
          <p:cNvSpPr/>
          <p:nvPr/>
        </p:nvSpPr>
        <p:spPr>
          <a:xfrm>
            <a:off x="365760" y="1078992"/>
            <a:ext cx="8412480" cy="1051560"/>
          </a:xfrm>
          <a:prstGeom prst="roundRect">
            <a:avLst>
              <a:gd name="adj" fmla="val 8696"/>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170432"/>
            <a:ext cx="7955280" cy="868680"/>
          </a:xfrm>
          <a:prstGeom prst="rect">
            <a:avLst/>
          </a:prstGeom>
          <a:noFill/>
          <a:ln/>
        </p:spPr>
        <p:txBody>
          <a:bodyPr wrap="square" lIns="0" tIns="0" rIns="0" bIns="0" rtlCol="0" anchor="ctr"/>
          <a:lstStyle/>
          <a:p>
            <a:pPr indent="0" marL="0">
              <a:buNone/>
            </a:pPr>
            <a:r>
              <a:rPr lang="en-US" sz="1300" dirty="0">
                <a:solidFill>
                  <a:srgbClr val="1E293B"/>
                </a:solidFill>
                <a:latin typeface="Calibri" pitchFamily="34" charset="0"/>
                <a:ea typeface="Calibri" pitchFamily="34" charset="-122"/>
                <a:cs typeface="Calibri" pitchFamily="34" charset="-120"/>
              </a:rPr>
              <a:t>Chapter 17 is the most figuratively rich chapter Nat has encountered in his own story. The moon is both a precise scientific instrument (for calculating longitude through lunar distances) and a source of something more — wonder, longing, the poetry of the sea. Good readers notice when an author uses figurative language not just for beauty but to say something true that plain language cannot.</a:t>
            </a:r>
            <a:endParaRPr lang="en-US" sz="1300" dirty="0"/>
          </a:p>
        </p:txBody>
      </p:sp>
      <p:sp>
        <p:nvSpPr>
          <p:cNvPr id="7" name="Text 5"/>
          <p:cNvSpPr/>
          <p:nvPr/>
        </p:nvSpPr>
        <p:spPr>
          <a:xfrm>
            <a:off x="365760" y="228600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 WATCH FOR THIS AS YOU READ</a:t>
            </a:r>
            <a:endParaRPr lang="en-US" sz="1100" dirty="0"/>
          </a:p>
        </p:txBody>
      </p:sp>
      <p:sp>
        <p:nvSpPr>
          <p:cNvPr id="8" name="Shape 6"/>
          <p:cNvSpPr/>
          <p:nvPr/>
        </p:nvSpPr>
        <p:spPr>
          <a:xfrm>
            <a:off x="365760" y="2606040"/>
            <a:ext cx="8412480" cy="621792"/>
          </a:xfrm>
          <a:prstGeom prst="roundRect">
            <a:avLst>
              <a:gd name="adj" fmla="val 14706"/>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48640" y="2679192"/>
            <a:ext cx="8046720" cy="475488"/>
          </a:xfrm>
          <a:prstGeom prst="rect">
            <a:avLst/>
          </a:prstGeom>
          <a:noFill/>
          <a:ln/>
        </p:spPr>
        <p:txBody>
          <a:bodyPr wrap="square" lIns="0" tIns="0" rIns="0" bIns="0" rtlCol="0" anchor="ctr"/>
          <a:lstStyle/>
          <a:p>
            <a:pPr indent="0" marL="0">
              <a:buNone/>
            </a:pPr>
            <a:r>
              <a:rPr lang="en-US" sz="1300" i="1" dirty="0">
                <a:solidFill>
                  <a:srgbClr val="1E293B"/>
                </a:solidFill>
                <a:latin typeface="Calibri" pitchFamily="34" charset="0"/>
                <a:ea typeface="Calibri" pitchFamily="34" charset="-122"/>
                <a:cs typeface="Calibri" pitchFamily="34" charset="-120"/>
              </a:rPr>
              <a:t>•  When Latham describes the moon in Chapter 17, what figurative language does she use? Is the moon described as something cold and mathematical, something beautiful and poetic, or both at once?</a:t>
            </a:r>
            <a:endParaRPr lang="en-US" sz="1300" dirty="0"/>
          </a:p>
        </p:txBody>
      </p:sp>
      <p:sp>
        <p:nvSpPr>
          <p:cNvPr id="10" name="Shape 8"/>
          <p:cNvSpPr/>
          <p:nvPr/>
        </p:nvSpPr>
        <p:spPr>
          <a:xfrm>
            <a:off x="365760" y="3319272"/>
            <a:ext cx="8412480" cy="621792"/>
          </a:xfrm>
          <a:prstGeom prst="roundRect">
            <a:avLst>
              <a:gd name="adj" fmla="val 14706"/>
            </a:avLst>
          </a:prstGeom>
          <a:solidFill>
            <a:srgbClr val="F8FAFC"/>
          </a:solidFill>
          <a:ln/>
          <a:effectLst>
            <a:outerShdw sx="100000" sy="100000" kx="0" ky="0" algn="bl" rotWithShape="0" blurRad="101600" dist="38100" dir="2700000">
              <a:srgbClr val="000000">
                <a:alpha val="12000"/>
              </a:srgbClr>
            </a:outerShdw>
          </a:effectLst>
        </p:spPr>
      </p:sp>
      <p:sp>
        <p:nvSpPr>
          <p:cNvPr id="11" name="Text 9"/>
          <p:cNvSpPr/>
          <p:nvPr/>
        </p:nvSpPr>
        <p:spPr>
          <a:xfrm>
            <a:off x="548640" y="3392424"/>
            <a:ext cx="8046720" cy="475488"/>
          </a:xfrm>
          <a:prstGeom prst="rect">
            <a:avLst/>
          </a:prstGeom>
          <a:noFill/>
          <a:ln/>
        </p:spPr>
        <p:txBody>
          <a:bodyPr wrap="square" lIns="0" tIns="0" rIns="0" bIns="0" rtlCol="0" anchor="ctr"/>
          <a:lstStyle/>
          <a:p>
            <a:pPr indent="0" marL="0">
              <a:buNone/>
            </a:pPr>
            <a:r>
              <a:rPr lang="en-US" sz="1300" i="1" dirty="0">
                <a:solidFill>
                  <a:srgbClr val="1E293B"/>
                </a:solidFill>
                <a:latin typeface="Calibri" pitchFamily="34" charset="0"/>
                <a:ea typeface="Calibri" pitchFamily="34" charset="-122"/>
                <a:cs typeface="Calibri" pitchFamily="34" charset="-120"/>
              </a:rPr>
              <a:t>•  How does Nat’s relationship to the moon differ from how a poet might see it? What does the moon mean to him ?</a:t>
            </a:r>
            <a:endParaRPr lang="en-US" sz="1300" dirty="0"/>
          </a:p>
        </p:txBody>
      </p:sp>
      <p:sp>
        <p:nvSpPr>
          <p:cNvPr id="12" name="Shape 10"/>
          <p:cNvSpPr/>
          <p:nvPr/>
        </p:nvSpPr>
        <p:spPr>
          <a:xfrm>
            <a:off x="365760" y="4032504"/>
            <a:ext cx="8412480" cy="621792"/>
          </a:xfrm>
          <a:prstGeom prst="roundRect">
            <a:avLst>
              <a:gd name="adj" fmla="val 14706"/>
            </a:avLst>
          </a:prstGeom>
          <a:solidFill>
            <a:srgbClr val="F8FAFC"/>
          </a:solidFill>
          <a:ln/>
          <a:effectLst>
            <a:outerShdw sx="100000" sy="100000" kx="0" ky="0" algn="bl" rotWithShape="0" blurRad="101600" dist="38100" dir="2700000">
              <a:srgbClr val="000000">
                <a:alpha val="12000"/>
              </a:srgbClr>
            </a:outerShdw>
          </a:effectLst>
        </p:spPr>
      </p:sp>
      <p:sp>
        <p:nvSpPr>
          <p:cNvPr id="13" name="Text 11"/>
          <p:cNvSpPr/>
          <p:nvPr/>
        </p:nvSpPr>
        <p:spPr>
          <a:xfrm>
            <a:off x="548640" y="4105656"/>
            <a:ext cx="8046720" cy="475488"/>
          </a:xfrm>
          <a:prstGeom prst="rect">
            <a:avLst/>
          </a:prstGeom>
          <a:noFill/>
          <a:ln/>
        </p:spPr>
        <p:txBody>
          <a:bodyPr wrap="square" lIns="0" tIns="0" rIns="0" bIns="0" rtlCol="0" anchor="ctr"/>
          <a:lstStyle/>
          <a:p>
            <a:pPr indent="0" marL="0">
              <a:buNone/>
            </a:pPr>
            <a:r>
              <a:rPr lang="en-US" sz="1300" i="1" dirty="0">
                <a:solidFill>
                  <a:srgbClr val="1E293B"/>
                </a:solidFill>
                <a:latin typeface="Calibri" pitchFamily="34" charset="0"/>
                <a:ea typeface="Calibri" pitchFamily="34" charset="-122"/>
                <a:cs typeface="Calibri" pitchFamily="34" charset="-120"/>
              </a:rPr>
              <a:t>•  What does it mean to say Nat uses the moon as a “clock in the sky”? What does this metaphor reveal about his way of thinking?</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Daily Oral Language — Study What's Right</a:t>
            </a:r>
            <a:endParaRPr lang="en-US" sz="2600" dirty="0"/>
          </a:p>
        </p:txBody>
      </p:sp>
      <p:sp>
        <p:nvSpPr>
          <p:cNvPr id="3" name="Shape 1"/>
          <p:cNvSpPr/>
          <p:nvPr/>
        </p:nvSpPr>
        <p:spPr>
          <a:xfrm>
            <a:off x="365760" y="749808"/>
            <a:ext cx="8412480" cy="0"/>
          </a:xfrm>
          <a:prstGeom prst="line">
            <a:avLst/>
          </a:prstGeom>
          <a:noFill/>
          <a:ln w="19050">
            <a:solidFill>
              <a:srgbClr val="34B76F"/>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CORRECT MODEL — TAP TO NOTICE</a:t>
            </a:r>
            <a:endParaRPr lang="en-US" sz="1100" dirty="0"/>
          </a:p>
        </p:txBody>
      </p:sp>
      <p:sp>
        <p:nvSpPr>
          <p:cNvPr id="5" name="Shape 3"/>
          <p:cNvSpPr/>
          <p:nvPr/>
        </p:nvSpPr>
        <p:spPr>
          <a:xfrm>
            <a:off x="365760" y="1078992"/>
            <a:ext cx="8412480" cy="914400"/>
          </a:xfrm>
          <a:prstGeom prst="roundRect">
            <a:avLst>
              <a:gd name="adj" fmla="val 10000"/>
            </a:avLst>
          </a:prstGeom>
          <a:solidFill>
            <a:srgbClr val="E8F8EF"/>
          </a:solidFill>
          <a:ln w="12700">
            <a:solidFill>
              <a:srgbClr val="34B76F"/>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548640" y="1188720"/>
            <a:ext cx="8046720" cy="685800"/>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Nat who had mastered lunar distance , could translate the moon’s position into a precise longitude within a few miles .</a:t>
            </a:r>
            <a:endParaRPr lang="en-US" sz="1600" dirty="0"/>
          </a:p>
        </p:txBody>
      </p:sp>
      <p:sp>
        <p:nvSpPr>
          <p:cNvPr id="7" name="Text 5"/>
          <p:cNvSpPr/>
          <p:nvPr/>
        </p:nvSpPr>
        <p:spPr>
          <a:xfrm>
            <a:off x="365760" y="210312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WHAT EACH TAPPED WORD TEACHES</a:t>
            </a:r>
            <a:endParaRPr lang="en-US" sz="1100" dirty="0"/>
          </a:p>
        </p:txBody>
      </p:sp>
      <p:sp>
        <p:nvSpPr>
          <p:cNvPr id="8" name="Shape 6"/>
          <p:cNvSpPr/>
          <p:nvPr/>
        </p:nvSpPr>
        <p:spPr>
          <a:xfrm>
            <a:off x="365760" y="2377440"/>
            <a:ext cx="8412480" cy="512064"/>
          </a:xfrm>
          <a:prstGeom prst="roundRect">
            <a:avLst>
              <a:gd name="adj" fmla="val 17857"/>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48640" y="2432304"/>
            <a:ext cx="8046720" cy="402336"/>
          </a:xfrm>
          <a:prstGeom prst="rect">
            <a:avLst/>
          </a:prstGeom>
          <a:noFill/>
          <a:ln/>
        </p:spPr>
        <p:txBody>
          <a:bodyPr wrap="square" lIns="0" tIns="0" rIns="0" bIns="0" rtlCol="0" anchor="ctr"/>
          <a:lstStyle/>
          <a:p>
            <a:pPr indent="0" marL="0">
              <a:buNone/>
            </a:pPr>
            <a:r>
              <a:rPr lang="en-US" sz="1300" b="1" dirty="0">
                <a:solidFill>
                  <a:srgbClr val="34B76F"/>
                </a:solidFill>
                <a:latin typeface="Calibri" pitchFamily="34" charset="0"/>
                <a:ea typeface="Calibri" pitchFamily="34" charset="-122"/>
                <a:cs typeface="Calibri" pitchFamily="34" charset="-120"/>
              </a:rPr>
              <a:t>who had mastered lunar distance  </a:t>
            </a:r>
            <a:pPr indent="0" marL="0">
              <a:buNone/>
            </a:pPr>
            <a:r>
              <a:rPr lang="en-US" sz="1200" dirty="0">
                <a:solidFill>
                  <a:srgbClr val="1E293B"/>
                </a:solidFill>
                <a:latin typeface="Calibri" pitchFamily="34" charset="0"/>
                <a:ea typeface="Calibri" pitchFamily="34" charset="-122"/>
                <a:cs typeface="Calibri" pitchFamily="34" charset="-120"/>
              </a:rPr>
              <a:t>A relative clause — who had mastered lunar distance — expands Nat, telling us which navigator.</a:t>
            </a:r>
            <a:endParaRPr lang="en-US" sz="1300" dirty="0"/>
          </a:p>
        </p:txBody>
      </p:sp>
      <p:sp>
        <p:nvSpPr>
          <p:cNvPr id="10" name="Shape 8"/>
          <p:cNvSpPr/>
          <p:nvPr/>
        </p:nvSpPr>
        <p:spPr>
          <a:xfrm>
            <a:off x="365760" y="2953512"/>
            <a:ext cx="8412480" cy="512064"/>
          </a:xfrm>
          <a:prstGeom prst="roundRect">
            <a:avLst>
              <a:gd name="adj" fmla="val 17857"/>
            </a:avLst>
          </a:prstGeom>
          <a:solidFill>
            <a:srgbClr val="F8FAFC"/>
          </a:solidFill>
          <a:ln/>
          <a:effectLst>
            <a:outerShdw sx="100000" sy="100000" kx="0" ky="0" algn="bl" rotWithShape="0" blurRad="101600" dist="38100" dir="2700000">
              <a:srgbClr val="000000">
                <a:alpha val="12000"/>
              </a:srgbClr>
            </a:outerShdw>
          </a:effectLst>
        </p:spPr>
      </p:sp>
      <p:sp>
        <p:nvSpPr>
          <p:cNvPr id="11" name="Text 9"/>
          <p:cNvSpPr/>
          <p:nvPr/>
        </p:nvSpPr>
        <p:spPr>
          <a:xfrm>
            <a:off x="548640" y="3008376"/>
            <a:ext cx="8046720" cy="402336"/>
          </a:xfrm>
          <a:prstGeom prst="rect">
            <a:avLst/>
          </a:prstGeom>
          <a:noFill/>
          <a:ln/>
        </p:spPr>
        <p:txBody>
          <a:bodyPr wrap="square" lIns="0" tIns="0" rIns="0" bIns="0" rtlCol="0" anchor="ctr"/>
          <a:lstStyle/>
          <a:p>
            <a:pPr indent="0" marL="0">
              <a:buNone/>
            </a:pPr>
            <a:r>
              <a:rPr lang="en-US" sz="1300" b="1" dirty="0">
                <a:solidFill>
                  <a:srgbClr val="34B76F"/>
                </a:solidFill>
                <a:latin typeface="Calibri" pitchFamily="34" charset="0"/>
                <a:ea typeface="Calibri" pitchFamily="34" charset="-122"/>
                <a:cs typeface="Calibri" pitchFamily="34" charset="-120"/>
              </a:rPr>
              <a:t>translate  </a:t>
            </a:r>
            <a:pPr indent="0" marL="0">
              <a:buNone/>
            </a:pPr>
            <a:r>
              <a:rPr lang="en-US" sz="1200" dirty="0">
                <a:solidFill>
                  <a:srgbClr val="1E293B"/>
                </a:solidFill>
                <a:latin typeface="Calibri" pitchFamily="34" charset="0"/>
                <a:ea typeface="Calibri" pitchFamily="34" charset="-122"/>
                <a:cs typeface="Calibri" pitchFamily="34" charset="-120"/>
              </a:rPr>
              <a:t>Trans- means across. Translate: carry meaning across a barrier.</a:t>
            </a:r>
            <a:endParaRPr lang="en-US" sz="1300" dirty="0"/>
          </a:p>
        </p:txBody>
      </p:sp>
      <p:sp>
        <p:nvSpPr>
          <p:cNvPr id="12" name="Shape 10"/>
          <p:cNvSpPr/>
          <p:nvPr/>
        </p:nvSpPr>
        <p:spPr>
          <a:xfrm>
            <a:off x="365760" y="3529584"/>
            <a:ext cx="8412480" cy="512064"/>
          </a:xfrm>
          <a:prstGeom prst="roundRect">
            <a:avLst>
              <a:gd name="adj" fmla="val 17857"/>
            </a:avLst>
          </a:prstGeom>
          <a:solidFill>
            <a:srgbClr val="F8FAFC"/>
          </a:solidFill>
          <a:ln/>
          <a:effectLst>
            <a:outerShdw sx="100000" sy="100000" kx="0" ky="0" algn="bl" rotWithShape="0" blurRad="101600" dist="38100" dir="2700000">
              <a:srgbClr val="000000">
                <a:alpha val="12000"/>
              </a:srgbClr>
            </a:outerShdw>
          </a:effectLst>
        </p:spPr>
      </p:sp>
      <p:sp>
        <p:nvSpPr>
          <p:cNvPr id="13" name="Text 11"/>
          <p:cNvSpPr/>
          <p:nvPr/>
        </p:nvSpPr>
        <p:spPr>
          <a:xfrm>
            <a:off x="548640" y="3584448"/>
            <a:ext cx="8046720" cy="402336"/>
          </a:xfrm>
          <a:prstGeom prst="rect">
            <a:avLst/>
          </a:prstGeom>
          <a:noFill/>
          <a:ln/>
        </p:spPr>
        <p:txBody>
          <a:bodyPr wrap="square" lIns="0" tIns="0" rIns="0" bIns="0" rtlCol="0" anchor="ctr"/>
          <a:lstStyle/>
          <a:p>
            <a:pPr indent="0" marL="0">
              <a:buNone/>
            </a:pPr>
            <a:r>
              <a:rPr lang="en-US" sz="1300" b="1" dirty="0">
                <a:solidFill>
                  <a:srgbClr val="34B76F"/>
                </a:solidFill>
                <a:latin typeface="Calibri" pitchFamily="34" charset="0"/>
                <a:ea typeface="Calibri" pitchFamily="34" charset="-122"/>
                <a:cs typeface="Calibri" pitchFamily="34" charset="-120"/>
              </a:rPr>
              <a:t>within a few miles  </a:t>
            </a:r>
            <a:pPr indent="0" marL="0">
              <a:buNone/>
            </a:pPr>
            <a:r>
              <a:rPr lang="en-US" sz="1200" dirty="0">
                <a:solidFill>
                  <a:srgbClr val="1E293B"/>
                </a:solidFill>
                <a:latin typeface="Calibri" pitchFamily="34" charset="0"/>
                <a:ea typeface="Calibri" pitchFamily="34" charset="-122"/>
                <a:cs typeface="Calibri" pitchFamily="34" charset="-120"/>
              </a:rPr>
              <a:t>Prepositional phrase: within a few miles — tells how precisely.</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Daily Oral Language — Fix It</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NEEDS FIXING</a:t>
            </a:r>
            <a:endParaRPr lang="en-US" sz="1100" dirty="0"/>
          </a:p>
        </p:txBody>
      </p:sp>
      <p:sp>
        <p:nvSpPr>
          <p:cNvPr id="7" name="Shape 5"/>
          <p:cNvSpPr/>
          <p:nvPr/>
        </p:nvSpPr>
        <p:spPr>
          <a:xfrm>
            <a:off x="365760" y="1078992"/>
            <a:ext cx="8412480" cy="777240"/>
          </a:xfrm>
          <a:prstGeom prst="roundRect">
            <a:avLst>
              <a:gd name="adj" fmla="val 11765"/>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48640" y="1188720"/>
            <a:ext cx="8046720" cy="548640"/>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the interval between lunar observations must be precise because even small errors in timing can translate into large errors in a ships position</a:t>
            </a:r>
            <a:endParaRPr lang="en-US" sz="1600" dirty="0"/>
          </a:p>
        </p:txBody>
      </p:sp>
      <p:sp>
        <p:nvSpPr>
          <p:cNvPr id="9" name="Text 7"/>
          <p:cNvSpPr/>
          <p:nvPr/>
        </p:nvSpPr>
        <p:spPr>
          <a:xfrm>
            <a:off x="457200" y="1965960"/>
            <a:ext cx="8229600" cy="384048"/>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Rewrite the corrected sentence in your notebook.</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Daily Oral Language — Fix It</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NEEDS FIXING</a:t>
            </a:r>
            <a:endParaRPr lang="en-US" sz="1100" dirty="0"/>
          </a:p>
        </p:txBody>
      </p:sp>
      <p:sp>
        <p:nvSpPr>
          <p:cNvPr id="7" name="Shape 5"/>
          <p:cNvSpPr/>
          <p:nvPr/>
        </p:nvSpPr>
        <p:spPr>
          <a:xfrm>
            <a:off x="365760" y="1078992"/>
            <a:ext cx="8412480" cy="777240"/>
          </a:xfrm>
          <a:prstGeom prst="roundRect">
            <a:avLst>
              <a:gd name="adj" fmla="val 11765"/>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48640" y="1188720"/>
            <a:ext cx="8046720" cy="548640"/>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the interval between lunar observations must be precise because even small errors in timing can translate into large errors in a ships position</a:t>
            </a:r>
            <a:endParaRPr lang="en-US" sz="1600" dirty="0"/>
          </a:p>
        </p:txBody>
      </p:sp>
      <p:sp>
        <p:nvSpPr>
          <p:cNvPr id="9" name="Text 7"/>
          <p:cNvSpPr/>
          <p:nvPr/>
        </p:nvSpPr>
        <p:spPr>
          <a:xfrm>
            <a:off x="457200" y="1965960"/>
            <a:ext cx="8229600" cy="384048"/>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Rewrite the corrected sentence in your notebook.</a:t>
            </a:r>
            <a:endParaRPr lang="en-US" sz="1500" dirty="0"/>
          </a:p>
        </p:txBody>
      </p:sp>
      <p:sp>
        <p:nvSpPr>
          <p:cNvPr id="10" name="Shape 8"/>
          <p:cNvSpPr/>
          <p:nvPr/>
        </p:nvSpPr>
        <p:spPr>
          <a:xfrm>
            <a:off x="365760" y="2468880"/>
            <a:ext cx="8412480" cy="1371600"/>
          </a:xfrm>
          <a:prstGeom prst="roundRect">
            <a:avLst>
              <a:gd name="adj" fmla="val 6667"/>
            </a:avLst>
          </a:prstGeom>
          <a:solidFill>
            <a:srgbClr val="E8F8EF"/>
          </a:solidFill>
          <a:ln/>
          <a:effectLst>
            <a:outerShdw sx="100000" sy="100000" kx="0" ky="0" algn="bl" rotWithShape="0" blurRad="101600" dist="38100" dir="2700000">
              <a:srgbClr val="000000">
                <a:alpha val="12000"/>
              </a:srgbClr>
            </a:outerShdw>
          </a:effectLst>
        </p:spPr>
      </p:sp>
      <p:sp>
        <p:nvSpPr>
          <p:cNvPr id="11" name="Text 9"/>
          <p:cNvSpPr/>
          <p:nvPr/>
        </p:nvSpPr>
        <p:spPr>
          <a:xfrm>
            <a:off x="594360" y="256032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  CORRECTED</a:t>
            </a:r>
            <a:endParaRPr lang="en-US" sz="1100" dirty="0"/>
          </a:p>
        </p:txBody>
      </p:sp>
      <p:sp>
        <p:nvSpPr>
          <p:cNvPr id="12" name="Text 10"/>
          <p:cNvSpPr/>
          <p:nvPr/>
        </p:nvSpPr>
        <p:spPr>
          <a:xfrm>
            <a:off x="594360" y="2834640"/>
            <a:ext cx="7955280" cy="457200"/>
          </a:xfrm>
          <a:prstGeom prst="rect">
            <a:avLst/>
          </a:prstGeom>
          <a:noFill/>
          <a:ln/>
        </p:spPr>
        <p:txBody>
          <a:bodyPr wrap="square" lIns="0" tIns="0" rIns="0" bIns="0" rtlCol="0" anchor="ctr"/>
          <a:lstStyle/>
          <a:p>
            <a:pPr indent="0" marL="0">
              <a:buNone/>
            </a:pPr>
            <a:r>
              <a:rPr lang="en-US" sz="1500" b="1" i="1" dirty="0">
                <a:solidFill>
                  <a:srgbClr val="1E293B"/>
                </a:solidFill>
                <a:latin typeface="Calibri" pitchFamily="34" charset="0"/>
                <a:ea typeface="Calibri" pitchFamily="34" charset="-122"/>
                <a:cs typeface="Calibri" pitchFamily="34" charset="-120"/>
              </a:rPr>
              <a:t>The interval between lunar observations must be precise, because even small errors in timing can translate into large errors in a ship’s position.</a:t>
            </a:r>
            <a:endParaRPr lang="en-US" sz="1500" dirty="0"/>
          </a:p>
        </p:txBody>
      </p:sp>
      <p:sp>
        <p:nvSpPr>
          <p:cNvPr id="13" name="Text 11"/>
          <p:cNvSpPr/>
          <p:nvPr/>
        </p:nvSpPr>
        <p:spPr>
          <a:xfrm>
            <a:off x="594360" y="3310128"/>
            <a:ext cx="7955280" cy="457200"/>
          </a:xfrm>
          <a:prstGeom prst="rect">
            <a:avLst/>
          </a:prstGeom>
          <a:noFill/>
          <a:ln/>
        </p:spPr>
        <p:txBody>
          <a:bodyPr wrap="square" lIns="0" tIns="0" rIns="0" bIns="0" rtlCol="0" anchor="ctr"/>
          <a:lstStyle/>
          <a:p>
            <a:pPr indent="0" marL="0">
              <a:buNone/>
            </a:pPr>
            <a:r>
              <a:rPr lang="en-US" sz="1100" i="1" dirty="0">
                <a:solidFill>
                  <a:srgbClr val="64748B"/>
                </a:solidFill>
                <a:latin typeface="Calibri" pitchFamily="34" charset="0"/>
                <a:ea typeface="Calibri" pitchFamily="34" charset="-122"/>
                <a:cs typeface="Calibri" pitchFamily="34" charset="-120"/>
              </a:rPr>
              <a:t>Fixes: capitalize “The”; comma before “because” is optional here (both correct); apostrophe in “ship’s”; period at end.</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Quick Write (Optional)</a:t>
            </a:r>
            <a:endParaRPr lang="en-US" sz="2600" dirty="0"/>
          </a:p>
        </p:txBody>
      </p:sp>
      <p:sp>
        <p:nvSpPr>
          <p:cNvPr id="3" name="Shape 1"/>
          <p:cNvSpPr/>
          <p:nvPr/>
        </p:nvSpPr>
        <p:spPr>
          <a:xfrm>
            <a:off x="365760" y="749808"/>
            <a:ext cx="8412480" cy="0"/>
          </a:xfrm>
          <a:prstGeom prst="line">
            <a:avLst/>
          </a:prstGeom>
          <a:noFill/>
          <a:ln w="19050">
            <a:solidFill>
              <a:srgbClr val="C7922C"/>
            </a:solidFill>
            <a:prstDash val="solid"/>
          </a:ln>
        </p:spPr>
      </p:sp>
      <p:sp>
        <p:nvSpPr>
          <p:cNvPr id="4" name="Text 2"/>
          <p:cNvSpPr/>
          <p:nvPr/>
        </p:nvSpPr>
        <p:spPr>
          <a:xfrm>
            <a:off x="457200" y="91440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 READ THE PROMPT — 1 MINUTE</a:t>
            </a:r>
            <a:endParaRPr lang="en-US" sz="1100" dirty="0"/>
          </a:p>
        </p:txBody>
      </p:sp>
      <p:sp>
        <p:nvSpPr>
          <p:cNvPr id="5" name="Shape 3"/>
          <p:cNvSpPr/>
          <p:nvPr/>
        </p:nvSpPr>
        <p:spPr>
          <a:xfrm>
            <a:off x="457200" y="1280160"/>
            <a:ext cx="8229600" cy="1463040"/>
          </a:xfrm>
          <a:prstGeom prst="roundRect">
            <a:avLst>
              <a:gd name="adj" fmla="val 6250"/>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640080" y="1389888"/>
            <a:ext cx="7863840" cy="1234440"/>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Nat teaches ordinary sailors to "shoot the moon" for lunar navigation. Which matters more to Nat's larger goal: that HE can do the math, or that he can teach anyone else to do it too? Defend your answer with evidence from Chapter 17.</a:t>
            </a:r>
            <a:endParaRPr lang="en-US" sz="1600" dirty="0"/>
          </a:p>
        </p:txBody>
      </p:sp>
      <p:sp>
        <p:nvSpPr>
          <p:cNvPr id="7" name="Text 5"/>
          <p:cNvSpPr/>
          <p:nvPr/>
        </p:nvSpPr>
        <p:spPr>
          <a:xfrm>
            <a:off x="457200" y="292608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SENTENCE SCAFFOLD (USE WHAT HELPS)</a:t>
            </a:r>
            <a:endParaRPr lang="en-US" sz="1100" dirty="0"/>
          </a:p>
        </p:txBody>
      </p:sp>
      <p:sp>
        <p:nvSpPr>
          <p:cNvPr id="8" name="Text 6"/>
          <p:cNvSpPr/>
          <p:nvPr/>
        </p:nvSpPr>
        <p:spPr>
          <a:xfrm>
            <a:off x="457200" y="3218688"/>
            <a:ext cx="8229600" cy="822960"/>
          </a:xfrm>
          <a:prstGeom prst="rect">
            <a:avLst/>
          </a:prstGeom>
          <a:noFill/>
          <a:ln/>
        </p:spPr>
        <p:txBody>
          <a:bodyPr wrap="square" lIns="0" tIns="0" rIns="0" bIns="0" rtlCol="0" anchor="ctr"/>
          <a:lstStyle/>
          <a:p>
            <a:pPr indent="0" marL="0">
              <a:buNone/>
            </a:pPr>
            <a:r>
              <a:rPr lang="en-US" sz="1150" i="1" dirty="0">
                <a:solidFill>
                  <a:srgbClr val="0E1C42"/>
                </a:solidFill>
                <a:latin typeface="Calibri" pitchFamily="34" charset="0"/>
                <a:ea typeface="Calibri" pitchFamily="34" charset="-122"/>
                <a:cs typeface="Calibri" pitchFamily="34" charset="-120"/>
              </a:rPr>
              <a:t>I think...   →   because...   →   One piece of evidence is...   →   This matters because...</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EF6E8"/>
        </a:solidFill>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algn="ctr" indent="0" marL="0">
              <a:buNone/>
            </a:pPr>
            <a:r>
              <a:rPr lang="en-US" sz="3000" b="1" dirty="0">
                <a:solidFill>
                  <a:srgbClr val="0E1C42"/>
                </a:solidFill>
                <a:latin typeface="Calibri" pitchFamily="34" charset="0"/>
                <a:ea typeface="Calibri" pitchFamily="34" charset="-122"/>
                <a:cs typeface="Calibri" pitchFamily="34" charset="-120"/>
              </a:rPr>
              <a:t>✏️  Writing Time</a:t>
            </a:r>
            <a:endParaRPr lang="en-US" sz="3000" dirty="0"/>
          </a:p>
        </p:txBody>
      </p:sp>
      <p:sp>
        <p:nvSpPr>
          <p:cNvPr id="3" name="Text 1"/>
          <p:cNvSpPr/>
          <p:nvPr/>
        </p:nvSpPr>
        <p:spPr>
          <a:xfrm>
            <a:off x="914400" y="804672"/>
            <a:ext cx="7315200" cy="365760"/>
          </a:xfrm>
          <a:prstGeom prst="rect">
            <a:avLst/>
          </a:prstGeom>
          <a:noFill/>
          <a:ln/>
        </p:spPr>
        <p:txBody>
          <a:bodyPr wrap="square" lIns="0" tIns="0" rIns="0" bIns="0" rtlCol="0" anchor="ctr"/>
          <a:lstStyle/>
          <a:p>
            <a:pPr algn="ctr" indent="0" marL="0">
              <a:buNone/>
            </a:pPr>
            <a:r>
              <a:rPr lang="en-US" sz="1500" dirty="0">
                <a:solidFill>
                  <a:srgbClr val="C7922C"/>
                </a:solidFill>
                <a:latin typeface="Calibri" pitchFamily="34" charset="0"/>
                <a:ea typeface="Calibri" pitchFamily="34" charset="-122"/>
                <a:cs typeface="Calibri" pitchFamily="34" charset="-120"/>
              </a:rPr>
              <a:t>5 minutes — keep your pencil moving!</a:t>
            </a:r>
            <a:endParaRPr lang="en-US" sz="1500" dirty="0"/>
          </a:p>
        </p:txBody>
      </p:sp>
      <p:sp>
        <p:nvSpPr>
          <p:cNvPr id="4" name="Shape 2"/>
          <p:cNvSpPr/>
          <p:nvPr/>
        </p:nvSpPr>
        <p:spPr>
          <a:xfrm>
            <a:off x="457200" y="1325880"/>
            <a:ext cx="8229600" cy="1188720"/>
          </a:xfrm>
          <a:prstGeom prst="roundRect">
            <a:avLst>
              <a:gd name="adj" fmla="val 7692"/>
            </a:avLst>
          </a:prstGeom>
          <a:solidFill>
            <a:srgbClr val="FFFFFF"/>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5" name="Text 3"/>
          <p:cNvSpPr/>
          <p:nvPr/>
        </p:nvSpPr>
        <p:spPr>
          <a:xfrm>
            <a:off x="640080" y="1371600"/>
            <a:ext cx="7863840" cy="1097280"/>
          </a:xfrm>
          <a:prstGeom prst="rect">
            <a:avLst/>
          </a:prstGeom>
          <a:noFill/>
          <a:ln/>
        </p:spPr>
        <p:txBody>
          <a:bodyPr wrap="square" lIns="0" tIns="0" rIns="0" bIns="0" rtlCol="0" anchor="t"/>
          <a:lstStyle/>
          <a:p>
            <a:pPr indent="0" marL="0">
              <a:buNone/>
            </a:pPr>
            <a:r>
              <a:rPr lang="en-US" sz="1200" b="1" dirty="0">
                <a:solidFill>
                  <a:srgbClr val="C7922C"/>
                </a:solidFill>
                <a:latin typeface="Calibri" pitchFamily="34" charset="0"/>
                <a:ea typeface="Calibri" pitchFamily="34" charset="-122"/>
                <a:cs typeface="Calibri" pitchFamily="34" charset="-120"/>
              </a:rPr>
              <a:t>📖 Prompt: </a:t>
            </a:r>
            <a:pPr indent="0" marL="0">
              <a:buNone/>
            </a:pPr>
            <a:r>
              <a:rPr lang="en-US" sz="1200" i="1" dirty="0">
                <a:solidFill>
                  <a:srgbClr val="1E293B"/>
                </a:solidFill>
                <a:latin typeface="Calibri" pitchFamily="34" charset="0"/>
                <a:ea typeface="Calibri" pitchFamily="34" charset="-122"/>
                <a:cs typeface="Calibri" pitchFamily="34" charset="-120"/>
              </a:rPr>
              <a:t>Nat teaches ordinary sailors to "shoot the moon" for lunar navigation. Which matters more to Nat's larger goal: that HE can do the math, or that he can teach anyone else to do it too? Defend your answer with evidence from Chapter 17.</a:t>
            </a:r>
            <a:endParaRPr lang="en-US" sz="1200" dirty="0"/>
          </a:p>
        </p:txBody>
      </p:sp>
      <p:sp>
        <p:nvSpPr>
          <p:cNvPr id="6" name="Shape 4"/>
          <p:cNvSpPr/>
          <p:nvPr/>
        </p:nvSpPr>
        <p:spPr>
          <a:xfrm>
            <a:off x="1554480" y="2743200"/>
            <a:ext cx="6035040" cy="1600200"/>
          </a:xfrm>
          <a:prstGeom prst="roundRect">
            <a:avLst>
              <a:gd name="adj" fmla="val 6857"/>
            </a:avLst>
          </a:prstGeom>
          <a:solidFill>
            <a:srgbClr val="FFFFFF"/>
          </a:solidFill>
          <a:ln/>
          <a:effectLst>
            <a:outerShdw sx="100000" sy="100000" kx="0" ky="0" algn="bl" rotWithShape="0" blurRad="101600" dist="38100" dir="2700000">
              <a:srgbClr val="000000">
                <a:alpha val="12000"/>
              </a:srgbClr>
            </a:outerShdw>
          </a:effectLst>
        </p:spPr>
      </p:sp>
      <p:sp>
        <p:nvSpPr>
          <p:cNvPr id="7" name="Text 5"/>
          <p:cNvSpPr/>
          <p:nvPr/>
        </p:nvSpPr>
        <p:spPr>
          <a:xfrm>
            <a:off x="1737360" y="2834640"/>
            <a:ext cx="5669280" cy="1417320"/>
          </a:xfrm>
          <a:prstGeom prst="rect">
            <a:avLst/>
          </a:prstGeom>
          <a:noFill/>
          <a:ln/>
        </p:spPr>
        <p:txBody>
          <a:bodyPr wrap="square" lIns="0" tIns="0" rIns="0" bIns="0" rtlCol="0" anchor="t"/>
          <a:lstStyle/>
          <a:p>
            <a:pPr indent="0" marL="0">
              <a:buNone/>
            </a:pPr>
            <a:r>
              <a:rPr lang="en-US" sz="1300" b="1" dirty="0">
                <a:solidFill>
                  <a:srgbClr val="0E1C42"/>
                </a:solidFill>
                <a:latin typeface="Calibri" pitchFamily="34" charset="0"/>
                <a:ea typeface="Calibri" pitchFamily="34" charset="-122"/>
                <a:cs typeface="Calibri" pitchFamily="34" charset="-120"/>
              </a:rPr>
              <a:t>Scaffold, if you need it:
</a:t>
            </a:r>
            <a:pPr indent="0" marL="0">
              <a:buNone/>
            </a:pPr>
            <a:r>
              <a:rPr lang="en-US" sz="1150" dirty="0">
                <a:solidFill>
                  <a:srgbClr val="1E293B"/>
                </a:solidFill>
                <a:latin typeface="Calibri" pitchFamily="34" charset="0"/>
                <a:ea typeface="Calibri" pitchFamily="34" charset="-122"/>
                <a:cs typeface="Calibri" pitchFamily="34" charset="-120"/>
              </a:rPr>
              <a:t>I think...</a:t>
            </a:r>
            <a:endParaRPr lang="en-US" sz="1300" dirty="0"/>
          </a:p>
          <a:p>
            <a:pPr indent="0" marL="0">
              <a:buNone/>
            </a:pPr>
            <a:r>
              <a:rPr lang="en-US" sz="1150" dirty="0">
                <a:solidFill>
                  <a:srgbClr val="1E293B"/>
                </a:solidFill>
                <a:latin typeface="Calibri" pitchFamily="34" charset="0"/>
                <a:ea typeface="Calibri" pitchFamily="34" charset="-122"/>
                <a:cs typeface="Calibri" pitchFamily="34" charset="-120"/>
              </a:rPr>
              <a:t>because...</a:t>
            </a:r>
            <a:endParaRPr lang="en-US" sz="1300" dirty="0"/>
          </a:p>
          <a:p>
            <a:pPr indent="0" marL="0">
              <a:buNone/>
            </a:pPr>
            <a:r>
              <a:rPr lang="en-US" sz="1150" dirty="0">
                <a:solidFill>
                  <a:srgbClr val="1E293B"/>
                </a:solidFill>
                <a:latin typeface="Calibri" pitchFamily="34" charset="0"/>
                <a:ea typeface="Calibri" pitchFamily="34" charset="-122"/>
                <a:cs typeface="Calibri" pitchFamily="34" charset="-120"/>
              </a:rPr>
              <a:t>One piece of evidence is...</a:t>
            </a:r>
            <a:endParaRPr lang="en-US" sz="1300" dirty="0"/>
          </a:p>
          <a:p>
            <a:pPr indent="0" marL="0">
              <a:buNone/>
            </a:pPr>
            <a:r>
              <a:rPr lang="en-US" sz="1150" dirty="0">
                <a:solidFill>
                  <a:srgbClr val="1E293B"/>
                </a:solidFill>
                <a:latin typeface="Calibri" pitchFamily="34" charset="0"/>
                <a:ea typeface="Calibri" pitchFamily="34" charset="-122"/>
                <a:cs typeface="Calibri" pitchFamily="34" charset="-120"/>
              </a:rPr>
              <a:t>This matters because...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8F8EF"/>
        </a:solidFill>
      </p:bgPr>
    </p:bg>
    <p:spTree>
      <p:nvGrpSpPr>
        <p:cNvPr id="1" name=""/>
        <p:cNvGrpSpPr/>
        <p:nvPr/>
      </p:nvGrpSpPr>
      <p:grpSpPr>
        <a:xfrm>
          <a:off x="0" y="0"/>
          <a:ext cx="0" cy="0"/>
          <a:chOff x="0" y="0"/>
          <a:chExt cx="0" cy="0"/>
        </a:xfrm>
      </p:grpSpPr>
      <p:sp>
        <p:nvSpPr>
          <p:cNvPr id="2" name="Text 0"/>
          <p:cNvSpPr/>
          <p:nvPr/>
        </p:nvSpPr>
        <p:spPr>
          <a:xfrm>
            <a:off x="3657600" y="320040"/>
            <a:ext cx="1828800" cy="548640"/>
          </a:xfrm>
          <a:prstGeom prst="rect">
            <a:avLst/>
          </a:prstGeom>
          <a:noFill/>
          <a:ln/>
        </p:spPr>
        <p:txBody>
          <a:bodyPr wrap="square" lIns="0" tIns="0" rIns="0" bIns="0" rtlCol="0" anchor="ctr"/>
          <a:lstStyle/>
          <a:p>
            <a:pPr algn="ctr" indent="0" marL="0">
              <a:buNone/>
            </a:pPr>
            <a:r>
              <a:rPr lang="en-US" sz="3600" dirty="0">
                <a:solidFill>
                  <a:srgbClr val="000000"/>
                </a:solidFill>
              </a:rPr>
              <a:t>🔍</a:t>
            </a:r>
            <a:endParaRPr lang="en-US" sz="3600" dirty="0"/>
          </a:p>
        </p:txBody>
      </p:sp>
      <p:sp>
        <p:nvSpPr>
          <p:cNvPr id="3" name="Text 1"/>
          <p:cNvSpPr/>
          <p:nvPr/>
        </p:nvSpPr>
        <p:spPr>
          <a:xfrm>
            <a:off x="914400" y="822960"/>
            <a:ext cx="7315200" cy="594360"/>
          </a:xfrm>
          <a:prstGeom prst="rect">
            <a:avLst/>
          </a:prstGeom>
          <a:noFill/>
          <a:ln/>
        </p:spPr>
        <p:txBody>
          <a:bodyPr wrap="square" lIns="0" tIns="0" rIns="0" bIns="0" rtlCol="0" anchor="ctr"/>
          <a:lstStyle/>
          <a:p>
            <a:pPr algn="ctr" indent="0" marL="0">
              <a:buNone/>
            </a:pPr>
            <a:r>
              <a:rPr lang="en-US" sz="2800" b="1" dirty="0">
                <a:solidFill>
                  <a:srgbClr val="0E1C42"/>
                </a:solidFill>
                <a:latin typeface="Calibri" pitchFamily="34" charset="0"/>
                <a:ea typeface="Calibri" pitchFamily="34" charset="-122"/>
                <a:cs typeface="Calibri" pitchFamily="34" charset="-120"/>
              </a:rPr>
              <a:t>Edit &amp; Revise</a:t>
            </a:r>
            <a:endParaRPr lang="en-US" sz="2800" dirty="0"/>
          </a:p>
        </p:txBody>
      </p:sp>
      <p:sp>
        <p:nvSpPr>
          <p:cNvPr id="4" name="Text 2"/>
          <p:cNvSpPr/>
          <p:nvPr/>
        </p:nvSpPr>
        <p:spPr>
          <a:xfrm>
            <a:off x="914400" y="1371600"/>
            <a:ext cx="7315200" cy="411480"/>
          </a:xfrm>
          <a:prstGeom prst="rect">
            <a:avLst/>
          </a:prstGeom>
          <a:noFill/>
          <a:ln/>
        </p:spPr>
        <p:txBody>
          <a:bodyPr wrap="square" lIns="0" tIns="0" rIns="0" bIns="0" rtlCol="0" anchor="ctr"/>
          <a:lstStyle/>
          <a:p>
            <a:pPr algn="ctr" indent="0" marL="0">
              <a:buNone/>
            </a:pPr>
            <a:r>
              <a:rPr lang="en-US" sz="1400" dirty="0">
                <a:solidFill>
                  <a:srgbClr val="34B76F"/>
                </a:solidFill>
                <a:latin typeface="Calibri" pitchFamily="34" charset="0"/>
                <a:ea typeface="Calibri" pitchFamily="34" charset="-122"/>
                <a:cs typeface="Calibri" pitchFamily="34" charset="-120"/>
              </a:rPr>
              <a:t>1 minute — one deliberate decision, not a full edit pass</a:t>
            </a:r>
            <a:endParaRPr lang="en-US" sz="1400" dirty="0"/>
          </a:p>
        </p:txBody>
      </p:sp>
      <p:sp>
        <p:nvSpPr>
          <p:cNvPr id="5" name="Shape 3"/>
          <p:cNvSpPr/>
          <p:nvPr/>
        </p:nvSpPr>
        <p:spPr>
          <a:xfrm>
            <a:off x="1188720" y="2011680"/>
            <a:ext cx="6766560" cy="777240"/>
          </a:xfrm>
          <a:prstGeom prst="roundRect">
            <a:avLst>
              <a:gd name="adj" fmla="val 11765"/>
            </a:avLst>
          </a:prstGeom>
          <a:solidFill>
            <a:srgbClr val="FFFFFF"/>
          </a:solidFill>
          <a:ln w="19050">
            <a:solidFill>
              <a:srgbClr val="34B76F"/>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1371600" y="2084832"/>
            <a:ext cx="6400800" cy="640080"/>
          </a:xfrm>
          <a:prstGeom prst="rect">
            <a:avLst/>
          </a:prstGeom>
          <a:noFill/>
          <a:ln/>
        </p:spPr>
        <p:txBody>
          <a:bodyPr wrap="square" lIns="0" tIns="0" rIns="0" bIns="0" rtlCol="0" anchor="ctr"/>
          <a:lstStyle/>
          <a:p>
            <a:pPr indent="0" marL="0">
              <a:buNone/>
            </a:pPr>
            <a:r>
              <a:rPr lang="en-US" sz="1300" b="1" dirty="0">
                <a:solidFill>
                  <a:srgbClr val="34B76F"/>
                </a:solidFill>
                <a:latin typeface="Calibri" pitchFamily="34" charset="0"/>
                <a:ea typeface="Calibri" pitchFamily="34" charset="-122"/>
                <a:cs typeface="Calibri" pitchFamily="34" charset="-120"/>
              </a:rPr>
              <a:t>Today's revision check: </a:t>
            </a:r>
            <a:pPr indent="0" marL="0">
              <a:buNone/>
            </a:pPr>
            <a:r>
              <a:rPr lang="en-US" sz="1300" dirty="0">
                <a:solidFill>
                  <a:srgbClr val="1E293B"/>
                </a:solidFill>
                <a:latin typeface="Calibri" pitchFamily="34" charset="0"/>
                <a:ea typeface="Calibri" pitchFamily="34" charset="-122"/>
                <a:cs typeface="Calibri" pitchFamily="34" charset="-120"/>
              </a:rPr>
              <a:t>Is there a detail here I could cut because it doesn't support my point?</a:t>
            </a:r>
            <a:endParaRPr lang="en-US" sz="1300" dirty="0"/>
          </a:p>
        </p:txBody>
      </p:sp>
      <p:sp>
        <p:nvSpPr>
          <p:cNvPr id="7" name="Text 5"/>
          <p:cNvSpPr/>
          <p:nvPr/>
        </p:nvSpPr>
        <p:spPr>
          <a:xfrm>
            <a:off x="1188720" y="3017520"/>
            <a:ext cx="6766560" cy="457200"/>
          </a:xfrm>
          <a:prstGeom prst="rect">
            <a:avLst/>
          </a:prstGeom>
          <a:noFill/>
          <a:ln/>
        </p:spPr>
        <p:txBody>
          <a:bodyPr wrap="square" lIns="0" tIns="0" rIns="0" bIns="0" rtlCol="0" anchor="ctr"/>
          <a:lstStyle/>
          <a:p>
            <a:pPr algn="ctr" indent="0" marL="0">
              <a:buNone/>
            </a:pPr>
            <a:r>
              <a:rPr lang="en-US" sz="1200" i="1" dirty="0">
                <a:solidFill>
                  <a:srgbClr val="64748B"/>
                </a:solidFill>
                <a:latin typeface="Calibri" pitchFamily="34" charset="0"/>
                <a:ea typeface="Calibri" pitchFamily="34" charset="-122"/>
                <a:cs typeface="Calibri" pitchFamily="34" charset="-120"/>
              </a:rPr>
              <a:t>Revision = improving ideas. Editing = fixing conventions. Pick ONE thing.</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0" y="457200"/>
            <a:ext cx="1828800" cy="640080"/>
          </a:xfrm>
          <a:prstGeom prst="rect">
            <a:avLst/>
          </a:prstGeom>
          <a:noFill/>
          <a:ln/>
        </p:spPr>
        <p:txBody>
          <a:bodyPr wrap="square" lIns="0" tIns="0" rIns="0" bIns="0" rtlCol="0" anchor="ctr"/>
          <a:lstStyle/>
          <a:p>
            <a:pPr algn="ctr" indent="0" marL="0">
              <a:buNone/>
            </a:pPr>
            <a:r>
              <a:rPr lang="en-US" sz="4000" dirty="0">
                <a:solidFill>
                  <a:srgbClr val="000000"/>
                </a:solidFill>
              </a:rPr>
              <a:t>🗣️</a:t>
            </a:r>
            <a:endParaRPr lang="en-US" sz="4000" dirty="0"/>
          </a:p>
        </p:txBody>
      </p:sp>
      <p:sp>
        <p:nvSpPr>
          <p:cNvPr id="3" name="Text 1"/>
          <p:cNvSpPr/>
          <p:nvPr/>
        </p:nvSpPr>
        <p:spPr>
          <a:xfrm>
            <a:off x="914400" y="1005840"/>
            <a:ext cx="7315200" cy="594360"/>
          </a:xfrm>
          <a:prstGeom prst="rect">
            <a:avLst/>
          </a:prstGeom>
          <a:noFill/>
          <a:ln/>
        </p:spPr>
        <p:txBody>
          <a:bodyPr wrap="square" lIns="0" tIns="0" rIns="0" bIns="0" rtlCol="0" anchor="ctr"/>
          <a:lstStyle/>
          <a:p>
            <a:pPr algn="ctr" indent="0" marL="0">
              <a:buNone/>
            </a:pPr>
            <a:r>
              <a:rPr lang="en-US" sz="3000" b="1" dirty="0">
                <a:solidFill>
                  <a:srgbClr val="0E1C42"/>
                </a:solidFill>
                <a:latin typeface="Calibri" pitchFamily="34" charset="0"/>
                <a:ea typeface="Calibri" pitchFamily="34" charset="-122"/>
                <a:cs typeface="Calibri" pitchFamily="34" charset="-120"/>
              </a:rPr>
              <a:t>Share Time</a:t>
            </a:r>
            <a:endParaRPr lang="en-US" sz="3000" dirty="0"/>
          </a:p>
        </p:txBody>
      </p:sp>
      <p:sp>
        <p:nvSpPr>
          <p:cNvPr id="4" name="Text 2"/>
          <p:cNvSpPr/>
          <p:nvPr/>
        </p:nvSpPr>
        <p:spPr>
          <a:xfrm>
            <a:off x="914400" y="1554480"/>
            <a:ext cx="7315200" cy="411480"/>
          </a:xfrm>
          <a:prstGeom prst="rect">
            <a:avLst/>
          </a:prstGeom>
          <a:noFill/>
          <a:ln/>
        </p:spPr>
        <p:txBody>
          <a:bodyPr wrap="square" lIns="0" tIns="0" rIns="0" bIns="0" rtlCol="0" anchor="ctr"/>
          <a:lstStyle/>
          <a:p>
            <a:pPr algn="ctr" indent="0" marL="0">
              <a:buNone/>
            </a:pPr>
            <a:r>
              <a:rPr lang="en-US" sz="1500" dirty="0">
                <a:solidFill>
                  <a:srgbClr val="55C8E8"/>
                </a:solidFill>
                <a:latin typeface="Calibri" pitchFamily="34" charset="0"/>
                <a:ea typeface="Calibri" pitchFamily="34" charset="-122"/>
                <a:cs typeface="Calibri" pitchFamily="34" charset="-120"/>
              </a:rPr>
              <a:t>3 minutes — let's hear your thinking!</a:t>
            </a:r>
            <a:endParaRPr lang="en-US" sz="1500" dirty="0"/>
          </a:p>
        </p:txBody>
      </p:sp>
      <p:sp>
        <p:nvSpPr>
          <p:cNvPr id="5" name="Shape 3"/>
          <p:cNvSpPr/>
          <p:nvPr/>
        </p:nvSpPr>
        <p:spPr>
          <a:xfrm>
            <a:off x="1828800" y="2194560"/>
            <a:ext cx="5486400" cy="1371600"/>
          </a:xfrm>
          <a:prstGeom prst="roundRect">
            <a:avLst>
              <a:gd name="adj" fmla="val 8000"/>
            </a:avLst>
          </a:prstGeom>
          <a:solidFill>
            <a:srgbClr val="FFFFFF"/>
          </a:solidFill>
          <a:ln/>
          <a:effectLst>
            <a:outerShdw sx="100000" sy="100000" kx="0" ky="0" algn="bl" rotWithShape="0" blurRad="101600" dist="38100" dir="2700000">
              <a:srgbClr val="000000">
                <a:alpha val="12000"/>
              </a:srgbClr>
            </a:outerShdw>
          </a:effectLst>
        </p:spPr>
      </p:sp>
      <p:sp>
        <p:nvSpPr>
          <p:cNvPr id="6" name="Text 4"/>
          <p:cNvSpPr/>
          <p:nvPr/>
        </p:nvSpPr>
        <p:spPr>
          <a:xfrm>
            <a:off x="2011680" y="2286000"/>
            <a:ext cx="5120640" cy="1188720"/>
          </a:xfrm>
          <a:prstGeom prst="rect">
            <a:avLst/>
          </a:prstGeom>
          <a:noFill/>
          <a:ln/>
        </p:spPr>
        <p:txBody>
          <a:bodyPr wrap="square" lIns="0" tIns="0" rIns="0" bIns="0" rtlCol="0" anchor="t"/>
          <a:lstStyle/>
          <a:p>
            <a:pPr indent="0" marL="0">
              <a:buNone/>
            </a:pPr>
            <a:r>
              <a:rPr lang="en-US" sz="1300" b="1" dirty="0">
                <a:solidFill>
                  <a:srgbClr val="0E1C42"/>
                </a:solidFill>
                <a:latin typeface="Calibri" pitchFamily="34" charset="0"/>
                <a:ea typeface="Calibri" pitchFamily="34" charset="-122"/>
                <a:cs typeface="Calibri" pitchFamily="34" charset="-120"/>
              </a:rPr>
              <a:t>Raise your hand </a:t>
            </a:r>
            <a:pPr indent="0" marL="0">
              <a:buNone/>
            </a:pPr>
            <a:r>
              <a:rPr lang="en-US" sz="1300" dirty="0">
                <a:solidFill>
                  <a:srgbClr val="1E293B"/>
                </a:solidFill>
                <a:latin typeface="Calibri" pitchFamily="34" charset="0"/>
                <a:ea typeface="Calibri" pitchFamily="34" charset="-122"/>
                <a:cs typeface="Calibri" pitchFamily="34" charset="-120"/>
              </a:rPr>
              <a:t>to share, or paste your writing in the chat.
</a:t>
            </a:r>
            <a:pPr indent="0" marL="0">
              <a:buNone/>
            </a:pPr>
            <a:r>
              <a:rPr lang="en-US" sz="1200" i="1" dirty="0">
                <a:solidFill>
                  <a:srgbClr val="64748B"/>
                </a:solidFill>
                <a:latin typeface="Calibri" pitchFamily="34" charset="0"/>
                <a:ea typeface="Calibri" pitchFamily="34" charset="-122"/>
                <a:cs typeface="Calibri" pitchFamily="34" charset="-120"/>
              </a:rPr>
              <a:t>If you disagree with a classmate's choice, say so respectfully — that's part of the thinking.</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Morphology</a:t>
            </a:r>
            <a:endParaRPr lang="en-US" sz="26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 Morphology: Prefixes trans-, inter-, sub-</a:t>
            </a:r>
            <a:endParaRPr lang="en-US" sz="1100" dirty="0"/>
          </a:p>
        </p:txBody>
      </p:sp>
      <p:sp>
        <p:nvSpPr>
          <p:cNvPr id="5" name="Shape 3"/>
          <p:cNvSpPr/>
          <p:nvPr/>
        </p:nvSpPr>
        <p:spPr>
          <a:xfrm>
            <a:off x="365760" y="1097280"/>
            <a:ext cx="8412480" cy="502920"/>
          </a:xfrm>
          <a:prstGeom prst="roundRect">
            <a:avLst>
              <a:gd name="adj" fmla="val 18182"/>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548640" y="1152144"/>
            <a:ext cx="8046720" cy="393192"/>
          </a:xfrm>
          <a:prstGeom prst="rect">
            <a:avLst/>
          </a:prstGeom>
          <a:noFill/>
          <a:ln/>
        </p:spPr>
        <p:txBody>
          <a:bodyPr wrap="square" lIns="0" tIns="0" rIns="0" bIns="0" rtlCol="0" anchor="ctr"/>
          <a:lstStyle/>
          <a:p>
            <a:pPr indent="0" marL="0">
              <a:buNone/>
            </a:pPr>
            <a:r>
              <a:rPr lang="en-US" sz="1150" dirty="0">
                <a:solidFill>
                  <a:srgbClr val="1E293B"/>
                </a:solidFill>
                <a:latin typeface="Calibri" pitchFamily="34" charset="0"/>
                <a:ea typeface="Calibri" pitchFamily="34" charset="-122"/>
                <a:cs typeface="Calibri" pitchFamily="34" charset="-120"/>
              </a:rPr>
              <a:t>trans- — across, beyond, through: trans late (carry meaning across languages), trans port (carry across), trans fer (carry across to another) | inter- — between, among: inter sect (cut between), inter val (space between), inter national (between nations) | sub- — under, below, beneath: sub marine (under the sea), sub tract (draw from under), sub ject (thrown under) | How navigators use these: Nat must translate star observations across into position calculations; he finds the interval between two measurements; he works beneath the surface complexity to find a submarine simplicity.</a:t>
            </a:r>
            <a:endParaRPr lang="en-US" sz="1150" dirty="0"/>
          </a:p>
        </p:txBody>
      </p:sp>
      <p:sp>
        <p:nvSpPr>
          <p:cNvPr id="7" name="Shape 5"/>
          <p:cNvSpPr/>
          <p:nvPr/>
        </p:nvSpPr>
        <p:spPr>
          <a:xfrm>
            <a:off x="365760" y="1664208"/>
            <a:ext cx="8412480" cy="502920"/>
          </a:xfrm>
          <a:prstGeom prst="roundRect">
            <a:avLst>
              <a:gd name="adj" fmla="val 18182"/>
            </a:avLst>
          </a:prstGeom>
          <a:solidFill>
            <a:srgbClr val="F8F4FF"/>
          </a:solidFill>
          <a:ln/>
          <a:effectLst>
            <a:outerShdw sx="100000" sy="100000" kx="0" ky="0" algn="bl" rotWithShape="0" blurRad="101600" dist="38100" dir="2700000">
              <a:srgbClr val="000000">
                <a:alpha val="12000"/>
              </a:srgbClr>
            </a:outerShdw>
          </a:effectLst>
        </p:spPr>
      </p:sp>
      <p:sp>
        <p:nvSpPr>
          <p:cNvPr id="8" name="Text 6"/>
          <p:cNvSpPr/>
          <p:nvPr/>
        </p:nvSpPr>
        <p:spPr>
          <a:xfrm>
            <a:off x="548640" y="1719072"/>
            <a:ext cx="8046720" cy="393192"/>
          </a:xfrm>
          <a:prstGeom prst="rect">
            <a:avLst/>
          </a:prstGeom>
          <a:noFill/>
          <a:ln/>
        </p:spPr>
        <p:txBody>
          <a:bodyPr wrap="square" lIns="0" tIns="0" rIns="0" bIns="0" rtlCol="0" anchor="ctr"/>
          <a:lstStyle/>
          <a:p>
            <a:pPr indent="0" marL="0">
              <a:buNone/>
            </a:pPr>
            <a:r>
              <a:rPr lang="en-US" sz="1150" dirty="0">
                <a:solidFill>
                  <a:srgbClr val="1E293B"/>
                </a:solidFill>
                <a:latin typeface="Calibri" pitchFamily="34" charset="0"/>
                <a:ea typeface="Calibri" pitchFamily="34" charset="-122"/>
                <a:cs typeface="Calibri" pitchFamily="34" charset="-120"/>
              </a:rPr>
              <a:t>___ atlantic — crossing across the Atlantic Ocean → trans</a:t>
            </a:r>
            <a:endParaRPr lang="en-US" sz="1150" dirty="0"/>
          </a:p>
        </p:txBody>
      </p:sp>
      <p:sp>
        <p:nvSpPr>
          <p:cNvPr id="9" name="Shape 7"/>
          <p:cNvSpPr/>
          <p:nvPr/>
        </p:nvSpPr>
        <p:spPr>
          <a:xfrm>
            <a:off x="365760" y="2231136"/>
            <a:ext cx="8412480" cy="502920"/>
          </a:xfrm>
          <a:prstGeom prst="roundRect">
            <a:avLst>
              <a:gd name="adj" fmla="val 18182"/>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548640" y="2286000"/>
            <a:ext cx="8046720" cy="393192"/>
          </a:xfrm>
          <a:prstGeom prst="rect">
            <a:avLst/>
          </a:prstGeom>
          <a:noFill/>
          <a:ln/>
        </p:spPr>
        <p:txBody>
          <a:bodyPr wrap="square" lIns="0" tIns="0" rIns="0" bIns="0" rtlCol="0" anchor="ctr"/>
          <a:lstStyle/>
          <a:p>
            <a:pPr indent="0" marL="0">
              <a:buNone/>
            </a:pPr>
            <a:r>
              <a:rPr lang="en-US" sz="1150" dirty="0">
                <a:solidFill>
                  <a:srgbClr val="1E293B"/>
                </a:solidFill>
                <a:latin typeface="Calibri" pitchFamily="34" charset="0"/>
                <a:ea typeface="Calibri" pitchFamily="34" charset="-122"/>
                <a:cs typeface="Calibri" pitchFamily="34" charset="-120"/>
              </a:rPr>
              <a:t>___ sect — to cut or cross between two lines → inter</a:t>
            </a:r>
            <a:endParaRPr lang="en-US" sz="1150" dirty="0"/>
          </a:p>
        </p:txBody>
      </p:sp>
      <p:sp>
        <p:nvSpPr>
          <p:cNvPr id="11" name="Shape 9"/>
          <p:cNvSpPr/>
          <p:nvPr/>
        </p:nvSpPr>
        <p:spPr>
          <a:xfrm>
            <a:off x="365760" y="2798064"/>
            <a:ext cx="8412480" cy="502920"/>
          </a:xfrm>
          <a:prstGeom prst="roundRect">
            <a:avLst>
              <a:gd name="adj" fmla="val 18182"/>
            </a:avLst>
          </a:prstGeom>
          <a:solidFill>
            <a:srgbClr val="F8F4FF"/>
          </a:solidFill>
          <a:ln/>
          <a:effectLst>
            <a:outerShdw sx="100000" sy="100000" kx="0" ky="0" algn="bl" rotWithShape="0" blurRad="101600" dist="38100" dir="2700000">
              <a:srgbClr val="000000">
                <a:alpha val="12000"/>
              </a:srgbClr>
            </a:outerShdw>
          </a:effectLst>
        </p:spPr>
      </p:sp>
      <p:sp>
        <p:nvSpPr>
          <p:cNvPr id="12" name="Text 10"/>
          <p:cNvSpPr/>
          <p:nvPr/>
        </p:nvSpPr>
        <p:spPr>
          <a:xfrm>
            <a:off x="548640" y="2852928"/>
            <a:ext cx="8046720" cy="393192"/>
          </a:xfrm>
          <a:prstGeom prst="rect">
            <a:avLst/>
          </a:prstGeom>
          <a:noFill/>
          <a:ln/>
        </p:spPr>
        <p:txBody>
          <a:bodyPr wrap="square" lIns="0" tIns="0" rIns="0" bIns="0" rtlCol="0" anchor="ctr"/>
          <a:lstStyle/>
          <a:p>
            <a:pPr indent="0" marL="0">
              <a:buNone/>
            </a:pPr>
            <a:r>
              <a:rPr lang="en-US" sz="1150" dirty="0">
                <a:solidFill>
                  <a:srgbClr val="1E293B"/>
                </a:solidFill>
                <a:latin typeface="Calibri" pitchFamily="34" charset="0"/>
                <a:ea typeface="Calibri" pitchFamily="34" charset="-122"/>
                <a:cs typeface="Calibri" pitchFamily="34" charset="-120"/>
              </a:rPr>
              <a:t>___ merge — to go under the surface of water → sub</a:t>
            </a:r>
            <a:endParaRPr lang="en-US" sz="1150" dirty="0"/>
          </a:p>
        </p:txBody>
      </p:sp>
      <p:sp>
        <p:nvSpPr>
          <p:cNvPr id="13" name="Shape 11"/>
          <p:cNvSpPr/>
          <p:nvPr/>
        </p:nvSpPr>
        <p:spPr>
          <a:xfrm>
            <a:off x="365760" y="3410712"/>
            <a:ext cx="8412480" cy="777240"/>
          </a:xfrm>
          <a:prstGeom prst="roundRect">
            <a:avLst>
              <a:gd name="adj" fmla="val 11765"/>
            </a:avLst>
          </a:prstGeom>
          <a:solidFill>
            <a:srgbClr val="FEF6E8"/>
          </a:solidFill>
          <a:ln w="12700">
            <a:solidFill>
              <a:srgbClr val="C7922C"/>
            </a:solidFill>
            <a:prstDash val="solid"/>
          </a:ln>
        </p:spPr>
      </p:sp>
      <p:sp>
        <p:nvSpPr>
          <p:cNvPr id="14" name="Text 12"/>
          <p:cNvSpPr/>
          <p:nvPr/>
        </p:nvSpPr>
        <p:spPr>
          <a:xfrm>
            <a:off x="548640" y="3483864"/>
            <a:ext cx="8046720" cy="640080"/>
          </a:xfrm>
          <a:prstGeom prst="rect">
            <a:avLst/>
          </a:prstGeom>
          <a:noFill/>
          <a:ln/>
        </p:spPr>
        <p:txBody>
          <a:bodyPr wrap="square" lIns="0" tIns="0" rIns="0" bIns="0" rtlCol="0" anchor="t"/>
          <a:lstStyle/>
          <a:p>
            <a:pPr indent="0" marL="0">
              <a:buNone/>
            </a:pPr>
            <a:r>
              <a:rPr lang="en-US" sz="1100" b="1" dirty="0">
                <a:solidFill>
                  <a:srgbClr val="C7922C"/>
                </a:solidFill>
                <a:latin typeface="Calibri" pitchFamily="34" charset="0"/>
                <a:ea typeface="Calibri" pitchFamily="34" charset="-122"/>
                <a:cs typeface="Calibri" pitchFamily="34" charset="-120"/>
              </a:rPr>
              <a:t>🫖 Show What You Know · Morphology
</a:t>
            </a:r>
            <a:pPr indent="0" marL="0">
              <a:buNone/>
            </a:pPr>
            <a:r>
              <a:rPr lang="en-US" sz="1100" i="1" dirty="0">
                <a:solidFill>
                  <a:srgbClr val="1E293B"/>
                </a:solidFill>
                <a:latin typeface="Calibri" pitchFamily="34" charset="0"/>
                <a:ea typeface="Calibri" pitchFamily="34" charset="-122"/>
                <a:cs typeface="Calibri" pitchFamily="34" charset="-120"/>
              </a:rPr>
              <a:t>Choose one word from this week’s vocabulary: translate, intersect, submarine, interval, or transfer . Identify the prefix. Explain how the prefix contributes to the word’s meaning. Then write a sentence connecting it to Nat’s work in Chapter 17.</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Vocabulary — Decode &amp; Discover</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Six words from Chapters 17–20</a:t>
            </a:r>
            <a:endParaRPr lang="en-US" sz="1100" dirty="0"/>
          </a:p>
        </p:txBody>
      </p:sp>
      <p:sp>
        <p:nvSpPr>
          <p:cNvPr id="5" name="Shape 3"/>
          <p:cNvSpPr/>
          <p:nvPr/>
        </p:nvSpPr>
        <p:spPr>
          <a:xfrm>
            <a:off x="365760" y="1097280"/>
            <a:ext cx="8412480" cy="621792"/>
          </a:xfrm>
          <a:prstGeom prst="roundRect">
            <a:avLst>
              <a:gd name="adj" fmla="val 14706"/>
            </a:avLst>
          </a:prstGeom>
          <a:solidFill>
            <a:srgbClr val="E5F7FC"/>
          </a:solidFill>
          <a:ln/>
          <a:effectLst>
            <a:outerShdw sx="100000" sy="100000" kx="0" ky="0" algn="bl" rotWithShape="0" blurRad="101600" dist="38100" dir="2700000">
              <a:srgbClr val="000000">
                <a:alpha val="12000"/>
              </a:srgbClr>
            </a:outerShdw>
          </a:effectLst>
        </p:spPr>
      </p:sp>
      <p:sp>
        <p:nvSpPr>
          <p:cNvPr id="6" name="Text 4"/>
          <p:cNvSpPr/>
          <p:nvPr/>
        </p:nvSpPr>
        <p:spPr>
          <a:xfrm>
            <a:off x="548640" y="1152144"/>
            <a:ext cx="8046720" cy="512064"/>
          </a:xfrm>
          <a:prstGeom prst="rect">
            <a:avLst/>
          </a:prstGeom>
          <a:noFill/>
          <a:ln/>
        </p:spPr>
        <p:txBody>
          <a:bodyPr wrap="square" lIns="0" tIns="0" rIns="0" bIns="0" rtlCol="0" anchor="ctr"/>
          <a:lstStyle/>
          <a:p>
            <a:pPr indent="0" marL="0">
              <a:buNone/>
            </a:pPr>
            <a:r>
              <a:rPr lang="en-US" sz="1300" b="1" dirty="0">
                <a:solidFill>
                  <a:srgbClr val="0E1C42"/>
                </a:solidFill>
                <a:latin typeface="Calibri" pitchFamily="34" charset="0"/>
                <a:ea typeface="Calibri" pitchFamily="34" charset="-122"/>
                <a:cs typeface="Calibri" pitchFamily="34" charset="-120"/>
              </a:rPr>
              <a:t>translate  </a:t>
            </a:r>
            <a:pPr indent="0" marL="0">
              <a:buNone/>
            </a:pPr>
            <a:r>
              <a:rPr lang="en-US" sz="1100" dirty="0">
                <a:solidFill>
                  <a:srgbClr val="1E293B"/>
                </a:solidFill>
                <a:latin typeface="Calibri" pitchFamily="34" charset="0"/>
                <a:ea typeface="Calibri" pitchFamily="34" charset="-122"/>
                <a:cs typeface="Calibri" pitchFamily="34" charset="-120"/>
              </a:rPr>
              <a:t>To carry meaning across a barrier — across languages, across difficulty levels, across disciplines. From Latin trans (across) + latus (carried). Nat translated mathematical complexity into practical accessibility.</a:t>
            </a:r>
            <a:endParaRPr lang="en-US" sz="1300" dirty="0"/>
          </a:p>
        </p:txBody>
      </p:sp>
      <p:sp>
        <p:nvSpPr>
          <p:cNvPr id="7" name="Shape 5"/>
          <p:cNvSpPr/>
          <p:nvPr/>
        </p:nvSpPr>
        <p:spPr>
          <a:xfrm>
            <a:off x="365760" y="1783080"/>
            <a:ext cx="8412480" cy="621792"/>
          </a:xfrm>
          <a:prstGeom prst="roundRect">
            <a:avLst>
              <a:gd name="adj" fmla="val 14706"/>
            </a:avLst>
          </a:prstGeom>
          <a:solidFill>
            <a:srgbClr val="EAF6FA"/>
          </a:solidFill>
          <a:ln/>
          <a:effectLst>
            <a:outerShdw sx="100000" sy="100000" kx="0" ky="0" algn="bl" rotWithShape="0" blurRad="101600" dist="38100" dir="2700000">
              <a:srgbClr val="000000">
                <a:alpha val="12000"/>
              </a:srgbClr>
            </a:outerShdw>
          </a:effectLst>
        </p:spPr>
      </p:sp>
      <p:sp>
        <p:nvSpPr>
          <p:cNvPr id="8" name="Text 6"/>
          <p:cNvSpPr/>
          <p:nvPr/>
        </p:nvSpPr>
        <p:spPr>
          <a:xfrm>
            <a:off x="548640" y="1837944"/>
            <a:ext cx="8046720" cy="512064"/>
          </a:xfrm>
          <a:prstGeom prst="rect">
            <a:avLst/>
          </a:prstGeom>
          <a:noFill/>
          <a:ln/>
        </p:spPr>
        <p:txBody>
          <a:bodyPr wrap="square" lIns="0" tIns="0" rIns="0" bIns="0" rtlCol="0" anchor="ctr"/>
          <a:lstStyle/>
          <a:p>
            <a:pPr indent="0" marL="0">
              <a:buNone/>
            </a:pPr>
            <a:r>
              <a:rPr lang="en-US" sz="1300" b="1" dirty="0">
                <a:solidFill>
                  <a:srgbClr val="0E1C42"/>
                </a:solidFill>
                <a:latin typeface="Calibri" pitchFamily="34" charset="0"/>
                <a:ea typeface="Calibri" pitchFamily="34" charset="-122"/>
                <a:cs typeface="Calibri" pitchFamily="34" charset="-120"/>
              </a:rPr>
              <a:t>intersect  </a:t>
            </a:r>
            <a:pPr indent="0" marL="0">
              <a:buNone/>
            </a:pPr>
            <a:r>
              <a:rPr lang="en-US" sz="1100" dirty="0">
                <a:solidFill>
                  <a:srgbClr val="1E293B"/>
                </a:solidFill>
                <a:latin typeface="Calibri" pitchFamily="34" charset="0"/>
                <a:ea typeface="Calibri" pitchFamily="34" charset="-122"/>
                <a:cs typeface="Calibri" pitchFamily="34" charset="-120"/>
              </a:rPr>
              <a:t>To cut across and meet at a point. From inter- (between) + Latin secare (to cut). In geometry and navigation, two lines intersect at one precise location.</a:t>
            </a:r>
            <a:endParaRPr lang="en-US" sz="1300" dirty="0"/>
          </a:p>
        </p:txBody>
      </p:sp>
      <p:sp>
        <p:nvSpPr>
          <p:cNvPr id="9" name="Shape 7"/>
          <p:cNvSpPr/>
          <p:nvPr/>
        </p:nvSpPr>
        <p:spPr>
          <a:xfrm>
            <a:off x="365760" y="2468880"/>
            <a:ext cx="8412480" cy="621792"/>
          </a:xfrm>
          <a:prstGeom prst="roundRect">
            <a:avLst>
              <a:gd name="adj" fmla="val 14706"/>
            </a:avLst>
          </a:prstGeom>
          <a:solidFill>
            <a:srgbClr val="E5F7FC"/>
          </a:solidFill>
          <a:ln/>
          <a:effectLst>
            <a:outerShdw sx="100000" sy="100000" kx="0" ky="0" algn="bl" rotWithShape="0" blurRad="101600" dist="38100" dir="2700000">
              <a:srgbClr val="000000">
                <a:alpha val="12000"/>
              </a:srgbClr>
            </a:outerShdw>
          </a:effectLst>
        </p:spPr>
      </p:sp>
      <p:sp>
        <p:nvSpPr>
          <p:cNvPr id="10" name="Text 8"/>
          <p:cNvSpPr/>
          <p:nvPr/>
        </p:nvSpPr>
        <p:spPr>
          <a:xfrm>
            <a:off x="548640" y="2523744"/>
            <a:ext cx="8046720" cy="512064"/>
          </a:xfrm>
          <a:prstGeom prst="rect">
            <a:avLst/>
          </a:prstGeom>
          <a:noFill/>
          <a:ln/>
        </p:spPr>
        <p:txBody>
          <a:bodyPr wrap="square" lIns="0" tIns="0" rIns="0" bIns="0" rtlCol="0" anchor="ctr"/>
          <a:lstStyle/>
          <a:p>
            <a:pPr indent="0" marL="0">
              <a:buNone/>
            </a:pPr>
            <a:r>
              <a:rPr lang="en-US" sz="1300" b="1" dirty="0">
                <a:solidFill>
                  <a:srgbClr val="0E1C42"/>
                </a:solidFill>
                <a:latin typeface="Calibri" pitchFamily="34" charset="0"/>
                <a:ea typeface="Calibri" pitchFamily="34" charset="-122"/>
                <a:cs typeface="Calibri" pitchFamily="34" charset="-120"/>
              </a:rPr>
              <a:t>submarine  </a:t>
            </a:r>
            <a:pPr indent="0" marL="0">
              <a:buNone/>
            </a:pPr>
            <a:r>
              <a:rPr lang="en-US" sz="1100" dirty="0">
                <a:solidFill>
                  <a:srgbClr val="1E293B"/>
                </a:solidFill>
                <a:latin typeface="Calibri" pitchFamily="34" charset="0"/>
                <a:ea typeface="Calibri" pitchFamily="34" charset="-122"/>
                <a:cs typeface="Calibri" pitchFamily="34" charset="-120"/>
              </a:rPr>
              <a:t>Beneath the sea. From sub- (under) + Latin mare (sea). As an adjective: existing or operating under the sea. As a noun: a vessel that travels underwater.</a:t>
            </a:r>
            <a:endParaRPr lang="en-US" sz="1300" dirty="0"/>
          </a:p>
        </p:txBody>
      </p:sp>
      <p:sp>
        <p:nvSpPr>
          <p:cNvPr id="11" name="Shape 9"/>
          <p:cNvSpPr/>
          <p:nvPr/>
        </p:nvSpPr>
        <p:spPr>
          <a:xfrm>
            <a:off x="365760" y="3154680"/>
            <a:ext cx="8412480" cy="621792"/>
          </a:xfrm>
          <a:prstGeom prst="roundRect">
            <a:avLst>
              <a:gd name="adj" fmla="val 14706"/>
            </a:avLst>
          </a:prstGeom>
          <a:solidFill>
            <a:srgbClr val="EAF6FA"/>
          </a:solidFill>
          <a:ln/>
          <a:effectLst>
            <a:outerShdw sx="100000" sy="100000" kx="0" ky="0" algn="bl" rotWithShape="0" blurRad="101600" dist="38100" dir="2700000">
              <a:srgbClr val="000000">
                <a:alpha val="12000"/>
              </a:srgbClr>
            </a:outerShdw>
          </a:effectLst>
        </p:spPr>
      </p:sp>
      <p:sp>
        <p:nvSpPr>
          <p:cNvPr id="12" name="Text 10"/>
          <p:cNvSpPr/>
          <p:nvPr/>
        </p:nvSpPr>
        <p:spPr>
          <a:xfrm>
            <a:off x="548640" y="3209544"/>
            <a:ext cx="8046720" cy="512064"/>
          </a:xfrm>
          <a:prstGeom prst="rect">
            <a:avLst/>
          </a:prstGeom>
          <a:noFill/>
          <a:ln/>
        </p:spPr>
        <p:txBody>
          <a:bodyPr wrap="square" lIns="0" tIns="0" rIns="0" bIns="0" rtlCol="0" anchor="ctr"/>
          <a:lstStyle/>
          <a:p>
            <a:pPr indent="0" marL="0">
              <a:buNone/>
            </a:pPr>
            <a:r>
              <a:rPr lang="en-US" sz="1300" b="1" dirty="0">
                <a:solidFill>
                  <a:srgbClr val="0E1C42"/>
                </a:solidFill>
                <a:latin typeface="Calibri" pitchFamily="34" charset="0"/>
                <a:ea typeface="Calibri" pitchFamily="34" charset="-122"/>
                <a:cs typeface="Calibri" pitchFamily="34" charset="-120"/>
              </a:rPr>
              <a:t>interval  </a:t>
            </a:r>
            <a:pPr indent="0" marL="0">
              <a:buNone/>
            </a:pPr>
            <a:r>
              <a:rPr lang="en-US" sz="1100" dirty="0">
                <a:solidFill>
                  <a:srgbClr val="1E293B"/>
                </a:solidFill>
                <a:latin typeface="Calibri" pitchFamily="34" charset="0"/>
                <a:ea typeface="Calibri" pitchFamily="34" charset="-122"/>
                <a:cs typeface="Calibri" pitchFamily="34" charset="-120"/>
              </a:rPr>
              <a:t>A space of time or distance between two points. From inter- (between) + Latin vallum (wall). In navigation and music, an interval is a measured gap between two specific points.</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Grammar — ✏️ Grammar: Relative Clauses</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Define — expanding sentences with who, which, that</a:t>
            </a:r>
            <a:endParaRPr lang="en-US" sz="1100" dirty="0"/>
          </a:p>
        </p:txBody>
      </p:sp>
      <p:sp>
        <p:nvSpPr>
          <p:cNvPr id="7" name="Text 5"/>
          <p:cNvSpPr/>
          <p:nvPr/>
        </p:nvSpPr>
        <p:spPr>
          <a:xfrm>
            <a:off x="365760" y="1078992"/>
            <a:ext cx="8412480" cy="594360"/>
          </a:xfrm>
          <a:prstGeom prst="rect">
            <a:avLst/>
          </a:prstGeom>
          <a:noFill/>
          <a:ln/>
        </p:spPr>
        <p:txBody>
          <a:bodyPr wrap="square" lIns="0" tIns="0" rIns="0" bIns="0" rtlCol="0" anchor="ctr"/>
          <a:lstStyle/>
          <a:p>
            <a:pPr indent="0" marL="0">
              <a:buNone/>
            </a:pPr>
            <a:r>
              <a:rPr lang="en-US" sz="1100" dirty="0">
                <a:solidFill>
                  <a:srgbClr val="1E293B"/>
                </a:solidFill>
                <a:latin typeface="Calibri" pitchFamily="34" charset="0"/>
                <a:ea typeface="Calibri" pitchFamily="34" charset="-122"/>
                <a:cs typeface="Calibri" pitchFamily="34" charset="-120"/>
              </a:rPr>
              <a:t>Simple: Nat wrote a book. The book changed navigation forever. Expanded: Nat wrote a book that changed navigation forever . Simple: The sailors trusted Nat. He had corrected the almanac. Expanded: The sailors trusted Nat, who had corrected the almanac . Restrictive (no comma): that or who — the clause identifies which one: “The calculation that Nat used was more accurate.” Non-restrictive (comma): which or who — the clause adds extra information: “The almanac, which contained hundreds of errors , had been trusted for years.”</a:t>
            </a:r>
            <a:endParaRPr lang="en-US" sz="1100" dirty="0"/>
          </a:p>
        </p:txBody>
      </p:sp>
      <p:sp>
        <p:nvSpPr>
          <p:cNvPr id="8" name="Shape 6"/>
          <p:cNvSpPr/>
          <p:nvPr/>
        </p:nvSpPr>
        <p:spPr>
          <a:xfrm>
            <a:off x="365760" y="1737360"/>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9" name="Text 7"/>
          <p:cNvSpPr/>
          <p:nvPr/>
        </p:nvSpPr>
        <p:spPr>
          <a:xfrm>
            <a:off x="548640" y="1792224"/>
            <a:ext cx="8046720" cy="54864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Which sentence correctly uses a relative clause?</a:t>
            </a:r>
            <a:pPr indent="0" marL="0">
              <a:buNone/>
            </a:pPr>
            <a:endParaRPr lang="en-US" sz="1200" dirty="0"/>
          </a:p>
          <a:p>
            <a:pPr indent="0" marL="0">
              <a:buNone/>
            </a:pPr>
            <a:r>
              <a:rPr lang="en-US" sz="1100" dirty="0">
                <a:solidFill>
                  <a:srgbClr val="64748B"/>
                </a:solidFill>
                <a:latin typeface="Calibri" pitchFamily="34" charset="0"/>
                <a:ea typeface="Calibri" pitchFamily="34" charset="-122"/>
                <a:cs typeface="Calibri" pitchFamily="34" charset="-120"/>
              </a:rPr>
              <a:t>Nat was a navigator, that corrected Moore's almanac.   /   Nat was a navigator who corrected Moore’s almanac — a task that changed maritime history.</a:t>
            </a:r>
            <a:endParaRPr lang="en-US" sz="1200" dirty="0"/>
          </a:p>
        </p:txBody>
      </p:sp>
      <p:sp>
        <p:nvSpPr>
          <p:cNvPr id="10" name="Shape 8"/>
          <p:cNvSpPr/>
          <p:nvPr/>
        </p:nvSpPr>
        <p:spPr>
          <a:xfrm>
            <a:off x="365760" y="2468880"/>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11" name="Text 9"/>
          <p:cNvSpPr/>
          <p:nvPr/>
        </p:nvSpPr>
        <p:spPr>
          <a:xfrm>
            <a:off x="548640" y="2523744"/>
            <a:ext cx="8046720" cy="54864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“The lunar observation, ___ Nat took at noon, confirmed the ship’s position.” — which relative pronoun fits?</a:t>
            </a:r>
            <a:pPr indent="0" marL="0">
              <a:buNone/>
            </a:pPr>
            <a:endParaRPr lang="en-US" sz="1200" dirty="0"/>
          </a:p>
          <a:p>
            <a:pPr indent="0" marL="0">
              <a:buNone/>
            </a:pPr>
            <a:r>
              <a:rPr lang="en-US" sz="1100" dirty="0">
                <a:solidFill>
                  <a:srgbClr val="64748B"/>
                </a:solidFill>
                <a:latin typeface="Calibri" pitchFamily="34" charset="0"/>
                <a:ea typeface="Calibri" pitchFamily="34" charset="-122"/>
                <a:cs typeface="Calibri" pitchFamily="34" charset="-120"/>
              </a:rPr>
              <a:t>that — adds a restrictive clause (no comma needed)   /   which — adds a non-restrictive clause (comma already there)</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Grammar — ✏️ Grammar: Relative Clauses</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Define — expanding sentences with who, which, that</a:t>
            </a:r>
            <a:endParaRPr lang="en-US" sz="1100" dirty="0"/>
          </a:p>
        </p:txBody>
      </p:sp>
      <p:sp>
        <p:nvSpPr>
          <p:cNvPr id="7" name="Text 5"/>
          <p:cNvSpPr/>
          <p:nvPr/>
        </p:nvSpPr>
        <p:spPr>
          <a:xfrm>
            <a:off x="365760" y="1078992"/>
            <a:ext cx="8412480" cy="594360"/>
          </a:xfrm>
          <a:prstGeom prst="rect">
            <a:avLst/>
          </a:prstGeom>
          <a:noFill/>
          <a:ln/>
        </p:spPr>
        <p:txBody>
          <a:bodyPr wrap="square" lIns="0" tIns="0" rIns="0" bIns="0" rtlCol="0" anchor="ctr"/>
          <a:lstStyle/>
          <a:p>
            <a:pPr indent="0" marL="0">
              <a:buNone/>
            </a:pPr>
            <a:r>
              <a:rPr lang="en-US" sz="1100" dirty="0">
                <a:solidFill>
                  <a:srgbClr val="1E293B"/>
                </a:solidFill>
                <a:latin typeface="Calibri" pitchFamily="34" charset="0"/>
                <a:ea typeface="Calibri" pitchFamily="34" charset="-122"/>
                <a:cs typeface="Calibri" pitchFamily="34" charset="-120"/>
              </a:rPr>
              <a:t>Simple: Nat wrote a book. The book changed navigation forever. Expanded: Nat wrote a book that changed navigation forever . Simple: The sailors trusted Nat. He had corrected the almanac. Expanded: The sailors trusted Nat, who had corrected the almanac . Restrictive (no comma): that or who — the clause identifies which one: “The calculation that Nat used was more accurate.” Non-restrictive (comma): which or who — the clause adds extra information: “The almanac, which contained hundreds of errors , had been trusted for years.”</a:t>
            </a:r>
            <a:endParaRPr lang="en-US" sz="1100" dirty="0"/>
          </a:p>
        </p:txBody>
      </p:sp>
      <p:sp>
        <p:nvSpPr>
          <p:cNvPr id="8" name="Shape 6"/>
          <p:cNvSpPr/>
          <p:nvPr/>
        </p:nvSpPr>
        <p:spPr>
          <a:xfrm>
            <a:off x="365760" y="1737360"/>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9" name="Text 7"/>
          <p:cNvSpPr/>
          <p:nvPr/>
        </p:nvSpPr>
        <p:spPr>
          <a:xfrm>
            <a:off x="548640" y="1792224"/>
            <a:ext cx="8046720" cy="54864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Which sentence correctly uses a relative clause?
</a:t>
            </a:r>
            <a:pPr indent="0" marL="0">
              <a:buNone/>
            </a:pPr>
            <a:r>
              <a:rPr lang="en-US" sz="1200" b="1" dirty="0">
                <a:solidFill>
                  <a:srgbClr val="34B76F"/>
                </a:solidFill>
                <a:latin typeface="Calibri" pitchFamily="34" charset="0"/>
                <a:ea typeface="Calibri" pitchFamily="34" charset="-122"/>
                <a:cs typeface="Calibri" pitchFamily="34" charset="-120"/>
              </a:rPr>
              <a:t>✅ Nat was a navigator who corrected Moore’s almanac — a task that changed maritime history.</a:t>
            </a:r>
            <a:endParaRPr lang="en-US" sz="1200" dirty="0"/>
          </a:p>
        </p:txBody>
      </p:sp>
      <p:sp>
        <p:nvSpPr>
          <p:cNvPr id="10" name="Shape 8"/>
          <p:cNvSpPr/>
          <p:nvPr/>
        </p:nvSpPr>
        <p:spPr>
          <a:xfrm>
            <a:off x="365760" y="2468880"/>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11" name="Text 9"/>
          <p:cNvSpPr/>
          <p:nvPr/>
        </p:nvSpPr>
        <p:spPr>
          <a:xfrm>
            <a:off x="548640" y="2523744"/>
            <a:ext cx="8046720" cy="54864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“The lunar observation, ___ Nat took at noon, confirmed the ship’s position.” — which relative pronoun fits?
</a:t>
            </a:r>
            <a:pPr indent="0" marL="0">
              <a:buNone/>
            </a:pPr>
            <a:r>
              <a:rPr lang="en-US" sz="1200" b="1" dirty="0">
                <a:solidFill>
                  <a:srgbClr val="34B76F"/>
                </a:solidFill>
                <a:latin typeface="Calibri" pitchFamily="34" charset="0"/>
                <a:ea typeface="Calibri" pitchFamily="34" charset="-122"/>
                <a:cs typeface="Calibri" pitchFamily="34" charset="-120"/>
              </a:rPr>
              <a:t>✅ which — adds a non-restrictive clause (comma already there)</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Spelling — 🔤 Spelling: Assimilated Prefixes</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0E1C42"/>
                </a:solidFill>
                <a:latin typeface="Calibri" pitchFamily="34" charset="0"/>
                <a:ea typeface="Calibri" pitchFamily="34" charset="-122"/>
                <a:cs typeface="Calibri" pitchFamily="34" charset="-120"/>
              </a:rPr>
              <a:t>Discover — when prefixes change their spelling</a:t>
            </a:r>
            <a:endParaRPr lang="en-US" sz="1100" dirty="0"/>
          </a:p>
        </p:txBody>
      </p:sp>
      <p:sp>
        <p:nvSpPr>
          <p:cNvPr id="7" name="Shape 5"/>
          <p:cNvSpPr/>
          <p:nvPr/>
        </p:nvSpPr>
        <p:spPr>
          <a:xfrm>
            <a:off x="365760" y="1143000"/>
            <a:ext cx="8412480" cy="777240"/>
          </a:xfrm>
          <a:prstGeom prst="roundRect">
            <a:avLst>
              <a:gd name="adj" fmla="val 11765"/>
            </a:avLst>
          </a:prstGeom>
          <a:solidFill>
            <a:srgbClr val="F8FAFC"/>
          </a:solidFill>
          <a:ln/>
          <a:effectLst>
            <a:outerShdw sx="100000" sy="100000" kx="0" ky="0" algn="bl" rotWithShape="0" blurRad="101600" dist="38100" dir="2700000">
              <a:srgbClr val="000000">
                <a:alpha val="12000"/>
              </a:srgbClr>
            </a:outerShdw>
          </a:effectLst>
        </p:spPr>
      </p:sp>
      <p:sp>
        <p:nvSpPr>
          <p:cNvPr id="8" name="Text 6"/>
          <p:cNvSpPr/>
          <p:nvPr/>
        </p:nvSpPr>
        <p:spPr>
          <a:xfrm>
            <a:off x="548640" y="1207008"/>
            <a:ext cx="8046720" cy="649224"/>
          </a:xfrm>
          <a:prstGeom prst="rect">
            <a:avLst/>
          </a:prstGeom>
          <a:noFill/>
          <a:ln/>
        </p:spPr>
        <p:txBody>
          <a:bodyPr wrap="square" lIns="0" tIns="0" rIns="0" bIns="0" rtlCol="0" anchor="ctr"/>
          <a:lstStyle/>
          <a:p>
            <a:pPr indent="0" marL="0">
              <a:buNone/>
            </a:pPr>
            <a:r>
              <a:rPr lang="en-US" sz="1150" b="1" dirty="0">
                <a:solidFill>
                  <a:srgbClr val="0E1C42"/>
                </a:solidFill>
                <a:latin typeface="Calibri" pitchFamily="34" charset="0"/>
                <a:ea typeface="Calibri" pitchFamily="34" charset="-122"/>
                <a:cs typeface="Calibri" pitchFamily="34" charset="-120"/>
              </a:rPr>
              <a:t>🔍 Assimilated prefixes
</a:t>
            </a:r>
            <a:pPr indent="0" marL="0">
              <a:buNone/>
            </a:pPr>
            <a:r>
              <a:rPr lang="en-US" sz="1100" dirty="0">
                <a:solidFill>
                  <a:srgbClr val="1E293B"/>
                </a:solidFill>
                <a:latin typeface="Calibri" pitchFamily="34" charset="0"/>
                <a:ea typeface="Calibri" pitchFamily="34" charset="-122"/>
                <a:cs typeface="Calibri" pitchFamily="34" charset="-120"/>
              </a:rPr>
              <a:t>sub- + fix → suf fix (not sub fix) — the b becomes f to match sub- + port → sup port (not sub port) — the b becomes p to match trans- + port → trans port (no change — s before p is fine) inter- + rupt → inter rupt (no change needed) The key insight: English spelling preserves the original prefix even when the sound changes. So support is spelled sup-port because sub assimilated to sup — but knowing the root sub helps you understand the word’s meaning.</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Reading Focus + Story Journey</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YOUR STORY JOURNEY</a:t>
            </a:r>
            <a:endParaRPr lang="en-US" sz="1100" dirty="0"/>
          </a:p>
        </p:txBody>
      </p:sp>
      <p:sp>
        <p:nvSpPr>
          <p:cNvPr id="7" name="Shape 5"/>
          <p:cNvSpPr/>
          <p:nvPr/>
        </p:nvSpPr>
        <p:spPr>
          <a:xfrm>
            <a:off x="365760" y="1078992"/>
            <a:ext cx="8412480" cy="777240"/>
          </a:xfrm>
          <a:prstGeom prst="roundRect">
            <a:avLst>
              <a:gd name="adj" fmla="val 11765"/>
            </a:avLst>
          </a:prstGeom>
          <a:solidFill>
            <a:srgbClr val="F8FAFC"/>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170432"/>
            <a:ext cx="7955280" cy="594360"/>
          </a:xfrm>
          <a:prstGeom prst="rect">
            <a:avLst/>
          </a:prstGeom>
          <a:noFill/>
          <a:ln/>
        </p:spPr>
        <p:txBody>
          <a:bodyPr wrap="square" lIns="0" tIns="0" rIns="0" bIns="0" rtlCol="0" anchor="ctr"/>
          <a:lstStyle/>
          <a:p>
            <a:pPr indent="0" marL="0">
              <a:buNone/>
            </a:pPr>
            <a:r>
              <a:rPr lang="en-US" sz="1250" b="1" dirty="0">
                <a:solidFill>
                  <a:srgbClr val="1E293B"/>
                </a:solidFill>
                <a:latin typeface="Calibri" pitchFamily="34" charset="0"/>
                <a:ea typeface="Calibri" pitchFamily="34" charset="-122"/>
                <a:cs typeface="Calibri" pitchFamily="34" charset="-120"/>
              </a:rPr>
              <a:t>Six Weeks with Carry On, Mr. Bowditch — 📍 You are here: Week 13 — Chapter 17 — Lunars and Moonlight</a:t>
            </a:r>
            <a:endParaRPr lang="en-US" sz="1250" dirty="0"/>
          </a:p>
        </p:txBody>
      </p:sp>
      <p:sp>
        <p:nvSpPr>
          <p:cNvPr id="9" name="Text 7"/>
          <p:cNvSpPr/>
          <p:nvPr/>
        </p:nvSpPr>
        <p:spPr>
          <a:xfrm>
            <a:off x="365760" y="1975104"/>
            <a:ext cx="8046720" cy="292608"/>
          </a:xfrm>
          <a:prstGeom prst="rect">
            <a:avLst/>
          </a:prstGeom>
          <a:noFill/>
          <a:ln/>
        </p:spPr>
        <p:txBody>
          <a:bodyPr wrap="square" lIns="0" tIns="0" rIns="0" bIns="0" rtlCol="0" anchor="ctr"/>
          <a:lstStyle/>
          <a:p>
            <a:pPr indent="0" marL="0">
              <a:buNone/>
            </a:pPr>
            <a:r>
              <a:rPr lang="en-US" sz="1100" b="1" spc="200" kern="0" dirty="0">
                <a:solidFill>
                  <a:srgbClr val="55C8E8"/>
                </a:solidFill>
                <a:latin typeface="Calibri" pitchFamily="34" charset="0"/>
                <a:ea typeface="Calibri" pitchFamily="34" charset="-122"/>
                <a:cs typeface="Calibri" pitchFamily="34" charset="-120"/>
              </a:rPr>
              <a:t>TODAY YOU ARE READING</a:t>
            </a:r>
            <a:endParaRPr lang="en-US" sz="1100" dirty="0"/>
          </a:p>
        </p:txBody>
      </p:sp>
      <p:sp>
        <p:nvSpPr>
          <p:cNvPr id="10" name="Shape 8"/>
          <p:cNvSpPr/>
          <p:nvPr/>
        </p:nvSpPr>
        <p:spPr>
          <a:xfrm>
            <a:off x="365760" y="2231136"/>
            <a:ext cx="8412480" cy="640080"/>
          </a:xfrm>
          <a:prstGeom prst="roundRect">
            <a:avLst>
              <a:gd name="adj" fmla="val 14286"/>
            </a:avLst>
          </a:prstGeom>
          <a:solidFill>
            <a:srgbClr val="FEF6E8"/>
          </a:solidFill>
          <a:ln/>
          <a:effectLst>
            <a:outerShdw sx="100000" sy="100000" kx="0" ky="0" algn="bl" rotWithShape="0" blurRad="101600" dist="38100" dir="2700000">
              <a:srgbClr val="000000">
                <a:alpha val="12000"/>
              </a:srgbClr>
            </a:outerShdw>
          </a:effectLst>
        </p:spPr>
      </p:sp>
      <p:sp>
        <p:nvSpPr>
          <p:cNvPr id="11" name="Text 9"/>
          <p:cNvSpPr/>
          <p:nvPr/>
        </p:nvSpPr>
        <p:spPr>
          <a:xfrm>
            <a:off x="594360" y="2304288"/>
            <a:ext cx="7955280" cy="493776"/>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Chapter 17 — Lunars and Moonlight</a:t>
            </a:r>
            <a:endParaRPr lang="en-US" sz="1500" dirty="0"/>
          </a:p>
        </p:txBody>
      </p:sp>
      <p:sp>
        <p:nvSpPr>
          <p:cNvPr id="12" name="Text 10"/>
          <p:cNvSpPr/>
          <p:nvPr/>
        </p:nvSpPr>
        <p:spPr>
          <a:xfrm>
            <a:off x="365760" y="2999232"/>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 KEEP YOUR READING LENS IN MIND</a:t>
            </a:r>
            <a:endParaRPr lang="en-US" sz="1100" dirty="0"/>
          </a:p>
        </p:txBody>
      </p:sp>
      <p:sp>
        <p:nvSpPr>
          <p:cNvPr id="13" name="Shape 11"/>
          <p:cNvSpPr/>
          <p:nvPr/>
        </p:nvSpPr>
        <p:spPr>
          <a:xfrm>
            <a:off x="365760" y="3255264"/>
            <a:ext cx="8412480" cy="1280160"/>
          </a:xfrm>
          <a:prstGeom prst="roundRect">
            <a:avLst>
              <a:gd name="adj" fmla="val 7143"/>
            </a:avLst>
          </a:prstGeom>
          <a:solidFill>
            <a:srgbClr val="F0E8FF"/>
          </a:solidFill>
          <a:ln/>
          <a:effectLst>
            <a:outerShdw sx="100000" sy="100000" kx="0" ky="0" algn="bl" rotWithShape="0" blurRad="101600" dist="38100" dir="2700000">
              <a:srgbClr val="000000">
                <a:alpha val="12000"/>
              </a:srgbClr>
            </a:outerShdw>
          </a:effectLst>
        </p:spPr>
      </p:sp>
      <p:sp>
        <p:nvSpPr>
          <p:cNvPr id="14" name="Text 12"/>
          <p:cNvSpPr/>
          <p:nvPr/>
        </p:nvSpPr>
        <p:spPr>
          <a:xfrm>
            <a:off x="594360" y="3346704"/>
            <a:ext cx="7955280" cy="1097280"/>
          </a:xfrm>
          <a:prstGeom prst="rect">
            <a:avLst/>
          </a:prstGeom>
          <a:noFill/>
          <a:ln/>
        </p:spPr>
        <p:txBody>
          <a:bodyPr wrap="square" lIns="0" tIns="0" rIns="0" bIns="0" rtlCol="0" anchor="t"/>
          <a:lstStyle/>
          <a:p>
            <a:pPr indent="0" marL="0">
              <a:buNone/>
            </a:pPr>
            <a:r>
              <a:rPr lang="en-US" sz="1200" i="1" dirty="0">
                <a:solidFill>
                  <a:srgbClr val="1E293B"/>
                </a:solidFill>
                <a:latin typeface="Calibri" pitchFamily="34" charset="0"/>
                <a:ea typeface="Calibri" pitchFamily="34" charset="-122"/>
                <a:cs typeface="Calibri" pitchFamily="34" charset="-120"/>
              </a:rPr>
              <a:t>When Latham describes the moon in Chapter 17, what figurative language does she use? Is the moon described as something cold and mathematical, something beautiful and poetic, or both at once?</a:t>
            </a:r>
            <a:endParaRPr lang="en-US" sz="1200" dirty="0"/>
          </a:p>
          <a:p>
            <a:pPr indent="0" marL="0">
              <a:buNone/>
            </a:pPr>
            <a:endParaRPr lang="en-US" sz="1200" dirty="0"/>
          </a:p>
          <a:p>
            <a:pPr indent="0" marL="0">
              <a:buNone/>
            </a:pPr>
            <a:r>
              <a:rPr lang="en-US" sz="1200" i="1" dirty="0">
                <a:solidFill>
                  <a:srgbClr val="1E293B"/>
                </a:solidFill>
                <a:latin typeface="Calibri" pitchFamily="34" charset="0"/>
                <a:ea typeface="Calibri" pitchFamily="34" charset="-122"/>
                <a:cs typeface="Calibri" pitchFamily="34" charset="-120"/>
              </a:rPr>
              <a:t>How does Nat’s relationship to the moon differ from how a poet might see it? What does the moon mean to him ?</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Comprehension Questions — Preview</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WHAT YOU'LL ANSWER (PART A)</a:t>
            </a:r>
            <a:endParaRPr lang="en-US" sz="1100" dirty="0"/>
          </a:p>
        </p:txBody>
      </p:sp>
      <p:sp>
        <p:nvSpPr>
          <p:cNvPr id="5" name="Shape 3"/>
          <p:cNvSpPr/>
          <p:nvPr/>
        </p:nvSpPr>
        <p:spPr>
          <a:xfrm>
            <a:off x="365760" y="1097280"/>
            <a:ext cx="8412480" cy="914400"/>
          </a:xfrm>
          <a:prstGeom prst="roundRect">
            <a:avLst>
              <a:gd name="adj" fmla="val 10000"/>
            </a:avLst>
          </a:prstGeom>
          <a:solidFill>
            <a:srgbClr val="F8FAFC"/>
          </a:solidFill>
          <a:ln/>
          <a:effectLst>
            <a:outerShdw sx="100000" sy="100000" kx="0" ky="0" algn="bl" rotWithShape="0" blurRad="101600" dist="38100" dir="2700000">
              <a:srgbClr val="000000">
                <a:alpha val="12000"/>
              </a:srgbClr>
            </a:outerShdw>
          </a:effectLst>
        </p:spPr>
      </p:sp>
      <p:sp>
        <p:nvSpPr>
          <p:cNvPr id="6" name="Text 4"/>
          <p:cNvSpPr/>
          <p:nvPr/>
        </p:nvSpPr>
        <p:spPr>
          <a:xfrm>
            <a:off x="548640" y="1170432"/>
            <a:ext cx="8046720" cy="768096"/>
          </a:xfrm>
          <a:prstGeom prst="rect">
            <a:avLst/>
          </a:prstGeom>
          <a:noFill/>
          <a:ln/>
        </p:spPr>
        <p:txBody>
          <a:bodyPr wrap="square" lIns="0" tIns="0" rIns="0" bIns="0" rtlCol="0" anchor="ctr"/>
          <a:lstStyle/>
          <a:p>
            <a:pPr indent="0" marL="0">
              <a:buNone/>
            </a:pPr>
            <a:r>
              <a:rPr lang="en-US" sz="1300" b="1" dirty="0">
                <a:solidFill>
                  <a:srgbClr val="55C8E8"/>
                </a:solidFill>
                <a:latin typeface="Calibri" pitchFamily="34" charset="0"/>
                <a:ea typeface="Calibri" pitchFamily="34" charset="-122"/>
                <a:cs typeface="Calibri" pitchFamily="34" charset="-120"/>
              </a:rPr>
              <a:t>1.  </a:t>
            </a:r>
            <a:pPr indent="0" marL="0">
              <a:buNone/>
            </a:pPr>
            <a:r>
              <a:rPr lang="en-US" sz="1150" dirty="0">
                <a:solidFill>
                  <a:srgbClr val="1E293B"/>
                </a:solidFill>
                <a:latin typeface="Calibri" pitchFamily="34" charset="0"/>
                <a:ea typeface="Calibri" pitchFamily="34" charset="-122"/>
                <a:cs typeface="Calibri" pitchFamily="34" charset="-120"/>
              </a:rPr>
              <a:t>Chapter 17 is titled “Lunars and Moonlight.” The title itself uses figurative language — pairing the scientific (“lunars”) with the poetic (“moonlight”). Explain what this pairing reveals about how Latham sees Nat Bowditch.</a:t>
            </a:r>
            <a:endParaRPr lang="en-US" sz="1300" dirty="0"/>
          </a:p>
        </p:txBody>
      </p:sp>
      <p:sp>
        <p:nvSpPr>
          <p:cNvPr id="7" name="Shape 5"/>
          <p:cNvSpPr/>
          <p:nvPr/>
        </p:nvSpPr>
        <p:spPr>
          <a:xfrm>
            <a:off x="365760" y="2084832"/>
            <a:ext cx="8412480" cy="914400"/>
          </a:xfrm>
          <a:prstGeom prst="roundRect">
            <a:avLst>
              <a:gd name="adj" fmla="val 10000"/>
            </a:avLst>
          </a:prstGeom>
          <a:solidFill>
            <a:srgbClr val="F4F7FC"/>
          </a:solidFill>
          <a:ln/>
          <a:effectLst>
            <a:outerShdw sx="100000" sy="100000" kx="0" ky="0" algn="bl" rotWithShape="0" blurRad="101600" dist="38100" dir="2700000">
              <a:srgbClr val="000000">
                <a:alpha val="12000"/>
              </a:srgbClr>
            </a:outerShdw>
          </a:effectLst>
        </p:spPr>
      </p:sp>
      <p:sp>
        <p:nvSpPr>
          <p:cNvPr id="8" name="Text 6"/>
          <p:cNvSpPr/>
          <p:nvPr/>
        </p:nvSpPr>
        <p:spPr>
          <a:xfrm>
            <a:off x="548640" y="2157984"/>
            <a:ext cx="8046720" cy="768096"/>
          </a:xfrm>
          <a:prstGeom prst="rect">
            <a:avLst/>
          </a:prstGeom>
          <a:noFill/>
          <a:ln/>
        </p:spPr>
        <p:txBody>
          <a:bodyPr wrap="square" lIns="0" tIns="0" rIns="0" bIns="0" rtlCol="0" anchor="ctr"/>
          <a:lstStyle/>
          <a:p>
            <a:pPr indent="0" marL="0">
              <a:buNone/>
            </a:pPr>
            <a:r>
              <a:rPr lang="en-US" sz="1300" b="1" dirty="0">
                <a:solidFill>
                  <a:srgbClr val="55C8E8"/>
                </a:solidFill>
                <a:latin typeface="Calibri" pitchFamily="34" charset="0"/>
                <a:ea typeface="Calibri" pitchFamily="34" charset="-122"/>
                <a:cs typeface="Calibri" pitchFamily="34" charset="-120"/>
              </a:rPr>
              <a:t>2.  </a:t>
            </a:r>
            <a:pPr indent="0" marL="0">
              <a:buNone/>
            </a:pPr>
            <a:r>
              <a:rPr lang="en-US" sz="1150" dirty="0">
                <a:solidFill>
                  <a:srgbClr val="1E293B"/>
                </a:solidFill>
                <a:latin typeface="Calibri" pitchFamily="34" charset="0"/>
                <a:ea typeface="Calibri" pitchFamily="34" charset="-122"/>
                <a:cs typeface="Calibri" pitchFamily="34" charset="-120"/>
              </a:rPr>
              <a:t>Find one example of figurative language from Chapter 17 and explain how it contributes to the chapter’s meaning. What would be lost if Latham had used plain, literal language instead?</a:t>
            </a:r>
            <a:endParaRPr lang="en-US" sz="1300" dirty="0"/>
          </a:p>
        </p:txBody>
      </p:sp>
      <p:sp>
        <p:nvSpPr>
          <p:cNvPr id="9" name="Shape 7"/>
          <p:cNvSpPr/>
          <p:nvPr/>
        </p:nvSpPr>
        <p:spPr>
          <a:xfrm>
            <a:off x="365760" y="3072384"/>
            <a:ext cx="8412480" cy="914400"/>
          </a:xfrm>
          <a:prstGeom prst="roundRect">
            <a:avLst>
              <a:gd name="adj" fmla="val 10000"/>
            </a:avLst>
          </a:prstGeom>
          <a:solidFill>
            <a:srgbClr val="F8FAFC"/>
          </a:solidFill>
          <a:ln/>
          <a:effectLst>
            <a:outerShdw sx="100000" sy="100000" kx="0" ky="0" algn="bl" rotWithShape="0" blurRad="101600" dist="38100" dir="2700000">
              <a:srgbClr val="000000">
                <a:alpha val="12000"/>
              </a:srgbClr>
            </a:outerShdw>
          </a:effectLst>
        </p:spPr>
      </p:sp>
      <p:sp>
        <p:nvSpPr>
          <p:cNvPr id="10" name="Text 8"/>
          <p:cNvSpPr/>
          <p:nvPr/>
        </p:nvSpPr>
        <p:spPr>
          <a:xfrm>
            <a:off x="548640" y="3145536"/>
            <a:ext cx="8046720" cy="768096"/>
          </a:xfrm>
          <a:prstGeom prst="rect">
            <a:avLst/>
          </a:prstGeom>
          <a:noFill/>
          <a:ln/>
        </p:spPr>
        <p:txBody>
          <a:bodyPr wrap="square" lIns="0" tIns="0" rIns="0" bIns="0" rtlCol="0" anchor="ctr"/>
          <a:lstStyle/>
          <a:p>
            <a:pPr indent="0" marL="0">
              <a:buNone/>
            </a:pPr>
            <a:r>
              <a:rPr lang="en-US" sz="1300" b="1" dirty="0">
                <a:solidFill>
                  <a:srgbClr val="55C8E8"/>
                </a:solidFill>
                <a:latin typeface="Calibri" pitchFamily="34" charset="0"/>
                <a:ea typeface="Calibri" pitchFamily="34" charset="-122"/>
                <a:cs typeface="Calibri" pitchFamily="34" charset="-120"/>
              </a:rPr>
              <a:t>3.  </a:t>
            </a:r>
            <a:pPr indent="0" marL="0">
              <a:buNone/>
            </a:pPr>
            <a:r>
              <a:rPr lang="en-US" sz="1150" dirty="0">
                <a:solidFill>
                  <a:srgbClr val="1E293B"/>
                </a:solidFill>
                <a:latin typeface="Calibri" pitchFamily="34" charset="0"/>
                <a:ea typeface="Calibri" pitchFamily="34" charset="-122"/>
                <a:cs typeface="Calibri" pitchFamily="34" charset="-120"/>
              </a:rPr>
              <a:t>How does Chapter 17 develop Nat’s character? Use a relative clause in at least one of your sentences (who, which, or that).</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Writing Connection — Research Essay</a:t>
            </a:r>
            <a:endParaRPr lang="en-US" sz="2600" dirty="0"/>
          </a:p>
        </p:txBody>
      </p:sp>
      <p:sp>
        <p:nvSpPr>
          <p:cNvPr id="3" name="Shape 1"/>
          <p:cNvSpPr/>
          <p:nvPr/>
        </p:nvSpPr>
        <p:spPr>
          <a:xfrm>
            <a:off x="365760" y="749808"/>
            <a:ext cx="8412480" cy="0"/>
          </a:xfrm>
          <a:prstGeom prst="line">
            <a:avLst/>
          </a:prstGeom>
          <a:noFill/>
          <a:ln w="19050">
            <a:solidFill>
              <a:srgbClr val="34B76F"/>
            </a:solidFill>
            <a:prstDash val="solid"/>
          </a:ln>
        </p:spPr>
      </p:sp>
      <p:sp>
        <p:nvSpPr>
          <p:cNvPr id="4" name="Text 2"/>
          <p:cNvSpPr/>
          <p:nvPr/>
        </p:nvSpPr>
        <p:spPr>
          <a:xfrm>
            <a:off x="365760" y="841248"/>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STAGE: REVISE &amp; EDIT  ·  Revise for technical clarity</a:t>
            </a:r>
            <a:endParaRPr lang="en-US" sz="1100" dirty="0"/>
          </a:p>
        </p:txBody>
      </p:sp>
      <p:sp>
        <p:nvSpPr>
          <p:cNvPr id="5" name="Shape 3"/>
          <p:cNvSpPr/>
          <p:nvPr/>
        </p:nvSpPr>
        <p:spPr>
          <a:xfrm>
            <a:off x="365760" y="1097280"/>
            <a:ext cx="8412480" cy="548640"/>
          </a:xfrm>
          <a:prstGeom prst="roundRect">
            <a:avLst>
              <a:gd name="adj" fmla="val 16667"/>
            </a:avLst>
          </a:prstGeom>
          <a:solidFill>
            <a:srgbClr val="E8F8EF"/>
          </a:solidFill>
          <a:ln/>
          <a:effectLst>
            <a:outerShdw sx="100000" sy="100000" kx="0" ky="0" algn="bl" rotWithShape="0" blurRad="101600" dist="38100" dir="2700000">
              <a:srgbClr val="000000">
                <a:alpha val="12000"/>
              </a:srgbClr>
            </a:outerShdw>
          </a:effectLst>
        </p:spPr>
      </p:sp>
      <p:sp>
        <p:nvSpPr>
          <p:cNvPr id="6" name="Text 4"/>
          <p:cNvSpPr/>
          <p:nvPr/>
        </p:nvSpPr>
        <p:spPr>
          <a:xfrm>
            <a:off x="548640" y="1152144"/>
            <a:ext cx="8046720" cy="438912"/>
          </a:xfrm>
          <a:prstGeom prst="rect">
            <a:avLst/>
          </a:prstGeom>
          <a:noFill/>
          <a:ln/>
        </p:spPr>
        <p:txBody>
          <a:bodyPr wrap="square" lIns="0" tIns="0" rIns="0" bIns="0" rtlCol="0" anchor="ctr"/>
          <a:lstStyle/>
          <a:p>
            <a:pPr indent="0" marL="0">
              <a:buNone/>
            </a:pPr>
            <a:r>
              <a:rPr lang="en-US" sz="1150" b="1" dirty="0">
                <a:solidFill>
                  <a:srgbClr val="1E293B"/>
                </a:solidFill>
                <a:latin typeface="Calibri" pitchFamily="34" charset="0"/>
                <a:ea typeface="Calibri" pitchFamily="34" charset="-122"/>
                <a:cs typeface="Calibri" pitchFamily="34" charset="-120"/>
              </a:rPr>
              <a:t>Revision Week begins. Today’s focus: technical clarity. Read your essay as if you’ve never read Carry On, Mr. Bowditch . Every technical term you use needs to be explained.</a:t>
            </a:r>
            <a:endParaRPr lang="en-US" sz="1150" dirty="0"/>
          </a:p>
        </p:txBody>
      </p:sp>
      <p:sp>
        <p:nvSpPr>
          <p:cNvPr id="7" name="Text 5"/>
          <p:cNvSpPr/>
          <p:nvPr/>
        </p:nvSpPr>
        <p:spPr>
          <a:xfrm>
            <a:off x="365760" y="178308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 WATCH HOW ALEX DOES IT</a:t>
            </a:r>
            <a:endParaRPr lang="en-US" sz="1100" dirty="0"/>
          </a:p>
        </p:txBody>
      </p:sp>
      <p:sp>
        <p:nvSpPr>
          <p:cNvPr id="8" name="Shape 6"/>
          <p:cNvSpPr/>
          <p:nvPr/>
        </p:nvSpPr>
        <p:spPr>
          <a:xfrm>
            <a:off x="365760" y="2029968"/>
            <a:ext cx="4114800" cy="1051560"/>
          </a:xfrm>
          <a:prstGeom prst="roundRect">
            <a:avLst>
              <a:gd name="adj" fmla="val 8696"/>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02920" y="2084832"/>
            <a:ext cx="3840480" cy="941832"/>
          </a:xfrm>
          <a:prstGeom prst="rect">
            <a:avLst/>
          </a:prstGeom>
          <a:noFill/>
          <a:ln/>
        </p:spPr>
        <p:txBody>
          <a:bodyPr wrap="square" lIns="0" tIns="0" rIns="0" bIns="0" rtlCol="0" anchor="t"/>
          <a:lstStyle/>
          <a:p>
            <a:pPr indent="0" marL="0">
              <a:buNone/>
            </a:pPr>
            <a:r>
              <a:rPr lang="en-US" sz="950" dirty="0">
                <a:solidFill>
                  <a:srgbClr val="1E293B"/>
                </a:solidFill>
                <a:latin typeface="Calibri" pitchFamily="34" charset="0"/>
                <a:ea typeface="Calibri" pitchFamily="34" charset="-122"/>
                <a:cs typeface="Calibri" pitchFamily="34" charset="-120"/>
              </a:rPr>
              <a:t>BEFORE Alex’s draft: Nat used lunar observations to find longitude at sea. This changed navigation.</a:t>
            </a:r>
            <a:endParaRPr lang="en-US" sz="950" dirty="0"/>
          </a:p>
        </p:txBody>
      </p:sp>
      <p:sp>
        <p:nvSpPr>
          <p:cNvPr id="10" name="Shape 8"/>
          <p:cNvSpPr/>
          <p:nvPr/>
        </p:nvSpPr>
        <p:spPr>
          <a:xfrm>
            <a:off x="4663440" y="2029968"/>
            <a:ext cx="4114800" cy="1051560"/>
          </a:xfrm>
          <a:prstGeom prst="roundRect">
            <a:avLst>
              <a:gd name="adj" fmla="val 8696"/>
            </a:avLst>
          </a:prstGeom>
          <a:solidFill>
            <a:srgbClr val="EAF6FA"/>
          </a:solidFill>
          <a:ln/>
          <a:effectLst>
            <a:outerShdw sx="100000" sy="100000" kx="0" ky="0" algn="bl" rotWithShape="0" blurRad="101600" dist="38100" dir="2700000">
              <a:srgbClr val="000000">
                <a:alpha val="12000"/>
              </a:srgbClr>
            </a:outerShdw>
          </a:effectLst>
        </p:spPr>
      </p:sp>
      <p:sp>
        <p:nvSpPr>
          <p:cNvPr id="11" name="Text 9"/>
          <p:cNvSpPr/>
          <p:nvPr/>
        </p:nvSpPr>
        <p:spPr>
          <a:xfrm>
            <a:off x="4800600" y="2084832"/>
            <a:ext cx="3840480" cy="941832"/>
          </a:xfrm>
          <a:prstGeom prst="rect">
            <a:avLst/>
          </a:prstGeom>
          <a:noFill/>
          <a:ln/>
        </p:spPr>
        <p:txBody>
          <a:bodyPr wrap="square" lIns="0" tIns="0" rIns="0" bIns="0" rtlCol="0" anchor="t"/>
          <a:lstStyle/>
          <a:p>
            <a:pPr indent="0" marL="0">
              <a:buNone/>
            </a:pPr>
            <a:r>
              <a:rPr lang="en-US" sz="950" dirty="0">
                <a:solidFill>
                  <a:srgbClr val="1E293B"/>
                </a:solidFill>
                <a:latin typeface="Calibri" pitchFamily="34" charset="0"/>
                <a:ea typeface="Calibri" pitchFamily="34" charset="-122"/>
                <a:cs typeface="Calibri" pitchFamily="34" charset="-120"/>
              </a:rPr>
              <a:t>AFTER Alex’s clarified version: Nat mastered a technique called lunar-distance observation — measuring the precise angle between the moon and a known star to calculate the ship’s longitude, the east-west position that navigators could not otherwise determine at sea. This technique, which Nat simplified into a process any sailor could follow, transformed navigation.</a:t>
            </a:r>
            <a:endParaRPr lang="en-US" sz="950" dirty="0"/>
          </a:p>
        </p:txBody>
      </p:sp>
      <p:sp>
        <p:nvSpPr>
          <p:cNvPr id="12" name="Text 10"/>
          <p:cNvSpPr/>
          <p:nvPr/>
        </p:nvSpPr>
        <p:spPr>
          <a:xfrm>
            <a:off x="365760" y="3127248"/>
            <a:ext cx="8412480" cy="457200"/>
          </a:xfrm>
          <a:prstGeom prst="rect">
            <a:avLst/>
          </a:prstGeom>
          <a:noFill/>
          <a:ln/>
        </p:spPr>
        <p:txBody>
          <a:bodyPr wrap="square" lIns="0" tIns="0" rIns="0" bIns="0" rtlCol="0" anchor="ctr"/>
          <a:lstStyle/>
          <a:p>
            <a:pPr indent="0" marL="0">
              <a:buNone/>
            </a:pPr>
            <a:r>
              <a:rPr lang="en-US" sz="950" i="1" dirty="0">
                <a:solidFill>
                  <a:srgbClr val="64748B"/>
                </a:solidFill>
                <a:latin typeface="Calibri" pitchFamily="34" charset="0"/>
                <a:ea typeface="Calibri" pitchFamily="34" charset="-122"/>
                <a:cs typeface="Calibri" pitchFamily="34" charset="-120"/>
              </a:rPr>
              <a:t>Notice: Alex added three things: (1) defined “lunar observation” with a quick phrase, (2) explained why longitude mattered, (3) added context (“any sailor could follow”). Now a reader who hasn’t read the book can follow the argument.</a:t>
            </a:r>
            <a:endParaRPr lang="en-US" sz="950" dirty="0"/>
          </a:p>
        </p:txBody>
      </p:sp>
      <p:sp>
        <p:nvSpPr>
          <p:cNvPr id="13" name="Text 11"/>
          <p:cNvSpPr/>
          <p:nvPr/>
        </p:nvSpPr>
        <p:spPr>
          <a:xfrm>
            <a:off x="365760" y="3639312"/>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 TODAY’S TOOL: TECHNICAL CLARITY AUDIT</a:t>
            </a:r>
            <a:endParaRPr lang="en-US" sz="1100" dirty="0"/>
          </a:p>
        </p:txBody>
      </p:sp>
      <p:sp>
        <p:nvSpPr>
          <p:cNvPr id="14" name="Shape 12"/>
          <p:cNvSpPr/>
          <p:nvPr/>
        </p:nvSpPr>
        <p:spPr>
          <a:xfrm>
            <a:off x="365760" y="3877056"/>
            <a:ext cx="8412480" cy="502920"/>
          </a:xfrm>
          <a:prstGeom prst="roundRect">
            <a:avLst>
              <a:gd name="adj" fmla="val 18182"/>
            </a:avLst>
          </a:prstGeom>
          <a:solidFill>
            <a:srgbClr val="F0E8FF"/>
          </a:solidFill>
          <a:ln/>
          <a:effectLst>
            <a:outerShdw sx="100000" sy="100000" kx="0" ky="0" algn="bl" rotWithShape="0" blurRad="101600" dist="38100" dir="2700000">
              <a:srgbClr val="000000">
                <a:alpha val="12000"/>
              </a:srgbClr>
            </a:outerShdw>
          </a:effectLst>
        </p:spPr>
      </p:sp>
      <p:sp>
        <p:nvSpPr>
          <p:cNvPr id="15" name="Text 13"/>
          <p:cNvSpPr/>
          <p:nvPr/>
        </p:nvSpPr>
        <p:spPr>
          <a:xfrm>
            <a:off x="548640" y="3922776"/>
            <a:ext cx="8046720" cy="411480"/>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Find one technical term in your essay. Define it using the define-show-connect pattern.</a:t>
            </a:r>
            <a:endParaRPr lang="en-US" sz="1050" dirty="0"/>
          </a:p>
        </p:txBody>
      </p:sp>
      <p:sp>
        <p:nvSpPr>
          <p:cNvPr id="16" name="Text 14"/>
          <p:cNvSpPr/>
          <p:nvPr/>
        </p:nvSpPr>
        <p:spPr>
          <a:xfrm>
            <a:off x="365760" y="4462272"/>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 NOW YOU TRY</a:t>
            </a:r>
            <a:endParaRPr lang="en-US" sz="1100" dirty="0"/>
          </a:p>
        </p:txBody>
      </p:sp>
      <p:sp>
        <p:nvSpPr>
          <p:cNvPr id="17" name="Shape 15"/>
          <p:cNvSpPr/>
          <p:nvPr/>
        </p:nvSpPr>
        <p:spPr>
          <a:xfrm>
            <a:off x="365760" y="4681728"/>
            <a:ext cx="8412480" cy="384048"/>
          </a:xfrm>
          <a:prstGeom prst="roundRect">
            <a:avLst>
              <a:gd name="adj" fmla="val 23810"/>
            </a:avLst>
          </a:prstGeom>
          <a:solidFill>
            <a:srgbClr val="FEF6E8"/>
          </a:solidFill>
          <a:ln/>
          <a:effectLst>
            <a:outerShdw sx="100000" sy="100000" kx="0" ky="0" algn="bl" rotWithShape="0" blurRad="101600" dist="38100" dir="2700000">
              <a:srgbClr val="000000">
                <a:alpha val="12000"/>
              </a:srgbClr>
            </a:outerShdw>
          </a:effectLst>
        </p:spPr>
      </p:sp>
      <p:sp>
        <p:nvSpPr>
          <p:cNvPr id="18" name="Text 16"/>
          <p:cNvSpPr/>
          <p:nvPr/>
        </p:nvSpPr>
        <p:spPr>
          <a:xfrm>
            <a:off x="548640" y="4700016"/>
            <a:ext cx="8046720" cy="347472"/>
          </a:xfrm>
          <a:prstGeom prst="rect">
            <a:avLst/>
          </a:prstGeom>
          <a:noFill/>
          <a:ln/>
        </p:spPr>
        <p:txBody>
          <a:bodyPr wrap="square" lIns="0" tIns="0" rIns="0" bIns="0" rtlCol="0" anchor="ctr"/>
          <a:lstStyle/>
          <a:p>
            <a:pPr indent="0" marL="0">
              <a:buNone/>
            </a:pPr>
            <a:r>
              <a:rPr lang="en-US" sz="1000" dirty="0">
                <a:solidFill>
                  <a:srgbClr val="1E293B"/>
                </a:solidFill>
                <a:latin typeface="Calibri" pitchFamily="34" charset="0"/>
                <a:ea typeface="Calibri" pitchFamily="34" charset="-122"/>
                <a:cs typeface="Calibri" pitchFamily="34" charset="-120"/>
              </a:rPr>
              <a:t>Find one technical navigation term in your essay. Revise its sentence to define the term and explain why it matters — as if writing for a reader who hasn’t read the book.</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2026-07-13T16:49:17Z</dcterms:created>
  <dcterms:modified xsi:type="dcterms:W3CDTF">2026-07-13T16:49:17Z</dcterms:modified>
</cp:coreProperties>
</file>