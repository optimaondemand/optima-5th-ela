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13.1: Chapter 17, "Lunars and Moonlight". Banner quote: “The radiance of the moon is special in Salem. It comes from your face.” (Chapter 17 • Carry On, Mr. Bowditch).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question: What does the moon mean to a navigator? Today you read Chapter 17 and continue revising your expository piece. Keep asking: How does figurative language contribute to meaning?
Objectives:
- 🧭 Morphology: Define roots fer (carry) and duct/duce (lead).
- ✏️ Grammar: I will define compound and complex sentences.
- 🔤 Spelling: I will define the meanings of trans-, sub- and inter-.
- 📖 Reading: I will define author perspective in biography by finding Latham’s admiration in Chapter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lens aloud before students open their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Tap-and-notice only — no answer needed. Ask students why each highlighted word or mark is correct before revealing the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interval between lunar observations must be precise because even small errors in timing can translate into large errors in a ships position
Corrected: The interval between lunar observations must be precise, because even small errors in timing can translate into large errors in a ship’s position.
Fixes: capitalize “The”; comma before “because” is optional here (both correct); apostrophe in “ship’s”; period at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interval between lunar observations must be precise because even small errors in timing can translate into large errors in a ships position
Corrected: The interval between lunar observations must be precise, because even small errors in timing can translate into large errors in a ship’s position.
Fixes: capitalize “The”; comma before “because” is optional here (both correct); apostrophe in “ship’s”; period at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Read the prompt aloud. Remind students: pick a side, defend it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detail here I could cut because it doesn't support my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Invite respectful disagreement about their choice and 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Morphology: Roots fer + duct/duce — Define · carry and lead.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Morphology: Roots fer + duct/duce — Define · carry and lead.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fill each blank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transfer  2. deduce  3. introduce  4. conduct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graded Show What You Know for today. Students write it in the Word Study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Vocabulary: Decode &amp; Discover — Six words for this week.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Word cards. Have students say each word, then use it in a sentence about the chapter.
translate: To carry meaning across a barrier — across languages, across difficulty levels, across disciplines. From Latin trans (across) + latus (carried). Nat translated mathematical complexity into practical accessibility.
intersect: To cut across and meet at a point. From inter- (between) + Latin secare (to cut). In geometry and navigation, two lines intersect at one precise location.
submarine: Beneath the sea. From sub- (under) + Latin mare (sea). As an adjective: existing or operating under the sea. As a noun: a vessel that travels underwater.
interval: A space of time or distance between two points. From inter- (between) + Latin vallum (wall). In navigation and music, an interval is a measured gap between two specific points.
transfer: To carry across from one person, place, or condition to another. From trans- (across) + Latin ferre (to carry). When Nat teaches sailors, he transfers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Grammar: Compound &amp; Complex Sentences for Explanation — Day 1: Notice — work out the pattern before you are told it..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Grammar: Compound &amp; Complex Sentences for Explanation — Day 1: Notice — work out the pattern before you are told it..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Nat checked the tables, and he found several errors. — spot1
2. Although the method was difficult, the sailors learned it. — spot2
3. The fog closed in; the captain trusted the figures. — spot3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Spelling: Prefixes trans-, sub-, inter- — Define — across, under, between.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Spelling: Prefixes trans-, sub-, inter- — Define — across, under, between. Teach from this slide; the practice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sort the words into the groups before you reveal.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Sorted:
trans– (across): transport, translate
sub– (under): submarine, subtract
inter– (between): interrupt, international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reading. Students open their novels to Chapter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the stopping points before students read, so they know where to pause.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Students answer these after reading, in the Assignment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Revise &amp; Edit: Revise for technical clarity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Writer’s Workshop — Revise &amp; Edit: Revise for technical clarity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5715000"/>
            <a:ext cx="12191695" cy="1143000"/>
          </a:xfrm>
          <a:prstGeom prst="rect">
            <a:avLst/>
          </a:prstGeom>
          <a:solidFill>
            <a:srgbClr val="17295C"/>
          </a:solidFill>
          <a:ln w="12700">
            <a:solidFill>
              <a:srgbClr val="17295C"/>
            </a:solidFill>
            <a:prstDash val="solid"/>
          </a:ln>
        </p:spPr>
      </p:sp>
      <p:sp>
        <p:nvSpPr>
          <p:cNvPr id="3" name="Text 1"/>
          <p:cNvSpPr/>
          <p:nvPr/>
        </p:nvSpPr>
        <p:spPr>
          <a:xfrm>
            <a:off x="731520" y="914400"/>
            <a:ext cx="10058400" cy="457200"/>
          </a:xfrm>
          <a:prstGeom prst="rect">
            <a:avLst/>
          </a:prstGeom>
          <a:noFill/>
          <a:ln/>
        </p:spPr>
        <p:txBody>
          <a:bodyPr wrap="square" lIns="0" tIns="0" rIns="0" bIns="0" rtlCol="0" anchor="ctr"/>
          <a:lstStyle/>
          <a:p>
            <a:pPr indent="0" marL="0">
              <a:buNone/>
            </a:pPr>
            <a:r>
              <a:rPr lang="en-US" sz="1800" b="1" spc="300" kern="0" dirty="0">
                <a:solidFill>
                  <a:srgbClr val="55C8E8"/>
                </a:solidFill>
                <a:latin typeface="Calibri" pitchFamily="34" charset="0"/>
                <a:ea typeface="Calibri" pitchFamily="34" charset="-122"/>
                <a:cs typeface="Calibri" pitchFamily="34" charset="-120"/>
              </a:rPr>
              <a:t>WEEK 13  ·  DAY 1  ·  LESSON 13.1</a:t>
            </a:r>
            <a:endParaRPr lang="en-US" sz="1800" dirty="0"/>
          </a:p>
        </p:txBody>
      </p:sp>
      <p:sp>
        <p:nvSpPr>
          <p:cNvPr id="4" name="Text 2"/>
          <p:cNvSpPr/>
          <p:nvPr/>
        </p:nvSpPr>
        <p:spPr>
          <a:xfrm>
            <a:off x="731520" y="1737360"/>
            <a:ext cx="10515600" cy="822960"/>
          </a:xfrm>
          <a:prstGeom prst="rect">
            <a:avLst/>
          </a:prstGeom>
          <a:noFill/>
          <a:ln/>
        </p:spPr>
        <p:txBody>
          <a:bodyPr wrap="square" lIns="0" tIns="0" rIns="0" bIns="0"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Carry On, Mr. Bowditch</a:t>
            </a:r>
            <a:endParaRPr lang="en-US" sz="4400" dirty="0"/>
          </a:p>
        </p:txBody>
      </p:sp>
      <p:sp>
        <p:nvSpPr>
          <p:cNvPr id="5" name="Text 3"/>
          <p:cNvSpPr/>
          <p:nvPr/>
        </p:nvSpPr>
        <p:spPr>
          <a:xfrm>
            <a:off x="731520" y="2606040"/>
            <a:ext cx="10515600" cy="822960"/>
          </a:xfrm>
          <a:prstGeom prst="rect">
            <a:avLst/>
          </a:prstGeom>
          <a:noFill/>
          <a:ln/>
        </p:spPr>
        <p:txBody>
          <a:bodyPr wrap="square" lIns="0" tIns="0" rIns="0" bIns="0" rtlCol="0" anchor="ctr"/>
          <a:lstStyle/>
          <a:p>
            <a:pPr indent="0" marL="0">
              <a:buNone/>
            </a:pPr>
            <a:r>
              <a:rPr lang="en-US" sz="3400" dirty="0">
                <a:solidFill>
                  <a:srgbClr val="FFFFFF"/>
                </a:solidFill>
                <a:latin typeface="Calibri" pitchFamily="34" charset="0"/>
                <a:ea typeface="Calibri" pitchFamily="34" charset="-122"/>
                <a:cs typeface="Calibri" pitchFamily="34" charset="-120"/>
              </a:rPr>
              <a:t>Chapter 17 — Lunars and Moonlight</a:t>
            </a:r>
            <a:endParaRPr lang="en-US" sz="3400" dirty="0"/>
          </a:p>
        </p:txBody>
      </p:sp>
      <p:sp>
        <p:nvSpPr>
          <p:cNvPr id="6" name="Text 4"/>
          <p:cNvSpPr/>
          <p:nvPr/>
        </p:nvSpPr>
        <p:spPr>
          <a:xfrm>
            <a:off x="731520" y="3794760"/>
            <a:ext cx="10607040" cy="1371600"/>
          </a:xfrm>
          <a:prstGeom prst="rect">
            <a:avLst/>
          </a:prstGeom>
          <a:noFill/>
          <a:ln/>
        </p:spPr>
        <p:txBody>
          <a:bodyPr wrap="square" lIns="0" tIns="0" rIns="0" bIns="0" rtlCol="0" anchor="t"/>
          <a:lstStyle/>
          <a:p>
            <a:pPr indent="0" marL="0">
              <a:buNone/>
            </a:pPr>
            <a:r>
              <a:rPr lang="en-US" sz="2000" i="1" dirty="0">
                <a:solidFill>
                  <a:srgbClr val="DCE6F5"/>
                </a:solidFill>
                <a:latin typeface="Calibri" pitchFamily="34" charset="0"/>
                <a:ea typeface="Calibri" pitchFamily="34" charset="-122"/>
                <a:cs typeface="Calibri" pitchFamily="34" charset="-120"/>
              </a:rPr>
              <a:t>“The radiance of the moon is special in Salem. It comes from your face.”</a:t>
            </a:r>
            <a:pPr indent="0" marL="0">
              <a:buNone/>
            </a:pPr>
            <a:r>
              <a:rPr lang="en-US" sz="1600" dirty="0">
                <a:solidFill>
                  <a:srgbClr val="55C8E8"/>
                </a:solidFill>
                <a:latin typeface="Calibri" pitchFamily="34" charset="0"/>
                <a:ea typeface="Calibri" pitchFamily="34" charset="-122"/>
                <a:cs typeface="Calibri" pitchFamily="34" charset="-120"/>
              </a:rPr>
              <a:t>  — Chapter 17 • Carry On, Mr. Bowditch</a:t>
            </a:r>
            <a:endParaRPr lang="en-US" sz="2000" dirty="0"/>
          </a:p>
        </p:txBody>
      </p:sp>
      <p:sp>
        <p:nvSpPr>
          <p:cNvPr id="7" name="Text 5"/>
          <p:cNvSpPr/>
          <p:nvPr/>
        </p:nvSpPr>
        <p:spPr>
          <a:xfrm>
            <a:off x="731520" y="5943600"/>
            <a:ext cx="10058400" cy="548640"/>
          </a:xfrm>
          <a:prstGeom prst="rect">
            <a:avLst/>
          </a:prstGeom>
          <a:noFill/>
          <a:ln/>
        </p:spPr>
        <p:txBody>
          <a:bodyPr wrap="square" lIns="0" tIns="0" rIns="0" bIns="0" rtlCol="0" anchor="ctr"/>
          <a:lstStyle/>
          <a:p>
            <a:pPr indent="0" marL="0">
              <a:buNone/>
            </a:pPr>
            <a:r>
              <a:rPr lang="en-US" sz="1800" dirty="0">
                <a:solidFill>
                  <a:srgbClr val="DCE6F5"/>
                </a:solidFill>
                <a:latin typeface="Calibri" pitchFamily="34" charset="0"/>
                <a:ea typeface="Calibri" pitchFamily="34" charset="-122"/>
                <a:cs typeface="Calibri" pitchFamily="34" charset="-120"/>
              </a:rPr>
              <a:t>🧭  Grade 5 ELA  ·  Optima Academy Online</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TODAY’S ARC — DEFINE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Today's Objectives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4754880" cy="4892040"/>
          </a:xfrm>
          <a:prstGeom prst="roundRect">
            <a:avLst>
              <a:gd name="adj" fmla="val 1538"/>
            </a:avLst>
          </a:prstGeom>
          <a:solidFill>
            <a:srgbClr val="F0E8FF"/>
          </a:solidFill>
          <a:ln w="15875">
            <a:solidFill>
              <a:srgbClr val="D6C8F0"/>
            </a:solidFill>
            <a:prstDash val="solid"/>
          </a:ln>
        </p:spPr>
      </p:sp>
      <p:sp>
        <p:nvSpPr>
          <p:cNvPr id="7" name="Text 5"/>
          <p:cNvSpPr/>
          <p:nvPr/>
        </p:nvSpPr>
        <p:spPr>
          <a:xfrm>
            <a:off x="731520" y="1737360"/>
            <a:ext cx="4297680" cy="292608"/>
          </a:xfrm>
          <a:prstGeom prst="rect">
            <a:avLst/>
          </a:prstGeom>
          <a:noFill/>
          <a:ln/>
        </p:spPr>
        <p:txBody>
          <a:bodyPr wrap="square" lIns="0" tIns="0" rIns="0" bIns="0" rtlCol="0" anchor="ctr"/>
          <a:lstStyle/>
          <a:p>
            <a:pPr indent="0" marL="0">
              <a:buNone/>
            </a:pPr>
            <a:r>
              <a:rPr lang="en-US" sz="1300" b="1" spc="150" kern="0" dirty="0">
                <a:solidFill>
                  <a:srgbClr val="6B4FA8"/>
                </a:solidFill>
                <a:latin typeface="Calibri" pitchFamily="34" charset="0"/>
                <a:ea typeface="Calibri" pitchFamily="34" charset="-122"/>
                <a:cs typeface="Calibri" pitchFamily="34" charset="-120"/>
              </a:rPr>
              <a:t>CHAPTER 17</a:t>
            </a:r>
            <a:endParaRPr lang="en-US" sz="1300" dirty="0"/>
          </a:p>
        </p:txBody>
      </p:sp>
      <p:sp>
        <p:nvSpPr>
          <p:cNvPr id="8" name="Text 6"/>
          <p:cNvSpPr/>
          <p:nvPr/>
        </p:nvSpPr>
        <p:spPr>
          <a:xfrm>
            <a:off x="731520" y="2103120"/>
            <a:ext cx="4297680" cy="4160520"/>
          </a:xfrm>
          <a:prstGeom prst="rect">
            <a:avLst/>
          </a:prstGeom>
          <a:noFill/>
          <a:ln/>
        </p:spPr>
        <p:txBody>
          <a:bodyPr wrap="square" lIns="0" tIns="0" rIns="0" bIns="0" rtlCol="0" anchor="t"/>
          <a:lstStyle/>
          <a:p>
            <a:pPr indent="0" marL="0">
              <a:spcAft>
                <a:spcPts val="1100"/>
              </a:spcAft>
              <a:buNone/>
            </a:pPr>
            <a:r>
              <a:rPr lang="en-US" sz="2400" b="1" dirty="0">
                <a:solidFill>
                  <a:srgbClr val="6B4FA8"/>
                </a:solidFill>
                <a:latin typeface="Calibri" pitchFamily="34" charset="0"/>
                <a:ea typeface="Calibri" pitchFamily="34" charset="-122"/>
                <a:cs typeface="Calibri" pitchFamily="34" charset="-120"/>
              </a:rPr>
              <a:t>What does the moon mean to a navigator?</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Today you read Chapter 17 and continue revising your expository piece. Keep asking: How does figurative language contribute to meaning?</a:t>
            </a:r>
            <a:endParaRPr lang="en-US" sz="2400" dirty="0"/>
          </a:p>
        </p:txBody>
      </p:sp>
      <p:sp>
        <p:nvSpPr>
          <p:cNvPr id="9" name="Shape 7"/>
          <p:cNvSpPr/>
          <p:nvPr/>
        </p:nvSpPr>
        <p:spPr>
          <a:xfrm>
            <a:off x="5532120" y="1554480"/>
            <a:ext cx="6156655" cy="4892040"/>
          </a:xfrm>
          <a:prstGeom prst="roundRect">
            <a:avLst>
              <a:gd name="adj" fmla="val 1495"/>
            </a:avLst>
          </a:prstGeom>
          <a:solidFill>
            <a:srgbClr val="F8FAFC"/>
          </a:solidFill>
          <a:ln w="15875">
            <a:solidFill>
              <a:srgbClr val="CBD5E1"/>
            </a:solidFill>
            <a:prstDash val="solid"/>
          </a:ln>
        </p:spPr>
      </p:sp>
      <p:sp>
        <p:nvSpPr>
          <p:cNvPr id="10" name="Text 8"/>
          <p:cNvSpPr/>
          <p:nvPr/>
        </p:nvSpPr>
        <p:spPr>
          <a:xfrm>
            <a:off x="5760720" y="1737360"/>
            <a:ext cx="56994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BY THE END OF THIS LESSON…</a:t>
            </a:r>
            <a:endParaRPr lang="en-US" sz="1300" dirty="0"/>
          </a:p>
        </p:txBody>
      </p:sp>
      <p:sp>
        <p:nvSpPr>
          <p:cNvPr id="11" name="Text 9"/>
          <p:cNvSpPr/>
          <p:nvPr/>
        </p:nvSpPr>
        <p:spPr>
          <a:xfrm>
            <a:off x="5760720" y="2103120"/>
            <a:ext cx="5699455" cy="416052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Morphology: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Define roots fer (carry) and duct/duce (lead).</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Grammar: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define compound and complex sentences.</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Spelling: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define the meanings of trans-, sub- and inter-.</a:t>
            </a:r>
            <a:endParaRPr lang="en-US" sz="2000" dirty="0"/>
          </a:p>
          <a:p>
            <a:pPr marL="342900" indent="-342900">
              <a:spcAft>
                <a:spcPts val="900"/>
              </a:spcAft>
              <a:buSzPct val="100000"/>
              <a:buChar char="●"/>
            </a:pPr>
            <a:r>
              <a:rPr lang="en-US" sz="2000" b="1" dirty="0">
                <a:solidFill>
                  <a:srgbClr val="0E1C42"/>
                </a:solidFill>
                <a:latin typeface="Calibri" pitchFamily="34" charset="0"/>
                <a:ea typeface="Calibri" pitchFamily="34" charset="-122"/>
                <a:cs typeface="Calibri" pitchFamily="34" charset="-120"/>
              </a:rPr>
              <a:t>📖 Reading: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I will define author perspective in biography by finding Latham’s admiration in Chapter 17.</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SET YOUR READING LENS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Good readers notice the author’s perspective inside a biography. Latham is not neutral about Nathaniel Bowditch — she admires him, and that admiration decides which moments get a whole chapter and which get a sentence. In Chapter 17 the moon shows up twice: as the tool behind Nat’s new way of working lunars, which amazes Mr. Blunt and Dr. Holyoke, and as the Salem moonlight outside Wiggins’ barn. That double vision is hers, not the record’s.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Find the author in the sentence: Look for words that judge, admire or explain. Those are Latham, not the record.</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Ask what she includes and leaves out: Perspective shows in what gets a whole chapter and what gets a sentence.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Test it against another telling: Ask how a different biographer — or Nat himself — might have written the same event.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Watch for as you read:</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SET YOUR READING LENS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What Good Readers Do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When Latham describes the moon in Chapter 17, what figurative language does she use? Is the moon described as something cold and mathematical, something beautiful and poetic, or both at once?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How does Nat’s relationship to the moon differ from how a poet might see it? What does the moon mean to him?</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Watch for a moment when Nat talks about the moon first in numbers and then with feeling. What does that switch reveal about the way he thinks?</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CORRECT MODEL — NOTICE WHAT EACH HIGHLIGHTED PART TEACHES</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Study What’s Right</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1371600"/>
          </a:xfrm>
          <a:prstGeom prst="roundRect">
            <a:avLst>
              <a:gd name="adj" fmla="val 5333"/>
            </a:avLst>
          </a:prstGeom>
          <a:solidFill>
            <a:srgbClr val="E8F8EF"/>
          </a:solidFill>
          <a:ln w="15875">
            <a:solidFill>
              <a:srgbClr val="9ED9B5"/>
            </a:solidFill>
            <a:prstDash val="solid"/>
          </a:ln>
        </p:spPr>
      </p:sp>
      <p:sp>
        <p:nvSpPr>
          <p:cNvPr id="7" name="Text 5"/>
          <p:cNvSpPr/>
          <p:nvPr/>
        </p:nvSpPr>
        <p:spPr>
          <a:xfrm>
            <a:off x="777240" y="1645920"/>
            <a:ext cx="10637215" cy="118872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Nat </a:t>
            </a:r>
            <a:pPr indent="0" marL="0">
              <a:buNone/>
            </a:pPr>
            <a:r>
              <a:rPr lang="en-US" sz="2600" b="1" u="sng" dirty="0">
                <a:solidFill>
                  <a:srgbClr val="1E8E52"/>
                </a:solidFill>
                <a:latin typeface="Calibri" pitchFamily="34" charset="0"/>
                <a:ea typeface="Calibri" pitchFamily="34" charset="-122"/>
                <a:cs typeface="Calibri" pitchFamily="34" charset="-120"/>
              </a:rPr>
              <a:t>who had mastered lunar distance</a:t>
            </a:r>
            <a:pPr indent="0" marL="0">
              <a:buNone/>
            </a:pPr>
            <a:r>
              <a:rPr lang="en-US" sz="2600" dirty="0">
                <a:solidFill>
                  <a:srgbClr val="1E293B"/>
                </a:solidFill>
                <a:latin typeface="Calibri" pitchFamily="34" charset="0"/>
                <a:ea typeface="Calibri" pitchFamily="34" charset="-122"/>
                <a:cs typeface="Calibri" pitchFamily="34" charset="-120"/>
              </a:rPr>
              <a:t>, could </a:t>
            </a:r>
            <a:pPr indent="0" marL="0">
              <a:buNone/>
            </a:pPr>
            <a:r>
              <a:rPr lang="en-US" sz="2600" b="1" u="sng" dirty="0">
                <a:solidFill>
                  <a:srgbClr val="1E8E52"/>
                </a:solidFill>
                <a:latin typeface="Calibri" pitchFamily="34" charset="0"/>
                <a:ea typeface="Calibri" pitchFamily="34" charset="-122"/>
                <a:cs typeface="Calibri" pitchFamily="34" charset="-120"/>
              </a:rPr>
              <a:t>translate</a:t>
            </a:r>
            <a:pPr indent="0" marL="0">
              <a:buNone/>
            </a:pPr>
            <a:r>
              <a:rPr lang="en-US" sz="2600" dirty="0">
                <a:solidFill>
                  <a:srgbClr val="1E293B"/>
                </a:solidFill>
                <a:latin typeface="Calibri" pitchFamily="34" charset="0"/>
                <a:ea typeface="Calibri" pitchFamily="34" charset="-122"/>
                <a:cs typeface="Calibri" pitchFamily="34" charset="-120"/>
              </a:rPr>
              <a:t> the moon’s position into a precise longitude </a:t>
            </a:r>
            <a:pPr indent="0" marL="0">
              <a:buNone/>
            </a:pPr>
            <a:r>
              <a:rPr lang="en-US" sz="2600" b="1" u="sng" dirty="0">
                <a:solidFill>
                  <a:srgbClr val="1E8E52"/>
                </a:solidFill>
                <a:latin typeface="Calibri" pitchFamily="34" charset="0"/>
                <a:ea typeface="Calibri" pitchFamily="34" charset="-122"/>
                <a:cs typeface="Calibri" pitchFamily="34" charset="-120"/>
              </a:rPr>
              <a:t>within a few miles</a:t>
            </a:r>
            <a:pPr indent="0" marL="0">
              <a:buNone/>
            </a:pPr>
            <a:r>
              <a:rPr lang="en-US" sz="2600" dirty="0">
                <a:solidFill>
                  <a:srgbClr val="1E293B"/>
                </a:solidFill>
                <a:latin typeface="Calibri" pitchFamily="34" charset="0"/>
                <a:ea typeface="Calibri" pitchFamily="34" charset="-122"/>
                <a:cs typeface="Calibri" pitchFamily="34" charset="-120"/>
              </a:rPr>
              <a:t>.</a:t>
            </a:r>
            <a:endParaRPr lang="en-US" sz="2600" dirty="0"/>
          </a:p>
        </p:txBody>
      </p:sp>
      <p:sp>
        <p:nvSpPr>
          <p:cNvPr id="8" name="Text 6"/>
          <p:cNvSpPr/>
          <p:nvPr/>
        </p:nvSpPr>
        <p:spPr>
          <a:xfrm>
            <a:off x="502920" y="3063240"/>
            <a:ext cx="11185855"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WHAT EACH HIGHLIGHTED PART TEACHES</a:t>
            </a:r>
            <a:endParaRPr lang="en-US" sz="1300" dirty="0"/>
          </a:p>
        </p:txBody>
      </p:sp>
      <p:sp>
        <p:nvSpPr>
          <p:cNvPr id="9" name="Text 7"/>
          <p:cNvSpPr/>
          <p:nvPr/>
        </p:nvSpPr>
        <p:spPr>
          <a:xfrm>
            <a:off x="594360" y="3383280"/>
            <a:ext cx="11002975" cy="3063240"/>
          </a:xfrm>
          <a:prstGeom prst="rect">
            <a:avLst/>
          </a:prstGeom>
          <a:noFill/>
          <a:ln/>
        </p:spPr>
        <p:txBody>
          <a:bodyPr wrap="square" lIns="0" tIns="0" rIns="0" bIns="0" rtlCol="0" anchor="t"/>
          <a:lstStyle/>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who had mastered lunar distance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A relative clause — who had mastered lunar distance — expands Nat, telling us which navigator.</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translate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Trans- means across. Translate: carry meaning across a barrier.</a:t>
            </a:r>
            <a:endParaRPr lang="en-US" sz="2000" dirty="0"/>
          </a:p>
          <a:p>
            <a:pPr marL="342900" indent="-342900">
              <a:spcAft>
                <a:spcPts val="900"/>
              </a:spcAft>
              <a:buSzPct val="100000"/>
              <a:buChar char="●"/>
            </a:pPr>
            <a:r>
              <a:rPr lang="en-US" sz="2000" b="1" dirty="0">
                <a:solidFill>
                  <a:srgbClr val="1E8E52"/>
                </a:solidFill>
                <a:latin typeface="Calibri" pitchFamily="34" charset="0"/>
                <a:ea typeface="Calibri" pitchFamily="34" charset="-122"/>
                <a:cs typeface="Calibri" pitchFamily="34" charset="-120"/>
              </a:rPr>
              <a:t>within a few miles — </a:t>
            </a:r>
            <a:pPr indent="0" marL="0">
              <a:spcAft>
                <a:spcPts val="900"/>
              </a:spcAft>
              <a:buNone/>
            </a:pPr>
            <a:r>
              <a:rPr lang="en-US" sz="2000" dirty="0">
                <a:solidFill>
                  <a:srgbClr val="1E293B"/>
                </a:solidFill>
                <a:latin typeface="Calibri" pitchFamily="34" charset="0"/>
                <a:ea typeface="Calibri" pitchFamily="34" charset="-122"/>
                <a:cs typeface="Calibri" pitchFamily="34" charset="-120"/>
              </a:rPr>
              <a:t>Prepositional phrase: within a few miles — tells how precisely.</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HOW MANY ERRORS CAN YOU FIND?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the interval between lunar observations must be precise because even small errors in timing can translate into large errors in a ships position</a:t>
            </a:r>
            <a:endParaRPr lang="en-US" sz="2600" dirty="0"/>
          </a:p>
        </p:txBody>
      </p:sp>
      <p:sp>
        <p:nvSpPr>
          <p:cNvPr id="11" name="Text 9"/>
          <p:cNvSpPr/>
          <p:nvPr/>
        </p:nvSpPr>
        <p:spPr>
          <a:xfrm>
            <a:off x="502920" y="3566160"/>
            <a:ext cx="11185855" cy="548640"/>
          </a:xfrm>
          <a:prstGeom prst="rect">
            <a:avLst/>
          </a:prstGeom>
          <a:noFill/>
          <a:ln/>
        </p:spPr>
        <p:txBody>
          <a:bodyPr wrap="square" lIns="0" tIns="0" rIns="0" bIns="0" rtlCol="0" anchor="ctr"/>
          <a:lstStyle/>
          <a:p>
            <a:pPr indent="0" marL="0">
              <a:buNone/>
            </a:pPr>
            <a:r>
              <a:rPr lang="en-US" sz="2000" b="1" dirty="0">
                <a:solidFill>
                  <a:srgbClr val="0E1C42"/>
                </a:solidFill>
                <a:latin typeface="Calibri" pitchFamily="34" charset="0"/>
                <a:ea typeface="Calibri" pitchFamily="34" charset="-122"/>
                <a:cs typeface="Calibri" pitchFamily="34" charset="-120"/>
              </a:rPr>
              <a:t>Rewrite the sentence correctly in your reading journal. Use the model to guide you.</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ANSWER REVEALED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Daily Oral Language — Fix It</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11185855" cy="292608"/>
          </a:xfrm>
          <a:prstGeom prst="rect">
            <a:avLst/>
          </a:prstGeom>
          <a:noFill/>
          <a:ln/>
        </p:spPr>
        <p:txBody>
          <a:bodyPr wrap="square" lIns="0" tIns="0" rIns="0" bIns="0" rtlCol="0" anchor="ctr"/>
          <a:lstStyle/>
          <a:p>
            <a:pPr indent="0" marL="0">
              <a:buNone/>
            </a:pPr>
            <a:r>
              <a:rPr lang="en-US" sz="1300" b="1" spc="150" kern="0" dirty="0">
                <a:solidFill>
                  <a:srgbClr val="B4232C"/>
                </a:solidFill>
                <a:latin typeface="Calibri" pitchFamily="34" charset="0"/>
                <a:ea typeface="Calibri" pitchFamily="34" charset="-122"/>
                <a:cs typeface="Calibri" pitchFamily="34" charset="-120"/>
              </a:rPr>
              <a:t>NEEDS FIXING</a:t>
            </a:r>
            <a:endParaRPr lang="en-US" sz="1300" dirty="0"/>
          </a:p>
        </p:txBody>
      </p:sp>
      <p:sp>
        <p:nvSpPr>
          <p:cNvPr id="9" name="Shape 7"/>
          <p:cNvSpPr/>
          <p:nvPr/>
        </p:nvSpPr>
        <p:spPr>
          <a:xfrm>
            <a:off x="502920" y="1874520"/>
            <a:ext cx="11185855" cy="1417320"/>
          </a:xfrm>
          <a:prstGeom prst="roundRect">
            <a:avLst>
              <a:gd name="adj" fmla="val 5161"/>
            </a:avLst>
          </a:prstGeom>
          <a:solidFill>
            <a:srgbClr val="FDECEC"/>
          </a:solidFill>
          <a:ln w="15875">
            <a:solidFill>
              <a:srgbClr val="F2B8BC"/>
            </a:solidFill>
            <a:prstDash val="solid"/>
          </a:ln>
        </p:spPr>
      </p:sp>
      <p:sp>
        <p:nvSpPr>
          <p:cNvPr id="10" name="Text 8"/>
          <p:cNvSpPr/>
          <p:nvPr/>
        </p:nvSpPr>
        <p:spPr>
          <a:xfrm>
            <a:off x="777240" y="1920240"/>
            <a:ext cx="10637215" cy="1325880"/>
          </a:xfrm>
          <a:prstGeom prst="rect">
            <a:avLst/>
          </a:prstGeom>
          <a:noFill/>
          <a:ln/>
        </p:spPr>
        <p:txBody>
          <a:bodyPr wrap="square" lIns="0" tIns="0" rIns="0" bIns="0" rtlCol="0" anchor="ctr">
            <a:normAutofit/>
          </a:bodyPr>
          <a:lstStyle/>
          <a:p>
            <a:pPr indent="0" marL="0">
              <a:buNone/>
            </a:pPr>
            <a:r>
              <a:rPr lang="en-US" sz="2600" dirty="0">
                <a:solidFill>
                  <a:srgbClr val="1E293B"/>
                </a:solidFill>
                <a:latin typeface="Calibri" pitchFamily="34" charset="0"/>
                <a:ea typeface="Calibri" pitchFamily="34" charset="-122"/>
                <a:cs typeface="Calibri" pitchFamily="34" charset="-120"/>
              </a:rPr>
              <a:t>the interval between lunar observations must be precise because even small errors in timing can translate into large errors in a ships position</a:t>
            </a:r>
            <a:endParaRPr lang="en-US" sz="2600" dirty="0"/>
          </a:p>
        </p:txBody>
      </p:sp>
      <p:sp>
        <p:nvSpPr>
          <p:cNvPr id="11" name="Text 9"/>
          <p:cNvSpPr/>
          <p:nvPr/>
        </p:nvSpPr>
        <p:spPr>
          <a:xfrm>
            <a:off x="502920" y="3520440"/>
            <a:ext cx="11185855" cy="292608"/>
          </a:xfrm>
          <a:prstGeom prst="rect">
            <a:avLst/>
          </a:prstGeom>
          <a:noFill/>
          <a:ln/>
        </p:spPr>
        <p:txBody>
          <a:bodyPr wrap="square" lIns="0" tIns="0" rIns="0" bIns="0" rtlCol="0" anchor="ctr"/>
          <a:lstStyle/>
          <a:p>
            <a:pPr indent="0" marL="0">
              <a:buNone/>
            </a:pPr>
            <a:r>
              <a:rPr lang="en-US" sz="1300" b="1" spc="150" kern="0" dirty="0">
                <a:solidFill>
                  <a:srgbClr val="1E8E52"/>
                </a:solidFill>
                <a:latin typeface="Calibri" pitchFamily="34" charset="0"/>
                <a:ea typeface="Calibri" pitchFamily="34" charset="-122"/>
                <a:cs typeface="Calibri" pitchFamily="34" charset="-120"/>
              </a:rPr>
              <a:t>✅ CORRECTED</a:t>
            </a:r>
            <a:endParaRPr lang="en-US" sz="1300" dirty="0"/>
          </a:p>
        </p:txBody>
      </p:sp>
      <p:sp>
        <p:nvSpPr>
          <p:cNvPr id="12" name="Shape 10"/>
          <p:cNvSpPr/>
          <p:nvPr/>
        </p:nvSpPr>
        <p:spPr>
          <a:xfrm>
            <a:off x="502920" y="3840480"/>
            <a:ext cx="11185855" cy="1280160"/>
          </a:xfrm>
          <a:prstGeom prst="roundRect">
            <a:avLst>
              <a:gd name="adj" fmla="val 5714"/>
            </a:avLst>
          </a:prstGeom>
          <a:solidFill>
            <a:srgbClr val="E8F8EF"/>
          </a:solidFill>
          <a:ln w="15875">
            <a:solidFill>
              <a:srgbClr val="9ED9B5"/>
            </a:solidFill>
            <a:prstDash val="solid"/>
          </a:ln>
        </p:spPr>
      </p:sp>
      <p:sp>
        <p:nvSpPr>
          <p:cNvPr id="13" name="Text 11"/>
          <p:cNvSpPr/>
          <p:nvPr/>
        </p:nvSpPr>
        <p:spPr>
          <a:xfrm>
            <a:off x="777240" y="3886200"/>
            <a:ext cx="10637215" cy="1188720"/>
          </a:xfrm>
          <a:prstGeom prst="rect">
            <a:avLst/>
          </a:prstGeom>
          <a:noFill/>
          <a:ln/>
        </p:spPr>
        <p:txBody>
          <a:bodyPr wrap="square" lIns="0" tIns="0" rIns="0" bIns="0" rtlCol="0" anchor="ctr">
            <a:normAutofit/>
          </a:bodyPr>
          <a:lstStyle/>
          <a:p>
            <a:pPr indent="0" marL="0">
              <a:buNone/>
            </a:pPr>
            <a:r>
              <a:rPr lang="en-US" sz="2600" b="1" dirty="0">
                <a:solidFill>
                  <a:srgbClr val="1E8E52"/>
                </a:solidFill>
                <a:latin typeface="Calibri" pitchFamily="34" charset="0"/>
                <a:ea typeface="Calibri" pitchFamily="34" charset="-122"/>
                <a:cs typeface="Calibri" pitchFamily="34" charset="-120"/>
              </a:rPr>
              <a:t>The interval between lunar observations must be precise, because even small errors in timing can translate into large errors in a ship’s position.</a:t>
            </a:r>
            <a:endParaRPr lang="en-US" sz="2600" dirty="0"/>
          </a:p>
        </p:txBody>
      </p:sp>
      <p:sp>
        <p:nvSpPr>
          <p:cNvPr id="14" name="Text 12"/>
          <p:cNvSpPr/>
          <p:nvPr/>
        </p:nvSpPr>
        <p:spPr>
          <a:xfrm>
            <a:off x="502920" y="5257800"/>
            <a:ext cx="11185855" cy="1188720"/>
          </a:xfrm>
          <a:prstGeom prst="rect">
            <a:avLst/>
          </a:prstGeom>
          <a:noFill/>
          <a:ln/>
        </p:spPr>
        <p:txBody>
          <a:bodyPr wrap="square" lIns="0" tIns="0" rIns="0" bIns="0" rtlCol="0" anchor="t"/>
          <a:lstStyle/>
          <a:p>
            <a:pPr indent="0" marL="0">
              <a:buNone/>
            </a:pPr>
            <a:r>
              <a:rPr lang="en-US" sz="1800" i="1" dirty="0">
                <a:solidFill>
                  <a:srgbClr val="475569"/>
                </a:solidFill>
                <a:latin typeface="Calibri" pitchFamily="34" charset="0"/>
                <a:ea typeface="Calibri" pitchFamily="34" charset="-122"/>
                <a:cs typeface="Calibri" pitchFamily="34" charset="-120"/>
              </a:rPr>
              <a:t>Fixes: capitalize “The”; comma before “because” is optional here (both correct); apostrophe in “ship’s”; period at end.</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READ THE PROMPT — 1 MINUTE</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Quick Write (Optional)</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2651760"/>
          </a:xfrm>
          <a:prstGeom prst="roundRect">
            <a:avLst>
              <a:gd name="adj" fmla="val 2759"/>
            </a:avLst>
          </a:prstGeom>
          <a:solidFill>
            <a:srgbClr val="FEF6E8"/>
          </a:solidFill>
          <a:ln w="15875">
            <a:solidFill>
              <a:srgbClr val="C7922C"/>
            </a:solidFill>
            <a:prstDash val="solid"/>
          </a:ln>
        </p:spPr>
      </p:sp>
      <p:sp>
        <p:nvSpPr>
          <p:cNvPr id="7" name="Text 5"/>
          <p:cNvSpPr/>
          <p:nvPr/>
        </p:nvSpPr>
        <p:spPr>
          <a:xfrm>
            <a:off x="822960" y="1691640"/>
            <a:ext cx="10545775" cy="2377440"/>
          </a:xfrm>
          <a:prstGeom prst="rect">
            <a:avLst/>
          </a:prstGeom>
          <a:noFill/>
          <a:ln/>
        </p:spPr>
        <p:txBody>
          <a:bodyPr wrap="square" lIns="0" tIns="0" rIns="0" bIns="0" rtlCol="0" anchor="ctr"/>
          <a:lstStyle/>
          <a:p>
            <a:pPr indent="0" marL="0">
              <a:buNone/>
            </a:pPr>
            <a:r>
              <a:rPr lang="en-US" sz="2400" dirty="0">
                <a:solidFill>
                  <a:srgbClr val="1E293B"/>
                </a:solidFill>
                <a:latin typeface="Calibri" pitchFamily="34" charset="0"/>
                <a:ea typeface="Calibri" pitchFamily="34" charset="-122"/>
                <a:cs typeface="Calibri" pitchFamily="34" charset="-120"/>
              </a:rPr>
              <a:t>In Chapter 17 Nat explains his new way of working lunars to Mr. Blunt, and then, outside Wiggins' barn, the moon becomes part of a love story. Which side of Nat does this chapter show more: the scientist or the person? Defend your answer with evidence from Chapter 17.</a:t>
            </a:r>
            <a:endParaRPr lang="en-US" sz="2400" dirty="0"/>
          </a:p>
        </p:txBody>
      </p:sp>
      <p:sp>
        <p:nvSpPr>
          <p:cNvPr id="8" name="Text 6"/>
          <p:cNvSpPr/>
          <p:nvPr/>
        </p:nvSpPr>
        <p:spPr>
          <a:xfrm>
            <a:off x="502920" y="4434840"/>
            <a:ext cx="11185855" cy="292608"/>
          </a:xfrm>
          <a:prstGeom prst="rect">
            <a:avLst/>
          </a:prstGeom>
          <a:noFill/>
          <a:ln/>
        </p:spPr>
        <p:txBody>
          <a:bodyPr wrap="square" lIns="0" tIns="0" rIns="0" bIns="0" rtlCol="0" anchor="ctr"/>
          <a:lstStyle/>
          <a:p>
            <a:pPr indent="0" marL="0">
              <a:buNone/>
            </a:pPr>
            <a:r>
              <a:rPr lang="en-US" sz="1300" b="1" spc="150" kern="0" dirty="0">
                <a:solidFill>
                  <a:srgbClr val="C7922C"/>
                </a:solidFill>
                <a:latin typeface="Calibri" pitchFamily="34" charset="0"/>
                <a:ea typeface="Calibri" pitchFamily="34" charset="-122"/>
                <a:cs typeface="Calibri" pitchFamily="34" charset="-120"/>
              </a:rPr>
              <a:t>SENTENCE SCAFFOLD (USE WHAT HELPS)</a:t>
            </a:r>
            <a:endParaRPr lang="en-US" sz="1300" dirty="0"/>
          </a:p>
        </p:txBody>
      </p:sp>
      <p:sp>
        <p:nvSpPr>
          <p:cNvPr id="9" name="Text 7"/>
          <p:cNvSpPr/>
          <p:nvPr/>
        </p:nvSpPr>
        <p:spPr>
          <a:xfrm>
            <a:off x="502920" y="4754880"/>
            <a:ext cx="11185855" cy="822960"/>
          </a:xfrm>
          <a:prstGeom prst="rect">
            <a:avLst/>
          </a:prstGeom>
          <a:noFill/>
          <a:ln/>
        </p:spPr>
        <p:txBody>
          <a:bodyPr wrap="square" lIns="0" tIns="0" rIns="0" bIns="0" rtlCol="0" anchor="t"/>
          <a:lstStyle/>
          <a:p>
            <a:pPr indent="0" marL="0">
              <a:buNone/>
            </a:pPr>
            <a:r>
              <a:rPr lang="en-US" sz="2000"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502920" y="36576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Writing Time</a:t>
            </a:r>
            <a:endParaRPr lang="en-US" sz="3600" dirty="0"/>
          </a:p>
        </p:txBody>
      </p:sp>
      <p:sp>
        <p:nvSpPr>
          <p:cNvPr id="3" name="Text 1"/>
          <p:cNvSpPr/>
          <p:nvPr/>
        </p:nvSpPr>
        <p:spPr>
          <a:xfrm>
            <a:off x="502920" y="1051560"/>
            <a:ext cx="11185855" cy="457200"/>
          </a:xfrm>
          <a:prstGeom prst="rect">
            <a:avLst/>
          </a:prstGeom>
          <a:noFill/>
          <a:ln/>
        </p:spPr>
        <p:txBody>
          <a:bodyPr wrap="square" lIns="0" tIns="0" rIns="0" bIns="0" rtlCol="0" anchor="ctr"/>
          <a:lstStyle/>
          <a:p>
            <a:pPr algn="ctr" indent="0" marL="0">
              <a:buNone/>
            </a:pPr>
            <a:r>
              <a:rPr lang="en-US" sz="2200" dirty="0">
                <a:solidFill>
                  <a:srgbClr val="C7922C"/>
                </a:solidFill>
                <a:latin typeface="Calibri" pitchFamily="34" charset="0"/>
                <a:ea typeface="Calibri" pitchFamily="34" charset="-122"/>
                <a:cs typeface="Calibri" pitchFamily="34" charset="-120"/>
              </a:rPr>
              <a:t>5 minutes — keep your pencil moving!</a:t>
            </a:r>
            <a:endParaRPr lang="en-US" sz="2200" dirty="0"/>
          </a:p>
        </p:txBody>
      </p:sp>
      <p:sp>
        <p:nvSpPr>
          <p:cNvPr id="4" name="Shape 2"/>
          <p:cNvSpPr/>
          <p:nvPr/>
        </p:nvSpPr>
        <p:spPr>
          <a:xfrm>
            <a:off x="502920" y="1737360"/>
            <a:ext cx="11185855" cy="2194560"/>
          </a:xfrm>
          <a:prstGeom prst="roundRect">
            <a:avLst>
              <a:gd name="adj" fmla="val 3333"/>
            </a:avLst>
          </a:prstGeom>
          <a:solidFill>
            <a:srgbClr val="FFFFFF"/>
          </a:solidFill>
          <a:ln w="15875">
            <a:solidFill>
              <a:srgbClr val="C7922C"/>
            </a:solidFill>
            <a:prstDash val="solid"/>
          </a:ln>
        </p:spPr>
      </p:sp>
      <p:sp>
        <p:nvSpPr>
          <p:cNvPr id="5" name="Text 3"/>
          <p:cNvSpPr/>
          <p:nvPr/>
        </p:nvSpPr>
        <p:spPr>
          <a:xfrm>
            <a:off x="777240" y="1828800"/>
            <a:ext cx="10637215" cy="2011680"/>
          </a:xfrm>
          <a:prstGeom prst="rect">
            <a:avLst/>
          </a:prstGeom>
          <a:noFill/>
          <a:ln/>
        </p:spPr>
        <p:txBody>
          <a:bodyPr wrap="square" lIns="0" tIns="0" rIns="0" bIns="0" rtlCol="0" anchor="ctr"/>
          <a:lstStyle/>
          <a:p>
            <a:pPr indent="0" marL="0">
              <a:buNone/>
            </a:pPr>
            <a:r>
              <a:rPr lang="en-US" sz="2300" b="1" dirty="0">
                <a:solidFill>
                  <a:srgbClr val="C7922C"/>
                </a:solidFill>
                <a:latin typeface="Calibri" pitchFamily="34" charset="0"/>
                <a:ea typeface="Calibri" pitchFamily="34" charset="-122"/>
                <a:cs typeface="Calibri" pitchFamily="34" charset="-120"/>
              </a:rPr>
              <a:t>Prompt: </a:t>
            </a:r>
            <a:pPr indent="0" marL="0">
              <a:buNone/>
            </a:pPr>
            <a:r>
              <a:rPr lang="en-US" sz="2300" dirty="0">
                <a:solidFill>
                  <a:srgbClr val="1E293B"/>
                </a:solidFill>
                <a:latin typeface="Calibri" pitchFamily="34" charset="0"/>
                <a:ea typeface="Calibri" pitchFamily="34" charset="-122"/>
                <a:cs typeface="Calibri" pitchFamily="34" charset="-120"/>
              </a:rPr>
              <a:t>In Chapter 17 Nat explains his new way of working lunars to Mr. Blunt, and then, outside Wiggins' barn, the moon becomes part of a love story. Which side of Nat does this chapter show more: the scientist or the person? Defend your answer with evidence from Chapter 17.</a:t>
            </a:r>
            <a:endParaRPr lang="en-US" sz="2300" dirty="0"/>
          </a:p>
        </p:txBody>
      </p:sp>
      <p:sp>
        <p:nvSpPr>
          <p:cNvPr id="6" name="Shape 4"/>
          <p:cNvSpPr/>
          <p:nvPr/>
        </p:nvSpPr>
        <p:spPr>
          <a:xfrm>
            <a:off x="2926080" y="4160520"/>
            <a:ext cx="6339535" cy="2286000"/>
          </a:xfrm>
          <a:prstGeom prst="roundRect">
            <a:avLst>
              <a:gd name="adj" fmla="val 3200"/>
            </a:avLst>
          </a:prstGeom>
          <a:solidFill>
            <a:srgbClr val="FFFFFF"/>
          </a:solidFill>
          <a:ln w="15875">
            <a:solidFill>
              <a:srgbClr val="EBD3A2"/>
            </a:solidFill>
            <a:prstDash val="solid"/>
          </a:ln>
        </p:spPr>
      </p:sp>
      <p:sp>
        <p:nvSpPr>
          <p:cNvPr id="7" name="Text 5"/>
          <p:cNvSpPr/>
          <p:nvPr/>
        </p:nvSpPr>
        <p:spPr>
          <a:xfrm>
            <a:off x="3154680" y="4251960"/>
            <a:ext cx="5882335" cy="2103120"/>
          </a:xfrm>
          <a:prstGeom prst="rect">
            <a:avLst/>
          </a:prstGeom>
          <a:noFill/>
          <a:ln/>
        </p:spPr>
        <p:txBody>
          <a:bodyPr wrap="square" lIns="0" tIns="0" rIns="0" bIns="0" rtlCol="0" anchor="t"/>
          <a:lstStyle/>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Scaffold, if you need it:</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I think...</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because...</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One piece of evidence is...</a:t>
            </a:r>
            <a:endParaRPr lang="en-US" sz="1900" dirty="0"/>
          </a:p>
          <a:p>
            <a:pPr indent="0" marL="0">
              <a:spcAft>
                <a:spcPts val="900"/>
              </a:spcAft>
              <a:buNone/>
            </a:pPr>
            <a:r>
              <a:rPr lang="en-US" sz="1900" dirty="0">
                <a:solidFill>
                  <a:srgbClr val="1E293B"/>
                </a:solidFill>
                <a:latin typeface="Calibri" pitchFamily="34" charset="0"/>
                <a:ea typeface="Calibri" pitchFamily="34" charset="-122"/>
                <a:cs typeface="Calibri" pitchFamily="34" charset="-120"/>
              </a:rPr>
              <a:t>This matters because...</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Edit &amp; Revise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E8E52"/>
                </a:solidFill>
                <a:latin typeface="Calibri" pitchFamily="34" charset="0"/>
                <a:ea typeface="Calibri" pitchFamily="34" charset="-122"/>
                <a:cs typeface="Calibri" pitchFamily="34" charset="-120"/>
              </a:rPr>
              <a:t>1 minute — one deliberate decision, not a full edit pass</a:t>
            </a:r>
            <a:endParaRPr lang="en-US" sz="2200" dirty="0"/>
          </a:p>
        </p:txBody>
      </p:sp>
      <p:sp>
        <p:nvSpPr>
          <p:cNvPr id="4" name="Shape 2"/>
          <p:cNvSpPr/>
          <p:nvPr/>
        </p:nvSpPr>
        <p:spPr>
          <a:xfrm>
            <a:off x="1463040" y="2194560"/>
            <a:ext cx="9265615" cy="1737360"/>
          </a:xfrm>
          <a:prstGeom prst="roundRect">
            <a:avLst>
              <a:gd name="adj" fmla="val 4211"/>
            </a:avLst>
          </a:prstGeom>
          <a:solidFill>
            <a:srgbClr val="FFFFFF"/>
          </a:solidFill>
          <a:ln w="15875">
            <a:solidFill>
              <a:srgbClr val="1E8E52"/>
            </a:solidFill>
            <a:prstDash val="solid"/>
          </a:ln>
        </p:spPr>
      </p:sp>
      <p:sp>
        <p:nvSpPr>
          <p:cNvPr id="5" name="Text 3"/>
          <p:cNvSpPr/>
          <p:nvPr/>
        </p:nvSpPr>
        <p:spPr>
          <a:xfrm>
            <a:off x="1737360" y="2286000"/>
            <a:ext cx="8716975" cy="1554480"/>
          </a:xfrm>
          <a:prstGeom prst="rect">
            <a:avLst/>
          </a:prstGeom>
          <a:noFill/>
          <a:ln/>
        </p:spPr>
        <p:txBody>
          <a:bodyPr wrap="square" lIns="0" tIns="0" rIns="0" bIns="0" rtlCol="0" anchor="ctr"/>
          <a:lstStyle/>
          <a:p>
            <a:pPr algn="ctr" indent="0" marL="0">
              <a:buNone/>
            </a:pPr>
            <a:r>
              <a:rPr lang="en-US" sz="2600" b="1" dirty="0">
                <a:solidFill>
                  <a:srgbClr val="1E8E52"/>
                </a:solidFill>
                <a:latin typeface="Calibri" pitchFamily="34" charset="0"/>
                <a:ea typeface="Calibri" pitchFamily="34" charset="-122"/>
                <a:cs typeface="Calibri" pitchFamily="34" charset="-120"/>
              </a:rPr>
              <a:t>Today's revision check: </a:t>
            </a:r>
            <a:pPr algn="ctr" indent="0" marL="0">
              <a:buNone/>
            </a:pPr>
            <a:r>
              <a:rPr lang="en-US" sz="2600" dirty="0">
                <a:solidFill>
                  <a:srgbClr val="1E293B"/>
                </a:solidFill>
                <a:latin typeface="Calibri" pitchFamily="34" charset="0"/>
                <a:ea typeface="Calibri" pitchFamily="34" charset="-122"/>
                <a:cs typeface="Calibri" pitchFamily="34" charset="-120"/>
              </a:rPr>
              <a:t>Is there a detail here I could cut because it doesn't support my point?</a:t>
            </a:r>
            <a:endParaRPr lang="en-US" sz="2600" dirty="0"/>
          </a:p>
        </p:txBody>
      </p:sp>
      <p:sp>
        <p:nvSpPr>
          <p:cNvPr id="6" name="Text 4"/>
          <p:cNvSpPr/>
          <p:nvPr/>
        </p:nvSpPr>
        <p:spPr>
          <a:xfrm>
            <a:off x="502920" y="4389120"/>
            <a:ext cx="11185855" cy="548640"/>
          </a:xfrm>
          <a:prstGeom prst="rect">
            <a:avLst/>
          </a:prstGeom>
          <a:noFill/>
          <a:ln/>
        </p:spPr>
        <p:txBody>
          <a:bodyPr wrap="square" lIns="0" tIns="0" rIns="0" bIns="0" rtlCol="0" anchor="ctr"/>
          <a:lstStyle/>
          <a:p>
            <a:pPr algn="ctr" indent="0" marL="0">
              <a:buNone/>
            </a:pPr>
            <a:r>
              <a:rPr lang="en-US" sz="2000" i="1" dirty="0">
                <a:solidFill>
                  <a:srgbClr val="475569"/>
                </a:solidFill>
                <a:latin typeface="Calibri" pitchFamily="34" charset="0"/>
                <a:ea typeface="Calibri" pitchFamily="34" charset="-122"/>
                <a:cs typeface="Calibri" pitchFamily="34" charset="-120"/>
              </a:rPr>
              <a:t>Revision = improving ideas.   Editing = fixing conventions.   Pick ONE thing.</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502920" y="548640"/>
            <a:ext cx="11185855" cy="731520"/>
          </a:xfrm>
          <a:prstGeom prst="rect">
            <a:avLst/>
          </a:prstGeom>
          <a:noFill/>
          <a:ln/>
        </p:spPr>
        <p:txBody>
          <a:bodyPr wrap="square" lIns="0" tIns="0" rIns="0" bIns="0" rtlCol="0" anchor="ctr"/>
          <a:lstStyle/>
          <a:p>
            <a:pPr algn="ctr" indent="0" marL="0">
              <a:buNone/>
            </a:pPr>
            <a:r>
              <a:rPr lang="en-US" sz="3600" b="1" dirty="0">
                <a:solidFill>
                  <a:srgbClr val="0E1C42"/>
                </a:solidFill>
                <a:latin typeface="Calibri" pitchFamily="34" charset="0"/>
                <a:ea typeface="Calibri" pitchFamily="34" charset="-122"/>
                <a:cs typeface="Calibri" pitchFamily="34" charset="-120"/>
              </a:rPr>
              <a:t>🗣️  Share Time</a:t>
            </a:r>
            <a:endParaRPr lang="en-US" sz="3600" dirty="0"/>
          </a:p>
        </p:txBody>
      </p:sp>
      <p:sp>
        <p:nvSpPr>
          <p:cNvPr id="3" name="Text 1"/>
          <p:cNvSpPr/>
          <p:nvPr/>
        </p:nvSpPr>
        <p:spPr>
          <a:xfrm>
            <a:off x="502920" y="1280160"/>
            <a:ext cx="11185855" cy="457200"/>
          </a:xfrm>
          <a:prstGeom prst="rect">
            <a:avLst/>
          </a:prstGeom>
          <a:noFill/>
          <a:ln/>
        </p:spPr>
        <p:txBody>
          <a:bodyPr wrap="square" lIns="0" tIns="0" rIns="0" bIns="0" rtlCol="0" anchor="ctr"/>
          <a:lstStyle/>
          <a:p>
            <a:pPr algn="ctr" indent="0" marL="0">
              <a:buNone/>
            </a:pPr>
            <a:r>
              <a:rPr lang="en-US" sz="2200" dirty="0">
                <a:solidFill>
                  <a:srgbClr val="1B7FA0"/>
                </a:solidFill>
                <a:latin typeface="Calibri" pitchFamily="34" charset="0"/>
                <a:ea typeface="Calibri" pitchFamily="34" charset="-122"/>
                <a:cs typeface="Calibri" pitchFamily="34" charset="-120"/>
              </a:rPr>
              <a:t>3 minutes — let's hear your thinking!</a:t>
            </a:r>
            <a:endParaRPr lang="en-US" sz="2200" dirty="0"/>
          </a:p>
        </p:txBody>
      </p:sp>
      <p:sp>
        <p:nvSpPr>
          <p:cNvPr id="4" name="Shape 2"/>
          <p:cNvSpPr/>
          <p:nvPr/>
        </p:nvSpPr>
        <p:spPr>
          <a:xfrm>
            <a:off x="1828800" y="2194560"/>
            <a:ext cx="8534095" cy="2377440"/>
          </a:xfrm>
          <a:prstGeom prst="roundRect">
            <a:avLst>
              <a:gd name="adj" fmla="val 3077"/>
            </a:avLst>
          </a:prstGeom>
          <a:solidFill>
            <a:srgbClr val="FFFFFF"/>
          </a:solidFill>
          <a:ln w="15875">
            <a:solidFill>
              <a:srgbClr val="55C8E8"/>
            </a:solidFill>
            <a:prstDash val="solid"/>
          </a:ln>
        </p:spPr>
      </p:sp>
      <p:sp>
        <p:nvSpPr>
          <p:cNvPr id="5" name="Text 3"/>
          <p:cNvSpPr/>
          <p:nvPr/>
        </p:nvSpPr>
        <p:spPr>
          <a:xfrm>
            <a:off x="2103120" y="2331720"/>
            <a:ext cx="7985455" cy="2103120"/>
          </a:xfrm>
          <a:prstGeom prst="rect">
            <a:avLst/>
          </a:prstGeom>
          <a:noFill/>
          <a:ln/>
        </p:spPr>
        <p:txBody>
          <a:bodyPr wrap="square" lIns="0" tIns="0" rIns="0" bIns="0" rtlCol="0" anchor="ctr"/>
          <a:lstStyle/>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Raise your hand to share, or paste your writing in the chat.</a:t>
            </a:r>
            <a:endParaRPr lang="en-US" sz="2200" dirty="0"/>
          </a:p>
          <a:p>
            <a:pPr indent="0" marL="0">
              <a:spcAft>
                <a:spcPts val="1000"/>
              </a:spcAft>
              <a:buNone/>
            </a:pPr>
            <a:r>
              <a:rPr lang="en-US" sz="2200" dirty="0">
                <a:solidFill>
                  <a:srgbClr val="1E293B"/>
                </a:solidFill>
                <a:latin typeface="Calibri" pitchFamily="34" charset="0"/>
                <a:ea typeface="Calibri" pitchFamily="34" charset="-122"/>
                <a:cs typeface="Calibri" pitchFamily="34" charset="-120"/>
              </a:rPr>
              <a:t>If you disagree with a classmate’s choice, say so respectfully — and give your evidence. That is part of the thinking.</a:t>
            </a:r>
            <a:endParaRPr lang="en-US" sz="2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DEFINE · CARRY AND LEAD</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fer + duct/duce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In Chapter 17 Nat is ashore in Salem, explaining his new way of working lunars — using the moon to carry a position across thousands of miles of empty water, and to lead a ship home. Two Latin roots do exactly that work: fer = carry, and duct/duce = lead. Between them they build a surprising share of the words a scientist needs.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Two Roots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fer = carry → transfer (carry across), refer (carry back), ferry (a carrier), conference (carrying ideas together)</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duct / duce = lead → conduct (lead together), produce (lead forward), reduce (lead back), introduce (lead into)</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An aqueduct leads water. A conductor leads an orchestra — or leads electricity.</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To deduce is to lead an answer out of the evidence. That is exactly what Nat does with a bad table.</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DEFINE · CARRY AND LEAD</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fer + duct/duce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Watch the prefixes: the same ones you have collected all year — trans-, re-, con-, in-, pro-.</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DEFINE · CARRY AND LEAD</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fer + duct/duce</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085850"/>
          </a:xfrm>
          <a:prstGeom prst="roundRect">
            <a:avLst>
              <a:gd name="adj" fmla="val 6737"/>
            </a:avLst>
          </a:prstGeom>
          <a:solidFill>
            <a:srgbClr val="F8FAFC"/>
          </a:solidFill>
          <a:ln w="15875">
            <a:solidFill>
              <a:srgbClr val="CBD5E1"/>
            </a:solidFill>
            <a:prstDash val="solid"/>
          </a:ln>
        </p:spPr>
      </p:sp>
      <p:sp>
        <p:nvSpPr>
          <p:cNvPr id="9" name="Text 7"/>
          <p:cNvSpPr/>
          <p:nvPr/>
        </p:nvSpPr>
        <p:spPr>
          <a:xfrm>
            <a:off x="731520" y="155448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A lunar could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a position from the sky to a chart hundreds of miles from any land.</a:t>
            </a:r>
            <a:endParaRPr lang="en-US" sz="2200" dirty="0"/>
          </a:p>
        </p:txBody>
      </p:sp>
      <p:sp>
        <p:nvSpPr>
          <p:cNvPr id="10" name="Shape 8"/>
          <p:cNvSpPr/>
          <p:nvPr/>
        </p:nvSpPr>
        <p:spPr>
          <a:xfrm>
            <a:off x="502920" y="2777490"/>
            <a:ext cx="11185855" cy="1085850"/>
          </a:xfrm>
          <a:prstGeom prst="roundRect">
            <a:avLst>
              <a:gd name="adj" fmla="val 6737"/>
            </a:avLst>
          </a:prstGeom>
          <a:solidFill>
            <a:srgbClr val="F8FAFC"/>
          </a:solidFill>
          <a:ln w="15875">
            <a:solidFill>
              <a:srgbClr val="CBD5E1"/>
            </a:solidFill>
            <a:prstDash val="solid"/>
          </a:ln>
        </p:spPr>
      </p:sp>
      <p:sp>
        <p:nvSpPr>
          <p:cNvPr id="11" name="Text 9"/>
          <p:cNvSpPr/>
          <p:nvPr/>
        </p:nvSpPr>
        <p:spPr>
          <a:xfrm>
            <a:off x="731520" y="277749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Nat had to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the ship’s true location from figures nobody else trusted.</a:t>
            </a:r>
            <a:endParaRPr lang="en-US" sz="2200" dirty="0"/>
          </a:p>
        </p:txBody>
      </p:sp>
      <p:sp>
        <p:nvSpPr>
          <p:cNvPr id="12" name="Shape 10"/>
          <p:cNvSpPr/>
          <p:nvPr/>
        </p:nvSpPr>
        <p:spPr>
          <a:xfrm>
            <a:off x="502920" y="4000500"/>
            <a:ext cx="11185855" cy="1085850"/>
          </a:xfrm>
          <a:prstGeom prst="roundRect">
            <a:avLst>
              <a:gd name="adj" fmla="val 6737"/>
            </a:avLst>
          </a:prstGeom>
          <a:solidFill>
            <a:srgbClr val="F8FAFC"/>
          </a:solidFill>
          <a:ln w="15875">
            <a:solidFill>
              <a:srgbClr val="CBD5E1"/>
            </a:solidFill>
            <a:prstDash val="solid"/>
          </a:ln>
        </p:spPr>
      </p:sp>
      <p:sp>
        <p:nvSpPr>
          <p:cNvPr id="13" name="Text 11"/>
          <p:cNvSpPr/>
          <p:nvPr/>
        </p:nvSpPr>
        <p:spPr>
          <a:xfrm>
            <a:off x="731520" y="400050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His method would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ordinary sailors to mathematics they had been told was beyond them.</a:t>
            </a:r>
            <a:endParaRPr lang="en-US" sz="2200" dirty="0"/>
          </a:p>
        </p:txBody>
      </p:sp>
      <p:sp>
        <p:nvSpPr>
          <p:cNvPr id="14" name="Shape 12"/>
          <p:cNvSpPr/>
          <p:nvPr/>
        </p:nvSpPr>
        <p:spPr>
          <a:xfrm>
            <a:off x="502920" y="5223510"/>
            <a:ext cx="11185855" cy="1085850"/>
          </a:xfrm>
          <a:prstGeom prst="roundRect">
            <a:avLst>
              <a:gd name="adj" fmla="val 6737"/>
            </a:avLst>
          </a:prstGeom>
          <a:solidFill>
            <a:srgbClr val="F8FAFC"/>
          </a:solidFill>
          <a:ln w="15875">
            <a:solidFill>
              <a:srgbClr val="CBD5E1"/>
            </a:solidFill>
            <a:prstDash val="solid"/>
          </a:ln>
        </p:spPr>
      </p:sp>
      <p:sp>
        <p:nvSpPr>
          <p:cNvPr id="15" name="Text 13"/>
          <p:cNvSpPr/>
          <p:nvPr/>
        </p:nvSpPr>
        <p:spPr>
          <a:xfrm>
            <a:off x="731520" y="522351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r>
              <a:rPr lang="en-US" sz="2200" dirty="0">
                <a:solidFill>
                  <a:srgbClr val="1E293B"/>
                </a:solidFill>
                <a:latin typeface="Calibri" pitchFamily="34" charset="0"/>
                <a:ea typeface="Calibri" pitchFamily="34" charset="-122"/>
                <a:cs typeface="Calibri" pitchFamily="34" charset="-120"/>
              </a:rPr>
              <a:t>The captain asked him to </a:t>
            </a:r>
            <a:pPr indent="0" marL="0">
              <a:buNone/>
            </a:pPr>
            <a:r>
              <a:rPr lang="en-US" sz="2200" b="1" dirty="0">
                <a:solidFill>
                  <a:srgbClr val="0E1C42"/>
                </a:solidFill>
                <a:latin typeface="Calibri" pitchFamily="34" charset="0"/>
                <a:ea typeface="Calibri" pitchFamily="34" charset="-122"/>
                <a:cs typeface="Calibri" pitchFamily="34" charset="-120"/>
              </a:rPr>
              <a:t>_______</a:t>
            </a:r>
            <a:pPr indent="0" marL="0">
              <a:buNone/>
            </a:pPr>
            <a:r>
              <a:rPr lang="en-US" sz="2200" dirty="0">
                <a:solidFill>
                  <a:srgbClr val="1E293B"/>
                </a:solidFill>
                <a:latin typeface="Calibri" pitchFamily="34" charset="0"/>
                <a:ea typeface="Calibri" pitchFamily="34" charset="-122"/>
                <a:cs typeface="Calibri" pitchFamily="34" charset="-120"/>
              </a:rPr>
              <a:t> the reckoning himself.</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DEFINE · CARRY AND LEAD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Morphology: Roots fer + duct/duce</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085850"/>
          </a:xfrm>
          <a:prstGeom prst="roundRect">
            <a:avLst>
              <a:gd name="adj" fmla="val 6737"/>
            </a:avLst>
          </a:prstGeom>
          <a:solidFill>
            <a:srgbClr val="E8F8EF"/>
          </a:solidFill>
          <a:ln w="15875">
            <a:solidFill>
              <a:srgbClr val="9ED9B5"/>
            </a:solidFill>
            <a:prstDash val="solid"/>
          </a:ln>
        </p:spPr>
      </p:sp>
      <p:sp>
        <p:nvSpPr>
          <p:cNvPr id="9" name="Text 7"/>
          <p:cNvSpPr/>
          <p:nvPr/>
        </p:nvSpPr>
        <p:spPr>
          <a:xfrm>
            <a:off x="731520" y="155448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1.  </a:t>
            </a:r>
            <a:pPr indent="0" marL="0">
              <a:buNone/>
            </a:pPr>
            <a:r>
              <a:rPr lang="en-US" sz="2200" dirty="0">
                <a:solidFill>
                  <a:srgbClr val="1E293B"/>
                </a:solidFill>
                <a:latin typeface="Calibri" pitchFamily="34" charset="0"/>
                <a:ea typeface="Calibri" pitchFamily="34" charset="-122"/>
                <a:cs typeface="Calibri" pitchFamily="34" charset="-120"/>
              </a:rPr>
              <a:t>A lunar could </a:t>
            </a:r>
            <a:pPr indent="0" marL="0">
              <a:buNone/>
            </a:pPr>
            <a:r>
              <a:rPr lang="en-US" sz="2200" b="1" dirty="0">
                <a:solidFill>
                  <a:srgbClr val="1E8E52"/>
                </a:solidFill>
                <a:latin typeface="Calibri" pitchFamily="34" charset="0"/>
                <a:ea typeface="Calibri" pitchFamily="34" charset="-122"/>
                <a:cs typeface="Calibri" pitchFamily="34" charset="-120"/>
              </a:rPr>
              <a:t>transfer</a:t>
            </a:r>
            <a:pPr indent="0" marL="0">
              <a:buNone/>
            </a:pPr>
            <a:r>
              <a:rPr lang="en-US" sz="2200" dirty="0">
                <a:solidFill>
                  <a:srgbClr val="1E293B"/>
                </a:solidFill>
                <a:latin typeface="Calibri" pitchFamily="34" charset="0"/>
                <a:ea typeface="Calibri" pitchFamily="34" charset="-122"/>
                <a:cs typeface="Calibri" pitchFamily="34" charset="-120"/>
              </a:rPr>
              <a:t> a position from the sky to a chart hundreds of miles from any land.</a:t>
            </a:r>
            <a:endParaRPr lang="en-US" sz="2200" dirty="0"/>
          </a:p>
        </p:txBody>
      </p:sp>
      <p:sp>
        <p:nvSpPr>
          <p:cNvPr id="10" name="Shape 8"/>
          <p:cNvSpPr/>
          <p:nvPr/>
        </p:nvSpPr>
        <p:spPr>
          <a:xfrm>
            <a:off x="502920" y="2777490"/>
            <a:ext cx="11185855" cy="1085850"/>
          </a:xfrm>
          <a:prstGeom prst="roundRect">
            <a:avLst>
              <a:gd name="adj" fmla="val 6737"/>
            </a:avLst>
          </a:prstGeom>
          <a:solidFill>
            <a:srgbClr val="E8F8EF"/>
          </a:solidFill>
          <a:ln w="15875">
            <a:solidFill>
              <a:srgbClr val="9ED9B5"/>
            </a:solidFill>
            <a:prstDash val="solid"/>
          </a:ln>
        </p:spPr>
      </p:sp>
      <p:sp>
        <p:nvSpPr>
          <p:cNvPr id="11" name="Text 9"/>
          <p:cNvSpPr/>
          <p:nvPr/>
        </p:nvSpPr>
        <p:spPr>
          <a:xfrm>
            <a:off x="731520" y="277749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2.  </a:t>
            </a:r>
            <a:pPr indent="0" marL="0">
              <a:buNone/>
            </a:pPr>
            <a:r>
              <a:rPr lang="en-US" sz="2200" dirty="0">
                <a:solidFill>
                  <a:srgbClr val="1E293B"/>
                </a:solidFill>
                <a:latin typeface="Calibri" pitchFamily="34" charset="0"/>
                <a:ea typeface="Calibri" pitchFamily="34" charset="-122"/>
                <a:cs typeface="Calibri" pitchFamily="34" charset="-120"/>
              </a:rPr>
              <a:t>Nat had to </a:t>
            </a:r>
            <a:pPr indent="0" marL="0">
              <a:buNone/>
            </a:pPr>
            <a:r>
              <a:rPr lang="en-US" sz="2200" b="1" dirty="0">
                <a:solidFill>
                  <a:srgbClr val="1E8E52"/>
                </a:solidFill>
                <a:latin typeface="Calibri" pitchFamily="34" charset="0"/>
                <a:ea typeface="Calibri" pitchFamily="34" charset="-122"/>
                <a:cs typeface="Calibri" pitchFamily="34" charset="-120"/>
              </a:rPr>
              <a:t>deduce</a:t>
            </a:r>
            <a:pPr indent="0" marL="0">
              <a:buNone/>
            </a:pPr>
            <a:r>
              <a:rPr lang="en-US" sz="2200" dirty="0">
                <a:solidFill>
                  <a:srgbClr val="1E293B"/>
                </a:solidFill>
                <a:latin typeface="Calibri" pitchFamily="34" charset="0"/>
                <a:ea typeface="Calibri" pitchFamily="34" charset="-122"/>
                <a:cs typeface="Calibri" pitchFamily="34" charset="-120"/>
              </a:rPr>
              <a:t> the ship’s true location from figures nobody else trusted.</a:t>
            </a:r>
            <a:endParaRPr lang="en-US" sz="2200" dirty="0"/>
          </a:p>
        </p:txBody>
      </p:sp>
      <p:sp>
        <p:nvSpPr>
          <p:cNvPr id="12" name="Shape 10"/>
          <p:cNvSpPr/>
          <p:nvPr/>
        </p:nvSpPr>
        <p:spPr>
          <a:xfrm>
            <a:off x="502920" y="4000500"/>
            <a:ext cx="11185855" cy="1085850"/>
          </a:xfrm>
          <a:prstGeom prst="roundRect">
            <a:avLst>
              <a:gd name="adj" fmla="val 6737"/>
            </a:avLst>
          </a:prstGeom>
          <a:solidFill>
            <a:srgbClr val="E8F8EF"/>
          </a:solidFill>
          <a:ln w="15875">
            <a:solidFill>
              <a:srgbClr val="9ED9B5"/>
            </a:solidFill>
            <a:prstDash val="solid"/>
          </a:ln>
        </p:spPr>
      </p:sp>
      <p:sp>
        <p:nvSpPr>
          <p:cNvPr id="13" name="Text 11"/>
          <p:cNvSpPr/>
          <p:nvPr/>
        </p:nvSpPr>
        <p:spPr>
          <a:xfrm>
            <a:off x="731520" y="400050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3.  </a:t>
            </a:r>
            <a:pPr indent="0" marL="0">
              <a:buNone/>
            </a:pPr>
            <a:r>
              <a:rPr lang="en-US" sz="2200" dirty="0">
                <a:solidFill>
                  <a:srgbClr val="1E293B"/>
                </a:solidFill>
                <a:latin typeface="Calibri" pitchFamily="34" charset="0"/>
                <a:ea typeface="Calibri" pitchFamily="34" charset="-122"/>
                <a:cs typeface="Calibri" pitchFamily="34" charset="-120"/>
              </a:rPr>
              <a:t>His method would </a:t>
            </a:r>
            <a:pPr indent="0" marL="0">
              <a:buNone/>
            </a:pPr>
            <a:r>
              <a:rPr lang="en-US" sz="2200" b="1" dirty="0">
                <a:solidFill>
                  <a:srgbClr val="1E8E52"/>
                </a:solidFill>
                <a:latin typeface="Calibri" pitchFamily="34" charset="0"/>
                <a:ea typeface="Calibri" pitchFamily="34" charset="-122"/>
                <a:cs typeface="Calibri" pitchFamily="34" charset="-120"/>
              </a:rPr>
              <a:t>introduce</a:t>
            </a:r>
            <a:pPr indent="0" marL="0">
              <a:buNone/>
            </a:pPr>
            <a:r>
              <a:rPr lang="en-US" sz="2200" dirty="0">
                <a:solidFill>
                  <a:srgbClr val="1E293B"/>
                </a:solidFill>
                <a:latin typeface="Calibri" pitchFamily="34" charset="0"/>
                <a:ea typeface="Calibri" pitchFamily="34" charset="-122"/>
                <a:cs typeface="Calibri" pitchFamily="34" charset="-120"/>
              </a:rPr>
              <a:t> ordinary sailors to mathematics they had been told was beyond them.</a:t>
            </a:r>
            <a:endParaRPr lang="en-US" sz="2200" dirty="0"/>
          </a:p>
        </p:txBody>
      </p:sp>
      <p:sp>
        <p:nvSpPr>
          <p:cNvPr id="14" name="Shape 12"/>
          <p:cNvSpPr/>
          <p:nvPr/>
        </p:nvSpPr>
        <p:spPr>
          <a:xfrm>
            <a:off x="502920" y="5223510"/>
            <a:ext cx="11185855" cy="1085850"/>
          </a:xfrm>
          <a:prstGeom prst="roundRect">
            <a:avLst>
              <a:gd name="adj" fmla="val 6737"/>
            </a:avLst>
          </a:prstGeom>
          <a:solidFill>
            <a:srgbClr val="E8F8EF"/>
          </a:solidFill>
          <a:ln w="15875">
            <a:solidFill>
              <a:srgbClr val="9ED9B5"/>
            </a:solidFill>
            <a:prstDash val="solid"/>
          </a:ln>
        </p:spPr>
      </p:sp>
      <p:sp>
        <p:nvSpPr>
          <p:cNvPr id="15" name="Text 13"/>
          <p:cNvSpPr/>
          <p:nvPr/>
        </p:nvSpPr>
        <p:spPr>
          <a:xfrm>
            <a:off x="731520" y="5223510"/>
            <a:ext cx="10728655" cy="1085850"/>
          </a:xfrm>
          <a:prstGeom prst="rect">
            <a:avLst/>
          </a:prstGeom>
          <a:noFill/>
          <a:ln/>
        </p:spPr>
        <p:txBody>
          <a:bodyPr wrap="square" lIns="0" tIns="0" rIns="0" bIns="0" rtlCol="0" anchor="ctr">
            <a:normAutofit/>
          </a:bodyPr>
          <a:lstStyle/>
          <a:p>
            <a:pPr indent="0" marL="0">
              <a:buNone/>
            </a:pPr>
            <a:r>
              <a:rPr lang="en-US" sz="2200" b="1" dirty="0">
                <a:solidFill>
                  <a:srgbClr val="475569"/>
                </a:solidFill>
                <a:latin typeface="Calibri" pitchFamily="34" charset="0"/>
                <a:ea typeface="Calibri" pitchFamily="34" charset="-122"/>
                <a:cs typeface="Calibri" pitchFamily="34" charset="-120"/>
              </a:rPr>
              <a:t>4.  </a:t>
            </a:r>
            <a:pPr indent="0" marL="0">
              <a:buNone/>
            </a:pPr>
            <a:r>
              <a:rPr lang="en-US" sz="2200" dirty="0">
                <a:solidFill>
                  <a:srgbClr val="1E293B"/>
                </a:solidFill>
                <a:latin typeface="Calibri" pitchFamily="34" charset="0"/>
                <a:ea typeface="Calibri" pitchFamily="34" charset="-122"/>
                <a:cs typeface="Calibri" pitchFamily="34" charset="-120"/>
              </a:rPr>
              <a:t>The captain asked him to </a:t>
            </a:r>
            <a:pPr indent="0" marL="0">
              <a:buNone/>
            </a:pPr>
            <a:r>
              <a:rPr lang="en-US" sz="2200" b="1" dirty="0">
                <a:solidFill>
                  <a:srgbClr val="1E8E52"/>
                </a:solidFill>
                <a:latin typeface="Calibri" pitchFamily="34" charset="0"/>
                <a:ea typeface="Calibri" pitchFamily="34" charset="-122"/>
                <a:cs typeface="Calibri" pitchFamily="34" charset="-120"/>
              </a:rPr>
              <a:t>conduct</a:t>
            </a:r>
            <a:pPr indent="0" marL="0">
              <a:buNone/>
            </a:pPr>
            <a:r>
              <a:rPr lang="en-US" sz="2200" dirty="0">
                <a:solidFill>
                  <a:srgbClr val="1E293B"/>
                </a:solidFill>
                <a:latin typeface="Calibri" pitchFamily="34" charset="0"/>
                <a:ea typeface="Calibri" pitchFamily="34" charset="-122"/>
                <a:cs typeface="Calibri" pitchFamily="34" charset="-120"/>
              </a:rPr>
              <a:t> the reckoning himself.</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GRADED TODAY</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 Show What You Know · Morphology</a:t>
            </a:r>
            <a:endParaRPr lang="en-US" sz="3000" dirty="0"/>
          </a:p>
        </p:txBody>
      </p:sp>
      <p:sp>
        <p:nvSpPr>
          <p:cNvPr id="5" name="Shape 3"/>
          <p:cNvSpPr/>
          <p:nvPr/>
        </p:nvSpPr>
        <p:spPr>
          <a:xfrm>
            <a:off x="9402775" y="384048"/>
            <a:ext cx="2286000" cy="457200"/>
          </a:xfrm>
          <a:prstGeom prst="roundRect">
            <a:avLst>
              <a:gd name="adj" fmla="val 24000"/>
            </a:avLst>
          </a:prstGeom>
          <a:solidFill>
            <a:srgbClr val="C7922C"/>
          </a:solidFill>
          <a:ln w="12700">
            <a:solidFill>
              <a:srgbClr val="C7922C"/>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SWYK</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4892040"/>
          </a:xfrm>
          <a:prstGeom prst="roundRect">
            <a:avLst>
              <a:gd name="adj" fmla="val 1495"/>
            </a:avLst>
          </a:prstGeom>
          <a:solidFill>
            <a:srgbClr val="FEF6E8"/>
          </a:solidFill>
          <a:ln w="15875">
            <a:solidFill>
              <a:srgbClr val="C7922C"/>
            </a:solidFill>
            <a:prstDash val="solid"/>
          </a:ln>
        </p:spPr>
      </p:sp>
      <p:sp>
        <p:nvSpPr>
          <p:cNvPr id="9" name="Text 7"/>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Explain the difference between fer and duct/duce, then say what is being carried or led in each of these: transfer, conduct, conference, deduce.</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What to write: Name what each root means, then say exactly what moves — and how — in all four words.</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SIX WORDS FOR THIS WEEK</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Decode &amp; Discover</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 3-Step Decode: intersect</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Step 1 — Context: Two roads intersect at the crossroads. The spot where they cross is the one point that belongs to both roads, so it is easy to find on a map.</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Step 2 — Word Parts: Inter- (between) + sect (cut, from Latin secare). To intersect is to cut between — to cross each other.</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Step 3 — Confirm: Intersect means to cross at a point; to meet and cross. Two lines intersect at exactly one point unless they are parallel.</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SIX WORDS FOR THIS WEEK</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Vocabulary: Decode &amp; Discover</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3606698" cy="2354580"/>
          </a:xfrm>
          <a:prstGeom prst="roundRect">
            <a:avLst>
              <a:gd name="adj" fmla="val 3107"/>
            </a:avLst>
          </a:prstGeom>
          <a:solidFill>
            <a:srgbClr val="E5F7FC"/>
          </a:solidFill>
          <a:ln w="15875">
            <a:solidFill>
              <a:srgbClr val="A6DDEE"/>
            </a:solidFill>
            <a:prstDash val="solid"/>
          </a:ln>
        </p:spPr>
      </p:sp>
      <p:sp>
        <p:nvSpPr>
          <p:cNvPr id="7" name="Text 5"/>
          <p:cNvSpPr/>
          <p:nvPr/>
        </p:nvSpPr>
        <p:spPr>
          <a:xfrm>
            <a:off x="685800" y="1627632"/>
            <a:ext cx="3240938" cy="2208276"/>
          </a:xfrm>
          <a:prstGeom prst="rect">
            <a:avLst/>
          </a:prstGeom>
          <a:noFill/>
          <a:ln/>
        </p:spPr>
        <p:txBody>
          <a:bodyPr wrap="square" lIns="0" tIns="0" rIns="0" bIns="0" rtlCol="0" anchor="ctr">
            <a:normAutofit/>
          </a:bodyPr>
          <a:lstStyle/>
          <a:p>
            <a:pPr indent="0" marL="0">
              <a:buNone/>
            </a:pPr>
            <a:r>
              <a:rPr lang="en-US" sz="2400" b="1" dirty="0">
                <a:solidFill>
                  <a:srgbClr val="1B7FA0"/>
                </a:solidFill>
                <a:latin typeface="Calibri" pitchFamily="34" charset="0"/>
                <a:ea typeface="Calibri" pitchFamily="34" charset="-122"/>
                <a:cs typeface="Calibri" pitchFamily="34" charset="-120"/>
              </a:rPr>
              <a:t>translate</a:t>
            </a:r>
            <a:endParaRPr lang="en-US" sz="2400" dirty="0"/>
          </a:p>
          <a:p>
            <a:pPr indent="0" marL="0">
              <a:buNone/>
            </a:pPr>
            <a:r>
              <a:rPr lang="en-US" sz="1800" dirty="0">
                <a:solidFill>
                  <a:srgbClr val="1E293B"/>
                </a:solidFill>
                <a:latin typeface="Calibri" pitchFamily="34" charset="0"/>
                <a:ea typeface="Calibri" pitchFamily="34" charset="-122"/>
                <a:cs typeface="Calibri" pitchFamily="34" charset="-120"/>
              </a:rPr>
              <a:t>To carry meaning across a barrier — across languages, across difficulty levels, across disciplines. From Latin trans (across) + latus (carried). Nat translated mathematical complexity into practical accessibility.</a:t>
            </a:r>
            <a:endParaRPr lang="en-US" sz="2400" dirty="0"/>
          </a:p>
          <a:p>
            <a:pPr indent="0" marL="0">
              <a:buNone/>
            </a:pPr>
            <a:r>
              <a:rPr lang="en-US" sz="1600" i="1" dirty="0">
                <a:solidFill>
                  <a:srgbClr val="475569"/>
                </a:solidFill>
                <a:latin typeface="Calibri" pitchFamily="34" charset="0"/>
                <a:ea typeface="Calibri" pitchFamily="34" charset="-122"/>
                <a:cs typeface="Calibri" pitchFamily="34" charset="-120"/>
              </a:rPr>
              <a:t>Nat worked to translate complex lunar-distance mathematics into simple steps that any sailor could follow — carrying the meaning across the barrier of difficulty.</a:t>
            </a:r>
            <a:endParaRPr lang="en-US" sz="2400" dirty="0"/>
          </a:p>
        </p:txBody>
      </p:sp>
      <p:sp>
        <p:nvSpPr>
          <p:cNvPr id="8" name="Shape 6"/>
          <p:cNvSpPr/>
          <p:nvPr/>
        </p:nvSpPr>
        <p:spPr>
          <a:xfrm>
            <a:off x="4292498" y="1554480"/>
            <a:ext cx="3606698" cy="2354580"/>
          </a:xfrm>
          <a:prstGeom prst="roundRect">
            <a:avLst>
              <a:gd name="adj" fmla="val 3107"/>
            </a:avLst>
          </a:prstGeom>
          <a:solidFill>
            <a:srgbClr val="E5F7FC"/>
          </a:solidFill>
          <a:ln w="15875">
            <a:solidFill>
              <a:srgbClr val="A6DDEE"/>
            </a:solidFill>
            <a:prstDash val="solid"/>
          </a:ln>
        </p:spPr>
      </p:sp>
      <p:sp>
        <p:nvSpPr>
          <p:cNvPr id="9" name="Text 7"/>
          <p:cNvSpPr/>
          <p:nvPr/>
        </p:nvSpPr>
        <p:spPr>
          <a:xfrm>
            <a:off x="4475378" y="1627632"/>
            <a:ext cx="3240938" cy="2208276"/>
          </a:xfrm>
          <a:prstGeom prst="rect">
            <a:avLst/>
          </a:prstGeom>
          <a:noFill/>
          <a:ln/>
        </p:spPr>
        <p:txBody>
          <a:bodyPr wrap="square" lIns="0" tIns="0" rIns="0" bIns="0" rtlCol="0" anchor="ctr">
            <a:normAutofit/>
          </a:bodyPr>
          <a:lstStyle/>
          <a:p>
            <a:pPr indent="0" marL="0">
              <a:buNone/>
            </a:pPr>
            <a:r>
              <a:rPr lang="en-US" sz="2400" b="1" dirty="0">
                <a:solidFill>
                  <a:srgbClr val="1B7FA0"/>
                </a:solidFill>
                <a:latin typeface="Calibri" pitchFamily="34" charset="0"/>
                <a:ea typeface="Calibri" pitchFamily="34" charset="-122"/>
                <a:cs typeface="Calibri" pitchFamily="34" charset="-120"/>
              </a:rPr>
              <a:t>intersect</a:t>
            </a:r>
            <a:endParaRPr lang="en-US" sz="2400" dirty="0"/>
          </a:p>
          <a:p>
            <a:pPr indent="0" marL="0">
              <a:buNone/>
            </a:pPr>
            <a:r>
              <a:rPr lang="en-US" sz="1800" dirty="0">
                <a:solidFill>
                  <a:srgbClr val="1E293B"/>
                </a:solidFill>
                <a:latin typeface="Calibri" pitchFamily="34" charset="0"/>
                <a:ea typeface="Calibri" pitchFamily="34" charset="-122"/>
                <a:cs typeface="Calibri" pitchFamily="34" charset="-120"/>
              </a:rPr>
              <a:t>To cut across and meet at a point. From inter- (between) + Latin secare (to cut). In geometry and navigation, two lines intersect at one precise location.</a:t>
            </a:r>
            <a:endParaRPr lang="en-US" sz="2400" dirty="0"/>
          </a:p>
          <a:p>
            <a:pPr indent="0" marL="0">
              <a:buNone/>
            </a:pPr>
            <a:r>
              <a:rPr lang="en-US" sz="1600" i="1" dirty="0">
                <a:solidFill>
                  <a:srgbClr val="475569"/>
                </a:solidFill>
                <a:latin typeface="Calibri" pitchFamily="34" charset="0"/>
                <a:ea typeface="Calibri" pitchFamily="34" charset="-122"/>
                <a:cs typeface="Calibri" pitchFamily="34" charset="-120"/>
              </a:rPr>
              <a:t>Two roads intersect at the crossroads — and that one point is where you will find the old general store.</a:t>
            </a:r>
            <a:endParaRPr lang="en-US" sz="2400" dirty="0"/>
          </a:p>
        </p:txBody>
      </p:sp>
      <p:sp>
        <p:nvSpPr>
          <p:cNvPr id="10" name="Shape 8"/>
          <p:cNvSpPr/>
          <p:nvPr/>
        </p:nvSpPr>
        <p:spPr>
          <a:xfrm>
            <a:off x="8082077" y="1554480"/>
            <a:ext cx="3606698" cy="2354580"/>
          </a:xfrm>
          <a:prstGeom prst="roundRect">
            <a:avLst>
              <a:gd name="adj" fmla="val 3107"/>
            </a:avLst>
          </a:prstGeom>
          <a:solidFill>
            <a:srgbClr val="E5F7FC"/>
          </a:solidFill>
          <a:ln w="15875">
            <a:solidFill>
              <a:srgbClr val="A6DDEE"/>
            </a:solidFill>
            <a:prstDash val="solid"/>
          </a:ln>
        </p:spPr>
      </p:sp>
      <p:sp>
        <p:nvSpPr>
          <p:cNvPr id="11" name="Text 9"/>
          <p:cNvSpPr/>
          <p:nvPr/>
        </p:nvSpPr>
        <p:spPr>
          <a:xfrm>
            <a:off x="8264957" y="1627632"/>
            <a:ext cx="3240938" cy="2208276"/>
          </a:xfrm>
          <a:prstGeom prst="rect">
            <a:avLst/>
          </a:prstGeom>
          <a:noFill/>
          <a:ln/>
        </p:spPr>
        <p:txBody>
          <a:bodyPr wrap="square" lIns="0" tIns="0" rIns="0" bIns="0" rtlCol="0" anchor="ctr">
            <a:normAutofit/>
          </a:bodyPr>
          <a:lstStyle/>
          <a:p>
            <a:pPr indent="0" marL="0">
              <a:buNone/>
            </a:pPr>
            <a:r>
              <a:rPr lang="en-US" sz="2400" b="1" dirty="0">
                <a:solidFill>
                  <a:srgbClr val="1B7FA0"/>
                </a:solidFill>
                <a:latin typeface="Calibri" pitchFamily="34" charset="0"/>
                <a:ea typeface="Calibri" pitchFamily="34" charset="-122"/>
                <a:cs typeface="Calibri" pitchFamily="34" charset="-120"/>
              </a:rPr>
              <a:t>submarine</a:t>
            </a:r>
            <a:endParaRPr lang="en-US" sz="2400" dirty="0"/>
          </a:p>
          <a:p>
            <a:pPr indent="0" marL="0">
              <a:buNone/>
            </a:pPr>
            <a:r>
              <a:rPr lang="en-US" sz="1800" dirty="0">
                <a:solidFill>
                  <a:srgbClr val="1E293B"/>
                </a:solidFill>
                <a:latin typeface="Calibri" pitchFamily="34" charset="0"/>
                <a:ea typeface="Calibri" pitchFamily="34" charset="-122"/>
                <a:cs typeface="Calibri" pitchFamily="34" charset="-120"/>
              </a:rPr>
              <a:t>Beneath the sea. From sub- (under) + Latin mare (sea). As an adjective: existing or operating under the sea. As a noun: a vessel that travels underwater.</a:t>
            </a:r>
            <a:endParaRPr lang="en-US" sz="2400" dirty="0"/>
          </a:p>
          <a:p>
            <a:pPr indent="0" marL="0">
              <a:buNone/>
            </a:pPr>
            <a:r>
              <a:rPr lang="en-US" sz="1600" i="1" dirty="0">
                <a:solidFill>
                  <a:srgbClr val="475569"/>
                </a:solidFill>
                <a:latin typeface="Calibri" pitchFamily="34" charset="0"/>
                <a:ea typeface="Calibri" pitchFamily="34" charset="-122"/>
                <a:cs typeface="Calibri" pitchFamily="34" charset="-120"/>
              </a:rPr>
              <a:t>A navigator must understand the submarine topography of a harbor — the ridges, shoals, and channels that lie beneath the surface of the water.</a:t>
            </a:r>
            <a:endParaRPr lang="en-US" sz="2400" dirty="0"/>
          </a:p>
        </p:txBody>
      </p:sp>
      <p:sp>
        <p:nvSpPr>
          <p:cNvPr id="12" name="Shape 10"/>
          <p:cNvSpPr/>
          <p:nvPr/>
        </p:nvSpPr>
        <p:spPr>
          <a:xfrm>
            <a:off x="502920" y="4091940"/>
            <a:ext cx="3606698" cy="2354580"/>
          </a:xfrm>
          <a:prstGeom prst="roundRect">
            <a:avLst>
              <a:gd name="adj" fmla="val 3107"/>
            </a:avLst>
          </a:prstGeom>
          <a:solidFill>
            <a:srgbClr val="E5F7FC"/>
          </a:solidFill>
          <a:ln w="15875">
            <a:solidFill>
              <a:srgbClr val="A6DDEE"/>
            </a:solidFill>
            <a:prstDash val="solid"/>
          </a:ln>
        </p:spPr>
      </p:sp>
      <p:sp>
        <p:nvSpPr>
          <p:cNvPr id="13" name="Text 11"/>
          <p:cNvSpPr/>
          <p:nvPr/>
        </p:nvSpPr>
        <p:spPr>
          <a:xfrm>
            <a:off x="685800" y="4165092"/>
            <a:ext cx="3240938" cy="2208276"/>
          </a:xfrm>
          <a:prstGeom prst="rect">
            <a:avLst/>
          </a:prstGeom>
          <a:noFill/>
          <a:ln/>
        </p:spPr>
        <p:txBody>
          <a:bodyPr wrap="square" lIns="0" tIns="0" rIns="0" bIns="0" rtlCol="0" anchor="ctr">
            <a:normAutofit/>
          </a:bodyPr>
          <a:lstStyle/>
          <a:p>
            <a:pPr indent="0" marL="0">
              <a:buNone/>
            </a:pPr>
            <a:r>
              <a:rPr lang="en-US" sz="2400" b="1" dirty="0">
                <a:solidFill>
                  <a:srgbClr val="1B7FA0"/>
                </a:solidFill>
                <a:latin typeface="Calibri" pitchFamily="34" charset="0"/>
                <a:ea typeface="Calibri" pitchFamily="34" charset="-122"/>
                <a:cs typeface="Calibri" pitchFamily="34" charset="-120"/>
              </a:rPr>
              <a:t>interval</a:t>
            </a:r>
            <a:endParaRPr lang="en-US" sz="2400" dirty="0"/>
          </a:p>
          <a:p>
            <a:pPr indent="0" marL="0">
              <a:buNone/>
            </a:pPr>
            <a:r>
              <a:rPr lang="en-US" sz="1800" dirty="0">
                <a:solidFill>
                  <a:srgbClr val="1E293B"/>
                </a:solidFill>
                <a:latin typeface="Calibri" pitchFamily="34" charset="0"/>
                <a:ea typeface="Calibri" pitchFamily="34" charset="-122"/>
                <a:cs typeface="Calibri" pitchFamily="34" charset="-120"/>
              </a:rPr>
              <a:t>A space of time or distance between two points. From inter- (between) + Latin vallum (wall). In navigation and music, an interval is a measured gap between two specific points.</a:t>
            </a:r>
            <a:endParaRPr lang="en-US" sz="2400" dirty="0"/>
          </a:p>
          <a:p>
            <a:pPr indent="0" marL="0">
              <a:buNone/>
            </a:pPr>
            <a:r>
              <a:rPr lang="en-US" sz="1600" i="1" dirty="0">
                <a:solidFill>
                  <a:srgbClr val="475569"/>
                </a:solidFill>
                <a:latin typeface="Calibri" pitchFamily="34" charset="0"/>
                <a:ea typeface="Calibri" pitchFamily="34" charset="-122"/>
                <a:cs typeface="Calibri" pitchFamily="34" charset="-120"/>
              </a:rPr>
              <a:t>The precise interval between two star observations — measured in seconds — determined the accuracy of the calculated position.</a:t>
            </a:r>
            <a:endParaRPr lang="en-US" sz="2400" dirty="0"/>
          </a:p>
        </p:txBody>
      </p:sp>
      <p:sp>
        <p:nvSpPr>
          <p:cNvPr id="14" name="Shape 12"/>
          <p:cNvSpPr/>
          <p:nvPr/>
        </p:nvSpPr>
        <p:spPr>
          <a:xfrm>
            <a:off x="4292498" y="4091940"/>
            <a:ext cx="3606698" cy="2354580"/>
          </a:xfrm>
          <a:prstGeom prst="roundRect">
            <a:avLst>
              <a:gd name="adj" fmla="val 3107"/>
            </a:avLst>
          </a:prstGeom>
          <a:solidFill>
            <a:srgbClr val="E5F7FC"/>
          </a:solidFill>
          <a:ln w="15875">
            <a:solidFill>
              <a:srgbClr val="A6DDEE"/>
            </a:solidFill>
            <a:prstDash val="solid"/>
          </a:ln>
        </p:spPr>
      </p:sp>
      <p:sp>
        <p:nvSpPr>
          <p:cNvPr id="15" name="Text 13"/>
          <p:cNvSpPr/>
          <p:nvPr/>
        </p:nvSpPr>
        <p:spPr>
          <a:xfrm>
            <a:off x="4475378" y="4165092"/>
            <a:ext cx="3240938" cy="2208276"/>
          </a:xfrm>
          <a:prstGeom prst="rect">
            <a:avLst/>
          </a:prstGeom>
          <a:noFill/>
          <a:ln/>
        </p:spPr>
        <p:txBody>
          <a:bodyPr wrap="square" lIns="0" tIns="0" rIns="0" bIns="0" rtlCol="0" anchor="ctr">
            <a:normAutofit/>
          </a:bodyPr>
          <a:lstStyle/>
          <a:p>
            <a:pPr indent="0" marL="0">
              <a:buNone/>
            </a:pPr>
            <a:r>
              <a:rPr lang="en-US" sz="2400" b="1" dirty="0">
                <a:solidFill>
                  <a:srgbClr val="1B7FA0"/>
                </a:solidFill>
                <a:latin typeface="Calibri" pitchFamily="34" charset="0"/>
                <a:ea typeface="Calibri" pitchFamily="34" charset="-122"/>
                <a:cs typeface="Calibri" pitchFamily="34" charset="-120"/>
              </a:rPr>
              <a:t>transfer</a:t>
            </a:r>
            <a:endParaRPr lang="en-US" sz="2400" dirty="0"/>
          </a:p>
          <a:p>
            <a:pPr indent="0" marL="0">
              <a:buNone/>
            </a:pPr>
            <a:r>
              <a:rPr lang="en-US" sz="1800" dirty="0">
                <a:solidFill>
                  <a:srgbClr val="1E293B"/>
                </a:solidFill>
                <a:latin typeface="Calibri" pitchFamily="34" charset="0"/>
                <a:ea typeface="Calibri" pitchFamily="34" charset="-122"/>
                <a:cs typeface="Calibri" pitchFamily="34" charset="-120"/>
              </a:rPr>
              <a:t>To carry across from one person, place, or condition to another. From trans- (across) + Latin ferre (to carry). When Nat teaches sailors, he transfers knowledge.</a:t>
            </a:r>
            <a:endParaRPr lang="en-US" sz="2400" dirty="0"/>
          </a:p>
          <a:p>
            <a:pPr indent="0" marL="0">
              <a:buNone/>
            </a:pPr>
            <a:r>
              <a:rPr lang="en-US" sz="1600" i="1" dirty="0">
                <a:solidFill>
                  <a:srgbClr val="475569"/>
                </a:solidFill>
                <a:latin typeface="Calibri" pitchFamily="34" charset="0"/>
                <a:ea typeface="Calibri" pitchFamily="34" charset="-122"/>
                <a:cs typeface="Calibri" pitchFamily="34" charset="-120"/>
              </a:rPr>
              <a:t>Nat wanted to transfer his navigation knowledge to every sailor — to carry it across from his notebooks into their hands and minds.</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DAY 1: NOTICE — WORK OUT THE PATTERN BEFORE YOU ARE TOLD IT.</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Compound &amp; Complex Sentences for Explanation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What do you notice?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Each sentence below is really more than one thought, joined together.</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Two Shapes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Compound</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Complex</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Punctuation: a dependent clause that comes first takes a comma. One that comes second usually does not: Ships were lost because the tables were wrong.</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The test: can each half stand alone as a sentence? Two yeses means compound. One yes and one no means complex.</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Think it through.</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DAY 1: NOTICE — WORK OUT THE PATTERN BEFORE YOU ARE TOLD IT.</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Compound &amp; Complex Sentences for Explanation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Where is the joint — which word or mark holds the halves together?</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Read each half on its own. Which ones could stand as sentences?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What would be lost if you wrote them as two short sentences instead?</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DAY 1: NOTICE — WORK OUT THE PATTERN BEFORE YOU ARE TOLD IT.</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Compound &amp; Complex Sentences for Explanation</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Which sentence is compound?</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Nat checked the tables, and he found several errors.</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Because Nat checked the tables, he found several errors.</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sentence is complex?</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The method was difficult, but the sailors learned it.</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Although the method was difficult, the sailors learned it.</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sentence is compound?</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When the fog closed in, the captain trusted the figures.</a:t>
            </a:r>
            <a:endParaRPr lang="en-US" sz="2000" dirty="0"/>
          </a:p>
          <a:p>
            <a:pPr indent="0" marL="0">
              <a:spcAft>
                <a:spcPts val="400"/>
              </a:spcAft>
              <a:buNone/>
            </a:pPr>
            <a:r>
              <a:rPr lang="en-US" sz="1900" dirty="0">
                <a:solidFill>
                  <a:srgbClr val="1E293B"/>
                </a:solidFill>
                <a:latin typeface="Calibri" pitchFamily="34" charset="0"/>
                <a:ea typeface="Calibri" pitchFamily="34" charset="-122"/>
                <a:cs typeface="Calibri" pitchFamily="34" charset="-120"/>
              </a:rPr>
              <a:t>◻ The fog closed in; the captain trusted the figures.</a:t>
            </a:r>
            <a:endParaRPr lang="en-US" sz="2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DAY 1: NOTICE — WORK OUT THE PATTERN BEFORE YOU ARE TOLD IT.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Grammar: Compound &amp; Complex Sentences for Explanation</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11185855" cy="1466088"/>
          </a:xfrm>
          <a:prstGeom prst="roundRect">
            <a:avLst>
              <a:gd name="adj" fmla="val 4990"/>
            </a:avLst>
          </a:prstGeom>
          <a:solidFill>
            <a:srgbClr val="F8FAFC"/>
          </a:solidFill>
          <a:ln w="15875">
            <a:solidFill>
              <a:srgbClr val="CBD5E1"/>
            </a:solidFill>
            <a:prstDash val="solid"/>
          </a:ln>
        </p:spPr>
      </p:sp>
      <p:sp>
        <p:nvSpPr>
          <p:cNvPr id="9" name="Text 7"/>
          <p:cNvSpPr/>
          <p:nvPr/>
        </p:nvSpPr>
        <p:spPr>
          <a:xfrm>
            <a:off x="731520" y="162763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1. Which sentence is compound?</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Nat checked the tables, and he found several errors.</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Because Nat checked the tables, he found several errors.</a:t>
            </a:r>
            <a:endParaRPr lang="en-US" sz="2000" dirty="0"/>
          </a:p>
        </p:txBody>
      </p:sp>
      <p:sp>
        <p:nvSpPr>
          <p:cNvPr id="10" name="Shape 8"/>
          <p:cNvSpPr/>
          <p:nvPr/>
        </p:nvSpPr>
        <p:spPr>
          <a:xfrm>
            <a:off x="502920" y="3185160"/>
            <a:ext cx="11185855" cy="1466088"/>
          </a:xfrm>
          <a:prstGeom prst="roundRect">
            <a:avLst>
              <a:gd name="adj" fmla="val 4990"/>
            </a:avLst>
          </a:prstGeom>
          <a:solidFill>
            <a:srgbClr val="F8FAFC"/>
          </a:solidFill>
          <a:ln w="15875">
            <a:solidFill>
              <a:srgbClr val="CBD5E1"/>
            </a:solidFill>
            <a:prstDash val="solid"/>
          </a:ln>
        </p:spPr>
      </p:sp>
      <p:sp>
        <p:nvSpPr>
          <p:cNvPr id="11" name="Text 9"/>
          <p:cNvSpPr/>
          <p:nvPr/>
        </p:nvSpPr>
        <p:spPr>
          <a:xfrm>
            <a:off x="731520" y="325831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2. Which sentence is complex?</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The method was difficult, but the sailors learned it.</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Although the method was difficult, the sailors learned it.</a:t>
            </a:r>
            <a:endParaRPr lang="en-US" sz="2000" dirty="0"/>
          </a:p>
        </p:txBody>
      </p:sp>
      <p:sp>
        <p:nvSpPr>
          <p:cNvPr id="12" name="Shape 10"/>
          <p:cNvSpPr/>
          <p:nvPr/>
        </p:nvSpPr>
        <p:spPr>
          <a:xfrm>
            <a:off x="502920" y="4815840"/>
            <a:ext cx="11185855" cy="1466088"/>
          </a:xfrm>
          <a:prstGeom prst="roundRect">
            <a:avLst>
              <a:gd name="adj" fmla="val 4990"/>
            </a:avLst>
          </a:prstGeom>
          <a:solidFill>
            <a:srgbClr val="F8FAFC"/>
          </a:solidFill>
          <a:ln w="15875">
            <a:solidFill>
              <a:srgbClr val="CBD5E1"/>
            </a:solidFill>
            <a:prstDash val="solid"/>
          </a:ln>
        </p:spPr>
      </p:sp>
      <p:sp>
        <p:nvSpPr>
          <p:cNvPr id="13" name="Text 11"/>
          <p:cNvSpPr/>
          <p:nvPr/>
        </p:nvSpPr>
        <p:spPr>
          <a:xfrm>
            <a:off x="731520" y="4888992"/>
            <a:ext cx="10728655" cy="1319784"/>
          </a:xfrm>
          <a:prstGeom prst="rect">
            <a:avLst/>
          </a:prstGeom>
          <a:noFill/>
          <a:ln/>
        </p:spPr>
        <p:txBody>
          <a:bodyPr wrap="square" lIns="0" tIns="0" rIns="0" bIns="0" rtlCol="0" anchor="ctr">
            <a:normAutofit/>
          </a:bodyPr>
          <a:lstStyle/>
          <a:p>
            <a:pPr indent="0" marL="0">
              <a:spcAft>
                <a:spcPts val="400"/>
              </a:spcAft>
              <a:buNone/>
            </a:pPr>
            <a:r>
              <a:rPr lang="en-US" sz="2000" b="1" dirty="0">
                <a:solidFill>
                  <a:srgbClr val="0E1C42"/>
                </a:solidFill>
                <a:latin typeface="Calibri" pitchFamily="34" charset="0"/>
                <a:ea typeface="Calibri" pitchFamily="34" charset="-122"/>
                <a:cs typeface="Calibri" pitchFamily="34" charset="-120"/>
              </a:rPr>
              <a:t>3. Which sentence is compound?</a:t>
            </a:r>
            <a:endParaRPr lang="en-US" sz="2000" dirty="0"/>
          </a:p>
          <a:p>
            <a:pPr indent="0" marL="0">
              <a:spcAft>
                <a:spcPts val="400"/>
              </a:spcAft>
              <a:buNone/>
            </a:pPr>
            <a:r>
              <a:rPr lang="en-US" sz="1900" dirty="0">
                <a:solidFill>
                  <a:srgbClr val="475569"/>
                </a:solidFill>
                <a:latin typeface="Calibri" pitchFamily="34" charset="0"/>
                <a:ea typeface="Calibri" pitchFamily="34" charset="-122"/>
                <a:cs typeface="Calibri" pitchFamily="34" charset="-120"/>
              </a:rPr>
              <a:t>◻ When the fog closed in, the captain trusted the figures.</a:t>
            </a:r>
            <a:endParaRPr lang="en-US" sz="2000" dirty="0"/>
          </a:p>
          <a:p>
            <a:pPr indent="0" marL="0">
              <a:spcAft>
                <a:spcPts val="400"/>
              </a:spcAft>
              <a:buNone/>
            </a:pPr>
            <a:r>
              <a:rPr lang="en-US" sz="1900" b="1" dirty="0">
                <a:solidFill>
                  <a:srgbClr val="1E8E52"/>
                </a:solidFill>
                <a:latin typeface="Calibri" pitchFamily="34" charset="0"/>
                <a:ea typeface="Calibri" pitchFamily="34" charset="-122"/>
                <a:cs typeface="Calibri" pitchFamily="34" charset="-120"/>
              </a:rPr>
              <a:t>✅ The fog closed in; the captain trusted the figures.</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DEFINE — ACROSS, UNDER, BETWEEN</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Prefixes trans-, sub-, inter-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Three prefixes, three directions, and none of them ever change their spelling. trans- = across. sub- = under. inter- = between. Attach any of them to a root and you get a word whose meaning you can work out before you have ever met it.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Three Prefixes</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trans- = across → transatlantic, transport, transfer, translate, transcribe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sub- = under → submarine, submerge, subtract, substitute</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inter- = between → international, intersect, interrupt, interval</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The spelling never changes. No dropped letters, no doubled consonants, no reshaping to match the root.</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Compare with in-, which becomes im-, il- or ir- depending on what follows. These three never do that.</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DEFINE — ACROSS, UNDER, BETWEEN</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Prefixes trans-, sub-, inter-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In your reading journal, split each word into its prefix and root, and give the direction the prefix adds: transport · submerge · interrupt · transatlantic · subtract · intersect. Write: [prefix] + [root] = [meaning].</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trans– = across. sub– = under. inter– = between.</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Sort each word by its prefix.</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DEFINE — ACROSS, UNDER, BETWEEN</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Prefixes trans-, sub-, inter-</a:t>
            </a:r>
            <a:endParaRPr lang="en-US" sz="3000" dirty="0"/>
          </a:p>
        </p:txBody>
      </p:sp>
      <p:sp>
        <p:nvSpPr>
          <p:cNvPr id="5" name="Shape 3"/>
          <p:cNvSpPr/>
          <p:nvPr/>
        </p:nvSpPr>
        <p:spPr>
          <a:xfrm>
            <a:off x="9402775" y="384048"/>
            <a:ext cx="2286000" cy="457200"/>
          </a:xfrm>
          <a:prstGeom prst="roundRect">
            <a:avLst>
              <a:gd name="adj" fmla="val 24000"/>
            </a:avLst>
          </a:prstGeom>
          <a:solidFill>
            <a:srgbClr val="55C8E8"/>
          </a:solidFill>
          <a:ln w="12700">
            <a:solidFill>
              <a:srgbClr val="55C8E8"/>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CHAT PROMPT</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Text 6"/>
          <p:cNvSpPr/>
          <p:nvPr/>
        </p:nvSpPr>
        <p:spPr>
          <a:xfrm>
            <a:off x="502920" y="15544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SORT THESE WORDS</a:t>
            </a:r>
            <a:endParaRPr lang="en-US" sz="1300" dirty="0"/>
          </a:p>
        </p:txBody>
      </p:sp>
      <p:sp>
        <p:nvSpPr>
          <p:cNvPr id="9" name="Shape 7"/>
          <p:cNvSpPr/>
          <p:nvPr/>
        </p:nvSpPr>
        <p:spPr>
          <a:xfrm>
            <a:off x="502920" y="1920240"/>
            <a:ext cx="11185855" cy="1463040"/>
          </a:xfrm>
          <a:prstGeom prst="roundRect">
            <a:avLst>
              <a:gd name="adj" fmla="val 5000"/>
            </a:avLst>
          </a:prstGeom>
          <a:solidFill>
            <a:srgbClr val="E5F7FC"/>
          </a:solidFill>
          <a:ln w="15875">
            <a:solidFill>
              <a:srgbClr val="A6DDEE"/>
            </a:solidFill>
            <a:prstDash val="solid"/>
          </a:ln>
        </p:spPr>
      </p:sp>
      <p:sp>
        <p:nvSpPr>
          <p:cNvPr id="10" name="Text 8"/>
          <p:cNvSpPr/>
          <p:nvPr/>
        </p:nvSpPr>
        <p:spPr>
          <a:xfrm>
            <a:off x="777240" y="1965960"/>
            <a:ext cx="10637215" cy="1371600"/>
          </a:xfrm>
          <a:prstGeom prst="rect">
            <a:avLst/>
          </a:prstGeom>
          <a:noFill/>
          <a:ln/>
        </p:spPr>
        <p:txBody>
          <a:bodyPr wrap="square" lIns="0" tIns="0" rIns="0" bIns="0" rtlCol="0" anchor="ctr"/>
          <a:lstStyle/>
          <a:p>
            <a:pPr algn="ctr" indent="0" marL="0">
              <a:buNone/>
            </a:pPr>
            <a:r>
              <a:rPr lang="en-US" sz="2600" b="1" dirty="0">
                <a:solidFill>
                  <a:srgbClr val="0E1C42"/>
                </a:solidFill>
                <a:latin typeface="Calibri" pitchFamily="34" charset="0"/>
                <a:ea typeface="Calibri" pitchFamily="34" charset="-122"/>
                <a:cs typeface="Calibri" pitchFamily="34" charset="-120"/>
              </a:rPr>
              <a:t>transport     ·     translate     ·     submarine     ·     subtract     ·     interrupt     ·     international</a:t>
            </a:r>
            <a:endParaRPr lang="en-US" sz="2600" dirty="0"/>
          </a:p>
        </p:txBody>
      </p:sp>
      <p:sp>
        <p:nvSpPr>
          <p:cNvPr id="11" name="Text 9"/>
          <p:cNvSpPr/>
          <p:nvPr/>
        </p:nvSpPr>
        <p:spPr>
          <a:xfrm>
            <a:off x="502920" y="3611880"/>
            <a:ext cx="5486400" cy="292608"/>
          </a:xfrm>
          <a:prstGeom prst="rect">
            <a:avLst/>
          </a:prstGeom>
          <a:noFill/>
          <a:ln/>
        </p:spPr>
        <p:txBody>
          <a:bodyPr wrap="square" lIns="0" tIns="0" rIns="0" bIns="0" rtlCol="0" anchor="ctr"/>
          <a:lstStyle/>
          <a:p>
            <a:pPr indent="0" marL="0">
              <a:buNone/>
            </a:pPr>
            <a:r>
              <a:rPr lang="en-US" sz="1300" b="1" spc="150" kern="0" dirty="0">
                <a:solidFill>
                  <a:srgbClr val="475569"/>
                </a:solidFill>
                <a:latin typeface="Calibri" pitchFamily="34" charset="0"/>
                <a:ea typeface="Calibri" pitchFamily="34" charset="-122"/>
                <a:cs typeface="Calibri" pitchFamily="34" charset="-120"/>
              </a:rPr>
              <a:t>INTO THESE GROUPS</a:t>
            </a:r>
            <a:endParaRPr lang="en-US" sz="1300" dirty="0"/>
          </a:p>
        </p:txBody>
      </p:sp>
      <p:sp>
        <p:nvSpPr>
          <p:cNvPr id="12" name="Shape 10"/>
          <p:cNvSpPr/>
          <p:nvPr/>
        </p:nvSpPr>
        <p:spPr>
          <a:xfrm>
            <a:off x="502920" y="3977640"/>
            <a:ext cx="3606698" cy="1097280"/>
          </a:xfrm>
          <a:prstGeom prst="roundRect">
            <a:avLst>
              <a:gd name="adj" fmla="val 6667"/>
            </a:avLst>
          </a:prstGeom>
          <a:solidFill>
            <a:srgbClr val="F8FAFC"/>
          </a:solidFill>
          <a:ln w="15875">
            <a:solidFill>
              <a:srgbClr val="CBD5E1"/>
            </a:solidFill>
            <a:prstDash val="solid"/>
          </a:ln>
        </p:spPr>
      </p:sp>
      <p:sp>
        <p:nvSpPr>
          <p:cNvPr id="13" name="Text 11"/>
          <p:cNvSpPr/>
          <p:nvPr/>
        </p:nvSpPr>
        <p:spPr>
          <a:xfrm>
            <a:off x="685800" y="4050792"/>
            <a:ext cx="324093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trans– (across)</a:t>
            </a:r>
            <a:endParaRPr lang="en-US" sz="2200" dirty="0"/>
          </a:p>
        </p:txBody>
      </p:sp>
      <p:sp>
        <p:nvSpPr>
          <p:cNvPr id="14" name="Shape 12"/>
          <p:cNvSpPr/>
          <p:nvPr/>
        </p:nvSpPr>
        <p:spPr>
          <a:xfrm>
            <a:off x="4292498" y="3977640"/>
            <a:ext cx="3606698" cy="1097280"/>
          </a:xfrm>
          <a:prstGeom prst="roundRect">
            <a:avLst>
              <a:gd name="adj" fmla="val 6667"/>
            </a:avLst>
          </a:prstGeom>
          <a:solidFill>
            <a:srgbClr val="F8FAFC"/>
          </a:solidFill>
          <a:ln w="15875">
            <a:solidFill>
              <a:srgbClr val="CBD5E1"/>
            </a:solidFill>
            <a:prstDash val="solid"/>
          </a:ln>
        </p:spPr>
      </p:sp>
      <p:sp>
        <p:nvSpPr>
          <p:cNvPr id="15" name="Text 13"/>
          <p:cNvSpPr/>
          <p:nvPr/>
        </p:nvSpPr>
        <p:spPr>
          <a:xfrm>
            <a:off x="4475378" y="4050792"/>
            <a:ext cx="324093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sub– (under)</a:t>
            </a:r>
            <a:endParaRPr lang="en-US" sz="2200" dirty="0"/>
          </a:p>
        </p:txBody>
      </p:sp>
      <p:sp>
        <p:nvSpPr>
          <p:cNvPr id="16" name="Shape 14"/>
          <p:cNvSpPr/>
          <p:nvPr/>
        </p:nvSpPr>
        <p:spPr>
          <a:xfrm>
            <a:off x="8082077" y="3977640"/>
            <a:ext cx="3606698" cy="1097280"/>
          </a:xfrm>
          <a:prstGeom prst="roundRect">
            <a:avLst>
              <a:gd name="adj" fmla="val 6667"/>
            </a:avLst>
          </a:prstGeom>
          <a:solidFill>
            <a:srgbClr val="F8FAFC"/>
          </a:solidFill>
          <a:ln w="15875">
            <a:solidFill>
              <a:srgbClr val="CBD5E1"/>
            </a:solidFill>
            <a:prstDash val="solid"/>
          </a:ln>
        </p:spPr>
      </p:sp>
      <p:sp>
        <p:nvSpPr>
          <p:cNvPr id="17" name="Text 15"/>
          <p:cNvSpPr/>
          <p:nvPr/>
        </p:nvSpPr>
        <p:spPr>
          <a:xfrm>
            <a:off x="8264957" y="4050792"/>
            <a:ext cx="3240938" cy="950976"/>
          </a:xfrm>
          <a:prstGeom prst="rect">
            <a:avLst/>
          </a:prstGeom>
          <a:noFill/>
          <a:ln/>
        </p:spPr>
        <p:txBody>
          <a:bodyPr wrap="square" lIns="0" tIns="0" rIns="0" bIns="0" rtlCol="0" anchor="ctr">
            <a:normAutofit/>
          </a:bodyPr>
          <a:lstStyle/>
          <a:p>
            <a:pPr indent="0" marL="0">
              <a:buNone/>
            </a:pPr>
            <a:r>
              <a:rPr lang="en-US" sz="2200" b="1" dirty="0">
                <a:solidFill>
                  <a:srgbClr val="0E1C42"/>
                </a:solidFill>
                <a:latin typeface="Calibri" pitchFamily="34" charset="0"/>
                <a:ea typeface="Calibri" pitchFamily="34" charset="-122"/>
                <a:cs typeface="Calibri" pitchFamily="34" charset="-120"/>
              </a:rPr>
              <a:t>inter– (between)</a:t>
            </a:r>
            <a:endParaRPr lang="en-US" sz="2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DEFINE — ACROSS, UNDER, BETWEEN  ·  ANSWERS</a:t>
            </a:r>
            <a:endParaRPr lang="en-US" sz="1300" dirty="0"/>
          </a:p>
        </p:txBody>
      </p:sp>
      <p:sp>
        <p:nvSpPr>
          <p:cNvPr id="4" name="Text 2"/>
          <p:cNvSpPr/>
          <p:nvPr/>
        </p:nvSpPr>
        <p:spPr>
          <a:xfrm>
            <a:off x="502920" y="566928"/>
            <a:ext cx="871697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Spelling: Prefixes trans-, sub-, inter-</a:t>
            </a:r>
            <a:endParaRPr lang="en-US" sz="3000" dirty="0"/>
          </a:p>
        </p:txBody>
      </p:sp>
      <p:sp>
        <p:nvSpPr>
          <p:cNvPr id="5" name="Shape 3"/>
          <p:cNvSpPr/>
          <p:nvPr/>
        </p:nvSpPr>
        <p:spPr>
          <a:xfrm>
            <a:off x="9402775" y="384048"/>
            <a:ext cx="2286000" cy="457200"/>
          </a:xfrm>
          <a:prstGeom prst="roundRect">
            <a:avLst>
              <a:gd name="adj" fmla="val 24000"/>
            </a:avLst>
          </a:prstGeom>
          <a:solidFill>
            <a:srgbClr val="1E8E52"/>
          </a:solidFill>
          <a:ln w="12700">
            <a:solidFill>
              <a:srgbClr val="1E8E52"/>
            </a:solidFill>
            <a:prstDash val="solid"/>
          </a:ln>
        </p:spPr>
      </p:sp>
      <p:sp>
        <p:nvSpPr>
          <p:cNvPr id="6" name="Text 4"/>
          <p:cNvSpPr/>
          <p:nvPr/>
        </p:nvSpPr>
        <p:spPr>
          <a:xfrm>
            <a:off x="9402775" y="384048"/>
            <a:ext cx="22860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ANSWERS</a:t>
            </a:r>
            <a:endParaRPr lang="en-US" sz="1400" dirty="0"/>
          </a:p>
        </p:txBody>
      </p:sp>
      <p:sp>
        <p:nvSpPr>
          <p:cNvPr id="7" name="Shape 5"/>
          <p:cNvSpPr/>
          <p:nvPr/>
        </p:nvSpPr>
        <p:spPr>
          <a:xfrm>
            <a:off x="502920" y="1371600"/>
            <a:ext cx="11185855" cy="0"/>
          </a:xfrm>
          <a:prstGeom prst="line">
            <a:avLst/>
          </a:prstGeom>
          <a:noFill/>
          <a:ln w="12700">
            <a:solidFill>
              <a:srgbClr val="CBD5E1"/>
            </a:solidFill>
            <a:prstDash val="solid"/>
          </a:ln>
        </p:spPr>
      </p:sp>
      <p:sp>
        <p:nvSpPr>
          <p:cNvPr id="8" name="Shape 6"/>
          <p:cNvSpPr/>
          <p:nvPr/>
        </p:nvSpPr>
        <p:spPr>
          <a:xfrm>
            <a:off x="502920" y="1554480"/>
            <a:ext cx="3606698" cy="4892040"/>
          </a:xfrm>
          <a:prstGeom prst="roundRect">
            <a:avLst>
              <a:gd name="adj" fmla="val 2028"/>
            </a:avLst>
          </a:prstGeom>
          <a:solidFill>
            <a:srgbClr val="E8F8EF"/>
          </a:solidFill>
          <a:ln w="15875">
            <a:solidFill>
              <a:srgbClr val="9ED9B5"/>
            </a:solidFill>
            <a:prstDash val="solid"/>
          </a:ln>
        </p:spPr>
      </p:sp>
      <p:sp>
        <p:nvSpPr>
          <p:cNvPr id="9" name="Text 7"/>
          <p:cNvSpPr/>
          <p:nvPr/>
        </p:nvSpPr>
        <p:spPr>
          <a:xfrm>
            <a:off x="685800" y="1691640"/>
            <a:ext cx="324093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trans– (across)</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transport</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translate</a:t>
            </a:r>
            <a:endParaRPr lang="en-US" sz="2100" dirty="0"/>
          </a:p>
        </p:txBody>
      </p:sp>
      <p:sp>
        <p:nvSpPr>
          <p:cNvPr id="10" name="Shape 8"/>
          <p:cNvSpPr/>
          <p:nvPr/>
        </p:nvSpPr>
        <p:spPr>
          <a:xfrm>
            <a:off x="4292498" y="1554480"/>
            <a:ext cx="3606698" cy="4892040"/>
          </a:xfrm>
          <a:prstGeom prst="roundRect">
            <a:avLst>
              <a:gd name="adj" fmla="val 2028"/>
            </a:avLst>
          </a:prstGeom>
          <a:solidFill>
            <a:srgbClr val="E8F8EF"/>
          </a:solidFill>
          <a:ln w="15875">
            <a:solidFill>
              <a:srgbClr val="9ED9B5"/>
            </a:solidFill>
            <a:prstDash val="solid"/>
          </a:ln>
        </p:spPr>
      </p:sp>
      <p:sp>
        <p:nvSpPr>
          <p:cNvPr id="11" name="Text 9"/>
          <p:cNvSpPr/>
          <p:nvPr/>
        </p:nvSpPr>
        <p:spPr>
          <a:xfrm>
            <a:off x="4475378" y="1691640"/>
            <a:ext cx="324093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sub– (under)</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submarine</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subtract</a:t>
            </a:r>
            <a:endParaRPr lang="en-US" sz="2100" dirty="0"/>
          </a:p>
        </p:txBody>
      </p:sp>
      <p:sp>
        <p:nvSpPr>
          <p:cNvPr id="12" name="Shape 10"/>
          <p:cNvSpPr/>
          <p:nvPr/>
        </p:nvSpPr>
        <p:spPr>
          <a:xfrm>
            <a:off x="8082077" y="1554480"/>
            <a:ext cx="3606698" cy="4892040"/>
          </a:xfrm>
          <a:prstGeom prst="roundRect">
            <a:avLst>
              <a:gd name="adj" fmla="val 2028"/>
            </a:avLst>
          </a:prstGeom>
          <a:solidFill>
            <a:srgbClr val="E8F8EF"/>
          </a:solidFill>
          <a:ln w="15875">
            <a:solidFill>
              <a:srgbClr val="9ED9B5"/>
            </a:solidFill>
            <a:prstDash val="solid"/>
          </a:ln>
        </p:spPr>
      </p:sp>
      <p:sp>
        <p:nvSpPr>
          <p:cNvPr id="13" name="Text 11"/>
          <p:cNvSpPr/>
          <p:nvPr/>
        </p:nvSpPr>
        <p:spPr>
          <a:xfrm>
            <a:off x="8264957" y="1691640"/>
            <a:ext cx="3240938" cy="4617720"/>
          </a:xfrm>
          <a:prstGeom prst="rect">
            <a:avLst/>
          </a:prstGeom>
          <a:noFill/>
          <a:ln/>
        </p:spPr>
        <p:txBody>
          <a:bodyPr wrap="square" lIns="0" tIns="0" rIns="0" bIns="0" rtlCol="0" anchor="t">
            <a:normAutofit/>
          </a:bodyPr>
          <a:lstStyle/>
          <a:p>
            <a:pPr indent="0" marL="0">
              <a:buNone/>
            </a:pPr>
            <a:r>
              <a:rPr lang="en-US" sz="2100" b="1" dirty="0">
                <a:solidFill>
                  <a:srgbClr val="1E8E52"/>
                </a:solidFill>
                <a:latin typeface="Calibri" pitchFamily="34" charset="0"/>
                <a:ea typeface="Calibri" pitchFamily="34" charset="-122"/>
                <a:cs typeface="Calibri" pitchFamily="34" charset="-120"/>
              </a:rPr>
              <a:t>inter– (between)</a:t>
            </a:r>
            <a:endParaRPr lang="en-US" sz="2100" dirty="0"/>
          </a:p>
          <a:p>
            <a:pPr indent="0" marL="0">
              <a:buNone/>
            </a:pPr>
            <a:r>
              <a:rPr lang="en-US" sz="800" dirty="0">
                <a:solidFill>
                  <a:srgbClr val="1E293B"/>
                </a:solidFill>
                <a:latin typeface="Calibri" pitchFamily="34" charset="0"/>
                <a:ea typeface="Calibri" pitchFamily="34" charset="-122"/>
                <a:cs typeface="Calibri" pitchFamily="34" charset="-120"/>
              </a:rPr>
              <a:t> </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interrupt</a:t>
            </a:r>
            <a:endParaRPr lang="en-US" sz="2100" dirty="0"/>
          </a:p>
          <a:p>
            <a:pPr indent="0" marL="0">
              <a:buNone/>
            </a:pPr>
            <a:r>
              <a:rPr lang="en-US" sz="2200" dirty="0">
                <a:solidFill>
                  <a:srgbClr val="1E293B"/>
                </a:solidFill>
                <a:latin typeface="Calibri" pitchFamily="34" charset="0"/>
                <a:ea typeface="Calibri" pitchFamily="34" charset="-122"/>
                <a:cs typeface="Calibri" pitchFamily="34" charset="-120"/>
              </a:rPr>
              <a:t>international</a:t>
            </a:r>
            <a:endParaRPr lang="en-US" sz="2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CHAPTER 17 — “LUNARS AND MOONLIGHT”</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Reading Focus</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E5F7FC"/>
          </a:solidFill>
          <a:ln w="15875">
            <a:solidFill>
              <a:srgbClr val="A6DDEE"/>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 You are here: Week 13 — Chapter 17 — Lunars and Moonlight</a:t>
            </a:r>
            <a:endParaRPr lang="en-US" sz="2400" dirty="0"/>
          </a:p>
          <a:p>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Chapter 17 keeps Nat ashore in Salem. Mr. Blunt, the publisher, laughs at the idea of an error in Maskelyne’s table — until Nat points out an error in Newton’s Principia and explains his new way of working lunars. Dr. Holyoke comes to talk astronomy. Then, at a husking bee in Wiggins’ barn, the moon stops being a tool and becomes part of a love story. Look for figurative language that makes the technical also feel human.</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STOPPING POINTS IN CHAPTER 17</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Pause &amp; Think</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0E8FF"/>
          </a:solidFill>
          <a:ln w="15875">
            <a:solidFill>
              <a:srgbClr val="D6C8F0"/>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The Figurative Moon: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Find a moment where Latham uses figurative language — a metaphor, simile, or personification — to describe the moon. Write it down. What does this language choice add to the meaning?</a:t>
            </a:r>
            <a:endParaRPr lang="en-US" sz="2400" dirty="0"/>
          </a:p>
          <a:p>
            <a:pPr indent="0" marL="0">
              <a:spcAft>
                <a:spcPts val="1100"/>
              </a:spcAft>
              <a:buNone/>
            </a:pPr>
            <a:r>
              <a:rPr lang="en-US" sz="2400" b="1" dirty="0">
                <a:solidFill>
                  <a:srgbClr val="0E1C42"/>
                </a:solidFill>
                <a:latin typeface="Calibri" pitchFamily="34" charset="0"/>
                <a:ea typeface="Calibri" pitchFamily="34" charset="-122"/>
                <a:cs typeface="Calibri" pitchFamily="34" charset="-120"/>
              </a:rPr>
              <a:t>Pause: Nat and the Moon: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Outside the barn, Nat tells Elizabeth the moon’s diameter in miles — and then says something very different. How does his view of the moon in this scene differ from a purely scientific view? Does he see it as only an instrument, or does something more come through?</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PART A: CHAPTER THINKING · WHAT STUDENTS WILL ANSWER</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Comprehension Questions — Preview</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8FAFC"/>
          </a:solidFill>
          <a:ln w="15875">
            <a:solidFill>
              <a:srgbClr val="CBD5E1"/>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1100"/>
              </a:spcAft>
              <a:buNone/>
            </a:pPr>
            <a:r>
              <a:rPr lang="en-US" sz="2400" b="1" dirty="0">
                <a:solidFill>
                  <a:srgbClr val="C7922C"/>
                </a:solidFill>
                <a:latin typeface="Calibri" pitchFamily="34" charset="0"/>
                <a:ea typeface="Calibri" pitchFamily="34" charset="-122"/>
                <a:cs typeface="Calibri" pitchFamily="34" charset="-120"/>
              </a:rPr>
              <a:t>1.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Chapter 17 is titled “Lunars and Moonlight.” The title itself uses figurative language — pairing the scientific (“lunars”) with the poetic (“moonlight”). Explain what this pairing reveals about how Latham sees Nat Bowditch.</a:t>
            </a:r>
            <a:endParaRPr lang="en-US" sz="2400" dirty="0"/>
          </a:p>
          <a:p>
            <a:pPr indent="0" marL="0">
              <a:spcAft>
                <a:spcPts val="1100"/>
              </a:spcAft>
              <a:buNone/>
            </a:pPr>
            <a:r>
              <a:rPr lang="en-US" sz="2400" b="1" dirty="0">
                <a:solidFill>
                  <a:srgbClr val="C7922C"/>
                </a:solidFill>
                <a:latin typeface="Calibri" pitchFamily="34" charset="0"/>
                <a:ea typeface="Calibri" pitchFamily="34" charset="-122"/>
                <a:cs typeface="Calibri" pitchFamily="34" charset="-120"/>
              </a:rPr>
              <a:t>2.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Find one example of figurative language from Chapter 17 and explain how it contributes to the chapter’s meaning. What would be lost if Latham had used plain, literal language instead?</a:t>
            </a:r>
            <a:endParaRPr lang="en-US" sz="2400" dirty="0"/>
          </a:p>
          <a:p>
            <a:pPr indent="0" marL="0">
              <a:spcAft>
                <a:spcPts val="1100"/>
              </a:spcAft>
              <a:buNone/>
            </a:pPr>
            <a:r>
              <a:rPr lang="en-US" sz="2400" b="1" dirty="0">
                <a:solidFill>
                  <a:srgbClr val="C7922C"/>
                </a:solidFill>
                <a:latin typeface="Calibri" pitchFamily="34" charset="0"/>
                <a:ea typeface="Calibri" pitchFamily="34" charset="-122"/>
                <a:cs typeface="Calibri" pitchFamily="34" charset="-120"/>
              </a:rPr>
              <a:t>3.  </a:t>
            </a:r>
            <a:pPr indent="0" marL="0">
              <a:spcAft>
                <a:spcPts val="1100"/>
              </a:spcAft>
              <a:buNone/>
            </a:pPr>
            <a:r>
              <a:rPr lang="en-US" sz="2400" dirty="0">
                <a:solidFill>
                  <a:srgbClr val="1E293B"/>
                </a:solidFill>
                <a:latin typeface="Calibri" pitchFamily="34" charset="0"/>
                <a:ea typeface="Calibri" pitchFamily="34" charset="-122"/>
                <a:cs typeface="Calibri" pitchFamily="34" charset="-120"/>
              </a:rPr>
              <a:t>How does Chapter 17 develop Nat’s character? Use a relative clause in at least one of your sentences (who, which, or that).</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REVISE &amp; EDIT · REVISE FOR TECHNICAL CLARITY</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13 · REVISE &amp; EDIT  (1/2)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Today’s focus: Revision Week begins. Today’s focus: technical clarity. Read your essay as if you’ve never read Carry On, Mr. Bowditch. Every technical term you use needs to be explained.</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Watch How — Meet Alex, our example writer: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Alex reads a paragraph and marks every term a non-reader wouldn’t understand. BEFORE Alex’s draft: Nat used lunar observations to find longitude at sea. This changed navigation. AFTER Alex’s clarified version: Nat mastered a technique called lunar-distance observation — measuring the precise angle between the moon and a known star to calculate the ship’s longitude, the east-west position that navigators could not otherwise determine at sea. This technique, which Nat simplified into a process any sailor could follow, transformed navigation. Notice: Alex added three things: (1) defined “lunar observation” with a quick phrase, (2) explained why longitude mattered, (3) added context (“any sailor could follow”). Now a reader who hasn’t read the book can follow the argument.</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55C8E8"/>
          </a:solidFill>
          <a:ln w="12700">
            <a:solidFill>
              <a:srgbClr val="55C8E8"/>
            </a:solidFill>
            <a:prstDash val="solid"/>
          </a:ln>
        </p:spPr>
      </p:sp>
      <p:sp>
        <p:nvSpPr>
          <p:cNvPr id="3" name="Text 1"/>
          <p:cNvSpPr/>
          <p:nvPr/>
        </p:nvSpPr>
        <p:spPr>
          <a:xfrm>
            <a:off x="502920" y="274320"/>
            <a:ext cx="8808415" cy="320040"/>
          </a:xfrm>
          <a:prstGeom prst="rect">
            <a:avLst/>
          </a:prstGeom>
          <a:noFill/>
          <a:ln/>
        </p:spPr>
        <p:txBody>
          <a:bodyPr wrap="square" lIns="0" tIns="0" rIns="0" bIns="0" rtlCol="0" anchor="ctr"/>
          <a:lstStyle/>
          <a:p>
            <a:pPr indent="0" marL="0">
              <a:buNone/>
            </a:pPr>
            <a:r>
              <a:rPr lang="en-US" sz="1300" b="1" spc="200" kern="0" dirty="0">
                <a:solidFill>
                  <a:srgbClr val="C7922C"/>
                </a:solidFill>
                <a:latin typeface="Calibri" pitchFamily="34" charset="0"/>
                <a:ea typeface="Calibri" pitchFamily="34" charset="-122"/>
                <a:cs typeface="Calibri" pitchFamily="34" charset="-120"/>
              </a:rPr>
              <a:t>STAGE: REVISE &amp; EDIT · REVISE FOR TECHNICAL CLARITY</a:t>
            </a:r>
            <a:endParaRPr lang="en-US" sz="1300" dirty="0"/>
          </a:p>
        </p:txBody>
      </p:sp>
      <p:sp>
        <p:nvSpPr>
          <p:cNvPr id="4" name="Text 2"/>
          <p:cNvSpPr/>
          <p:nvPr/>
        </p:nvSpPr>
        <p:spPr>
          <a:xfrm>
            <a:off x="502920" y="566928"/>
            <a:ext cx="11185855" cy="731520"/>
          </a:xfrm>
          <a:prstGeom prst="rect">
            <a:avLst/>
          </a:prstGeom>
          <a:noFill/>
          <a:ln/>
        </p:spPr>
        <p:txBody>
          <a:bodyPr wrap="square" lIns="0" tIns="0" rIns="0" bIns="0" rtlCol="0" anchor="t">
            <a:normAutofit/>
          </a:bodyPr>
          <a:lstStyle/>
          <a:p>
            <a:pPr indent="0" marL="0">
              <a:buNone/>
            </a:pPr>
            <a:r>
              <a:rPr lang="en-US" sz="3000" b="1" dirty="0">
                <a:solidFill>
                  <a:srgbClr val="0E1C42"/>
                </a:solidFill>
                <a:latin typeface="Calibri" pitchFamily="34" charset="0"/>
                <a:ea typeface="Calibri" pitchFamily="34" charset="-122"/>
                <a:cs typeface="Calibri" pitchFamily="34" charset="-120"/>
              </a:rPr>
              <a:t>✍️ Writer’s Workshop · Week 13 · REVISE &amp; EDIT  (2/2)</a:t>
            </a:r>
            <a:endParaRPr lang="en-US" sz="3000" dirty="0"/>
          </a:p>
        </p:txBody>
      </p:sp>
      <p:sp>
        <p:nvSpPr>
          <p:cNvPr id="5" name="Shape 3"/>
          <p:cNvSpPr/>
          <p:nvPr/>
        </p:nvSpPr>
        <p:spPr>
          <a:xfrm>
            <a:off x="502920" y="1371600"/>
            <a:ext cx="11185855" cy="0"/>
          </a:xfrm>
          <a:prstGeom prst="line">
            <a:avLst/>
          </a:prstGeom>
          <a:noFill/>
          <a:ln w="12700">
            <a:solidFill>
              <a:srgbClr val="CBD5E1"/>
            </a:solidFill>
            <a:prstDash val="solid"/>
          </a:ln>
        </p:spPr>
      </p:sp>
      <p:sp>
        <p:nvSpPr>
          <p:cNvPr id="6" name="Shape 4"/>
          <p:cNvSpPr/>
          <p:nvPr/>
        </p:nvSpPr>
        <p:spPr>
          <a:xfrm>
            <a:off x="502920" y="1554480"/>
            <a:ext cx="11185855" cy="4892040"/>
          </a:xfrm>
          <a:prstGeom prst="roundRect">
            <a:avLst>
              <a:gd name="adj" fmla="val 1495"/>
            </a:avLst>
          </a:prstGeom>
          <a:solidFill>
            <a:srgbClr val="FEF6E8"/>
          </a:solidFill>
          <a:ln w="15875">
            <a:solidFill>
              <a:srgbClr val="EBD3A2"/>
            </a:solidFill>
            <a:prstDash val="solid"/>
          </a:ln>
        </p:spPr>
      </p:sp>
      <p:sp>
        <p:nvSpPr>
          <p:cNvPr id="7" name="Text 5"/>
          <p:cNvSpPr/>
          <p:nvPr/>
        </p:nvSpPr>
        <p:spPr>
          <a:xfrm>
            <a:off x="731520" y="1737360"/>
            <a:ext cx="10728655" cy="4526280"/>
          </a:xfrm>
          <a:prstGeom prst="rect">
            <a:avLst/>
          </a:prstGeom>
          <a:noFill/>
          <a:ln/>
        </p:spPr>
        <p:txBody>
          <a:bodyPr wrap="square" lIns="0" tIns="0" rIns="0" bIns="0" rtlCol="0" anchor="t"/>
          <a:lstStyle/>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Today’s Tool: Technical Clarity Audit: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Find one technical term in your essay. Define it using the define-show-connect pattern. Alex’s example (filled): Define: lunar-distance observation — measuring the angle between the moon and a known star Show how it works: to calculate the ship’s longitude (east-west position) Connect to essay: which Nat simplified so any sailor could follow → connects to claim about accessibility Your turn — do the same in your reading journal: Technical term I used: “___” Plain-language definition: ____________________ How it works: ____________________ Why it matters for my claim: ____________________ My revised sentence: ____________________</a:t>
            </a:r>
            <a:endParaRPr lang="en-US" sz="1800" dirty="0"/>
          </a:p>
          <a:p>
            <a:pPr indent="0" marL="0">
              <a:spcAft>
                <a:spcPts val="800"/>
              </a:spcAft>
              <a:buNone/>
            </a:pPr>
            <a:r>
              <a:rPr lang="en-US" sz="1800" b="1" dirty="0">
                <a:solidFill>
                  <a:srgbClr val="C7922C"/>
                </a:solidFill>
                <a:latin typeface="Calibri" pitchFamily="34" charset="0"/>
                <a:ea typeface="Calibri" pitchFamily="34" charset="-122"/>
                <a:cs typeface="Calibri" pitchFamily="34" charset="-120"/>
              </a:rPr>
              <a:t>Sentence Frames You Can Borrow: </a:t>
            </a:r>
            <a:pPr indent="0" marL="0">
              <a:spcAft>
                <a:spcPts val="800"/>
              </a:spcAft>
              <a:buNone/>
            </a:pPr>
            <a:r>
              <a:rPr lang="en-US" sz="1800" dirty="0">
                <a:solidFill>
                  <a:srgbClr val="1E293B"/>
                </a:solidFill>
                <a:latin typeface="Calibri" pitchFamily="34" charset="0"/>
                <a:ea typeface="Calibri" pitchFamily="34" charset="-122"/>
                <a:cs typeface="Calibri" pitchFamily="34" charset="-120"/>
              </a:rPr>
              <a:t>“___ — a process that involves ___ — allowed sailors to ___.” “This technique, which Nat simplified so that ___, made it possible for ___.” “Without ___, sailors could not ___; with it, they could...”</a:t>
            </a:r>
            <a:endParaRPr lang="en-US" sz="1800" dirty="0"/>
          </a:p>
          <a:p>
            <a:pPr indent="0" marL="0">
              <a:spcAft>
                <a:spcPts val="800"/>
              </a:spcAft>
              <a:buNone/>
            </a:pPr>
            <a:r>
              <a:rPr lang="en-US" sz="1800" dirty="0">
                <a:solidFill>
                  <a:srgbClr val="1E293B"/>
                </a:solidFill>
                <a:latin typeface="Calibri" pitchFamily="34" charset="0"/>
                <a:ea typeface="Calibri" pitchFamily="34" charset="-122"/>
                <a:cs typeface="Calibri" pitchFamily="34" charset="-120"/>
              </a:rPr>
              <a:t>✏️ Now you try. Use what Alex showed you. Borrow a sentence frame if you want. Type below.</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13.1 — Carry On, Mr. Bowditch, Chapter 17</dc:title>
  <dc:subject>PptxGenJS Presentation</dc:subject>
  <dc:creator>Optima Academy Online</dc:creator>
  <cp:lastModifiedBy>Optima Academy Online</cp:lastModifiedBy>
  <cp:revision>1</cp:revision>
  <dcterms:created xsi:type="dcterms:W3CDTF">2026-10-29T19:41:22Z</dcterms:created>
  <dcterms:modified xsi:type="dcterms:W3CDTF">2026-10-29T19:41:22Z</dcterms:modified>
</cp:coreProperties>
</file>