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 Day 2,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When two people believe opposite things, can they sit at the same table? What happens when a meal becomes a battleground?
Reading: I will make connections with Chapter 6 and answer comprehension questions.
Grammar: I will identify compound subjects and compound predicates in sentences from the novel.
Spelling: I will sort words by suffix spelling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"matthew wood told his wife that reverend bulkeley would never dine in there house again"
Corrected: "Matthew Wood told his wife that Reverend Bulkeley would never dine in their house again."
Compare with the model: both sentences capitalize proper names and titles. Also notice “their” (possessive) not “there” (a place), and the sentence ends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"matthew wood told his wife that reverend bulkeley would never dine in there house again"
Corrected: "Matthew Wood told his wife that Reverend Bulkeley would never dine in their house again."
Compare with the model: both sentences capitalize proper names and titles. Also notice “their” (possessive) not “there” (a place), and the sentence ends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support what I'm actually trying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Suffix Spelling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6 — The Dinner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2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6 — The Dinner Argument</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When two people believe opposite things, can they sit at the same table? What happens when a meal becomes a battleground?</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make connections with Chapter 6 and answer comprehension questions.</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identify compound subjects and compound predicates in sentences from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sort words by suffix spelling change.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Today, notice how each character’s perspective on the political argument reveals what they value most. Matthew values freedom, Bulkeley values order, and Kit notices things neither of them sees.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does each person at the dinner table care about most? How can you tell from their words and reactions?</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does Kit pay attention to that the arguing men do not?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 very excellent dinner , Mistress Wood .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“A  </a:t>
            </a:r>
            <a:pPr indent="0" marL="0">
              <a:buNone/>
            </a:pPr>
            <a:r>
              <a:rPr lang="en-US" sz="1200" dirty="0">
                <a:solidFill>
                  <a:srgbClr val="1E293B"/>
                </a:solidFill>
                <a:latin typeface="Calibri" pitchFamily="34" charset="0"/>
                <a:ea typeface="Calibri" pitchFamily="34" charset="-122"/>
                <a:cs typeface="Calibri" pitchFamily="34" charset="-120"/>
              </a:rPr>
              <a:t>A comma separates the introductory phrase from the main clause.</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A comma separates the introductory phrase from the direct address.</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Mistress  </a:t>
            </a:r>
            <a:pPr indent="0" marL="0">
              <a:buNone/>
            </a:pPr>
            <a:r>
              <a:rPr lang="en-US" sz="1200" dirty="0">
                <a:solidFill>
                  <a:srgbClr val="1E293B"/>
                </a:solidFill>
                <a:latin typeface="Calibri" pitchFamily="34" charset="0"/>
                <a:ea typeface="Calibri" pitchFamily="34" charset="-122"/>
                <a:cs typeface="Calibri" pitchFamily="34" charset="-120"/>
              </a:rPr>
              <a:t>Mistress is a title and starts with a capital letter.</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Wood  </a:t>
            </a:r>
            <a:pPr indent="0" marL="0">
              <a:buNone/>
            </a:pPr>
            <a:r>
              <a:rPr lang="en-US" sz="1200" dirty="0">
                <a:solidFill>
                  <a:srgbClr val="1E293B"/>
                </a:solidFill>
                <a:latin typeface="Calibri" pitchFamily="34" charset="0"/>
                <a:ea typeface="Calibri" pitchFamily="34" charset="-122"/>
                <a:cs typeface="Calibri" pitchFamily="34" charset="-120"/>
              </a:rPr>
              <a:t>Wood is a proper name and starts with a capital letter.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wood told his wife that reverend bulkeley would never dine in there house again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wood told his wife that reverend bulkeley would never dine in there house again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Matthew Wood told his wife that Reverend Bulkeley would never dine in their house again.</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both sentences capitalize proper names and titles. Also notice “their” (possessive) not “there” (a place), and the sentence ends with a period.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from “The Present Crisis”</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James Russell Lowell</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Once to every man and nation comes the moment to decide,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In the strife of Truth with Falsehood, for the good or evil side.</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How does this poem connect to the argument between Matthew and Reverend Bulkeley about the charter?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Who do you think is more at fault for how tense the dinner becomes — Matthew or Reverend Bulkeley? Defend your answer with evidence from the argument. Someone might disagree and say the real problem is the charter, not either man.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Who do you think is more at fault for how tense the dinner becomes — Matthew or Reverend Bulkeley? Defend your answer with evidence from the argument. Someone might disagree and say the real problem is the charter, not either man.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support what I'm actually trying to say?</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-ion / -ation</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prepare → preparation — the family spent four days in preparation for the dinner | admire → admiration — Bulkeley showed admiration for Kit’s grandfather | revolt → revolution — Matthew warned there are worse things than revolution | oppose → opposition — the opposition between the two men was fierce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Sort or Match</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6 · Match to definitions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Compound Subjects &amp; Predicates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them in sentences from the novel</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“Matthew and Bulkeley glared at each other across the table.” — Compound subject: Matthew and Bulkeley share the verb “glared.” “Rachel pleaded and laid a placating hand on her husband’s sleeve.” — Compound predicate: Rachel has two verbs: “pleaded” and “laid.”</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and Judith watched the argument in silence.”
</a:t>
            </a:r>
            <a:pPr indent="0" marL="0">
              <a:buNone/>
            </a:pPr>
            <a:r>
              <a:rPr lang="en-US" sz="1100" dirty="0">
                <a:solidFill>
                  <a:srgbClr val="64748B"/>
                </a:solidFill>
                <a:latin typeface="Calibri" pitchFamily="34" charset="0"/>
                <a:ea typeface="Calibri" pitchFamily="34" charset="-122"/>
                <a:cs typeface="Calibri" pitchFamily="34" charset="-120"/>
              </a:rPr>
              <a:t>Compound Subject   /   Compound Predicate   /   Neither</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“Mercy smiled and suggested that John read aloud.”
</a:t>
            </a:r>
            <a:pPr indent="0" marL="0">
              <a:buNone/>
            </a:pPr>
            <a:r>
              <a:rPr lang="en-US" sz="1100" dirty="0">
                <a:solidFill>
                  <a:srgbClr val="64748B"/>
                </a:solidFill>
                <a:latin typeface="Calibri" pitchFamily="34" charset="0"/>
                <a:ea typeface="Calibri" pitchFamily="34" charset="-122"/>
                <a:cs typeface="Calibri" pitchFamily="34" charset="-120"/>
              </a:rPr>
              <a:t>Compound Subject   /   Compound Predicate   /   Neither</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“Reverend Bulkeley praised the apple tarts.”
</a:t>
            </a:r>
            <a:pPr indent="0" marL="0">
              <a:buNone/>
            </a:pPr>
            <a:r>
              <a:rPr lang="en-US" sz="1100" dirty="0">
                <a:solidFill>
                  <a:srgbClr val="64748B"/>
                </a:solidFill>
                <a:latin typeface="Calibri" pitchFamily="34" charset="0"/>
                <a:ea typeface="Calibri" pitchFamily="34" charset="-122"/>
                <a:cs typeface="Calibri" pitchFamily="34" charset="-120"/>
              </a:rPr>
              <a:t>Compound Subject   /   Compound Predicate   /   Neither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Compound Subjects &amp; Predicates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them in sentences from the novel</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“Matthew and Bulkeley glared at each other across the table.” — Compound subject: Matthew and Bulkeley share the verb “glared.” “Rachel pleaded and laid a placating hand on her husband’s sleeve.” — Compound predicate: Rachel has two verbs: “pleaded” and “laid.”</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and Judith watched the argument in silence.”
</a:t>
            </a:r>
            <a:pPr indent="0" marL="0">
              <a:buNone/>
            </a:pPr>
            <a:r>
              <a:rPr lang="en-US" sz="1200" b="1" dirty="0">
                <a:solidFill>
                  <a:srgbClr val="34B76F"/>
                </a:solidFill>
                <a:latin typeface="Calibri" pitchFamily="34" charset="0"/>
                <a:ea typeface="Calibri" pitchFamily="34" charset="-122"/>
                <a:cs typeface="Calibri" pitchFamily="34" charset="-120"/>
              </a:rPr>
              <a:t>✅ Compound Subject</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“Mercy smiled and suggested that John read aloud.”
</a:t>
            </a:r>
            <a:pPr indent="0" marL="0">
              <a:buNone/>
            </a:pPr>
            <a:r>
              <a:rPr lang="en-US" sz="1200" b="1" dirty="0">
                <a:solidFill>
                  <a:srgbClr val="34B76F"/>
                </a:solidFill>
                <a:latin typeface="Calibri" pitchFamily="34" charset="0"/>
                <a:ea typeface="Calibri" pitchFamily="34" charset="-122"/>
                <a:cs typeface="Calibri" pitchFamily="34" charset="-120"/>
              </a:rPr>
              <a:t>✅ Compound Predicate</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“Reverend Bulkeley praised the apple tarts.”
</a:t>
            </a:r>
            <a:pPr indent="0" marL="0">
              <a:buNone/>
            </a:pPr>
            <a:r>
              <a:rPr lang="en-US" sz="1200" b="1" dirty="0">
                <a:solidFill>
                  <a:srgbClr val="34B76F"/>
                </a:solidFill>
                <a:latin typeface="Calibri" pitchFamily="34" charset="0"/>
                <a:ea typeface="Calibri" pitchFamily="34" charset="-122"/>
                <a:cs typeface="Calibri" pitchFamily="34" charset="-120"/>
              </a:rPr>
              <a:t>✅ Neither</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00" i="1" dirty="0">
                <a:solidFill>
                  <a:srgbClr val="1E293B"/>
                </a:solidFill>
                <a:latin typeface="Calibri" pitchFamily="34" charset="0"/>
                <a:ea typeface="Calibri" pitchFamily="34" charset="-122"/>
                <a:cs typeface="Calibri" pitchFamily="34" charset="-120"/>
              </a:rPr>
              <a:t>Combine these two sentences into one using a compound predicate: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Suffix Spelling Changes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the change that happens when a suffix is added</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Drop Silent 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admiring  ·  dining</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Double Consonant</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beginning  ·  sitting</a:t>
            </a:r>
            <a:endParaRPr lang="en-US" sz="1300" dirty="0"/>
          </a:p>
        </p:txBody>
      </p:sp>
      <p:sp>
        <p:nvSpPr>
          <p:cNvPr id="11" name="Text 9"/>
          <p:cNvSpPr/>
          <p:nvPr/>
        </p:nvSpPr>
        <p:spPr>
          <a:xfrm>
            <a:off x="896112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Y to I</a:t>
            </a:r>
            <a:endParaRPr lang="en-US" sz="1300" dirty="0"/>
          </a:p>
        </p:txBody>
      </p:sp>
      <p:sp>
        <p:nvSpPr>
          <p:cNvPr id="12" name="Text 10"/>
          <p:cNvSpPr/>
          <p:nvPr/>
        </p:nvSpPr>
        <p:spPr>
          <a:xfrm>
            <a:off x="896112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happily  ·  angrily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forgot the meaning of the words and felt a stir of pleasure at the sound.”</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is Kit experiencing in this moment? John Holbrook is reading from Proverbs. Kit stops listening to what the words mean and instead responds to how they sound. What does this show about her state of mind?</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How does Speare use the contrast between “meaning” and “sound” to show Kit’s reaction? Notice the compound predicate — two verbs (“forgot” and “felt”) joined by “and.” How does that structure mirror Kit’s shift from thinking to feeling?</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your own sentence where a character forgets the content of something but is moved by how it sounds or looks. Use the frame below.</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[Name] forgot ___ and felt ___.</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6 — The Dinner Argument</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6 — The Dinner Argument</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What does each person at the dinner table care about most? How can you tell from their words and reactions?</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What does Kit pay attention to that the arguing men do not?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does the dinner preparation take four days? What does this tell you about the family’s social position and values?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What is the real disagreement between Matthew and Reverend Bulkeley? What does each man believe about the charter?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At the end of the chapter, John says he’d be “happy to come again” while looking at Judith. What does this tell you about his feelings?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Rewrite the dinner scene from Reverend Bulkeley’s perspective. In 3–4 sentences, describe what he sees, thinks, and feels during the argument with Matthew.</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