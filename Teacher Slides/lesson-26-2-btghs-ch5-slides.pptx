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26, Day 2, Week 26 — Chapter 5: Land of Fire.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Praiseworthy says “Stuff and nonsense” to every horror story about the Cape — while privately believing every word. This is not dishonesty. This is leadership. Chapter 5 shows you the difference.
Grammar SWYK: I will write a correctly punctuated dialogue exchange of 4+ lines between two characters.
Vocabulary: I will practice this week’s words using flip cards.
Reading: I will analyze Praiseworthy’s calm and Captain Swain’s secret in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"Stuff and nonsense Praiseworthy would say even though he believed every word of it. Do you really think we'll make it Jack asked. We may hit a bit of inclement weather Praiseworthy answered but our captain will manage."
Corrected: "Corrected (two paragraphs, one per speaker):"
“Stuff and nonsense,” Praiseworthy would say, even though he believed every word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"Stuff and nonsense Praiseworthy would say even though he believed every word of it. Do you really think we'll make it Jack asked. We may hit a bit of inclement weather Praiseworthy answered but our captain will manage."
Corrected: "Corrected (two paragraphs, one per speaker):"
“Stuff and nonsense,” Praiseworthy would say, even though he believed every word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Could I combine two sentences to make my thinking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flip_cards.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content — this novel uses explain/tap-to-notice practice rather than a scored quiz item. Graded SWYK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Dialogue Tags — Identify the 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Six Weeks with By the Great Horn Spoon! — Week 26 — Chapter 5: Land of Fire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in the Reading tab as they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DRAFT
Focus: Continue your draft — add at least one dialogue exchange
Task: Write your draft scene. Start in the middle of the action. Use dialogue. Show your hero’s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B85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B85C"/>
                </a:solidFill>
                <a:latin typeface="Calibri" pitchFamily="34" charset="0"/>
                <a:ea typeface="Calibri" pitchFamily="34" charset="-122"/>
                <a:cs typeface="Calibri" pitchFamily="34" charset="-120"/>
              </a:rPr>
              <a:t>WEEK 26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By the Great Horn Spoon!</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Week 26 — Chapter 5: Land of Fire</a:t>
            </a:r>
            <a:endParaRPr lang="en-US" sz="26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26  ·  Grit, Wit &amp; Adventure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Praiseworthy says “Stuff and nonsense” to every horror story about the Cape — while privately believing every word. This is not dishonesty. This is leadership. Chapter 5 shows you the difference.</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SWYK: </a:t>
            </a:r>
            <a:pPr indent="0" marL="0">
              <a:buNone/>
            </a:pPr>
            <a:r>
              <a:rPr lang="en-US" sz="1250" dirty="0">
                <a:solidFill>
                  <a:srgbClr val="1E293B"/>
                </a:solidFill>
                <a:latin typeface="Calibri" pitchFamily="34" charset="0"/>
                <a:ea typeface="Calibri" pitchFamily="34" charset="-122"/>
                <a:cs typeface="Calibri" pitchFamily="34" charset="-120"/>
              </a:rPr>
              <a:t>I will write a correctly punctuated dialogue exchange of 4+ lines between two characters.</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Vocabulary: </a:t>
            </a:r>
            <a:pPr indent="0" marL="0">
              <a:buNone/>
            </a:pPr>
            <a:r>
              <a:rPr lang="en-US" sz="1250" dirty="0">
                <a:solidFill>
                  <a:srgbClr val="1E293B"/>
                </a:solidFill>
                <a:latin typeface="Calibri" pitchFamily="34" charset="0"/>
                <a:ea typeface="Calibri" pitchFamily="34" charset="-122"/>
                <a:cs typeface="Calibri" pitchFamily="34" charset="-120"/>
              </a:rPr>
              <a:t>I will practice this week’s words using flip cards.</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Praiseworthy’s calm and Captain Swain’s secret in Chapter 5.</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“Do you think there’s any chance we might catch up with the Sea Raven?” Jack asked, hanging onto his hammock. “We could pass within a hundred yards of each other without knowing it,” Praiseworthy said.</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“Do you think there’s any chance we might catch up with the Sea Raven?” Jack asked, hanging onto his hammock.  </a:t>
            </a:r>
            <a:pPr indent="0" marL="0">
              <a:buNone/>
            </a:pPr>
            <a:r>
              <a:rPr lang="en-US" sz="1150" dirty="0">
                <a:solidFill>
                  <a:srgbClr val="1E293B"/>
                </a:solidFill>
                <a:latin typeface="Calibri" pitchFamily="34" charset="0"/>
                <a:ea typeface="Calibri" pitchFamily="34" charset="-122"/>
                <a:cs typeface="Calibri" pitchFamily="34" charset="-120"/>
              </a:rPr>
              <a:t>New speaker = new paragraph. Jack speaks first, so his line comes first.</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“We could pass within a hundred yards of each other without knowing it,” Praiseworthy said.  </a:t>
            </a:r>
            <a:pPr indent="0" marL="0">
              <a:buNone/>
            </a:pPr>
            <a:r>
              <a:rPr lang="en-US" sz="1150" dirty="0">
                <a:solidFill>
                  <a:srgbClr val="1E293B"/>
                </a:solidFill>
                <a:latin typeface="Calibri" pitchFamily="34" charset="0"/>
                <a:ea typeface="Calibri" pitchFamily="34" charset="-122"/>
                <a:cs typeface="Calibri" pitchFamily="34" charset="-120"/>
              </a:rPr>
              <a:t>Praiseworthy speaks next — NEW PARAGRAPH even mid-action. The tag (said Praiseworthy) comes after the speech, with a comma inside the closing quote.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Stuff and nonsense Praiseworthy would say even though he believed every word of it. Do you really think we'll make it Jack asked. We may hit a bit of inclement weather Praiseworthy answered but our captain will manage.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Stuff and nonsense Praiseworthy would say even though he believed every word of it. Do you really think we'll make it Jack asked. We may hit a bit of inclement weather Praiseworthy answered but our captain will manage.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Corrected (two paragraphs, one per speaker):</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“Stuff and nonsense,” Praiseworthy would say, even though he believed every word of it.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Praiseworthy says 'Stuff and nonsense' to every terrifying story about Cape Horn while secretly being nervous himself. Is hiding your fear a form of courage, or a form of dishonesty? Defend your answer with evidence from Chapter 5.</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Praiseworthy says 'Stuff and nonsense' to every terrifying story about Cape Horn while secretly being nervous himself. Is hiding your fear a form of courage, or a form of dishonesty? Defend your answer with evidence from Chapter 5.</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Could I combine two sentences to make my thinking clearer?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Roots rid/ris + lud/lus — Identify</a:t>
            </a:r>
            <a:endParaRPr lang="en-US" sz="1100" dirty="0"/>
          </a:p>
        </p:txBody>
      </p:sp>
      <p:sp>
        <p:nvSpPr>
          <p:cNvPr id="5" name="Shape 3"/>
          <p:cNvSpPr/>
          <p:nvPr/>
        </p:nvSpPr>
        <p:spPr>
          <a:xfrm>
            <a:off x="365760" y="1097280"/>
            <a:ext cx="8412480" cy="512064"/>
          </a:xfrm>
          <a:prstGeom prst="roundRect">
            <a:avLst>
              <a:gd name="adj" fmla="val 17857"/>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___ ible — easily provoked to laughter; laughable</a:t>
            </a:r>
            <a:endParaRPr lang="en-US" sz="1100" dirty="0"/>
          </a:p>
        </p:txBody>
      </p:sp>
      <p:sp>
        <p:nvSpPr>
          <p:cNvPr id="7" name="Shape 5"/>
          <p:cNvSpPr/>
          <p:nvPr/>
        </p:nvSpPr>
        <p:spPr>
          <a:xfrm>
            <a:off x="365760" y="1664208"/>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09928"/>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col ___ sion — a secret game or trick between people; from lus</a:t>
            </a:r>
            <a:endParaRPr lang="en-US" sz="1100" dirty="0"/>
          </a:p>
        </p:txBody>
      </p:sp>
      <p:sp>
        <p:nvSpPr>
          <p:cNvPr id="9" name="Shape 7"/>
          <p:cNvSpPr/>
          <p:nvPr/>
        </p:nvSpPr>
        <p:spPr>
          <a:xfrm>
            <a:off x="365760" y="2231136"/>
            <a:ext cx="8412480" cy="512064"/>
          </a:xfrm>
          <a:prstGeom prst="roundRect">
            <a:avLst>
              <a:gd name="adj" fmla="val 17857"/>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76856"/>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e ___ — to play away from; to escape or evade (as Cut-Eye Higgins eluded the law)</a:t>
            </a:r>
            <a:endParaRPr lang="en-US" sz="1100" dirty="0"/>
          </a:p>
        </p:txBody>
      </p:sp>
      <p:sp>
        <p:nvSpPr>
          <p:cNvPr id="11" name="Shape 9"/>
          <p:cNvSpPr/>
          <p:nvPr/>
        </p:nvSpPr>
        <p:spPr>
          <a:xfrm>
            <a:off x="365760" y="2798064"/>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43784"/>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de ___ e — to laugh at with contempt; from rid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Identify — see the word, flip to confirm</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becalmed  </a:t>
            </a:r>
            <a:pPr indent="0" marL="0">
              <a:buNone/>
            </a:pPr>
            <a:r>
              <a:rPr lang="en-US" sz="1150" dirty="0">
                <a:solidFill>
                  <a:srgbClr val="1E293B"/>
                </a:solidFill>
                <a:latin typeface="Calibri" pitchFamily="34" charset="0"/>
                <a:ea typeface="Calibri" pitchFamily="34" charset="-122"/>
                <a:cs typeface="Calibri" pitchFamily="34" charset="-120"/>
              </a:rPr>
              <a:t>Ship stopped dead — no wind to move it. From *be-* + *calm*; also means deeply still or motionless.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strait  </a:t>
            </a:r>
            <a:pPr indent="0" marL="0">
              <a:buNone/>
            </a:pPr>
            <a:r>
              <a:rPr lang="en-US" sz="1150" dirty="0">
                <a:solidFill>
                  <a:srgbClr val="1E293B"/>
                </a:solidFill>
                <a:latin typeface="Calibri" pitchFamily="34" charset="0"/>
                <a:ea typeface="Calibri" pitchFamily="34" charset="-122"/>
                <a:cs typeface="Calibri" pitchFamily="34" charset="-120"/>
              </a:rPr>
              <a:t>A narrow passage of water connecting two larger bodies. The Strait of Magellan nearly cracked ships in two.</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headwinds  </a:t>
            </a:r>
            <a:pPr indent="0" marL="0">
              <a:buNone/>
            </a:pPr>
            <a:r>
              <a:rPr lang="en-US" sz="1150" dirty="0">
                <a:solidFill>
                  <a:srgbClr val="1E293B"/>
                </a:solidFill>
                <a:latin typeface="Calibri" pitchFamily="34" charset="0"/>
                <a:ea typeface="Calibri" pitchFamily="34" charset="-122"/>
                <a:cs typeface="Calibri" pitchFamily="34" charset="-120"/>
              </a:rPr>
              <a:t>Winds that blow directly against a ship's direction, slowing or stopping forward progress.</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monotony  </a:t>
            </a:r>
            <a:pPr indent="0" marL="0">
              <a:buNone/>
            </a:pPr>
            <a:r>
              <a:rPr lang="en-US" sz="1150" dirty="0">
                <a:solidFill>
                  <a:srgbClr val="1E293B"/>
                </a:solidFill>
                <a:latin typeface="Calibri" pitchFamily="34" charset="0"/>
                <a:ea typeface="Calibri" pitchFamily="34" charset="-122"/>
                <a:cs typeface="Calibri" pitchFamily="34" charset="-120"/>
              </a:rPr>
              <a:t>Tedious sameness; the boring, unchanging quality of endless days at sea with nothing new happening.</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ludicrous  </a:t>
            </a:r>
            <a:pPr indent="0" marL="0">
              <a:buNone/>
            </a:pPr>
            <a:r>
              <a:rPr lang="en-US" sz="1150" dirty="0">
                <a:solidFill>
                  <a:srgbClr val="1E293B"/>
                </a:solidFill>
                <a:latin typeface="Calibri" pitchFamily="34" charset="0"/>
                <a:ea typeface="Calibri" pitchFamily="34" charset="-122"/>
                <a:cs typeface="Calibri" pitchFamily="34" charset="-120"/>
              </a:rPr>
              <a:t>So absurd it is laughable; from Latin *ludus* (play/jest). Fleischman's humor is often perfectly ludicrous.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Dialogue Punctuation — Identify</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Identify and apply the rules in your own writing</a:t>
            </a:r>
            <a:endParaRPr lang="en-US" sz="1100" dirty="0"/>
          </a:p>
        </p:txBody>
      </p:sp>
      <p:sp>
        <p:nvSpPr>
          <p:cNvPr id="5" name="Shape 3"/>
          <p:cNvSpPr/>
          <p:nvPr/>
        </p:nvSpPr>
        <p:spPr>
          <a:xfrm>
            <a:off x="365760" y="1115568"/>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1. Quotes around what the character says exactly. 2. Punctuation inside the closing quote. 3. Dialogue tag starts lowercase after the speech. 4. New speaker = new paragraph.</a:t>
            </a:r>
            <a:endParaRPr lang="en-US" sz="1150" dirty="0"/>
          </a:p>
        </p:txBody>
      </p:sp>
      <p:sp>
        <p:nvSpPr>
          <p:cNvPr id="7" name="Shape 5"/>
          <p:cNvSpPr/>
          <p:nvPr/>
        </p:nvSpPr>
        <p:spPr>
          <a:xfrm>
            <a:off x="365760" y="1783080"/>
            <a:ext cx="8412480" cy="777240"/>
          </a:xfrm>
          <a:prstGeom prst="roundRect">
            <a:avLst>
              <a:gd name="adj" fmla="val 11765"/>
            </a:avLst>
          </a:prstGeom>
          <a:solidFill>
            <a:srgbClr val="FEF6E8"/>
          </a:solidFill>
          <a:ln w="12700">
            <a:solidFill>
              <a:srgbClr val="C7922C"/>
            </a:solidFill>
            <a:prstDash val="solid"/>
          </a:ln>
        </p:spPr>
      </p:sp>
      <p:sp>
        <p:nvSpPr>
          <p:cNvPr id="8" name="Text 6"/>
          <p:cNvSpPr/>
          <p:nvPr/>
        </p:nvSpPr>
        <p:spPr>
          <a:xfrm>
            <a:off x="548640" y="1856232"/>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Grammar
</a:t>
            </a:r>
            <a:pPr indent="0" marL="0">
              <a:buNone/>
            </a:pPr>
            <a:r>
              <a:rPr lang="en-US" sz="1050" i="1" dirty="0">
                <a:solidFill>
                  <a:srgbClr val="1E293B"/>
                </a:solidFill>
                <a:latin typeface="Calibri" pitchFamily="34" charset="0"/>
                <a:ea typeface="Calibri" pitchFamily="34" charset="-122"/>
                <a:cs typeface="Calibri" pitchFamily="34" charset="-120"/>
              </a:rPr>
              <a:t>Write a dialogue exchange of at least 4 lines between Jack and Praiseworthy during the storm at Cape Horn. Use all four dialogue punctuation rules correctly. Each character must speak at least twice. Include one line of action between speeches.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Dialogue Tags — Identify the Stress</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Identify where the stress falls in each tag word</a:t>
            </a:r>
            <a:endParaRPr lang="en-US" sz="1100" dirty="0"/>
          </a:p>
        </p:txBody>
      </p:sp>
      <p:sp>
        <p:nvSpPr>
          <p:cNvPr id="5" name="Shape 3"/>
          <p:cNvSpPr/>
          <p:nvPr/>
        </p:nvSpPr>
        <p:spPr>
          <a:xfrm>
            <a:off x="365760" y="1115568"/>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bel•LOWED · ex•CLAIMED · GRUM•bled · MUT•tered · in•ter•RUP•ted · STAM•mered · CHUCK•led · com•MAN•ded</a:t>
            </a:r>
            <a:endParaRPr lang="en-US" sz="1150" dirty="0"/>
          </a:p>
        </p:txBody>
      </p:sp>
      <p:sp>
        <p:nvSpPr>
          <p:cNvPr id="7" name="Shape 5"/>
          <p:cNvSpPr/>
          <p:nvPr/>
        </p:nvSpPr>
        <p:spPr>
          <a:xfrm>
            <a:off x="365760" y="1737360"/>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83080"/>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Notice: bellowed , exclaimed , and commanded all stress the second syllable. Grumbled , muttered , and chuckled stress the first . This pattern helps your spelling.</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52144"/>
            <a:ext cx="7955280" cy="493776"/>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Six Weeks with By the Great Horn Spoon! — Week 26 — Chapter 5: Land of Fire</a:t>
            </a:r>
            <a:endParaRPr lang="en-US" sz="1250" dirty="0"/>
          </a:p>
        </p:txBody>
      </p:sp>
      <p:sp>
        <p:nvSpPr>
          <p:cNvPr id="9" name="Text 7"/>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5CB85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084832"/>
            <a:ext cx="8412480" cy="548640"/>
          </a:xfrm>
          <a:prstGeom prst="roundRect">
            <a:avLst>
              <a:gd name="adj" fmla="val 16667"/>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139696"/>
            <a:ext cx="7955280" cy="43891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Week 26 — Chapter 5: Land of Fire</a:t>
            </a:r>
            <a:endParaRPr lang="en-US" sz="1400" dirty="0"/>
          </a:p>
        </p:txBody>
      </p:sp>
      <p:sp>
        <p:nvSpPr>
          <p:cNvPr id="12" name="Text 10"/>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READING FOCUS</a:t>
            </a:r>
            <a:endParaRPr lang="en-US" sz="1100" dirty="0"/>
          </a:p>
        </p:txBody>
      </p:sp>
      <p:sp>
        <p:nvSpPr>
          <p:cNvPr id="13" name="Shape 11"/>
          <p:cNvSpPr/>
          <p:nvPr/>
        </p:nvSpPr>
        <p:spPr>
          <a:xfrm>
            <a:off x="365760" y="2999232"/>
            <a:ext cx="8412480" cy="1600200"/>
          </a:xfrm>
          <a:prstGeom prst="roundRect">
            <a:avLst>
              <a:gd name="adj" fmla="val 5714"/>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090672"/>
            <a:ext cx="7955280" cy="141732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 Reading Focus Chapter 5 has two things working at once: the terror of Cape Horn (or what everyone thinks is Cape Horn), and Praiseworthy’s performance of calm . Watch how Fleischman delays the big reveal (the Strait of Magellan) to maximize the comic payoff. Notice also how Captain Swain becomes a fuller character here.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 Read: Chapter 5 — “Land of Fire”</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TODAY</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1.  </a:t>
            </a:r>
            <a:pPr indent="0" marL="0">
              <a:buNone/>
            </a:pPr>
            <a:r>
              <a:rPr lang="en-US" sz="1100" dirty="0">
                <a:solidFill>
                  <a:srgbClr val="1E293B"/>
                </a:solidFill>
                <a:latin typeface="Calibri" pitchFamily="34" charset="0"/>
                <a:ea typeface="Calibri" pitchFamily="34" charset="-122"/>
                <a:cs typeface="Calibri" pitchFamily="34" charset="-120"/>
              </a:rPr>
              <a:t>What is the Strait of Magellan, and why is it dangerous? Without telling anyone, Captain Swain chose to take the ship through it instead of around Cape Horn. Why did he make that choice?</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39696"/>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2.  </a:t>
            </a:r>
            <a:pPr indent="0" marL="0">
              <a:buNone/>
            </a:pPr>
            <a:r>
              <a:rPr lang="en-US" sz="1100" dirty="0">
                <a:solidFill>
                  <a:srgbClr val="1E293B"/>
                </a:solidFill>
                <a:latin typeface="Calibri" pitchFamily="34" charset="0"/>
                <a:ea typeface="Calibri" pitchFamily="34" charset="-122"/>
                <a:cs typeface="Calibri" pitchFamily="34" charset="-120"/>
              </a:rPr>
              <a:t>Throughout Chapter 5, Praiseworthy dismisses every terrifying story about the Horn as “Nonsense” or “Stuff and nonsense” — yet the narrator tells us “he believed every word of it.” What does this double truth reveal about Praiseworthy’s role on the voyage?</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27248"/>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3.  </a:t>
            </a:r>
            <a:pPr indent="0" marL="0">
              <a:buNone/>
            </a:pPr>
            <a:r>
              <a:rPr lang="en-US" sz="1100" dirty="0">
                <a:solidFill>
                  <a:srgbClr val="1E293B"/>
                </a:solidFill>
                <a:latin typeface="Calibri" pitchFamily="34" charset="0"/>
                <a:ea typeface="Calibri" pitchFamily="34" charset="-122"/>
                <a:cs typeface="Calibri" pitchFamily="34" charset="-120"/>
              </a:rPr>
              <a:t>At the end of Chapter 5, the passengers emerge from 37 days of storms to find the Sea Raven behind them. Jack exclaims it was “the most exciting moment of his life.” But then, almost at once, the secret is revealed. How does Fleischman use this discovery to make Captain Swain more likeable?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DRAFT</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Continue your draft — add at least one dialogue exchange</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Write your draft scene. Start in the middle of the action. Use dialogue. Show your hero’s voice.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2026-07-13T17:56:39Z</dcterms:created>
  <dcterms:modified xsi:type="dcterms:W3CDTF">2026-07-13T17:56:39Z</dcterms:modified>
</cp:coreProperties>
</file>