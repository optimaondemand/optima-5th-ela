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6, Day 2, Chapter 2 — The Pride of Your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talent becomes pride—and pride blinds you to warnings that could save you?
Reading: I will identify how the author builds toward a turning point through warnings, character choices, and foreshadowing.
Grammar: I will identify appositives in sentences from the novel.
Spelling: I will sort words by root pattern—dict vs. scrib/script.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"dove the laziest apprentice in the shop handed johnny a cracked crucible without anyone noticing"
Corrected: "Dove, the laziest apprentice in the shop, handed Johnny a cracked crucible without anyone noticing."
Compare with the model: “Dove” and “Johnny” are proper names and need capitals. “The laziest apprentice in the shop” is an appositive—just like “one of Boston’s wealthiest merchants” in the model—and needs commas before and after it.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"dove the laziest apprentice in the shop handed johnny a cracked crucible without anyone noticing"
Corrected: "Dove, the laziest apprentice in the shop, handed Johnny a cracked crucible without anyone noticing."
Compare with the model: “Dove” and “Johnny” are proper names and need capitals. “The laziest apprentice in the shop” is an appositive—just like “one of Boston’s wealthiest merchants” in the model—and needs commas before and after it.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support what I'm actually trying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vs.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2 — The Pride of Your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Reasons. Focus: Learn what REASONS are—the “because” statements that support your claim.
Prompt: Write TWO reasons that support your claim. Use the “because test.” Write two reasons. Each should answer “why” your claim is true. Use the because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6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2 — The Pride of Your Power</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6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talent becomes pride—and pride blinds you to warnings that could save you?</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identify how the author builds toward a turning point through warnings, character choices, and foreshadowing.</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appositives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root pattern—dict vs. scrib/script.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track how an author builds toward a turning point. Today, pay attention to the warnings Johnny receives. Ask yourself: Who tries to warn Johnny? Does he listen? What signals does the author give that something is about to go wrong?</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Mr. Lapham warns Johnny directly about his pride. How does Johnny respond? What does his response tell you?</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Before the accident, what small clues does the author plant that something terrible is about to happen?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 Hancock, one of Boston’s wealthiest merchants, ordered a silver sugar basin for his aunt.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Mr. Hancock,  </a:t>
            </a:r>
            <a:pPr indent="0" marL="0">
              <a:buNone/>
            </a:pPr>
            <a:r>
              <a:rPr lang="en-US" sz="1200" dirty="0">
                <a:solidFill>
                  <a:srgbClr val="1E293B"/>
                </a:solidFill>
                <a:latin typeface="Calibri" pitchFamily="34" charset="0"/>
                <a:ea typeface="Calibri" pitchFamily="34" charset="-122"/>
                <a:cs typeface="Calibri" pitchFamily="34" charset="-120"/>
              </a:rPr>
              <a:t>“Mr. Hancock” is a proper name with a title—both start with capital letters.</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one of Boston’s wealthiest merchants,  </a:t>
            </a:r>
            <a:pPr indent="0" marL="0">
              <a:buNone/>
            </a:pPr>
            <a:r>
              <a:rPr lang="en-US" sz="1200" dirty="0">
                <a:solidFill>
                  <a:srgbClr val="1E293B"/>
                </a:solidFill>
                <a:latin typeface="Calibri" pitchFamily="34" charset="0"/>
                <a:ea typeface="Calibri" pitchFamily="34" charset="-122"/>
                <a:cs typeface="Calibri" pitchFamily="34" charset="-120"/>
              </a:rPr>
              <a:t>“One of Boston’s wealthiest merchants” is an appositive—a phrase that renames Mr. Hancock. Commas set it off from the rest of the sentence.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ordered  </a:t>
            </a:r>
            <a:pPr indent="0" marL="0">
              <a:buNone/>
            </a:pPr>
            <a:r>
              <a:rPr lang="en-US" sz="1200" dirty="0">
                <a:solidFill>
                  <a:srgbClr val="1E293B"/>
                </a:solidFill>
                <a:latin typeface="Calibri" pitchFamily="34" charset="0"/>
                <a:ea typeface="Calibri" pitchFamily="34" charset="-122"/>
                <a:cs typeface="Calibri" pitchFamily="34" charset="-120"/>
              </a:rPr>
              <a:t>“Ordered” is past tense, matching the narrative.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basin  </a:t>
            </a:r>
            <a:pPr indent="0" marL="0">
              <a:buNone/>
            </a:pPr>
            <a:r>
              <a:rPr lang="en-US" sz="1200" dirty="0">
                <a:solidFill>
                  <a:srgbClr val="1E293B"/>
                </a:solidFill>
                <a:latin typeface="Calibri" pitchFamily="34" charset="0"/>
                <a:ea typeface="Calibri" pitchFamily="34" charset="-122"/>
                <a:cs typeface="Calibri" pitchFamily="34" charset="-120"/>
              </a:rPr>
              <a:t>“Basin” is a specific noun—the object of the order.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dove the laziest apprentice in the shop handed johnny a cracked crucible without anyone noticing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dove the laziest apprentice in the shop handed johnny a cracked crucible without anyone noticing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Dove, the laziest apprentice in the shop, handed Johnny a cracked crucible without anyone noticing.</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“Dove” and “Johnny” are proper names and need capitals. “The laziest apprentice in the shop” is an appositive—just like “one of Boston’s wealthiest merchants” in the model—and needs commas before and after it. Add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The Village Blacksmith (stanzas 1–3)</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Henry Wadsworth Longfellow</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Under a spreading chestnut-tree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The village smithy stands;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The smith, a mighty man is he,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With large and sinewy hands;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the muscles of his brawny arms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Are strong as iron bands.</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His hair is crisp, and black, and long,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His face is like the tan;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His brow is wet with honest sweat,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He earns whate’er he can,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looks the whole world in the face,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For he owes not any man.</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Week in, week out, from morn till night,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You can hear his bellows blow;</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You can hear him swing his heavy sledge,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With measured beat and slow,</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Like a sexton ringing the village bell,</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When the evening sun is low.</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How is the blacksmith’s attitude toward his work different from Johnny’s? The blacksmith earns “whate’er he can” and “looks the whole world in the face.” What might the blacksmith understand about honest labor that Johnny doesn’t yet?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is more responsible for the accident — Dove, for handing Johnny the cracked crucible out of spite, or Johnny, for ignoring Mr. Lapham's warning about pride? Defend your answer with evidence. Someone might disagree and say it was simply bad luck.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 is more responsible for the accident — Dove, for handing Johnny the cracked crucible out of spite, or Johnny, for ignoring Mr. Lapham's warning about pride? Defend your answer with evidence. Someone might disagree and say it was simply bad luck.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support what I'm actually trying to say?</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verdict (ver + dict) — Mr. Lapham delivered his verdict on Johnny’s pride | predict (pre + dict) — Johnny could not predict the disaster ahead | inscribe (in + scrib) — a silversmith might inscribe a design on metal | manuscript (manu + script) — like a handwritten page of instructions | prescribe (pre + scrib) — Mr. Lapham prescribed humility as the cure for pride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2 · Quick Match</a:t>
            </a:r>
            <a:endParaRPr lang="en-US" sz="1100" dirty="0"/>
          </a:p>
        </p:txBody>
      </p:sp>
      <p:sp>
        <p:nvSpPr>
          <p:cNvPr id="5" name="Shape 3"/>
          <p:cNvSpPr/>
          <p:nvPr/>
        </p:nvSpPr>
        <p:spPr>
          <a:xfrm>
            <a:off x="365760" y="1097280"/>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basin  </a:t>
            </a:r>
            <a:pPr indent="0" marL="0">
              <a:buNone/>
            </a:pPr>
            <a:r>
              <a:rPr lang="en-US" sz="1100" dirty="0">
                <a:solidFill>
                  <a:srgbClr val="1E293B"/>
                </a:solidFill>
                <a:latin typeface="Calibri" pitchFamily="34" charset="0"/>
                <a:ea typeface="Calibri" pitchFamily="34" charset="-122"/>
                <a:cs typeface="Calibri" pitchFamily="34" charset="-120"/>
              </a:rPr>
              <a:t>a wide, open container, often for holding liquids</a:t>
            </a:r>
            <a:endParaRPr lang="en-US" sz="1300" dirty="0"/>
          </a:p>
        </p:txBody>
      </p:sp>
      <p:sp>
        <p:nvSpPr>
          <p:cNvPr id="7" name="Shape 5"/>
          <p:cNvSpPr/>
          <p:nvPr/>
        </p:nvSpPr>
        <p:spPr>
          <a:xfrm>
            <a:off x="365760" y="1664208"/>
            <a:ext cx="8412480" cy="502920"/>
          </a:xfrm>
          <a:prstGeom prst="roundRect">
            <a:avLst>
              <a:gd name="adj" fmla="val 18182"/>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Sabbath  </a:t>
            </a:r>
            <a:pPr indent="0" marL="0">
              <a:buNone/>
            </a:pPr>
            <a:r>
              <a:rPr lang="en-US" sz="1100" dirty="0">
                <a:solidFill>
                  <a:srgbClr val="1E293B"/>
                </a:solidFill>
                <a:latin typeface="Calibri" pitchFamily="34" charset="0"/>
                <a:ea typeface="Calibri" pitchFamily="34" charset="-122"/>
                <a:cs typeface="Calibri" pitchFamily="34" charset="-120"/>
              </a:rPr>
              <a:t>the day of rest and religious observance</a:t>
            </a:r>
            <a:endParaRPr lang="en-US" sz="1300" dirty="0"/>
          </a:p>
        </p:txBody>
      </p:sp>
      <p:sp>
        <p:nvSpPr>
          <p:cNvPr id="9" name="Shape 7"/>
          <p:cNvSpPr/>
          <p:nvPr/>
        </p:nvSpPr>
        <p:spPr>
          <a:xfrm>
            <a:off x="365760" y="2231136"/>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crucible  </a:t>
            </a:r>
            <a:pPr indent="0" marL="0">
              <a:buNone/>
            </a:pPr>
            <a:r>
              <a:rPr lang="en-US" sz="1100" dirty="0">
                <a:solidFill>
                  <a:srgbClr val="1E293B"/>
                </a:solidFill>
                <a:latin typeface="Calibri" pitchFamily="34" charset="0"/>
                <a:ea typeface="Calibri" pitchFamily="34" charset="-122"/>
                <a:cs typeface="Calibri" pitchFamily="34" charset="-120"/>
              </a:rPr>
              <a:t>a container for melting metals at high temperatures</a:t>
            </a:r>
            <a:endParaRPr lang="en-US" sz="1300" dirty="0"/>
          </a:p>
        </p:txBody>
      </p:sp>
      <p:sp>
        <p:nvSpPr>
          <p:cNvPr id="11" name="Shape 9"/>
          <p:cNvSpPr/>
          <p:nvPr/>
        </p:nvSpPr>
        <p:spPr>
          <a:xfrm>
            <a:off x="365760" y="2798064"/>
            <a:ext cx="8412480" cy="502920"/>
          </a:xfrm>
          <a:prstGeom prst="roundRect">
            <a:avLst>
              <a:gd name="adj" fmla="val 18182"/>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molten  </a:t>
            </a:r>
            <a:pPr indent="0" marL="0">
              <a:buNone/>
            </a:pPr>
            <a:r>
              <a:rPr lang="en-US" sz="1100" dirty="0">
                <a:solidFill>
                  <a:srgbClr val="1E293B"/>
                </a:solidFill>
                <a:latin typeface="Calibri" pitchFamily="34" charset="0"/>
                <a:ea typeface="Calibri" pitchFamily="34" charset="-122"/>
                <a:cs typeface="Calibri" pitchFamily="34" charset="-120"/>
              </a:rPr>
              <a:t>melted by extreme heat, in liquid form</a:t>
            </a:r>
            <a:endParaRPr lang="en-US" sz="1300" dirty="0"/>
          </a:p>
        </p:txBody>
      </p:sp>
      <p:sp>
        <p:nvSpPr>
          <p:cNvPr id="13" name="Shape 11"/>
          <p:cNvSpPr/>
          <p:nvPr/>
        </p:nvSpPr>
        <p:spPr>
          <a:xfrm>
            <a:off x="365760" y="3364992"/>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10712"/>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commission  </a:t>
            </a:r>
            <a:pPr indent="0" marL="0">
              <a:buNone/>
            </a:pPr>
            <a:r>
              <a:rPr lang="en-US" sz="1100" dirty="0">
                <a:solidFill>
                  <a:srgbClr val="1E293B"/>
                </a:solidFill>
                <a:latin typeface="Calibri" pitchFamily="34" charset="0"/>
                <a:ea typeface="Calibri" pitchFamily="34" charset="-122"/>
                <a:cs typeface="Calibri" pitchFamily="34" charset="-120"/>
              </a:rPr>
              <a:t>a formal order to make or do something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appositives in sentences from the novel</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“Johnny, the most skilled apprentice , took charge of the order.” — The appositive “the most skilled apprentice” renames Johnny. “Mr. Hancock, a wealthy Boston merchant , commissioned a sugar basin.” — The appositive “a wealthy Boston merchant” explains who Mr. Hancock is. Test it: Remove the phrase between the commas. If the sentence still makes sense, you found the appositive.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the elderly master silversmith, warned Johnny about his pride.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Dove, the clumsiest apprentice, fetched the cracked crucible from the shelf.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Paul Revere, the finest craftsman in Boston, offered to buy Johnny’s time.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appositives in sentences from the novel</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“Johnny, the most skilled apprentice , took charge of the order.” — The appositive “the most skilled apprentice” renames Johnny. “Mr. Hancock, a wealthy Boston merchant , commissioned a sugar basin.” — The appositive “a wealthy Boston merchant” explains who Mr. Hancock is. Test it: Remove the phrase between the commas. If the sentence still makes sense, you found the appositive.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the elderly master silversmith, warned Johnny about his pride.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Dove, the clumsiest apprentice, fetched the cracked crucible from the shelf.
</a:t>
            </a:r>
            <a:pPr indent="0" marL="0">
              <a:buNone/>
            </a:pPr>
            <a:r>
              <a:rPr lang="en-US" sz="1200" b="1" dirty="0">
                <a:solidFill>
                  <a:srgbClr val="34B76F"/>
                </a:solidFill>
                <a:latin typeface="Calibri" pitchFamily="34" charset="0"/>
                <a:ea typeface="Calibri" pitchFamily="34" charset="-122"/>
                <a:cs typeface="Calibri" pitchFamily="34" charset="-120"/>
              </a:rPr>
              <a:t>✅ the clumsiest apprentice,</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Paul Revere, the finest craftsman in Boston, offered to buy Johnny’s time.
</a:t>
            </a:r>
            <a:pPr indent="0" marL="0">
              <a:buNone/>
            </a:pPr>
            <a:r>
              <a:rPr lang="en-US" sz="1200" b="1" dirty="0">
                <a:solidFill>
                  <a:srgbClr val="34B76F"/>
                </a:solidFill>
                <a:latin typeface="Calibri" pitchFamily="34" charset="0"/>
                <a:ea typeface="Calibri" pitchFamily="34" charset="-122"/>
                <a:cs typeface="Calibri" pitchFamily="34" charset="-120"/>
              </a:rPr>
              <a:t>✅ the finest craftsman in Boston,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Find the appositive in this sentence and explain what information it adds: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vs.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root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“It was his own fault. His own vaunting, cocksure pride.”</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has just happened? The narrator says this right after the accident. Why does the narrator call Johnny’s pride “vaunting” and “cocksure”? What is the difference between confidence and this kind of pride?</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the structure: two short sentences. The first is blunt—“It was his own fault.” The second adds weight with those two sharp adjectives before “pride.” How does this rhythm make the reader feel the blow of the moment?</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two sentences about a character’s mistake. Make the first short and blunt. Make the second longer, adding detail with adjectives.</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It was ___. His/Her own ___, ___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2 — The Pride of Your Power</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 — The Pride of Your Power</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Mr. Lapham warns Johnny directly about his pride. How does Johnny respond? What does his response tell you?</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Before the accident, what small clues does the author plant that something terrible is about to happen?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does Mr. Lapham mean when he warns Johnny about pride? Use a detail from the chapter to support your answer.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Why does Dove hand Johnny the cracked crucible? What does this tell you about how the other apprentices feel about Johnny?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How does the accident change Johnny’s future? What has he lost, and what might he face now?</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34B76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F8FAFC"/>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REASONS</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REASONS are—the “because” statements that support your claim.</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Write TWO reasons that support your claim. Use the “because test.” Write two reasons. Each should answer “why” your claim is true. Use the because test.</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TWO reasons that support your claim. Use the “because test.” Write two reasons. Each should answer “why” your claim is true. Use the because test.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