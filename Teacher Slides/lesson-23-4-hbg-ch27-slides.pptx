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23, Day 4, Chapter 27 — Wagon of the Bonepickers.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mission was over naomi was free isaac had done what he set out to do he could rest now"
Corrected: "The mission was over, Naomi was free, and Isaac — who had done what he set out to do — could finally rest."
Series of independent clauses joined by commas + and. Relative clause (“who had done what he set out to do”) embedded for rhythm. “Now” cut — implied by “finally.”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mission was over naomi was free isaac had done what he set out to do he could rest now"
Corrected: "The mission was over, Naomi was free, and Isaac — who had done what he set out to do — could finally rest."
Series of independent clauses joined by commas + and. Relative clause (“who had done what he set out to do”) embedded for rhythm. “Now” cut — implied by “finally.”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this detail actually support what I'm trying to say, or is it just filler?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Chapter 27 — Wagon of the Bonepickers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SUBMIT
Focus: Publish Narrative/Literary Analysis Piece
Task: Today is the Submit stage. Write the final version of your published piece — clean, complete, and ready to share. This is your best writing from this unit. Then write one sentence: what does this piece show about you as a writer?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23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27 — Wagon of the Bonepickers</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23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notice when a story returns to something introduced earlier. The bonepickers appeared in Chapter 22. Now their wagon arrives at a critical moment. As you read: what do the bonepickers do, and why does their arrival matter here? What does honoring the dead protect, beyond the physical remains?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Isaac had fulfilled his promise. He had kept his eyes on where he was going.</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Isaac  </a:t>
            </a:r>
            <a:pPr indent="0" marL="0">
              <a:buNone/>
            </a:pPr>
            <a:r>
              <a:rPr lang="en-US" sz="1150" dirty="0">
                <a:solidFill>
                  <a:srgbClr val="1E293B"/>
                </a:solidFill>
                <a:latin typeface="Calibri" pitchFamily="34" charset="0"/>
                <a:ea typeface="Calibri" pitchFamily="34" charset="-122"/>
                <a:cs typeface="Calibri" pitchFamily="34" charset="-120"/>
              </a:rPr>
              <a:t>Subject.</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fulfilled  </a:t>
            </a:r>
            <a:pPr indent="0" marL="0">
              <a:buNone/>
            </a:pPr>
            <a:r>
              <a:rPr lang="en-US" sz="1150" dirty="0">
                <a:solidFill>
                  <a:srgbClr val="1E293B"/>
                </a:solidFill>
                <a:latin typeface="Calibri" pitchFamily="34" charset="0"/>
                <a:ea typeface="Calibri" pitchFamily="34" charset="-122"/>
                <a:cs typeface="Calibri" pitchFamily="34" charset="-120"/>
              </a:rPr>
              <a:t>Strong verb.</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promise.  </a:t>
            </a:r>
            <a:pPr indent="0" marL="0">
              <a:buNone/>
            </a:pPr>
            <a:r>
              <a:rPr lang="en-US" sz="1150" dirty="0">
                <a:solidFill>
                  <a:srgbClr val="1E293B"/>
                </a:solidFill>
                <a:latin typeface="Calibri" pitchFamily="34" charset="0"/>
                <a:ea typeface="Calibri" pitchFamily="34" charset="-122"/>
                <a:cs typeface="Calibri" pitchFamily="34" charset="-120"/>
              </a:rPr>
              <a:t>Period.</a:t>
            </a:r>
            <a:endParaRPr lang="en-US" sz="1250" dirty="0"/>
          </a:p>
        </p:txBody>
      </p:sp>
      <p:sp>
        <p:nvSpPr>
          <p:cNvPr id="14" name="Shape 12"/>
          <p:cNvSpPr/>
          <p:nvPr/>
        </p:nvSpPr>
        <p:spPr>
          <a:xfrm>
            <a:off x="365760" y="3913632"/>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959352"/>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He  </a:t>
            </a:r>
            <a:pPr indent="0" marL="0">
              <a:buNone/>
            </a:pPr>
            <a:r>
              <a:rPr lang="en-US" sz="1150" dirty="0">
                <a:solidFill>
                  <a:srgbClr val="1E293B"/>
                </a:solidFill>
                <a:latin typeface="Calibri" pitchFamily="34" charset="0"/>
                <a:ea typeface="Calibri" pitchFamily="34" charset="-122"/>
                <a:cs typeface="Calibri" pitchFamily="34" charset="-120"/>
              </a:rPr>
              <a:t>Pronoun, clear antecedent.</a:t>
            </a:r>
            <a:endParaRPr lang="en-US" sz="1250" dirty="0"/>
          </a:p>
        </p:txBody>
      </p:sp>
      <p:sp>
        <p:nvSpPr>
          <p:cNvPr id="16" name="Shape 14"/>
          <p:cNvSpPr/>
          <p:nvPr/>
        </p:nvSpPr>
        <p:spPr>
          <a:xfrm>
            <a:off x="365760" y="4425696"/>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7" name="Text 15"/>
          <p:cNvSpPr/>
          <p:nvPr/>
        </p:nvSpPr>
        <p:spPr>
          <a:xfrm>
            <a:off x="548640" y="4471416"/>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kept  </a:t>
            </a:r>
            <a:pPr indent="0" marL="0">
              <a:buNone/>
            </a:pPr>
            <a:r>
              <a:rPr lang="en-US" sz="1150" dirty="0">
                <a:solidFill>
                  <a:srgbClr val="1E293B"/>
                </a:solidFill>
                <a:latin typeface="Calibri" pitchFamily="34" charset="0"/>
                <a:ea typeface="Calibri" pitchFamily="34" charset="-122"/>
                <a:cs typeface="Calibri" pitchFamily="34" charset="-120"/>
              </a:rPr>
              <a:t>Strong verb.</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mission was over naomi was free isaac had done what he set out to do he could rest now</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mission was over naomi was free isaac had done what he set out to do he could rest now</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The mission was over, Naomi was free, and Isaac — who had done what he set out to do — could finally rest.</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Series of independent clauses joined by commas + and. Relative clause (“who had done what he set out to do”) embedded for rhythm. “Now” cut — implied by “finally.”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331720"/>
          </a:xfrm>
          <a:prstGeom prst="roundRect">
            <a:avLst>
              <a:gd name="adj" fmla="val 3922"/>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Let America Be America Again</a:t>
            </a:r>
            <a:endParaRPr lang="en-US" sz="19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Langston Hughes (1936, excerpt)</a:t>
            </a:r>
            <a:endParaRPr lang="en-US" sz="1300" dirty="0"/>
          </a:p>
        </p:txBody>
      </p:sp>
      <p:sp>
        <p:nvSpPr>
          <p:cNvPr id="7" name="Text 5"/>
          <p:cNvSpPr/>
          <p:nvPr/>
        </p:nvSpPr>
        <p:spPr>
          <a:xfrm>
            <a:off x="594360" y="1627632"/>
            <a:ext cx="7955280" cy="1463040"/>
          </a:xfrm>
          <a:prstGeom prst="rect">
            <a:avLst/>
          </a:prstGeom>
          <a:noFill/>
          <a:ln/>
        </p:spPr>
        <p:txBody>
          <a:bodyPr wrap="square" lIns="0" tIns="0" rIns="0" bIns="0" rtlCol="0" anchor="t"/>
          <a:lstStyle/>
          <a:p>
            <a:pPr indent="0" marL="0">
              <a:buNone/>
            </a:pPr>
            <a:r>
              <a:rPr lang="en-US" sz="1400" i="1" dirty="0">
                <a:solidFill>
                  <a:srgbClr val="1E293B"/>
                </a:solidFill>
                <a:latin typeface="Georgia" pitchFamily="34" charset="0"/>
                <a:ea typeface="Georgia" pitchFamily="34" charset="-122"/>
                <a:cs typeface="Georgia" pitchFamily="34" charset="-120"/>
              </a:rPr>
              <a:t>Let America be America again.</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Let it be the dream it used to be.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Let it be the pioneer on the plain</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Seeking a home where he himself is free.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(America never was America to me.)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O, let my land be a land where Liberty</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Is crowned with no false patriotic wreath,</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But opportunity is real, and life is free,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Equality is in the air we breathe.</a:t>
            </a:r>
            <a:endParaRPr lang="en-US" sz="1400" dirty="0"/>
          </a:p>
        </p:txBody>
      </p:sp>
      <p:sp>
        <p:nvSpPr>
          <p:cNvPr id="8" name="Text 6"/>
          <p:cNvSpPr/>
          <p:nvPr/>
        </p:nvSpPr>
        <p:spPr>
          <a:xfrm>
            <a:off x="365760" y="331012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566160"/>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657600"/>
            <a:ext cx="7955280" cy="86868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Hughes writes “America never was America to me.” How does this poem connect to the Choctaw experience on the Trail of Tears? What does “liberty” mean for the people in Isaac’s story? And what would it mean for America to become what it claims to be?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bonepickers' wagon returns in this chapter. Looking back at Chapters 24-27, is this wagon more a symbol of loss, or a symbol of the community's care for its dead? Defend your answer with evidence.</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Someone might disagree, but...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The bonepickers' wagon returns in this chapter. Looking back at Chapters 24-27, is this wagon more a symbol of loss, or a symbol of the community's care for its dead? Defend your answer with evidence.</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Does this detail actually support what I'm trying to say, or is it just filler?</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Chapter 27 — Wagon of the Bonepickers</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27 — Wagon of the Bonepickers</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notice when a story returns to something introduced earlier. The bonepickers appeared in Chapter 22. Now their wagon arrives at a critical moment. As you read: what do the bonepickers do, and why does their arrival matter here? What does honoring the dead protect, beyond the physical remains?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What do the bonepickers do in Chapter 27, and why do soldiers try to stop them? Use specific details.</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Isaac, as a ghost, watches the bonepickers honor the dead. What does this moment mean for him personally? What does he understand that he might not have understood as a living person?</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Across the whole novel, Tingle has honored the dead: the ghost walkers, Isaac, Nita, the bonepickers. What argument is he making about memory, death, and belonging? What does this novel say about what it means to be part of a people?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SUBMIT</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Publish Narrative/Literary Analysis Piece</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Submit stage. Write the final version of your published piece — clean, complete, and ready to share. This is your best writing from this unit. Then write one sentence: what does this piece show about you as a writer?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2026-07-13T17:32:04Z</dcterms:created>
  <dcterms:modified xsi:type="dcterms:W3CDTF">2026-07-13T17:32:04Z</dcterms:modified>
</cp:coreProperties>
</file>