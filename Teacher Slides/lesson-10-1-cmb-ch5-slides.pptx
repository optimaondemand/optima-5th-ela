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10.1: Chapter 5, "A Voice in the Night". Banner quote: “Nine years... nine years... nine years...” (Chapter 5 • Carry On, Mr. Bowditch).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question: What do you do when the path closes? Nat hears a voice in the night and expects one thing. He gets something completely different. Nine years at a ship chandlery — no school, no Harvard. What a person does at that moment reveals everything about who they are.
Objectives:
- 🌱 Morphology: I will define the roots graph (write, draw), gram (the thing written) and scribe/script (write).
- ✏️ Grammar: I will define verb tense and identify past, present, and future forms.
- 🔤 Spelling: I will define how -er and -or name the doer of an action.
- 📖 Reading: I will define how one event can reshape a life by naming the problem Chapter 5 creates for Nat.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 no answer needed. Ask students why each highlighted word or mark is correct before revealing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nat stood on the wharf and watched the big dipper swing around the north star in the cold night sky
Corrected: Nat stood on the wharf and watched the Big Dipper swing around the North Star in the cold night sky.
Three fixes: “Nat” is a proper noun (person’s name); “Big Dipper” is the name of a specific constellation; “North Star” is the name of a specific star. All proper nouns get capital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nat stood on the wharf and watched the big dipper swing around the north star in the cold night sky
Corrected: Nat stood on the wharf and watched the Big Dipper swing around the North Star in the cold night sky.
Three fixes: “Nat” is a proper noun (person’s name); “Big Dipper” is the name of a specific constellation; “North Star” is the name of a specific star. All proper nouns get capital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detail here I could cut because it doesn't support my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Invite respectful disagreement about their choice and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Morphology: Roots graph / gram / scribe — Define · three roots for writing.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match each word to its meaning. Letters are scrambled.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autograph = writing your own name
diagram = a drawing that explains
manuscript = something written by hand
biography = the writing of a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fill each blank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transcribe  2. diagram  3. biography  4. manuscript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graded Show What You Know for today. Students write it in the Word Study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Vocabulary: Decode &amp; Discover — Words for Nat’s world (Chs. 5–8 and beyond).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Vocabulary: Decode &amp; Discover — Words for Nat’s world (Chs. 5–8 and beyond).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 cards. Have students say each word, then use it in a sentence about the chapter.
bookkeeping: The careful recording of all financial transactions and accounts for a business — tracking money coming in and going out. Nat would do this for the ship chandlery.
almanac: A yearly published book containing astronomical tables, calendar data, weather predictions, and navigation information. Sailors depended on almanacs to navigate across open ocean.
latitude: Distance measured in degrees north or south from the equator. Together with longitude, latitude tells a navigator exactly where on earth a ship is located.
logarithm: A mathematical tool that expresses a number as the power to which a base must be raised. Logarithm tables allowed sailors to replace difficult multiplication with simple addition, transforming navigation.
celestial: Relating to the sky or heavens. Celestial navigation uses the measured positions of stars, the sun, and the moon to calculate a ship’s exact location on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Grammar: Verb Tense in Informational Writing — Day 1: Notice — work out the pattern before you are told it..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Grammar: Verb Tense in Informational Writing — Day 1: Notice — work out the pattern before you are told it..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Past tense — spot1
2. Present tense — spot2
3. Future tense — spot3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Spelling: -er and -or — Naming the Doer — Define — who does the doing?.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Spelling: -er and -or — Naming the Doer — Define — who does the doing?.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Spelling: -er and -or — Naming the Doer — Define — who does the doing?.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sort the words into the groups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Sorted:
ends in –or: sailor, navigator, surveyor
ends in –er: teacher, writer, bookkeeper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reading. Students open their novels to Chapter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stopping points before students read, so they know where to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Plan: Sketch your essay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Plan: Sketch your essay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5715000"/>
            <a:ext cx="12191695" cy="1143000"/>
          </a:xfrm>
          <a:prstGeom prst="rect">
            <a:avLst/>
          </a:prstGeom>
          <a:solidFill>
            <a:srgbClr val="17295C"/>
          </a:solidFill>
          <a:ln w="12700">
            <a:solidFill>
              <a:srgbClr val="17295C"/>
            </a:solidFill>
            <a:prstDash val="solid"/>
          </a:ln>
        </p:spPr>
      </p:sp>
      <p:sp>
        <p:nvSpPr>
          <p:cNvPr id="3" name="Text 1"/>
          <p:cNvSpPr/>
          <p:nvPr/>
        </p:nvSpPr>
        <p:spPr>
          <a:xfrm>
            <a:off x="731520" y="914400"/>
            <a:ext cx="10058400" cy="457200"/>
          </a:xfrm>
          <a:prstGeom prst="rect">
            <a:avLst/>
          </a:prstGeom>
          <a:noFill/>
          <a:ln/>
        </p:spPr>
        <p:txBody>
          <a:bodyPr wrap="square" lIns="0" tIns="0" rIns="0" bIns="0" rtlCol="0" anchor="ctr"/>
          <a:lstStyle/>
          <a:p>
            <a:pPr indent="0" marL="0">
              <a:buNone/>
            </a:pPr>
            <a:r>
              <a:rPr lang="en-US" sz="1800" b="1" spc="300" kern="0" dirty="0">
                <a:solidFill>
                  <a:srgbClr val="55C8E8"/>
                </a:solidFill>
                <a:latin typeface="Calibri" pitchFamily="34" charset="0"/>
                <a:ea typeface="Calibri" pitchFamily="34" charset="-122"/>
                <a:cs typeface="Calibri" pitchFamily="34" charset="-120"/>
              </a:rPr>
              <a:t>WEEK 10  ·  DAY 1  ·  LESSON 10.1</a:t>
            </a:r>
            <a:endParaRPr lang="en-US" sz="1800" dirty="0"/>
          </a:p>
        </p:txBody>
      </p:sp>
      <p:sp>
        <p:nvSpPr>
          <p:cNvPr id="4" name="Text 2"/>
          <p:cNvSpPr/>
          <p:nvPr/>
        </p:nvSpPr>
        <p:spPr>
          <a:xfrm>
            <a:off x="731520" y="1737360"/>
            <a:ext cx="105156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Carry On, Mr. Bowditch</a:t>
            </a:r>
            <a:endParaRPr lang="en-US" sz="4400" dirty="0"/>
          </a:p>
        </p:txBody>
      </p:sp>
      <p:sp>
        <p:nvSpPr>
          <p:cNvPr id="5" name="Text 3"/>
          <p:cNvSpPr/>
          <p:nvPr/>
        </p:nvSpPr>
        <p:spPr>
          <a:xfrm>
            <a:off x="731520" y="2606040"/>
            <a:ext cx="10515600" cy="822960"/>
          </a:xfrm>
          <a:prstGeom prst="rect">
            <a:avLst/>
          </a:prstGeom>
          <a:noFill/>
          <a:ln/>
        </p:spPr>
        <p:txBody>
          <a:bodyPr wrap="square" lIns="0" tIns="0" rIns="0" bIns="0" rtlCol="0" anchor="ctr"/>
          <a:lstStyle/>
          <a:p>
            <a:pPr indent="0" marL="0">
              <a:buNone/>
            </a:pPr>
            <a:r>
              <a:rPr lang="en-US" sz="3400" dirty="0">
                <a:solidFill>
                  <a:srgbClr val="FFFFFF"/>
                </a:solidFill>
                <a:latin typeface="Calibri" pitchFamily="34" charset="0"/>
                <a:ea typeface="Calibri" pitchFamily="34" charset="-122"/>
                <a:cs typeface="Calibri" pitchFamily="34" charset="-120"/>
              </a:rPr>
              <a:t>Chapter 5 — A Voice in the Night</a:t>
            </a:r>
            <a:endParaRPr lang="en-US" sz="3400" dirty="0"/>
          </a:p>
        </p:txBody>
      </p:sp>
      <p:sp>
        <p:nvSpPr>
          <p:cNvPr id="6" name="Text 4"/>
          <p:cNvSpPr/>
          <p:nvPr/>
        </p:nvSpPr>
        <p:spPr>
          <a:xfrm>
            <a:off x="731520" y="3794760"/>
            <a:ext cx="10607040" cy="1371600"/>
          </a:xfrm>
          <a:prstGeom prst="rect">
            <a:avLst/>
          </a:prstGeom>
          <a:noFill/>
          <a:ln/>
        </p:spPr>
        <p:txBody>
          <a:bodyPr wrap="square" lIns="0" tIns="0" rIns="0" bIns="0" rtlCol="0" anchor="t"/>
          <a:lstStyle/>
          <a:p>
            <a:pPr indent="0" marL="0">
              <a:buNone/>
            </a:pPr>
            <a:r>
              <a:rPr lang="en-US" sz="2000" i="1" dirty="0">
                <a:solidFill>
                  <a:srgbClr val="DCE6F5"/>
                </a:solidFill>
                <a:latin typeface="Calibri" pitchFamily="34" charset="0"/>
                <a:ea typeface="Calibri" pitchFamily="34" charset="-122"/>
                <a:cs typeface="Calibri" pitchFamily="34" charset="-120"/>
              </a:rPr>
              <a:t>“Nine years... nine years... nine years...”</a:t>
            </a:r>
            <a:pPr indent="0" marL="0">
              <a:buNone/>
            </a:pPr>
            <a:r>
              <a:rPr lang="en-US" sz="1600" dirty="0">
                <a:solidFill>
                  <a:srgbClr val="55C8E8"/>
                </a:solidFill>
                <a:latin typeface="Calibri" pitchFamily="34" charset="0"/>
                <a:ea typeface="Calibri" pitchFamily="34" charset="-122"/>
                <a:cs typeface="Calibri" pitchFamily="34" charset="-120"/>
              </a:rPr>
              <a:t>  — Chapter 5 • Carry On, Mr. Bowditch</a:t>
            </a:r>
            <a:endParaRPr lang="en-US" sz="2000" dirty="0"/>
          </a:p>
        </p:txBody>
      </p:sp>
      <p:sp>
        <p:nvSpPr>
          <p:cNvPr id="7" name="Text 5"/>
          <p:cNvSpPr/>
          <p:nvPr/>
        </p:nvSpPr>
        <p:spPr>
          <a:xfrm>
            <a:off x="731520" y="5943600"/>
            <a:ext cx="10058400" cy="548640"/>
          </a:xfrm>
          <a:prstGeom prst="rect">
            <a:avLst/>
          </a:prstGeom>
          <a:noFill/>
          <a:ln/>
        </p:spPr>
        <p:txBody>
          <a:bodyPr wrap="square" lIns="0" tIns="0" rIns="0" bIns="0" rtlCol="0" anchor="ctr"/>
          <a:lstStyle/>
          <a:p>
            <a:pPr indent="0" marL="0">
              <a:buNone/>
            </a:pPr>
            <a:r>
              <a:rPr lang="en-US" sz="1800" dirty="0">
                <a:solidFill>
                  <a:srgbClr val="DCE6F5"/>
                </a:solidFill>
                <a:latin typeface="Calibri" pitchFamily="34" charset="0"/>
                <a:ea typeface="Calibri" pitchFamily="34" charset="-122"/>
                <a:cs typeface="Calibri" pitchFamily="34" charset="-120"/>
              </a:rPr>
              <a:t>🧭  Grade 5 ELA  ·  Optima Academy Online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TODAY’S OBJECTIVES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Today's Objectives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4754880" cy="4892040"/>
          </a:xfrm>
          <a:prstGeom prst="roundRect">
            <a:avLst>
              <a:gd name="adj" fmla="val 1538"/>
            </a:avLst>
          </a:prstGeom>
          <a:solidFill>
            <a:srgbClr val="F0E8FF"/>
          </a:solidFill>
          <a:ln w="15875">
            <a:solidFill>
              <a:srgbClr val="D6C8F0"/>
            </a:solidFill>
            <a:prstDash val="solid"/>
          </a:ln>
        </p:spPr>
      </p:sp>
      <p:sp>
        <p:nvSpPr>
          <p:cNvPr id="7" name="Text 5"/>
          <p:cNvSpPr/>
          <p:nvPr/>
        </p:nvSpPr>
        <p:spPr>
          <a:xfrm>
            <a:off x="731520" y="1737360"/>
            <a:ext cx="4297680"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BIG QUESTION</a:t>
            </a:r>
            <a:endParaRPr lang="en-US" sz="1300" dirty="0"/>
          </a:p>
        </p:txBody>
      </p:sp>
      <p:sp>
        <p:nvSpPr>
          <p:cNvPr id="8" name="Text 6"/>
          <p:cNvSpPr/>
          <p:nvPr/>
        </p:nvSpPr>
        <p:spPr>
          <a:xfrm>
            <a:off x="731520" y="2103120"/>
            <a:ext cx="4297680" cy="4160520"/>
          </a:xfrm>
          <a:prstGeom prst="rect">
            <a:avLst/>
          </a:prstGeom>
          <a:noFill/>
          <a:ln/>
        </p:spPr>
        <p:txBody>
          <a:bodyPr wrap="square" lIns="0" tIns="0" rIns="0" bIns="0" rtlCol="0" anchor="t"/>
          <a:lstStyle/>
          <a:p>
            <a:pPr indent="0" marL="0">
              <a:spcAft>
                <a:spcPts val="1000"/>
              </a:spcAft>
              <a:buNone/>
            </a:pPr>
            <a:r>
              <a:rPr lang="en-US" sz="2300" b="1" dirty="0">
                <a:solidFill>
                  <a:srgbClr val="6B4FA8"/>
                </a:solidFill>
                <a:latin typeface="Calibri" pitchFamily="34" charset="0"/>
                <a:ea typeface="Calibri" pitchFamily="34" charset="-122"/>
                <a:cs typeface="Calibri" pitchFamily="34" charset="-120"/>
              </a:rPr>
              <a:t>What do you do when the path closes?</a:t>
            </a:r>
            <a:endParaRPr lang="en-US" sz="2300" dirty="0"/>
          </a:p>
          <a:p>
            <a:pPr indent="0" marL="0">
              <a:spcAft>
                <a:spcPts val="1000"/>
              </a:spcAft>
              <a:buNone/>
            </a:pPr>
            <a:r>
              <a:rPr lang="en-US" sz="2300" dirty="0">
                <a:solidFill>
                  <a:srgbClr val="1E293B"/>
                </a:solidFill>
                <a:latin typeface="Calibri" pitchFamily="34" charset="0"/>
                <a:ea typeface="Calibri" pitchFamily="34" charset="-122"/>
                <a:cs typeface="Calibri" pitchFamily="34" charset="-120"/>
              </a:rPr>
              <a:t>Nat hears a voice in the night and expects one thing. He gets something completely different. Nine years at a ship chandlery — no school, no Harvard. What a person does at that moment reveals everything about who they are.</a:t>
            </a:r>
            <a:endParaRPr lang="en-US" sz="2300" dirty="0"/>
          </a:p>
        </p:txBody>
      </p:sp>
      <p:sp>
        <p:nvSpPr>
          <p:cNvPr id="9" name="Shape 7"/>
          <p:cNvSpPr/>
          <p:nvPr/>
        </p:nvSpPr>
        <p:spPr>
          <a:xfrm>
            <a:off x="5532120" y="1554480"/>
            <a:ext cx="6156655" cy="4892040"/>
          </a:xfrm>
          <a:prstGeom prst="roundRect">
            <a:avLst>
              <a:gd name="adj" fmla="val 1495"/>
            </a:avLst>
          </a:prstGeom>
          <a:solidFill>
            <a:srgbClr val="F8FAFC"/>
          </a:solidFill>
          <a:ln w="15875">
            <a:solidFill>
              <a:srgbClr val="CBD5E1"/>
            </a:solidFill>
            <a:prstDash val="solid"/>
          </a:ln>
        </p:spPr>
      </p:sp>
      <p:sp>
        <p:nvSpPr>
          <p:cNvPr id="10" name="Text 8"/>
          <p:cNvSpPr/>
          <p:nvPr/>
        </p:nvSpPr>
        <p:spPr>
          <a:xfrm>
            <a:off x="5760720" y="1737360"/>
            <a:ext cx="56994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BY THE END OF THIS LESSON…</a:t>
            </a:r>
            <a:endParaRPr lang="en-US" sz="1300" dirty="0"/>
          </a:p>
        </p:txBody>
      </p:sp>
      <p:sp>
        <p:nvSpPr>
          <p:cNvPr id="11" name="Text 9"/>
          <p:cNvSpPr/>
          <p:nvPr/>
        </p:nvSpPr>
        <p:spPr>
          <a:xfrm>
            <a:off x="5760720" y="2103120"/>
            <a:ext cx="5699455" cy="416052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Morphology: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define the roots graph (write, draw), gram (the thing written) and scribe/script (write).</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Grammar: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define verb tense and identify past, present, and future forms.</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Spelling: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define how -er and -or name the doer of an action.</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Reading: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define how one event can reshape a life by naming the problem Chapter 5 creates for Nat.</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SET YOUR READING LENS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Good readers of a life story watch problems and what a person does with them. An event only matters in a biography if it changes what someone can do next. In Chapter 5 Latham lets Nat believe something better is coming, and then closes the door. Read for the problem that creates, and for what Nat starts doing about it.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Name the problem: For each event, say plainly what problem it puts in front of Nat.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Watch what he does with it: Look for the specific action he takes. A life story turns on what a person does next.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Follow the consequence forward: Ask what this makes possible later. A life story is a chain, not a list.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Watch for as you read:</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What does Nat hear in the night, and what does he think it means? What does it actually mean?</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SET YOUR READING LENS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When Nat reads the indenture, he makes a joke. Why? What does that joke tell you about him?</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Latham writes that Nat’s feet “seemed to beat out the words: Nine years… nine years… nine years…” What is she showing us about Nat’s inner state?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CORRECT MODEL — NOTICE WHAT EACH HIGHLIGHTED PART TEACHES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Study What’s Right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371600"/>
          </a:xfrm>
          <a:prstGeom prst="roundRect">
            <a:avLst>
              <a:gd name="adj" fmla="val 5333"/>
            </a:avLst>
          </a:prstGeom>
          <a:solidFill>
            <a:srgbClr val="E8F8EF"/>
          </a:solidFill>
          <a:ln w="15875">
            <a:solidFill>
              <a:srgbClr val="9ED9B5"/>
            </a:solidFill>
            <a:prstDash val="solid"/>
          </a:ln>
        </p:spPr>
      </p:sp>
      <p:sp>
        <p:nvSpPr>
          <p:cNvPr id="7" name="Text 5"/>
          <p:cNvSpPr/>
          <p:nvPr/>
        </p:nvSpPr>
        <p:spPr>
          <a:xfrm>
            <a:off x="777240" y="1645920"/>
            <a:ext cx="10637215" cy="1188720"/>
          </a:xfrm>
          <a:prstGeom prst="rect">
            <a:avLst/>
          </a:prstGeom>
          <a:noFill/>
          <a:ln/>
        </p:spPr>
        <p:txBody>
          <a:bodyPr wrap="square" lIns="0" tIns="0" rIns="0" bIns="0" rtlCol="0" anchor="ctr">
            <a:normAutofit/>
          </a:bodyPr>
          <a:lstStyle/>
          <a:p>
            <a:pPr indent="0" marL="0">
              <a:buNone/>
            </a:pPr>
            <a:r>
              <a:rPr lang="en-US" sz="2600" b="1" u="sng" dirty="0">
                <a:solidFill>
                  <a:srgbClr val="1E8E52"/>
                </a:solidFill>
                <a:latin typeface="Calibri" pitchFamily="34" charset="0"/>
                <a:ea typeface="Calibri" pitchFamily="34" charset="-122"/>
                <a:cs typeface="Calibri" pitchFamily="34" charset="-120"/>
              </a:rPr>
              <a:t>Mary</a:t>
            </a:r>
            <a:pPr indent="0" marL="0">
              <a:buNone/>
            </a:pPr>
            <a:r>
              <a:rPr lang="en-US" sz="2600" dirty="0">
                <a:solidFill>
                  <a:srgbClr val="1E293B"/>
                </a:solidFill>
                <a:latin typeface="Calibri" pitchFamily="34" charset="0"/>
                <a:ea typeface="Calibri" pitchFamily="34" charset="-122"/>
                <a:cs typeface="Calibri" pitchFamily="34" charset="-120"/>
              </a:rPr>
              <a:t> and </a:t>
            </a:r>
            <a:pPr indent="0" marL="0">
              <a:buNone/>
            </a:pPr>
            <a:r>
              <a:rPr lang="en-US" sz="2600" b="1" u="sng" dirty="0">
                <a:solidFill>
                  <a:srgbClr val="1E8E52"/>
                </a:solidFill>
                <a:latin typeface="Calibri" pitchFamily="34" charset="0"/>
                <a:ea typeface="Calibri" pitchFamily="34" charset="-122"/>
                <a:cs typeface="Calibri" pitchFamily="34" charset="-120"/>
              </a:rPr>
              <a:t>Nat</a:t>
            </a:r>
            <a:pPr indent="0" marL="0">
              <a:buNone/>
            </a:pPr>
            <a:r>
              <a:rPr lang="en-US" sz="2600" dirty="0">
                <a:solidFill>
                  <a:srgbClr val="1E293B"/>
                </a:solidFill>
                <a:latin typeface="Calibri" pitchFamily="34" charset="0"/>
                <a:ea typeface="Calibri" pitchFamily="34" charset="-122"/>
                <a:cs typeface="Calibri" pitchFamily="34" charset="-120"/>
              </a:rPr>
              <a:t> walked out on the wharf and looked up at the </a:t>
            </a:r>
            <a:pPr indent="0" marL="0">
              <a:buNone/>
            </a:pPr>
            <a:r>
              <a:rPr lang="en-US" sz="2600" b="1" u="sng" dirty="0">
                <a:solidFill>
                  <a:srgbClr val="1E8E52"/>
                </a:solidFill>
                <a:latin typeface="Calibri" pitchFamily="34" charset="0"/>
                <a:ea typeface="Calibri" pitchFamily="34" charset="-122"/>
                <a:cs typeface="Calibri" pitchFamily="34" charset="-120"/>
              </a:rPr>
              <a:t>North Star.</a:t>
            </a:r>
            <a:endParaRPr lang="en-US" sz="2600" dirty="0"/>
          </a:p>
        </p:txBody>
      </p:sp>
      <p:sp>
        <p:nvSpPr>
          <p:cNvPr id="8" name="Text 6"/>
          <p:cNvSpPr/>
          <p:nvPr/>
        </p:nvSpPr>
        <p:spPr>
          <a:xfrm>
            <a:off x="502920" y="3063240"/>
            <a:ext cx="11185855"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WHAT EACH HIGHLIGHTED PART TEACHES</a:t>
            </a:r>
            <a:endParaRPr lang="en-US" sz="1300" dirty="0"/>
          </a:p>
        </p:txBody>
      </p:sp>
      <p:sp>
        <p:nvSpPr>
          <p:cNvPr id="9" name="Text 7"/>
          <p:cNvSpPr/>
          <p:nvPr/>
        </p:nvSpPr>
        <p:spPr>
          <a:xfrm>
            <a:off x="594360" y="3383280"/>
            <a:ext cx="11002975" cy="306324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Mary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"Mary" is a proper noun — a person's name — and always starts with a capital letter.</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Nat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"Nat" is a proper noun — short for Nathaniel — and always starts with a capital letter.</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North Star.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"North Star" is the name of a specific star — a proper noun — so both words are capitalized.</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HOW MANY ERRORS CAN YOU FIND?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nat stood on the wharf and watched the big dipper swing around the north star in the cold night sky</a:t>
            </a:r>
            <a:endParaRPr lang="en-US" sz="2600" dirty="0"/>
          </a:p>
        </p:txBody>
      </p:sp>
      <p:sp>
        <p:nvSpPr>
          <p:cNvPr id="11" name="Text 9"/>
          <p:cNvSpPr/>
          <p:nvPr/>
        </p:nvSpPr>
        <p:spPr>
          <a:xfrm>
            <a:off x="502920" y="3566160"/>
            <a:ext cx="11185855" cy="54864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Rewrite the sentence correctly in your reading journal. Use the model to guide you.</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ANSWER REVEALED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nat stood on the wharf and watched the big dipper swing around the north star in the cold night sky</a:t>
            </a:r>
            <a:endParaRPr lang="en-US" sz="2600" dirty="0"/>
          </a:p>
        </p:txBody>
      </p:sp>
      <p:sp>
        <p:nvSpPr>
          <p:cNvPr id="11" name="Text 9"/>
          <p:cNvSpPr/>
          <p:nvPr/>
        </p:nvSpPr>
        <p:spPr>
          <a:xfrm>
            <a:off x="502920" y="3520440"/>
            <a:ext cx="11185855"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 CORRECTED</a:t>
            </a:r>
            <a:endParaRPr lang="en-US" sz="1300" dirty="0"/>
          </a:p>
        </p:txBody>
      </p:sp>
      <p:sp>
        <p:nvSpPr>
          <p:cNvPr id="12" name="Shape 10"/>
          <p:cNvSpPr/>
          <p:nvPr/>
        </p:nvSpPr>
        <p:spPr>
          <a:xfrm>
            <a:off x="502920" y="3840480"/>
            <a:ext cx="11185855" cy="1280160"/>
          </a:xfrm>
          <a:prstGeom prst="roundRect">
            <a:avLst>
              <a:gd name="adj" fmla="val 5714"/>
            </a:avLst>
          </a:prstGeom>
          <a:solidFill>
            <a:srgbClr val="E8F8EF"/>
          </a:solidFill>
          <a:ln w="15875">
            <a:solidFill>
              <a:srgbClr val="9ED9B5"/>
            </a:solidFill>
            <a:prstDash val="solid"/>
          </a:ln>
        </p:spPr>
      </p:sp>
      <p:sp>
        <p:nvSpPr>
          <p:cNvPr id="13" name="Text 11"/>
          <p:cNvSpPr/>
          <p:nvPr/>
        </p:nvSpPr>
        <p:spPr>
          <a:xfrm>
            <a:off x="777240" y="3886200"/>
            <a:ext cx="10637215" cy="1188720"/>
          </a:xfrm>
          <a:prstGeom prst="rect">
            <a:avLst/>
          </a:prstGeom>
          <a:noFill/>
          <a:ln/>
        </p:spPr>
        <p:txBody>
          <a:bodyPr wrap="square" lIns="0" tIns="0" rIns="0" bIns="0" rtlCol="0" anchor="ctr">
            <a:normAutofit/>
          </a:bodyPr>
          <a:lstStyle/>
          <a:p>
            <a:pPr indent="0" marL="0">
              <a:buNone/>
            </a:pPr>
            <a:r>
              <a:rPr lang="en-US" sz="2600" b="1" dirty="0">
                <a:solidFill>
                  <a:srgbClr val="1E8E52"/>
                </a:solidFill>
                <a:latin typeface="Calibri" pitchFamily="34" charset="0"/>
                <a:ea typeface="Calibri" pitchFamily="34" charset="-122"/>
                <a:cs typeface="Calibri" pitchFamily="34" charset="-120"/>
              </a:rPr>
              <a:t>Nat stood on the wharf and watched the Big Dipper swing around the North Star in the cold night sky.</a:t>
            </a:r>
            <a:endParaRPr lang="en-US" sz="2600" dirty="0"/>
          </a:p>
        </p:txBody>
      </p:sp>
      <p:sp>
        <p:nvSpPr>
          <p:cNvPr id="14" name="Text 12"/>
          <p:cNvSpPr/>
          <p:nvPr/>
        </p:nvSpPr>
        <p:spPr>
          <a:xfrm>
            <a:off x="502920" y="5257800"/>
            <a:ext cx="11185855" cy="1188720"/>
          </a:xfrm>
          <a:prstGeom prst="rect">
            <a:avLst/>
          </a:prstGeom>
          <a:noFill/>
          <a:ln/>
        </p:spPr>
        <p:txBody>
          <a:bodyPr wrap="square" lIns="0" tIns="0" rIns="0" bIns="0" rtlCol="0" anchor="t"/>
          <a:lstStyle/>
          <a:p>
            <a:pPr indent="0" marL="0">
              <a:buNone/>
            </a:pPr>
            <a:r>
              <a:rPr lang="en-US" sz="1800" i="1" dirty="0">
                <a:solidFill>
                  <a:srgbClr val="475569"/>
                </a:solidFill>
                <a:latin typeface="Calibri" pitchFamily="34" charset="0"/>
                <a:ea typeface="Calibri" pitchFamily="34" charset="-122"/>
                <a:cs typeface="Calibri" pitchFamily="34" charset="-120"/>
              </a:rPr>
              <a:t>Three fixes: “Nat” is a proper noun (person’s name); “Big Dipper” is the name of a specific constellation; “North Star” is the name of a specific star. All proper nouns get capital letters.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READ THE PROMPT — 1 MINUTE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Quick Write (Optional)</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2651760"/>
          </a:xfrm>
          <a:prstGeom prst="roundRect">
            <a:avLst>
              <a:gd name="adj" fmla="val 2759"/>
            </a:avLst>
          </a:prstGeom>
          <a:solidFill>
            <a:srgbClr val="FEF6E8"/>
          </a:solidFill>
          <a:ln w="15875">
            <a:solidFill>
              <a:srgbClr val="C7922C"/>
            </a:solidFill>
            <a:prstDash val="solid"/>
          </a:ln>
        </p:spPr>
      </p:sp>
      <p:sp>
        <p:nvSpPr>
          <p:cNvPr id="7" name="Text 5"/>
          <p:cNvSpPr/>
          <p:nvPr/>
        </p:nvSpPr>
        <p:spPr>
          <a:xfrm>
            <a:off x="822960" y="1691640"/>
            <a:ext cx="10545775" cy="2377440"/>
          </a:xfrm>
          <a:prstGeom prst="rect">
            <a:avLst/>
          </a:prstGeom>
          <a:noFill/>
          <a:ln/>
        </p:spPr>
        <p:txBody>
          <a:bodyPr wrap="square" lIns="0" tIns="0" rIns="0" bIns="0" rtlCol="0" anchor="ctr"/>
          <a:lstStyle/>
          <a:p>
            <a:pPr indent="0" marL="0">
              <a:buNone/>
            </a:pPr>
            <a:r>
              <a:rPr lang="en-US" sz="2300" dirty="0">
                <a:solidFill>
                  <a:srgbClr val="1E293B"/>
                </a:solidFill>
                <a:latin typeface="Calibri" pitchFamily="34" charset="0"/>
                <a:ea typeface="Calibri" pitchFamily="34" charset="-122"/>
                <a:cs typeface="Calibri" pitchFamily="34" charset="-120"/>
              </a:rPr>
              <a:t>Nat hears his father's voice in the night and pictures himself going to Harvard. In the morning he reads the indenture instead. Which hurts Nat more: the nine years of work, or losing the dream he had only one night to imagine? Defend your answer with evidence from Chapter 5.</a:t>
            </a:r>
            <a:endParaRPr lang="en-US" sz="2300" dirty="0"/>
          </a:p>
        </p:txBody>
      </p:sp>
      <p:sp>
        <p:nvSpPr>
          <p:cNvPr id="8" name="Text 6"/>
          <p:cNvSpPr/>
          <p:nvPr/>
        </p:nvSpPr>
        <p:spPr>
          <a:xfrm>
            <a:off x="502920" y="4434840"/>
            <a:ext cx="111858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SENTENCE SCAFFOLD (USE WHAT HELPS)</a:t>
            </a:r>
            <a:endParaRPr lang="en-US" sz="1300" dirty="0"/>
          </a:p>
        </p:txBody>
      </p:sp>
      <p:sp>
        <p:nvSpPr>
          <p:cNvPr id="9" name="Text 7"/>
          <p:cNvSpPr/>
          <p:nvPr/>
        </p:nvSpPr>
        <p:spPr>
          <a:xfrm>
            <a:off x="502920" y="4754880"/>
            <a:ext cx="11185855" cy="822960"/>
          </a:xfrm>
          <a:prstGeom prst="rect">
            <a:avLst/>
          </a:prstGeom>
          <a:noFill/>
          <a:ln/>
        </p:spPr>
        <p:txBody>
          <a:bodyPr wrap="square" lIns="0" tIns="0" rIns="0" bIns="0" rtlCol="0" anchor="t"/>
          <a:lstStyle/>
          <a:p>
            <a:pPr indent="0" marL="0">
              <a:buNone/>
            </a:pPr>
            <a:r>
              <a:rPr lang="en-US" sz="2000"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502920" y="36576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Writing Time</a:t>
            </a:r>
            <a:endParaRPr lang="en-US" sz="3600" dirty="0"/>
          </a:p>
        </p:txBody>
      </p:sp>
      <p:sp>
        <p:nvSpPr>
          <p:cNvPr id="3" name="Text 1"/>
          <p:cNvSpPr/>
          <p:nvPr/>
        </p:nvSpPr>
        <p:spPr>
          <a:xfrm>
            <a:off x="502920" y="1051560"/>
            <a:ext cx="11185855" cy="457200"/>
          </a:xfrm>
          <a:prstGeom prst="rect">
            <a:avLst/>
          </a:prstGeom>
          <a:noFill/>
          <a:ln/>
        </p:spPr>
        <p:txBody>
          <a:bodyPr wrap="square" lIns="0" tIns="0" rIns="0" bIns="0" rtlCol="0" anchor="ctr"/>
          <a:lstStyle/>
          <a:p>
            <a:pPr algn="ctr" indent="0" marL="0">
              <a:buNone/>
            </a:pPr>
            <a:r>
              <a:rPr lang="en-US" sz="2200" dirty="0">
                <a:solidFill>
                  <a:srgbClr val="C7922C"/>
                </a:solidFill>
                <a:latin typeface="Calibri" pitchFamily="34" charset="0"/>
                <a:ea typeface="Calibri" pitchFamily="34" charset="-122"/>
                <a:cs typeface="Calibri" pitchFamily="34" charset="-120"/>
              </a:rPr>
              <a:t>5 minutes — keep your pencil moving!</a:t>
            </a:r>
            <a:endParaRPr lang="en-US" sz="2200" dirty="0"/>
          </a:p>
        </p:txBody>
      </p:sp>
      <p:sp>
        <p:nvSpPr>
          <p:cNvPr id="4" name="Shape 2"/>
          <p:cNvSpPr/>
          <p:nvPr/>
        </p:nvSpPr>
        <p:spPr>
          <a:xfrm>
            <a:off x="502920" y="1737360"/>
            <a:ext cx="11185855" cy="2194560"/>
          </a:xfrm>
          <a:prstGeom prst="roundRect">
            <a:avLst>
              <a:gd name="adj" fmla="val 3333"/>
            </a:avLst>
          </a:prstGeom>
          <a:solidFill>
            <a:srgbClr val="FFFFFF"/>
          </a:solidFill>
          <a:ln w="15875">
            <a:solidFill>
              <a:srgbClr val="C7922C"/>
            </a:solidFill>
            <a:prstDash val="solid"/>
          </a:ln>
        </p:spPr>
      </p:sp>
      <p:sp>
        <p:nvSpPr>
          <p:cNvPr id="5" name="Text 3"/>
          <p:cNvSpPr/>
          <p:nvPr/>
        </p:nvSpPr>
        <p:spPr>
          <a:xfrm>
            <a:off x="777240" y="1828800"/>
            <a:ext cx="10637215" cy="2011680"/>
          </a:xfrm>
          <a:prstGeom prst="rect">
            <a:avLst/>
          </a:prstGeom>
          <a:noFill/>
          <a:ln/>
        </p:spPr>
        <p:txBody>
          <a:bodyPr wrap="square" lIns="0" tIns="0" rIns="0" bIns="0" rtlCol="0" anchor="ctr"/>
          <a:lstStyle/>
          <a:p>
            <a:pPr indent="0" marL="0">
              <a:buNone/>
            </a:pPr>
            <a:r>
              <a:rPr lang="en-US" sz="2300" b="1" dirty="0">
                <a:solidFill>
                  <a:srgbClr val="C7922C"/>
                </a:solidFill>
                <a:latin typeface="Calibri" pitchFamily="34" charset="0"/>
                <a:ea typeface="Calibri" pitchFamily="34" charset="-122"/>
                <a:cs typeface="Calibri" pitchFamily="34" charset="-120"/>
              </a:rPr>
              <a:t>Prompt: </a:t>
            </a:r>
            <a:pPr indent="0" marL="0">
              <a:buNone/>
            </a:pPr>
            <a:r>
              <a:rPr lang="en-US" sz="2300" dirty="0">
                <a:solidFill>
                  <a:srgbClr val="1E293B"/>
                </a:solidFill>
                <a:latin typeface="Calibri" pitchFamily="34" charset="0"/>
                <a:ea typeface="Calibri" pitchFamily="34" charset="-122"/>
                <a:cs typeface="Calibri" pitchFamily="34" charset="-120"/>
              </a:rPr>
              <a:t>Nat hears his father's voice in the night and pictures himself going to Harvard. In the morning he reads the indenture instead. Which hurts Nat more: the nine years of work, or losing the dream he had only one night to imagine? Defend your answer with evidence from Chapter 5.</a:t>
            </a:r>
            <a:endParaRPr lang="en-US" sz="2300" dirty="0"/>
          </a:p>
        </p:txBody>
      </p:sp>
      <p:sp>
        <p:nvSpPr>
          <p:cNvPr id="6" name="Shape 4"/>
          <p:cNvSpPr/>
          <p:nvPr/>
        </p:nvSpPr>
        <p:spPr>
          <a:xfrm>
            <a:off x="2926080" y="4160520"/>
            <a:ext cx="6339535" cy="2286000"/>
          </a:xfrm>
          <a:prstGeom prst="roundRect">
            <a:avLst>
              <a:gd name="adj" fmla="val 3200"/>
            </a:avLst>
          </a:prstGeom>
          <a:solidFill>
            <a:srgbClr val="FFFFFF"/>
          </a:solidFill>
          <a:ln w="15875">
            <a:solidFill>
              <a:srgbClr val="EBD3A2"/>
            </a:solidFill>
            <a:prstDash val="solid"/>
          </a:ln>
        </p:spPr>
      </p:sp>
      <p:sp>
        <p:nvSpPr>
          <p:cNvPr id="7" name="Text 5"/>
          <p:cNvSpPr/>
          <p:nvPr/>
        </p:nvSpPr>
        <p:spPr>
          <a:xfrm>
            <a:off x="3154680" y="4251960"/>
            <a:ext cx="5882335" cy="2103120"/>
          </a:xfrm>
          <a:prstGeom prst="rect">
            <a:avLst/>
          </a:prstGeom>
          <a:noFill/>
          <a:ln/>
        </p:spPr>
        <p:txBody>
          <a:bodyPr wrap="square" lIns="0" tIns="0" rIns="0" bIns="0" rtlCol="0" anchor="t"/>
          <a:lstStyle/>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Scaffold, if you need it:</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I think...</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because...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One piece of evidence is...</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This matters because...</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Edit &amp; Revise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E8E52"/>
                </a:solidFill>
                <a:latin typeface="Calibri" pitchFamily="34" charset="0"/>
                <a:ea typeface="Calibri" pitchFamily="34" charset="-122"/>
                <a:cs typeface="Calibri" pitchFamily="34" charset="-120"/>
              </a:rPr>
              <a:t>1 minute — one deliberate decision, not a full edit pass</a:t>
            </a:r>
            <a:endParaRPr lang="en-US" sz="2200" dirty="0"/>
          </a:p>
        </p:txBody>
      </p:sp>
      <p:sp>
        <p:nvSpPr>
          <p:cNvPr id="4" name="Shape 2"/>
          <p:cNvSpPr/>
          <p:nvPr/>
        </p:nvSpPr>
        <p:spPr>
          <a:xfrm>
            <a:off x="1463040" y="2194560"/>
            <a:ext cx="9265615" cy="1737360"/>
          </a:xfrm>
          <a:prstGeom prst="roundRect">
            <a:avLst>
              <a:gd name="adj" fmla="val 4211"/>
            </a:avLst>
          </a:prstGeom>
          <a:solidFill>
            <a:srgbClr val="FFFFFF"/>
          </a:solidFill>
          <a:ln w="15875">
            <a:solidFill>
              <a:srgbClr val="1E8E52"/>
            </a:solidFill>
            <a:prstDash val="solid"/>
          </a:ln>
        </p:spPr>
      </p:sp>
      <p:sp>
        <p:nvSpPr>
          <p:cNvPr id="5" name="Text 3"/>
          <p:cNvSpPr/>
          <p:nvPr/>
        </p:nvSpPr>
        <p:spPr>
          <a:xfrm>
            <a:off x="1737360" y="2286000"/>
            <a:ext cx="8716975" cy="1554480"/>
          </a:xfrm>
          <a:prstGeom prst="rect">
            <a:avLst/>
          </a:prstGeom>
          <a:noFill/>
          <a:ln/>
        </p:spPr>
        <p:txBody>
          <a:bodyPr wrap="square" lIns="0" tIns="0" rIns="0" bIns="0" rtlCol="0" anchor="ctr"/>
          <a:lstStyle/>
          <a:p>
            <a:pPr algn="ctr" indent="0" marL="0">
              <a:buNone/>
            </a:pPr>
            <a:r>
              <a:rPr lang="en-US" sz="2600" b="1" dirty="0">
                <a:solidFill>
                  <a:srgbClr val="1E8E52"/>
                </a:solidFill>
                <a:latin typeface="Calibri" pitchFamily="34" charset="0"/>
                <a:ea typeface="Calibri" pitchFamily="34" charset="-122"/>
                <a:cs typeface="Calibri" pitchFamily="34" charset="-120"/>
              </a:rPr>
              <a:t>Today's revision check: </a:t>
            </a:r>
            <a:pPr algn="ctr" indent="0" marL="0">
              <a:buNone/>
            </a:pPr>
            <a:r>
              <a:rPr lang="en-US" sz="2600" dirty="0">
                <a:solidFill>
                  <a:srgbClr val="1E293B"/>
                </a:solidFill>
                <a:latin typeface="Calibri" pitchFamily="34" charset="0"/>
                <a:ea typeface="Calibri" pitchFamily="34" charset="-122"/>
                <a:cs typeface="Calibri" pitchFamily="34" charset="-120"/>
              </a:rPr>
              <a:t>Is there a detail here I could cut because it doesn't support my point?</a:t>
            </a:r>
            <a:endParaRPr lang="en-US" sz="2600" dirty="0"/>
          </a:p>
        </p:txBody>
      </p:sp>
      <p:sp>
        <p:nvSpPr>
          <p:cNvPr id="6" name="Text 4"/>
          <p:cNvSpPr/>
          <p:nvPr/>
        </p:nvSpPr>
        <p:spPr>
          <a:xfrm>
            <a:off x="502920" y="4389120"/>
            <a:ext cx="11185855" cy="548640"/>
          </a:xfrm>
          <a:prstGeom prst="rect">
            <a:avLst/>
          </a:prstGeom>
          <a:noFill/>
          <a:ln/>
        </p:spPr>
        <p:txBody>
          <a:bodyPr wrap="square" lIns="0" tIns="0" rIns="0" bIns="0" rtlCol="0" anchor="ctr"/>
          <a:lstStyle/>
          <a:p>
            <a:pPr algn="ctr" indent="0" marL="0">
              <a:buNone/>
            </a:pPr>
            <a:r>
              <a:rPr lang="en-US" sz="2000" i="1" dirty="0">
                <a:solidFill>
                  <a:srgbClr val="475569"/>
                </a:solidFill>
                <a:latin typeface="Calibri" pitchFamily="34" charset="0"/>
                <a:ea typeface="Calibri" pitchFamily="34" charset="-122"/>
                <a:cs typeface="Calibri" pitchFamily="34" charset="-120"/>
              </a:rPr>
              <a:t>Revision = improving ideas.   Editing = fixing conventions.   Pick ONE thing.</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Share Time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B7FA0"/>
                </a:solidFill>
                <a:latin typeface="Calibri" pitchFamily="34" charset="0"/>
                <a:ea typeface="Calibri" pitchFamily="34" charset="-122"/>
                <a:cs typeface="Calibri" pitchFamily="34" charset="-120"/>
              </a:rPr>
              <a:t>3 minutes — let's hear your thinking!</a:t>
            </a:r>
            <a:endParaRPr lang="en-US" sz="2200" dirty="0"/>
          </a:p>
        </p:txBody>
      </p:sp>
      <p:sp>
        <p:nvSpPr>
          <p:cNvPr id="4" name="Shape 2"/>
          <p:cNvSpPr/>
          <p:nvPr/>
        </p:nvSpPr>
        <p:spPr>
          <a:xfrm>
            <a:off x="1828800" y="2194560"/>
            <a:ext cx="8534095" cy="2377440"/>
          </a:xfrm>
          <a:prstGeom prst="roundRect">
            <a:avLst>
              <a:gd name="adj" fmla="val 3077"/>
            </a:avLst>
          </a:prstGeom>
          <a:solidFill>
            <a:srgbClr val="FFFFFF"/>
          </a:solidFill>
          <a:ln w="15875">
            <a:solidFill>
              <a:srgbClr val="55C8E8"/>
            </a:solidFill>
            <a:prstDash val="solid"/>
          </a:ln>
        </p:spPr>
      </p:sp>
      <p:sp>
        <p:nvSpPr>
          <p:cNvPr id="5" name="Text 3"/>
          <p:cNvSpPr/>
          <p:nvPr/>
        </p:nvSpPr>
        <p:spPr>
          <a:xfrm>
            <a:off x="2103120" y="2331720"/>
            <a:ext cx="7985455" cy="2103120"/>
          </a:xfrm>
          <a:prstGeom prst="rect">
            <a:avLst/>
          </a:prstGeom>
          <a:noFill/>
          <a:ln/>
        </p:spPr>
        <p:txBody>
          <a:bodyPr wrap="square" lIns="0" tIns="0" rIns="0" bIns="0" rtlCol="0" anchor="ctr"/>
          <a:lstStyle/>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Raise your hand to share, or paste your writing in the chat.</a:t>
            </a:r>
            <a:endParaRPr lang="en-US" sz="2200" dirty="0"/>
          </a:p>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If you disagree with a classmate’s choice, say so respectfully — and give your evidence. That is part of the thinking.</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DEFINE · THREE ROOTS FOR WRITING</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graph / gram / scribe</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Nat’s whole story is full of writing by hand. No printing press, no shortcut — later in the book, he copies a whole borrowed algebra book into his notebook, line by line. Three roots run through this whole unit: graph (write or draw), gram (the thing written), and scribe/script (write). A biography is literally a life-writing.</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 Three Roots, One Idea</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graph = write or draw → autograph, paragraph, biography</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gram = the thing written or drawn → diagram, telegram, grammar</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scribe / script = write → manuscript, transcribe, inscribe</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You met script/scribe back in the Witch unit. Here it is again, standing beside two Greek cousins that do the same work.</a:t>
            </a:r>
            <a:endParaRPr lang="en-US" sz="1700" dirty="0"/>
          </a:p>
          <a:p>
            <a:pPr indent="0" marL="0">
              <a:spcAft>
                <a:spcPts val="800"/>
              </a:spcAft>
              <a:buNone/>
            </a:pPr>
            <a:r>
              <a:rPr lang="en-US" sz="1700" dirty="0">
                <a:solidFill>
                  <a:srgbClr val="1E293B"/>
                </a:solidFill>
                <a:latin typeface="Calibri" pitchFamily="34" charset="0"/>
                <a:ea typeface="Calibri" pitchFamily="34" charset="-122"/>
                <a:cs typeface="Calibri" pitchFamily="34" charset="-120"/>
              </a:rPr>
              <a:t>The pattern: graph and scribe are usually the act of writing; gram is usually the thing you end up with.</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DEFINE · THREE ROOTS FOR WRITING</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graph / gram / scribe</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MATCH EACH WORD TO ITS MEANING</a:t>
            </a:r>
            <a:endParaRPr lang="en-US" sz="1300" dirty="0"/>
          </a:p>
        </p:txBody>
      </p:sp>
      <p:sp>
        <p:nvSpPr>
          <p:cNvPr id="9" name="Shape 7"/>
          <p:cNvSpPr/>
          <p:nvPr/>
        </p:nvSpPr>
        <p:spPr>
          <a:xfrm>
            <a:off x="502920" y="1965960"/>
            <a:ext cx="3291840" cy="982980"/>
          </a:xfrm>
          <a:prstGeom prst="roundRect">
            <a:avLst>
              <a:gd name="adj" fmla="val 7442"/>
            </a:avLst>
          </a:prstGeom>
          <a:solidFill>
            <a:srgbClr val="F0E8FF"/>
          </a:solidFill>
          <a:ln w="15875">
            <a:solidFill>
              <a:srgbClr val="D6C8F0"/>
            </a:solidFill>
            <a:prstDash val="solid"/>
          </a:ln>
        </p:spPr>
      </p:sp>
      <p:sp>
        <p:nvSpPr>
          <p:cNvPr id="10" name="Text 8"/>
          <p:cNvSpPr/>
          <p:nvPr/>
        </p:nvSpPr>
        <p:spPr>
          <a:xfrm>
            <a:off x="685800" y="196596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1. autograph</a:t>
            </a:r>
            <a:endParaRPr lang="en-US" sz="2200" dirty="0"/>
          </a:p>
        </p:txBody>
      </p:sp>
      <p:sp>
        <p:nvSpPr>
          <p:cNvPr id="11" name="Shape 9"/>
          <p:cNvSpPr/>
          <p:nvPr/>
        </p:nvSpPr>
        <p:spPr>
          <a:xfrm>
            <a:off x="4069080" y="1965960"/>
            <a:ext cx="7619695" cy="982980"/>
          </a:xfrm>
          <a:prstGeom prst="roundRect">
            <a:avLst>
              <a:gd name="adj" fmla="val 7442"/>
            </a:avLst>
          </a:prstGeom>
          <a:solidFill>
            <a:srgbClr val="F8FAFC"/>
          </a:solidFill>
          <a:ln w="15875">
            <a:solidFill>
              <a:srgbClr val="CBD5E1"/>
            </a:solidFill>
            <a:prstDash val="solid"/>
          </a:ln>
        </p:spPr>
      </p:sp>
      <p:sp>
        <p:nvSpPr>
          <p:cNvPr id="12" name="Text 10"/>
          <p:cNvSpPr/>
          <p:nvPr/>
        </p:nvSpPr>
        <p:spPr>
          <a:xfrm>
            <a:off x="4251960" y="196596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A. something written by hand</a:t>
            </a:r>
            <a:endParaRPr lang="en-US" sz="1900" dirty="0"/>
          </a:p>
        </p:txBody>
      </p:sp>
      <p:sp>
        <p:nvSpPr>
          <p:cNvPr id="13" name="Shape 11"/>
          <p:cNvSpPr/>
          <p:nvPr/>
        </p:nvSpPr>
        <p:spPr>
          <a:xfrm>
            <a:off x="502920" y="3086100"/>
            <a:ext cx="3291840" cy="982980"/>
          </a:xfrm>
          <a:prstGeom prst="roundRect">
            <a:avLst>
              <a:gd name="adj" fmla="val 7442"/>
            </a:avLst>
          </a:prstGeom>
          <a:solidFill>
            <a:srgbClr val="F0E8FF"/>
          </a:solidFill>
          <a:ln w="15875">
            <a:solidFill>
              <a:srgbClr val="D6C8F0"/>
            </a:solidFill>
            <a:prstDash val="solid"/>
          </a:ln>
        </p:spPr>
      </p:sp>
      <p:sp>
        <p:nvSpPr>
          <p:cNvPr id="14" name="Text 12"/>
          <p:cNvSpPr/>
          <p:nvPr/>
        </p:nvSpPr>
        <p:spPr>
          <a:xfrm>
            <a:off x="685800" y="308610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2. diagram</a:t>
            </a:r>
            <a:endParaRPr lang="en-US" sz="2200" dirty="0"/>
          </a:p>
        </p:txBody>
      </p:sp>
      <p:sp>
        <p:nvSpPr>
          <p:cNvPr id="15" name="Shape 13"/>
          <p:cNvSpPr/>
          <p:nvPr/>
        </p:nvSpPr>
        <p:spPr>
          <a:xfrm>
            <a:off x="4069080" y="3086100"/>
            <a:ext cx="7619695" cy="982980"/>
          </a:xfrm>
          <a:prstGeom prst="roundRect">
            <a:avLst>
              <a:gd name="adj" fmla="val 7442"/>
            </a:avLst>
          </a:prstGeom>
          <a:solidFill>
            <a:srgbClr val="F8FAFC"/>
          </a:solidFill>
          <a:ln w="15875">
            <a:solidFill>
              <a:srgbClr val="CBD5E1"/>
            </a:solidFill>
            <a:prstDash val="solid"/>
          </a:ln>
        </p:spPr>
      </p:sp>
      <p:sp>
        <p:nvSpPr>
          <p:cNvPr id="16" name="Text 14"/>
          <p:cNvSpPr/>
          <p:nvPr/>
        </p:nvSpPr>
        <p:spPr>
          <a:xfrm>
            <a:off x="4251960" y="308610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B. the writing of a life</a:t>
            </a:r>
            <a:endParaRPr lang="en-US" sz="1900" dirty="0"/>
          </a:p>
        </p:txBody>
      </p:sp>
      <p:sp>
        <p:nvSpPr>
          <p:cNvPr id="17" name="Shape 15"/>
          <p:cNvSpPr/>
          <p:nvPr/>
        </p:nvSpPr>
        <p:spPr>
          <a:xfrm>
            <a:off x="502920" y="4206240"/>
            <a:ext cx="3291840" cy="982980"/>
          </a:xfrm>
          <a:prstGeom prst="roundRect">
            <a:avLst>
              <a:gd name="adj" fmla="val 7442"/>
            </a:avLst>
          </a:prstGeom>
          <a:solidFill>
            <a:srgbClr val="F0E8FF"/>
          </a:solidFill>
          <a:ln w="15875">
            <a:solidFill>
              <a:srgbClr val="D6C8F0"/>
            </a:solidFill>
            <a:prstDash val="solid"/>
          </a:ln>
        </p:spPr>
      </p:sp>
      <p:sp>
        <p:nvSpPr>
          <p:cNvPr id="18" name="Text 16"/>
          <p:cNvSpPr/>
          <p:nvPr/>
        </p:nvSpPr>
        <p:spPr>
          <a:xfrm>
            <a:off x="685800" y="420624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3. manuscript</a:t>
            </a:r>
            <a:endParaRPr lang="en-US" sz="2200" dirty="0"/>
          </a:p>
        </p:txBody>
      </p:sp>
      <p:sp>
        <p:nvSpPr>
          <p:cNvPr id="19" name="Shape 17"/>
          <p:cNvSpPr/>
          <p:nvPr/>
        </p:nvSpPr>
        <p:spPr>
          <a:xfrm>
            <a:off x="4069080" y="4206240"/>
            <a:ext cx="7619695" cy="982980"/>
          </a:xfrm>
          <a:prstGeom prst="roundRect">
            <a:avLst>
              <a:gd name="adj" fmla="val 7442"/>
            </a:avLst>
          </a:prstGeom>
          <a:solidFill>
            <a:srgbClr val="F8FAFC"/>
          </a:solidFill>
          <a:ln w="15875">
            <a:solidFill>
              <a:srgbClr val="CBD5E1"/>
            </a:solidFill>
            <a:prstDash val="solid"/>
          </a:ln>
        </p:spPr>
      </p:sp>
      <p:sp>
        <p:nvSpPr>
          <p:cNvPr id="20" name="Text 18"/>
          <p:cNvSpPr/>
          <p:nvPr/>
        </p:nvSpPr>
        <p:spPr>
          <a:xfrm>
            <a:off x="4251960" y="420624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C. writing your own name</a:t>
            </a:r>
            <a:endParaRPr lang="en-US" sz="1900" dirty="0"/>
          </a:p>
        </p:txBody>
      </p:sp>
      <p:sp>
        <p:nvSpPr>
          <p:cNvPr id="21" name="Shape 19"/>
          <p:cNvSpPr/>
          <p:nvPr/>
        </p:nvSpPr>
        <p:spPr>
          <a:xfrm>
            <a:off x="502920" y="5326380"/>
            <a:ext cx="3291840" cy="982980"/>
          </a:xfrm>
          <a:prstGeom prst="roundRect">
            <a:avLst>
              <a:gd name="adj" fmla="val 7442"/>
            </a:avLst>
          </a:prstGeom>
          <a:solidFill>
            <a:srgbClr val="F0E8FF"/>
          </a:solidFill>
          <a:ln w="15875">
            <a:solidFill>
              <a:srgbClr val="D6C8F0"/>
            </a:solidFill>
            <a:prstDash val="solid"/>
          </a:ln>
        </p:spPr>
      </p:sp>
      <p:sp>
        <p:nvSpPr>
          <p:cNvPr id="22" name="Text 20"/>
          <p:cNvSpPr/>
          <p:nvPr/>
        </p:nvSpPr>
        <p:spPr>
          <a:xfrm>
            <a:off x="685800" y="5326380"/>
            <a:ext cx="3017520" cy="982980"/>
          </a:xfrm>
          <a:prstGeom prst="rect">
            <a:avLst/>
          </a:prstGeom>
          <a:noFill/>
          <a:ln/>
        </p:spPr>
        <p:txBody>
          <a:bodyPr wrap="square" lIns="0" tIns="0" rIns="0" bIns="0" rtlCol="0" anchor="ctr">
            <a:normAutofit/>
          </a:bodyPr>
          <a:lstStyle/>
          <a:p>
            <a:pPr indent="0" marL="0">
              <a:buNone/>
            </a:pPr>
            <a:r>
              <a:rPr lang="en-US" sz="2200" b="1" dirty="0">
                <a:solidFill>
                  <a:srgbClr val="6B4FA8"/>
                </a:solidFill>
                <a:latin typeface="Calibri" pitchFamily="34" charset="0"/>
                <a:ea typeface="Calibri" pitchFamily="34" charset="-122"/>
                <a:cs typeface="Calibri" pitchFamily="34" charset="-120"/>
              </a:rPr>
              <a:t>4. biography</a:t>
            </a:r>
            <a:endParaRPr lang="en-US" sz="2200" dirty="0"/>
          </a:p>
        </p:txBody>
      </p:sp>
      <p:sp>
        <p:nvSpPr>
          <p:cNvPr id="23" name="Shape 21"/>
          <p:cNvSpPr/>
          <p:nvPr/>
        </p:nvSpPr>
        <p:spPr>
          <a:xfrm>
            <a:off x="4069080" y="5326380"/>
            <a:ext cx="7619695" cy="982980"/>
          </a:xfrm>
          <a:prstGeom prst="roundRect">
            <a:avLst>
              <a:gd name="adj" fmla="val 7442"/>
            </a:avLst>
          </a:prstGeom>
          <a:solidFill>
            <a:srgbClr val="F8FAFC"/>
          </a:solidFill>
          <a:ln w="15875">
            <a:solidFill>
              <a:srgbClr val="CBD5E1"/>
            </a:solidFill>
            <a:prstDash val="solid"/>
          </a:ln>
        </p:spPr>
      </p:sp>
      <p:sp>
        <p:nvSpPr>
          <p:cNvPr id="24" name="Text 22"/>
          <p:cNvSpPr/>
          <p:nvPr/>
        </p:nvSpPr>
        <p:spPr>
          <a:xfrm>
            <a:off x="4251960" y="5326380"/>
            <a:ext cx="7253935" cy="982980"/>
          </a:xfrm>
          <a:prstGeom prst="rect">
            <a:avLst/>
          </a:prstGeom>
          <a:noFill/>
          <a:ln/>
        </p:spPr>
        <p:txBody>
          <a:bodyPr wrap="square" lIns="0" tIns="0" rIns="0" bIns="0" rtlCol="0" anchor="ctr">
            <a:normAutofit/>
          </a:bodyPr>
          <a:lstStyle/>
          <a:p>
            <a:pPr indent="0" marL="0">
              <a:buNone/>
            </a:pPr>
            <a:r>
              <a:rPr lang="en-US" sz="1900" dirty="0">
                <a:solidFill>
                  <a:srgbClr val="1E293B"/>
                </a:solidFill>
                <a:latin typeface="Calibri" pitchFamily="34" charset="0"/>
                <a:ea typeface="Calibri" pitchFamily="34" charset="-122"/>
                <a:cs typeface="Calibri" pitchFamily="34" charset="-120"/>
              </a:rPr>
              <a:t>D. a drawing that explains</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DEFINE · THREE ROOTS FOR WRITING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graph / gram / scribe</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MATCHED</a:t>
            </a:r>
            <a:endParaRPr lang="en-US" sz="1300" dirty="0"/>
          </a:p>
        </p:txBody>
      </p:sp>
      <p:sp>
        <p:nvSpPr>
          <p:cNvPr id="9" name="Shape 7"/>
          <p:cNvSpPr/>
          <p:nvPr/>
        </p:nvSpPr>
        <p:spPr>
          <a:xfrm>
            <a:off x="502920" y="1965960"/>
            <a:ext cx="11185855" cy="982980"/>
          </a:xfrm>
          <a:prstGeom prst="roundRect">
            <a:avLst>
              <a:gd name="adj" fmla="val 7442"/>
            </a:avLst>
          </a:prstGeom>
          <a:solidFill>
            <a:srgbClr val="E8F8EF"/>
          </a:solidFill>
          <a:ln w="15875">
            <a:solidFill>
              <a:srgbClr val="9ED9B5"/>
            </a:solidFill>
            <a:prstDash val="solid"/>
          </a:ln>
        </p:spPr>
      </p:sp>
      <p:sp>
        <p:nvSpPr>
          <p:cNvPr id="10" name="Text 8"/>
          <p:cNvSpPr/>
          <p:nvPr/>
        </p:nvSpPr>
        <p:spPr>
          <a:xfrm>
            <a:off x="731520" y="196596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autograph  =  </a:t>
            </a:r>
            <a:pPr indent="0" marL="0">
              <a:buNone/>
            </a:pPr>
            <a:r>
              <a:rPr lang="en-US" sz="2000" dirty="0">
                <a:solidFill>
                  <a:srgbClr val="1E293B"/>
                </a:solidFill>
                <a:latin typeface="Calibri" pitchFamily="34" charset="0"/>
                <a:ea typeface="Calibri" pitchFamily="34" charset="-122"/>
                <a:cs typeface="Calibri" pitchFamily="34" charset="-120"/>
              </a:rPr>
              <a:t>writing your own name</a:t>
            </a:r>
            <a:endParaRPr lang="en-US" sz="2200" dirty="0"/>
          </a:p>
        </p:txBody>
      </p:sp>
      <p:sp>
        <p:nvSpPr>
          <p:cNvPr id="11" name="Shape 9"/>
          <p:cNvSpPr/>
          <p:nvPr/>
        </p:nvSpPr>
        <p:spPr>
          <a:xfrm>
            <a:off x="502920" y="3086100"/>
            <a:ext cx="11185855" cy="982980"/>
          </a:xfrm>
          <a:prstGeom prst="roundRect">
            <a:avLst>
              <a:gd name="adj" fmla="val 7442"/>
            </a:avLst>
          </a:prstGeom>
          <a:solidFill>
            <a:srgbClr val="E8F8EF"/>
          </a:solidFill>
          <a:ln w="15875">
            <a:solidFill>
              <a:srgbClr val="9ED9B5"/>
            </a:solidFill>
            <a:prstDash val="solid"/>
          </a:ln>
        </p:spPr>
      </p:sp>
      <p:sp>
        <p:nvSpPr>
          <p:cNvPr id="12" name="Text 10"/>
          <p:cNvSpPr/>
          <p:nvPr/>
        </p:nvSpPr>
        <p:spPr>
          <a:xfrm>
            <a:off x="731520" y="308610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diagram  =  </a:t>
            </a:r>
            <a:pPr indent="0" marL="0">
              <a:buNone/>
            </a:pPr>
            <a:r>
              <a:rPr lang="en-US" sz="2000" dirty="0">
                <a:solidFill>
                  <a:srgbClr val="1E293B"/>
                </a:solidFill>
                <a:latin typeface="Calibri" pitchFamily="34" charset="0"/>
                <a:ea typeface="Calibri" pitchFamily="34" charset="-122"/>
                <a:cs typeface="Calibri" pitchFamily="34" charset="-120"/>
              </a:rPr>
              <a:t>a drawing that explains</a:t>
            </a:r>
            <a:endParaRPr lang="en-US" sz="2200" dirty="0"/>
          </a:p>
        </p:txBody>
      </p:sp>
      <p:sp>
        <p:nvSpPr>
          <p:cNvPr id="13" name="Shape 11"/>
          <p:cNvSpPr/>
          <p:nvPr/>
        </p:nvSpPr>
        <p:spPr>
          <a:xfrm>
            <a:off x="502920" y="4206240"/>
            <a:ext cx="11185855" cy="982980"/>
          </a:xfrm>
          <a:prstGeom prst="roundRect">
            <a:avLst>
              <a:gd name="adj" fmla="val 7442"/>
            </a:avLst>
          </a:prstGeom>
          <a:solidFill>
            <a:srgbClr val="E8F8EF"/>
          </a:solidFill>
          <a:ln w="15875">
            <a:solidFill>
              <a:srgbClr val="9ED9B5"/>
            </a:solidFill>
            <a:prstDash val="solid"/>
          </a:ln>
        </p:spPr>
      </p:sp>
      <p:sp>
        <p:nvSpPr>
          <p:cNvPr id="14" name="Text 12"/>
          <p:cNvSpPr/>
          <p:nvPr/>
        </p:nvSpPr>
        <p:spPr>
          <a:xfrm>
            <a:off x="731520" y="420624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manuscript  =  </a:t>
            </a:r>
            <a:pPr indent="0" marL="0">
              <a:buNone/>
            </a:pPr>
            <a:r>
              <a:rPr lang="en-US" sz="2000" dirty="0">
                <a:solidFill>
                  <a:srgbClr val="1E293B"/>
                </a:solidFill>
                <a:latin typeface="Calibri" pitchFamily="34" charset="0"/>
                <a:ea typeface="Calibri" pitchFamily="34" charset="-122"/>
                <a:cs typeface="Calibri" pitchFamily="34" charset="-120"/>
              </a:rPr>
              <a:t>something written by hand</a:t>
            </a:r>
            <a:endParaRPr lang="en-US" sz="2200" dirty="0"/>
          </a:p>
        </p:txBody>
      </p:sp>
      <p:sp>
        <p:nvSpPr>
          <p:cNvPr id="15" name="Shape 13"/>
          <p:cNvSpPr/>
          <p:nvPr/>
        </p:nvSpPr>
        <p:spPr>
          <a:xfrm>
            <a:off x="502920" y="5326380"/>
            <a:ext cx="11185855" cy="982980"/>
          </a:xfrm>
          <a:prstGeom prst="roundRect">
            <a:avLst>
              <a:gd name="adj" fmla="val 7442"/>
            </a:avLst>
          </a:prstGeom>
          <a:solidFill>
            <a:srgbClr val="E8F8EF"/>
          </a:solidFill>
          <a:ln w="15875">
            <a:solidFill>
              <a:srgbClr val="9ED9B5"/>
            </a:solidFill>
            <a:prstDash val="solid"/>
          </a:ln>
        </p:spPr>
      </p:sp>
      <p:sp>
        <p:nvSpPr>
          <p:cNvPr id="16" name="Text 14"/>
          <p:cNvSpPr/>
          <p:nvPr/>
        </p:nvSpPr>
        <p:spPr>
          <a:xfrm>
            <a:off x="731520" y="5326380"/>
            <a:ext cx="10728655" cy="982980"/>
          </a:xfrm>
          <a:prstGeom prst="rect">
            <a:avLst/>
          </a:prstGeom>
          <a:noFill/>
          <a:ln/>
        </p:spPr>
        <p:txBody>
          <a:bodyPr wrap="square" lIns="0" tIns="0" rIns="0" bIns="0" rtlCol="0" anchor="ctr">
            <a:normAutofit/>
          </a:bodyPr>
          <a:lstStyle/>
          <a:p>
            <a:pPr indent="0" marL="0">
              <a:buNone/>
            </a:pPr>
            <a:r>
              <a:rPr lang="en-US" sz="2200" b="1" dirty="0">
                <a:solidFill>
                  <a:srgbClr val="1E8E52"/>
                </a:solidFill>
                <a:latin typeface="Calibri" pitchFamily="34" charset="0"/>
                <a:ea typeface="Calibri" pitchFamily="34" charset="-122"/>
                <a:cs typeface="Calibri" pitchFamily="34" charset="-120"/>
              </a:rPr>
              <a:t>biography  =  </a:t>
            </a:r>
            <a:pPr indent="0" marL="0">
              <a:buNone/>
            </a:pPr>
            <a:r>
              <a:rPr lang="en-US" sz="2000" dirty="0">
                <a:solidFill>
                  <a:srgbClr val="1E293B"/>
                </a:solidFill>
                <a:latin typeface="Calibri" pitchFamily="34" charset="0"/>
                <a:ea typeface="Calibri" pitchFamily="34" charset="-122"/>
                <a:cs typeface="Calibri" pitchFamily="34" charset="-120"/>
              </a:rPr>
              <a:t>the writing of a life</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DEFINE · THREE ROOTS FOR WRITING</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graph / gram / scribe</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085850"/>
          </a:xfrm>
          <a:prstGeom prst="roundRect">
            <a:avLst>
              <a:gd name="adj" fmla="val 6737"/>
            </a:avLst>
          </a:prstGeom>
          <a:solidFill>
            <a:srgbClr val="F8FAFC"/>
          </a:solidFill>
          <a:ln w="15875">
            <a:solidFill>
              <a:srgbClr val="CBD5E1"/>
            </a:solidFill>
            <a:prstDash val="solid"/>
          </a:ln>
        </p:spPr>
      </p:sp>
      <p:sp>
        <p:nvSpPr>
          <p:cNvPr id="9" name="Text 7"/>
          <p:cNvSpPr/>
          <p:nvPr/>
        </p:nvSpPr>
        <p:spPr>
          <a:xfrm>
            <a:off x="731520" y="155448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Nat had to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the borrowed algebra book into his notebook by hand, one line at a time.</a:t>
            </a:r>
            <a:endParaRPr lang="en-US" sz="2200" dirty="0"/>
          </a:p>
        </p:txBody>
      </p:sp>
      <p:sp>
        <p:nvSpPr>
          <p:cNvPr id="10" name="Shape 8"/>
          <p:cNvSpPr/>
          <p:nvPr/>
        </p:nvSpPr>
        <p:spPr>
          <a:xfrm>
            <a:off x="502920" y="2777490"/>
            <a:ext cx="11185855" cy="1085850"/>
          </a:xfrm>
          <a:prstGeom prst="roundRect">
            <a:avLst>
              <a:gd name="adj" fmla="val 6737"/>
            </a:avLst>
          </a:prstGeom>
          <a:solidFill>
            <a:srgbClr val="F8FAFC"/>
          </a:solidFill>
          <a:ln w="15875">
            <a:solidFill>
              <a:srgbClr val="CBD5E1"/>
            </a:solidFill>
            <a:prstDash val="solid"/>
          </a:ln>
        </p:spPr>
      </p:sp>
      <p:sp>
        <p:nvSpPr>
          <p:cNvPr id="11" name="Text 9"/>
          <p:cNvSpPr/>
          <p:nvPr/>
        </p:nvSpPr>
        <p:spPr>
          <a:xfrm>
            <a:off x="731520" y="277749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The old navigation guide was full of errors, so its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of the lunar tables could not be trusted.</a:t>
            </a:r>
            <a:endParaRPr lang="en-US" sz="2200" dirty="0"/>
          </a:p>
        </p:txBody>
      </p:sp>
      <p:sp>
        <p:nvSpPr>
          <p:cNvPr id="12" name="Shape 10"/>
          <p:cNvSpPr/>
          <p:nvPr/>
        </p:nvSpPr>
        <p:spPr>
          <a:xfrm>
            <a:off x="502920" y="4000500"/>
            <a:ext cx="11185855" cy="1085850"/>
          </a:xfrm>
          <a:prstGeom prst="roundRect">
            <a:avLst>
              <a:gd name="adj" fmla="val 6737"/>
            </a:avLst>
          </a:prstGeom>
          <a:solidFill>
            <a:srgbClr val="F8FAFC"/>
          </a:solidFill>
          <a:ln w="15875">
            <a:solidFill>
              <a:srgbClr val="CBD5E1"/>
            </a:solidFill>
            <a:prstDash val="solid"/>
          </a:ln>
        </p:spPr>
      </p:sp>
      <p:sp>
        <p:nvSpPr>
          <p:cNvPr id="13" name="Text 11"/>
          <p:cNvSpPr/>
          <p:nvPr/>
        </p:nvSpPr>
        <p:spPr>
          <a:xfrm>
            <a:off x="731520" y="400050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Latham’s book is a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 the writing of a whole life.</a:t>
            </a:r>
            <a:endParaRPr lang="en-US" sz="2200" dirty="0"/>
          </a:p>
        </p:txBody>
      </p:sp>
      <p:sp>
        <p:nvSpPr>
          <p:cNvPr id="14" name="Shape 12"/>
          <p:cNvSpPr/>
          <p:nvPr/>
        </p:nvSpPr>
        <p:spPr>
          <a:xfrm>
            <a:off x="502920" y="5223510"/>
            <a:ext cx="11185855" cy="1085850"/>
          </a:xfrm>
          <a:prstGeom prst="roundRect">
            <a:avLst>
              <a:gd name="adj" fmla="val 6737"/>
            </a:avLst>
          </a:prstGeom>
          <a:solidFill>
            <a:srgbClr val="F8FAFC"/>
          </a:solidFill>
          <a:ln w="15875">
            <a:solidFill>
              <a:srgbClr val="CBD5E1"/>
            </a:solidFill>
            <a:prstDash val="solid"/>
          </a:ln>
        </p:spPr>
      </p:sp>
      <p:sp>
        <p:nvSpPr>
          <p:cNvPr id="15" name="Text 13"/>
          <p:cNvSpPr/>
          <p:nvPr/>
        </p:nvSpPr>
        <p:spPr>
          <a:xfrm>
            <a:off x="731520" y="522351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r>
              <a:rPr lang="en-US" sz="2200" dirty="0">
                <a:solidFill>
                  <a:srgbClr val="1E293B"/>
                </a:solidFill>
                <a:latin typeface="Calibri" pitchFamily="34" charset="0"/>
                <a:ea typeface="Calibri" pitchFamily="34" charset="-122"/>
                <a:cs typeface="Calibri" pitchFamily="34" charset="-120"/>
              </a:rPr>
              <a:t>Before printing, every book was a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 copied out slowly by hand.</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DEFINE · THREE ROOTS FOR WRITING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graph / gram / scribe</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085850"/>
          </a:xfrm>
          <a:prstGeom prst="roundRect">
            <a:avLst>
              <a:gd name="adj" fmla="val 6737"/>
            </a:avLst>
          </a:prstGeom>
          <a:solidFill>
            <a:srgbClr val="E8F8EF"/>
          </a:solidFill>
          <a:ln w="15875">
            <a:solidFill>
              <a:srgbClr val="9ED9B5"/>
            </a:solidFill>
            <a:prstDash val="solid"/>
          </a:ln>
        </p:spPr>
      </p:sp>
      <p:sp>
        <p:nvSpPr>
          <p:cNvPr id="9" name="Text 7"/>
          <p:cNvSpPr/>
          <p:nvPr/>
        </p:nvSpPr>
        <p:spPr>
          <a:xfrm>
            <a:off x="731520" y="155448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Nat had to </a:t>
            </a:r>
            <a:pPr indent="0" marL="0">
              <a:buNone/>
            </a:pPr>
            <a:r>
              <a:rPr lang="en-US" sz="2200" b="1" dirty="0">
                <a:solidFill>
                  <a:srgbClr val="1E8E52"/>
                </a:solidFill>
                <a:latin typeface="Calibri" pitchFamily="34" charset="0"/>
                <a:ea typeface="Calibri" pitchFamily="34" charset="-122"/>
                <a:cs typeface="Calibri" pitchFamily="34" charset="-120"/>
              </a:rPr>
              <a:t>transcribe</a:t>
            </a:r>
            <a:pPr indent="0" marL="0">
              <a:buNone/>
            </a:pPr>
            <a:r>
              <a:rPr lang="en-US" sz="2200" dirty="0">
                <a:solidFill>
                  <a:srgbClr val="1E293B"/>
                </a:solidFill>
                <a:latin typeface="Calibri" pitchFamily="34" charset="0"/>
                <a:ea typeface="Calibri" pitchFamily="34" charset="-122"/>
                <a:cs typeface="Calibri" pitchFamily="34" charset="-120"/>
              </a:rPr>
              <a:t> the borrowed algebra book into his notebook by hand, one line at a time.</a:t>
            </a:r>
            <a:endParaRPr lang="en-US" sz="2200" dirty="0"/>
          </a:p>
        </p:txBody>
      </p:sp>
      <p:sp>
        <p:nvSpPr>
          <p:cNvPr id="10" name="Shape 8"/>
          <p:cNvSpPr/>
          <p:nvPr/>
        </p:nvSpPr>
        <p:spPr>
          <a:xfrm>
            <a:off x="502920" y="2777490"/>
            <a:ext cx="11185855" cy="1085850"/>
          </a:xfrm>
          <a:prstGeom prst="roundRect">
            <a:avLst>
              <a:gd name="adj" fmla="val 6737"/>
            </a:avLst>
          </a:prstGeom>
          <a:solidFill>
            <a:srgbClr val="E8F8EF"/>
          </a:solidFill>
          <a:ln w="15875">
            <a:solidFill>
              <a:srgbClr val="9ED9B5"/>
            </a:solidFill>
            <a:prstDash val="solid"/>
          </a:ln>
        </p:spPr>
      </p:sp>
      <p:sp>
        <p:nvSpPr>
          <p:cNvPr id="11" name="Text 9"/>
          <p:cNvSpPr/>
          <p:nvPr/>
        </p:nvSpPr>
        <p:spPr>
          <a:xfrm>
            <a:off x="731520" y="277749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The old navigation guide was full of errors, so its </a:t>
            </a:r>
            <a:pPr indent="0" marL="0">
              <a:buNone/>
            </a:pPr>
            <a:r>
              <a:rPr lang="en-US" sz="2200" b="1" dirty="0">
                <a:solidFill>
                  <a:srgbClr val="1E8E52"/>
                </a:solidFill>
                <a:latin typeface="Calibri" pitchFamily="34" charset="0"/>
                <a:ea typeface="Calibri" pitchFamily="34" charset="-122"/>
                <a:cs typeface="Calibri" pitchFamily="34" charset="-120"/>
              </a:rPr>
              <a:t>diagram</a:t>
            </a:r>
            <a:pPr indent="0" marL="0">
              <a:buNone/>
            </a:pPr>
            <a:r>
              <a:rPr lang="en-US" sz="2200" dirty="0">
                <a:solidFill>
                  <a:srgbClr val="1E293B"/>
                </a:solidFill>
                <a:latin typeface="Calibri" pitchFamily="34" charset="0"/>
                <a:ea typeface="Calibri" pitchFamily="34" charset="-122"/>
                <a:cs typeface="Calibri" pitchFamily="34" charset="-120"/>
              </a:rPr>
              <a:t> of the lunar tables could not be trusted.</a:t>
            </a:r>
            <a:endParaRPr lang="en-US" sz="2200" dirty="0"/>
          </a:p>
        </p:txBody>
      </p:sp>
      <p:sp>
        <p:nvSpPr>
          <p:cNvPr id="12" name="Shape 10"/>
          <p:cNvSpPr/>
          <p:nvPr/>
        </p:nvSpPr>
        <p:spPr>
          <a:xfrm>
            <a:off x="502920" y="4000500"/>
            <a:ext cx="11185855" cy="1085850"/>
          </a:xfrm>
          <a:prstGeom prst="roundRect">
            <a:avLst>
              <a:gd name="adj" fmla="val 6737"/>
            </a:avLst>
          </a:prstGeom>
          <a:solidFill>
            <a:srgbClr val="E8F8EF"/>
          </a:solidFill>
          <a:ln w="15875">
            <a:solidFill>
              <a:srgbClr val="9ED9B5"/>
            </a:solidFill>
            <a:prstDash val="solid"/>
          </a:ln>
        </p:spPr>
      </p:sp>
      <p:sp>
        <p:nvSpPr>
          <p:cNvPr id="13" name="Text 11"/>
          <p:cNvSpPr/>
          <p:nvPr/>
        </p:nvSpPr>
        <p:spPr>
          <a:xfrm>
            <a:off x="731520" y="400050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Latham’s book is a </a:t>
            </a:r>
            <a:pPr indent="0" marL="0">
              <a:buNone/>
            </a:pPr>
            <a:r>
              <a:rPr lang="en-US" sz="2200" b="1" dirty="0">
                <a:solidFill>
                  <a:srgbClr val="1E8E52"/>
                </a:solidFill>
                <a:latin typeface="Calibri" pitchFamily="34" charset="0"/>
                <a:ea typeface="Calibri" pitchFamily="34" charset="-122"/>
                <a:cs typeface="Calibri" pitchFamily="34" charset="-120"/>
              </a:rPr>
              <a:t>biography</a:t>
            </a:r>
            <a:pPr indent="0" marL="0">
              <a:buNone/>
            </a:pPr>
            <a:r>
              <a:rPr lang="en-US" sz="2200" dirty="0">
                <a:solidFill>
                  <a:srgbClr val="1E293B"/>
                </a:solidFill>
                <a:latin typeface="Calibri" pitchFamily="34" charset="0"/>
                <a:ea typeface="Calibri" pitchFamily="34" charset="-122"/>
                <a:cs typeface="Calibri" pitchFamily="34" charset="-120"/>
              </a:rPr>
              <a:t> — the writing of a whole life.</a:t>
            </a:r>
            <a:endParaRPr lang="en-US" sz="2200" dirty="0"/>
          </a:p>
        </p:txBody>
      </p:sp>
      <p:sp>
        <p:nvSpPr>
          <p:cNvPr id="14" name="Shape 12"/>
          <p:cNvSpPr/>
          <p:nvPr/>
        </p:nvSpPr>
        <p:spPr>
          <a:xfrm>
            <a:off x="502920" y="5223510"/>
            <a:ext cx="11185855" cy="1085850"/>
          </a:xfrm>
          <a:prstGeom prst="roundRect">
            <a:avLst>
              <a:gd name="adj" fmla="val 6737"/>
            </a:avLst>
          </a:prstGeom>
          <a:solidFill>
            <a:srgbClr val="E8F8EF"/>
          </a:solidFill>
          <a:ln w="15875">
            <a:solidFill>
              <a:srgbClr val="9ED9B5"/>
            </a:solidFill>
            <a:prstDash val="solid"/>
          </a:ln>
        </p:spPr>
      </p:sp>
      <p:sp>
        <p:nvSpPr>
          <p:cNvPr id="15" name="Text 13"/>
          <p:cNvSpPr/>
          <p:nvPr/>
        </p:nvSpPr>
        <p:spPr>
          <a:xfrm>
            <a:off x="731520" y="522351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r>
              <a:rPr lang="en-US" sz="2200" dirty="0">
                <a:solidFill>
                  <a:srgbClr val="1E293B"/>
                </a:solidFill>
                <a:latin typeface="Calibri" pitchFamily="34" charset="0"/>
                <a:ea typeface="Calibri" pitchFamily="34" charset="-122"/>
                <a:cs typeface="Calibri" pitchFamily="34" charset="-120"/>
              </a:rPr>
              <a:t>Before printing, every book was a </a:t>
            </a:r>
            <a:pPr indent="0" marL="0">
              <a:buNone/>
            </a:pPr>
            <a:r>
              <a:rPr lang="en-US" sz="2200" b="1" dirty="0">
                <a:solidFill>
                  <a:srgbClr val="1E8E52"/>
                </a:solidFill>
                <a:latin typeface="Calibri" pitchFamily="34" charset="0"/>
                <a:ea typeface="Calibri" pitchFamily="34" charset="-122"/>
                <a:cs typeface="Calibri" pitchFamily="34" charset="-120"/>
              </a:rPr>
              <a:t>manuscript</a:t>
            </a:r>
            <a:pPr indent="0" marL="0">
              <a:buNone/>
            </a:pPr>
            <a:r>
              <a:rPr lang="en-US" sz="2200" dirty="0">
                <a:solidFill>
                  <a:srgbClr val="1E293B"/>
                </a:solidFill>
                <a:latin typeface="Calibri" pitchFamily="34" charset="0"/>
                <a:ea typeface="Calibri" pitchFamily="34" charset="-122"/>
                <a:cs typeface="Calibri" pitchFamily="34" charset="-120"/>
              </a:rPr>
              <a:t> , copied out slowly by hand.</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GRADED TODAY</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 Show What You Know · Morphology</a:t>
            </a:r>
            <a:endParaRPr lang="en-US" sz="3000" dirty="0"/>
          </a:p>
        </p:txBody>
      </p:sp>
      <p:sp>
        <p:nvSpPr>
          <p:cNvPr id="5" name="Shape 3"/>
          <p:cNvSpPr/>
          <p:nvPr/>
        </p:nvSpPr>
        <p:spPr>
          <a:xfrm>
            <a:off x="9402775" y="384048"/>
            <a:ext cx="2286000" cy="457200"/>
          </a:xfrm>
          <a:prstGeom prst="roundRect">
            <a:avLst>
              <a:gd name="adj" fmla="val 24000"/>
            </a:avLst>
          </a:prstGeom>
          <a:solidFill>
            <a:srgbClr val="C7922C"/>
          </a:solidFill>
          <a:ln w="12700">
            <a:solidFill>
              <a:srgbClr val="C7922C"/>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SWYK</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4892040"/>
          </a:xfrm>
          <a:prstGeom prst="roundRect">
            <a:avLst>
              <a:gd name="adj" fmla="val 1495"/>
            </a:avLst>
          </a:prstGeom>
          <a:solidFill>
            <a:srgbClr val="FEF6E8"/>
          </a:solidFill>
          <a:ln w="15875">
            <a:solidFill>
              <a:srgbClr val="C7922C"/>
            </a:solidFill>
            <a:prstDash val="solid"/>
          </a:ln>
        </p:spPr>
      </p:sp>
      <p:sp>
        <p:nvSpPr>
          <p:cNvPr id="9" name="Text 7"/>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Explain what graph, gram and scribe have in common, then use each one in a word and say what that word means.</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to write: Name the shared idea, then give one word per root with its meaning.</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WORDS FOR NAT’S WORLD (CHS. 5–8 AND BEYOND)</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Decode &amp; Discover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This week’s vocabulary comes from the world Nat is entering: the world of mathematics, navigation, and self-made scholarship. When you hit an unfamiliar word, use the 3-step strategy to figure it out.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3-Step Decode: apprentice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Step 1 — Context: The indenture says Nat has “put and bind himself apprentice to Ropes and Hodges to learn the Art, Trade or Mystery of Ship Chandlery for and during a term of nine years.” Nat is agreeing to learn a trade from someone else for a long time.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Step 2 — Word Parts: The root comes from Old French apprendre meaning to learn. The suffix -ice names a person. An apprentice is a person who learns.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Step 3 — Confirm: An apprentice is someone legally bound to work for a master craftsman for a set number of years in exchange for learning that trade. Nat is bound to Ropes and Hodges for nine years to learn ship chandlery.</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WORDS FOR NAT’S WORLD (CHS. 5–8 AND BEYOND)</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Decode &amp; Discover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Now try the remaining words on your own. Read the context sentence from the novel, think about the meaning, then tap to confirm.</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WORDS FOR NAT’S WORLD (CHS. 5–8 AND BEYOND)</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Decode &amp; Discover</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3606698" cy="2354580"/>
          </a:xfrm>
          <a:prstGeom prst="roundRect">
            <a:avLst>
              <a:gd name="adj" fmla="val 3107"/>
            </a:avLst>
          </a:prstGeom>
          <a:solidFill>
            <a:srgbClr val="E5F7FC"/>
          </a:solidFill>
          <a:ln w="15875">
            <a:solidFill>
              <a:srgbClr val="A6DDEE"/>
            </a:solidFill>
            <a:prstDash val="solid"/>
          </a:ln>
        </p:spPr>
      </p:sp>
      <p:sp>
        <p:nvSpPr>
          <p:cNvPr id="7" name="Text 5"/>
          <p:cNvSpPr/>
          <p:nvPr/>
        </p:nvSpPr>
        <p:spPr>
          <a:xfrm>
            <a:off x="685800" y="1627632"/>
            <a:ext cx="3240938" cy="2208276"/>
          </a:xfrm>
          <a:prstGeom prst="rect">
            <a:avLst/>
          </a:prstGeom>
          <a:noFill/>
          <a:ln/>
        </p:spPr>
        <p:txBody>
          <a:bodyPr wrap="square" lIns="0" tIns="0" rIns="0" bIns="0" rtlCol="0" anchor="ctr">
            <a:normAutofit/>
          </a:bodyPr>
          <a:lstStyle/>
          <a:p>
            <a:pPr indent="0" marL="0">
              <a:buNone/>
            </a:pPr>
            <a:r>
              <a:rPr lang="en-US" sz="2400" b="1" dirty="0">
                <a:solidFill>
                  <a:srgbClr val="1B7FA0"/>
                </a:solidFill>
                <a:latin typeface="Calibri" pitchFamily="34" charset="0"/>
                <a:ea typeface="Calibri" pitchFamily="34" charset="-122"/>
                <a:cs typeface="Calibri" pitchFamily="34" charset="-120"/>
              </a:rPr>
              <a:t>bookkeeping</a:t>
            </a:r>
            <a:endParaRPr lang="en-US" sz="2400" dirty="0"/>
          </a:p>
          <a:p>
            <a:pPr indent="0" marL="0">
              <a:buNone/>
            </a:pPr>
            <a:r>
              <a:rPr lang="en-US" sz="1800" dirty="0">
                <a:solidFill>
                  <a:srgbClr val="1E293B"/>
                </a:solidFill>
                <a:latin typeface="Calibri" pitchFamily="34" charset="0"/>
                <a:ea typeface="Calibri" pitchFamily="34" charset="-122"/>
                <a:cs typeface="Calibri" pitchFamily="34" charset="-120"/>
              </a:rPr>
              <a:t>The careful recording of all financial transactions and accounts for a business — tracking money coming in and going out. Nat would do this for the ship chandlery.</a:t>
            </a:r>
            <a:endParaRPr lang="en-US" sz="2400" dirty="0"/>
          </a:p>
          <a:p>
            <a:pPr indent="0" marL="0">
              <a:buNone/>
            </a:pPr>
            <a:r>
              <a:rPr lang="en-US" sz="1600" i="1" dirty="0">
                <a:solidFill>
                  <a:srgbClr val="475569"/>
                </a:solidFill>
                <a:latin typeface="Calibri" pitchFamily="34" charset="0"/>
                <a:ea typeface="Calibri" pitchFamily="34" charset="-122"/>
                <a:cs typeface="Calibri" pitchFamily="34" charset="-120"/>
              </a:rPr>
              <a:t>“Mr. Hodges knows you’re quick at figures. He says Mr. Walsh can teach you enough bookkeeping in two or three months.” — Ch. 5</a:t>
            </a:r>
            <a:endParaRPr lang="en-US" sz="2400" dirty="0"/>
          </a:p>
        </p:txBody>
      </p:sp>
      <p:sp>
        <p:nvSpPr>
          <p:cNvPr id="8" name="Shape 6"/>
          <p:cNvSpPr/>
          <p:nvPr/>
        </p:nvSpPr>
        <p:spPr>
          <a:xfrm>
            <a:off x="4292498" y="1554480"/>
            <a:ext cx="3606698" cy="2354580"/>
          </a:xfrm>
          <a:prstGeom prst="roundRect">
            <a:avLst>
              <a:gd name="adj" fmla="val 3107"/>
            </a:avLst>
          </a:prstGeom>
          <a:solidFill>
            <a:srgbClr val="E5F7FC"/>
          </a:solidFill>
          <a:ln w="15875">
            <a:solidFill>
              <a:srgbClr val="A6DDEE"/>
            </a:solidFill>
            <a:prstDash val="solid"/>
          </a:ln>
        </p:spPr>
      </p:sp>
      <p:sp>
        <p:nvSpPr>
          <p:cNvPr id="9" name="Text 7"/>
          <p:cNvSpPr/>
          <p:nvPr/>
        </p:nvSpPr>
        <p:spPr>
          <a:xfrm>
            <a:off x="4475378" y="1627632"/>
            <a:ext cx="3240938" cy="2208276"/>
          </a:xfrm>
          <a:prstGeom prst="rect">
            <a:avLst/>
          </a:prstGeom>
          <a:noFill/>
          <a:ln/>
        </p:spPr>
        <p:txBody>
          <a:bodyPr wrap="square" lIns="0" tIns="0" rIns="0" bIns="0" rtlCol="0" anchor="ctr">
            <a:normAutofit/>
          </a:bodyPr>
          <a:lstStyle/>
          <a:p>
            <a:pPr indent="0" marL="0">
              <a:buNone/>
            </a:pPr>
            <a:r>
              <a:rPr lang="en-US" sz="2400" b="1" dirty="0">
                <a:solidFill>
                  <a:srgbClr val="1B7FA0"/>
                </a:solidFill>
                <a:latin typeface="Calibri" pitchFamily="34" charset="0"/>
                <a:ea typeface="Calibri" pitchFamily="34" charset="-122"/>
                <a:cs typeface="Calibri" pitchFamily="34" charset="-120"/>
              </a:rPr>
              <a:t>almanac</a:t>
            </a:r>
            <a:endParaRPr lang="en-US" sz="2400" dirty="0"/>
          </a:p>
          <a:p>
            <a:pPr indent="0" marL="0">
              <a:buNone/>
            </a:pPr>
            <a:r>
              <a:rPr lang="en-US" sz="1800" dirty="0">
                <a:solidFill>
                  <a:srgbClr val="1E293B"/>
                </a:solidFill>
                <a:latin typeface="Calibri" pitchFamily="34" charset="0"/>
                <a:ea typeface="Calibri" pitchFamily="34" charset="-122"/>
                <a:cs typeface="Calibri" pitchFamily="34" charset="-120"/>
              </a:rPr>
              <a:t>A yearly published book containing astronomical tables, calendar data, weather predictions, and navigation information. Sailors depended on almanacs to navigate across open ocean.</a:t>
            </a:r>
            <a:endParaRPr lang="en-US" sz="2400" dirty="0"/>
          </a:p>
          <a:p>
            <a:pPr indent="0" marL="0">
              <a:buNone/>
            </a:pPr>
            <a:r>
              <a:rPr lang="en-US" sz="1600" i="1" dirty="0">
                <a:solidFill>
                  <a:srgbClr val="475569"/>
                </a:solidFill>
                <a:latin typeface="Calibri" pitchFamily="34" charset="0"/>
                <a:ea typeface="Calibri" pitchFamily="34" charset="-122"/>
                <a:cs typeface="Calibri" pitchFamily="34" charset="-120"/>
              </a:rPr>
              <a:t>At sixteen, Nat figures out how to make his own almanac — “An almanac for the years from 1789 to 1823.” — Ch. 7</a:t>
            </a:r>
            <a:endParaRPr lang="en-US" sz="2400" dirty="0"/>
          </a:p>
        </p:txBody>
      </p:sp>
      <p:sp>
        <p:nvSpPr>
          <p:cNvPr id="10" name="Shape 8"/>
          <p:cNvSpPr/>
          <p:nvPr/>
        </p:nvSpPr>
        <p:spPr>
          <a:xfrm>
            <a:off x="8082077" y="1554480"/>
            <a:ext cx="3606698" cy="2354580"/>
          </a:xfrm>
          <a:prstGeom prst="roundRect">
            <a:avLst>
              <a:gd name="adj" fmla="val 3107"/>
            </a:avLst>
          </a:prstGeom>
          <a:solidFill>
            <a:srgbClr val="E5F7FC"/>
          </a:solidFill>
          <a:ln w="15875">
            <a:solidFill>
              <a:srgbClr val="A6DDEE"/>
            </a:solidFill>
            <a:prstDash val="solid"/>
          </a:ln>
        </p:spPr>
      </p:sp>
      <p:sp>
        <p:nvSpPr>
          <p:cNvPr id="11" name="Text 9"/>
          <p:cNvSpPr/>
          <p:nvPr/>
        </p:nvSpPr>
        <p:spPr>
          <a:xfrm>
            <a:off x="8264957" y="1627632"/>
            <a:ext cx="3240938" cy="2208276"/>
          </a:xfrm>
          <a:prstGeom prst="rect">
            <a:avLst/>
          </a:prstGeom>
          <a:noFill/>
          <a:ln/>
        </p:spPr>
        <p:txBody>
          <a:bodyPr wrap="square" lIns="0" tIns="0" rIns="0" bIns="0" rtlCol="0" anchor="ctr">
            <a:normAutofit/>
          </a:bodyPr>
          <a:lstStyle/>
          <a:p>
            <a:pPr indent="0" marL="0">
              <a:buNone/>
            </a:pPr>
            <a:r>
              <a:rPr lang="en-US" sz="2400" b="1" dirty="0">
                <a:solidFill>
                  <a:srgbClr val="1B7FA0"/>
                </a:solidFill>
                <a:latin typeface="Calibri" pitchFamily="34" charset="0"/>
                <a:ea typeface="Calibri" pitchFamily="34" charset="-122"/>
                <a:cs typeface="Calibri" pitchFamily="34" charset="-120"/>
              </a:rPr>
              <a:t>latitude</a:t>
            </a:r>
            <a:endParaRPr lang="en-US" sz="2400" dirty="0"/>
          </a:p>
          <a:p>
            <a:pPr indent="0" marL="0">
              <a:buNone/>
            </a:pPr>
            <a:r>
              <a:rPr lang="en-US" sz="1800" dirty="0">
                <a:solidFill>
                  <a:srgbClr val="1E293B"/>
                </a:solidFill>
                <a:latin typeface="Calibri" pitchFamily="34" charset="0"/>
                <a:ea typeface="Calibri" pitchFamily="34" charset="-122"/>
                <a:cs typeface="Calibri" pitchFamily="34" charset="-120"/>
              </a:rPr>
              <a:t>Distance measured in degrees north or south from the equator. Together with longitude, latitude tells a navigator exactly where on earth a ship is located.</a:t>
            </a:r>
            <a:endParaRPr lang="en-US" sz="2400" dirty="0"/>
          </a:p>
          <a:p>
            <a:pPr indent="0" marL="0">
              <a:buNone/>
            </a:pPr>
            <a:r>
              <a:rPr lang="en-US" sz="1600" i="1" dirty="0">
                <a:solidFill>
                  <a:srgbClr val="475569"/>
                </a:solidFill>
                <a:latin typeface="Calibri" pitchFamily="34" charset="0"/>
                <a:ea typeface="Calibri" pitchFamily="34" charset="-122"/>
                <a:cs typeface="Calibri" pitchFamily="34" charset="-120"/>
              </a:rPr>
              <a:t>To find his ship’s position, a navigator must know its latitude — how far north or south of the equator it sits. (Example sentence — a word for later chapters)</a:t>
            </a:r>
            <a:endParaRPr lang="en-US" sz="2400" dirty="0"/>
          </a:p>
        </p:txBody>
      </p:sp>
      <p:sp>
        <p:nvSpPr>
          <p:cNvPr id="12" name="Shape 10"/>
          <p:cNvSpPr/>
          <p:nvPr/>
        </p:nvSpPr>
        <p:spPr>
          <a:xfrm>
            <a:off x="502920" y="4091940"/>
            <a:ext cx="3606698" cy="2354580"/>
          </a:xfrm>
          <a:prstGeom prst="roundRect">
            <a:avLst>
              <a:gd name="adj" fmla="val 3107"/>
            </a:avLst>
          </a:prstGeom>
          <a:solidFill>
            <a:srgbClr val="E5F7FC"/>
          </a:solidFill>
          <a:ln w="15875">
            <a:solidFill>
              <a:srgbClr val="A6DDEE"/>
            </a:solidFill>
            <a:prstDash val="solid"/>
          </a:ln>
        </p:spPr>
      </p:sp>
      <p:sp>
        <p:nvSpPr>
          <p:cNvPr id="13" name="Text 11"/>
          <p:cNvSpPr/>
          <p:nvPr/>
        </p:nvSpPr>
        <p:spPr>
          <a:xfrm>
            <a:off x="685800" y="4165092"/>
            <a:ext cx="3240938" cy="2208276"/>
          </a:xfrm>
          <a:prstGeom prst="rect">
            <a:avLst/>
          </a:prstGeom>
          <a:noFill/>
          <a:ln/>
        </p:spPr>
        <p:txBody>
          <a:bodyPr wrap="square" lIns="0" tIns="0" rIns="0" bIns="0" rtlCol="0" anchor="ctr">
            <a:normAutofit/>
          </a:bodyPr>
          <a:lstStyle/>
          <a:p>
            <a:pPr indent="0" marL="0">
              <a:buNone/>
            </a:pPr>
            <a:r>
              <a:rPr lang="en-US" sz="2400" b="1" dirty="0">
                <a:solidFill>
                  <a:srgbClr val="1B7FA0"/>
                </a:solidFill>
                <a:latin typeface="Calibri" pitchFamily="34" charset="0"/>
                <a:ea typeface="Calibri" pitchFamily="34" charset="-122"/>
                <a:cs typeface="Calibri" pitchFamily="34" charset="-120"/>
              </a:rPr>
              <a:t>logarithm</a:t>
            </a:r>
            <a:endParaRPr lang="en-US" sz="2400" dirty="0"/>
          </a:p>
          <a:p>
            <a:pPr indent="0" marL="0">
              <a:buNone/>
            </a:pPr>
            <a:r>
              <a:rPr lang="en-US" sz="1800" dirty="0">
                <a:solidFill>
                  <a:srgbClr val="1E293B"/>
                </a:solidFill>
                <a:latin typeface="Calibri" pitchFamily="34" charset="0"/>
                <a:ea typeface="Calibri" pitchFamily="34" charset="-122"/>
                <a:cs typeface="Calibri" pitchFamily="34" charset="-120"/>
              </a:rPr>
              <a:t>A mathematical tool that expresses a number as the power to which a base must be raised. Logarithm tables allowed sailors to replace difficult multiplication with simple addition, transforming navigation.</a:t>
            </a:r>
            <a:endParaRPr lang="en-US" sz="2400" dirty="0"/>
          </a:p>
          <a:p>
            <a:pPr indent="0" marL="0">
              <a:buNone/>
            </a:pPr>
            <a:r>
              <a:rPr lang="en-US" sz="1600" i="1" dirty="0">
                <a:solidFill>
                  <a:srgbClr val="475569"/>
                </a:solidFill>
                <a:latin typeface="Calibri" pitchFamily="34" charset="0"/>
                <a:ea typeface="Calibri" pitchFamily="34" charset="-122"/>
                <a:cs typeface="Calibri" pitchFamily="34" charset="-120"/>
              </a:rPr>
              <a:t>Navigators use logarithms to turn hard multiplication problems into simple addition — cutting long calculations from hours to minutes. (Example sentence — a word for later chapters)</a:t>
            </a:r>
            <a:endParaRPr lang="en-US" sz="2400" dirty="0"/>
          </a:p>
        </p:txBody>
      </p:sp>
      <p:sp>
        <p:nvSpPr>
          <p:cNvPr id="14" name="Shape 12"/>
          <p:cNvSpPr/>
          <p:nvPr/>
        </p:nvSpPr>
        <p:spPr>
          <a:xfrm>
            <a:off x="4292498" y="4091940"/>
            <a:ext cx="3606698" cy="2354580"/>
          </a:xfrm>
          <a:prstGeom prst="roundRect">
            <a:avLst>
              <a:gd name="adj" fmla="val 3107"/>
            </a:avLst>
          </a:prstGeom>
          <a:solidFill>
            <a:srgbClr val="E5F7FC"/>
          </a:solidFill>
          <a:ln w="15875">
            <a:solidFill>
              <a:srgbClr val="A6DDEE"/>
            </a:solidFill>
            <a:prstDash val="solid"/>
          </a:ln>
        </p:spPr>
      </p:sp>
      <p:sp>
        <p:nvSpPr>
          <p:cNvPr id="15" name="Text 13"/>
          <p:cNvSpPr/>
          <p:nvPr/>
        </p:nvSpPr>
        <p:spPr>
          <a:xfrm>
            <a:off x="4475378" y="4165092"/>
            <a:ext cx="3240938" cy="2208276"/>
          </a:xfrm>
          <a:prstGeom prst="rect">
            <a:avLst/>
          </a:prstGeom>
          <a:noFill/>
          <a:ln/>
        </p:spPr>
        <p:txBody>
          <a:bodyPr wrap="square" lIns="0" tIns="0" rIns="0" bIns="0" rtlCol="0" anchor="ctr">
            <a:normAutofit/>
          </a:bodyPr>
          <a:lstStyle/>
          <a:p>
            <a:pPr indent="0" marL="0">
              <a:buNone/>
            </a:pPr>
            <a:r>
              <a:rPr lang="en-US" sz="2400" b="1" dirty="0">
                <a:solidFill>
                  <a:srgbClr val="1B7FA0"/>
                </a:solidFill>
                <a:latin typeface="Calibri" pitchFamily="34" charset="0"/>
                <a:ea typeface="Calibri" pitchFamily="34" charset="-122"/>
                <a:cs typeface="Calibri" pitchFamily="34" charset="-120"/>
              </a:rPr>
              <a:t>celestial</a:t>
            </a:r>
            <a:endParaRPr lang="en-US" sz="2400" dirty="0"/>
          </a:p>
          <a:p>
            <a:pPr indent="0" marL="0">
              <a:buNone/>
            </a:pPr>
            <a:r>
              <a:rPr lang="en-US" sz="1800" dirty="0">
                <a:solidFill>
                  <a:srgbClr val="1E293B"/>
                </a:solidFill>
                <a:latin typeface="Calibri" pitchFamily="34" charset="0"/>
                <a:ea typeface="Calibri" pitchFamily="34" charset="-122"/>
                <a:cs typeface="Calibri" pitchFamily="34" charset="-120"/>
              </a:rPr>
              <a:t>Relating to the sky or heavens. Celestial navigation uses the measured positions of stars, the sun, and the moon to calculate a ship’s exact location on earth.</a:t>
            </a:r>
            <a:endParaRPr lang="en-US" sz="2400" dirty="0"/>
          </a:p>
          <a:p>
            <a:pPr indent="0" marL="0">
              <a:buNone/>
            </a:pPr>
            <a:r>
              <a:rPr lang="en-US" sz="1600" i="1" dirty="0">
                <a:solidFill>
                  <a:srgbClr val="475569"/>
                </a:solidFill>
                <a:latin typeface="Calibri" pitchFamily="34" charset="0"/>
                <a:ea typeface="Calibri" pitchFamily="34" charset="-122"/>
                <a:cs typeface="Calibri" pitchFamily="34" charset="-120"/>
              </a:rPr>
              <a:t>Celestial navigation means finding your position by observing the sun, moon, and stars — exactly what Nat would spend his life perfecting. (Example sentence — a word for later chapters)</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DAY 1: NOTICE — WORK OUT THE PATTERN BEFORE YOU ARE TOLD IT.</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Verb Tense in Informational Writing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What do you notice?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Read each sentence straight through and listen for the moment it trips.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The three main tenses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Past tense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Present tense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Future tense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Tense shift: A writer accidentally switches tenses within one passage.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Think it through.</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When does each one take place — past, now, or still to come?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Does it stay in that time all the way to the end?</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DAY 1: NOTICE — WORK OUT THE PATTERN BEFORE YOU ARE TOLD IT.</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Verb Tense in Informational Writing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What exactly would you change to make it stay put?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Tense Identifier: Click the word that names the tense for each sentence. Think about when the action happens.</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DAY 1: NOTICE — WORK OUT THE PATTERN BEFORE YOU ARE TOLD IT.</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Verb Tense in Informational Writing</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Past tense</a:t>
            </a:r>
            <a:endParaRPr lang="en-US" sz="19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Present tense</a:t>
            </a:r>
            <a:endParaRPr lang="en-US" sz="19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Future tense</a:t>
            </a:r>
            <a:endParaRPr lang="en-US" sz="19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Past tense</a:t>
            </a:r>
            <a:endParaRPr lang="en-US" sz="19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Present tense</a:t>
            </a:r>
            <a:endParaRPr lang="en-US" sz="19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Future tense</a:t>
            </a:r>
            <a:endParaRPr lang="en-US" sz="19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Past tense</a:t>
            </a:r>
            <a:endParaRPr lang="en-US" sz="19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Present tense</a:t>
            </a:r>
            <a:endParaRPr lang="en-US" sz="19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Future tense</a:t>
            </a:r>
            <a:endParaRPr lang="en-US" sz="1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DAY 1: NOTICE — WORK OUT THE PATTERN BEFORE YOU ARE TOLD IT.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Verb Tense in Informational Writing</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Past tense</a:t>
            </a:r>
            <a:endParaRPr lang="en-US" sz="19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Present tense</a:t>
            </a:r>
            <a:endParaRPr lang="en-US" sz="19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Future tense</a:t>
            </a:r>
            <a:endParaRPr lang="en-US" sz="19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Past tense</a:t>
            </a:r>
            <a:endParaRPr lang="en-US" sz="19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Present tense</a:t>
            </a:r>
            <a:endParaRPr lang="en-US" sz="19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Future tense</a:t>
            </a:r>
            <a:endParaRPr lang="en-US" sz="19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Past tense</a:t>
            </a:r>
            <a:endParaRPr lang="en-US" sz="19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Present tense</a:t>
            </a:r>
            <a:endParaRPr lang="en-US" sz="19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Future tense</a:t>
            </a:r>
            <a:endParaRPr lang="en-US" sz="1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DEFINE — WHO DOES THE DOING?</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-er and -or — Naming the Doer  (1/3)</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The sea trade is full of job names: navigator, surveyor, printer, keeper, sailor. Every one of them takes a verb and turns it into a person. Two endings do that job — -er and -or — and they sound exactly alike.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Which Ending?</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Both endings mean one who does it. They sound the same. Only the word’s history decides.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-er on ordinary English verbs: teach → teach er, print → print er, keep → keep er</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-or on words that came through Latin: navigate → naviga tor, calculate → calcula tor, inspect → inspec tor</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Watch for: a verb ending in -ate almost always takes -or.</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And a few in -ar: scholar, beggar, liar. Rare, but worth knowing.</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DEFINE — WHO DOES THE DOING?</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-er and -or — Naming the Doer  (2/3)</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Try it: for each job name below, cover the ending and look at the verb underneath. Is it a plain English verb, or one that came through Latin? Write your prediction, then check: navigate, print, survey, calculate, keep, inspect.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Words to divide in your journal</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al·ma·nac — al (closed: short a) + ma (open: long a) + nac (closed)</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la·ti·tude — la (open: long a) + ti (open: long i) + tude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ce·les·tial — ce + les + tial</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log·a·rithm — log (closed) + a + rithm</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Write these syllable breaks in your reading journal. Circle the consonant or consonant pair where you made each division.</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DEFINE — WHO DOES THE DOING?</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-er and -or — Naming the Doer  (3/3)</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–er and –or both mean the one who does it. Which one a word takes is usually a matter of where the word came from.</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Sort each doer word by its ending.</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DEFINE — WHO DOES THE DOING?</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-er and -or — Naming the Doer</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SORT THESE WORDS</a:t>
            </a:r>
            <a:endParaRPr lang="en-US" sz="1300" dirty="0"/>
          </a:p>
        </p:txBody>
      </p:sp>
      <p:sp>
        <p:nvSpPr>
          <p:cNvPr id="9" name="Shape 7"/>
          <p:cNvSpPr/>
          <p:nvPr/>
        </p:nvSpPr>
        <p:spPr>
          <a:xfrm>
            <a:off x="502920" y="1920240"/>
            <a:ext cx="11185855" cy="1463040"/>
          </a:xfrm>
          <a:prstGeom prst="roundRect">
            <a:avLst>
              <a:gd name="adj" fmla="val 5000"/>
            </a:avLst>
          </a:prstGeom>
          <a:solidFill>
            <a:srgbClr val="E5F7FC"/>
          </a:solidFill>
          <a:ln w="15875">
            <a:solidFill>
              <a:srgbClr val="A6DDEE"/>
            </a:solidFill>
            <a:prstDash val="solid"/>
          </a:ln>
        </p:spPr>
      </p:sp>
      <p:sp>
        <p:nvSpPr>
          <p:cNvPr id="10" name="Text 8"/>
          <p:cNvSpPr/>
          <p:nvPr/>
        </p:nvSpPr>
        <p:spPr>
          <a:xfrm>
            <a:off x="777240" y="1965960"/>
            <a:ext cx="10637215" cy="1371600"/>
          </a:xfrm>
          <a:prstGeom prst="rect">
            <a:avLst/>
          </a:prstGeom>
          <a:noFill/>
          <a:ln/>
        </p:spPr>
        <p:txBody>
          <a:bodyPr wrap="square" lIns="0" tIns="0" rIns="0" bIns="0" rtlCol="0" anchor="ctr"/>
          <a:lstStyle/>
          <a:p>
            <a:pPr algn="ctr" indent="0" marL="0">
              <a:buNone/>
            </a:pPr>
            <a:r>
              <a:rPr lang="en-US" sz="2600" b="1" dirty="0">
                <a:solidFill>
                  <a:srgbClr val="0E1C42"/>
                </a:solidFill>
                <a:latin typeface="Calibri" pitchFamily="34" charset="0"/>
                <a:ea typeface="Calibri" pitchFamily="34" charset="-122"/>
                <a:cs typeface="Calibri" pitchFamily="34" charset="-120"/>
              </a:rPr>
              <a:t>sailor     ·     navigator     ·     surveyor     ·     teacher     ·     writer     ·     bookkeeper</a:t>
            </a:r>
            <a:endParaRPr lang="en-US" sz="2600" dirty="0"/>
          </a:p>
        </p:txBody>
      </p:sp>
      <p:sp>
        <p:nvSpPr>
          <p:cNvPr id="11" name="Text 9"/>
          <p:cNvSpPr/>
          <p:nvPr/>
        </p:nvSpPr>
        <p:spPr>
          <a:xfrm>
            <a:off x="502920" y="36118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INTO THESE GROUPS</a:t>
            </a:r>
            <a:endParaRPr lang="en-US" sz="1300" dirty="0"/>
          </a:p>
        </p:txBody>
      </p:sp>
      <p:sp>
        <p:nvSpPr>
          <p:cNvPr id="12" name="Shape 10"/>
          <p:cNvSpPr/>
          <p:nvPr/>
        </p:nvSpPr>
        <p:spPr>
          <a:xfrm>
            <a:off x="502920" y="3977640"/>
            <a:ext cx="5501488" cy="1097280"/>
          </a:xfrm>
          <a:prstGeom prst="roundRect">
            <a:avLst>
              <a:gd name="adj" fmla="val 6667"/>
            </a:avLst>
          </a:prstGeom>
          <a:solidFill>
            <a:srgbClr val="F8FAFC"/>
          </a:solidFill>
          <a:ln w="15875">
            <a:solidFill>
              <a:srgbClr val="CBD5E1"/>
            </a:solidFill>
            <a:prstDash val="solid"/>
          </a:ln>
        </p:spPr>
      </p:sp>
      <p:sp>
        <p:nvSpPr>
          <p:cNvPr id="13" name="Text 11"/>
          <p:cNvSpPr/>
          <p:nvPr/>
        </p:nvSpPr>
        <p:spPr>
          <a:xfrm>
            <a:off x="685800" y="4050792"/>
            <a:ext cx="513572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ends in –or</a:t>
            </a:r>
            <a:endParaRPr lang="en-US" sz="2200" dirty="0"/>
          </a:p>
        </p:txBody>
      </p:sp>
      <p:sp>
        <p:nvSpPr>
          <p:cNvPr id="14" name="Shape 12"/>
          <p:cNvSpPr/>
          <p:nvPr/>
        </p:nvSpPr>
        <p:spPr>
          <a:xfrm>
            <a:off x="6187288" y="3977640"/>
            <a:ext cx="5501488" cy="1097280"/>
          </a:xfrm>
          <a:prstGeom prst="roundRect">
            <a:avLst>
              <a:gd name="adj" fmla="val 6667"/>
            </a:avLst>
          </a:prstGeom>
          <a:solidFill>
            <a:srgbClr val="F8FAFC"/>
          </a:solidFill>
          <a:ln w="15875">
            <a:solidFill>
              <a:srgbClr val="CBD5E1"/>
            </a:solidFill>
            <a:prstDash val="solid"/>
          </a:ln>
        </p:spPr>
      </p:sp>
      <p:sp>
        <p:nvSpPr>
          <p:cNvPr id="15" name="Text 13"/>
          <p:cNvSpPr/>
          <p:nvPr/>
        </p:nvSpPr>
        <p:spPr>
          <a:xfrm>
            <a:off x="6370168" y="4050792"/>
            <a:ext cx="513572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ends in –er</a:t>
            </a:r>
            <a:endParaRPr lang="en-US" sz="2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DEFINE — WHO DOES THE DOING?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-er and -or — Naming the Doer</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5501488" cy="4892040"/>
          </a:xfrm>
          <a:prstGeom prst="roundRect">
            <a:avLst>
              <a:gd name="adj" fmla="val 1495"/>
            </a:avLst>
          </a:prstGeom>
          <a:solidFill>
            <a:srgbClr val="E8F8EF"/>
          </a:solidFill>
          <a:ln w="15875">
            <a:solidFill>
              <a:srgbClr val="9ED9B5"/>
            </a:solidFill>
            <a:prstDash val="solid"/>
          </a:ln>
        </p:spPr>
      </p:sp>
      <p:sp>
        <p:nvSpPr>
          <p:cNvPr id="9" name="Text 7"/>
          <p:cNvSpPr/>
          <p:nvPr/>
        </p:nvSpPr>
        <p:spPr>
          <a:xfrm>
            <a:off x="685800" y="1691640"/>
            <a:ext cx="513572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ends in –or</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sailor</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navigator</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surveyor</a:t>
            </a:r>
            <a:endParaRPr lang="en-US" sz="2100" dirty="0"/>
          </a:p>
        </p:txBody>
      </p:sp>
      <p:sp>
        <p:nvSpPr>
          <p:cNvPr id="10" name="Shape 8"/>
          <p:cNvSpPr/>
          <p:nvPr/>
        </p:nvSpPr>
        <p:spPr>
          <a:xfrm>
            <a:off x="6187288" y="1554480"/>
            <a:ext cx="5501488" cy="4892040"/>
          </a:xfrm>
          <a:prstGeom prst="roundRect">
            <a:avLst>
              <a:gd name="adj" fmla="val 1495"/>
            </a:avLst>
          </a:prstGeom>
          <a:solidFill>
            <a:srgbClr val="E8F8EF"/>
          </a:solidFill>
          <a:ln w="15875">
            <a:solidFill>
              <a:srgbClr val="9ED9B5"/>
            </a:solidFill>
            <a:prstDash val="solid"/>
          </a:ln>
        </p:spPr>
      </p:sp>
      <p:sp>
        <p:nvSpPr>
          <p:cNvPr id="11" name="Text 9"/>
          <p:cNvSpPr/>
          <p:nvPr/>
        </p:nvSpPr>
        <p:spPr>
          <a:xfrm>
            <a:off x="6370168" y="1691640"/>
            <a:ext cx="513572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ends in –er</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teacher</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writer</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bookkeeper</a:t>
            </a:r>
            <a:endParaRPr lang="en-US" sz="2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CHAPTER 5 — “A VOICE IN THE NIGHT”</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Reading Focus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E5F7FC"/>
          </a:solidFill>
          <a:ln w="15875">
            <a:solidFill>
              <a:srgbClr val="A6DDEE"/>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 You are here: Chapter 5 — A Voice in the Night</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In Chapter 5, years have passed. Mother has died. Granny has died. Nat has left school to help at the cooperage. One night he hears his father’s voice and thinks he’s going back to school. Pay close attention to the moment Nat reads the indenture. Notice how Latham shows what Nat feels without saying it directly.</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STOPPING POINTS IN CHAPTER 5</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Pause &amp; Think</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0E8FF"/>
          </a:solidFill>
          <a:ln w="15875">
            <a:solidFill>
              <a:srgbClr val="D6C8F0"/>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When Nat Hears the Voice: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Nat hears his father speaking and immediately begins to plan his future at Harvard. What does Nat assume? What does he actually learn in the morning, and how does he respond when he reads the indenture?</a:t>
            </a:r>
            <a:endParaRPr lang="en-US" sz="2400" dirty="0"/>
          </a:p>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at the End of Chapter 5: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Nat whistles as he leaves the house, “until he was out of the house and up the street. Then the whistle died.” What is Latham showing you about Nat? Why does the whistle die?</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PART A: CHAPTER THINKING · WHAT STUDENTS WILL ANSWER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Comprehension Questions — Preview</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900"/>
              </a:spcAft>
              <a:buNone/>
            </a:pPr>
            <a:r>
              <a:rPr lang="en-US" sz="1900" b="1" dirty="0">
                <a:solidFill>
                  <a:srgbClr val="C7922C"/>
                </a:solidFill>
                <a:latin typeface="Calibri" pitchFamily="34" charset="0"/>
                <a:ea typeface="Calibri" pitchFamily="34" charset="-122"/>
                <a:cs typeface="Calibri" pitchFamily="34" charset="-120"/>
              </a:rPr>
              <a:t>1.  </a:t>
            </a:r>
            <a:pPr indent="0" marL="0">
              <a:spcAft>
                <a:spcPts val="900"/>
              </a:spcAft>
              <a:buNone/>
            </a:pPr>
            <a:r>
              <a:rPr lang="en-US" sz="1900" dirty="0">
                <a:solidFill>
                  <a:srgbClr val="1E293B"/>
                </a:solidFill>
                <a:latin typeface="Calibri" pitchFamily="34" charset="0"/>
                <a:ea typeface="Calibri" pitchFamily="34" charset="-122"/>
                <a:cs typeface="Calibri" pitchFamily="34" charset="-120"/>
              </a:rPr>
              <a:t>Nat hears his father’s voice in the night talking about sending him somewhere — and immediately imagines returning to school and going to Harvard. When morning comes, what does he actually discover? What is an indenture, and what does it mean for Nat’s future?</a:t>
            </a:r>
            <a:endParaRPr lang="en-US" sz="1900" dirty="0"/>
          </a:p>
          <a:p>
            <a:pPr indent="0" marL="0">
              <a:spcAft>
                <a:spcPts val="900"/>
              </a:spcAft>
              <a:buNone/>
            </a:pPr>
            <a:r>
              <a:rPr lang="en-US" sz="1900" b="1" dirty="0">
                <a:solidFill>
                  <a:srgbClr val="C7922C"/>
                </a:solidFill>
                <a:latin typeface="Calibri" pitchFamily="34" charset="0"/>
                <a:ea typeface="Calibri" pitchFamily="34" charset="-122"/>
                <a:cs typeface="Calibri" pitchFamily="34" charset="-120"/>
              </a:rPr>
              <a:t>2.  </a:t>
            </a:r>
            <a:pPr indent="0" marL="0">
              <a:spcAft>
                <a:spcPts val="900"/>
              </a:spcAft>
              <a:buNone/>
            </a:pPr>
            <a:r>
              <a:rPr lang="en-US" sz="1900" dirty="0">
                <a:solidFill>
                  <a:srgbClr val="1E293B"/>
                </a:solidFill>
                <a:latin typeface="Calibri" pitchFamily="34" charset="0"/>
                <a:ea typeface="Calibri" pitchFamily="34" charset="-122"/>
                <a:cs typeface="Calibri" pitchFamily="34" charset="-120"/>
              </a:rPr>
              <a:t>When Nat reads the indenture and realizes he will spend nine years as an apprentice, he makes a joke about one of the contract’s clauses. Why does he do this? What does this moment reveal about Nat’s character — specifically about how he handles painful situations?</a:t>
            </a:r>
            <a:endParaRPr lang="en-US" sz="1900" dirty="0"/>
          </a:p>
          <a:p>
            <a:pPr indent="0" marL="0">
              <a:spcAft>
                <a:spcPts val="900"/>
              </a:spcAft>
              <a:buNone/>
            </a:pPr>
            <a:r>
              <a:rPr lang="en-US" sz="1900" b="1" dirty="0">
                <a:solidFill>
                  <a:srgbClr val="C7922C"/>
                </a:solidFill>
                <a:latin typeface="Calibri" pitchFamily="34" charset="0"/>
                <a:ea typeface="Calibri" pitchFamily="34" charset="-122"/>
                <a:cs typeface="Calibri" pitchFamily="34" charset="-120"/>
              </a:rPr>
              <a:t>3.  </a:t>
            </a:r>
            <a:pPr indent="0" marL="0">
              <a:spcAft>
                <a:spcPts val="900"/>
              </a:spcAft>
              <a:buNone/>
            </a:pPr>
            <a:r>
              <a:rPr lang="en-US" sz="1900" dirty="0">
                <a:solidFill>
                  <a:srgbClr val="1E293B"/>
                </a:solidFill>
                <a:latin typeface="Calibri" pitchFamily="34" charset="0"/>
                <a:ea typeface="Calibri" pitchFamily="34" charset="-122"/>
                <a:cs typeface="Calibri" pitchFamily="34" charset="-120"/>
              </a:rPr>
              <a:t>Latham writes that as Nat walked toward Mr. Walsh’s, his feet seemed to beat out the words: “Nine years… nine years… nine years…” What technique is the author using here? Why is this more powerful than simply writing “Nat was very upset about the indenture”?</a:t>
            </a:r>
            <a:endParaRPr lang="en-US" sz="1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PLAN · SKETCH YOUR ESSAY STRUCTURE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10 · PLAN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Today’s focus: Now that you have a claim and evidence categories, you can sketch the skeleton of your essay. Today you build the big picture before filling in details.</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Watch How — Meet Alex, our example writer: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Alex draws the essay skeleton using the claim and evidence categories from Week 1. BEFORE Alex’s rough shape: Introduction (hook + Nat context + claim). Body 1 (learning despite obstacles). Body 2 (discoveries + corrections). Conclusion (why it still matters). AFTER Alex’s skeleton (cleaner): Intro: Hook about the fog scene → Nat’s background → claim. Body 1: Subtopic = self-made scholar → evidence from Chs. 5–8. Body 2: Subtopic = making knowledge accessible → evidence from Chs. 13–20. Conclusion: Synthesize the two subtopics → broader significance. Notice: Alex doesn’t have sentences yet — just the skeleton. The skeleton tells you WHAT goes where before you spend energy on HOW to say it.</a:t>
            </a: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PLAN · SKETCH YOUR ESSAY STRUCTURE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10 · PLAN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Today’s Tool: Essay Skeleton: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Fill in the four boxes: Introduction, Body 1, Body 2, Conclusion. Bullet points only — no full sentences yet. Alex’s example (filled): Introduction Hook: fog scene → Context: Nat’s background → Claim: what made him extraordinary Body 1 — Subtopic: self-made scholar Evidence: chandlery nights, Sam Smith, ash breeze Body 2 — Subtopic: making knowledge accessible Evidence: Moore’s errors, teaching sailors, “simple matter of mathematics” Conclusion Synthesize: both subtopics point to one quality Your turn — do the same in your reading journal: Introduction: Hook = ___ → Context = ___ → Claim = ___ Body 1 subtopic: ___ Body 2 subtopic: ___ Conclusion: how the two subtopics connect = ___</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Sentence Frames You Can Borrow: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“My essay will argue that ___.” “To support this, I will first show ___, then ___.” “My two main pieces of evidence are ___ and ___...”</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Now you try. Use what Alex showed you. Borrow a sentence frame if you want. Type below.</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10.1 — Carry On, Mr. Bowditch, Chapter 5</dc:title>
  <dc:subject>PptxGenJS Presentation</dc:subject>
  <dc:creator>Optima Academy Online</dc:creator>
  <cp:lastModifiedBy>Optima Academy Online</cp:lastModifiedBy>
  <cp:revision>1</cp:revision>
  <dcterms:created xsi:type="dcterms:W3CDTF">2026-10-29T19:41:21Z</dcterms:created>
  <dcterms:modified xsi:type="dcterms:W3CDTF">2026-10-29T19:41:21Z</dcterms:modified>
</cp:coreProperties>
</file>