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6, Day 4, Chapter 4 — The Rising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When you are accused of something you didn’t do, how do you prove the truth—and what does loyalty look like?
Reading: I will explain how Johnny’s path from Chapter 1 to Chapter 4 changes his understanding of himself.
Grammar: I will explain how appositives work and justify my comma placement when I write them.
Spelling: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"rab a quiet apprentice at the boston observer helped johnny prove his innocence at the trial"
Corrected: "Rab, a quiet apprentice at the Boston Observer, helped Johnny prove his innocence at the trial."
Compare with the model: “Rab” starts the sentence—capital. “Boston Observer” is a proper name—both words capitalized. “A quiet apprentice at the Boston Observer” is an appositive renaming Rab—commas before and after. “Johnny” is a proper name—capital.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"rab a quiet apprentice at the boston observer helped johnny prove his innocence at the trial"
Corrected: "Rab, a quiet apprentice at the Boston Observer, helped Johnny prove his innocence at the trial."
Compare with the model: “Rab” starts the sentence—capital. “Boston Observer” is a proper name—both words capitalized. “A quiet apprentice at the Boston Observer” is an appositive renaming Rab—commas before and after. “Johnny” is a proper name—capital.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word I could 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dict vs. scrib/script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4 — The Rising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Putting It Together. Focus: Put it all together—a claim, two reasons, and evidence for each. This is the full shape of an argument.
Prompt: Fill in your own Argument Map. Write your claim, two reasons, and one piece of evidence for each reason. Use the map above as your guide. Name your claim about Johnny, write two reasons, and give one specific piece of evidence from the chapters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6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4 — The Rising Eye</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6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When you are accused of something you didn’t do, how do you prove the truth—and what does loyalty look like?</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explain how Johnny’s path from Chapter 1 to Chapter 4 changes his understanding of himself.</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explain how appositives work and justify my comma placement when I write them.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Pause &amp; Think as you read — watch for these moments: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Kipling writes about keeping your head when others blame you, trusting yourself when people doubt you, and holding on even when the truth is twisted against you. Which of these lines best describes what Johnny went through this week—in Chapters 1 through 4? Use a specific moment from the story to explain your thinking.</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did Merchant Lyte react when Johnny presented the silver cup? Were you expecting that reaction? What does his behavior tell you about his character?</a:t>
            </a:r>
            <a:endParaRPr lang="en-US" sz="1300" dirty="0"/>
          </a:p>
        </p:txBody>
      </p:sp>
      <p:sp>
        <p:nvSpPr>
          <p:cNvPr id="12" name="Shape 10"/>
          <p:cNvSpPr/>
          <p:nvPr/>
        </p:nvSpPr>
        <p:spPr>
          <a:xfrm>
            <a:off x="365760" y="403250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10565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The accident just happened. How will this change Johnny’s life? Think about everything silversmithing meant to him—his identity, his income, his future. What has he lost?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Merchant Lyte, a man of great wealth and influence, stared coldly at the boy standing before him.</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Merchant Lyte,  </a:t>
            </a:r>
            <a:pPr indent="0" marL="0">
              <a:buNone/>
            </a:pPr>
            <a:r>
              <a:rPr lang="en-US" sz="1200" dirty="0">
                <a:solidFill>
                  <a:srgbClr val="1E293B"/>
                </a:solidFill>
                <a:latin typeface="Calibri" pitchFamily="34" charset="0"/>
                <a:ea typeface="Calibri" pitchFamily="34" charset="-122"/>
                <a:cs typeface="Calibri" pitchFamily="34" charset="-120"/>
              </a:rPr>
              <a:t>“Merchant Lyte” is a proper name—both words are capitalized because they are a title and a name together.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a man of great wealth and influence,  </a:t>
            </a:r>
            <a:pPr indent="0" marL="0">
              <a:buNone/>
            </a:pPr>
            <a:r>
              <a:rPr lang="en-US" sz="1200" dirty="0">
                <a:solidFill>
                  <a:srgbClr val="1E293B"/>
                </a:solidFill>
                <a:latin typeface="Calibri" pitchFamily="34" charset="0"/>
                <a:ea typeface="Calibri" pitchFamily="34" charset="-122"/>
                <a:cs typeface="Calibri" pitchFamily="34" charset="-120"/>
              </a:rPr>
              <a:t>“A man of great wealth and influence” is an appositive—it renames Merchant Lyte and adds information about him. Commas go before and after it.</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stared coldly  </a:t>
            </a:r>
            <a:pPr indent="0" marL="0">
              <a:buNone/>
            </a:pPr>
            <a:r>
              <a:rPr lang="en-US" sz="1200" dirty="0">
                <a:solidFill>
                  <a:srgbClr val="1E293B"/>
                </a:solidFill>
                <a:latin typeface="Calibri" pitchFamily="34" charset="0"/>
                <a:ea typeface="Calibri" pitchFamily="34" charset="-122"/>
                <a:cs typeface="Calibri" pitchFamily="34" charset="-120"/>
              </a:rPr>
              <a:t>“Stared coldly” is a past-tense verb with an adverb—it tells what Lyte did and how he did it.</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the boy standing before him.  </a:t>
            </a:r>
            <a:pPr indent="0" marL="0">
              <a:buNone/>
            </a:pPr>
            <a:r>
              <a:rPr lang="en-US" sz="1200" dirty="0">
                <a:solidFill>
                  <a:srgbClr val="1E293B"/>
                </a:solidFill>
                <a:latin typeface="Calibri" pitchFamily="34" charset="0"/>
                <a:ea typeface="Calibri" pitchFamily="34" charset="-122"/>
                <a:cs typeface="Calibri" pitchFamily="34" charset="-120"/>
              </a:rPr>
              <a:t>“The boy standing before him” is the noun phrase receiving the action—it tells who Lyte stared 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rab a quiet apprentice at the boston observer helped johnny prove his innocence at the trial</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rab a quiet apprentice at the boston observer helped johnny prove his innocence at the trial</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Rab, a quiet apprentice at the Boston Observer, helped Johnny prove his innocence at the trial.</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“Rab” starts the sentence—capital. “Boston Observer” is a proper name—both words capitalized. “A quiet apprentice at the Boston Observer” is an appositive renaming Rab—commas before and after. “Johnny” is a proper name—capital. Add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If — (stanzas 1–2)</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Rudyard Kipling</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If you can keep your head when all about you</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Are losing theirs and blaming it on you,</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If you can trust yourself when all men doubt you,</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But make allowance for their doubting too;</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If you can wait and not be tired by waiting,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Or being lied about, don’t deal in lies,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Or being hated, don’t give way to hating,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And yet don’t look too good, nor talk too wise:</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If you can dream—and not make dreams your master;</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If you can think—and not make thoughts your aim;</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If you can meet with Triumph and Disaster</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And treat those two impostors just the same;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If you can bear to hear the truth you’ve spoken</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Twisted by knaves to make a trap for fools,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Or watch the things you gave your life to, broken,</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  And stoop and build ’em up with worn-out tools:</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Kipling writes about keeping your head when others blame you, trusting yourself when people doubt you, and holding on even when the truth is twisted against you. Which of these lines best describes what Johnny went through this week—in Chapters 1 through 4? Use a specific moment from the story to explain your thinking.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 Merchant Lyte's accusation against Johnny driven more by fear of losing his reputation, or by genuine belief that Johnny stole the cup? Defend your answer with evidence from Chapter 4. Someone might disagree and say Lyte truly believes Johnny is guilty.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Is Merchant Lyte's accusation against Johnny driven more by fear of losing his reputation, or by genuine belief that Johnny stole the cup? Defend your answer with evidence from Chapter 4. Someone might disagree and say Lyte truly believes Johnny is guilty.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word I could use 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describe (de + scrib) — Johnny had to describe his bad hand to every master in Boston | verdict (ver + dict) — every shop seemed to deliver the same verdict: you won’t do | predict (pre + dict) — no one could predict that Johnny would remember the Lyte cup | manuscript (manu + script) — at the Observer, Rab handled manuscripts and printed broadsides | prescription (pre + script) — the unspoken prescription for his despair was to go to Merchant Lyte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Choice Menu</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Week 6 Words · Vocabulary Choice</a:t>
            </a:r>
            <a:endParaRPr lang="en-US" sz="1100" dirty="0"/>
          </a:p>
        </p:txBody>
      </p:sp>
      <p:sp>
        <p:nvSpPr>
          <p:cNvPr id="5" name="Shape 3"/>
          <p:cNvSpPr/>
          <p:nvPr/>
        </p:nvSpPr>
        <p:spPr>
          <a:xfrm>
            <a:off x="365760" y="10972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
        <p:nvSpPr>
          <p:cNvPr id="7" name="Shape 5"/>
          <p:cNvSpPr/>
          <p:nvPr/>
        </p:nvSpPr>
        <p:spPr>
          <a:xfrm>
            <a:off x="365760" y="17830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379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
        <p:nvSpPr>
          <p:cNvPr id="9" name="Shape 7"/>
          <p:cNvSpPr/>
          <p:nvPr/>
        </p:nvSpPr>
        <p:spPr>
          <a:xfrm>
            <a:off x="365760" y="24688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5237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
        <p:nvSpPr>
          <p:cNvPr id="11" name="Shape 9"/>
          <p:cNvSpPr/>
          <p:nvPr/>
        </p:nvSpPr>
        <p:spPr>
          <a:xfrm>
            <a:off x="365760" y="31546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2095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&amp; Justify · Explain appositive rules in Chapter 4 context</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“Rab, the printer’s apprentice at the Boston Observer , listened without pity or false comfort.” “Lavinia Lyte, a tall dark woman of striking beauty , stepped off the gangplank as if the crowd were there to greet her.” Try it: NOUN + comma + [your phrase] + comma + rest of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Rab,</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printer’s apprentice at the Boston Observer,   /   Boston’s most famous publisher,</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elderly master silversmith,   /   a ship captain on Hancock’s Wharf,</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Lavinia Lyte,</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judge’s daughter,   /   a tall dark woman newly returned from London,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&amp; Justify · Explain appositive rules in Chapter 4 context</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“Rab, the printer’s apprentice at the Boston Observer , listened without pity or false comfort.” “Lavinia Lyte, a tall dark woman of striking beauty , stepped off the gangplank as if the crowd were there to greet her.” Try it: NOUN + comma + [your phrase] + comma + rest of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Rab,
</a:t>
            </a:r>
            <a:pPr indent="0" marL="0">
              <a:buNone/>
            </a:pPr>
            <a:r>
              <a:rPr lang="en-US" sz="1200" b="1" dirty="0">
                <a:solidFill>
                  <a:srgbClr val="34B76F"/>
                </a:solidFill>
                <a:latin typeface="Calibri" pitchFamily="34" charset="0"/>
                <a:ea typeface="Calibri" pitchFamily="34" charset="-122"/>
                <a:cs typeface="Calibri" pitchFamily="34" charset="-120"/>
              </a:rPr>
              <a:t>✅ the printer’s apprentice at the Boston Observer,</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a:t>
            </a:r>
            <a:pPr indent="0" marL="0">
              <a:buNone/>
            </a:pPr>
            <a:r>
              <a:rPr lang="en-US" sz="1200" b="1" dirty="0">
                <a:solidFill>
                  <a:srgbClr val="34B76F"/>
                </a:solidFill>
                <a:latin typeface="Calibri" pitchFamily="34" charset="0"/>
                <a:ea typeface="Calibri" pitchFamily="34" charset="-122"/>
                <a:cs typeface="Calibri" pitchFamily="34" charset="-120"/>
              </a:rPr>
              <a:t>✅ the elderly master silversmith,</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Lavinia Lyte,
</a:t>
            </a:r>
            <a:pPr indent="0" marL="0">
              <a:buNone/>
            </a:pPr>
            <a:r>
              <a:rPr lang="en-US" sz="1200" b="1" dirty="0">
                <a:solidFill>
                  <a:srgbClr val="34B76F"/>
                </a:solidFill>
                <a:latin typeface="Calibri" pitchFamily="34" charset="0"/>
                <a:ea typeface="Calibri" pitchFamily="34" charset="-122"/>
                <a:cs typeface="Calibri" pitchFamily="34" charset="-120"/>
              </a:rPr>
              <a:t>✅ a tall dark woman newly returned from London,</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Choose one word with the root scrib or script . Write a sentence using that word, then explain how the root helps you understand its meaning.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dict vs. scrib/script Roots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root pattern</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dict (say / declare)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dictate  ·  predict  ·  verdict</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scrib / script (write)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prescribe  ·  scripture  ·  inscribe  ·  description  ·  manuscript</a:t>
            </a:r>
            <a:endParaRPr lang="en-US" sz="1300" dirty="0"/>
          </a:p>
        </p:txBody>
      </p:sp>
      <p:sp>
        <p:nvSpPr>
          <p:cNvPr id="11" name="Shape 9"/>
          <p:cNvSpPr/>
          <p:nvPr/>
        </p:nvSpPr>
        <p:spPr>
          <a:xfrm>
            <a:off x="365760" y="3264408"/>
            <a:ext cx="8412480" cy="685800"/>
          </a:xfrm>
          <a:prstGeom prst="roundRect">
            <a:avLst>
              <a:gd name="adj" fmla="val 13333"/>
            </a:avLst>
          </a:prstGeom>
          <a:solidFill>
            <a:srgbClr val="FEF6E8"/>
          </a:solidFill>
          <a:ln w="12700">
            <a:solidFill>
              <a:srgbClr val="C7922C"/>
            </a:solidFill>
            <a:prstDash val="solid"/>
          </a:ln>
        </p:spPr>
      </p:sp>
      <p:sp>
        <p:nvSpPr>
          <p:cNvPr id="12" name="Text 10"/>
          <p:cNvSpPr/>
          <p:nvPr/>
        </p:nvSpPr>
        <p:spPr>
          <a:xfrm>
            <a:off x="548640" y="33192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Choose one word with the root scrib or script . Write a sentence using that word, then explain how the root helps you understand its meaning.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4 — The Rising Eye</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4 — The Rising Eye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Kipling writes about keeping your head when others blame you, trusting yourself when people doubt you, and holding on even when the truth is twisted against you. Which of these lines best describes what Johnny went through this week—in Chapters 1 through 4? Use a specific moment from the story to explain your thinking.</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How did Merchant Lyte react when Johnny presented the silver cup? Were you expecting that reaction? What does his behavior tell you about his character?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Why does Merchant Lyte accuse Johnny of stealing the cup instead of accepting him as a relative? What might Lyte’s real motivation be?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How does Rab help Johnny during the trial? What does Rab’s behavior tell you about his character?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Think about Johnny from Chapter 1 to the end of Chapter 4. How has his understanding of himself changed? Use details from at least two chapters.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E8F8EF"/>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dirty="0">
                <a:solidFill>
                  <a:srgbClr val="34B76F"/>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E8F8EF"/>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dirty="0">
                <a:solidFill>
                  <a:srgbClr val="34B76F"/>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34B76F"/>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Putting It Together</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 — PUTTING IT TOGETHER</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Put it all together—a claim, two reasons, and evidence for each. This is the full shape of an argument.</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Fill in your own Argument Map. Write your claim, two reasons, and one piece of evidence for each reason. Use the map above as your guide. Name your claim about Johnny, write two reasons, and give one specific piece of evidence from the chapters for each.</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Fill in your own Argument Map. Write your claim, two reasons, and one piece of evidence for each reason. Use the map above as your guide. Name your claim about Johnny, write two reasons, and give one specific piece of evidence from the chapters for each.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2026-07-12T13:39:51Z</dcterms:created>
  <dcterms:modified xsi:type="dcterms:W3CDTF">2026-07-12T13:39:51Z</dcterms:modified>
</cp:coreProperties>
</file>