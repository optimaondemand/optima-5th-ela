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1, Week 29 — Chapter 13: A Bushel of Neckties.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says “ate” meaning the number 8, and ends up buying a whole bushel of neckties. Pitch-pine Billy says: “I’d rather see you break your leg than your word, boy.” Jack pays. And Praiseworthy calls it brilliant. Chapter 13 is about integrity — and creative thinking.
Morphology SWYK: I will write three sentences using –ous, –ive, and –ity words connected to Chs. 13–15.
Grammar: I will study sentence variety techniques from Fleischman’s prose.
Reading: I will analyze the necktie incident and what it reveals about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 paid his debt he was tenacious (–ous) even though the purchase of a whole bushel of neckties at the Cheap John auction was the result of an impulsive (–ive) misunderstanding about a-t-e versus eight"
Corrected: "Jack paid his debt. He was tenacious, even though the purchase of a whole bushel of neckties at the Cheap John auction was the result of an impulsive misunderstanding about a-t-e versus eight ."
Fixes: period after debt (new sentence); comma after tenacious ; italicize or quote both spellings to show the contrast; no hyphen in Cheap John (it’s a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"jack paid his debt he was tenacious (–ous) even though the purchase of a whole bushel of neckties at the Cheap John auction was the result of an impulsive (–ive) misunderstanding about a-t-e versus eight"
Corrected: "Jack paid his debt. He was tenacious, even though the purchase of a whole bushel of neckties at the Cheap John auction was the result of an impulsive misunderstanding about a-t-e versus eight ."
Fixes: period after debt (new sentence); comma after tenacious ; italicize or quote both spellings to show the contrast; no hyphen in Cheap John (it’s a proper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Did I use a capital letter at the start of each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Word Study SWYK strand today: Morphology.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flip_cards.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Word Families — Define.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29 — Chapter 13: A Bushel of Neckties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REVISE
Focus: Revise for voice — find where your hero sounds like you instead of them
Task: Choose one paragraph from your draft and revise it for voice, dialogue, or description. Write both the original and the revised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29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29 — Chapter 13: A Bushel of Neckties</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says “ate” meaning the number 8, and ends up buying a whole bushel of neckties. Pitch-pine Billy says: “I’d rather see you break your leg than your word, boy.” Jack pays. And Praiseworthy calls it brilliant. Chapter 13 is about integrity — and creative thinking.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Morphology SWYK: </a:t>
            </a:r>
            <a:pPr indent="0" marL="0">
              <a:buNone/>
            </a:pPr>
            <a:r>
              <a:rPr lang="en-US" sz="1250" dirty="0">
                <a:solidFill>
                  <a:srgbClr val="1E293B"/>
                </a:solidFill>
                <a:latin typeface="Calibri" pitchFamily="34" charset="0"/>
                <a:ea typeface="Calibri" pitchFamily="34" charset="-122"/>
                <a:cs typeface="Calibri" pitchFamily="34" charset="-120"/>
              </a:rPr>
              <a:t>I will write three sentences using –ous, –ive, and –ity words connected to Chs. 13–15.</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study sentence variety techniques from Fleischman’s prose.</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necktie incident and what it reveals about character.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Pay dirt eluded them — but the next bend in the river might make their fortune.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eluded them  </a:t>
            </a:r>
            <a:pPr indent="0" marL="0">
              <a:buNone/>
            </a:pPr>
            <a:r>
              <a:rPr lang="en-US" sz="1150" dirty="0">
                <a:solidFill>
                  <a:srgbClr val="1E293B"/>
                </a:solidFill>
                <a:latin typeface="Calibri" pitchFamily="34" charset="0"/>
                <a:ea typeface="Calibri" pitchFamily="34" charset="-122"/>
                <a:cs typeface="Calibri" pitchFamily="34" charset="-120"/>
              </a:rPr>
              <a:t>Short sentence. Two words. Eluded = past tense of elude (to escape or evade). The brevity of the sentence makes the failure feel blunt — no cushion, no explanation. Fleischman lets the short sentence do all the emotional work.</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the next bend in the river might make their fortune.  </a:t>
            </a:r>
            <a:pPr indent="0" marL="0">
              <a:buNone/>
            </a:pPr>
            <a:r>
              <a:rPr lang="en-US" sz="1150" dirty="0">
                <a:solidFill>
                  <a:srgbClr val="1E293B"/>
                </a:solidFill>
                <a:latin typeface="Calibri" pitchFamily="34" charset="0"/>
                <a:ea typeface="Calibri" pitchFamily="34" charset="-122"/>
                <a:cs typeface="Calibri" pitchFamily="34" charset="-120"/>
              </a:rPr>
              <a:t>The dash creates suspense before the hope. The longer clause after balances the short, bleak opener. Short sentence of failure. Dash. Longer sentence of hope. That contrast is the Gold Rush in two clauses.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paid his debt he was tenacious (–ous) even though the purchase of a whole bushel of neckties at the Cheap John auction was the result of an impulsive (–ive) misunderstanding about a-t-e versus eight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paid his debt he was tenacious (–ous) even though the purchase of a whole bushel of neckties at the Cheap John auction was the result of an impulsive (–ive) misunderstanding about a-t-e versus eight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Jack paid his debt. He was tenacious, even though the purchase of a whole bushel of neckties at the Cheap John auction was the result of an impulsive misunderstanding about a-t-e versus eight .</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period after debt (new sentence); comma after tenacious ; italicize or quote both spellings to show the contrast; no hyphen in Cheap John (it’s a proper noun).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mishears a number and ends up buying a whole bushel of neckties by accident. Is this kind of mistake funnier, or more embarrassing? Defend your answer with evidence from Chapter 13.</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Jack mishears a number and ends up buying a whole bushel of neckties by accident. Is this kind of mistake funnier, or more embarrassing? Defend your answer with evidence from Chapter 13.</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Did I use a capital letter at the start of each sentence?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Suffixes –ous, –ive, –ity — Define</a:t>
            </a:r>
            <a:endParaRPr lang="en-US" sz="1100" dirty="0"/>
          </a:p>
        </p:txBody>
      </p:sp>
      <p:sp>
        <p:nvSpPr>
          <p:cNvPr id="5" name="Shape 3"/>
          <p:cNvSpPr/>
          <p:nvPr/>
        </p:nvSpPr>
        <p:spPr>
          <a:xfrm>
            <a:off x="365760" y="1097280"/>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–ous (from Latin –osus ) = full of or having the quality of . Turns nouns/roots into adjectives: danger → danger ous · glory → glori ous · tenacity → tenaci ous</a:t>
            </a:r>
            <a:endParaRPr lang="en-US" sz="1100" dirty="0"/>
          </a:p>
        </p:txBody>
      </p:sp>
      <p:sp>
        <p:nvSpPr>
          <p:cNvPr id="7" name="Shape 5"/>
          <p:cNvSpPr/>
          <p:nvPr/>
        </p:nvSpPr>
        <p:spPr>
          <a:xfrm>
            <a:off x="365760" y="1664208"/>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992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–ive (from Latin –ivus ) = tending to or having the nature of . Turns verbs into adjectives: evade → evas ive · describe → descript ive · create → creat ive</a:t>
            </a:r>
            <a:endParaRPr lang="en-US" sz="1100" dirty="0"/>
          </a:p>
        </p:txBody>
      </p:sp>
      <p:sp>
        <p:nvSpPr>
          <p:cNvPr id="9" name="Shape 7"/>
          <p:cNvSpPr/>
          <p:nvPr/>
        </p:nvSpPr>
        <p:spPr>
          <a:xfrm>
            <a:off x="365760" y="2231136"/>
            <a:ext cx="8412480" cy="512064"/>
          </a:xfrm>
          <a:prstGeom prst="roundRect">
            <a:avLst>
              <a:gd name="adj" fmla="val 1785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7685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–ity (from Latin –itas ) = state or quality of . Turns adjectives into abstract nouns: notorious → notori ety · creative → creativi ty · tenacious → tenaci ty</a:t>
            </a:r>
            <a:endParaRPr lang="en-US" sz="1100" dirty="0"/>
          </a:p>
        </p:txBody>
      </p:sp>
      <p:sp>
        <p:nvSpPr>
          <p:cNvPr id="11" name="Shape 9"/>
          <p:cNvSpPr/>
          <p:nvPr/>
        </p:nvSpPr>
        <p:spPr>
          <a:xfrm>
            <a:off x="365760" y="2798064"/>
            <a:ext cx="8412480" cy="512064"/>
          </a:xfrm>
          <a:prstGeom prst="roundRect">
            <a:avLst>
              <a:gd name="adj" fmla="val 17857"/>
            </a:avLst>
          </a:prstGeom>
          <a:solidFill>
            <a:srgbClr val="F8F4FF"/>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43784"/>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Chain of transformation: One root can travel through all three suffixes: describe → descript ive → descriptive → descriptivi ty create → creat ive → creativi ty notorious → notori ety (–ous → –ity combined)</a:t>
            </a:r>
            <a:endParaRPr lang="en-US" sz="1100" dirty="0"/>
          </a:p>
        </p:txBody>
      </p:sp>
      <p:sp>
        <p:nvSpPr>
          <p:cNvPr id="13" name="Shape 11"/>
          <p:cNvSpPr/>
          <p:nvPr/>
        </p:nvSpPr>
        <p:spPr>
          <a:xfrm>
            <a:off x="365760" y="3410712"/>
            <a:ext cx="8412480" cy="777240"/>
          </a:xfrm>
          <a:prstGeom prst="roundRect">
            <a:avLst>
              <a:gd name="adj" fmla="val 11765"/>
            </a:avLst>
          </a:prstGeom>
          <a:solidFill>
            <a:srgbClr val="FEF6E8"/>
          </a:solidFill>
          <a:ln w="12700">
            <a:solidFill>
              <a:srgbClr val="C7922C"/>
            </a:solidFill>
            <a:prstDash val="solid"/>
          </a:ln>
        </p:spPr>
      </p:sp>
      <p:sp>
        <p:nvSpPr>
          <p:cNvPr id="14" name="Text 12"/>
          <p:cNvSpPr/>
          <p:nvPr/>
        </p:nvSpPr>
        <p:spPr>
          <a:xfrm>
            <a:off x="548640" y="3483864"/>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Morphology
</a:t>
            </a:r>
            <a:pPr indent="0" marL="0">
              <a:buNone/>
            </a:pPr>
            <a:r>
              <a:rPr lang="en-US" sz="1050" i="1" dirty="0">
                <a:solidFill>
                  <a:srgbClr val="1E293B"/>
                </a:solidFill>
                <a:latin typeface="Calibri" pitchFamily="34" charset="0"/>
                <a:ea typeface="Calibri" pitchFamily="34" charset="-122"/>
                <a:cs typeface="Calibri" pitchFamily="34" charset="-120"/>
              </a:rPr>
              <a:t>Write three sentences — one using a word with –ous , one with –ive , and one with –ity . Each sentence must connect to a specific character or event in Chapters 13–15. Underline the suffix in each word.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notoriety  </a:t>
            </a:r>
            <a:pPr indent="0" marL="0">
              <a:buNone/>
            </a:pPr>
            <a:r>
              <a:rPr lang="en-US" sz="1150" dirty="0">
                <a:solidFill>
                  <a:srgbClr val="1E293B"/>
                </a:solidFill>
                <a:latin typeface="Calibri" pitchFamily="34" charset="0"/>
                <a:ea typeface="Calibri" pitchFamily="34" charset="-122"/>
                <a:cs typeface="Calibri" pitchFamily="34" charset="-120"/>
              </a:rPr>
              <a:t>The state of being famous for something questionable or bold. From Latin notus (known) + –ity. Praiseworthy’s reputation as “Bullwhip” spread through the diggings as notoriety.</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tenacious  </a:t>
            </a:r>
            <a:pPr indent="0" marL="0">
              <a:buNone/>
            </a:pPr>
            <a:r>
              <a:rPr lang="en-US" sz="1150" dirty="0">
                <a:solidFill>
                  <a:srgbClr val="1E293B"/>
                </a:solidFill>
                <a:latin typeface="Calibri" pitchFamily="34" charset="0"/>
                <a:ea typeface="Calibri" pitchFamily="34" charset="-122"/>
                <a:cs typeface="Calibri" pitchFamily="34" charset="-120"/>
              </a:rPr>
              <a:t>Holding firmly; refusing to give up. From Latin tenax (holding fast) + –ous. Jack and Praiseworthy’s daily prospecting shows tenacious effort.</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evasive  </a:t>
            </a:r>
            <a:pPr indent="0" marL="0">
              <a:buNone/>
            </a:pPr>
            <a:r>
              <a:rPr lang="en-US" sz="1150" dirty="0">
                <a:solidFill>
                  <a:srgbClr val="1E293B"/>
                </a:solidFill>
                <a:latin typeface="Calibri" pitchFamily="34" charset="0"/>
                <a:ea typeface="Calibri" pitchFamily="34" charset="-122"/>
                <a:cs typeface="Calibri" pitchFamily="34" charset="-120"/>
              </a:rPr>
              <a:t>Tending to avoid or escape; not straightforward. From Latin evadere + –ive. Cut-Eye Higgins proves evasive — he’s always one step ahead.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benefactor  </a:t>
            </a:r>
            <a:pPr indent="0" marL="0">
              <a:buNone/>
            </a:pPr>
            <a:r>
              <a:rPr lang="en-US" sz="1150" dirty="0">
                <a:solidFill>
                  <a:srgbClr val="1E293B"/>
                </a:solidFill>
                <a:latin typeface="Calibri" pitchFamily="34" charset="0"/>
                <a:ea typeface="Calibri" pitchFamily="34" charset="-122"/>
                <a:cs typeface="Calibri" pitchFamily="34" charset="-120"/>
              </a:rPr>
              <a:t>A person who gives help or advantage to another. From Latin bene (well) + factor (doer). The reformed road agent is Jack’s unlikely benefactor in Ch.15.</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prospector  </a:t>
            </a:r>
            <a:pPr indent="0" marL="0">
              <a:buNone/>
            </a:pPr>
            <a:r>
              <a:rPr lang="en-US" sz="1150" dirty="0">
                <a:solidFill>
                  <a:srgbClr val="1E293B"/>
                </a:solidFill>
                <a:latin typeface="Calibri" pitchFamily="34" charset="0"/>
                <a:ea typeface="Calibri" pitchFamily="34" charset="-122"/>
                <a:cs typeface="Calibri" pitchFamily="34" charset="-120"/>
              </a:rPr>
              <a:t>A person who searches for gold, oil, or other minerals. From Latin prospectus (view ahead) + –or. Jack and Praiseworthy become prospectors in the Sierra Nevada foothills.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 Variety for Style — Define</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Short sentences punch. They create emphasis. They land hard.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Long sentences flow and accumulate — they let Fleischman stack detail on detail until the reader feels the full weight of a moment, the way a day of prospecting in the mountains might feel when every rock turned over is another small disappointment.</a:t>
            </a:r>
            <a:endParaRPr lang="en-US" sz="1150" dirty="0"/>
          </a:p>
        </p:txBody>
      </p:sp>
      <p:sp>
        <p:nvSpPr>
          <p:cNvPr id="9" name="Shape 7"/>
          <p:cNvSpPr/>
          <p:nvPr/>
        </p:nvSpPr>
        <p:spPr>
          <a:xfrm>
            <a:off x="365760" y="2359152"/>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Variety strategies: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Word Families — Define</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word family is a group of words that share a common root but use different prefixes and suffixes to change meaning and part of speech.</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1: describe describe (v.) · description (n.) · descriptive (adj.) · indescribable (adj.) · descriptor (n.)</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2: persist persist (v.) · persistent (adj.) · persistence (n.) · persistently (adv.) · impersistently (rare)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29 — Chapter 13: A Bushel of Neckties</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29 — Chapter 13: A Bushel of Neckties</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13 settles Jack and Praiseworthy into the rhythms of the diggings — flea traps, coyote holes, prices that defy belief. Then comes the necktie incident. Watch how Fleischman uses misunderstanding as comedy, but also as a character test: Jack pays up. Then Praiseworthy calls it brilliant. The second half of the chapter shows why: how do you turn an embarrassment into an asset? That’s the Praiseworthy way.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13 — “A Bushel of Neckties”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Jack accidentally bids on a whole bushel of neckties because “ate” and “eight” sound the same. He has to cut into his hard-won nugget to pay. What does his decision to keep his word, even when it hurts, reveal about how Jack has changed since Boston?</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Praiseworthy says the necktie purchase is “a brilliant purchase.” What is his plan — and what does this moment tell us about the difference between how Jack sees a problem and how Praiseworthy sees the same problem?</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Fleischman uses the necktie misunderstanding for both comedy and character development. Explain how this single incident (a) creates a funny scene, (b) tests Jack’s character, and (c) sets up Praiseworthy’s next clever idea. How does Fleischman make one comic event do three things at once?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REVISE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Revise for voice — find where your hero sounds like you instead of them</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Choose one paragraph from your draft and revise it for voice, dialogue, or description. Write both the original and the revised version.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