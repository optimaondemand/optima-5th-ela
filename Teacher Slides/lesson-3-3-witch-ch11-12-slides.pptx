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 Day 3, Chapters 11–12.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Where do you become the truest version of yourself — and what happens when you have to hide that place from the world?
Reading: I will make connections with Chapters 11–12 and answer comprehension questions about characterization through conflict.
Grammar: I will write using correct dialogue punctuation and paragraphing.
Spelling: I will apply what I know about schwa sounds and reduced vowels.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"kit brung prudence to hannahs cottage every weak to teach her to read"
Corrected: "Kit brought Prudence to Hannah’s cottage every week to teach her to read."
Compare with the model: capitalize the name “Kit.” Use “brought” (not “brung”). “Prudence” and “Hannah’s” are proper nouns. “Week” not “weak.”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"kit brung prudence to hannahs cottage every weak to teach her to read"
Corrected: "Kit brought Prudence to Hannah’s cottage every week to teach her to read."
Compare with the model: capitalize the name “Kit.” Use “brought” (not “brung”). “Prudence” and “Hannah’s” are proper nouns. “Week” not “weak.”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word I could 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Schwa &amp; Reduced Vowels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Chapters 11–12 — Kit’s Secret Life at Hannah’s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3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Chapters 11–12 — Kit’s Secret Life</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Where do you become the truest version of yourself — and what happens when you have to hide that place from the world?</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make connections with Chapters 11–12 and answer comprehension questions about characterization through conflict.</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write using correct dialogue punctuation and paragraphing.</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apply what I know about schwa sounds and reduced vowels.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As you read today, track how Kit’s secret life at Hannah’s reveals a different side of her character. At home she’s restless and resentful. At Hannah’s she’s patient, generous, and creative. What does this contrast tell us about what Kit really needs?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kind of person does Kit become at Hannah’s cottage — and why can’t she be that person in Wethersfield?</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risks is Kit taking by keeping this double life? What could go wrong?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 Nobody cares where I go , ” she said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t>
            </a:r>
            <a:pPr indent="0" marL="0">
              <a:buNone/>
            </a:pPr>
            <a:r>
              <a:rPr lang="en-US" sz="1200" dirty="0">
                <a:solidFill>
                  <a:srgbClr val="1E293B"/>
                </a:solidFill>
                <a:latin typeface="Calibri" pitchFamily="34" charset="0"/>
                <a:ea typeface="Calibri" pitchFamily="34" charset="-122"/>
                <a:cs typeface="Calibri" pitchFamily="34" charset="-120"/>
              </a:rPr>
              <a:t>Opening quotation mark — dialogue always starts with a quotation mark.</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Nobody  </a:t>
            </a:r>
            <a:pPr indent="0" marL="0">
              <a:buNone/>
            </a:pPr>
            <a:r>
              <a:rPr lang="en-US" sz="1200" dirty="0">
                <a:solidFill>
                  <a:srgbClr val="1E293B"/>
                </a:solidFill>
                <a:latin typeface="Calibri" pitchFamily="34" charset="0"/>
                <a:ea typeface="Calibri" pitchFamily="34" charset="-122"/>
                <a:cs typeface="Calibri" pitchFamily="34" charset="-120"/>
              </a:rPr>
              <a:t>"Nobody" starts the spoken sentence — it gets a capital letter.</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t>
            </a:r>
            <a:pPr indent="0" marL="0">
              <a:buNone/>
            </a:pPr>
            <a:r>
              <a:rPr lang="en-US" sz="1200" dirty="0">
                <a:solidFill>
                  <a:srgbClr val="1E293B"/>
                </a:solidFill>
                <a:latin typeface="Calibri" pitchFamily="34" charset="0"/>
                <a:ea typeface="Calibri" pitchFamily="34" charset="-122"/>
                <a:cs typeface="Calibri" pitchFamily="34" charset="-120"/>
              </a:rPr>
              <a:t>A comma goes before the closing quotation mark when the sentence continues with "she said."</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t>
            </a:r>
            <a:pPr indent="0" marL="0">
              <a:buNone/>
            </a:pPr>
            <a:r>
              <a:rPr lang="en-US" sz="1200" dirty="0">
                <a:solidFill>
                  <a:srgbClr val="1E293B"/>
                </a:solidFill>
                <a:latin typeface="Calibri" pitchFamily="34" charset="0"/>
                <a:ea typeface="Calibri" pitchFamily="34" charset="-122"/>
                <a:cs typeface="Calibri" pitchFamily="34" charset="-120"/>
              </a:rPr>
              <a:t>Closing quotation mark — the spoken words end here.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brung prudence to hannahs cottage every weak to teach her to read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brung prudence to hannahs cottage every weak to teach her to read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Kit brought Prudence to Hannah’s cottage every week to teach her to read.</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capitalize the name “Kit.” Use “brought” (not “brung”). “Prudence” and “Hannah’s” are proper nouns. “Week” not “weak.” Add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choice puts Kit at greater risk — bringing Prudence to Hannah's cottage, or continuing her secret visits at all? Defend your answer with evidence from Chapters 11–12. Someone might disagree —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choice puts Kit at greater risk — bringing Prudence to Hannah's cottage, or continuing her secret visits at all? Defend your answer with evidence from Chapters 11–12. Someone might disagree —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word I could use here?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-ive / -ative</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create (verb) + -ive = creative (adjective) — having the ability to create | protect (verb) + -ive = protective (adjective) — tending to protect | imagine (verb) + -ative = imaginative (adjective) — full of imagination | talk (verb) + -ative = talkative (adjective) — inclined to talk a lot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Use It</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This week's words in context</a:t>
            </a:r>
            <a:endParaRPr lang="en-US" sz="1100" dirty="0"/>
          </a:p>
        </p:txBody>
      </p:sp>
      <p:sp>
        <p:nvSpPr>
          <p:cNvPr id="5" name="Shape 3"/>
          <p:cNvSpPr/>
          <p:nvPr/>
        </p:nvSpPr>
        <p:spPr>
          <a:xfrm>
            <a:off x="365760" y="1097280"/>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Prudence traced the letters on the ___ that Hannah kept by the fireplace.</a:t>
            </a:r>
            <a:endParaRPr lang="en-US" sz="1200" dirty="0"/>
          </a:p>
        </p:txBody>
      </p:sp>
      <p:sp>
        <p:nvSpPr>
          <p:cNvPr id="7" name="Shape 5"/>
          <p:cNvSpPr/>
          <p:nvPr/>
        </p:nvSpPr>
        <p:spPr>
          <a:xfrm>
            <a:off x="365760" y="1709928"/>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64792"/>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had to ___ a lesson plan when the real supplies were missing.</a:t>
            </a:r>
            <a:endParaRPr lang="en-US" sz="1200" dirty="0"/>
          </a:p>
        </p:txBody>
      </p:sp>
      <p:sp>
        <p:nvSpPr>
          <p:cNvPr id="9" name="Shape 7"/>
          <p:cNvSpPr/>
          <p:nvPr/>
        </p:nvSpPr>
        <p:spPr>
          <a:xfrm>
            <a:off x="365760" y="2322576"/>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77440"/>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Hannah’s cottage was a ___ — a safe place away from the suspicion of the town.</a:t>
            </a:r>
            <a:endParaRPr lang="en-US" sz="1200" dirty="0"/>
          </a:p>
        </p:txBody>
      </p:sp>
      <p:sp>
        <p:nvSpPr>
          <p:cNvPr id="11" name="Shape 9"/>
          <p:cNvSpPr/>
          <p:nvPr/>
        </p:nvSpPr>
        <p:spPr>
          <a:xfrm>
            <a:off x="365760" y="2935224"/>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90088"/>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felt a surprising ___ with Prudence, as though they understood each other without words.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Dialogue Punctuation</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Write using correct dialogue punctuation and paragraphing</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Comma before tag: “Nobody cares where I go,” she said. New paragraph for new speaker: “Can you teach me?” Prudence whispered. “Of course I can,” Kit answered.</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punctuated correctly?
</a:t>
            </a:r>
            <a:pPr indent="0" marL="0">
              <a:buNone/>
            </a:pPr>
            <a:r>
              <a:rPr lang="en-US" sz="1100" dirty="0">
                <a:solidFill>
                  <a:srgbClr val="64748B"/>
                </a:solidFill>
                <a:latin typeface="Calibri" pitchFamily="34" charset="0"/>
                <a:ea typeface="Calibri" pitchFamily="34" charset="-122"/>
                <a:cs typeface="Calibri" pitchFamily="34" charset="-120"/>
              </a:rPr>
              <a:t>Prudence whispered “I want to learn to read.”   /   Prudence whispered, “I want to learn to read.”</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punctuated correctly?
</a:t>
            </a:r>
            <a:pPr indent="0" marL="0">
              <a:buNone/>
            </a:pPr>
            <a:r>
              <a:rPr lang="en-US" sz="1100" dirty="0">
                <a:solidFill>
                  <a:srgbClr val="64748B"/>
                </a:solidFill>
                <a:latin typeface="Calibri" pitchFamily="34" charset="0"/>
                <a:ea typeface="Calibri" pitchFamily="34" charset="-122"/>
                <a:cs typeface="Calibri" pitchFamily="34" charset="-120"/>
              </a:rPr>
              <a:t>“You’re getting tamed by Connecticut,” Nat teased.   /   “You’re getting tamed by Connecticut” Nat teased.</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punctuated correctly?
</a:t>
            </a:r>
            <a:pPr indent="0" marL="0">
              <a:buNone/>
            </a:pPr>
            <a:r>
              <a:rPr lang="en-US" sz="1100" dirty="0">
                <a:solidFill>
                  <a:srgbClr val="64748B"/>
                </a:solidFill>
                <a:latin typeface="Calibri" pitchFamily="34" charset="0"/>
                <a:ea typeface="Calibri" pitchFamily="34" charset="-122"/>
                <a:cs typeface="Calibri" pitchFamily="34" charset="-120"/>
              </a:rPr>
              <a:t>“Where did you learn that?” Asked Kit.   /   “Where did you learn that?” asked Kit.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Dialogue Punctuation</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Write using correct dialogue punctuation and paragraphing</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Comma before tag: “Nobody cares where I go,” she said. New paragraph for new speaker: “Can you teach me?” Prudence whispered. “Of course I can,” Kit answered.</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punctuated correctly?
</a:t>
            </a:r>
            <a:pPr indent="0" marL="0">
              <a:buNone/>
            </a:pPr>
            <a:r>
              <a:rPr lang="en-US" sz="1200" b="1" dirty="0">
                <a:solidFill>
                  <a:srgbClr val="34B76F"/>
                </a:solidFill>
                <a:latin typeface="Calibri" pitchFamily="34" charset="0"/>
                <a:ea typeface="Calibri" pitchFamily="34" charset="-122"/>
                <a:cs typeface="Calibri" pitchFamily="34" charset="-120"/>
              </a:rPr>
              <a:t>✅ Prudence whispered, “I want to learn to read.”</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punctuated correctly?
</a:t>
            </a:r>
            <a:pPr indent="0" marL="0">
              <a:buNone/>
            </a:pPr>
            <a:r>
              <a:rPr lang="en-US" sz="1200" b="1" dirty="0">
                <a:solidFill>
                  <a:srgbClr val="34B76F"/>
                </a:solidFill>
                <a:latin typeface="Calibri" pitchFamily="34" charset="0"/>
                <a:ea typeface="Calibri" pitchFamily="34" charset="-122"/>
                <a:cs typeface="Calibri" pitchFamily="34" charset="-120"/>
              </a:rPr>
              <a:t>✅ “You’re getting tamed by Connecticut,” Nat teased.</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punctuated correctly?
</a:t>
            </a:r>
            <a:pPr indent="0" marL="0">
              <a:buNone/>
            </a:pPr>
            <a:r>
              <a:rPr lang="en-US" sz="1200" b="1" dirty="0">
                <a:solidFill>
                  <a:srgbClr val="34B76F"/>
                </a:solidFill>
                <a:latin typeface="Calibri" pitchFamily="34" charset="0"/>
                <a:ea typeface="Calibri" pitchFamily="34" charset="-122"/>
                <a:cs typeface="Calibri" pitchFamily="34" charset="-120"/>
              </a:rPr>
              <a:t>✅ “Where did you learn that?” asked Kit.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Schwa &amp; Reduced Vowels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Apply — Identify and spell the schwa sound</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Schwa spelled with A</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separate  ·  calendar  ·  grammar</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Schwa spelled with E or I</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different  ·  excellent  ·  medicine</a:t>
            </a:r>
            <a:endParaRPr lang="en-US" sz="1300" dirty="0"/>
          </a:p>
        </p:txBody>
      </p:sp>
      <p:sp>
        <p:nvSpPr>
          <p:cNvPr id="11" name="Shape 9"/>
          <p:cNvSpPr/>
          <p:nvPr/>
        </p:nvSpPr>
        <p:spPr>
          <a:xfrm>
            <a:off x="365760" y="3264408"/>
            <a:ext cx="8412480" cy="685800"/>
          </a:xfrm>
          <a:prstGeom prst="roundRect">
            <a:avLst>
              <a:gd name="adj" fmla="val 13333"/>
            </a:avLst>
          </a:prstGeom>
          <a:solidFill>
            <a:srgbClr val="FEF6E8"/>
          </a:solidFill>
          <a:ln w="12700">
            <a:solidFill>
              <a:srgbClr val="C7922C"/>
            </a:solidFill>
            <a:prstDash val="solid"/>
          </a:ln>
        </p:spPr>
      </p:sp>
      <p:sp>
        <p:nvSpPr>
          <p:cNvPr id="12" name="Text 10"/>
          <p:cNvSpPr/>
          <p:nvPr/>
        </p:nvSpPr>
        <p:spPr>
          <a:xfrm>
            <a:off x="548640" y="33192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Circle the syllable with the schwa sound in each word, then spell the word correctly: sep_rate, diff_rent, comf_rt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had no idea what happened to her thin plain features when she smiled.”</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is the narrator telling us about Kit that Kit doesn’t know about herself? Think about what this reveals — Kit sees Prudence one way, but the narrator sees something Kit is blind to.</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How does Speare use this sentence to show us something about Kit that Kit can’t see? Why is this more powerful than just saying “Kit had a beautiful smile”? Notice how the narrator pulls back to reveal something the character is unaware of.</a:t>
            </a:r>
            <a:endParaRPr lang="en-US" sz="1200" dirty="0"/>
          </a:p>
        </p:txBody>
      </p:sp>
      <p:sp>
        <p:nvSpPr>
          <p:cNvPr id="10" name="Shape 8"/>
          <p:cNvSpPr/>
          <p:nvPr/>
        </p:nvSpPr>
        <p:spPr>
          <a:xfrm>
            <a:off x="365760" y="3300984"/>
            <a:ext cx="8412480" cy="640080"/>
          </a:xfrm>
          <a:prstGeom prst="roundRect">
            <a:avLst>
              <a:gd name="adj" fmla="val 14286"/>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5029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a sentence about a character who doesn’t realize the effect they have on someone else. No sentence frame — trust your instincts.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Chapters 11–12 — Kit’s Secret Life at Hannah’s</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Chapters 11–12 — Kit’s Secret Life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What kind of person does Kit become at Hannah’s cottage — and why can’t she be that person in Wethersfield?</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What risks is Kit taking by keeping this double life? What could go wrong?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Why does Kit bring Prudence to Hannah’s cottage? What does this decision reveal about Kit’s character?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How has Kit changed since Chapter 5? List two specific ways she is different now.</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Why can’t Kit’s double life last? What risks is she taking by visiting Hannah and teaching Prudence?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Kit is living two lives: her public life in Wethersfield and her secret life at Hannah’s. Write 3–4 sentences comparing how Kit acts in each place. What does this tell us about which version of Kit is the “real” Kit?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