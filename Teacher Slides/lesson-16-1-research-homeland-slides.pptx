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16 Day 1 — The Choctaw Homeland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was happening in America in the 1830s that Johnny Tremain never showed us? This week, we build the history behind a story you’ll meet very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lens before students dive into today's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"families in mississippi grew corn beans and squash in fertile fields"
Corrected: "Families in Mississippi grew corn, beans, and squash in fertile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"families in mississippi grew corn beans and squash in fertile fields"
Corrected: "Families in Mississippi grew corn, beans, and squash in fertile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The Prefix 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no single right answer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today's study,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817"/>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4AF6A">
              <a:alpha val="15000"/>
            </a:srgbClr>
          </a:solidFill>
          <a:ln/>
        </p:spPr>
      </p:sp>
      <p:sp>
        <p:nvSpPr>
          <p:cNvPr id="3" name="Text 1"/>
          <p:cNvSpPr/>
          <p:nvPr/>
        </p:nvSpPr>
        <p:spPr>
          <a:xfrm>
            <a:off x="457200" y="502920"/>
            <a:ext cx="8229600" cy="365760"/>
          </a:xfrm>
          <a:prstGeom prst="rect">
            <a:avLst/>
          </a:prstGeom>
          <a:noFill/>
          <a:ln/>
        </p:spPr>
        <p:txBody>
          <a:bodyPr wrap="square" lIns="0" tIns="0" rIns="0" bIns="0" rtlCol="0" anchor="ctr"/>
          <a:lstStyle/>
          <a:p>
            <a:pPr algn="l" indent="0" marL="0">
              <a:buNone/>
            </a:pPr>
            <a:r>
              <a:rPr lang="en-US" sz="1300" b="1" spc="400" kern="0" dirty="0">
                <a:solidFill>
                  <a:srgbClr val="D4AF6A"/>
                </a:solidFill>
                <a:latin typeface="Calibri" pitchFamily="34" charset="0"/>
                <a:ea typeface="Calibri" pitchFamily="34" charset="-122"/>
                <a:cs typeface="Calibri" pitchFamily="34" charset="-120"/>
              </a:rPr>
              <a:t>WEEK 16  ·  DAY 1</a:t>
            </a:r>
            <a:endParaRPr lang="en-US" sz="1300" dirty="0"/>
          </a:p>
        </p:txBody>
      </p:sp>
      <p:sp>
        <p:nvSpPr>
          <p:cNvPr id="4" name="Text 2"/>
          <p:cNvSpPr/>
          <p:nvPr/>
        </p:nvSpPr>
        <p:spPr>
          <a:xfrm>
            <a:off x="457200" y="86868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Week 16 · Research + Perspective</a:t>
            </a:r>
            <a:endParaRPr lang="en-US" sz="1400" dirty="0"/>
          </a:p>
        </p:txBody>
      </p:sp>
      <p:sp>
        <p:nvSpPr>
          <p:cNvPr id="5" name="Text 3"/>
          <p:cNvSpPr/>
          <p:nvPr/>
        </p:nvSpPr>
        <p:spPr>
          <a:xfrm>
            <a:off x="457200" y="1280160"/>
            <a:ext cx="822960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Choctaw Homeland</a:t>
            </a:r>
            <a:endParaRPr lang="en-US" sz="3000" dirty="0"/>
          </a:p>
        </p:txBody>
      </p:sp>
      <p:sp>
        <p:nvSpPr>
          <p:cNvPr id="6" name="Text 4"/>
          <p:cNvSpPr/>
          <p:nvPr/>
        </p:nvSpPr>
        <p:spPr>
          <a:xfrm>
            <a:off x="457200" y="2514600"/>
            <a:ext cx="8229600" cy="457200"/>
          </a:xfrm>
          <a:prstGeom prst="rect">
            <a:avLst/>
          </a:prstGeom>
          <a:noFill/>
          <a:ln/>
        </p:spPr>
        <p:txBody>
          <a:bodyPr wrap="square" lIns="0" tIns="0" rIns="0" bIns="0" rtlCol="0" anchor="ctr"/>
          <a:lstStyle/>
          <a:p>
            <a:pPr algn="l" indent="0" marL="0">
              <a:buNone/>
            </a:pPr>
            <a:r>
              <a:rPr lang="en-US" sz="1300" i="1" dirty="0">
                <a:solidFill>
                  <a:srgbClr val="D4AF6A"/>
                </a:solidFill>
                <a:latin typeface="Georgia" pitchFamily="34" charset="0"/>
                <a:ea typeface="Georgia" pitchFamily="34" charset="-122"/>
                <a:cs typeface="Georgia" pitchFamily="34" charset="-120"/>
              </a:rPr>
              <a:t>Research Passage: The Choctaw Homeland</a:t>
            </a:r>
            <a:endParaRPr lang="en-US" sz="13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Writer's Bridge  ·  Voice &amp; Craft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365760" y="914400"/>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51560"/>
            <a:ext cx="7955280" cy="10058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was happening in America in the 1830s that Johnny Tremain never showed us? This week, we build the history behind a story you’ll meet very soon.</a:t>
            </a:r>
            <a:endParaRPr lang="en-US" sz="1600" dirty="0"/>
          </a:p>
        </p:txBody>
      </p:sp>
      <p:sp>
        <p:nvSpPr>
          <p:cNvPr id="6" name="Text 4"/>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7" name="Shape 5"/>
          <p:cNvSpPr/>
          <p:nvPr/>
        </p:nvSpPr>
        <p:spPr>
          <a:xfrm>
            <a:off x="365760" y="267004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72491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300" dirty="0">
                <a:solidFill>
                  <a:srgbClr val="1E293B"/>
                </a:solidFill>
                <a:latin typeface="Calibri" pitchFamily="34" charset="0"/>
                <a:ea typeface="Calibri" pitchFamily="34" charset="-122"/>
                <a:cs typeface="Calibri" pitchFamily="34" charset="-120"/>
              </a:rPr>
              <a:t>I will identify the central idea of today’s passage and the details that support it.</a:t>
            </a:r>
            <a:endParaRPr lang="en-US" sz="1500" dirty="0"/>
          </a:p>
        </p:txBody>
      </p:sp>
      <p:sp>
        <p:nvSpPr>
          <p:cNvPr id="9" name="Shape 7"/>
          <p:cNvSpPr/>
          <p:nvPr/>
        </p:nvSpPr>
        <p:spPr>
          <a:xfrm>
            <a:off x="365760" y="336499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41985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300" dirty="0">
                <a:solidFill>
                  <a:srgbClr val="1E293B"/>
                </a:solidFill>
                <a:latin typeface="Calibri" pitchFamily="34" charset="0"/>
                <a:ea typeface="Calibri" pitchFamily="34" charset="-122"/>
                <a:cs typeface="Calibri" pitchFamily="34" charset="-120"/>
              </a:rPr>
              <a:t>I will define sentence variety and notice short and long sentences in explanatory writing.</a:t>
            </a:r>
            <a:endParaRPr lang="en-US" sz="1500" dirty="0"/>
          </a:p>
        </p:txBody>
      </p:sp>
      <p:sp>
        <p:nvSpPr>
          <p:cNvPr id="11" name="Shape 9"/>
          <p:cNvSpPr/>
          <p:nvPr/>
        </p:nvSpPr>
        <p:spPr>
          <a:xfrm>
            <a:off x="365760" y="405993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11480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300" dirty="0">
                <a:solidFill>
                  <a:srgbClr val="1E293B"/>
                </a:solidFill>
                <a:latin typeface="Calibri" pitchFamily="34" charset="0"/>
                <a:ea typeface="Calibri" pitchFamily="34" charset="-122"/>
                <a:cs typeface="Calibri" pitchFamily="34" charset="-120"/>
              </a:rPr>
              <a:t>I will define the prefix re- pattern found in historical vocabulary.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What Good Readers Do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of nonfiction look for the central idea before the details.</a:t>
            </a:r>
            <a:endParaRPr lang="en-US" sz="1300" dirty="0"/>
          </a:p>
        </p:txBody>
      </p:sp>
      <p:sp>
        <p:nvSpPr>
          <p:cNvPr id="6" name="Text 4"/>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a:t>
            </a:r>
            <a:endParaRPr lang="en-US" sz="1100" dirty="0"/>
          </a:p>
        </p:txBody>
      </p:sp>
      <p:sp>
        <p:nvSpPr>
          <p:cNvPr id="7" name="Shape 5"/>
          <p:cNvSpPr/>
          <p:nvPr/>
        </p:nvSpPr>
        <p:spPr>
          <a:xfrm>
            <a:off x="365760" y="208483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is this passage mostly about?</a:t>
            </a:r>
            <a:endParaRPr lang="en-US" sz="1300" dirty="0"/>
          </a:p>
        </p:txBody>
      </p:sp>
      <p:sp>
        <p:nvSpPr>
          <p:cNvPr id="9" name="Shape 7"/>
          <p:cNvSpPr/>
          <p:nvPr/>
        </p:nvSpPr>
        <p:spPr>
          <a:xfrm>
            <a:off x="365760" y="279806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87121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details support that idea?</a:t>
            </a:r>
            <a:endParaRPr lang="en-US" sz="1300" dirty="0"/>
          </a:p>
        </p:txBody>
      </p:sp>
      <p:sp>
        <p:nvSpPr>
          <p:cNvPr id="11" name="Shape 9"/>
          <p:cNvSpPr/>
          <p:nvPr/>
        </p:nvSpPr>
        <p:spPr>
          <a:xfrm>
            <a:off x="365760" y="35112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84448"/>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knowing the central idea help you understand the whole passage?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Before the 1830s, the Choctaw Nation's homeland stretched across a large part of what is now the state of Mississippi.</a:t>
            </a:r>
            <a:endParaRPr lang="en-US" sz="15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SPOT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comma after the introductory phrase "Before the 1830s,"</a:t>
            </a:r>
            <a:endParaRPr lang="en-US" sz="12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"Choctaw" — proper noun, capitalized</a:t>
            </a:r>
            <a:endParaRPr lang="en-US" sz="12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"Mississippi" — proper noun, capitalized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families in mississippi grew corn beans and squash in fertile fields</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families in mississippi grew corn beans and squash in fertile fields</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400" b="1" i="1" dirty="0">
                <a:solidFill>
                  <a:srgbClr val="1E293B"/>
                </a:solidFill>
                <a:latin typeface="Calibri" pitchFamily="34" charset="0"/>
                <a:ea typeface="Calibri" pitchFamily="34" charset="-122"/>
                <a:cs typeface="Calibri" pitchFamily="34" charset="-120"/>
              </a:rPr>
              <a:t>Families in Mississippi grew corn, beans, and squash in fertile fields.</a:t>
            </a:r>
            <a:endParaRPr lang="en-US" sz="14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Capital letter for the place name, plus commas separating items in a list.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migr / mov / mot</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Latin roots · "to move"</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This week’s word removal — seen in today’s passage — comes from mov: to move something back or away.</a:t>
            </a:r>
            <a:endParaRPr lang="en-US" sz="1200" dirty="0"/>
          </a:p>
        </p:txBody>
      </p:sp>
      <p:sp>
        <p:nvSpPr>
          <p:cNvPr id="7" name="Shape 5"/>
          <p:cNvSpPr/>
          <p:nvPr/>
        </p:nvSpPr>
        <p:spPr>
          <a:xfrm>
            <a:off x="365760" y="175564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01368"/>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migrate — to move from one place to live in another</a:t>
            </a:r>
            <a:endParaRPr lang="en-US" sz="1200" dirty="0"/>
          </a:p>
        </p:txBody>
      </p:sp>
      <p:sp>
        <p:nvSpPr>
          <p:cNvPr id="9" name="Shape 7"/>
          <p:cNvSpPr/>
          <p:nvPr/>
        </p:nvSpPr>
        <p:spPr>
          <a:xfrm>
            <a:off x="365760" y="2276856"/>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22576"/>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movement — the act of moving</a:t>
            </a:r>
            <a:endParaRPr lang="en-US" sz="1200" dirty="0"/>
          </a:p>
        </p:txBody>
      </p:sp>
      <p:sp>
        <p:nvSpPr>
          <p:cNvPr id="11" name="Shape 9"/>
          <p:cNvSpPr/>
          <p:nvPr/>
        </p:nvSpPr>
        <p:spPr>
          <a:xfrm>
            <a:off x="365760" y="279806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motion — the act or process of moving</a:t>
            </a:r>
            <a:endParaRPr lang="en-US" sz="1200" dirty="0"/>
          </a:p>
        </p:txBody>
      </p:sp>
      <p:sp>
        <p:nvSpPr>
          <p:cNvPr id="13" name="Shape 11"/>
          <p:cNvSpPr/>
          <p:nvPr/>
        </p:nvSpPr>
        <p:spPr>
          <a:xfrm>
            <a:off x="365760" y="3319272"/>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364992"/>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remove — to move something away or take it out</a:t>
            </a:r>
            <a:endParaRPr lang="en-US" sz="1200" dirty="0"/>
          </a:p>
        </p:txBody>
      </p:sp>
      <p:sp>
        <p:nvSpPr>
          <p:cNvPr id="15" name="Shape 13"/>
          <p:cNvSpPr/>
          <p:nvPr/>
        </p:nvSpPr>
        <p:spPr>
          <a:xfrm>
            <a:off x="365760" y="3886200"/>
            <a:ext cx="8412480" cy="685800"/>
          </a:xfrm>
          <a:prstGeom prst="roundRect">
            <a:avLst>
              <a:gd name="adj" fmla="val 13333"/>
            </a:avLst>
          </a:prstGeom>
          <a:solidFill>
            <a:srgbClr val="FEF6E8"/>
          </a:solidFill>
          <a:ln w="12700">
            <a:solidFill>
              <a:srgbClr val="C7922C"/>
            </a:solidFill>
            <a:prstDash val="solid"/>
          </a:ln>
        </p:spPr>
      </p:sp>
      <p:sp>
        <p:nvSpPr>
          <p:cNvPr id="16" name="Text 14"/>
          <p:cNvSpPr/>
          <p:nvPr/>
        </p:nvSpPr>
        <p:spPr>
          <a:xfrm>
            <a:off x="548640" y="3931920"/>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a:t>
            </a:r>
            <a:pPr indent="0" marL="0">
              <a:buNone/>
            </a:pPr>
            <a:r>
              <a:rPr lang="en-US" sz="1000" i="1" dirty="0">
                <a:solidFill>
                  <a:srgbClr val="1E293B"/>
                </a:solidFill>
                <a:latin typeface="Calibri" pitchFamily="34" charset="0"/>
                <a:ea typeface="Calibri" pitchFamily="34" charset="-122"/>
                <a:cs typeface="Calibri" pitchFamily="34" charset="-120"/>
              </a:rPr>
              <a:t>The root mov means "to move." Use its meaning to explain, in your own words, what "removal" means and why the root helps you figure that out.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 Decode &amp; Discover</a:t>
            </a:r>
            <a:endParaRPr lang="en-US" sz="24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Shape 2"/>
          <p:cNvSpPr/>
          <p:nvPr/>
        </p:nvSpPr>
        <p:spPr>
          <a:xfrm>
            <a:off x="365760" y="91440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60120"/>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nation  </a:t>
            </a:r>
            <a:pPr indent="0" marL="0">
              <a:buNone/>
            </a:pPr>
            <a:r>
              <a:rPr lang="en-US" sz="1150" dirty="0">
                <a:solidFill>
                  <a:srgbClr val="1E293B"/>
                </a:solidFill>
                <a:latin typeface="Calibri" pitchFamily="34" charset="0"/>
                <a:ea typeface="Calibri" pitchFamily="34" charset="-122"/>
                <a:cs typeface="Calibri" pitchFamily="34" charset="-120"/>
              </a:rPr>
              <a:t>A group of people with their own land, leaders, and government.</a:t>
            </a:r>
            <a:endParaRPr lang="en-US" sz="1300" dirty="0"/>
          </a:p>
        </p:txBody>
      </p:sp>
      <p:sp>
        <p:nvSpPr>
          <p:cNvPr id="6" name="Shape 4"/>
          <p:cNvSpPr/>
          <p:nvPr/>
        </p:nvSpPr>
        <p:spPr>
          <a:xfrm>
            <a:off x="365760" y="1517904"/>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563624"/>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territory  </a:t>
            </a:r>
            <a:pPr indent="0" marL="0">
              <a:buNone/>
            </a:pPr>
            <a:r>
              <a:rPr lang="en-US" sz="1150" dirty="0">
                <a:solidFill>
                  <a:srgbClr val="1E293B"/>
                </a:solidFill>
                <a:latin typeface="Calibri" pitchFamily="34" charset="0"/>
                <a:ea typeface="Calibri" pitchFamily="34" charset="-122"/>
                <a:cs typeface="Calibri" pitchFamily="34" charset="-120"/>
              </a:rPr>
              <a:t>An area of land controlled by a particular group.</a:t>
            </a:r>
            <a:endParaRPr lang="en-US" sz="1300" dirty="0"/>
          </a:p>
        </p:txBody>
      </p:sp>
      <p:sp>
        <p:nvSpPr>
          <p:cNvPr id="8" name="Shape 6"/>
          <p:cNvSpPr/>
          <p:nvPr/>
        </p:nvSpPr>
        <p:spPr>
          <a:xfrm>
            <a:off x="365760" y="212140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67128"/>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The act of forcing people to leave a place.</a:t>
            </a:r>
            <a:endParaRPr lang="en-US" sz="1300" dirty="0"/>
          </a:p>
        </p:txBody>
      </p:sp>
      <p:sp>
        <p:nvSpPr>
          <p:cNvPr id="10" name="Shape 8"/>
          <p:cNvSpPr/>
          <p:nvPr/>
        </p:nvSpPr>
        <p:spPr>
          <a:xfrm>
            <a:off x="365760" y="2724912"/>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770632"/>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An official written agreement between two or more groups or governments.</a:t>
            </a:r>
            <a:endParaRPr lang="en-US" sz="1300" dirty="0"/>
          </a:p>
        </p:txBody>
      </p:sp>
      <p:sp>
        <p:nvSpPr>
          <p:cNvPr id="12" name="Shape 10"/>
          <p:cNvSpPr/>
          <p:nvPr/>
        </p:nvSpPr>
        <p:spPr>
          <a:xfrm>
            <a:off x="365760" y="332841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374136"/>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ancestral  </a:t>
            </a:r>
            <a:pPr indent="0" marL="0">
              <a:buNone/>
            </a:pPr>
            <a:r>
              <a:rPr lang="en-US" sz="1150" dirty="0">
                <a:solidFill>
                  <a:srgbClr val="1E293B"/>
                </a:solidFill>
                <a:latin typeface="Calibri" pitchFamily="34" charset="0"/>
                <a:ea typeface="Calibri" pitchFamily="34" charset="-122"/>
                <a:cs typeface="Calibri" pitchFamily="34" charset="-120"/>
              </a:rPr>
              <a:t>Passed down from ancestors; belonging to family members from long ago.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Sentence Variety</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what makes sentences vary</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Good explanatory writers mix short and long sentences, and don’t always start every sentence the same way.</a:t>
            </a:r>
            <a:endParaRPr lang="en-US" sz="1100" dirty="0"/>
          </a:p>
        </p:txBody>
      </p:sp>
      <p:sp>
        <p:nvSpPr>
          <p:cNvPr id="8" name="Shape 6"/>
          <p:cNvSpPr/>
          <p:nvPr/>
        </p:nvSpPr>
        <p:spPr>
          <a:xfrm>
            <a:off x="365760" y="173736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7607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"Many families also raised livestock and traded goods with neighboring towns." (short, starts with the subject) vs. "For generations, the Choctaw Nation’s identity was tied to this land—the rivers, fields, and forests that had supported their communities for centuries." (long, opens with an introductory phrase)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Sentence Variety</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what makes sentences vary</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Good explanatory writers mix short and long sentences, and don’t always start every sentence the same way.</a:t>
            </a:r>
            <a:endParaRPr lang="en-US" sz="1100" dirty="0"/>
          </a:p>
        </p:txBody>
      </p:sp>
      <p:sp>
        <p:nvSpPr>
          <p:cNvPr id="8" name="Shape 6"/>
          <p:cNvSpPr/>
          <p:nvPr/>
        </p:nvSpPr>
        <p:spPr>
          <a:xfrm>
            <a:off x="365760" y="173736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7607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"Many families also raised livestock and traded goods with neighboring towns." (short, starts with the subject) vs. "For generations, the Choctaw Nation’s identity was tied to this land—the rivers, fields, and forests that had supported their communities for centuries." (long, opens with an introductory phrase)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 The Prefix re-</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the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Has prefix re-</a:t>
            </a:r>
            <a:endParaRPr lang="en-US" sz="1300" dirty="0"/>
          </a:p>
        </p:txBody>
      </p:sp>
      <p:sp>
        <p:nvSpPr>
          <p:cNvPr id="8" name="Text 6"/>
          <p:cNvSpPr/>
          <p:nvPr/>
        </p:nvSpPr>
        <p:spPr>
          <a:xfrm>
            <a:off x="36576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removal, relocate, reservation, return</a:t>
            </a:r>
            <a:endParaRPr lang="en-US" sz="12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Multisyllabic, no re-</a:t>
            </a:r>
            <a:endParaRPr lang="en-US" sz="1300" dirty="0"/>
          </a:p>
        </p:txBody>
      </p:sp>
      <p:sp>
        <p:nvSpPr>
          <p:cNvPr id="10" name="Text 8"/>
          <p:cNvSpPr/>
          <p:nvPr/>
        </p:nvSpPr>
        <p:spPr>
          <a:xfrm>
            <a:off x="466344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territory, ancestral, government, boundary</a:t>
            </a:r>
            <a:endParaRPr lang="en-US" sz="1200" dirty="0"/>
          </a:p>
        </p:txBody>
      </p:sp>
      <p:sp>
        <p:nvSpPr>
          <p:cNvPr id="11" name="Shape 9"/>
          <p:cNvSpPr/>
          <p:nvPr/>
        </p:nvSpPr>
        <p:spPr>
          <a:xfrm>
            <a:off x="365760" y="3063240"/>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118104"/>
            <a:ext cx="8046720" cy="53035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Group A words start with the prefix re- ("back"/"again"). Group B words are multisyllabic but decode by breaking into syllables instead.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Open the Source Table</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Your job today is to find the central idea and the details that support it.</a:t>
            </a:r>
            <a:endParaRPr lang="en-US" sz="1200" dirty="0"/>
          </a:p>
        </p:txBody>
      </p:sp>
      <p:sp>
        <p:nvSpPr>
          <p:cNvPr id="5" name="Shape 3"/>
          <p:cNvSpPr/>
          <p:nvPr/>
        </p:nvSpPr>
        <p:spPr>
          <a:xfrm>
            <a:off x="365760" y="1325880"/>
            <a:ext cx="8412480" cy="2103120"/>
          </a:xfrm>
          <a:prstGeom prst="roundRect">
            <a:avLst>
              <a:gd name="adj" fmla="val 4348"/>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435608"/>
            <a:ext cx="8046720" cy="1883664"/>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Before the 1830s, the Choctaw Nation’s homeland stretched across a large part of what is now Mississippi. Choctaw families lived in settled communities, farming corn, beans, and squash. Many families also raised livestock and traded with neighboring towns. Choctaw towns were organized around local leadership; children learned skills, stories, and responsibilities from family and elders. By the early 1800s, this homeland covered millions of acres. Understanding daily life before 1830 helps explain how much was lost when the U.S. government pushed for removal just a few years later.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Notice &amp; Discuss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TALK ABOUT IT</a:t>
            </a:r>
            <a:endParaRPr lang="en-US" sz="1100" dirty="0"/>
          </a:p>
        </p:txBody>
      </p:sp>
      <p:sp>
        <p:nvSpPr>
          <p:cNvPr id="7" name="Shape 5"/>
          <p:cNvSpPr/>
          <p:nvPr/>
        </p:nvSpPr>
        <p:spPr>
          <a:xfrm>
            <a:off x="365760" y="10972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details helped you picture daily life in the Choctaw homeland before 1830?</a:t>
            </a:r>
            <a:endParaRPr lang="en-US" sz="1300" dirty="0"/>
          </a:p>
        </p:txBody>
      </p:sp>
      <p:sp>
        <p:nvSpPr>
          <p:cNvPr id="9" name="Shape 7"/>
          <p:cNvSpPr/>
          <p:nvPr/>
        </p:nvSpPr>
        <p:spPr>
          <a:xfrm>
            <a:off x="365760" y="196596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03911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Why do you think the passage describes daily life before talking about removal?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Craft Questions — Preview</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a:t>
            </a:r>
            <a:endParaRPr lang="en-US" sz="1100" dirty="0"/>
          </a:p>
        </p:txBody>
      </p:sp>
      <p:sp>
        <p:nvSpPr>
          <p:cNvPr id="5" name="Shape 3"/>
          <p:cNvSpPr/>
          <p:nvPr/>
        </p:nvSpPr>
        <p:spPr>
          <a:xfrm>
            <a:off x="365760" y="1097280"/>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is the central idea of today's passage about the Choctaw Nation's homeland?</a:t>
            </a:r>
            <a:endParaRPr lang="en-US" sz="1300" dirty="0"/>
          </a:p>
        </p:txBody>
      </p:sp>
      <p:sp>
        <p:nvSpPr>
          <p:cNvPr id="7" name="Shape 5"/>
          <p:cNvSpPr/>
          <p:nvPr/>
        </p:nvSpPr>
        <p:spPr>
          <a:xfrm>
            <a:off x="365760" y="2039112"/>
            <a:ext cx="8412480" cy="868680"/>
          </a:xfrm>
          <a:prstGeom prst="roundRect">
            <a:avLst>
              <a:gd name="adj" fmla="val 10526"/>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12264"/>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What details about daily life — farming, community, or leadership — support that central idea? Name at least two.</a:t>
            </a:r>
            <a:endParaRPr lang="en-US" sz="1300" dirty="0"/>
          </a:p>
        </p:txBody>
      </p:sp>
      <p:sp>
        <p:nvSpPr>
          <p:cNvPr id="9" name="Shape 7"/>
          <p:cNvSpPr/>
          <p:nvPr/>
        </p:nvSpPr>
        <p:spPr>
          <a:xfrm>
            <a:off x="365760" y="2980944"/>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054096"/>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Why does understanding the Choctaw Nation’s homeland before 1830 matter for understanding what was lost during removal?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Summary</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TODAY'S WRITING TASK</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Summarize the central idea of today’s passage in your own words (2–3 sentences), using at least one specific detail.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2026-07-13T03:04:01Z</dcterms:created>
  <dcterms:modified xsi:type="dcterms:W3CDTF">2026-07-13T03:04:01Z</dcterms:modified>
</cp:coreProperties>
</file>