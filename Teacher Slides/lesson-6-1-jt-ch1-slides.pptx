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6, Day 1, Chapter 1 — Up and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mean to be the best at something—and what can that pride cost you?
Reading: I will define how the author introduces Johnny as a character through setting and behavior.
Grammar: I will define what an appositive is and find examples from the novel.
Spelling: I will define the Latin roots dict (say) and scrib/script (write) and build word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boy a talented silversmith worked in mr laphams shop on hancocks wharf in boston"
Corrected: "The boy, a talented silversmith, worked in Mr. Lapham’s shop on Hancock’s Wharf in Boston."
Compare with the model: “The boy” is not a proper noun, so no capital. “Mr. Lapham’s” and “Hancock’s Wharf” and “Boston” are proper nouns—capital letters. “A talented silversmith” is an appositive renaming “the boy”—it needs commas on both sides.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boy a talented silversmith worked in mr laphams shop on hancocks wharf in boston"
Corrected: "The boy, a talented silversmith, worked in Mr. Lapham’s shop on Hancock’s Wharf in Boston."
Compare with the model: “The boy” is not a proper noun, so no capital. “Mr. Lapham’s” and “Hancock’s Wharf” and “Boston” are proper nouns—capital letters. “A talented silversmith” is an appositive renaming “the boy”—it needs commas on both sides.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&amp;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1 — Up and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(n/a). Focus: Learn what a CLAIM is and write one about Johnny.
Prompt: Write a claim about Johnny based on Chapter 1. Write one strong claim sentence. Take a position—don’t just describe what happened. A reader should be able to agree or disagree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6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 — Up and About</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6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does it mean to be the best at something—and what can that pride cost you?</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define how the author introduces Johnny as a character through setting and behavior.</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define what an appositive is and find examples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define the Latin roots dict (say) and scrib/script (write) and build word families.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how a story introduces its main character. Today, ask yourself: What does Johnny value most? How does his talent shape the way he treats others? What hints does the author give that this pride might cause problems?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the author show you who is in charge among the three apprentices without simply telling you?</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Johnny’s mother told him a secret about the Lyte family. Why has Johnny kept this secret—and from whom?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Johnny Tremain, the most skilled apprentice in the shop, handled the silver with steady hands.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Johnny Tremain,  </a:t>
            </a:r>
            <a:pPr indent="0" marL="0">
              <a:buNone/>
            </a:pPr>
            <a:r>
              <a:rPr lang="en-US" sz="1200" dirty="0">
                <a:solidFill>
                  <a:srgbClr val="1E293B"/>
                </a:solidFill>
                <a:latin typeface="Calibri" pitchFamily="34" charset="0"/>
                <a:ea typeface="Calibri" pitchFamily="34" charset="-122"/>
                <a:cs typeface="Calibri" pitchFamily="34" charset="-120"/>
              </a:rPr>
              <a:t>“Johnny Tremain” is a proper name—both words start with capital letters.</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most skilled apprentice in the shop,  </a:t>
            </a:r>
            <a:pPr indent="0" marL="0">
              <a:buNone/>
            </a:pPr>
            <a:r>
              <a:rPr lang="en-US" sz="1200" dirty="0">
                <a:solidFill>
                  <a:srgbClr val="1E293B"/>
                </a:solidFill>
                <a:latin typeface="Calibri" pitchFamily="34" charset="0"/>
                <a:ea typeface="Calibri" pitchFamily="34" charset="-122"/>
                <a:cs typeface="Calibri" pitchFamily="34" charset="-120"/>
              </a:rPr>
              <a:t>“The most skilled apprentice in the shop” is an appositive phrase. It renames Johnny. Commas come before and after it.</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handled  </a:t>
            </a:r>
            <a:pPr indent="0" marL="0">
              <a:buNone/>
            </a:pPr>
            <a:r>
              <a:rPr lang="en-US" sz="1200" dirty="0">
                <a:solidFill>
                  <a:srgbClr val="1E293B"/>
                </a:solidFill>
                <a:latin typeface="Calibri" pitchFamily="34" charset="0"/>
                <a:ea typeface="Calibri" pitchFamily="34" charset="-122"/>
                <a:cs typeface="Calibri" pitchFamily="34" charset="-120"/>
              </a:rPr>
              <a:t>“Handled” is past tense, matching the rest of the narrative.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silver  </a:t>
            </a:r>
            <a:pPr indent="0" marL="0">
              <a:buNone/>
            </a:pPr>
            <a:r>
              <a:rPr lang="en-US" sz="1200" dirty="0">
                <a:solidFill>
                  <a:srgbClr val="1E293B"/>
                </a:solidFill>
                <a:latin typeface="Calibri" pitchFamily="34" charset="0"/>
                <a:ea typeface="Calibri" pitchFamily="34" charset="-122"/>
                <a:cs typeface="Calibri" pitchFamily="34" charset="-120"/>
              </a:rPr>
              <a:t>“Silver” is an adjective describing the noun “basin.”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boy a talented silversmith worked in mr laphams shop on hancocks wharf in boston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boy a talented silversmith worked in mr laphams shop on hancocks wharf in boston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boy, a talented silversmith, worked in Mr. Lapham’s shop on Hancock’s Wharf in Boston.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“The boy” is not a proper noun, so no capital. “Mr. Lapham’s” and “Hancock’s Wharf” and “Boston” are proper nouns—capital letters. “A talented silversmith” is an appositive renaming “the boy”—it needs commas on both sides. Add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moment reveals Johnny's pride more clearly — the way he bosses Dove and Dusty, or the way he brushes off Mr. Lapham's warning? Defend your answer with evidence from Chapter 1.</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moment reveals Johnny's pride more clearly — the way he bosses Dove and Dusty, or the way he brushes off Mr. Lapham's warning? Defend your answer with evidence from Chapter 1.</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dict (say/declare): dic t ate, pre dict , ver dict , contra dict | scrib/script (write): in scribe , de scribe , manu script , pre scribe | From Chapter 1: Mr. Lapham never wrote down what was ordered—like a man who had no script . Johnny, by contrast, always kept his notebook and could dictate exactly what the patron said.</a:t>
            </a:r>
            <a:endParaRPr lang="en-US" sz="1200" dirty="0"/>
          </a:p>
        </p:txBody>
      </p:sp>
      <p:sp>
        <p:nvSpPr>
          <p:cNvPr id="7" name="Shape 5"/>
          <p:cNvSpPr/>
          <p:nvPr/>
        </p:nvSpPr>
        <p:spPr>
          <a:xfrm>
            <a:off x="365760" y="1709928"/>
            <a:ext cx="8412480" cy="777240"/>
          </a:xfrm>
          <a:prstGeom prst="roundRect">
            <a:avLst>
              <a:gd name="adj" fmla="val 11765"/>
            </a:avLst>
          </a:prstGeom>
          <a:solidFill>
            <a:srgbClr val="FEF6E8"/>
          </a:solidFill>
          <a:ln w="12700">
            <a:solidFill>
              <a:srgbClr val="C7922C"/>
            </a:solidFill>
            <a:prstDash val="solid"/>
          </a:ln>
        </p:spPr>
      </p:sp>
      <p:sp>
        <p:nvSpPr>
          <p:cNvPr id="8" name="Text 6"/>
          <p:cNvSpPr/>
          <p:nvPr/>
        </p:nvSpPr>
        <p:spPr>
          <a:xfrm>
            <a:off x="548640" y="1783080"/>
            <a:ext cx="8046720" cy="640080"/>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100" i="1" dirty="0">
                <a:solidFill>
                  <a:srgbClr val="1E293B"/>
                </a:solidFill>
                <a:latin typeface="Calibri" pitchFamily="34" charset="0"/>
                <a:ea typeface="Calibri" pitchFamily="34" charset="-122"/>
                <a:cs typeface="Calibri" pitchFamily="34" charset="-120"/>
              </a:rPr>
              <a:t>The root dict means “to say or speak.” Use this root to explain what predict means. How does the root help you figure out the meaning?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Decode &amp; Discover</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1 · Decode &amp; Discover</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apprentice  </a:t>
            </a:r>
            <a:pPr indent="0" marL="0">
              <a:buNone/>
            </a:pPr>
            <a:r>
              <a:rPr lang="en-US" sz="1100" dirty="0">
                <a:solidFill>
                  <a:srgbClr val="1E293B"/>
                </a:solidFill>
                <a:latin typeface="Calibri" pitchFamily="34" charset="0"/>
                <a:ea typeface="Calibri" pitchFamily="34" charset="-122"/>
                <a:cs typeface="Calibri" pitchFamily="34" charset="-120"/>
              </a:rPr>
              <a:t>A young person learning a skilled trade from a master craftsman, often working for little pay.</a:t>
            </a: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crucible  </a:t>
            </a:r>
            <a:pPr indent="0" marL="0">
              <a:buNone/>
            </a:pPr>
            <a:r>
              <a:rPr lang="en-US" sz="1100" dirty="0">
                <a:solidFill>
                  <a:srgbClr val="1E293B"/>
                </a:solidFill>
                <a:latin typeface="Calibri" pitchFamily="34" charset="0"/>
                <a:ea typeface="Calibri" pitchFamily="34" charset="-122"/>
                <a:cs typeface="Calibri" pitchFamily="34" charset="-120"/>
              </a:rPr>
              <a:t>A small container made to withstand very high heat, used for melting metals like silver or gold.</a:t>
            </a: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journeyman  </a:t>
            </a:r>
            <a:pPr indent="0" marL="0">
              <a:buNone/>
            </a:pPr>
            <a:r>
              <a:rPr lang="en-US" sz="1100" dirty="0">
                <a:solidFill>
                  <a:srgbClr val="1E293B"/>
                </a:solidFill>
                <a:latin typeface="Calibri" pitchFamily="34" charset="0"/>
                <a:ea typeface="Calibri" pitchFamily="34" charset="-122"/>
                <a:cs typeface="Calibri" pitchFamily="34" charset="-120"/>
              </a:rPr>
              <a:t>A craftsman who has finished his apprenticeship and works for a master, but has not yet become a master himself.</a:t>
            </a: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engraver  </a:t>
            </a:r>
            <a:pPr indent="0" marL="0">
              <a:buNone/>
            </a:pPr>
            <a:r>
              <a:rPr lang="en-US" sz="1100" dirty="0">
                <a:solidFill>
                  <a:srgbClr val="1E293B"/>
                </a:solidFill>
                <a:latin typeface="Calibri" pitchFamily="34" charset="0"/>
                <a:ea typeface="Calibri" pitchFamily="34" charset="-122"/>
                <a:cs typeface="Calibri" pitchFamily="34" charset="-120"/>
              </a:rPr>
              <a:t>A craftsman who cuts or carves designs, letters, or pictures into metal, wood, or stone.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 What is an appositive and how does it work?</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NOUN, appositive phrase , REST OF SENTENCE “Johnny Tremain, the most skilled apprentice in the shop , handled the silver with steady hands.” — The phrase between the commas renames Johnny. “Mr. Hancock, the richest man in New England , ordered a new sugar basin.” — The phrase between the commas tells you who Mr. Hancock is. The Comma Test: Pull the phrase out. Does the sentence still make sense? Yes → it’s an appositive.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the elderly master silversmith, warned Johnny about his pride.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Dove, the clumsiest apprentice, fetched the cracked crucible from the shelf.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Paul Revere, the finest craftsman in Boston, offered to buy Johnny’s time.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 What is an appositive and how does it work?</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NOUN, appositive phrase , REST OF SENTENCE “Johnny Tremain, the most skilled apprentice in the shop , handled the silver with steady hands.” — The phrase between the commas renames Johnny. “Mr. Hancock, the richest man in New England , ordered a new sugar basin.” — The phrase between the commas tells you who Mr. Hancock is. The Comma Test: Pull the phrase out. Does the sentence still make sense? Yes → it’s an appositive.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the elderly master silversmith, warned Johnny about his pride.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Dove, the clumsiest apprentice, fetched the cracked crucible from the shelf.
</a:t>
            </a:r>
            <a:pPr indent="0" marL="0">
              <a:buNone/>
            </a:pPr>
            <a:r>
              <a:rPr lang="en-US" sz="1200" b="1" dirty="0">
                <a:solidFill>
                  <a:srgbClr val="34B76F"/>
                </a:solidFill>
                <a:latin typeface="Calibri" pitchFamily="34" charset="0"/>
                <a:ea typeface="Calibri" pitchFamily="34" charset="-122"/>
                <a:cs typeface="Calibri" pitchFamily="34" charset="-120"/>
              </a:rPr>
              <a:t>✅ the clumsiest apprentice,</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Paul Revere, the finest craftsman in Boston, offered to buy Johnny’s time.
</a:t>
            </a:r>
            <a:pPr indent="0" marL="0">
              <a:buNone/>
            </a:pPr>
            <a:r>
              <a:rPr lang="en-US" sz="1200" b="1" dirty="0">
                <a:solidFill>
                  <a:srgbClr val="34B76F"/>
                </a:solidFill>
                <a:latin typeface="Calibri" pitchFamily="34" charset="0"/>
                <a:ea typeface="Calibri" pitchFamily="34" charset="-122"/>
                <a:cs typeface="Calibri" pitchFamily="34" charset="-120"/>
              </a:rPr>
              <a:t>✅ the finest craftsman in Boston,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000" i="1" dirty="0">
                <a:solidFill>
                  <a:srgbClr val="1E293B"/>
                </a:solidFill>
                <a:latin typeface="Calibri" pitchFamily="34" charset="0"/>
                <a:ea typeface="Calibri" pitchFamily="34" charset="-122"/>
                <a:cs typeface="Calibri" pitchFamily="34" charset="-120"/>
              </a:rPr>
              <a:t>The root dict means “to say or speak.” Use this root to explain what predict means. How does the root help you figure out the meaning?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&amp;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Define · Build word families from Latin roots</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1 — Up and About</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 — Up and About</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How does the author show you who is in charge among the three apprentices without simply telling you?</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Johnny’s mother told him a secret about the Lyte family. Why has Johnny kept this secret—and from whom?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does Mr. Lapham mean when he warns Johnny about pride? Use a detail from the chapter to support your answer.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Why does Dove hand Johnny the cracked crucible? What does this tell you about how the other apprentices feel about Johnny?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How does the accident change Johnny’s future? What has he lost, and what might he face now?</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F8FAFC"/>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F8FAFC"/>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a CLAIM is and write one about Johnny.</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Write a claim about Johnny based on Chapter 1. Write one strong claim sentence. Take a position—don’t just describe what happened. A reader should be able to agree or disagree with you.</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a claim about Johnny based on Chapter 1. Write one strong claim sentence. Take a position—don’t just describe what happened. A reader should be able to agree or disagree with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