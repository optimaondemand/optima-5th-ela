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28, Day 4, Week 28 — Theme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Today you argue for your theme claim. You’ve drafted it, you’ve added evidence, you’ve used transitions. Now you finalize it and look back at the full arc of the novel so far.
Vocabulary SWYK: I will complete a choice board for all five Week 28 words.
Theme Analysis: I will analyze Fleischman’s themes and support my claim with text evidence.
Writing: I will complete and polish my literary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"furthermore praiseworthy's valor in chapter 10 demonstrates that true fortitude (–itude) isn't recklessness it is strength in service of what matters most — and the validity of his courage is proved by what he chooses to protect"
Corrected: "Furthermore, Praiseworthy’s valor in Chapter 10 demonstrates that true fortitude isn’t recklessness; it is strength in service of what matters most — and the validity of his courage is proved by what he chooses to protect."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"furthermore praiseworthy's valor in chapter 10 demonstrates that true fortitude (–itude) isn't recklessness it is strength in service of what matters most — and the validity of his courage is proved by what he chooses to protect"
Corrected: "Furthermore, Praiseworthy’s valor in Chapter 10 demonstrates that true fortitude isn’t recklessness; it is strength in service of what matters most — and the validity of his courage is proved by what he chooses to protect."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detail actually support my point, or is it just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choice_board. Graded SWYK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content — this novel uses explain/tap-to-notice practice rather than a scored quiz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Transitions —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Six Weeks with By the Great Horn Spoon! — Week 28 — Theme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in the Reading tab as they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LITERARY RESPONSE
Focus: Week 28 closes — complete and polish your literary response
Task: Draft your literary response. Make a clear theme claim and support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B85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B85C"/>
                </a:solidFill>
                <a:latin typeface="Calibri" pitchFamily="34" charset="0"/>
                <a:ea typeface="Calibri" pitchFamily="34" charset="-122"/>
                <a:cs typeface="Calibri" pitchFamily="34" charset="-120"/>
              </a:rPr>
              <a:t>WEEK 28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By the Great Horn Spoon!</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Week 28 — Theme Response</a:t>
            </a:r>
            <a:endParaRPr lang="en-US" sz="26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28  ·  Grit, Wit &amp; Adventure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Today you argue for your theme claim. You’ve drafted it, you’ve added evidence, you’ve used transitions. Now you finalize it and look back at the full arc of the novel so far.</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Vocabulary SWYK: </a:t>
            </a:r>
            <a:pPr indent="0" marL="0">
              <a:buNone/>
            </a:pPr>
            <a:r>
              <a:rPr lang="en-US" sz="1250" dirty="0">
                <a:solidFill>
                  <a:srgbClr val="1E293B"/>
                </a:solidFill>
                <a:latin typeface="Calibri" pitchFamily="34" charset="0"/>
                <a:ea typeface="Calibri" pitchFamily="34" charset="-122"/>
                <a:cs typeface="Calibri" pitchFamily="34" charset="-120"/>
              </a:rPr>
              <a:t>I will complete a choice board for all five Week 28 words.</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Theme Analysis: </a:t>
            </a:r>
            <a:pPr indent="0" marL="0">
              <a:buNone/>
            </a:pPr>
            <a:r>
              <a:rPr lang="en-US" sz="1250" dirty="0">
                <a:solidFill>
                  <a:srgbClr val="1E293B"/>
                </a:solidFill>
                <a:latin typeface="Calibri" pitchFamily="34" charset="0"/>
                <a:ea typeface="Calibri" pitchFamily="34" charset="-122"/>
                <a:cs typeface="Calibri" pitchFamily="34" charset="-120"/>
              </a:rPr>
              <a:t>I will analyze Fleischman’s themes and support my claim with text evidence.</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Writing: </a:t>
            </a:r>
            <a:pPr indent="0" marL="0">
              <a:buNone/>
            </a:pPr>
            <a:r>
              <a:rPr lang="en-US" sz="1250" dirty="0">
                <a:solidFill>
                  <a:srgbClr val="1E293B"/>
                </a:solidFill>
                <a:latin typeface="Calibri" pitchFamily="34" charset="0"/>
                <a:ea typeface="Calibri" pitchFamily="34" charset="-122"/>
                <a:cs typeface="Calibri" pitchFamily="34" charset="-120"/>
              </a:rPr>
              <a:t>I will complete and polish my literary response.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Praiseworthy is not a typical adventure hero. Nevertheless , his fortitude and steadfastness make him one of the most remarkable characters in the novel.</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Nevertheless  </a:t>
            </a:r>
            <a:pPr indent="0" marL="0">
              <a:buNone/>
            </a:pPr>
            <a:r>
              <a:rPr lang="en-US" sz="1150" dirty="0">
                <a:solidFill>
                  <a:srgbClr val="1E293B"/>
                </a:solidFill>
                <a:latin typeface="Calibri" pitchFamily="34" charset="0"/>
                <a:ea typeface="Calibri" pitchFamily="34" charset="-122"/>
                <a:cs typeface="Calibri" pitchFamily="34" charset="-120"/>
              </a:rPr>
              <a:t>Nevertheless = in spite of what was just said. The contrast is between what Praiseworthy is NOT (typical hero) and what he actually IS (something better). Semicolon before; comma after — correct.</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fortitude  </a:t>
            </a:r>
            <a:pPr indent="0" marL="0">
              <a:buNone/>
            </a:pPr>
            <a:r>
              <a:rPr lang="en-US" sz="1150" dirty="0">
                <a:solidFill>
                  <a:srgbClr val="1E293B"/>
                </a:solidFill>
                <a:latin typeface="Calibri" pitchFamily="34" charset="0"/>
                <a:ea typeface="Calibri" pitchFamily="34" charset="-122"/>
                <a:cs typeface="Calibri" pitchFamily="34" charset="-120"/>
              </a:rPr>
              <a:t>Fortitude = abstract noun from fort (strong). Steadfastness = abstract noun from -ness. Both are precisely the right words for what this sentence is claiming.</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steadfastness  </a:t>
            </a:r>
            <a:pPr indent="0" marL="0">
              <a:buNone/>
            </a:pPr>
            <a:r>
              <a:rPr lang="en-US" sz="1150" dirty="0">
                <a:solidFill>
                  <a:srgbClr val="1E293B"/>
                </a:solidFill>
                <a:latin typeface="Calibri" pitchFamily="34" charset="0"/>
                <a:ea typeface="Calibri" pitchFamily="34" charset="-122"/>
                <a:cs typeface="Calibri" pitchFamily="34" charset="-120"/>
              </a:rPr>
              <a:t>Steadfastness = state of being steadfast (–ness). Another abstract noun of the kind we've been practicing this week.</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furthermore praiseworthy's valor in chapter 10 demonstrates that true fortitude (–itude) isn't recklessness it is strength in service of what matters most — and the validity of his courage is proved by what he chooses to protect</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furthermore praiseworthy's valor in chapter 10 demonstrates that true fortitude (–itude) isn't recklessness it is strength in service of what matters most — and the validity of his courage is proved by what he chooses to protect</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Furthermore, Praiseworthy’s valor in Chapter 10 demonstrates that true fortitude isn’t recklessness; it is strength in service of what matters most — and the validity of his courage is proved by what he chooses to protect.</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Looking back at Chapters 10-12, state your strongest theme claim about the novel so far and defend it with the best evidence you have.</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Looking back at Chapters 10-12, state your strongest theme claim about the novel so far and defend it with the best evidence you have.</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Does this detail actually support my point, or is it just filler?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fort + val/valid — Explain</a:t>
            </a:r>
            <a:endParaRPr lang="en-US" sz="1100" dirty="0"/>
          </a:p>
        </p:txBody>
      </p:sp>
      <p:sp>
        <p:nvSpPr>
          <p:cNvPr id="5" name="Shape 3"/>
          <p:cNvSpPr/>
          <p:nvPr/>
        </p:nvSpPr>
        <p:spPr>
          <a:xfrm>
            <a:off x="365760" y="1097280"/>
            <a:ext cx="8412480" cy="603504"/>
          </a:xfrm>
          <a:prstGeom prst="roundRect">
            <a:avLst>
              <a:gd name="adj" fmla="val 1515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51206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 your journal: Explain fort and val/valid to a classmate. For each root: meaning, three examples, and one sentence connecting it to Praiseworthy. 4–6 sentences total.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097280"/>
            <a:ext cx="8412480" cy="457200"/>
          </a:xfrm>
          <a:prstGeom prst="roundRect">
            <a:avLst>
              <a:gd name="adj" fmla="val 20000"/>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3657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Show what you know: fortitude · valor · validity · highwayman · exasperation</a:t>
            </a:r>
            <a:endParaRPr lang="en-US" sz="1200" dirty="0"/>
          </a:p>
        </p:txBody>
      </p:sp>
      <p:sp>
        <p:nvSpPr>
          <p:cNvPr id="7" name="Shape 5"/>
          <p:cNvSpPr/>
          <p:nvPr/>
        </p:nvSpPr>
        <p:spPr>
          <a:xfrm>
            <a:off x="365760" y="1664208"/>
            <a:ext cx="8412480" cy="512064"/>
          </a:xfrm>
          <a:prstGeom prst="roundRect">
            <a:avLst>
              <a:gd name="adj" fmla="val 17857"/>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00784"/>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Praiseworthy’s Journal:  </a:t>
            </a:r>
            <a:pPr indent="0" marL="0">
              <a:buNone/>
            </a:pPr>
            <a:r>
              <a:rPr lang="en-US" sz="1050" dirty="0">
                <a:solidFill>
                  <a:srgbClr val="1E293B"/>
                </a:solidFill>
                <a:latin typeface="Calibri" pitchFamily="34" charset="0"/>
                <a:ea typeface="Calibri" pitchFamily="34" charset="-122"/>
                <a:cs typeface="Calibri" pitchFamily="34" charset="-120"/>
              </a:rPr>
              <a:t>Write a 5–7 sentence journal entry from Praiseworthy’s point of view during Chapters 10–12, using all five words naturally and accurately.</a:t>
            </a:r>
            <a:endParaRPr lang="en-US" sz="1150" dirty="0"/>
          </a:p>
        </p:txBody>
      </p:sp>
      <p:sp>
        <p:nvSpPr>
          <p:cNvPr id="9" name="Shape 7"/>
          <p:cNvSpPr/>
          <p:nvPr/>
        </p:nvSpPr>
        <p:spPr>
          <a:xfrm>
            <a:off x="365760" y="223113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67712"/>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Root Connection:  </a:t>
            </a:r>
            <a:pPr indent="0" marL="0">
              <a:buNone/>
            </a:pPr>
            <a:r>
              <a:rPr lang="en-US" sz="1050" dirty="0">
                <a:solidFill>
                  <a:srgbClr val="1E293B"/>
                </a:solidFill>
                <a:latin typeface="Calibri" pitchFamily="34" charset="0"/>
                <a:ea typeface="Calibri" pitchFamily="34" charset="-122"/>
                <a:cs typeface="Calibri" pitchFamily="34" charset="-120"/>
              </a:rPr>
              <a:t>For fortitude , valor , and validity : write the Latin root, its meaning, and explain how the root gives you the English word. Then use all five words in sentences.</a:t>
            </a:r>
            <a:endParaRPr lang="en-US" sz="1150" dirty="0"/>
          </a:p>
        </p:txBody>
      </p:sp>
      <p:sp>
        <p:nvSpPr>
          <p:cNvPr id="11" name="Shape 9"/>
          <p:cNvSpPr/>
          <p:nvPr/>
        </p:nvSpPr>
        <p:spPr>
          <a:xfrm>
            <a:off x="365760" y="2798064"/>
            <a:ext cx="8412480" cy="512064"/>
          </a:xfrm>
          <a:prstGeom prst="roundRect">
            <a:avLst>
              <a:gd name="adj" fmla="val 17857"/>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34640"/>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Definitions + Novel Sentences:  </a:t>
            </a:r>
            <a:pPr indent="0" marL="0">
              <a:buNone/>
            </a:pPr>
            <a:r>
              <a:rPr lang="en-US" sz="1050" dirty="0">
                <a:solidFill>
                  <a:srgbClr val="1E293B"/>
                </a:solidFill>
                <a:latin typeface="Calibri" pitchFamily="34" charset="0"/>
                <a:ea typeface="Calibri" pitchFamily="34" charset="-122"/>
                <a:cs typeface="Calibri" pitchFamily="34" charset="-120"/>
              </a:rPr>
              <a:t>Define each word precisely in your own words, then write a sentence for each that connects directly to a specific event in Chapters 10–12.</a:t>
            </a:r>
            <a:endParaRPr lang="en-US" sz="1150" dirty="0"/>
          </a:p>
        </p:txBody>
      </p:sp>
      <p:sp>
        <p:nvSpPr>
          <p:cNvPr id="13" name="Shape 11"/>
          <p:cNvSpPr/>
          <p:nvPr/>
        </p:nvSpPr>
        <p:spPr>
          <a:xfrm>
            <a:off x="365760" y="336499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401568"/>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Theme Connection:  </a:t>
            </a:r>
            <a:pPr indent="0" marL="0">
              <a:buNone/>
            </a:pPr>
            <a:r>
              <a:rPr lang="en-US" sz="1050" dirty="0">
                <a:solidFill>
                  <a:srgbClr val="1E293B"/>
                </a:solidFill>
                <a:latin typeface="Calibri" pitchFamily="34" charset="0"/>
                <a:ea typeface="Calibri" pitchFamily="34" charset="-122"/>
                <a:cs typeface="Calibri" pitchFamily="34" charset="-120"/>
              </a:rPr>
              <a:t>Write a paragraph arguing that Praiseworthy embodies all five vocabulary words. Use every word at least once with specific evidence from the chapters.</a:t>
            </a:r>
            <a:endParaRPr lang="en-US" sz="1150" dirty="0"/>
          </a:p>
        </p:txBody>
      </p:sp>
      <p:sp>
        <p:nvSpPr>
          <p:cNvPr id="15" name="Shape 13"/>
          <p:cNvSpPr/>
          <p:nvPr/>
        </p:nvSpPr>
        <p:spPr>
          <a:xfrm>
            <a:off x="365760" y="3977640"/>
            <a:ext cx="8412480" cy="777240"/>
          </a:xfrm>
          <a:prstGeom prst="roundRect">
            <a:avLst>
              <a:gd name="adj" fmla="val 11765"/>
            </a:avLst>
          </a:prstGeom>
          <a:solidFill>
            <a:srgbClr val="FEF6E8"/>
          </a:solidFill>
          <a:ln w="12700">
            <a:solidFill>
              <a:srgbClr val="C7922C"/>
            </a:solidFill>
            <a:prstDash val="solid"/>
          </a:ln>
        </p:spPr>
      </p:sp>
      <p:sp>
        <p:nvSpPr>
          <p:cNvPr id="16" name="Text 14"/>
          <p:cNvSpPr/>
          <p:nvPr/>
        </p:nvSpPr>
        <p:spPr>
          <a:xfrm>
            <a:off x="548640" y="4050792"/>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Vocabulary
</a:t>
            </a:r>
            <a:pPr indent="0" marL="0">
              <a:buNone/>
            </a:pPr>
            <a:r>
              <a:rPr lang="en-US" sz="1050" i="1" dirty="0">
                <a:solidFill>
                  <a:srgbClr val="1E293B"/>
                </a:solidFill>
                <a:latin typeface="Calibri" pitchFamily="34" charset="0"/>
                <a:ea typeface="Calibri" pitchFamily="34" charset="-122"/>
                <a:cs typeface="Calibri" pitchFamily="34" charset="-120"/>
              </a:rPr>
              <a:t>Choose one option above and complete it. Identify your option at the top.</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Abstract Noun Endings — Explain</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 your journal: Explain the difference between –ity, –ment, and –ness to a classmate in 3–4 sentences. Include one example of each from your literary response writing this week.</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Transitions — Explain</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 your journal: A classmate says “I always confuse however and therefore — they seem the same to me.” Write a 3-sentence explanation of the difference, with one example from the novel for each.</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52144"/>
            <a:ext cx="7955280" cy="493776"/>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Six Weeks with By the Great Horn Spoon! — Week 28 — Theme Response</a:t>
            </a:r>
            <a:endParaRPr lang="en-US" sz="1250" dirty="0"/>
          </a:p>
        </p:txBody>
      </p:sp>
      <p:sp>
        <p:nvSpPr>
          <p:cNvPr id="9" name="Text 7"/>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5CB85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084832"/>
            <a:ext cx="8412480" cy="548640"/>
          </a:xfrm>
          <a:prstGeom prst="roundRect">
            <a:avLst>
              <a:gd name="adj" fmla="val 16667"/>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139696"/>
            <a:ext cx="7955280" cy="43891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Week 28 — Theme Response</a:t>
            </a:r>
            <a:endParaRPr lang="en-US" sz="1400" dirty="0"/>
          </a:p>
        </p:txBody>
      </p:sp>
      <p:sp>
        <p:nvSpPr>
          <p:cNvPr id="12" name="Text 10"/>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READING FOCUS</a:t>
            </a:r>
            <a:endParaRPr lang="en-US" sz="1100" dirty="0"/>
          </a:p>
        </p:txBody>
      </p:sp>
      <p:sp>
        <p:nvSpPr>
          <p:cNvPr id="13" name="Shape 11"/>
          <p:cNvSpPr/>
          <p:nvPr/>
        </p:nvSpPr>
        <p:spPr>
          <a:xfrm>
            <a:off x="365760" y="2999232"/>
            <a:ext cx="8412480" cy="1600200"/>
          </a:xfrm>
          <a:prstGeom prst="roundRect">
            <a:avLst>
              <a:gd name="adj" fmla="val 5714"/>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090672"/>
            <a:ext cx="7955280" cy="141732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(See Reading tab for today's focus.)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 Theme Analysis: Four Possible Claims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TODAY</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1.  </a:t>
            </a:r>
            <a:pPr indent="0" marL="0">
              <a:buNone/>
            </a:pPr>
            <a:r>
              <a:rPr lang="en-US" sz="1100" dirty="0">
                <a:solidFill>
                  <a:srgbClr val="1E293B"/>
                </a:solidFill>
                <a:latin typeface="Calibri" pitchFamily="34" charset="0"/>
                <a:ea typeface="Calibri" pitchFamily="34" charset="-122"/>
                <a:cs typeface="Calibri" pitchFamily="34" charset="-120"/>
              </a:rPr>
              <a:t>Which of the four theme claims above do you find most convincing — or what is your own theme claim? State it clearly in one sentence. Then explain in 2–3 sentences why you chose it and what the strongest piece of evidence is.</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39696"/>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2.  </a:t>
            </a:r>
            <a:pPr indent="0" marL="0">
              <a:buNone/>
            </a:pPr>
            <a:r>
              <a:rPr lang="en-US" sz="1100" dirty="0">
                <a:solidFill>
                  <a:srgbClr val="1E293B"/>
                </a:solidFill>
                <a:latin typeface="Calibri" pitchFamily="34" charset="0"/>
                <a:ea typeface="Calibri" pitchFamily="34" charset="-122"/>
                <a:cs typeface="Calibri" pitchFamily="34" charset="-120"/>
              </a:rPr>
              <a:t>Find a second piece of evidence from Chapters 1–12 that supports your theme claim. Describe the event, quote or paraphrase the relevant moment, and explain specifically how it supports your claim. Use at least one transition word (therefore, furthermore, as a result, in contrast).</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27248"/>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3.  </a:t>
            </a:r>
            <a:pPr indent="0" marL="0">
              <a:buNone/>
            </a:pPr>
            <a:r>
              <a:rPr lang="en-US" sz="1100" dirty="0">
                <a:solidFill>
                  <a:srgbClr val="1E293B"/>
                </a:solidFill>
                <a:latin typeface="Calibri" pitchFamily="34" charset="0"/>
                <a:ea typeface="Calibri" pitchFamily="34" charset="-122"/>
                <a:cs typeface="Calibri" pitchFamily="34" charset="-120"/>
              </a:rPr>
              <a:t>Write your closing argument: restate your theme claim in different words, explain why it matters beyond the novel (what does it say about real people or real life?), and end with a sentence that captures why this story is worth reading. Use at least one abstract noun from this week (–ity, –ment, or –ness) and one transition.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LITERARY RESPONSE</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Week 28 closes — complete and polish your literary response</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Draft your literary response. Make a clear theme claim and support it with evidence.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2026-07-13T17:56:39Z</dcterms:created>
  <dcterms:modified xsi:type="dcterms:W3CDTF">2026-07-13T17:56:39Z</dcterms:modified>
</cp:coreProperties>
</file>