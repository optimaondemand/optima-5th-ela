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Title slide: Week 27, Day 2, Week 27 — Chapter 8: Saved by a Whisker.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Big Q: Praiseworthy and Jack arrive in San Francisco with $38, no coal, no plans, and no way to get to the mines. Within hours, Praiseworthy is running a one-man barbershop on a hotel porch. Chapter 8 is about resourcefulness — seeing what others miss.
Grammar SWYK: I will write four compound and complex sentences about San Francisco in Chapter 8.
Vocabulary: I will practice Week 27 words with flip cards.
Reading: I will analyze how Praiseworthy and Jack solve their money problem in Chapter 8.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 answer needed — tap-and-notice only. Discuss why each highlighted word/punctuation mark is correct.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Fix-it: "water was a dollar a bucket unless you waited until november when it rained but praiseworthy said they would wait because in this part of the world a man had to strike it rich just to keep his neck clean"
Corrected: "Water was a dollar a bucket unless you waited until November, when it rained; but Praiseworthy said they would wait, because in this part of the world a man had to strike it rich just to keep his neck clean."
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Fix-it: "water was a dollar a bucket unless you waited until november when it rained but praiseworthy said they would wait because in this part of the world a man had to strike it rich just to keep his neck clean"
Corrected: "Water was a dollar a bucket unless you waited until November, when it rained; but Praiseworthy said they would wait, because in this part of the world a man had to strike it rich just to keep his neck clean."
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Optional routine — use if time allows. Read the prompt aloud. Remind students: pick a side, defend with evidence, anticipate disagreement.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Set a 5-minute timer. Remind: choose a side, defend with evidence.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Focus: Could I combine two sentences to make my thinking clearer?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Call on 3-4 students. Encourage respectful disagreement about their choice/defense.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Morphology practice for the day.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Vocabulary mode: flip_cards.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Grammar content — this novel uses explain/tap-to-notice practice rather than a scored quiz item. Graded SWYK today.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Spelling focus: 🔠 Spelling: –tion/–sion — Identify Stressed Syllables.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Tracker: Six Weeks with By the Great Horn Spoon! — Week 27 — Chapter 8: Saved by a Whisker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Preview only — students answer these in the Reading tab as they read.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Writing Connection — Stage: BUILD THE MIDDLE
Focus: Add a chance encounter that changes everything — as Fleischman does in Ch. 8
Task: Write the middle section of your adventure. Make things worse before they get better.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4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114800"/>
            <a:ext cx="9144000" cy="1028700"/>
          </a:xfrm>
          <a:prstGeom prst="rect">
            <a:avLst/>
          </a:prstGeom>
          <a:solidFill>
            <a:srgbClr val="5CB85C">
              <a:alpha val="15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6400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400" kern="0" dirty="0">
                <a:solidFill>
                  <a:srgbClr val="5CB8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27  ·  DAY 2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457200" y="1097280"/>
            <a:ext cx="82296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the Great Horn Spoon!</a:t>
            </a:r>
            <a:endParaRPr lang="en-US" sz="2600" dirty="0"/>
          </a:p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27 — Chapter 8: Saved by a Whisker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57200" y="44348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⛏️  Week 27  ·  Grit, Wit &amp; Adventure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Today's Objectives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365760" y="749808"/>
            <a:ext cx="8412480" cy="0"/>
          </a:xfrm>
          <a:prstGeom prst="line">
            <a:avLst/>
          </a:prstGeom>
          <a:noFill/>
          <a:ln w="19050">
            <a:solidFill>
              <a:srgbClr val="5CB85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868680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8B6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BIG QUESTION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1115568"/>
            <a:ext cx="8412480" cy="777240"/>
          </a:xfrm>
          <a:prstGeom prst="roundRect">
            <a:avLst>
              <a:gd name="adj" fmla="val 11765"/>
            </a:avLst>
          </a:prstGeom>
          <a:solidFill>
            <a:srgbClr val="F0E8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94360" y="1207008"/>
            <a:ext cx="7955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Praiseworthy and Jack arrive in San Francisco with $38, no coal, no plans, and no way to get to the mines. Within hours, Praiseworthy is running a one-man barbershop on a hotel porch. Chapter 8 is about resourcefulness — seeing what others miss.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365760" y="2011680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THE END OF THIS LESSON...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" y="2286000"/>
            <a:ext cx="8412480" cy="713232"/>
          </a:xfrm>
          <a:prstGeom prst="roundRect">
            <a:avLst>
              <a:gd name="adj" fmla="val 12821"/>
            </a:avLst>
          </a:prstGeom>
          <a:solidFill>
            <a:srgbClr val="F8FAFC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548640" y="2359152"/>
            <a:ext cx="8046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00000"/>
                </a:solidFill>
              </a:rPr>
              <a:t>✏️  </a:t>
            </a:r>
            <a:pPr indent="0" marL="0">
              <a:buNone/>
            </a:pPr>
            <a:r>
              <a:rPr lang="en-US" sz="13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Grammar SWYK: </a:t>
            </a:r>
            <a:pPr indent="0" marL="0"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will write four compound and complex sentences about San Francisco in Chapter 8.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365760" y="3090672"/>
            <a:ext cx="8412480" cy="713232"/>
          </a:xfrm>
          <a:prstGeom prst="roundRect">
            <a:avLst>
              <a:gd name="adj" fmla="val 12821"/>
            </a:avLst>
          </a:prstGeom>
          <a:solidFill>
            <a:srgbClr val="F8FAFC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48640" y="3163824"/>
            <a:ext cx="8046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00000"/>
                </a:solidFill>
              </a:rPr>
              <a:t>📚  </a:t>
            </a:r>
            <a:pPr indent="0" marL="0">
              <a:buNone/>
            </a:pPr>
            <a:r>
              <a:rPr lang="en-US" sz="13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Vocabulary: </a:t>
            </a:r>
            <a:pPr indent="0" marL="0"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will practice Week 27 words with flip cards.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365760" y="3895344"/>
            <a:ext cx="8412480" cy="713232"/>
          </a:xfrm>
          <a:prstGeom prst="roundRect">
            <a:avLst>
              <a:gd name="adj" fmla="val 12821"/>
            </a:avLst>
          </a:prstGeom>
          <a:solidFill>
            <a:srgbClr val="F8FAFC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548640" y="3968496"/>
            <a:ext cx="8046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00000"/>
                </a:solidFill>
              </a:rPr>
              <a:t>📖  </a:t>
            </a:r>
            <a:pPr indent="0" marL="0">
              <a:buNone/>
            </a:pPr>
            <a:r>
              <a:rPr lang="en-US" sz="13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Reading: </a:t>
            </a:r>
            <a:pPr indent="0" marL="0"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will analyze how Praiseworthy and Jack solve their money problem in Chapter 8.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📝 Daily Oral Language — Study What's Right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365760" y="749808"/>
            <a:ext cx="8412480" cy="0"/>
          </a:xfrm>
          <a:prstGeom prst="line">
            <a:avLst/>
          </a:prstGeom>
          <a:noFill/>
          <a:ln w="19050">
            <a:solidFill>
              <a:srgbClr val="34B76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822960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34B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 MODEL — TAP TO NOTICE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1078992"/>
            <a:ext cx="8412480" cy="914400"/>
          </a:xfrm>
          <a:prstGeom prst="roundRect">
            <a:avLst>
              <a:gd name="adj" fmla="val 10000"/>
            </a:avLst>
          </a:prstGeom>
          <a:solidFill>
            <a:srgbClr val="E8F8EF"/>
          </a:solidFill>
          <a:ln w="12700">
            <a:solidFill>
              <a:srgbClr val="34B76F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48640" y="1188720"/>
            <a:ext cx="8046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Although the entire city of San Francisco had turned out to greet the sidewheeler, Jack could not keep his eyes off a dusty miner pacing in the hotel lobby.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365760" y="2103120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EACH TAPPED WORD TEACHES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" y="2377440"/>
            <a:ext cx="8412480" cy="457200"/>
          </a:xfrm>
          <a:prstGeom prst="roundRect">
            <a:avLst>
              <a:gd name="adj" fmla="val 20000"/>
            </a:avLst>
          </a:prstGeom>
          <a:solidFill>
            <a:srgbClr val="F8FAFC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548640" y="242316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4B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Jack could not keep his eyes off a dusty miner pacing in the hotel lobby.  </a:t>
            </a:r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Complex sentence: subordinating conjunction Although sets up a contrast. The main clause surprises us — despite the whole city being there, Jack was only looking for gold.</a:t>
            </a:r>
            <a:endParaRPr lang="en-US" sz="12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E5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5943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📝 Daily Oral Language — Fix It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365760" y="749808"/>
            <a:ext cx="8412480" cy="0"/>
          </a:xfrm>
          <a:prstGeom prst="line">
            <a:avLst/>
          </a:prstGeom>
          <a:noFill/>
          <a:ln w="19050">
            <a:solidFill>
              <a:srgbClr val="5CB85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92240" y="173736"/>
            <a:ext cx="2286000" cy="502920"/>
          </a:xfrm>
          <a:prstGeom prst="roundRect">
            <a:avLst>
              <a:gd name="adj" fmla="val 21818"/>
            </a:avLst>
          </a:prstGeom>
          <a:solidFill>
            <a:srgbClr val="5CB85C"/>
          </a:solidFill>
          <a:ln/>
        </p:spPr>
      </p:sp>
      <p:sp>
        <p:nvSpPr>
          <p:cNvPr id="5" name="Text 3"/>
          <p:cNvSpPr/>
          <p:nvPr/>
        </p:nvSpPr>
        <p:spPr>
          <a:xfrm>
            <a:off x="6492240" y="173736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 PROMPT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65760" y="822960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79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NEEDS FIXING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65760" y="1078992"/>
            <a:ext cx="8412480" cy="777240"/>
          </a:xfrm>
          <a:prstGeom prst="roundRect">
            <a:avLst>
              <a:gd name="adj" fmla="val 11765"/>
            </a:avLst>
          </a:prstGeom>
          <a:solidFill>
            <a:srgbClr val="FEF6E8"/>
          </a:solidFill>
          <a:ln w="12700">
            <a:solidFill>
              <a:srgbClr val="C7922C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48640" y="118872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water was a dollar a bucket unless you waited until november when it rained but praiseworthy said they would wait because in this part of the world a man had to strike it rich just to keep his neck clean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57200" y="1965960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Rewrite the corrected sentence in your reading journal.</a:t>
            </a:r>
            <a:endParaRPr lang="en-US"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E5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5943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📝 Daily Oral Language — Fix It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365760" y="749808"/>
            <a:ext cx="8412480" cy="0"/>
          </a:xfrm>
          <a:prstGeom prst="line">
            <a:avLst/>
          </a:prstGeom>
          <a:noFill/>
          <a:ln w="19050">
            <a:solidFill>
              <a:srgbClr val="5CB85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92240" y="173736"/>
            <a:ext cx="2286000" cy="502920"/>
          </a:xfrm>
          <a:prstGeom prst="roundRect">
            <a:avLst>
              <a:gd name="adj" fmla="val 21818"/>
            </a:avLst>
          </a:prstGeom>
          <a:solidFill>
            <a:srgbClr val="5CB85C"/>
          </a:solidFill>
          <a:ln/>
        </p:spPr>
      </p:sp>
      <p:sp>
        <p:nvSpPr>
          <p:cNvPr id="5" name="Text 3"/>
          <p:cNvSpPr/>
          <p:nvPr/>
        </p:nvSpPr>
        <p:spPr>
          <a:xfrm>
            <a:off x="6492240" y="173736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 PROMPT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65760" y="822960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79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NEEDS FIXING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65760" y="1078992"/>
            <a:ext cx="8412480" cy="777240"/>
          </a:xfrm>
          <a:prstGeom prst="roundRect">
            <a:avLst>
              <a:gd name="adj" fmla="val 11765"/>
            </a:avLst>
          </a:prstGeom>
          <a:solidFill>
            <a:srgbClr val="FEF6E8"/>
          </a:solidFill>
          <a:ln w="12700">
            <a:solidFill>
              <a:srgbClr val="C7922C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48640" y="118872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water was a dollar a bucket unless you waited until november when it rained but praiseworthy said they would wait because in this part of the world a man had to strike it rich just to keep his neck clean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57200" y="1965960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Rewrite the corrected sentence in your reading journal.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365760" y="2468880"/>
            <a:ext cx="8412480" cy="1371600"/>
          </a:xfrm>
          <a:prstGeom prst="roundRect">
            <a:avLst>
              <a:gd name="adj" fmla="val 6667"/>
            </a:avLst>
          </a:prstGeom>
          <a:solidFill>
            <a:srgbClr val="E8F8E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94360" y="2560320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34B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CORRECTED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94360" y="2834640"/>
            <a:ext cx="7955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Water was a dollar a bucket unless you waited until November, when it rained; but Praiseworthy said they would wait, because in this part of the world a man had to strike it rich just to keep his neck clean.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594360" y="3310128"/>
            <a:ext cx="7955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✏️ Quick Write (Optional)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365760" y="749808"/>
            <a:ext cx="8412480" cy="0"/>
          </a:xfrm>
          <a:prstGeom prst="line">
            <a:avLst/>
          </a:prstGeom>
          <a:noFill/>
          <a:ln w="19050">
            <a:solidFill>
              <a:srgbClr val="C7922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914400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79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📖 READ THE PROMPT — 1 MINUTE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57200" y="1280160"/>
            <a:ext cx="8229600" cy="1463040"/>
          </a:xfrm>
          <a:prstGeom prst="roundRect">
            <a:avLst>
              <a:gd name="adj" fmla="val 6250"/>
            </a:avLst>
          </a:prstGeom>
          <a:solidFill>
            <a:srgbClr val="FEF6E8"/>
          </a:solidFill>
          <a:ln w="12700">
            <a:solidFill>
              <a:srgbClr val="C7922C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640080" y="1389888"/>
            <a:ext cx="78638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Jack and Praiseworthy arrive in San Francisco with almost nothing. Is arriving with no plan more exciting, or more frightening? Defend your answer with evidence from Chapter 8.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57200" y="2926080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SENTENCE SCAFFOLD (USE WHAT HELPS)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57200" y="3218688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think...   →   because...   →   One piece of evidence is...   →   Someone might disagree, but...</a:t>
            </a:r>
            <a:endParaRPr lang="en-US" sz="11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EF6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✏️  Writing Time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914400" y="804672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C79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minutes — keep your pencil moving!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457200" y="1325880"/>
            <a:ext cx="8229600" cy="118872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C7922C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40080" y="1371600"/>
            <a:ext cx="78638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C79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📖 Prompt: </a:t>
            </a:r>
            <a:pPr indent="0" marL="0">
              <a:buNone/>
            </a:pPr>
            <a:r>
              <a:rPr lang="en-US" sz="12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Jack and Praiseworthy arrive in San Francisco with almost nothing. Is arriving with no plan more exciting, or more frightening? Defend your answer with evidence from Chapter 8.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1554480" y="2743200"/>
            <a:ext cx="6035040" cy="1600200"/>
          </a:xfrm>
          <a:prstGeom prst="roundRect">
            <a:avLst>
              <a:gd name="adj" fmla="val 685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1737360" y="2834640"/>
            <a:ext cx="566928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Scaffold, if you need it:
</a:t>
            </a:r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think...</a:t>
            </a:r>
            <a:endParaRPr lang="en-US" sz="1300" dirty="0"/>
          </a:p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because...</a:t>
            </a:r>
            <a:endParaRPr lang="en-US" sz="1300" dirty="0"/>
          </a:p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piece of evidence is...</a:t>
            </a:r>
            <a:endParaRPr lang="en-US" sz="1300" dirty="0"/>
          </a:p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Someone might disagree, but...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E8F8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0" y="32004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dirty="0">
                <a:solidFill>
                  <a:srgbClr val="000000"/>
                </a:solidFill>
              </a:rPr>
              <a:t>🔍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914400" y="822960"/>
            <a:ext cx="7315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Edit &amp; Revise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914400" y="137160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34B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minute — one deliberate decision, not a full edit pass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1188720" y="2011680"/>
            <a:ext cx="6766560" cy="777240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9050">
            <a:solidFill>
              <a:srgbClr val="34B76F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1371600" y="2084832"/>
            <a:ext cx="6400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4B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Today's revision check: </a:t>
            </a:r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Could I combine two sentences to make my thinking clearer?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188720" y="3017520"/>
            <a:ext cx="6766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Revision = improving ideas. Editing = fixing conventions. Pick ONE thing.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E5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0" y="45720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dirty="0">
                <a:solidFill>
                  <a:srgbClr val="000000"/>
                </a:solidFill>
              </a:rPr>
              <a:t>🗣️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914400" y="1005840"/>
            <a:ext cx="7315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 Time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914400" y="155448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55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minutes — let's hear your thinking!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1828800" y="2194560"/>
            <a:ext cx="5486400" cy="1371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2011680" y="2286000"/>
            <a:ext cx="51206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Raise your hand </a:t>
            </a:r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share, or paste your writing in the chat.
</a:t>
            </a:r>
            <a:pPr indent="0" marL="0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you disagree with a classmate's choice, say so respectfully — that's part of the thinking.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🌱 Morphology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365760" y="749808"/>
            <a:ext cx="8412480" cy="0"/>
          </a:xfrm>
          <a:prstGeom prst="line">
            <a:avLst/>
          </a:prstGeom>
          <a:noFill/>
          <a:ln w="19050">
            <a:solidFill>
              <a:srgbClr val="8B6FC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822960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8B6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Morphology: Roots curr/curs + tract — Identify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1097280"/>
            <a:ext cx="8412480" cy="512064"/>
          </a:xfrm>
          <a:prstGeom prst="roundRect">
            <a:avLst>
              <a:gd name="adj" fmla="val 17857"/>
            </a:avLst>
          </a:prstGeom>
          <a:solidFill>
            <a:srgbClr val="F0E8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48640" y="1143000"/>
            <a:ext cx="8046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 ___ ent — running alongside; happening at the same time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65760" y="1664208"/>
            <a:ext cx="8412480" cy="512064"/>
          </a:xfrm>
          <a:prstGeom prst="roundRect">
            <a:avLst>
              <a:gd name="adj" fmla="val 17857"/>
            </a:avLst>
          </a:prstGeom>
          <a:solidFill>
            <a:srgbClr val="F8F4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48640" y="1709928"/>
            <a:ext cx="8046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 ___ — to pull down/away; to take one number from another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65760" y="2231136"/>
            <a:ext cx="8412480" cy="512064"/>
          </a:xfrm>
          <a:prstGeom prst="roundRect">
            <a:avLst>
              <a:gd name="adj" fmla="val 17857"/>
            </a:avLst>
          </a:prstGeom>
          <a:solidFill>
            <a:srgbClr val="F0E8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548640" y="2276856"/>
            <a:ext cx="8046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___ — to run into (costs, debts, problems)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65760" y="2798064"/>
            <a:ext cx="8412480" cy="512064"/>
          </a:xfrm>
          <a:prstGeom prst="roundRect">
            <a:avLst>
              <a:gd name="adj" fmla="val 17857"/>
            </a:avLst>
          </a:prstGeom>
          <a:solidFill>
            <a:srgbClr val="F8F4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48640" y="2843784"/>
            <a:ext cx="8046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 ___ — pulled away from the concrete; general/theoretical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📚 Vocabulary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365760" y="749808"/>
            <a:ext cx="8412480" cy="0"/>
          </a:xfrm>
          <a:prstGeom prst="line">
            <a:avLst/>
          </a:prstGeom>
          <a:noFill/>
          <a:ln w="19050">
            <a:solidFill>
              <a:srgbClr val="55C8E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822960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1097280"/>
            <a:ext cx="8412480" cy="530352"/>
          </a:xfrm>
          <a:prstGeom prst="roundRect">
            <a:avLst>
              <a:gd name="adj" fmla="val 17241"/>
            </a:avLst>
          </a:prstGeom>
          <a:solidFill>
            <a:srgbClr val="E5F7FC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48640" y="1143000"/>
            <a:ext cx="8046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skedaddled  </a:t>
            </a:r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Fled or left in a hurry. Informal American English — used by Captain Swain when the Sea Raven disappears with all the coal.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65760" y="1691640"/>
            <a:ext cx="8412480" cy="530352"/>
          </a:xfrm>
          <a:prstGeom prst="roundRect">
            <a:avLst>
              <a:gd name="adj" fmla="val 17241"/>
            </a:avLst>
          </a:prstGeom>
          <a:solidFill>
            <a:srgbClr val="EAF6FA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48640" y="1737360"/>
            <a:ext cx="8046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grubstake  </a:t>
            </a:r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Money or supplies given to a miner in return for a share of the gold found; their survival fund for mining.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65760" y="2286000"/>
            <a:ext cx="8412480" cy="530352"/>
          </a:xfrm>
          <a:prstGeom prst="roundRect">
            <a:avLst>
              <a:gd name="adj" fmla="val 17241"/>
            </a:avLst>
          </a:prstGeom>
          <a:solidFill>
            <a:srgbClr val="E5F7FC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548640" y="2331720"/>
            <a:ext cx="8046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diggings  </a:t>
            </a:r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mining site; the place where miners dig and pan for gold.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2880360"/>
            <a:ext cx="8412480" cy="530352"/>
          </a:xfrm>
          <a:prstGeom prst="roundRect">
            <a:avLst>
              <a:gd name="adj" fmla="val 17241"/>
            </a:avLst>
          </a:prstGeom>
          <a:solidFill>
            <a:srgbClr val="EAF6FA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48640" y="2926080"/>
            <a:ext cx="8046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assay  </a:t>
            </a:r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test or measure the purity and value of ore or gold. Quartz Jackson 'assays' his beard dust.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365760" y="3474720"/>
            <a:ext cx="8412480" cy="530352"/>
          </a:xfrm>
          <a:prstGeom prst="roundRect">
            <a:avLst>
              <a:gd name="adj" fmla="val 17241"/>
            </a:avLst>
          </a:prstGeom>
          <a:solidFill>
            <a:srgbClr val="E5F7FC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548640" y="3520440"/>
            <a:ext cx="8046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jipijapa  </a:t>
            </a:r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hat woven from fine palm leaves (also called a Panama hat); the hat that hides a very dangerous face on the stagecoach.</a:t>
            </a:r>
            <a:endParaRPr lang="en-US" sz="13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✏️ Grammar — Compound &amp; Complex Sentences — Identify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365760" y="749808"/>
            <a:ext cx="8412480" cy="0"/>
          </a:xfrm>
          <a:prstGeom prst="line">
            <a:avLst/>
          </a:prstGeom>
          <a:noFill/>
          <a:ln w="19050">
            <a:solidFill>
              <a:srgbClr val="C7922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822960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79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and write all four types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1115568"/>
            <a:ext cx="8412480" cy="566928"/>
          </a:xfrm>
          <a:prstGeom prst="roundRect">
            <a:avLst>
              <a:gd name="adj" fmla="val 16129"/>
            </a:avLst>
          </a:prstGeom>
          <a:solidFill>
            <a:srgbClr val="FEF6E8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48640" y="1161288"/>
            <a:ext cx="8046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Compound sentence: Two independent clauses joined by a coordinating conjunction (for, and, nor, but, or, yet, so — FANBOYS) or a semicolon. Equal ideas, forward momentum. Example: “The Sea Raven passed with a blast of her whistle, and the gold-seekers on the Lady Wilma fell silent.”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365760" y="1737360"/>
            <a:ext cx="8412480" cy="566928"/>
          </a:xfrm>
          <a:prstGeom prst="roundRect">
            <a:avLst>
              <a:gd name="adj" fmla="val 16129"/>
            </a:avLst>
          </a:prstGeom>
          <a:solidFill>
            <a:srgbClr val="F8FAFC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48640" y="1783080"/>
            <a:ext cx="8046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Complex sentence: An independent clause + a dependent clause (because, when, although, unless, while, since, until, if). Shows cause, condition, or time relationship. Example: “ Because the Sea Raven had loaded too much coal, she sat low in the water — and the Lady Wilma crept ahead.”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365760" y="2359152"/>
            <a:ext cx="8412480" cy="566928"/>
          </a:xfrm>
          <a:prstGeom prst="roundRect">
            <a:avLst>
              <a:gd name="adj" fmla="val 16129"/>
            </a:avLst>
          </a:prstGeom>
          <a:solidFill>
            <a:srgbClr val="FEF6E8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548640" y="2404872"/>
            <a:ext cx="8046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action writing: Compound = simultaneous events happening together. Complex = cause and effect, the engine of adventure.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365760" y="3026664"/>
            <a:ext cx="8412480" cy="777240"/>
          </a:xfrm>
          <a:prstGeom prst="roundRect">
            <a:avLst>
              <a:gd name="adj" fmla="val 11765"/>
            </a:avLst>
          </a:prstGeom>
          <a:solidFill>
            <a:srgbClr val="FEF6E8"/>
          </a:solidFill>
          <a:ln w="12700">
            <a:solidFill>
              <a:srgbClr val="C7922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48640" y="3099816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C79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🫖 Show What You Know · Grammar
</a:t>
            </a:r>
            <a:pPr indent="0" marL="0">
              <a:buNone/>
            </a:pPr>
            <a:r>
              <a:rPr lang="en-US" sz="105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four sentences about Chapter 8 (Jack and Praiseworthy arriving in San Francisco): one compound sentence, one complex sentence beginning with Because , one complex sentence beginning with Although , and one complex sentence beginning with When . Label each.</a:t>
            </a:r>
            <a:endParaRPr lang="en-US" sz="10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🔠 Spelling — –tion/–sion — Identify Stressed Syllables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365760" y="749808"/>
            <a:ext cx="8412480" cy="0"/>
          </a:xfrm>
          <a:prstGeom prst="line">
            <a:avLst/>
          </a:prstGeom>
          <a:noFill/>
          <a:ln w="19050">
            <a:solidFill>
              <a:srgbClr val="0E1C4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822960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1115568"/>
            <a:ext cx="8412480" cy="566928"/>
          </a:xfrm>
          <a:prstGeom prst="roundRect">
            <a:avLst>
              <a:gd name="adj" fmla="val 16129"/>
            </a:avLst>
          </a:prstGeom>
          <a:solidFill>
            <a:srgbClr val="EEF2FA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48640" y="1161288"/>
            <a:ext cx="8046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ex·TRAC·tion · dis·TRAC·tion · con·STRUC·tion · ex·CUR·sion · at·TRAC·tion · di·REC·tion · con·FU·sion · TEN·sion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365760" y="1737360"/>
            <a:ext cx="8412480" cy="566928"/>
          </a:xfrm>
          <a:prstGeom prst="roundRect">
            <a:avLst>
              <a:gd name="adj" fmla="val 16129"/>
            </a:avLst>
          </a:prstGeom>
          <a:solidFill>
            <a:srgbClr val="F8FAFC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48640" y="1783080"/>
            <a:ext cx="8046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Notice: the stressed syllable is almost always the one before the suffix.</a:t>
            </a:r>
            <a:endParaRPr lang="en-US" sz="11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E5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5943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📖 Reading Focus + Story Journey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365760" y="749808"/>
            <a:ext cx="8412480" cy="0"/>
          </a:xfrm>
          <a:prstGeom prst="line">
            <a:avLst/>
          </a:prstGeom>
          <a:noFill/>
          <a:ln w="19050">
            <a:solidFill>
              <a:srgbClr val="5CB85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92240" y="173736"/>
            <a:ext cx="2286000" cy="502920"/>
          </a:xfrm>
          <a:prstGeom prst="roundRect">
            <a:avLst>
              <a:gd name="adj" fmla="val 21818"/>
            </a:avLst>
          </a:prstGeom>
          <a:solidFill>
            <a:srgbClr val="5CB85C"/>
          </a:solidFill>
          <a:ln/>
        </p:spPr>
      </p:sp>
      <p:sp>
        <p:nvSpPr>
          <p:cNvPr id="5" name="Text 3"/>
          <p:cNvSpPr/>
          <p:nvPr/>
        </p:nvSpPr>
        <p:spPr>
          <a:xfrm>
            <a:off x="6492240" y="173736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 PROMPT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65760" y="822960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STORY JOURNEY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65760" y="1078992"/>
            <a:ext cx="8412480" cy="640080"/>
          </a:xfrm>
          <a:prstGeom prst="roundRect">
            <a:avLst>
              <a:gd name="adj" fmla="val 14286"/>
            </a:avLst>
          </a:prstGeom>
          <a:solidFill>
            <a:srgbClr val="F8FAFC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94360" y="1152144"/>
            <a:ext cx="79552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 Weeks with By the Great Horn Spoon! — Week 27 — Chapter 8: Saved by a Whisker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365760" y="1828800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5CB8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 YOU ARE READING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65760" y="2084832"/>
            <a:ext cx="8412480" cy="548640"/>
          </a:xfrm>
          <a:prstGeom prst="roundRect">
            <a:avLst>
              <a:gd name="adj" fmla="val 16667"/>
            </a:avLst>
          </a:prstGeom>
          <a:solidFill>
            <a:srgbClr val="FEF6E8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94360" y="2139696"/>
            <a:ext cx="79552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27 — Chapter 8: Saved by a Whisker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365760" y="2743200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8B6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🧠 READING FOCUS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65760" y="2999232"/>
            <a:ext cx="8412480" cy="1600200"/>
          </a:xfrm>
          <a:prstGeom prst="roundRect">
            <a:avLst>
              <a:gd name="adj" fmla="val 5714"/>
            </a:avLst>
          </a:prstGeom>
          <a:solidFill>
            <a:srgbClr val="F0E8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594360" y="3090672"/>
            <a:ext cx="795528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📌 Reading Focus Chapter 8 lands Jack and Praiseworthy in San Francisco and immediately puts them in a financial crisis. Fleischman packs this chapter with vivid Gold Rush detail: tattooed islanders, Chinese laundries sending shirts to China, water at a dollar a bucket. Watch how Praiseworthy never panics , and watch for how a chance encounter — and a very hairy miner — becomes the solution.</a:t>
            </a:r>
            <a:endParaRPr lang="en-US" sz="11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Comprehension — Read: Chapter 8 — “Saved by a Whisker”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365760" y="749808"/>
            <a:ext cx="8412480" cy="0"/>
          </a:xfrm>
          <a:prstGeom prst="line">
            <a:avLst/>
          </a:prstGeom>
          <a:noFill/>
          <a:ln w="19050">
            <a:solidFill>
              <a:srgbClr val="5CB85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822960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YOU'LL ANSWER TODAY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1097280"/>
            <a:ext cx="8412480" cy="914400"/>
          </a:xfrm>
          <a:prstGeom prst="roundRect">
            <a:avLst>
              <a:gd name="adj" fmla="val 10000"/>
            </a:avLst>
          </a:prstGeom>
          <a:solidFill>
            <a:srgbClr val="F8FAFC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48640" y="1152144"/>
            <a:ext cx="804672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CB8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</a:t>
            </a:r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Fleischman gives us a vivid picture of San Francisco in 1849. Name two specific prices or costs mentioned in Chapter 8 and explain what they tell us about what life was like for newcomers.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65760" y="2084832"/>
            <a:ext cx="8412480" cy="914400"/>
          </a:xfrm>
          <a:prstGeom prst="roundRect">
            <a:avLst>
              <a:gd name="adj" fmla="val 10000"/>
            </a:avLst>
          </a:prstGeom>
          <a:solidFill>
            <a:srgbClr val="F4F7FC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48640" y="2139696"/>
            <a:ext cx="804672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CB8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</a:t>
            </a:r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Quartz Jackson insists that every lock of hair be caught as it falls. Jack thinks he is peculiar. What is the actual purpose — and how does this one detail change everything for Jack and Praiseworthy?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65760" y="3072384"/>
            <a:ext cx="8412480" cy="914400"/>
          </a:xfrm>
          <a:prstGeom prst="roundRect">
            <a:avLst>
              <a:gd name="adj" fmla="val 10000"/>
            </a:avLst>
          </a:prstGeom>
          <a:solidFill>
            <a:srgbClr val="F8FAFC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548640" y="3127248"/>
            <a:ext cx="804672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CB8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</a:t>
            </a:r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the end of Chapter 8, Praiseworthy and Jack have solved their money problem. Explain the chain of events: how did a chance encounter on the street lead to enough money for the riverboat?</a:t>
            </a:r>
            <a:endParaRPr lang="en-US" sz="13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✍️ Writing Connection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365760" y="749808"/>
            <a:ext cx="8412480" cy="0"/>
          </a:xfrm>
          <a:prstGeom prst="line">
            <a:avLst/>
          </a:prstGeom>
          <a:noFill/>
          <a:ln w="19050">
            <a:solidFill>
              <a:srgbClr val="34B76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841248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34B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STAGE: BUILD THE MIDDLE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1097280"/>
            <a:ext cx="8412480" cy="502920"/>
          </a:xfrm>
          <a:prstGeom prst="roundRect">
            <a:avLst>
              <a:gd name="adj" fmla="val 18182"/>
            </a:avLst>
          </a:prstGeom>
          <a:solidFill>
            <a:srgbClr val="E8F8E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48640" y="1143000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a chance encounter that changes everything — as Fleischman does in Ch. 8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365760" y="1755648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8B6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📝 TODAY'S TASK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" y="2011680"/>
            <a:ext cx="8412480" cy="2377440"/>
          </a:xfrm>
          <a:prstGeom prst="roundRect">
            <a:avLst>
              <a:gd name="adj" fmla="val 3846"/>
            </a:avLst>
          </a:prstGeom>
          <a:solidFill>
            <a:srgbClr val="F0E8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548640" y="2103120"/>
            <a:ext cx="804672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the middle section of your adventure. Make things worse before they get better.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2026-07-13T17:56:39Z</dcterms:created>
  <dcterms:modified xsi:type="dcterms:W3CDTF">2026-07-13T17:56:39Z</dcterms:modified>
</cp:coreProperties>
</file>