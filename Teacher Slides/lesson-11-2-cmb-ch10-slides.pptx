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11.2: Chapter 10, "Freedom". Banner quote: “For nine years this room had been his home. In a week, it would all be over. He’d be free.” (Chapter 10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will Nat do when he is free? Today you read Chapter 10 and continue drafting your expository research piece. Keep asking: How do events in this chapter develop Nat’s character?
Objectives:
- 🌱 Morphology: Identify meter and scope/spect in new words: is the instrument measuring or looking?
- ✏️ Grammar SWYK: Identify whether a relative clause is essential or extra, and punctuate it correctly.
- 🔤 Spelling: I will identify the Greek and Latin parts inside long words.
- 📖 Reading: I will identify how Latham handles the last days of the indenture, and what her choice reveals about the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years of study at the chandlery has prepared nat for a life at sea
Corrected: The years of study at the chandlery have prepared Nat for a life at sea.
Fixes: capitalize “The”; capitalize “Nat” (proper noun); subject is “years” (plural) → “have” not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years of study at the chandlery has prepared nat for a life at sea
Corrected: The years of study at the chandlery have prepared Nat for a life at sea.
Fixes: capitalize “The”; capitalize “Nat” (proper noun); subject is “years” (plural) → “have” not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Nat’s indenture is about to end, and he is wondering where he belongs. Sammy has just gone to sea, and each brother talks of “his ship.” John Masefield wrote this poem in 1902 — but it speaks to something sailors have always felt. Read it today, as Nat wonders where his own place in the world will be. Write your response in your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meter/metr + scope/spect — Identify — measuring or looking?.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thermometer = meter — measure
perimeter = meter — measure
microscope = scope — look
spectator = spect —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Word Sort — Identify — sort this week’s words by domain.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Mathematics &amp; Science: longitude, terrestrial, prospect
Ships &amp; Navigation: supercargo, observation, navigate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Relative Pronouns &amp; Clauses — Identify — essential or extra?.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book that he carried everywhere was written in Latin. — spot1
2. The Principia, which was written entirely in Latin, took him years. — spot2
3. Nat’s captain, who trusted him completely, gave him the ship’s reckoning.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Dividing Long Words by Their Parts — Identify — find the seams.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their own sentence in the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Write your complete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Draft: Write your complete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11  ·  DAY 2  ·  LESSON 11.2</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10 — Freedom</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“For nine years this room had been his home. In a week, it would all be over. He’d be free.”</a:t>
            </a:r>
            <a:pPr indent="0" marL="0">
              <a:buNone/>
            </a:pPr>
            <a:r>
              <a:rPr lang="en-US" sz="1600" dirty="0">
                <a:solidFill>
                  <a:srgbClr val="55C8E8"/>
                </a:solidFill>
                <a:latin typeface="Calibri" pitchFamily="34" charset="0"/>
                <a:ea typeface="Calibri" pitchFamily="34" charset="-122"/>
                <a:cs typeface="Calibri" pitchFamily="34" charset="-120"/>
              </a:rPr>
              <a:t>  — Chapter 10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IDENTIFY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10</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will Nat do when he is free?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10 and continue drafting your expository research piece. Keep asking: How do events in this chapter develop Nat’s character?</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19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Identify meter and scope/spect in new words: is the instrument measuring or looking?</a:t>
            </a:r>
            <a:endParaRPr lang="en-US" sz="1900" dirty="0"/>
          </a:p>
          <a:p>
            <a:pPr marL="342900" indent="-342900">
              <a:spcAft>
                <a:spcPts val="900"/>
              </a:spcAft>
              <a:buSzPct val="100000"/>
              <a:buChar char="●"/>
            </a:pPr>
            <a:r>
              <a:rPr lang="en-US" sz="1900" b="1" dirty="0">
                <a:solidFill>
                  <a:srgbClr val="0E1C42"/>
                </a:solidFill>
                <a:latin typeface="Calibri" pitchFamily="34" charset="0"/>
                <a:ea typeface="Calibri" pitchFamily="34" charset="-122"/>
                <a:cs typeface="Calibri" pitchFamily="34" charset="-120"/>
              </a:rPr>
              <a:t>✏️ Grammar SWYK: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Identify whether a relative clause is essential or extra, and punctuate it correctly.</a:t>
            </a:r>
            <a:endParaRPr lang="en-US" sz="1900" dirty="0"/>
          </a:p>
          <a:p>
            <a:pPr marL="342900" indent="-342900">
              <a:spcAft>
                <a:spcPts val="900"/>
              </a:spcAft>
              <a:buSzPct val="100000"/>
              <a:buChar char="●"/>
            </a:pPr>
            <a:r>
              <a:rPr lang="en-US" sz="19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will identify the Greek and Latin parts inside long words.</a:t>
            </a:r>
            <a:endParaRPr lang="en-US" sz="1900" dirty="0"/>
          </a:p>
          <a:p>
            <a:pPr marL="342900" indent="-342900">
              <a:spcAft>
                <a:spcPts val="900"/>
              </a:spcAft>
              <a:buSzPct val="100000"/>
              <a:buChar char="●"/>
            </a:pPr>
            <a:r>
              <a:rPr lang="en-US" sz="19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will identify how Latham handles the last days of the indenture, and what her choice reveals about the theme.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WHAT THE PERSEVERANCE COST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closely and gather evidence. Chapter 10 is the hinge of the book: after almost nine years, the indenture is nearly over. Notice how Latham handles it — whether she dwells on the feeling, hurries past it, or shows it sideways. What an author chooses to linger on is where you find the theme.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moment quitting was an option: Perseverance only shows where giving up was genuinely available.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keeps him going: Look for the reason the text gives, not the one you would supply yourself.</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theme as a sentence: Say what the book argues about people who keep going. “Perseverance” is a topic; a theme is a full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WHAT THE PERSEVERANCE COST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Latham write Nat’s last days before freedom? Does she dwell on Nat’s feelings, or show them through action?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When Minna asks what he’ll do when he’s free, what does Nat answer? Why does her question stay with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Sammy goes to sea and finds “his ship.” What is Nat still searching for?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The record</a:t>
            </a:r>
            <a:pPr indent="0" marL="0">
              <a:buNone/>
            </a:pPr>
            <a:r>
              <a:rPr lang="en-US" sz="2600" dirty="0">
                <a:solidFill>
                  <a:srgbClr val="1E293B"/>
                </a:solidFill>
                <a:latin typeface="Calibri" pitchFamily="34" charset="0"/>
                <a:ea typeface="Calibri" pitchFamily="34" charset="-122"/>
                <a:cs typeface="Calibri" pitchFamily="34" charset="-120"/>
              </a:rPr>
              <a:t> of Nat’s figures in the chandlery books </a:t>
            </a:r>
            <a:pPr indent="0" marL="0">
              <a:buNone/>
            </a:pPr>
            <a:r>
              <a:rPr lang="en-US" sz="2600" b="1" u="sng" dirty="0">
                <a:solidFill>
                  <a:srgbClr val="1E8E52"/>
                </a:solidFill>
                <a:latin typeface="Calibri" pitchFamily="34" charset="0"/>
                <a:ea typeface="Calibri" pitchFamily="34" charset="-122"/>
                <a:cs typeface="Calibri" pitchFamily="34" charset="-120"/>
              </a:rPr>
              <a:t>shows</a:t>
            </a:r>
            <a:pPr indent="0" marL="0">
              <a:buNone/>
            </a:pPr>
            <a:r>
              <a:rPr lang="en-US" sz="2600" dirty="0">
                <a:solidFill>
                  <a:srgbClr val="1E293B"/>
                </a:solidFill>
                <a:latin typeface="Calibri" pitchFamily="34" charset="0"/>
                <a:ea typeface="Calibri" pitchFamily="34" charset="-122"/>
                <a:cs typeface="Calibri" pitchFamily="34" charset="-120"/>
              </a:rPr>
              <a:t> </a:t>
            </a:r>
            <a:pPr indent="0" marL="0">
              <a:buNone/>
            </a:pPr>
            <a:r>
              <a:rPr lang="en-US" sz="2600" b="1" u="sng" dirty="0">
                <a:solidFill>
                  <a:srgbClr val="1E8E52"/>
                </a:solidFill>
                <a:latin typeface="Calibri" pitchFamily="34" charset="0"/>
                <a:ea typeface="Calibri" pitchFamily="34" charset="-122"/>
                <a:cs typeface="Calibri" pitchFamily="34" charset="-120"/>
              </a:rPr>
              <a:t>extraordinary</a:t>
            </a:r>
            <a:pPr indent="0" marL="0">
              <a:buNone/>
            </a:pPr>
            <a:r>
              <a:rPr lang="en-US" sz="2600" dirty="0">
                <a:solidFill>
                  <a:srgbClr val="1E293B"/>
                </a:solidFill>
                <a:latin typeface="Calibri" pitchFamily="34" charset="0"/>
                <a:ea typeface="Calibri" pitchFamily="34" charset="-122"/>
                <a:cs typeface="Calibri" pitchFamily="34" charset="-120"/>
              </a:rPr>
              <a:t> mathematical skill.</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The record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Subject: “record” (singular). The phrase “of Nat’s figures in the chandlery books” is between subject and verb but does not change it.</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shows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“shows” agrees with the singular subject “record” — not with “figures” or “books.”</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extraordinary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“extraordinary” is an adjective — it has an unstressed schwa in the third syllable: ex-tra-OR-di-nar-y.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years of study at the chandlery has prepared nat for a life at sea</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years of study at the chandlery has prepared nat for a life at sea</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years of study at the chandlery have prepared Nat for a life at sea.</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capitalize “Nat” (proper noun); subject is “years” (plural) → “have” not “has.”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“SEA FEVER”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John Masefield, 1902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I must go down to the seas again, to the lonely sea and the sky,</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And all I ask is a tall ship and a star to steer her by;</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And the wheel’s kick and the wind’s song and the white sail’s shaking,</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And a grey mist on the sea’s face, and a grey dawn breaking.</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I must go down to the seas again, for the call of the running tide</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 </a:t>
            </a:r>
            <a:endParaRPr lang="en-US" sz="2200" dirty="0"/>
          </a:p>
          <a:p>
            <a:pPr indent="0" marL="0">
              <a:buNone/>
            </a:pPr>
            <a:r>
              <a:rPr lang="en-US" sz="2200" i="1" dirty="0">
                <a:solidFill>
                  <a:srgbClr val="1E293B"/>
                </a:solidFill>
                <a:latin typeface="Georgia" pitchFamily="34" charset="0"/>
                <a:ea typeface="Georgia" pitchFamily="34" charset="-122"/>
                <a:cs typeface="Georgia" pitchFamily="34" charset="-120"/>
              </a:rPr>
              <a:t>Is a wild call and a clear call that may not be denied.</a:t>
            </a:r>
            <a:endParaRPr lang="en-US" sz="22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Notice: Masefield uses repetition (“I must go down to the seas again”) to make the calling feel inescapable. Also notice: the speaker uses “and” many times in a row — that technique is called polysyndeton, and it creates a rushing, building effect.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Nat has not chosen the sea yet — he is still wondering where his knowledge will take him. As he watches Sammy swagger off to board “his ship,” does any part of Masefield’s poem fit? What might Nat’s “wild call and clear call” be?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800" dirty="0">
                <a:solidFill>
                  <a:srgbClr val="1E293B"/>
                </a:solidFill>
                <a:latin typeface="Calibri" pitchFamily="34" charset="0"/>
                <a:ea typeface="Calibri" pitchFamily="34" charset="-122"/>
                <a:cs typeface="Calibri" pitchFamily="34" charset="-120"/>
              </a:rPr>
              <a:t>Chapter 10 ends one week before Nat turns twenty-one, and Minna's words about feeling "lost-like" stay with him. Will freedom be easier or harder for Nat than the indenture was? Defend your answer with evidence from Chapter 10.</a:t>
            </a:r>
            <a:endParaRPr lang="en-US" sz="28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Chapter 10 ends one week before Nat turns twenty-one, and Minna's words about feeling "lost-like" stay with him. Will freedom be easier or harder for Nat than the indenture was? Defend your answer with evidence from Chapter 10.</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MEASURING OR LOOKING?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Yesterday you met the two roots. Today, identify which one is at work. Ask each word one question: is this thing measuring something, or looking at something?</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 Two Roots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meter / metr = measure → thermometer, barometer, chronometer, perimeter, diameter</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scope = look, watch → telescope, microscope, periscope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spect = look → inspect, spectator, perspective — you met this one in the Witch unit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The test: if the word gives you a number, suspect meter. If it gives you a view, suspect scope or spect.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Match each word to its meaning using the roots as your guide.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MEASURING OR LOOKING?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thermometer</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scope — look</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perimeter</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spect — look</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microscope</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meter — measure</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spectator</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meter — measure</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MEASURING OR LOOKING?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meter/metr + scope/spect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thermometer  =  </a:t>
            </a:r>
            <a:pPr indent="0" marL="0">
              <a:buNone/>
            </a:pPr>
            <a:r>
              <a:rPr lang="en-US" sz="2000" dirty="0">
                <a:solidFill>
                  <a:srgbClr val="1E293B"/>
                </a:solidFill>
                <a:latin typeface="Calibri" pitchFamily="34" charset="0"/>
                <a:ea typeface="Calibri" pitchFamily="34" charset="-122"/>
                <a:cs typeface="Calibri" pitchFamily="34" charset="-120"/>
              </a:rPr>
              <a:t>meter — measure</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perimeter  =  </a:t>
            </a:r>
            <a:pPr indent="0" marL="0">
              <a:buNone/>
            </a:pPr>
            <a:r>
              <a:rPr lang="en-US" sz="2000" dirty="0">
                <a:solidFill>
                  <a:srgbClr val="1E293B"/>
                </a:solidFill>
                <a:latin typeface="Calibri" pitchFamily="34" charset="0"/>
                <a:ea typeface="Calibri" pitchFamily="34" charset="-122"/>
                <a:cs typeface="Calibri" pitchFamily="34" charset="-120"/>
              </a:rPr>
              <a:t>meter — measure</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microscope  =  </a:t>
            </a:r>
            <a:pPr indent="0" marL="0">
              <a:buNone/>
            </a:pPr>
            <a:r>
              <a:rPr lang="en-US" sz="2000" dirty="0">
                <a:solidFill>
                  <a:srgbClr val="1E293B"/>
                </a:solidFill>
                <a:latin typeface="Calibri" pitchFamily="34" charset="0"/>
                <a:ea typeface="Calibri" pitchFamily="34" charset="-122"/>
                <a:cs typeface="Calibri" pitchFamily="34" charset="-120"/>
              </a:rPr>
              <a:t>scope — look</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spectator  =  </a:t>
            </a:r>
            <a:pPr indent="0" marL="0">
              <a:buNone/>
            </a:pPr>
            <a:r>
              <a:rPr lang="en-US" sz="2000" dirty="0">
                <a:solidFill>
                  <a:srgbClr val="1E293B"/>
                </a:solidFill>
                <a:latin typeface="Calibri" pitchFamily="34" charset="0"/>
                <a:ea typeface="Calibri" pitchFamily="34" charset="-122"/>
                <a:cs typeface="Calibri" pitchFamily="34" charset="-120"/>
              </a:rPr>
              <a:t>spect — look</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SORT THIS WEEK’S WORDS BY DOMAIN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This week’s words come from two worlds that Nat is connecting: the world of mathematics and science and the world of ships and navigation. Sort them.</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SORT THIS WEEK’S WORDS BY DOMAIN</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longitude     ·     supercargo     ·     terrestrial     ·     observation     ·     navigate     ·     prospect</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Mathematics &amp; Science</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Ships &amp; Navigation</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SORT THIS WEEK’S WORDS BY DOMAIN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Mathematics &amp; Science</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longitude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terrestrial</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prospect</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Ships &amp; Navigation</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supercargo</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observation</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navigate</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ESSENTIAL OR EXTRA?</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hunt for the noun each pronoun replaced.</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Yesterday you met the clause. Today, identify the thing that decides its punctuation: is the clause essential or extra? If removing it changes which thing you mean, it is essential and takes no commas. If it just adds detail, fence it off.</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ESSENTIAL OR EXTRA?</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book, that he carried everywhere, was written in Latin.</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book that he carried everywhere was written in Latin.</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Principia, which was written entirely in Latin, took him years.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Principia which was written entirely in Latin took him years.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version is punctuated correctly?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Nat’s captain who trusted him completely gave him the ship’s reckoning.</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Nat’s captain, who trusted him completely, gave him the ship’s reckoning.</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ESSENTIAL OR EXTRA?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Relative Pronouns &amp; Clauses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version is punctuated correctly?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book, that he carried everywhere, was written in Latin.</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book that he carried everywhere was written in Latin.</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version is punctuated correctly?</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Principia, which was written entirely in Latin, took him years.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Principia which was written entirely in Latin took him years.</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version is punctuated correctly?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Nat’s captain who trusted him completely gave him the ship’s reckoning.</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Nat’s captain, who trusted him completely, gave him the ship’s reckoning.</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Grammar</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Add a relative clause to each sentence and punctuate it correctly: (1) The chronometer kept perfect time. (2) Nat taught the sailors. (3) The tables were full of errors.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all three sentences. For each, say whether your clause is essential or extra, and why that decided the commas.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FIND THE SEAMS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Dividing Long Words by Their Parts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Before you start: clap the beats, then decide where the splits go.</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Yesterday you learned to cut at the seams. Today, identify where they are. Look for a root you recognise, then see what is attached to the front and the back of it.</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Cut at the Seams</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chron/o/meter — time + measure</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tele/scope — far + look</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peri/meter — around + measure</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bio/graph/y — life + writing</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manu/script — hand + written</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The order: find the root first, then the prefix, then the ending. Whatever is left over is usually a connecting vowel like the o in chronometer.</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10</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“Captain George Crowninshield had built a lookout there for him on a high point — a solid granite base, with steps leading up to a seat.”</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Someone built this so that a man could sit and watch for ships coming home. What does the trouble taken — granite, steps, a seat — tell you about how much that waiting mattered?</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The sentence states its idea and then proves it. The main clause is the central idea: a lookout was built on a high point. Everything after the dash is supporting detail, and notice how exact it is — not “a good lookout” but a solid granite base, with steps leading up to a seat. Details support an idea by being precise, not by being numerous.</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about something in Chapter 10. State the central idea in the main clause, then add two exact supporting details. Choose specifics, not adjectives.</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SAME TECHNIQUE IN YOUR OWN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Mimic — Your Turn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280160"/>
          </a:xfrm>
          <a:prstGeom prst="roundRect">
            <a:avLst>
              <a:gd name="adj" fmla="val 5714"/>
            </a:avLst>
          </a:prstGeom>
          <a:solidFill>
            <a:srgbClr val="FEF6E8"/>
          </a:solidFill>
          <a:ln w="15875">
            <a:solidFill>
              <a:srgbClr val="C7922C"/>
            </a:solidFill>
            <a:prstDash val="solid"/>
          </a:ln>
        </p:spPr>
      </p:sp>
      <p:sp>
        <p:nvSpPr>
          <p:cNvPr id="7" name="Text 5"/>
          <p:cNvSpPr/>
          <p:nvPr/>
        </p:nvSpPr>
        <p:spPr>
          <a:xfrm>
            <a:off x="777240" y="1645920"/>
            <a:ext cx="10637215" cy="1097280"/>
          </a:xfrm>
          <a:prstGeom prst="rect">
            <a:avLst/>
          </a:prstGeom>
          <a:noFill/>
          <a:ln/>
        </p:spPr>
        <p:txBody>
          <a:bodyPr wrap="square" lIns="0" tIns="0" rIns="0" bIns="0" rtlCol="0" anchor="ctr">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“Captain George Crowninshield had built a lookout there for him on a high point — a solid granite base, with steps leading up to a seat.”</a:t>
            </a:r>
            <a:endParaRPr lang="en-US" sz="2200" dirty="0"/>
          </a:p>
        </p:txBody>
      </p:sp>
      <p:sp>
        <p:nvSpPr>
          <p:cNvPr id="8" name="Text 6"/>
          <p:cNvSpPr/>
          <p:nvPr/>
        </p:nvSpPr>
        <p:spPr>
          <a:xfrm>
            <a:off x="502920" y="3017520"/>
            <a:ext cx="11185855" cy="14630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Write one sentence about something in Chapter 10. State the central idea in the main clause, then add two exact supporting details. Choose specifics, not adjectives.</a:t>
            </a:r>
            <a:endParaRPr lang="en-US" sz="2100" dirty="0"/>
          </a:p>
        </p:txBody>
      </p:sp>
      <p:sp>
        <p:nvSpPr>
          <p:cNvPr id="9" name="Text 7"/>
          <p:cNvSpPr/>
          <p:nvPr/>
        </p:nvSpPr>
        <p:spPr>
          <a:xfrm>
            <a:off x="502920" y="4617720"/>
            <a:ext cx="5486400"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FRAME</a:t>
            </a:r>
            <a:endParaRPr lang="en-US" sz="1300" dirty="0"/>
          </a:p>
        </p:txBody>
      </p:sp>
      <p:sp>
        <p:nvSpPr>
          <p:cNvPr id="10" name="Shape 8"/>
          <p:cNvSpPr/>
          <p:nvPr/>
        </p:nvSpPr>
        <p:spPr>
          <a:xfrm>
            <a:off x="502920" y="4937760"/>
            <a:ext cx="11185855" cy="1097280"/>
          </a:xfrm>
          <a:prstGeom prst="roundRect">
            <a:avLst>
              <a:gd name="adj" fmla="val 6667"/>
            </a:avLst>
          </a:prstGeom>
          <a:solidFill>
            <a:srgbClr val="FFFFFF"/>
          </a:solidFill>
          <a:ln w="15875">
            <a:solidFill>
              <a:srgbClr val="C7922C"/>
            </a:solidFill>
            <a:prstDash val="solid"/>
          </a:ln>
        </p:spPr>
      </p:sp>
      <p:sp>
        <p:nvSpPr>
          <p:cNvPr id="11" name="Text 9"/>
          <p:cNvSpPr/>
          <p:nvPr/>
        </p:nvSpPr>
        <p:spPr>
          <a:xfrm>
            <a:off x="777240" y="4983480"/>
            <a:ext cx="10637215" cy="1005840"/>
          </a:xfrm>
          <a:prstGeom prst="rect">
            <a:avLst/>
          </a:prstGeom>
          <a:noFill/>
          <a:ln/>
        </p:spPr>
        <p:txBody>
          <a:bodyPr wrap="square" lIns="0" tIns="0" rIns="0" bIns="0" rtlCol="0" anchor="ctr">
            <a:normAutofit/>
          </a:bodyPr>
          <a:lstStyle/>
          <a:p>
            <a:pPr indent="0" marL="0">
              <a:buNone/>
            </a:pPr>
            <a:r>
              <a:rPr lang="en-US" sz="2600" b="1" dirty="0">
                <a:solidFill>
                  <a:srgbClr val="0E1C42"/>
                </a:solidFill>
                <a:latin typeface="Calibri" pitchFamily="34" charset="0"/>
                <a:ea typeface="Calibri" pitchFamily="34" charset="-122"/>
                <a:cs typeface="Calibri" pitchFamily="34" charset="-120"/>
              </a:rPr>
              <a:t>[Someone] had built ___ — ___, with ___.</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10 — “FREEDOM”</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11 — Chapter 10 — Freedom</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is the chapter you’ve been waiting for — nine years of reading, studying, and waiting, and now Nat Bowditch is one week from freedom — and not sure what to do with it. Watch carefully how Latham handles this. Does she write it with fanfare, or does she let the action speak for itself?</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10</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“When You’re Free”: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Minna asks Nat, “Have you thought about what you’ll do when you’re free?” Nat jokes about a one-man parade down Derby Street. Does Latham dwell on emotion here, or show it through action and talk? Why do Minna’s words about feeling “lost-like” stay with Nat — and what does that reveal?</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Sammy Finds His Ship: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Sammy goes to sea, and Nat goes back to his bookkeeping, wondering what he will do with the next nine years. Why does Sammy’s leaving stir up this question? What connection do you see between this moment and the ash-breeze years of Chapters 6–8?</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Chapter 10 is titled “Freedom,” and it ends one week before Nat turns twenty-one. Explain what Nat will soon be free from, and then explain what he will be free to do. What does freedom mean to Nat Bowditch specifically — how is it different from simply ‘no more indenture’?</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The moment Sammy leaves for sea while Nat turns back to his bookkeeping is significant because it shows us the connection between his nine years of self-education and the question of what comes next. Use the Fact + Explanation + Significance structure to analyze this moment.</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How does Chapter 10 develop Nat’s character? Choose one specific detail from the chapter — something Nat says, does, or notices — and explain how it contributes to who he is and how the story develops.</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WRITE YOUR COMPLETE INTRODUCTION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Your hook is written. Now connect it to your claim using a bridge sentence — then end with your thesis. Today you write the full introduction.</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assembles hook + bridge + claim into a 4-sentence introduction. BEFORE Alex’s three separate parts sitting next to each other with no connection. AFTER Alex’s complete introduction: “A ship navigated blind into Salem Harbor in December fog — no landmarks, no visibility — guided only by one man’s calculations. That man was Nathaniel Bowditch, a self-taught mathematician from Salem, Massachusetts, who had spent his entire life turning complex navigation into something any sailor could learn. He had not grown up wealthy or privileged; he had been indentured at twelve and educated himself at night for nine years. What made him extraordinary was not his mathematical talent alone, but his relentless belief that the knowledge that protected sailors’ lives should belong to everyone.” Notice: Alex’s introduction has four moves: (1) hook scene, (2) who is this man?, (3) quick context (indentured, self-taught), (4) claim. Each sentence does a specific job.</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DRAFT · WRITE YOUR COMPLETE INTRODUCTION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11 · DRAFT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Introduction Map: 4 Moves: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Fill in the four moves for your introduction. Don’t worry about perfect wording — get the ideas down. Alex’s example (filled): Move 1: Hook A ship navigated blind into Salem Harbor in December fog — guided only by one man’s calculations. Move 2: Who is this person? That man was Nathaniel Bowditch, a self-taught mathematician from Salem, Massachusetts. Move 3: Quick context He had been indentured at twelve and educated himself at night for nine years. Move 4: Claim / Thesis What made him extraordinary was his belief that navigation should be accessible to every sailor. Your turn — do the same in your reading journal: Move 1 (hook): ____________________ Move 2 (who?): ____________________ Move 3 (context): ____________________ Move 4 (claim):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“That man was ___, a ___ from ___ who had ___.” “He had not grown up ___; instead, ___.” “What made him extraordinary was not ___ alone, but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11.2 — Carry On, Mr. Bowditch, Chapter 10</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