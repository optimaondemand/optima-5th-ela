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Week 11, Day 2, Chapter 10 — Freedom.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 Q: Today you read Chapter 10 and continue drafting your expository research piece. Keep asking: How do events in this chapter develop Nat’s character?
Morphology: Identify geo and terr in new scientific words.
Grammar SWYK: Identify S-V agreement errors; write corrections.
Spelling: Identify the schwa syllable in academic words.
Reading: Chapter 10 — Freedom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lens aloud before students open their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answer needed — tap-and-notice only. Discuss why each highlighted word/punctuation mark is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Fix-it: "the years of study at ropes and hodges has prepared nat for a life at sea"
Corrected: "The years of study at Ropes and Hodges have prepared Nat for a life at sea."
Fixes: capitalize “The”; “Ropes and Hodges” (proper noun); subject is “years” (plural) → “have” not “has.”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Fix-it: "the years of study at ropes and hodges has prepared nat for a life at sea"
Corrected: "The years of study at Ropes and Hodges have prepared Nat for a life at sea."
Fixes: capitalize “The”; “Ropes and Hodges” (proper noun); subject is “years” (plural) → “have” not “has.”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poem aloud. Give students a moment to notice before discussing.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routine — use if time allows. Read the prompt aloud. Remind students: pick a side, defend with evidence, anticipate disagreement.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5-minute timer. Remind: choose a side, defend with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Focus: Could I combine two of these sentences to make my thinking clearer?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3-4 students. Encourage respectful disagreement about their choice/defense.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Morphology practice for the day. Practice only today — not the graded strand.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Vocabulary mode: Sort or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answers yet — students discuss and guess.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revealed — correct labels in green.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Spelling focus: 🔤 Spelling: Identify the Schwa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Tracker: Six Weeks with Carry On, Mr. Bowditch — 📍 You are here: Week 11 — Chapter 10 — Freedom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Preview only — students answer these after reading, in the Assignment tab.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Connection — DRAFT: Write your complete introduction
Focus: Your hook is written. Now connect it to your claim using a bridge sentence — then end with your thesis. Today you write the full introduction.
Before: BEFORE Alex’s three separate parts sitting next to each other with no connection.
After: AFTER Alex’s complete introduction: “A ship navigated blind into Salem Harbor in December fog — no landmarks, no visibility — guided only by one man’s calculations. That man was Nathaniel Bowditch, a self-taught mathematician from Salem, Massachusetts, who had spent his entire life turning complex navigation into something any sailor could learn. He had not grown up wealthy or privileged; he had been indentured at twelve and educated himself at night for nine years. What made him extraordinary was not his mathematical talent alone, but his relentless belief that the knowledge that protected sailors’ lives should belong to everyone.”
Notice: Notice: Alex’s introduction has four moves: (1) hook scene, (2) who is this man?, (3) quick context (indentured, self-taught), (4) claim. Each sentence does a specific job.
Tool: Today’s Tool: Introduction Map: 4 Moves — Fill in the four moves for your introduction. Don’t worry about perfect wording — get the ideas down.
Frames: “That man was ___, a ___ from ___ who had ___.” | “He had not grown up ___; instead, ___.” | “What made him extraordinary was not ___ alone, but ___...”
Prompt: Write your complete 4-move introduction (3–5 sentences). Hook → Who is this person? → Quick context →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C42"/>
        </a:solidFill>
      </p:bgPr>
    </p:bg>
    <p:spTree>
      <p:nvGrpSpPr>
        <p:cNvPr id="1" name=""/>
        <p:cNvGrpSpPr/>
        <p:nvPr/>
      </p:nvGrpSpPr>
      <p:grpSpPr>
        <a:xfrm>
          <a:off x="0" y="0"/>
          <a:ext cx="0" cy="0"/>
          <a:chOff x="0" y="0"/>
          <a:chExt cx="0" cy="0"/>
        </a:xfrm>
      </p:grpSpPr>
      <p:sp>
        <p:nvSpPr>
          <p:cNvPr id="2" name="Shape 0"/>
          <p:cNvSpPr/>
          <p:nvPr/>
        </p:nvSpPr>
        <p:spPr>
          <a:xfrm>
            <a:off x="0" y="4114800"/>
            <a:ext cx="9144000" cy="1028700"/>
          </a:xfrm>
          <a:prstGeom prst="rect">
            <a:avLst/>
          </a:prstGeom>
          <a:solidFill>
            <a:srgbClr val="55C8E8">
              <a:alpha val="15000"/>
            </a:srgbClr>
          </a:solidFill>
          <a:ln/>
        </p:spPr>
      </p:sp>
      <p:sp>
        <p:nvSpPr>
          <p:cNvPr id="3" name="Text 1"/>
          <p:cNvSpPr/>
          <p:nvPr/>
        </p:nvSpPr>
        <p:spPr>
          <a:xfrm>
            <a:off x="457200" y="640080"/>
            <a:ext cx="8229600" cy="365760"/>
          </a:xfrm>
          <a:prstGeom prst="rect">
            <a:avLst/>
          </a:prstGeom>
          <a:noFill/>
          <a:ln/>
        </p:spPr>
        <p:txBody>
          <a:bodyPr wrap="square" lIns="0" tIns="0" rIns="0" bIns="0" rtlCol="0" anchor="ctr"/>
          <a:lstStyle/>
          <a:p>
            <a:pPr algn="l" indent="0" marL="0">
              <a:buNone/>
            </a:pPr>
            <a:r>
              <a:rPr lang="en-US" sz="1300" b="1" spc="400" kern="0" dirty="0">
                <a:solidFill>
                  <a:srgbClr val="55C8E8"/>
                </a:solidFill>
                <a:latin typeface="Calibri" pitchFamily="34" charset="0"/>
                <a:ea typeface="Calibri" pitchFamily="34" charset="-122"/>
                <a:cs typeface="Calibri" pitchFamily="34" charset="-120"/>
              </a:rPr>
              <a:t>WEEK 11  ·  DAY 2</a:t>
            </a:r>
            <a:endParaRPr lang="en-US" sz="1300" dirty="0"/>
          </a:p>
        </p:txBody>
      </p:sp>
      <p:sp>
        <p:nvSpPr>
          <p:cNvPr id="4" name="Text 2"/>
          <p:cNvSpPr/>
          <p:nvPr/>
        </p:nvSpPr>
        <p:spPr>
          <a:xfrm>
            <a:off x="457200" y="1097280"/>
            <a:ext cx="8229600" cy="1645920"/>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Carry On, Mr. Bowditch</a:t>
            </a:r>
            <a:endParaRPr lang="en-US" sz="3000" dirty="0"/>
          </a:p>
          <a:p>
            <a:pPr algn="l" indent="0" marL="0">
              <a:buNone/>
            </a:pPr>
            <a:r>
              <a:rPr lang="en-US" sz="3000" b="1" dirty="0">
                <a:solidFill>
                  <a:srgbClr val="FFFFFF"/>
                </a:solidFill>
                <a:latin typeface="Calibri" pitchFamily="34" charset="0"/>
                <a:ea typeface="Calibri" pitchFamily="34" charset="-122"/>
                <a:cs typeface="Calibri" pitchFamily="34" charset="-120"/>
              </a:rPr>
              <a:t>Chapter 10 — Freedom</a:t>
            </a:r>
            <a:endParaRPr lang="en-US" sz="3000" dirty="0"/>
          </a:p>
        </p:txBody>
      </p:sp>
      <p:sp>
        <p:nvSpPr>
          <p:cNvPr id="5" name="Text 3"/>
          <p:cNvSpPr/>
          <p:nvPr/>
        </p:nvSpPr>
        <p:spPr>
          <a:xfrm>
            <a:off x="457200" y="4434840"/>
            <a:ext cx="8229600" cy="365760"/>
          </a:xfrm>
          <a:prstGeom prst="rect">
            <a:avLst/>
          </a:prstGeom>
          <a:noFill/>
          <a:ln/>
        </p:spPr>
        <p:txBody>
          <a:bodyPr wrap="square" lIns="0" tIns="0" rIns="0" bIns="0" rtlCol="0" anchor="ctr"/>
          <a:lstStyle/>
          <a:p>
            <a:pPr algn="l" indent="0" marL="0">
              <a:buNone/>
            </a:pPr>
            <a:r>
              <a:rPr lang="en-US" sz="1200" dirty="0">
                <a:solidFill>
                  <a:srgbClr val="FFFFFF"/>
                </a:solidFill>
                <a:latin typeface="Calibri" pitchFamily="34" charset="0"/>
                <a:ea typeface="Calibri" pitchFamily="34" charset="-122"/>
                <a:cs typeface="Calibri" pitchFamily="34" charset="-120"/>
              </a:rPr>
              <a:t>🧭  Week 11  ·  Virtue: Perseverance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Today's Objectives</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6868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BIG QUESTION</a:t>
            </a:r>
            <a:endParaRPr lang="en-US" sz="1100" dirty="0"/>
          </a:p>
        </p:txBody>
      </p:sp>
      <p:sp>
        <p:nvSpPr>
          <p:cNvPr id="5" name="Shape 3"/>
          <p:cNvSpPr/>
          <p:nvPr/>
        </p:nvSpPr>
        <p:spPr>
          <a:xfrm>
            <a:off x="365760" y="1115568"/>
            <a:ext cx="8412480" cy="777240"/>
          </a:xfrm>
          <a:prstGeom prst="roundRect">
            <a:avLst>
              <a:gd name="adj" fmla="val 11765"/>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07008"/>
            <a:ext cx="7955280" cy="594360"/>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Today you read Chapter 10 and continue drafting your expository research piece. Keep asking: How do events in this chapter develop Nat’s character?</a:t>
            </a:r>
            <a:endParaRPr lang="en-US" sz="1300" dirty="0"/>
          </a:p>
        </p:txBody>
      </p:sp>
      <p:sp>
        <p:nvSpPr>
          <p:cNvPr id="7" name="Text 5"/>
          <p:cNvSpPr/>
          <p:nvPr/>
        </p:nvSpPr>
        <p:spPr>
          <a:xfrm>
            <a:off x="365760" y="20116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BY THE END OF THIS LESSON...</a:t>
            </a:r>
            <a:endParaRPr lang="en-US" sz="1100" dirty="0"/>
          </a:p>
        </p:txBody>
      </p:sp>
      <p:sp>
        <p:nvSpPr>
          <p:cNvPr id="8" name="Shape 6"/>
          <p:cNvSpPr/>
          <p:nvPr/>
        </p:nvSpPr>
        <p:spPr>
          <a:xfrm>
            <a:off x="365760" y="2286000"/>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48640" y="2359152"/>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Morphology: </a:t>
            </a:r>
            <a:pPr indent="0" marL="0">
              <a:buNone/>
            </a:pPr>
            <a:r>
              <a:rPr lang="en-US" sz="1250" dirty="0">
                <a:solidFill>
                  <a:srgbClr val="1E293B"/>
                </a:solidFill>
                <a:latin typeface="Calibri" pitchFamily="34" charset="0"/>
                <a:ea typeface="Calibri" pitchFamily="34" charset="-122"/>
                <a:cs typeface="Calibri" pitchFamily="34" charset="-120"/>
              </a:rPr>
              <a:t>Identify geo and terr in new scientific words.</a:t>
            </a:r>
            <a:endParaRPr lang="en-US" sz="1500" dirty="0"/>
          </a:p>
        </p:txBody>
      </p:sp>
      <p:sp>
        <p:nvSpPr>
          <p:cNvPr id="10" name="Shape 8"/>
          <p:cNvSpPr/>
          <p:nvPr/>
        </p:nvSpPr>
        <p:spPr>
          <a:xfrm>
            <a:off x="365760" y="3090672"/>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3163824"/>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Grammar SWYK: </a:t>
            </a:r>
            <a:pPr indent="0" marL="0">
              <a:buNone/>
            </a:pPr>
            <a:r>
              <a:rPr lang="en-US" sz="1250" dirty="0">
                <a:solidFill>
                  <a:srgbClr val="1E293B"/>
                </a:solidFill>
                <a:latin typeface="Calibri" pitchFamily="34" charset="0"/>
                <a:ea typeface="Calibri" pitchFamily="34" charset="-122"/>
                <a:cs typeface="Calibri" pitchFamily="34" charset="-120"/>
              </a:rPr>
              <a:t>Identify S-V agreement errors; write corrections.</a:t>
            </a:r>
            <a:endParaRPr lang="en-US" sz="1500" dirty="0"/>
          </a:p>
        </p:txBody>
      </p:sp>
      <p:sp>
        <p:nvSpPr>
          <p:cNvPr id="12" name="Shape 10"/>
          <p:cNvSpPr/>
          <p:nvPr/>
        </p:nvSpPr>
        <p:spPr>
          <a:xfrm>
            <a:off x="365760" y="3895344"/>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48640" y="3968496"/>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Spelling: </a:t>
            </a:r>
            <a:pPr indent="0" marL="0">
              <a:buNone/>
            </a:pPr>
            <a:r>
              <a:rPr lang="en-US" sz="1250" dirty="0">
                <a:solidFill>
                  <a:srgbClr val="1E293B"/>
                </a:solidFill>
                <a:latin typeface="Calibri" pitchFamily="34" charset="0"/>
                <a:ea typeface="Calibri" pitchFamily="34" charset="-122"/>
                <a:cs typeface="Calibri" pitchFamily="34" charset="-120"/>
              </a:rPr>
              <a:t>Identify the schwa syllable in academic words.</a:t>
            </a:r>
            <a:endParaRPr lang="en-US" sz="1500" dirty="0"/>
          </a:p>
        </p:txBody>
      </p:sp>
      <p:sp>
        <p:nvSpPr>
          <p:cNvPr id="14" name="Shape 12"/>
          <p:cNvSpPr/>
          <p:nvPr/>
        </p:nvSpPr>
        <p:spPr>
          <a:xfrm>
            <a:off x="365760" y="4700016"/>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15" name="Text 13"/>
          <p:cNvSpPr/>
          <p:nvPr/>
        </p:nvSpPr>
        <p:spPr>
          <a:xfrm>
            <a:off x="548640" y="4773168"/>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Reading: </a:t>
            </a:r>
            <a:pPr indent="0" marL="0">
              <a:buNone/>
            </a:pPr>
            <a:r>
              <a:rPr lang="en-US" sz="1250" dirty="0">
                <a:solidFill>
                  <a:srgbClr val="1E293B"/>
                </a:solidFill>
                <a:latin typeface="Calibri" pitchFamily="34" charset="0"/>
                <a:ea typeface="Calibri" pitchFamily="34" charset="-122"/>
                <a:cs typeface="Calibri" pitchFamily="34" charset="-120"/>
              </a:rPr>
              <a:t>Chapter 10 — Freedom</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What Good Readers Do</a:t>
            </a:r>
            <a:endParaRPr lang="en-US" sz="26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SET YOUR READING LENS</a:t>
            </a:r>
            <a:endParaRPr lang="en-US" sz="1100" dirty="0"/>
          </a:p>
        </p:txBody>
      </p:sp>
      <p:sp>
        <p:nvSpPr>
          <p:cNvPr id="5" name="Shape 3"/>
          <p:cNvSpPr/>
          <p:nvPr/>
        </p:nvSpPr>
        <p:spPr>
          <a:xfrm>
            <a:off x="365760" y="1078992"/>
            <a:ext cx="8412480" cy="1051560"/>
          </a:xfrm>
          <a:prstGeom prst="roundRect">
            <a:avLst>
              <a:gd name="adj" fmla="val 8696"/>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170432"/>
            <a:ext cx="7955280" cy="86868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Chapter 10 is a hinge in this book. After nine years, Nat’s indenture ends — and Latham must decide how to write this moment. Good readers notice how authors handle pivotal events: does the author dwell on emotion, rush past it, or show it obliquely? As you read, pay close attention to the craft choices Latham makes.</a:t>
            </a:r>
            <a:endParaRPr lang="en-US" sz="1300" dirty="0"/>
          </a:p>
        </p:txBody>
      </p:sp>
      <p:sp>
        <p:nvSpPr>
          <p:cNvPr id="7" name="Text 5"/>
          <p:cNvSpPr/>
          <p:nvPr/>
        </p:nvSpPr>
        <p:spPr>
          <a:xfrm>
            <a:off x="365760" y="228600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 WATCH FOR THIS AS YOU READ</a:t>
            </a:r>
            <a:endParaRPr lang="en-US" sz="1100" dirty="0"/>
          </a:p>
        </p:txBody>
      </p:sp>
      <p:sp>
        <p:nvSpPr>
          <p:cNvPr id="8" name="Shape 6"/>
          <p:cNvSpPr/>
          <p:nvPr/>
        </p:nvSpPr>
        <p:spPr>
          <a:xfrm>
            <a:off x="365760" y="2606040"/>
            <a:ext cx="8412480" cy="621792"/>
          </a:xfrm>
          <a:prstGeom prst="roundRect">
            <a:avLst>
              <a:gd name="adj" fmla="val 14706"/>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48640" y="2679192"/>
            <a:ext cx="8046720" cy="475488"/>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  How does Latham write the moment of Nat’s freedom? Does she dwell on Nat’s feelings, or show them through action?</a:t>
            </a:r>
            <a:endParaRPr lang="en-US" sz="1300" dirty="0"/>
          </a:p>
        </p:txBody>
      </p:sp>
      <p:sp>
        <p:nvSpPr>
          <p:cNvPr id="10" name="Shape 8"/>
          <p:cNvSpPr/>
          <p:nvPr/>
        </p:nvSpPr>
        <p:spPr>
          <a:xfrm>
            <a:off x="365760" y="3319272"/>
            <a:ext cx="8412480" cy="621792"/>
          </a:xfrm>
          <a:prstGeom prst="roundRect">
            <a:avLst>
              <a:gd name="adj" fmla="val 14706"/>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3392424"/>
            <a:ext cx="8046720" cy="475488"/>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  What does Nat do with his first day of freedom? What does that choice tell you about who he is?</a:t>
            </a:r>
            <a:endParaRPr lang="en-US" sz="1300" dirty="0"/>
          </a:p>
        </p:txBody>
      </p:sp>
      <p:sp>
        <p:nvSpPr>
          <p:cNvPr id="12" name="Shape 10"/>
          <p:cNvSpPr/>
          <p:nvPr/>
        </p:nvSpPr>
        <p:spPr>
          <a:xfrm>
            <a:off x="365760" y="4032504"/>
            <a:ext cx="8412480" cy="621792"/>
          </a:xfrm>
          <a:prstGeom prst="roundRect">
            <a:avLst>
              <a:gd name="adj" fmla="val 14706"/>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48640" y="4105656"/>
            <a:ext cx="8046720" cy="475488"/>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  What does signing on as supercargo of the Henry mean? What is Nat walking toward?</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Daily Oral Language — Study What's Right</a:t>
            </a:r>
            <a:endParaRPr lang="en-US" sz="26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CORRECT MODEL — TAP TO NOTICE</a:t>
            </a:r>
            <a:endParaRPr lang="en-US" sz="1100" dirty="0"/>
          </a:p>
        </p:txBody>
      </p:sp>
      <p:sp>
        <p:nvSpPr>
          <p:cNvPr id="5" name="Shape 3"/>
          <p:cNvSpPr/>
          <p:nvPr/>
        </p:nvSpPr>
        <p:spPr>
          <a:xfrm>
            <a:off x="365760" y="1078992"/>
            <a:ext cx="8412480" cy="914400"/>
          </a:xfrm>
          <a:prstGeom prst="roundRect">
            <a:avLst>
              <a:gd name="adj" fmla="val 10000"/>
            </a:avLst>
          </a:prstGeom>
          <a:solidFill>
            <a:srgbClr val="E8F8EF"/>
          </a:solidFill>
          <a:ln w="1270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48640" y="1188720"/>
            <a:ext cx="8046720" cy="68580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The record of Nat's errors in the almanac shows extraordinary mathematical skill.</a:t>
            </a:r>
            <a:endParaRPr lang="en-US" sz="1600" dirty="0"/>
          </a:p>
        </p:txBody>
      </p:sp>
      <p:sp>
        <p:nvSpPr>
          <p:cNvPr id="7" name="Text 5"/>
          <p:cNvSpPr/>
          <p:nvPr/>
        </p:nvSpPr>
        <p:spPr>
          <a:xfrm>
            <a:off x="365760" y="210312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WHAT EACH TAPPED WORD TEACHES</a:t>
            </a:r>
            <a:endParaRPr lang="en-US" sz="1100" dirty="0"/>
          </a:p>
        </p:txBody>
      </p:sp>
      <p:sp>
        <p:nvSpPr>
          <p:cNvPr id="8" name="Shape 6"/>
          <p:cNvSpPr/>
          <p:nvPr/>
        </p:nvSpPr>
        <p:spPr>
          <a:xfrm>
            <a:off x="365760" y="2377440"/>
            <a:ext cx="8412480" cy="512064"/>
          </a:xfrm>
          <a:prstGeom prst="roundRect">
            <a:avLst>
              <a:gd name="adj" fmla="val 17857"/>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48640" y="2432304"/>
            <a:ext cx="8046720" cy="402336"/>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The record  </a:t>
            </a:r>
            <a:pPr indent="0" marL="0">
              <a:buNone/>
            </a:pPr>
            <a:r>
              <a:rPr lang="en-US" sz="1200" dirty="0">
                <a:solidFill>
                  <a:srgbClr val="1E293B"/>
                </a:solidFill>
                <a:latin typeface="Calibri" pitchFamily="34" charset="0"/>
                <a:ea typeface="Calibri" pitchFamily="34" charset="-122"/>
                <a:cs typeface="Calibri" pitchFamily="34" charset="-120"/>
              </a:rPr>
              <a:t>Subject: “record” (singular). The phrase “of Nat's errors in the almanac” is between subject and verb but does not change it.</a:t>
            </a:r>
            <a:endParaRPr lang="en-US" sz="1300" dirty="0"/>
          </a:p>
        </p:txBody>
      </p:sp>
      <p:sp>
        <p:nvSpPr>
          <p:cNvPr id="10" name="Shape 8"/>
          <p:cNvSpPr/>
          <p:nvPr/>
        </p:nvSpPr>
        <p:spPr>
          <a:xfrm>
            <a:off x="365760" y="2953512"/>
            <a:ext cx="8412480" cy="512064"/>
          </a:xfrm>
          <a:prstGeom prst="roundRect">
            <a:avLst>
              <a:gd name="adj" fmla="val 17857"/>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3008376"/>
            <a:ext cx="8046720" cy="402336"/>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shows  </a:t>
            </a:r>
            <a:pPr indent="0" marL="0">
              <a:buNone/>
            </a:pPr>
            <a:r>
              <a:rPr lang="en-US" sz="1200" dirty="0">
                <a:solidFill>
                  <a:srgbClr val="1E293B"/>
                </a:solidFill>
                <a:latin typeface="Calibri" pitchFamily="34" charset="0"/>
                <a:ea typeface="Calibri" pitchFamily="34" charset="-122"/>
                <a:cs typeface="Calibri" pitchFamily="34" charset="-120"/>
              </a:rPr>
              <a:t>“shows” agrees with the singular subject “record” — not with “errors.”</a:t>
            </a:r>
            <a:endParaRPr lang="en-US" sz="1300" dirty="0"/>
          </a:p>
        </p:txBody>
      </p:sp>
      <p:sp>
        <p:nvSpPr>
          <p:cNvPr id="12" name="Shape 10"/>
          <p:cNvSpPr/>
          <p:nvPr/>
        </p:nvSpPr>
        <p:spPr>
          <a:xfrm>
            <a:off x="365760" y="3529584"/>
            <a:ext cx="8412480" cy="512064"/>
          </a:xfrm>
          <a:prstGeom prst="roundRect">
            <a:avLst>
              <a:gd name="adj" fmla="val 17857"/>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48640" y="3584448"/>
            <a:ext cx="8046720" cy="402336"/>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extraordinary  </a:t>
            </a:r>
            <a:pPr indent="0" marL="0">
              <a:buNone/>
            </a:pPr>
            <a:r>
              <a:rPr lang="en-US" sz="1200" dirty="0">
                <a:solidFill>
                  <a:srgbClr val="1E293B"/>
                </a:solidFill>
                <a:latin typeface="Calibri" pitchFamily="34" charset="0"/>
                <a:ea typeface="Calibri" pitchFamily="34" charset="-122"/>
                <a:cs typeface="Calibri" pitchFamily="34" charset="-120"/>
              </a:rPr>
              <a:t>“extraordinary” is an adjective — it has an unstressed schwa in the third syllable: ex-tra-OR-di-nar-y.</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Daily Oral Language — Fix It</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777240"/>
          </a:xfrm>
          <a:prstGeom prst="roundRect">
            <a:avLst>
              <a:gd name="adj" fmla="val 11765"/>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54864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the years of study at ropes and hodges has prepared nat for a life at sea</a:t>
            </a:r>
            <a:endParaRPr lang="en-US" sz="1600" dirty="0"/>
          </a:p>
        </p:txBody>
      </p:sp>
      <p:sp>
        <p:nvSpPr>
          <p:cNvPr id="9" name="Text 7"/>
          <p:cNvSpPr/>
          <p:nvPr/>
        </p:nvSpPr>
        <p:spPr>
          <a:xfrm>
            <a:off x="457200" y="1965960"/>
            <a:ext cx="8229600" cy="384048"/>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Rewrite the corrected sentence in your notebook.</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Daily Oral Language — Fix It</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777240"/>
          </a:xfrm>
          <a:prstGeom prst="roundRect">
            <a:avLst>
              <a:gd name="adj" fmla="val 11765"/>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54864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the years of study at ropes and hodges has prepared nat for a life at sea</a:t>
            </a:r>
            <a:endParaRPr lang="en-US" sz="1600" dirty="0"/>
          </a:p>
        </p:txBody>
      </p:sp>
      <p:sp>
        <p:nvSpPr>
          <p:cNvPr id="9" name="Text 7"/>
          <p:cNvSpPr/>
          <p:nvPr/>
        </p:nvSpPr>
        <p:spPr>
          <a:xfrm>
            <a:off x="457200" y="1965960"/>
            <a:ext cx="8229600" cy="384048"/>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Rewrite the corrected sentence in your notebook.</a:t>
            </a:r>
            <a:endParaRPr lang="en-US" sz="1500" dirty="0"/>
          </a:p>
        </p:txBody>
      </p:sp>
      <p:sp>
        <p:nvSpPr>
          <p:cNvPr id="10" name="Shape 8"/>
          <p:cNvSpPr/>
          <p:nvPr/>
        </p:nvSpPr>
        <p:spPr>
          <a:xfrm>
            <a:off x="365760" y="2468880"/>
            <a:ext cx="8412480" cy="1371600"/>
          </a:xfrm>
          <a:prstGeom prst="roundRect">
            <a:avLst>
              <a:gd name="adj" fmla="val 6667"/>
            </a:avLst>
          </a:prstGeom>
          <a:solidFill>
            <a:srgbClr val="E8F8EF"/>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56032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CORRECTED</a:t>
            </a:r>
            <a:endParaRPr lang="en-US" sz="1100" dirty="0"/>
          </a:p>
        </p:txBody>
      </p:sp>
      <p:sp>
        <p:nvSpPr>
          <p:cNvPr id="12" name="Text 10"/>
          <p:cNvSpPr/>
          <p:nvPr/>
        </p:nvSpPr>
        <p:spPr>
          <a:xfrm>
            <a:off x="594360" y="2834640"/>
            <a:ext cx="7955280" cy="457200"/>
          </a:xfrm>
          <a:prstGeom prst="rect">
            <a:avLst/>
          </a:prstGeom>
          <a:noFill/>
          <a:ln/>
        </p:spPr>
        <p:txBody>
          <a:bodyPr wrap="square" lIns="0" tIns="0" rIns="0" bIns="0" rtlCol="0" anchor="ctr"/>
          <a:lstStyle/>
          <a:p>
            <a:pPr indent="0" marL="0">
              <a:buNone/>
            </a:pPr>
            <a:r>
              <a:rPr lang="en-US" sz="1500" b="1" i="1" dirty="0">
                <a:solidFill>
                  <a:srgbClr val="1E293B"/>
                </a:solidFill>
                <a:latin typeface="Calibri" pitchFamily="34" charset="0"/>
                <a:ea typeface="Calibri" pitchFamily="34" charset="-122"/>
                <a:cs typeface="Calibri" pitchFamily="34" charset="-120"/>
              </a:rPr>
              <a:t>The years of study at Ropes and Hodges have prepared Nat for a life at sea.</a:t>
            </a:r>
            <a:endParaRPr lang="en-US" sz="1500" dirty="0"/>
          </a:p>
        </p:txBody>
      </p:sp>
      <p:sp>
        <p:nvSpPr>
          <p:cNvPr id="13" name="Text 11"/>
          <p:cNvSpPr/>
          <p:nvPr/>
        </p:nvSpPr>
        <p:spPr>
          <a:xfrm>
            <a:off x="594360" y="3310128"/>
            <a:ext cx="7955280" cy="45720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Fixes: capitalize “The”; “Ropes and Hodges” (proper noun); subject is “years” (plural) → “have” not “has.”</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Poetry Corner</a:t>
            </a:r>
            <a:endParaRPr lang="en-US" sz="26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Shape 2"/>
          <p:cNvSpPr/>
          <p:nvPr/>
        </p:nvSpPr>
        <p:spPr>
          <a:xfrm>
            <a:off x="365760" y="868680"/>
            <a:ext cx="8412480" cy="2423160"/>
          </a:xfrm>
          <a:prstGeom prst="roundRect">
            <a:avLst>
              <a:gd name="adj" fmla="val 3774"/>
            </a:avLst>
          </a:prstGeom>
          <a:solidFill>
            <a:srgbClr val="FEF6E8"/>
          </a:solidFill>
          <a:ln/>
          <a:effectLst>
            <a:outerShdw sx="100000" sy="100000" kx="0" ky="0" algn="bl" rotWithShape="0" blurRad="101600" dist="38100" dir="2700000">
              <a:srgbClr val="000000">
                <a:alpha val="12000"/>
              </a:srgbClr>
            </a:outerShdw>
          </a:effectLst>
        </p:spPr>
      </p:sp>
      <p:sp>
        <p:nvSpPr>
          <p:cNvPr id="5" name="Text 3"/>
          <p:cNvSpPr/>
          <p:nvPr/>
        </p:nvSpPr>
        <p:spPr>
          <a:xfrm>
            <a:off x="594360" y="960120"/>
            <a:ext cx="7955280" cy="365760"/>
          </a:xfrm>
          <a:prstGeom prst="rect">
            <a:avLst/>
          </a:prstGeom>
          <a:noFill/>
          <a:ln/>
        </p:spPr>
        <p:txBody>
          <a:bodyPr wrap="square" lIns="0" tIns="0" rIns="0" bIns="0" rtlCol="0" anchor="ctr"/>
          <a:lstStyle/>
          <a:p>
            <a:pPr indent="0" marL="0">
              <a:buNone/>
            </a:pPr>
            <a:r>
              <a:rPr lang="en-US" sz="2000" b="1" dirty="0">
                <a:solidFill>
                  <a:srgbClr val="0E1C42"/>
                </a:solidFill>
                <a:latin typeface="Calibri" pitchFamily="34" charset="0"/>
                <a:ea typeface="Calibri" pitchFamily="34" charset="-122"/>
                <a:cs typeface="Calibri" pitchFamily="34" charset="-120"/>
              </a:rPr>
              <a:t>“Sea Fever”</a:t>
            </a:r>
            <a:endParaRPr lang="en-US" sz="2000" dirty="0"/>
          </a:p>
        </p:txBody>
      </p:sp>
      <p:sp>
        <p:nvSpPr>
          <p:cNvPr id="6" name="Text 4"/>
          <p:cNvSpPr/>
          <p:nvPr/>
        </p:nvSpPr>
        <p:spPr>
          <a:xfrm>
            <a:off x="594360" y="1325880"/>
            <a:ext cx="7955280" cy="2743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by John Masefield, 1902 — public domain</a:t>
            </a:r>
            <a:endParaRPr lang="en-US" sz="1300" dirty="0"/>
          </a:p>
        </p:txBody>
      </p:sp>
      <p:sp>
        <p:nvSpPr>
          <p:cNvPr id="7" name="Text 5"/>
          <p:cNvSpPr/>
          <p:nvPr/>
        </p:nvSpPr>
        <p:spPr>
          <a:xfrm>
            <a:off x="594360" y="1645920"/>
            <a:ext cx="7955280" cy="1554480"/>
          </a:xfrm>
          <a:prstGeom prst="rect">
            <a:avLst/>
          </a:prstGeom>
          <a:noFill/>
          <a:ln/>
        </p:spPr>
        <p:txBody>
          <a:bodyPr wrap="square" lIns="0" tIns="0" rIns="0" bIns="0" rtlCol="0" anchor="t"/>
          <a:lstStyle/>
          <a:p>
            <a:pPr indent="0" marL="0">
              <a:buNone/>
            </a:pPr>
            <a:r>
              <a:rPr lang="en-US" sz="1500" i="1" dirty="0">
                <a:solidFill>
                  <a:srgbClr val="1E293B"/>
                </a:solidFill>
                <a:latin typeface="Georgia" pitchFamily="34" charset="0"/>
                <a:ea typeface="Georgia" pitchFamily="34" charset="-122"/>
                <a:cs typeface="Georgia" pitchFamily="34" charset="-120"/>
              </a:rPr>
              <a:t>I must go down to the seas again, to the lonely sea and the sky,</a:t>
            </a:r>
            <a:endParaRPr lang="en-US" sz="1500" dirty="0"/>
          </a:p>
          <a:p>
            <a:pPr indent="0" marL="0">
              <a:buNone/>
            </a:pPr>
            <a:r>
              <a:rPr lang="en-US" sz="1500" i="1" dirty="0">
                <a:solidFill>
                  <a:srgbClr val="1E293B"/>
                </a:solidFill>
                <a:latin typeface="Georgia" pitchFamily="34" charset="0"/>
                <a:ea typeface="Georgia" pitchFamily="34" charset="-122"/>
                <a:cs typeface="Georgia" pitchFamily="34" charset="-120"/>
              </a:rPr>
              <a:t>And all I ask is a tall ship and a star to steer her by;</a:t>
            </a:r>
            <a:endParaRPr lang="en-US" sz="1500" dirty="0"/>
          </a:p>
          <a:p>
            <a:pPr indent="0" marL="0">
              <a:buNone/>
            </a:pPr>
            <a:r>
              <a:rPr lang="en-US" sz="1500" i="1" dirty="0">
                <a:solidFill>
                  <a:srgbClr val="1E293B"/>
                </a:solidFill>
                <a:latin typeface="Georgia" pitchFamily="34" charset="0"/>
                <a:ea typeface="Georgia" pitchFamily="34" charset="-122"/>
                <a:cs typeface="Georgia" pitchFamily="34" charset="-120"/>
              </a:rPr>
              <a:t>And the wheel’s kick and the wind’s song and the white sail’s shaking,</a:t>
            </a:r>
            <a:endParaRPr lang="en-US" sz="1500" dirty="0"/>
          </a:p>
          <a:p>
            <a:pPr indent="0" marL="0">
              <a:buNone/>
            </a:pPr>
            <a:r>
              <a:rPr lang="en-US" sz="1500" i="1" dirty="0">
                <a:solidFill>
                  <a:srgbClr val="1E293B"/>
                </a:solidFill>
                <a:latin typeface="Georgia" pitchFamily="34" charset="0"/>
                <a:ea typeface="Georgia" pitchFamily="34" charset="-122"/>
                <a:cs typeface="Georgia" pitchFamily="34" charset="-120"/>
              </a:rPr>
              <a:t>And a grey mist on the sea’s face, and a grey dawn breaking.</a:t>
            </a:r>
            <a:endParaRPr lang="en-US" sz="1500" dirty="0"/>
          </a:p>
          <a:p>
            <a:pPr indent="0" marL="0">
              <a:buNone/>
            </a:pPr>
            <a:r>
              <a:rPr lang="en-US" sz="1500" i="1" dirty="0">
                <a:solidFill>
                  <a:srgbClr val="1E293B"/>
                </a:solidFill>
                <a:latin typeface="Georgia" pitchFamily="34" charset="0"/>
                <a:ea typeface="Georgia" pitchFamily="34" charset="-122"/>
                <a:cs typeface="Georgia" pitchFamily="34" charset="-120"/>
              </a:rPr>
              <a:t>I must go down to the seas again, for the call of the running tide</a:t>
            </a:r>
            <a:endParaRPr lang="en-US" sz="1500" dirty="0"/>
          </a:p>
          <a:p>
            <a:pPr indent="0" marL="0">
              <a:buNone/>
            </a:pPr>
            <a:r>
              <a:rPr lang="en-US" sz="1500" i="1" dirty="0">
                <a:solidFill>
                  <a:srgbClr val="1E293B"/>
                </a:solidFill>
                <a:latin typeface="Georgia" pitchFamily="34" charset="0"/>
                <a:ea typeface="Georgia" pitchFamily="34" charset="-122"/>
                <a:cs typeface="Georgia" pitchFamily="34" charset="-120"/>
              </a:rPr>
              <a:t>Is a wild call and a clear call that may not be denied.</a:t>
            </a:r>
            <a:endParaRPr lang="en-US" sz="1500" dirty="0"/>
          </a:p>
        </p:txBody>
      </p:sp>
      <p:sp>
        <p:nvSpPr>
          <p:cNvPr id="8" name="Text 6"/>
          <p:cNvSpPr/>
          <p:nvPr/>
        </p:nvSpPr>
        <p:spPr>
          <a:xfrm>
            <a:off x="365760" y="342900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THINK ABOUT THIS</a:t>
            </a:r>
            <a:endParaRPr lang="en-US" sz="1100" dirty="0"/>
          </a:p>
        </p:txBody>
      </p:sp>
      <p:sp>
        <p:nvSpPr>
          <p:cNvPr id="9" name="Shape 7"/>
          <p:cNvSpPr/>
          <p:nvPr/>
        </p:nvSpPr>
        <p:spPr>
          <a:xfrm>
            <a:off x="365760" y="3685032"/>
            <a:ext cx="8412480" cy="914400"/>
          </a:xfrm>
          <a:prstGeom prst="roundRect">
            <a:avLst>
              <a:gd name="adj" fmla="val 1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3776472"/>
            <a:ext cx="795528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Nat did not choose to go to sea for love of adventure — he chose it because it was the best use of his knowledge. Yet as he boards the Henry, does any part of Masefield’s poem fit? What is Nat’s “wild call and clear call”?</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Quick Write (Optional)</a:t>
            </a:r>
            <a:endParaRPr lang="en-US" sz="26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Text 2"/>
          <p:cNvSpPr/>
          <p:nvPr/>
        </p:nvSpPr>
        <p:spPr>
          <a:xfrm>
            <a:off x="457200" y="91440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 READ THE PROMPT — 1 MINUTE</a:t>
            </a:r>
            <a:endParaRPr lang="en-US" sz="1100" dirty="0"/>
          </a:p>
        </p:txBody>
      </p:sp>
      <p:sp>
        <p:nvSpPr>
          <p:cNvPr id="5" name="Shape 3"/>
          <p:cNvSpPr/>
          <p:nvPr/>
        </p:nvSpPr>
        <p:spPr>
          <a:xfrm>
            <a:off x="457200" y="1280160"/>
            <a:ext cx="8229600" cy="1463040"/>
          </a:xfrm>
          <a:prstGeom prst="roundRect">
            <a:avLst>
              <a:gd name="adj" fmla="val 6250"/>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640080" y="1389888"/>
            <a:ext cx="7863840" cy="123444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Nat finally earns his freedom in this chapter. Which cost more to earn it — the years of his indenture, or the effort he put into teaching himself? Defend your answer with evidence from Chapter 10.</a:t>
            </a:r>
            <a:endParaRPr lang="en-US" sz="1600" dirty="0"/>
          </a:p>
        </p:txBody>
      </p:sp>
      <p:sp>
        <p:nvSpPr>
          <p:cNvPr id="7" name="Text 5"/>
          <p:cNvSpPr/>
          <p:nvPr/>
        </p:nvSpPr>
        <p:spPr>
          <a:xfrm>
            <a:off x="457200" y="29260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SENTENCE SCAFFOLD (USE WHAT HELPS)</a:t>
            </a:r>
            <a:endParaRPr lang="en-US" sz="1100" dirty="0"/>
          </a:p>
        </p:txBody>
      </p:sp>
      <p:sp>
        <p:nvSpPr>
          <p:cNvPr id="8" name="Text 6"/>
          <p:cNvSpPr/>
          <p:nvPr/>
        </p:nvSpPr>
        <p:spPr>
          <a:xfrm>
            <a:off x="457200" y="3218688"/>
            <a:ext cx="8229600" cy="822960"/>
          </a:xfrm>
          <a:prstGeom prst="rect">
            <a:avLst/>
          </a:prstGeom>
          <a:noFill/>
          <a:ln/>
        </p:spPr>
        <p:txBody>
          <a:bodyPr wrap="square" lIns="0" tIns="0" rIns="0" bIns="0" rtlCol="0" anchor="ctr"/>
          <a:lstStyle/>
          <a:p>
            <a:pPr indent="0" marL="0">
              <a:buNone/>
            </a:pPr>
            <a:r>
              <a:rPr lang="en-US" sz="1150" i="1" dirty="0">
                <a:solidFill>
                  <a:srgbClr val="0E1C42"/>
                </a:solidFill>
                <a:latin typeface="Calibri" pitchFamily="34" charset="0"/>
                <a:ea typeface="Calibri" pitchFamily="34" charset="-122"/>
                <a:cs typeface="Calibri" pitchFamily="34" charset="-120"/>
              </a:rPr>
              <a:t>I think...   →   because...   →   One piece of evidence is...   →   Someone might disagree, but...</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EF6E8"/>
        </a:solidFill>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algn="ctr" indent="0" marL="0">
              <a:buNone/>
            </a:pPr>
            <a:r>
              <a:rPr lang="en-US" sz="3000" b="1" dirty="0">
                <a:solidFill>
                  <a:srgbClr val="0E1C42"/>
                </a:solidFill>
                <a:latin typeface="Calibri" pitchFamily="34" charset="0"/>
                <a:ea typeface="Calibri" pitchFamily="34" charset="-122"/>
                <a:cs typeface="Calibri" pitchFamily="34" charset="-120"/>
              </a:rPr>
              <a:t>✏️  Writing Time</a:t>
            </a:r>
            <a:endParaRPr lang="en-US" sz="3000" dirty="0"/>
          </a:p>
        </p:txBody>
      </p:sp>
      <p:sp>
        <p:nvSpPr>
          <p:cNvPr id="3" name="Text 1"/>
          <p:cNvSpPr/>
          <p:nvPr/>
        </p:nvSpPr>
        <p:spPr>
          <a:xfrm>
            <a:off x="914400" y="804672"/>
            <a:ext cx="7315200" cy="365760"/>
          </a:xfrm>
          <a:prstGeom prst="rect">
            <a:avLst/>
          </a:prstGeom>
          <a:noFill/>
          <a:ln/>
        </p:spPr>
        <p:txBody>
          <a:bodyPr wrap="square" lIns="0" tIns="0" rIns="0" bIns="0" rtlCol="0" anchor="ctr"/>
          <a:lstStyle/>
          <a:p>
            <a:pPr algn="ctr" indent="0" marL="0">
              <a:buNone/>
            </a:pPr>
            <a:r>
              <a:rPr lang="en-US" sz="1500" dirty="0">
                <a:solidFill>
                  <a:srgbClr val="C7922C"/>
                </a:solidFill>
                <a:latin typeface="Calibri" pitchFamily="34" charset="0"/>
                <a:ea typeface="Calibri" pitchFamily="34" charset="-122"/>
                <a:cs typeface="Calibri" pitchFamily="34" charset="-120"/>
              </a:rPr>
              <a:t>5 minutes — keep your pencil moving!</a:t>
            </a:r>
            <a:endParaRPr lang="en-US" sz="1500" dirty="0"/>
          </a:p>
        </p:txBody>
      </p:sp>
      <p:sp>
        <p:nvSpPr>
          <p:cNvPr id="4" name="Shape 2"/>
          <p:cNvSpPr/>
          <p:nvPr/>
        </p:nvSpPr>
        <p:spPr>
          <a:xfrm>
            <a:off x="457200" y="1325880"/>
            <a:ext cx="8229600" cy="1188720"/>
          </a:xfrm>
          <a:prstGeom prst="roundRect">
            <a:avLst>
              <a:gd name="adj" fmla="val 7692"/>
            </a:avLst>
          </a:prstGeom>
          <a:solidFill>
            <a:srgbClr val="FFFFFF"/>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371600"/>
            <a:ext cx="7863840" cy="1097280"/>
          </a:xfrm>
          <a:prstGeom prst="rect">
            <a:avLst/>
          </a:prstGeom>
          <a:noFill/>
          <a:ln/>
        </p:spPr>
        <p:txBody>
          <a:bodyPr wrap="square" lIns="0" tIns="0" rIns="0" bIns="0" rtlCol="0" anchor="t"/>
          <a:lstStyle/>
          <a:p>
            <a:pPr indent="0" marL="0">
              <a:buNone/>
            </a:pPr>
            <a:r>
              <a:rPr lang="en-US" sz="1200" b="1" dirty="0">
                <a:solidFill>
                  <a:srgbClr val="C7922C"/>
                </a:solidFill>
                <a:latin typeface="Calibri" pitchFamily="34" charset="0"/>
                <a:ea typeface="Calibri" pitchFamily="34" charset="-122"/>
                <a:cs typeface="Calibri" pitchFamily="34" charset="-120"/>
              </a:rPr>
              <a:t>📖 Prompt: </a:t>
            </a:r>
            <a:pPr indent="0" marL="0">
              <a:buNone/>
            </a:pPr>
            <a:r>
              <a:rPr lang="en-US" sz="1200" i="1" dirty="0">
                <a:solidFill>
                  <a:srgbClr val="1E293B"/>
                </a:solidFill>
                <a:latin typeface="Calibri" pitchFamily="34" charset="0"/>
                <a:ea typeface="Calibri" pitchFamily="34" charset="-122"/>
                <a:cs typeface="Calibri" pitchFamily="34" charset="-120"/>
              </a:rPr>
              <a:t>Nat finally earns his freedom in this chapter. Which cost more to earn it — the years of his indenture, or the effort he put into teaching himself? Defend your answer with evidence from Chapter 10.</a:t>
            </a:r>
            <a:endParaRPr lang="en-US" sz="1200" dirty="0"/>
          </a:p>
        </p:txBody>
      </p:sp>
      <p:sp>
        <p:nvSpPr>
          <p:cNvPr id="6" name="Shape 4"/>
          <p:cNvSpPr/>
          <p:nvPr/>
        </p:nvSpPr>
        <p:spPr>
          <a:xfrm>
            <a:off x="1554480" y="2743200"/>
            <a:ext cx="6035040" cy="1600200"/>
          </a:xfrm>
          <a:prstGeom prst="roundRect">
            <a:avLst>
              <a:gd name="adj" fmla="val 6857"/>
            </a:avLst>
          </a:prstGeom>
          <a:solidFill>
            <a:srgbClr val="FFFFFF"/>
          </a:solidFill>
          <a:ln/>
          <a:effectLst>
            <a:outerShdw sx="100000" sy="100000" kx="0" ky="0" algn="bl" rotWithShape="0" blurRad="101600" dist="38100" dir="2700000">
              <a:srgbClr val="000000">
                <a:alpha val="12000"/>
              </a:srgbClr>
            </a:outerShdw>
          </a:effectLst>
        </p:spPr>
      </p:sp>
      <p:sp>
        <p:nvSpPr>
          <p:cNvPr id="7" name="Text 5"/>
          <p:cNvSpPr/>
          <p:nvPr/>
        </p:nvSpPr>
        <p:spPr>
          <a:xfrm>
            <a:off x="1737360" y="2834640"/>
            <a:ext cx="5669280" cy="1417320"/>
          </a:xfrm>
          <a:prstGeom prst="rect">
            <a:avLst/>
          </a:prstGeom>
          <a:noFill/>
          <a:ln/>
        </p:spPr>
        <p:txBody>
          <a:bodyPr wrap="square" lIns="0" tIns="0" rIns="0" bIns="0" rtlCol="0" anchor="t"/>
          <a:lstStyle/>
          <a:p>
            <a:pPr indent="0" marL="0">
              <a:buNone/>
            </a:pPr>
            <a:r>
              <a:rPr lang="en-US" sz="1300" b="1" dirty="0">
                <a:solidFill>
                  <a:srgbClr val="0E1C42"/>
                </a:solidFill>
                <a:latin typeface="Calibri" pitchFamily="34" charset="0"/>
                <a:ea typeface="Calibri" pitchFamily="34" charset="-122"/>
                <a:cs typeface="Calibri" pitchFamily="34" charset="-120"/>
              </a:rPr>
              <a:t>Scaffold, if you need it:
</a:t>
            </a:r>
            <a:pPr indent="0" marL="0">
              <a:buNone/>
            </a:pPr>
            <a:r>
              <a:rPr lang="en-US" sz="1150" dirty="0">
                <a:solidFill>
                  <a:srgbClr val="1E293B"/>
                </a:solidFill>
                <a:latin typeface="Calibri" pitchFamily="34" charset="0"/>
                <a:ea typeface="Calibri" pitchFamily="34" charset="-122"/>
                <a:cs typeface="Calibri" pitchFamily="34" charset="-120"/>
              </a:rPr>
              <a:t>I think...</a:t>
            </a:r>
            <a:endParaRPr lang="en-US" sz="1300" dirty="0"/>
          </a:p>
          <a:p>
            <a:pPr indent="0" marL="0">
              <a:buNone/>
            </a:pPr>
            <a:r>
              <a:rPr lang="en-US" sz="1150" dirty="0">
                <a:solidFill>
                  <a:srgbClr val="1E293B"/>
                </a:solidFill>
                <a:latin typeface="Calibri" pitchFamily="34" charset="0"/>
                <a:ea typeface="Calibri" pitchFamily="34" charset="-122"/>
                <a:cs typeface="Calibri" pitchFamily="34" charset="-120"/>
              </a:rPr>
              <a:t>because...</a:t>
            </a:r>
            <a:endParaRPr lang="en-US" sz="1300" dirty="0"/>
          </a:p>
          <a:p>
            <a:pPr indent="0" marL="0">
              <a:buNone/>
            </a:pPr>
            <a:r>
              <a:rPr lang="en-US" sz="1150" dirty="0">
                <a:solidFill>
                  <a:srgbClr val="1E293B"/>
                </a:solidFill>
                <a:latin typeface="Calibri" pitchFamily="34" charset="0"/>
                <a:ea typeface="Calibri" pitchFamily="34" charset="-122"/>
                <a:cs typeface="Calibri" pitchFamily="34" charset="-120"/>
              </a:rPr>
              <a:t>One piece of evidence is...</a:t>
            </a:r>
            <a:endParaRPr lang="en-US" sz="1300" dirty="0"/>
          </a:p>
          <a:p>
            <a:pPr indent="0" marL="0">
              <a:buNone/>
            </a:pPr>
            <a:r>
              <a:rPr lang="en-US" sz="1150" dirty="0">
                <a:solidFill>
                  <a:srgbClr val="1E293B"/>
                </a:solidFill>
                <a:latin typeface="Calibri" pitchFamily="34" charset="0"/>
                <a:ea typeface="Calibri" pitchFamily="34" charset="-122"/>
                <a:cs typeface="Calibri" pitchFamily="34" charset="-120"/>
              </a:rPr>
              <a:t>Someone might disagree, but...</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8F8EF"/>
        </a:solidFill>
      </p:bgPr>
    </p:bg>
    <p:spTree>
      <p:nvGrpSpPr>
        <p:cNvPr id="1" name=""/>
        <p:cNvGrpSpPr/>
        <p:nvPr/>
      </p:nvGrpSpPr>
      <p:grpSpPr>
        <a:xfrm>
          <a:off x="0" y="0"/>
          <a:ext cx="0" cy="0"/>
          <a:chOff x="0" y="0"/>
          <a:chExt cx="0" cy="0"/>
        </a:xfrm>
      </p:grpSpPr>
      <p:sp>
        <p:nvSpPr>
          <p:cNvPr id="2" name="Text 0"/>
          <p:cNvSpPr/>
          <p:nvPr/>
        </p:nvSpPr>
        <p:spPr>
          <a:xfrm>
            <a:off x="3657600" y="320040"/>
            <a:ext cx="1828800" cy="548640"/>
          </a:xfrm>
          <a:prstGeom prst="rect">
            <a:avLst/>
          </a:prstGeom>
          <a:noFill/>
          <a:ln/>
        </p:spPr>
        <p:txBody>
          <a:bodyPr wrap="square" lIns="0" tIns="0" rIns="0" bIns="0" rtlCol="0" anchor="ctr"/>
          <a:lstStyle/>
          <a:p>
            <a:pPr algn="ctr" indent="0" marL="0">
              <a:buNone/>
            </a:pPr>
            <a:r>
              <a:rPr lang="en-US" sz="3600" dirty="0">
                <a:solidFill>
                  <a:srgbClr val="000000"/>
                </a:solidFill>
              </a:rPr>
              <a:t>🔍</a:t>
            </a:r>
            <a:endParaRPr lang="en-US" sz="3600" dirty="0"/>
          </a:p>
        </p:txBody>
      </p:sp>
      <p:sp>
        <p:nvSpPr>
          <p:cNvPr id="3" name="Text 1"/>
          <p:cNvSpPr/>
          <p:nvPr/>
        </p:nvSpPr>
        <p:spPr>
          <a:xfrm>
            <a:off x="914400" y="822960"/>
            <a:ext cx="7315200" cy="594360"/>
          </a:xfrm>
          <a:prstGeom prst="rect">
            <a:avLst/>
          </a:prstGeom>
          <a:noFill/>
          <a:ln/>
        </p:spPr>
        <p:txBody>
          <a:bodyPr wrap="square" lIns="0" tIns="0" rIns="0" bIns="0" rtlCol="0" anchor="ctr"/>
          <a:lstStyle/>
          <a:p>
            <a:pPr algn="ctr" indent="0" marL="0">
              <a:buNone/>
            </a:pPr>
            <a:r>
              <a:rPr lang="en-US" sz="2800" b="1" dirty="0">
                <a:solidFill>
                  <a:srgbClr val="0E1C42"/>
                </a:solidFill>
                <a:latin typeface="Calibri" pitchFamily="34" charset="0"/>
                <a:ea typeface="Calibri" pitchFamily="34" charset="-122"/>
                <a:cs typeface="Calibri" pitchFamily="34" charset="-120"/>
              </a:rPr>
              <a:t>Edit &amp; Revise</a:t>
            </a:r>
            <a:endParaRPr lang="en-US" sz="2800" dirty="0"/>
          </a:p>
        </p:txBody>
      </p:sp>
      <p:sp>
        <p:nvSpPr>
          <p:cNvPr id="4" name="Text 2"/>
          <p:cNvSpPr/>
          <p:nvPr/>
        </p:nvSpPr>
        <p:spPr>
          <a:xfrm>
            <a:off x="914400" y="1371600"/>
            <a:ext cx="7315200" cy="411480"/>
          </a:xfrm>
          <a:prstGeom prst="rect">
            <a:avLst/>
          </a:prstGeom>
          <a:noFill/>
          <a:ln/>
        </p:spPr>
        <p:txBody>
          <a:bodyPr wrap="square" lIns="0" tIns="0" rIns="0" bIns="0" rtlCol="0" anchor="ctr"/>
          <a:lstStyle/>
          <a:p>
            <a:pPr algn="ctr" indent="0" marL="0">
              <a:buNone/>
            </a:pPr>
            <a:r>
              <a:rPr lang="en-US" sz="1400" dirty="0">
                <a:solidFill>
                  <a:srgbClr val="34B76F"/>
                </a:solidFill>
                <a:latin typeface="Calibri" pitchFamily="34" charset="0"/>
                <a:ea typeface="Calibri" pitchFamily="34" charset="-122"/>
                <a:cs typeface="Calibri" pitchFamily="34" charset="-120"/>
              </a:rPr>
              <a:t>1 minute — one deliberate decision, not a full edit pass</a:t>
            </a:r>
            <a:endParaRPr lang="en-US" sz="1400" dirty="0"/>
          </a:p>
        </p:txBody>
      </p:sp>
      <p:sp>
        <p:nvSpPr>
          <p:cNvPr id="5" name="Shape 3"/>
          <p:cNvSpPr/>
          <p:nvPr/>
        </p:nvSpPr>
        <p:spPr>
          <a:xfrm>
            <a:off x="1188720" y="2011680"/>
            <a:ext cx="6766560" cy="777240"/>
          </a:xfrm>
          <a:prstGeom prst="roundRect">
            <a:avLst>
              <a:gd name="adj" fmla="val 11765"/>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1371600" y="2084832"/>
            <a:ext cx="6400800" cy="640080"/>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Today's revision check: </a:t>
            </a:r>
            <a:pPr indent="0" marL="0">
              <a:buNone/>
            </a:pPr>
            <a:r>
              <a:rPr lang="en-US" sz="1300" dirty="0">
                <a:solidFill>
                  <a:srgbClr val="1E293B"/>
                </a:solidFill>
                <a:latin typeface="Calibri" pitchFamily="34" charset="0"/>
                <a:ea typeface="Calibri" pitchFamily="34" charset="-122"/>
                <a:cs typeface="Calibri" pitchFamily="34" charset="-120"/>
              </a:rPr>
              <a:t>Could I combine two of these sentences to make my thinking clearer?</a:t>
            </a:r>
            <a:endParaRPr lang="en-US" sz="1300" dirty="0"/>
          </a:p>
        </p:txBody>
      </p:sp>
      <p:sp>
        <p:nvSpPr>
          <p:cNvPr id="7" name="Text 5"/>
          <p:cNvSpPr/>
          <p:nvPr/>
        </p:nvSpPr>
        <p:spPr>
          <a:xfrm>
            <a:off x="1188720" y="3017520"/>
            <a:ext cx="6766560" cy="457200"/>
          </a:xfrm>
          <a:prstGeom prst="rect">
            <a:avLst/>
          </a:prstGeom>
          <a:noFill/>
          <a:ln/>
        </p:spPr>
        <p:txBody>
          <a:bodyPr wrap="square" lIns="0" tIns="0" rIns="0" bIns="0" rtlCol="0" anchor="ctr"/>
          <a:lstStyle/>
          <a:p>
            <a:pPr algn="ctr" indent="0" marL="0">
              <a:buNone/>
            </a:pPr>
            <a:r>
              <a:rPr lang="en-US" sz="1200" i="1" dirty="0">
                <a:solidFill>
                  <a:srgbClr val="64748B"/>
                </a:solidFill>
                <a:latin typeface="Calibri" pitchFamily="34" charset="0"/>
                <a:ea typeface="Calibri" pitchFamily="34" charset="-122"/>
                <a:cs typeface="Calibri" pitchFamily="34" charset="-120"/>
              </a:rPr>
              <a:t>Revision = improving ideas. Editing = fixing conventions. Pick ONE thing.</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0" y="457200"/>
            <a:ext cx="1828800" cy="640080"/>
          </a:xfrm>
          <a:prstGeom prst="rect">
            <a:avLst/>
          </a:prstGeom>
          <a:noFill/>
          <a:ln/>
        </p:spPr>
        <p:txBody>
          <a:bodyPr wrap="square" lIns="0" tIns="0" rIns="0" bIns="0" rtlCol="0" anchor="ctr"/>
          <a:lstStyle/>
          <a:p>
            <a:pPr algn="ctr" indent="0" marL="0">
              <a:buNone/>
            </a:pPr>
            <a:r>
              <a:rPr lang="en-US" sz="4000" dirty="0">
                <a:solidFill>
                  <a:srgbClr val="000000"/>
                </a:solidFill>
              </a:rPr>
              <a:t>🗣️</a:t>
            </a:r>
            <a:endParaRPr lang="en-US" sz="4000" dirty="0"/>
          </a:p>
        </p:txBody>
      </p:sp>
      <p:sp>
        <p:nvSpPr>
          <p:cNvPr id="3" name="Text 1"/>
          <p:cNvSpPr/>
          <p:nvPr/>
        </p:nvSpPr>
        <p:spPr>
          <a:xfrm>
            <a:off x="914400" y="1005840"/>
            <a:ext cx="7315200" cy="594360"/>
          </a:xfrm>
          <a:prstGeom prst="rect">
            <a:avLst/>
          </a:prstGeom>
          <a:noFill/>
          <a:ln/>
        </p:spPr>
        <p:txBody>
          <a:bodyPr wrap="square" lIns="0" tIns="0" rIns="0" bIns="0" rtlCol="0" anchor="ctr"/>
          <a:lstStyle/>
          <a:p>
            <a:pPr algn="ctr" indent="0" marL="0">
              <a:buNone/>
            </a:pPr>
            <a:r>
              <a:rPr lang="en-US" sz="3000" b="1" dirty="0">
                <a:solidFill>
                  <a:srgbClr val="0E1C42"/>
                </a:solidFill>
                <a:latin typeface="Calibri" pitchFamily="34" charset="0"/>
                <a:ea typeface="Calibri" pitchFamily="34" charset="-122"/>
                <a:cs typeface="Calibri" pitchFamily="34" charset="-120"/>
              </a:rPr>
              <a:t>Share Time</a:t>
            </a:r>
            <a:endParaRPr lang="en-US" sz="3000" dirty="0"/>
          </a:p>
        </p:txBody>
      </p:sp>
      <p:sp>
        <p:nvSpPr>
          <p:cNvPr id="4" name="Text 2"/>
          <p:cNvSpPr/>
          <p:nvPr/>
        </p:nvSpPr>
        <p:spPr>
          <a:xfrm>
            <a:off x="914400" y="1554480"/>
            <a:ext cx="7315200" cy="411480"/>
          </a:xfrm>
          <a:prstGeom prst="rect">
            <a:avLst/>
          </a:prstGeom>
          <a:noFill/>
          <a:ln/>
        </p:spPr>
        <p:txBody>
          <a:bodyPr wrap="square" lIns="0" tIns="0" rIns="0" bIns="0" rtlCol="0" anchor="ctr"/>
          <a:lstStyle/>
          <a:p>
            <a:pPr algn="ctr" indent="0" marL="0">
              <a:buNone/>
            </a:pPr>
            <a:r>
              <a:rPr lang="en-US" sz="1500" dirty="0">
                <a:solidFill>
                  <a:srgbClr val="55C8E8"/>
                </a:solidFill>
                <a:latin typeface="Calibri" pitchFamily="34" charset="0"/>
                <a:ea typeface="Calibri" pitchFamily="34" charset="-122"/>
                <a:cs typeface="Calibri" pitchFamily="34" charset="-120"/>
              </a:rPr>
              <a:t>3 minutes — let's hear your thinking!</a:t>
            </a:r>
            <a:endParaRPr lang="en-US" sz="1500" dirty="0"/>
          </a:p>
        </p:txBody>
      </p:sp>
      <p:sp>
        <p:nvSpPr>
          <p:cNvPr id="5" name="Shape 3"/>
          <p:cNvSpPr/>
          <p:nvPr/>
        </p:nvSpPr>
        <p:spPr>
          <a:xfrm>
            <a:off x="1828800" y="2194560"/>
            <a:ext cx="5486400" cy="1371600"/>
          </a:xfrm>
          <a:prstGeom prst="roundRect">
            <a:avLst>
              <a:gd name="adj" fmla="val 8000"/>
            </a:avLst>
          </a:prstGeom>
          <a:solidFill>
            <a:srgbClr val="FFFFFF"/>
          </a:solidFill>
          <a:ln/>
          <a:effectLst>
            <a:outerShdw sx="100000" sy="100000" kx="0" ky="0" algn="bl" rotWithShape="0" blurRad="101600" dist="38100" dir="2700000">
              <a:srgbClr val="000000">
                <a:alpha val="12000"/>
              </a:srgbClr>
            </a:outerShdw>
          </a:effectLst>
        </p:spPr>
      </p:sp>
      <p:sp>
        <p:nvSpPr>
          <p:cNvPr id="6" name="Text 4"/>
          <p:cNvSpPr/>
          <p:nvPr/>
        </p:nvSpPr>
        <p:spPr>
          <a:xfrm>
            <a:off x="2011680" y="2286000"/>
            <a:ext cx="5120640" cy="1188720"/>
          </a:xfrm>
          <a:prstGeom prst="rect">
            <a:avLst/>
          </a:prstGeom>
          <a:noFill/>
          <a:ln/>
        </p:spPr>
        <p:txBody>
          <a:bodyPr wrap="square" lIns="0" tIns="0" rIns="0" bIns="0" rtlCol="0" anchor="t"/>
          <a:lstStyle/>
          <a:p>
            <a:pPr indent="0" marL="0">
              <a:buNone/>
            </a:pPr>
            <a:r>
              <a:rPr lang="en-US" sz="1300" b="1" dirty="0">
                <a:solidFill>
                  <a:srgbClr val="0E1C42"/>
                </a:solidFill>
                <a:latin typeface="Calibri" pitchFamily="34" charset="0"/>
                <a:ea typeface="Calibri" pitchFamily="34" charset="-122"/>
                <a:cs typeface="Calibri" pitchFamily="34" charset="-120"/>
              </a:rPr>
              <a:t>Raise your hand </a:t>
            </a:r>
            <a:pPr indent="0" marL="0">
              <a:buNone/>
            </a:pPr>
            <a:r>
              <a:rPr lang="en-US" sz="1300" dirty="0">
                <a:solidFill>
                  <a:srgbClr val="1E293B"/>
                </a:solidFill>
                <a:latin typeface="Calibri" pitchFamily="34" charset="0"/>
                <a:ea typeface="Calibri" pitchFamily="34" charset="-122"/>
                <a:cs typeface="Calibri" pitchFamily="34" charset="-120"/>
              </a:rPr>
              <a:t>to share, or paste your writing in the chat.
</a:t>
            </a:r>
            <a:pPr indent="0" marL="0">
              <a:buNone/>
            </a:pPr>
            <a:r>
              <a:rPr lang="en-US" sz="1200" i="1" dirty="0">
                <a:solidFill>
                  <a:srgbClr val="64748B"/>
                </a:solidFill>
                <a:latin typeface="Calibri" pitchFamily="34" charset="0"/>
                <a:ea typeface="Calibri" pitchFamily="34" charset="-122"/>
                <a:cs typeface="Calibri" pitchFamily="34" charset="-120"/>
              </a:rPr>
              <a:t>If you disagree with a classmate's choice, say so respectfully — that's part of the thinking.</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Morphology</a:t>
            </a:r>
            <a:endParaRPr lang="en-US" sz="26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Morphology: Identify geo and terr in New Words</a:t>
            </a:r>
            <a:endParaRPr lang="en-US" sz="1100" dirty="0"/>
          </a:p>
        </p:txBody>
      </p:sp>
      <p:sp>
        <p:nvSpPr>
          <p:cNvPr id="5" name="Shape 3"/>
          <p:cNvSpPr/>
          <p:nvPr/>
        </p:nvSpPr>
        <p:spPr>
          <a:xfrm>
            <a:off x="365760" y="1097280"/>
            <a:ext cx="8412480" cy="502920"/>
          </a:xfrm>
          <a:prstGeom prst="roundRect">
            <a:avLst>
              <a:gd name="adj" fmla="val 18182"/>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48640" y="1152144"/>
            <a:ext cx="8046720" cy="393192"/>
          </a:xfrm>
          <a:prstGeom prst="rect">
            <a:avLst/>
          </a:prstGeom>
          <a:noFill/>
          <a:ln/>
        </p:spPr>
        <p:txBody>
          <a:bodyPr wrap="square" lIns="0" tIns="0" rIns="0" bIns="0" rtlCol="0" anchor="ctr"/>
          <a:lstStyle/>
          <a:p>
            <a:pPr indent="0" marL="0">
              <a:buNone/>
            </a:pPr>
            <a:r>
              <a:rPr lang="en-US" sz="1150" dirty="0">
                <a:solidFill>
                  <a:srgbClr val="1E293B"/>
                </a:solidFill>
                <a:latin typeface="Calibri" pitchFamily="34" charset="0"/>
                <a:ea typeface="Calibri" pitchFamily="34" charset="-122"/>
                <a:cs typeface="Calibri" pitchFamily="34" charset="-120"/>
              </a:rPr>
              <a:t>geophysics → geo + physics → the physics of the earth : gravity, magnetism, seismic activity | subterranean → sub (below) + terr + anean → below the earth’s surface | Mediterranean → medi (middle) + terr + anean → the “middle of the land ” sea | geocentric → geo + centric (center) → having the earth as the center (old model of the solar system) | terrace → terr + ace → a flat area of land ; also a flat platform of a building</a:t>
            </a:r>
            <a:endParaRPr lang="en-US" sz="1150" dirty="0"/>
          </a:p>
        </p:txBody>
      </p:sp>
      <p:sp>
        <p:nvSpPr>
          <p:cNvPr id="7" name="Shape 5"/>
          <p:cNvSpPr/>
          <p:nvPr/>
        </p:nvSpPr>
        <p:spPr>
          <a:xfrm>
            <a:off x="365760" y="1664208"/>
            <a:ext cx="8412480" cy="502920"/>
          </a:xfrm>
          <a:prstGeom prst="roundRect">
            <a:avLst>
              <a:gd name="adj" fmla="val 18182"/>
            </a:avLst>
          </a:prstGeom>
          <a:solidFill>
            <a:srgbClr val="F8F4FF"/>
          </a:solidFill>
          <a:ln/>
          <a:effectLst>
            <a:outerShdw sx="100000" sy="100000" kx="0" ky="0" algn="bl" rotWithShape="0" blurRad="101600" dist="38100" dir="2700000">
              <a:srgbClr val="000000">
                <a:alpha val="12000"/>
              </a:srgbClr>
            </a:outerShdw>
          </a:effectLst>
        </p:spPr>
      </p:sp>
      <p:sp>
        <p:nvSpPr>
          <p:cNvPr id="8" name="Text 6"/>
          <p:cNvSpPr/>
          <p:nvPr/>
        </p:nvSpPr>
        <p:spPr>
          <a:xfrm>
            <a:off x="548640" y="1719072"/>
            <a:ext cx="8046720" cy="393192"/>
          </a:xfrm>
          <a:prstGeom prst="rect">
            <a:avLst/>
          </a:prstGeom>
          <a:noFill/>
          <a:ln/>
        </p:spPr>
        <p:txBody>
          <a:bodyPr wrap="square" lIns="0" tIns="0" rIns="0" bIns="0" rtlCol="0" anchor="ctr"/>
          <a:lstStyle/>
          <a:p>
            <a:pPr indent="0" marL="0">
              <a:buNone/>
            </a:pPr>
            <a:r>
              <a:rPr lang="en-US" sz="1150" dirty="0">
                <a:solidFill>
                  <a:srgbClr val="1E293B"/>
                </a:solidFill>
                <a:latin typeface="Calibri" pitchFamily="34" charset="0"/>
                <a:ea typeface="Calibri" pitchFamily="34" charset="-122"/>
                <a:cs typeface="Calibri" pitchFamily="34" charset="-120"/>
              </a:rPr>
              <a:t>subterranean = beneath the surface of the earth</a:t>
            </a:r>
            <a:endParaRPr lang="en-US" sz="1150" dirty="0"/>
          </a:p>
        </p:txBody>
      </p:sp>
      <p:sp>
        <p:nvSpPr>
          <p:cNvPr id="9" name="Shape 7"/>
          <p:cNvSpPr/>
          <p:nvPr/>
        </p:nvSpPr>
        <p:spPr>
          <a:xfrm>
            <a:off x="365760" y="2231136"/>
            <a:ext cx="8412480" cy="502920"/>
          </a:xfrm>
          <a:prstGeom prst="roundRect">
            <a:avLst>
              <a:gd name="adj" fmla="val 18182"/>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2286000"/>
            <a:ext cx="8046720" cy="393192"/>
          </a:xfrm>
          <a:prstGeom prst="rect">
            <a:avLst/>
          </a:prstGeom>
          <a:noFill/>
          <a:ln/>
        </p:spPr>
        <p:txBody>
          <a:bodyPr wrap="square" lIns="0" tIns="0" rIns="0" bIns="0" rtlCol="0" anchor="ctr"/>
          <a:lstStyle/>
          <a:p>
            <a:pPr indent="0" marL="0">
              <a:buNone/>
            </a:pPr>
            <a:r>
              <a:rPr lang="en-US" sz="1150" dirty="0">
                <a:solidFill>
                  <a:srgbClr val="1E293B"/>
                </a:solidFill>
                <a:latin typeface="Calibri" pitchFamily="34" charset="0"/>
                <a:ea typeface="Calibri" pitchFamily="34" charset="-122"/>
                <a:cs typeface="Calibri" pitchFamily="34" charset="-120"/>
              </a:rPr>
              <a:t>Mediterranean = the sea between Europe, Africa, and Asia — “middle of the land”</a:t>
            </a:r>
            <a:endParaRPr lang="en-US" sz="1150" dirty="0"/>
          </a:p>
        </p:txBody>
      </p:sp>
      <p:sp>
        <p:nvSpPr>
          <p:cNvPr id="11" name="Shape 9"/>
          <p:cNvSpPr/>
          <p:nvPr/>
        </p:nvSpPr>
        <p:spPr>
          <a:xfrm>
            <a:off x="365760" y="2798064"/>
            <a:ext cx="8412480" cy="502920"/>
          </a:xfrm>
          <a:prstGeom prst="roundRect">
            <a:avLst>
              <a:gd name="adj" fmla="val 18182"/>
            </a:avLst>
          </a:prstGeom>
          <a:solidFill>
            <a:srgbClr val="F8F4FF"/>
          </a:solidFill>
          <a:ln/>
          <a:effectLst>
            <a:outerShdw sx="100000" sy="100000" kx="0" ky="0" algn="bl" rotWithShape="0" blurRad="101600" dist="38100" dir="2700000">
              <a:srgbClr val="000000">
                <a:alpha val="12000"/>
              </a:srgbClr>
            </a:outerShdw>
          </a:effectLst>
        </p:spPr>
      </p:sp>
      <p:sp>
        <p:nvSpPr>
          <p:cNvPr id="12" name="Text 10"/>
          <p:cNvSpPr/>
          <p:nvPr/>
        </p:nvSpPr>
        <p:spPr>
          <a:xfrm>
            <a:off x="548640" y="2852928"/>
            <a:ext cx="8046720" cy="393192"/>
          </a:xfrm>
          <a:prstGeom prst="rect">
            <a:avLst/>
          </a:prstGeom>
          <a:noFill/>
          <a:ln/>
        </p:spPr>
        <p:txBody>
          <a:bodyPr wrap="square" lIns="0" tIns="0" rIns="0" bIns="0" rtlCol="0" anchor="ctr"/>
          <a:lstStyle/>
          <a:p>
            <a:pPr indent="0" marL="0">
              <a:buNone/>
            </a:pPr>
            <a:r>
              <a:rPr lang="en-US" sz="1150" dirty="0">
                <a:solidFill>
                  <a:srgbClr val="1E293B"/>
                </a:solidFill>
                <a:latin typeface="Calibri" pitchFamily="34" charset="0"/>
                <a:ea typeface="Calibri" pitchFamily="34" charset="-122"/>
                <a:cs typeface="Calibri" pitchFamily="34" charset="-120"/>
              </a:rPr>
              <a:t>geocentric = placing the earth at the center of the solar system</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Vocabulary — Sort or Match</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Identify — sort this week’s words by domain</a:t>
            </a:r>
            <a:endParaRPr lang="en-US" sz="1100" dirty="0"/>
          </a:p>
        </p:txBody>
      </p:sp>
      <p:sp>
        <p:nvSpPr>
          <p:cNvPr id="5" name="Text 3"/>
          <p:cNvSpPr/>
          <p:nvPr/>
        </p:nvSpPr>
        <p:spPr>
          <a:xfrm>
            <a:off x="365760" y="1097280"/>
            <a:ext cx="4023360" cy="320040"/>
          </a:xfrm>
          <a:prstGeom prst="rect">
            <a:avLst/>
          </a:prstGeom>
          <a:noFill/>
          <a:ln/>
        </p:spPr>
        <p:txBody>
          <a:bodyPr wrap="square" lIns="0" tIns="0" rIns="0" bIns="0" rtlCol="0" anchor="ctr"/>
          <a:lstStyle/>
          <a:p>
            <a:pPr indent="0" marL="0">
              <a:buNone/>
            </a:pPr>
            <a:r>
              <a:rPr lang="en-US" sz="1300" b="1" dirty="0">
                <a:solidFill>
                  <a:srgbClr val="0E1C42"/>
                </a:solidFill>
                <a:latin typeface="Calibri" pitchFamily="34" charset="0"/>
                <a:ea typeface="Calibri" pitchFamily="34" charset="-122"/>
                <a:cs typeface="Calibri" pitchFamily="34" charset="-120"/>
              </a:rPr>
              <a:t>Mathematics &amp; Science</a:t>
            </a:r>
            <a:endParaRPr lang="en-US" sz="1300" dirty="0"/>
          </a:p>
        </p:txBody>
      </p:sp>
      <p:sp>
        <p:nvSpPr>
          <p:cNvPr id="6" name="Text 4"/>
          <p:cNvSpPr/>
          <p:nvPr/>
        </p:nvSpPr>
        <p:spPr>
          <a:xfrm>
            <a:off x="365760" y="1481328"/>
            <a:ext cx="4023360" cy="182880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longitude  ·  terrestrial  ·  prospect</a:t>
            </a:r>
            <a:endParaRPr lang="en-US" sz="1300" dirty="0"/>
          </a:p>
        </p:txBody>
      </p:sp>
      <p:sp>
        <p:nvSpPr>
          <p:cNvPr id="7" name="Text 5"/>
          <p:cNvSpPr/>
          <p:nvPr/>
        </p:nvSpPr>
        <p:spPr>
          <a:xfrm>
            <a:off x="4663440" y="1097280"/>
            <a:ext cx="4023360" cy="320040"/>
          </a:xfrm>
          <a:prstGeom prst="rect">
            <a:avLst/>
          </a:prstGeom>
          <a:noFill/>
          <a:ln/>
        </p:spPr>
        <p:txBody>
          <a:bodyPr wrap="square" lIns="0" tIns="0" rIns="0" bIns="0" rtlCol="0" anchor="ctr"/>
          <a:lstStyle/>
          <a:p>
            <a:pPr indent="0" marL="0">
              <a:buNone/>
            </a:pPr>
            <a:r>
              <a:rPr lang="en-US" sz="1300" b="1" dirty="0">
                <a:solidFill>
                  <a:srgbClr val="0E1C42"/>
                </a:solidFill>
                <a:latin typeface="Calibri" pitchFamily="34" charset="0"/>
                <a:ea typeface="Calibri" pitchFamily="34" charset="-122"/>
                <a:cs typeface="Calibri" pitchFamily="34" charset="-120"/>
              </a:rPr>
              <a:t>Ships &amp; Navigation</a:t>
            </a:r>
            <a:endParaRPr lang="en-US" sz="1300" dirty="0"/>
          </a:p>
        </p:txBody>
      </p:sp>
      <p:sp>
        <p:nvSpPr>
          <p:cNvPr id="8" name="Text 6"/>
          <p:cNvSpPr/>
          <p:nvPr/>
        </p:nvSpPr>
        <p:spPr>
          <a:xfrm>
            <a:off x="4663440" y="1481328"/>
            <a:ext cx="4023360" cy="182880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supercargo  ·  observation  ·  navigate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Grammar — ✏️ Grammar SWYK: Identify Agreement Errors</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Spot the error — show what you know</a:t>
            </a:r>
            <a:endParaRPr lang="en-US" sz="1100" dirty="0"/>
          </a:p>
        </p:txBody>
      </p:sp>
      <p:sp>
        <p:nvSpPr>
          <p:cNvPr id="7" name="Shape 5"/>
          <p:cNvSpPr/>
          <p:nvPr/>
        </p:nvSpPr>
        <p:spPr>
          <a:xfrm>
            <a:off x="365760" y="114300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48640" y="1197864"/>
            <a:ext cx="8046720" cy="54864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“The tables in Moore’s Almanac was full of errors.”</a:t>
            </a:r>
            <a:pPr indent="0" marL="0">
              <a:buNone/>
            </a:pPr>
            <a:endParaRPr lang="en-US" sz="1200" dirty="0"/>
          </a:p>
          <a:p>
            <a:pPr indent="0" marL="0">
              <a:buNone/>
            </a:pPr>
            <a:r>
              <a:rPr lang="en-US" sz="1100" dirty="0">
                <a:solidFill>
                  <a:srgbClr val="64748B"/>
                </a:solidFill>
                <a:latin typeface="Calibri" pitchFamily="34" charset="0"/>
                <a:ea typeface="Calibri" pitchFamily="34" charset="-122"/>
                <a:cs typeface="Calibri" pitchFamily="34" charset="-120"/>
              </a:rPr>
              <a:t>Error — “tables” is the subject (plural); should be “were”   /   Correct as written</a:t>
            </a:r>
            <a:endParaRPr lang="en-US" sz="1200" dirty="0"/>
          </a:p>
        </p:txBody>
      </p:sp>
      <p:sp>
        <p:nvSpPr>
          <p:cNvPr id="9" name="Shape 7"/>
          <p:cNvSpPr/>
          <p:nvPr/>
        </p:nvSpPr>
        <p:spPr>
          <a:xfrm>
            <a:off x="365760" y="187452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1929384"/>
            <a:ext cx="8046720" cy="54864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“The ship, along with its crew of twelve, was bound for Cadiz.”</a:t>
            </a:r>
            <a:pPr indent="0" marL="0">
              <a:buNone/>
            </a:pPr>
            <a:endParaRPr lang="en-US" sz="1200" dirty="0"/>
          </a:p>
          <a:p>
            <a:pPr indent="0" marL="0">
              <a:buNone/>
            </a:pPr>
            <a:r>
              <a:rPr lang="en-US" sz="1100" dirty="0">
                <a:solidFill>
                  <a:srgbClr val="64748B"/>
                </a:solidFill>
                <a:latin typeface="Calibri" pitchFamily="34" charset="0"/>
                <a:ea typeface="Calibri" pitchFamily="34" charset="-122"/>
                <a:cs typeface="Calibri" pitchFamily="34" charset="-120"/>
              </a:rPr>
              <a:t>Error — “along with its crew” makes the subject plural   /   Correct — “ship” is singular; “along with” is a phrase, not “and”</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Grammar — ✏️ Grammar SWYK: Identify Agreement Errors</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Spot the error — show what you know</a:t>
            </a:r>
            <a:endParaRPr lang="en-US" sz="1100" dirty="0"/>
          </a:p>
        </p:txBody>
      </p:sp>
      <p:sp>
        <p:nvSpPr>
          <p:cNvPr id="7" name="Shape 5"/>
          <p:cNvSpPr/>
          <p:nvPr/>
        </p:nvSpPr>
        <p:spPr>
          <a:xfrm>
            <a:off x="365760" y="114300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48640" y="1197864"/>
            <a:ext cx="8046720" cy="54864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“The tables in Moore’s Almanac was full of errors.”
</a:t>
            </a:r>
            <a:pPr indent="0" marL="0">
              <a:buNone/>
            </a:pPr>
            <a:r>
              <a:rPr lang="en-US" sz="1200" b="1" dirty="0">
                <a:solidFill>
                  <a:srgbClr val="34B76F"/>
                </a:solidFill>
                <a:latin typeface="Calibri" pitchFamily="34" charset="0"/>
                <a:ea typeface="Calibri" pitchFamily="34" charset="-122"/>
                <a:cs typeface="Calibri" pitchFamily="34" charset="-120"/>
              </a:rPr>
              <a:t>✅ Error — “tables” is the subject (plural); should be “were”</a:t>
            </a:r>
            <a:endParaRPr lang="en-US" sz="1200" dirty="0"/>
          </a:p>
        </p:txBody>
      </p:sp>
      <p:sp>
        <p:nvSpPr>
          <p:cNvPr id="9" name="Shape 7"/>
          <p:cNvSpPr/>
          <p:nvPr/>
        </p:nvSpPr>
        <p:spPr>
          <a:xfrm>
            <a:off x="365760" y="187452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1929384"/>
            <a:ext cx="8046720" cy="54864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“The ship, along with its crew of twelve, was bound for Cadiz.”
</a:t>
            </a:r>
            <a:pPr indent="0" marL="0">
              <a:buNone/>
            </a:pPr>
            <a:r>
              <a:rPr lang="en-US" sz="1200" b="1" dirty="0">
                <a:solidFill>
                  <a:srgbClr val="34B76F"/>
                </a:solidFill>
                <a:latin typeface="Calibri" pitchFamily="34" charset="0"/>
                <a:ea typeface="Calibri" pitchFamily="34" charset="-122"/>
                <a:cs typeface="Calibri" pitchFamily="34" charset="-120"/>
              </a:rPr>
              <a:t>✅ Correct — “ship” is singular; “along with” is a phrase, not “and”</a:t>
            </a:r>
            <a:endParaRPr lang="en-US" sz="1200" dirty="0"/>
          </a:p>
        </p:txBody>
      </p:sp>
      <p:sp>
        <p:nvSpPr>
          <p:cNvPr id="11" name="Shape 9"/>
          <p:cNvSpPr/>
          <p:nvPr/>
        </p:nvSpPr>
        <p:spPr>
          <a:xfrm>
            <a:off x="365760" y="2624328"/>
            <a:ext cx="8412480" cy="685800"/>
          </a:xfrm>
          <a:prstGeom prst="roundRect">
            <a:avLst>
              <a:gd name="adj" fmla="val 13333"/>
            </a:avLst>
          </a:prstGeom>
          <a:solidFill>
            <a:srgbClr val="FEF6E8"/>
          </a:solidFill>
          <a:ln w="12700">
            <a:solidFill>
              <a:srgbClr val="C7922C"/>
            </a:solidFill>
            <a:prstDash val="solid"/>
          </a:ln>
        </p:spPr>
      </p:sp>
      <p:sp>
        <p:nvSpPr>
          <p:cNvPr id="12" name="Text 10"/>
          <p:cNvSpPr/>
          <p:nvPr/>
        </p:nvSpPr>
        <p:spPr>
          <a:xfrm>
            <a:off x="548640" y="2679192"/>
            <a:ext cx="8046720" cy="548640"/>
          </a:xfrm>
          <a:prstGeom prst="rect">
            <a:avLst/>
          </a:prstGeom>
          <a:noFill/>
          <a:ln/>
        </p:spPr>
        <p:txBody>
          <a:bodyPr wrap="square" lIns="0" tIns="0" rIns="0" bIns="0" rtlCol="0" anchor="t"/>
          <a:lstStyle/>
          <a:p>
            <a:pPr indent="0" marL="0">
              <a:buNone/>
            </a:pPr>
            <a:r>
              <a:rPr lang="en-US" sz="1000" b="1" dirty="0">
                <a:solidFill>
                  <a:srgbClr val="C7922C"/>
                </a:solidFill>
                <a:latin typeface="Calibri" pitchFamily="34" charset="0"/>
                <a:ea typeface="Calibri" pitchFamily="34" charset="-122"/>
                <a:cs typeface="Calibri" pitchFamily="34" charset="-120"/>
              </a:rPr>
              <a:t>🫖 Show What You Know · Grammar
</a:t>
            </a:r>
            <a:pPr indent="0" marL="0">
              <a:buNone/>
            </a:pPr>
            <a:r>
              <a:rPr lang="en-US" sz="1000" i="1" dirty="0">
                <a:solidFill>
                  <a:srgbClr val="1E293B"/>
                </a:solidFill>
                <a:latin typeface="Calibri" pitchFamily="34" charset="0"/>
                <a:ea typeface="Calibri" pitchFamily="34" charset="-122"/>
                <a:cs typeface="Calibri" pitchFamily="34" charset="-120"/>
              </a:rPr>
              <a:t>Each sentence has an intervening phrase. Find the actual subject, choose the correct verb, and write the corrected sentence. Then write your own sentence about Nat using an intervening phrase correctly.</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Spelling — 🔤 Spelling: Identify the Schwa</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0E1C42"/>
                </a:solidFill>
                <a:latin typeface="Calibri" pitchFamily="34" charset="0"/>
                <a:ea typeface="Calibri" pitchFamily="34" charset="-122"/>
                <a:cs typeface="Calibri" pitchFamily="34" charset="-120"/>
              </a:rPr>
              <a:t>Identify — mark the schwa syllable in each word</a:t>
            </a:r>
            <a:endParaRPr lang="en-US" sz="1100" dirty="0"/>
          </a:p>
        </p:txBody>
      </p:sp>
      <p:sp>
        <p:nvSpPr>
          <p:cNvPr id="7" name="Shape 5"/>
          <p:cNvSpPr/>
          <p:nvPr/>
        </p:nvSpPr>
        <p:spPr>
          <a:xfrm>
            <a:off x="365760" y="1143000"/>
            <a:ext cx="8412480" cy="777240"/>
          </a:xfrm>
          <a:prstGeom prst="roundRect">
            <a:avLst>
              <a:gd name="adj" fmla="val 11765"/>
            </a:avLst>
          </a:prstGeom>
          <a:solidFill>
            <a:srgbClr val="F8FAFC"/>
          </a:solidFill>
          <a:ln/>
          <a:effectLst>
            <a:outerShdw sx="100000" sy="100000" kx="0" ky="0" algn="bl" rotWithShape="0" blurRad="101600" dist="38100" dir="2700000">
              <a:srgbClr val="000000">
                <a:alpha val="12000"/>
              </a:srgbClr>
            </a:outerShdw>
          </a:effectLst>
        </p:spPr>
      </p:sp>
      <p:sp>
        <p:nvSpPr>
          <p:cNvPr id="8" name="Text 6"/>
          <p:cNvSpPr/>
          <p:nvPr/>
        </p:nvSpPr>
        <p:spPr>
          <a:xfrm>
            <a:off x="548640" y="1207008"/>
            <a:ext cx="8046720" cy="649224"/>
          </a:xfrm>
          <a:prstGeom prst="rect">
            <a:avLst/>
          </a:prstGeom>
          <a:noFill/>
          <a:ln/>
        </p:spPr>
        <p:txBody>
          <a:bodyPr wrap="square" lIns="0" tIns="0" rIns="0" bIns="0" rtlCol="0" anchor="ctr"/>
          <a:lstStyle/>
          <a:p>
            <a:pPr indent="0" marL="0">
              <a:buNone/>
            </a:pPr>
            <a:r>
              <a:rPr lang="en-US" sz="1150" b="1" dirty="0">
                <a:solidFill>
                  <a:srgbClr val="0E1C42"/>
                </a:solidFill>
                <a:latin typeface="Calibri" pitchFamily="34" charset="0"/>
                <a:ea typeface="Calibri" pitchFamily="34" charset="-122"/>
                <a:cs typeface="Calibri" pitchFamily="34" charset="-120"/>
              </a:rPr>
              <a:t>✏️ Identify the schwa syllable in your journal
</a:t>
            </a:r>
            <a:pPr indent="0" marL="0">
              <a:buNone/>
            </a:pPr>
            <a:r>
              <a:rPr lang="en-US" sz="1100" dirty="0">
                <a:solidFill>
                  <a:srgbClr val="1E293B"/>
                </a:solidFill>
                <a:latin typeface="Calibri" pitchFamily="34" charset="0"/>
                <a:ea typeface="Calibri" pitchFamily="34" charset="-122"/>
                <a:cs typeface="Calibri" pitchFamily="34" charset="-120"/>
              </a:rPr>
              <a:t>Write each word, mark its syllables with dots, then circle the schwa syllable. nav·i·ga·tion — which syllable has the schwa? (nav- i -ga-tion → the “i”) ter·ri·to·ry — ter-ri- to -ry → which vowel is unstressed? ob·ser·va·tion — ob -ser-va-tion → the first syllable cal·cu·la·tion — cal-cu- la -tion → the third syllable 📓 In your reading journal: write each word, underline the schwa syllable, and write the vowel letter that makes the schwa sound.</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Reading Focus + Story Journey</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YOUR STORY JOURNEY</a:t>
            </a:r>
            <a:endParaRPr lang="en-US" sz="1100" dirty="0"/>
          </a:p>
        </p:txBody>
      </p:sp>
      <p:sp>
        <p:nvSpPr>
          <p:cNvPr id="7" name="Shape 5"/>
          <p:cNvSpPr/>
          <p:nvPr/>
        </p:nvSpPr>
        <p:spPr>
          <a:xfrm>
            <a:off x="365760" y="1078992"/>
            <a:ext cx="8412480" cy="777240"/>
          </a:xfrm>
          <a:prstGeom prst="roundRect">
            <a:avLst>
              <a:gd name="adj" fmla="val 11765"/>
            </a:avLst>
          </a:prstGeom>
          <a:solidFill>
            <a:srgbClr val="F8FAFC"/>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70432"/>
            <a:ext cx="7955280" cy="594360"/>
          </a:xfrm>
          <a:prstGeom prst="rect">
            <a:avLst/>
          </a:prstGeom>
          <a:noFill/>
          <a:ln/>
        </p:spPr>
        <p:txBody>
          <a:bodyPr wrap="square" lIns="0" tIns="0" rIns="0" bIns="0" rtlCol="0" anchor="ctr"/>
          <a:lstStyle/>
          <a:p>
            <a:pPr indent="0" marL="0">
              <a:buNone/>
            </a:pPr>
            <a:r>
              <a:rPr lang="en-US" sz="1250" b="1" dirty="0">
                <a:solidFill>
                  <a:srgbClr val="1E293B"/>
                </a:solidFill>
                <a:latin typeface="Calibri" pitchFamily="34" charset="0"/>
                <a:ea typeface="Calibri" pitchFamily="34" charset="-122"/>
                <a:cs typeface="Calibri" pitchFamily="34" charset="-120"/>
              </a:rPr>
              <a:t>Six Weeks with Carry On, Mr. Bowditch — 📍 You are here: Week 11 — Chapter 10 — Freedom</a:t>
            </a:r>
            <a:endParaRPr lang="en-US" sz="1250" dirty="0"/>
          </a:p>
        </p:txBody>
      </p:sp>
      <p:sp>
        <p:nvSpPr>
          <p:cNvPr id="9" name="Text 7"/>
          <p:cNvSpPr/>
          <p:nvPr/>
        </p:nvSpPr>
        <p:spPr>
          <a:xfrm>
            <a:off x="365760" y="1975104"/>
            <a:ext cx="8046720" cy="292608"/>
          </a:xfrm>
          <a:prstGeom prst="rect">
            <a:avLst/>
          </a:prstGeom>
          <a:noFill/>
          <a:ln/>
        </p:spPr>
        <p:txBody>
          <a:bodyPr wrap="square" lIns="0" tIns="0" rIns="0" bIns="0" rtlCol="0" anchor="ctr"/>
          <a:lstStyle/>
          <a:p>
            <a:pPr indent="0" marL="0">
              <a:buNone/>
            </a:pPr>
            <a:r>
              <a:rPr lang="en-US" sz="1100" b="1" spc="200" kern="0" dirty="0">
                <a:solidFill>
                  <a:srgbClr val="55C8E8"/>
                </a:solidFill>
                <a:latin typeface="Calibri" pitchFamily="34" charset="0"/>
                <a:ea typeface="Calibri" pitchFamily="34" charset="-122"/>
                <a:cs typeface="Calibri" pitchFamily="34" charset="-120"/>
              </a:rPr>
              <a:t>TODAY YOU ARE READING</a:t>
            </a:r>
            <a:endParaRPr lang="en-US" sz="1100" dirty="0"/>
          </a:p>
        </p:txBody>
      </p:sp>
      <p:sp>
        <p:nvSpPr>
          <p:cNvPr id="10" name="Shape 8"/>
          <p:cNvSpPr/>
          <p:nvPr/>
        </p:nvSpPr>
        <p:spPr>
          <a:xfrm>
            <a:off x="365760" y="2231136"/>
            <a:ext cx="8412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304288"/>
            <a:ext cx="7955280" cy="493776"/>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Chapter 10 — Freedom</a:t>
            </a:r>
            <a:endParaRPr lang="en-US" sz="1500" dirty="0"/>
          </a:p>
        </p:txBody>
      </p:sp>
      <p:sp>
        <p:nvSpPr>
          <p:cNvPr id="12" name="Text 10"/>
          <p:cNvSpPr/>
          <p:nvPr/>
        </p:nvSpPr>
        <p:spPr>
          <a:xfrm>
            <a:off x="365760" y="2999232"/>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KEEP YOUR READING LENS IN MIND</a:t>
            </a:r>
            <a:endParaRPr lang="en-US" sz="1100" dirty="0"/>
          </a:p>
        </p:txBody>
      </p:sp>
      <p:sp>
        <p:nvSpPr>
          <p:cNvPr id="13" name="Shape 11"/>
          <p:cNvSpPr/>
          <p:nvPr/>
        </p:nvSpPr>
        <p:spPr>
          <a:xfrm>
            <a:off x="365760" y="3255264"/>
            <a:ext cx="84124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346704"/>
            <a:ext cx="7955280" cy="1097280"/>
          </a:xfrm>
          <a:prstGeom prst="rect">
            <a:avLst/>
          </a:prstGeom>
          <a:noFill/>
          <a:ln/>
        </p:spPr>
        <p:txBody>
          <a:bodyPr wrap="square" lIns="0" tIns="0" rIns="0" bIns="0" rtlCol="0" anchor="t"/>
          <a:lstStyle/>
          <a:p>
            <a:pPr indent="0" marL="0">
              <a:buNone/>
            </a:pPr>
            <a:r>
              <a:rPr lang="en-US" sz="1200" i="1" dirty="0">
                <a:solidFill>
                  <a:srgbClr val="1E293B"/>
                </a:solidFill>
                <a:latin typeface="Calibri" pitchFamily="34" charset="0"/>
                <a:ea typeface="Calibri" pitchFamily="34" charset="-122"/>
                <a:cs typeface="Calibri" pitchFamily="34" charset="-120"/>
              </a:rPr>
              <a:t>How does Latham write the moment of Nat’s freedom? Does she dwell on Nat’s feelings, or show them through action?</a:t>
            </a:r>
            <a:endParaRPr lang="en-US" sz="1200" dirty="0"/>
          </a:p>
          <a:p>
            <a:pPr indent="0" marL="0">
              <a:buNone/>
            </a:pPr>
            <a:endParaRPr lang="en-US" sz="1200" dirty="0"/>
          </a:p>
          <a:p>
            <a:pPr indent="0" marL="0">
              <a:buNone/>
            </a:pPr>
            <a:r>
              <a:rPr lang="en-US" sz="1200" i="1" dirty="0">
                <a:solidFill>
                  <a:srgbClr val="1E293B"/>
                </a:solidFill>
                <a:latin typeface="Calibri" pitchFamily="34" charset="0"/>
                <a:ea typeface="Calibri" pitchFamily="34" charset="-122"/>
                <a:cs typeface="Calibri" pitchFamily="34" charset="-120"/>
              </a:rPr>
              <a:t>What does Nat do with his first day of freedom? What does that choice tell you about who he is?</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Comprehension Questions — Preview</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WHAT YOU'LL ANSWER (PART A)</a:t>
            </a:r>
            <a:endParaRPr lang="en-US" sz="1100" dirty="0"/>
          </a:p>
        </p:txBody>
      </p:sp>
      <p:sp>
        <p:nvSpPr>
          <p:cNvPr id="5" name="Shape 3"/>
          <p:cNvSpPr/>
          <p:nvPr/>
        </p:nvSpPr>
        <p:spPr>
          <a:xfrm>
            <a:off x="365760" y="1097280"/>
            <a:ext cx="8412480" cy="914400"/>
          </a:xfrm>
          <a:prstGeom prst="roundRect">
            <a:avLst>
              <a:gd name="adj" fmla="val 10000"/>
            </a:avLst>
          </a:prstGeom>
          <a:solidFill>
            <a:srgbClr val="F8FAFC"/>
          </a:solidFill>
          <a:ln/>
          <a:effectLst>
            <a:outerShdw sx="100000" sy="100000" kx="0" ky="0" algn="bl" rotWithShape="0" blurRad="101600" dist="38100" dir="2700000">
              <a:srgbClr val="000000">
                <a:alpha val="12000"/>
              </a:srgbClr>
            </a:outerShdw>
          </a:effectLst>
        </p:spPr>
      </p:sp>
      <p:sp>
        <p:nvSpPr>
          <p:cNvPr id="6" name="Text 4"/>
          <p:cNvSpPr/>
          <p:nvPr/>
        </p:nvSpPr>
        <p:spPr>
          <a:xfrm>
            <a:off x="548640" y="1170432"/>
            <a:ext cx="8046720" cy="768096"/>
          </a:xfrm>
          <a:prstGeom prst="rect">
            <a:avLst/>
          </a:prstGeom>
          <a:noFill/>
          <a:ln/>
        </p:spPr>
        <p:txBody>
          <a:bodyPr wrap="square" lIns="0" tIns="0" rIns="0" bIns="0" rtlCol="0" anchor="ctr"/>
          <a:lstStyle/>
          <a:p>
            <a:pPr indent="0" marL="0">
              <a:buNone/>
            </a:pPr>
            <a:r>
              <a:rPr lang="en-US" sz="1300" b="1" dirty="0">
                <a:solidFill>
                  <a:srgbClr val="55C8E8"/>
                </a:solidFill>
                <a:latin typeface="Calibri" pitchFamily="34" charset="0"/>
                <a:ea typeface="Calibri" pitchFamily="34" charset="-122"/>
                <a:cs typeface="Calibri" pitchFamily="34" charset="-120"/>
              </a:rPr>
              <a:t>1.  </a:t>
            </a:r>
            <a:pPr indent="0" marL="0">
              <a:buNone/>
            </a:pPr>
            <a:r>
              <a:rPr lang="en-US" sz="1150" dirty="0">
                <a:solidFill>
                  <a:srgbClr val="1E293B"/>
                </a:solidFill>
                <a:latin typeface="Calibri" pitchFamily="34" charset="0"/>
                <a:ea typeface="Calibri" pitchFamily="34" charset="-122"/>
                <a:cs typeface="Calibri" pitchFamily="34" charset="-120"/>
              </a:rPr>
              <a:t>Chapter 10 is titled “Freedom.” Explain what Nat is free from, and then explain what he is free to do. What does freedom mean to Nat Bowditch specifically — how is it different from simply ‘no more indenture’?</a:t>
            </a:r>
            <a:endParaRPr lang="en-US" sz="1300" dirty="0"/>
          </a:p>
        </p:txBody>
      </p:sp>
      <p:sp>
        <p:nvSpPr>
          <p:cNvPr id="7" name="Shape 5"/>
          <p:cNvSpPr/>
          <p:nvPr/>
        </p:nvSpPr>
        <p:spPr>
          <a:xfrm>
            <a:off x="365760" y="2084832"/>
            <a:ext cx="8412480" cy="914400"/>
          </a:xfrm>
          <a:prstGeom prst="roundRect">
            <a:avLst>
              <a:gd name="adj" fmla="val 10000"/>
            </a:avLst>
          </a:prstGeom>
          <a:solidFill>
            <a:srgbClr val="F4F7FC"/>
          </a:solidFill>
          <a:ln/>
          <a:effectLst>
            <a:outerShdw sx="100000" sy="100000" kx="0" ky="0" algn="bl" rotWithShape="0" blurRad="101600" dist="38100" dir="2700000">
              <a:srgbClr val="000000">
                <a:alpha val="12000"/>
              </a:srgbClr>
            </a:outerShdw>
          </a:effectLst>
        </p:spPr>
      </p:sp>
      <p:sp>
        <p:nvSpPr>
          <p:cNvPr id="8" name="Text 6"/>
          <p:cNvSpPr/>
          <p:nvPr/>
        </p:nvSpPr>
        <p:spPr>
          <a:xfrm>
            <a:off x="548640" y="2157984"/>
            <a:ext cx="8046720" cy="768096"/>
          </a:xfrm>
          <a:prstGeom prst="rect">
            <a:avLst/>
          </a:prstGeom>
          <a:noFill/>
          <a:ln/>
        </p:spPr>
        <p:txBody>
          <a:bodyPr wrap="square" lIns="0" tIns="0" rIns="0" bIns="0" rtlCol="0" anchor="ctr"/>
          <a:lstStyle/>
          <a:p>
            <a:pPr indent="0" marL="0">
              <a:buNone/>
            </a:pPr>
            <a:r>
              <a:rPr lang="en-US" sz="1300" b="1" dirty="0">
                <a:solidFill>
                  <a:srgbClr val="55C8E8"/>
                </a:solidFill>
                <a:latin typeface="Calibri" pitchFamily="34" charset="0"/>
                <a:ea typeface="Calibri" pitchFamily="34" charset="-122"/>
                <a:cs typeface="Calibri" pitchFamily="34" charset="-120"/>
              </a:rPr>
              <a:t>2.  </a:t>
            </a:r>
            <a:pPr indent="0" marL="0">
              <a:buNone/>
            </a:pPr>
            <a:r>
              <a:rPr lang="en-US" sz="1150" dirty="0">
                <a:solidFill>
                  <a:srgbClr val="1E293B"/>
                </a:solidFill>
                <a:latin typeface="Calibri" pitchFamily="34" charset="0"/>
                <a:ea typeface="Calibri" pitchFamily="34" charset="-122"/>
                <a:cs typeface="Calibri" pitchFamily="34" charset="-120"/>
              </a:rPr>
              <a:t>The event of Nat signing on as supercargo is significant because it shows us the connection between his nine years of self-education and his first real opportunity. Use the Fact + Explanation + Significance structure to analyze this moment.</a:t>
            </a:r>
            <a:endParaRPr lang="en-US" sz="1300" dirty="0"/>
          </a:p>
        </p:txBody>
      </p:sp>
      <p:sp>
        <p:nvSpPr>
          <p:cNvPr id="9" name="Shape 7"/>
          <p:cNvSpPr/>
          <p:nvPr/>
        </p:nvSpPr>
        <p:spPr>
          <a:xfrm>
            <a:off x="365760" y="3072384"/>
            <a:ext cx="8412480" cy="914400"/>
          </a:xfrm>
          <a:prstGeom prst="roundRect">
            <a:avLst>
              <a:gd name="adj" fmla="val 10000"/>
            </a:avLst>
          </a:prstGeom>
          <a:solidFill>
            <a:srgbClr val="F8FAFC"/>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3145536"/>
            <a:ext cx="8046720" cy="768096"/>
          </a:xfrm>
          <a:prstGeom prst="rect">
            <a:avLst/>
          </a:prstGeom>
          <a:noFill/>
          <a:ln/>
        </p:spPr>
        <p:txBody>
          <a:bodyPr wrap="square" lIns="0" tIns="0" rIns="0" bIns="0" rtlCol="0" anchor="ctr"/>
          <a:lstStyle/>
          <a:p>
            <a:pPr indent="0" marL="0">
              <a:buNone/>
            </a:pPr>
            <a:r>
              <a:rPr lang="en-US" sz="1300" b="1" dirty="0">
                <a:solidFill>
                  <a:srgbClr val="55C8E8"/>
                </a:solidFill>
                <a:latin typeface="Calibri" pitchFamily="34" charset="0"/>
                <a:ea typeface="Calibri" pitchFamily="34" charset="-122"/>
                <a:cs typeface="Calibri" pitchFamily="34" charset="-120"/>
              </a:rPr>
              <a:t>3.  </a:t>
            </a:r>
            <a:pPr indent="0" marL="0">
              <a:buNone/>
            </a:pPr>
            <a:r>
              <a:rPr lang="en-US" sz="1150" dirty="0">
                <a:solidFill>
                  <a:srgbClr val="1E293B"/>
                </a:solidFill>
                <a:latin typeface="Calibri" pitchFamily="34" charset="0"/>
                <a:ea typeface="Calibri" pitchFamily="34" charset="-122"/>
                <a:cs typeface="Calibri" pitchFamily="34" charset="-120"/>
              </a:rPr>
              <a:t>How does Chapter 10 develop Nat’s character? Choose one specific detail from the chapter — something Nat says, does, or notices — and explain how it contributes to who he is and how the story develops.</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Writing Connection — Research Essay</a:t>
            </a:r>
            <a:endParaRPr lang="en-US" sz="26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365760" y="841248"/>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STAGE: DRAFT  ·  Write your complete introduction</a:t>
            </a:r>
            <a:endParaRPr lang="en-US" sz="1100" dirty="0"/>
          </a:p>
        </p:txBody>
      </p:sp>
      <p:sp>
        <p:nvSpPr>
          <p:cNvPr id="5" name="Shape 3"/>
          <p:cNvSpPr/>
          <p:nvPr/>
        </p:nvSpPr>
        <p:spPr>
          <a:xfrm>
            <a:off x="365760" y="1097280"/>
            <a:ext cx="8412480" cy="548640"/>
          </a:xfrm>
          <a:prstGeom prst="roundRect">
            <a:avLst>
              <a:gd name="adj" fmla="val 16667"/>
            </a:avLst>
          </a:prstGeom>
          <a:solidFill>
            <a:srgbClr val="E8F8EF"/>
          </a:solidFill>
          <a:ln/>
          <a:effectLst>
            <a:outerShdw sx="100000" sy="100000" kx="0" ky="0" algn="bl" rotWithShape="0" blurRad="101600" dist="38100" dir="2700000">
              <a:srgbClr val="000000">
                <a:alpha val="12000"/>
              </a:srgbClr>
            </a:outerShdw>
          </a:effectLst>
        </p:spPr>
      </p:sp>
      <p:sp>
        <p:nvSpPr>
          <p:cNvPr id="6" name="Text 4"/>
          <p:cNvSpPr/>
          <p:nvPr/>
        </p:nvSpPr>
        <p:spPr>
          <a:xfrm>
            <a:off x="548640" y="1152144"/>
            <a:ext cx="8046720" cy="438912"/>
          </a:xfrm>
          <a:prstGeom prst="rect">
            <a:avLst/>
          </a:prstGeom>
          <a:noFill/>
          <a:ln/>
        </p:spPr>
        <p:txBody>
          <a:bodyPr wrap="square" lIns="0" tIns="0" rIns="0" bIns="0" rtlCol="0" anchor="ctr"/>
          <a:lstStyle/>
          <a:p>
            <a:pPr indent="0" marL="0">
              <a:buNone/>
            </a:pPr>
            <a:r>
              <a:rPr lang="en-US" sz="1150" b="1" dirty="0">
                <a:solidFill>
                  <a:srgbClr val="1E293B"/>
                </a:solidFill>
                <a:latin typeface="Calibri" pitchFamily="34" charset="0"/>
                <a:ea typeface="Calibri" pitchFamily="34" charset="-122"/>
                <a:cs typeface="Calibri" pitchFamily="34" charset="-120"/>
              </a:rPr>
              <a:t>Your hook is written. Now connect it to your claim using a bridge sentence — then end with your thesis. Today you write the full introduction.</a:t>
            </a:r>
            <a:endParaRPr lang="en-US" sz="1150" dirty="0"/>
          </a:p>
        </p:txBody>
      </p:sp>
      <p:sp>
        <p:nvSpPr>
          <p:cNvPr id="7" name="Text 5"/>
          <p:cNvSpPr/>
          <p:nvPr/>
        </p:nvSpPr>
        <p:spPr>
          <a:xfrm>
            <a:off x="365760" y="17830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 WATCH HOW ALEX DOES IT</a:t>
            </a:r>
            <a:endParaRPr lang="en-US" sz="1100" dirty="0"/>
          </a:p>
        </p:txBody>
      </p:sp>
      <p:sp>
        <p:nvSpPr>
          <p:cNvPr id="8" name="Shape 6"/>
          <p:cNvSpPr/>
          <p:nvPr/>
        </p:nvSpPr>
        <p:spPr>
          <a:xfrm>
            <a:off x="365760" y="2029968"/>
            <a:ext cx="4114800" cy="1051560"/>
          </a:xfrm>
          <a:prstGeom prst="roundRect">
            <a:avLst>
              <a:gd name="adj" fmla="val 8696"/>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02920" y="2084832"/>
            <a:ext cx="3840480" cy="941832"/>
          </a:xfrm>
          <a:prstGeom prst="rect">
            <a:avLst/>
          </a:prstGeom>
          <a:noFill/>
          <a:ln/>
        </p:spPr>
        <p:txBody>
          <a:bodyPr wrap="square" lIns="0" tIns="0" rIns="0" bIns="0" rtlCol="0" anchor="t"/>
          <a:lstStyle/>
          <a:p>
            <a:pPr indent="0" marL="0">
              <a:buNone/>
            </a:pPr>
            <a:r>
              <a:rPr lang="en-US" sz="950" dirty="0">
                <a:solidFill>
                  <a:srgbClr val="1E293B"/>
                </a:solidFill>
                <a:latin typeface="Calibri" pitchFamily="34" charset="0"/>
                <a:ea typeface="Calibri" pitchFamily="34" charset="-122"/>
                <a:cs typeface="Calibri" pitchFamily="34" charset="-120"/>
              </a:rPr>
              <a:t>BEFORE Alex’s three separate parts sitting next to each other with no connection.</a:t>
            </a:r>
            <a:endParaRPr lang="en-US" sz="950" dirty="0"/>
          </a:p>
        </p:txBody>
      </p:sp>
      <p:sp>
        <p:nvSpPr>
          <p:cNvPr id="10" name="Shape 8"/>
          <p:cNvSpPr/>
          <p:nvPr/>
        </p:nvSpPr>
        <p:spPr>
          <a:xfrm>
            <a:off x="4663440" y="2029968"/>
            <a:ext cx="4114800" cy="1051560"/>
          </a:xfrm>
          <a:prstGeom prst="roundRect">
            <a:avLst>
              <a:gd name="adj" fmla="val 8696"/>
            </a:avLst>
          </a:prstGeom>
          <a:solidFill>
            <a:srgbClr val="EAF6FA"/>
          </a:solidFill>
          <a:ln/>
          <a:effectLst>
            <a:outerShdw sx="100000" sy="100000" kx="0" ky="0" algn="bl" rotWithShape="0" blurRad="101600" dist="38100" dir="2700000">
              <a:srgbClr val="000000">
                <a:alpha val="12000"/>
              </a:srgbClr>
            </a:outerShdw>
          </a:effectLst>
        </p:spPr>
      </p:sp>
      <p:sp>
        <p:nvSpPr>
          <p:cNvPr id="11" name="Text 9"/>
          <p:cNvSpPr/>
          <p:nvPr/>
        </p:nvSpPr>
        <p:spPr>
          <a:xfrm>
            <a:off x="4800600" y="2084832"/>
            <a:ext cx="3840480" cy="941832"/>
          </a:xfrm>
          <a:prstGeom prst="rect">
            <a:avLst/>
          </a:prstGeom>
          <a:noFill/>
          <a:ln/>
        </p:spPr>
        <p:txBody>
          <a:bodyPr wrap="square" lIns="0" tIns="0" rIns="0" bIns="0" rtlCol="0" anchor="t"/>
          <a:lstStyle/>
          <a:p>
            <a:pPr indent="0" marL="0">
              <a:buNone/>
            </a:pPr>
            <a:r>
              <a:rPr lang="en-US" sz="950" dirty="0">
                <a:solidFill>
                  <a:srgbClr val="1E293B"/>
                </a:solidFill>
                <a:latin typeface="Calibri" pitchFamily="34" charset="0"/>
                <a:ea typeface="Calibri" pitchFamily="34" charset="-122"/>
                <a:cs typeface="Calibri" pitchFamily="34" charset="-120"/>
              </a:rPr>
              <a:t>AFTER Alex’s complete introduction: “A ship navigated blind into Salem Harbor in December fog — no landmarks, no visibility — guided only by one man’s calculations. That man was Nathaniel Bowditch, a self-taught mathematician from Salem, Massachusetts, who had spent his entire life turning complex navigation into something any sailor could learn. He had not grown up wealthy or privileged; he had been indentured at twelve and educated himself at night for nine years. What made him extraordinary was not his mathematical talent alone, but his relentless belief that the knowledge that protected sailors’ lives should belong to everyone.”</a:t>
            </a:r>
            <a:endParaRPr lang="en-US" sz="950" dirty="0"/>
          </a:p>
        </p:txBody>
      </p:sp>
      <p:sp>
        <p:nvSpPr>
          <p:cNvPr id="12" name="Text 10"/>
          <p:cNvSpPr/>
          <p:nvPr/>
        </p:nvSpPr>
        <p:spPr>
          <a:xfrm>
            <a:off x="365760" y="3127248"/>
            <a:ext cx="8412480" cy="457200"/>
          </a:xfrm>
          <a:prstGeom prst="rect">
            <a:avLst/>
          </a:prstGeom>
          <a:noFill/>
          <a:ln/>
        </p:spPr>
        <p:txBody>
          <a:bodyPr wrap="square" lIns="0" tIns="0" rIns="0" bIns="0" rtlCol="0" anchor="ctr"/>
          <a:lstStyle/>
          <a:p>
            <a:pPr indent="0" marL="0">
              <a:buNone/>
            </a:pPr>
            <a:r>
              <a:rPr lang="en-US" sz="950" i="1" dirty="0">
                <a:solidFill>
                  <a:srgbClr val="64748B"/>
                </a:solidFill>
                <a:latin typeface="Calibri" pitchFamily="34" charset="0"/>
                <a:ea typeface="Calibri" pitchFamily="34" charset="-122"/>
                <a:cs typeface="Calibri" pitchFamily="34" charset="-120"/>
              </a:rPr>
              <a:t>Notice: Alex’s introduction has four moves: (1) hook scene, (2) who is this man?, (3) quick context (indentured, self-taught), (4) claim. Each sentence does a specific job.</a:t>
            </a:r>
            <a:endParaRPr lang="en-US" sz="950" dirty="0"/>
          </a:p>
        </p:txBody>
      </p:sp>
      <p:sp>
        <p:nvSpPr>
          <p:cNvPr id="13" name="Text 11"/>
          <p:cNvSpPr/>
          <p:nvPr/>
        </p:nvSpPr>
        <p:spPr>
          <a:xfrm>
            <a:off x="365760" y="3639312"/>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TODAY’S TOOL: INTRODUCTION MAP: 4 MOVES</a:t>
            </a:r>
            <a:endParaRPr lang="en-US" sz="1100" dirty="0"/>
          </a:p>
        </p:txBody>
      </p:sp>
      <p:sp>
        <p:nvSpPr>
          <p:cNvPr id="14" name="Shape 12"/>
          <p:cNvSpPr/>
          <p:nvPr/>
        </p:nvSpPr>
        <p:spPr>
          <a:xfrm>
            <a:off x="365760" y="3877056"/>
            <a:ext cx="8412480" cy="502920"/>
          </a:xfrm>
          <a:prstGeom prst="roundRect">
            <a:avLst>
              <a:gd name="adj" fmla="val 18182"/>
            </a:avLst>
          </a:prstGeom>
          <a:solidFill>
            <a:srgbClr val="F0E8FF"/>
          </a:solidFill>
          <a:ln/>
          <a:effectLst>
            <a:outerShdw sx="100000" sy="100000" kx="0" ky="0" algn="bl" rotWithShape="0" blurRad="101600" dist="38100" dir="2700000">
              <a:srgbClr val="000000">
                <a:alpha val="12000"/>
              </a:srgbClr>
            </a:outerShdw>
          </a:effectLst>
        </p:spPr>
      </p:sp>
      <p:sp>
        <p:nvSpPr>
          <p:cNvPr id="15" name="Text 13"/>
          <p:cNvSpPr/>
          <p:nvPr/>
        </p:nvSpPr>
        <p:spPr>
          <a:xfrm>
            <a:off x="548640" y="3922776"/>
            <a:ext cx="8046720" cy="411480"/>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Fill in the four moves for your introduction. Don’t worry about perfect wording — get the ideas down.</a:t>
            </a:r>
            <a:endParaRPr lang="en-US" sz="1050" dirty="0"/>
          </a:p>
        </p:txBody>
      </p:sp>
      <p:sp>
        <p:nvSpPr>
          <p:cNvPr id="16" name="Text 14"/>
          <p:cNvSpPr/>
          <p:nvPr/>
        </p:nvSpPr>
        <p:spPr>
          <a:xfrm>
            <a:off x="365760" y="4462272"/>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NOW YOU TRY</a:t>
            </a:r>
            <a:endParaRPr lang="en-US" sz="1100" dirty="0"/>
          </a:p>
        </p:txBody>
      </p:sp>
      <p:sp>
        <p:nvSpPr>
          <p:cNvPr id="17" name="Shape 15"/>
          <p:cNvSpPr/>
          <p:nvPr/>
        </p:nvSpPr>
        <p:spPr>
          <a:xfrm>
            <a:off x="365760" y="4681728"/>
            <a:ext cx="8412480" cy="384048"/>
          </a:xfrm>
          <a:prstGeom prst="roundRect">
            <a:avLst>
              <a:gd name="adj" fmla="val 23810"/>
            </a:avLst>
          </a:prstGeom>
          <a:solidFill>
            <a:srgbClr val="FEF6E8"/>
          </a:solidFill>
          <a:ln/>
          <a:effectLst>
            <a:outerShdw sx="100000" sy="100000" kx="0" ky="0" algn="bl" rotWithShape="0" blurRad="101600" dist="38100" dir="2700000">
              <a:srgbClr val="000000">
                <a:alpha val="12000"/>
              </a:srgbClr>
            </a:outerShdw>
          </a:effectLst>
        </p:spPr>
      </p:sp>
      <p:sp>
        <p:nvSpPr>
          <p:cNvPr id="18" name="Text 16"/>
          <p:cNvSpPr/>
          <p:nvPr/>
        </p:nvSpPr>
        <p:spPr>
          <a:xfrm>
            <a:off x="548640" y="4700016"/>
            <a:ext cx="8046720" cy="347472"/>
          </a:xfrm>
          <a:prstGeom prst="rect">
            <a:avLst/>
          </a:prstGeom>
          <a:noFill/>
          <a:ln/>
        </p:spPr>
        <p:txBody>
          <a:bodyPr wrap="square" lIns="0" tIns="0" rIns="0" bIns="0" rtlCol="0" anchor="ctr"/>
          <a:lstStyle/>
          <a:p>
            <a:pPr indent="0" marL="0">
              <a:buNone/>
            </a:pPr>
            <a:r>
              <a:rPr lang="en-US" sz="1000" dirty="0">
                <a:solidFill>
                  <a:srgbClr val="1E293B"/>
                </a:solidFill>
                <a:latin typeface="Calibri" pitchFamily="34" charset="0"/>
                <a:ea typeface="Calibri" pitchFamily="34" charset="-122"/>
                <a:cs typeface="Calibri" pitchFamily="34" charset="-120"/>
              </a:rPr>
              <a:t>Write your complete 4-move introduction (3–5 sentences). Hook → Who is this person? → Quick context → Claim.</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2026-07-13T16:49:16Z</dcterms:created>
  <dcterms:modified xsi:type="dcterms:W3CDTF">2026-07-13T16:49:16Z</dcterms:modified>
</cp:coreProperties>
</file>