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29, Day 3, Week 29 — Chapter 15: The Man Who Couldn't Sit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Q: Jack falls into a coyote hole. A grizzly bear appears from the shadows. A reformed road agent pulls him out — wearing Cut-Eye Higgins’s coat. The coat, when ripped open, has no map. Cut-Eye Higgins lied. And Praiseworthy’s response: “Put some beans on to fry, partner Jack. First thing in the morning we’ll start for Shirt-tail Camp.”
Spelling SWYK: I will write three word families correctly spelled with spelling shifts noted and sentences using them.
Vocabulary: I will match words to definitions.
Reading: I will analyze the coyote hole rescue, the empty coat, and what Praiseworthy’s response reveals.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answer needed — tap-and-notice only. Discuss why each highlighted word/punctuation mark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reformed road agent laughed at jack for pointing an unloaded squirrel gun at him but he gave jack a useful piece of advice and told him that next time he really ought to trouble himself to reload it first"
Corrected: "The reformed road agent laughed at Jack for pointing an unloaded squirrel gun at him; but he gave Jack a useful piece of advice — he told him that next time he really ought to trouble himself to reload it first."
Fixes: capitalize Jack ; semicolon before but (two independent clauses); em dash for dramatic setup; no comma needed after advice with the dash.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"the reformed road agent laughed at jack for pointing an unloaded squirrel gun at him but he gave jack a useful piece of advice and told him that next time he really ought to trouble himself to reload it first"
Corrected: "The reformed road agent laughed at Jack for pointing an unloaded squirrel gun at him; but he gave Jack a useful piece of advice — he told him that next time he really ought to trouble himself to reload it first."
Fixes: capitalize Jack ; semicolon before but (two independent clauses); em dash for dramatic setup; no comma needed after advice with the dash.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routine — use if time allows. Read the prompt aloud. Remind students: pick a side, defend with evidence, anticipate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5-minute timer. Remind: choose a side, defend with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Focus: Is there a stronger, more specific word I could use instead of a vague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3-4 students. Encourage respectful disagreement about their choice/defense.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practice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Vocabulary mode: match_game.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content — this novel uses explain/tap-to-notice practice rather than a scored quiz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focus: 🔠 Spelling: Word Families — Use &amp; SWYK. Graded SWYK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Tracker: Six Weeks with By the Great Horn Spoon! — Week 29 — Chapter 15: The Man Who Couldn't Sit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only — students answer these in the Reading tab as they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Connection — Stage: REVISE
Focus: Revise for description — replace one vague detail with one specific one
Task: Choose one paragraph from your draft and revise it for voice, dialogue, or description. Write both the original and the revised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4A2E"/>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5CB85C">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5CB85C"/>
                </a:solidFill>
                <a:latin typeface="Calibri" pitchFamily="34" charset="0"/>
                <a:ea typeface="Calibri" pitchFamily="34" charset="-122"/>
                <a:cs typeface="Calibri" pitchFamily="34" charset="-120"/>
              </a:rPr>
              <a:t>WEEK 29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2600" b="1" dirty="0">
                <a:solidFill>
                  <a:srgbClr val="FFFFFF"/>
                </a:solidFill>
                <a:latin typeface="Calibri" pitchFamily="34" charset="0"/>
                <a:ea typeface="Calibri" pitchFamily="34" charset="-122"/>
                <a:cs typeface="Calibri" pitchFamily="34" charset="-120"/>
              </a:rPr>
              <a:t>By the Great Horn Spoon!</a:t>
            </a:r>
            <a:endParaRPr lang="en-US" sz="2600" dirty="0"/>
          </a:p>
          <a:p>
            <a:pPr algn="l" indent="0" marL="0">
              <a:buNone/>
            </a:pPr>
            <a:r>
              <a:rPr lang="en-US" sz="2600" b="1" dirty="0">
                <a:solidFill>
                  <a:srgbClr val="FFFFFF"/>
                </a:solidFill>
                <a:latin typeface="Calibri" pitchFamily="34" charset="0"/>
                <a:ea typeface="Calibri" pitchFamily="34" charset="-122"/>
                <a:cs typeface="Calibri" pitchFamily="34" charset="-120"/>
              </a:rPr>
              <a:t>Week 29 — Chapter 15: The Man Who Couldn't Sit Down</a:t>
            </a:r>
            <a:endParaRPr lang="en-US" sz="26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29  ·  Grit, Wit &amp; Adventure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Today's Objectives</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6868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5" name="Shape 3"/>
          <p:cNvSpPr/>
          <p:nvPr/>
        </p:nvSpPr>
        <p:spPr>
          <a:xfrm>
            <a:off x="365760" y="1115568"/>
            <a:ext cx="8412480" cy="777240"/>
          </a:xfrm>
          <a:prstGeom prst="roundRect">
            <a:avLst>
              <a:gd name="adj" fmla="val 1176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207008"/>
            <a:ext cx="7955280" cy="594360"/>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Jack falls into a coyote hole. A grizzly bear appears from the shadows. A reformed road agent pulls him out — wearing Cut-Eye Higgins’s coat. The coat, when ripped open, has no map. Cut-Eye Higgins lied. And Praiseworthy’s response: “Put some beans on to fry, partner Jack. First thing in the morning we’ll start for Shirt-tail Camp.”</a:t>
            </a:r>
            <a:endParaRPr lang="en-US" sz="1300" dirty="0"/>
          </a:p>
        </p:txBody>
      </p:sp>
      <p:sp>
        <p:nvSpPr>
          <p:cNvPr id="7" name="Text 5"/>
          <p:cNvSpPr/>
          <p:nvPr/>
        </p:nvSpPr>
        <p:spPr>
          <a:xfrm>
            <a:off x="365760" y="20116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BY THE END OF THIS LESSON...</a:t>
            </a:r>
            <a:endParaRPr lang="en-US" sz="1100" dirty="0"/>
          </a:p>
        </p:txBody>
      </p:sp>
      <p:sp>
        <p:nvSpPr>
          <p:cNvPr id="8" name="Shape 6"/>
          <p:cNvSpPr/>
          <p:nvPr/>
        </p:nvSpPr>
        <p:spPr>
          <a:xfrm>
            <a:off x="365760" y="2286000"/>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359152"/>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Spelling SWYK: </a:t>
            </a:r>
            <a:pPr indent="0" marL="0">
              <a:buNone/>
            </a:pPr>
            <a:r>
              <a:rPr lang="en-US" sz="1250" dirty="0">
                <a:solidFill>
                  <a:srgbClr val="1E293B"/>
                </a:solidFill>
                <a:latin typeface="Calibri" pitchFamily="34" charset="0"/>
                <a:ea typeface="Calibri" pitchFamily="34" charset="-122"/>
                <a:cs typeface="Calibri" pitchFamily="34" charset="-120"/>
              </a:rPr>
              <a:t>I will write three word families correctly spelled with spelling shifts noted and sentences using them.</a:t>
            </a:r>
            <a:endParaRPr lang="en-US" sz="1500" dirty="0"/>
          </a:p>
        </p:txBody>
      </p:sp>
      <p:sp>
        <p:nvSpPr>
          <p:cNvPr id="10" name="Shape 8"/>
          <p:cNvSpPr/>
          <p:nvPr/>
        </p:nvSpPr>
        <p:spPr>
          <a:xfrm>
            <a:off x="365760" y="3090672"/>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1" name="Text 9"/>
          <p:cNvSpPr/>
          <p:nvPr/>
        </p:nvSpPr>
        <p:spPr>
          <a:xfrm>
            <a:off x="548640" y="3163824"/>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Vocabulary: </a:t>
            </a:r>
            <a:pPr indent="0" marL="0">
              <a:buNone/>
            </a:pPr>
            <a:r>
              <a:rPr lang="en-US" sz="1250" dirty="0">
                <a:solidFill>
                  <a:srgbClr val="1E293B"/>
                </a:solidFill>
                <a:latin typeface="Calibri" pitchFamily="34" charset="0"/>
                <a:ea typeface="Calibri" pitchFamily="34" charset="-122"/>
                <a:cs typeface="Calibri" pitchFamily="34" charset="-120"/>
              </a:rPr>
              <a:t>I will match words to definitions.</a:t>
            </a:r>
            <a:endParaRPr lang="en-US" sz="1500" dirty="0"/>
          </a:p>
        </p:txBody>
      </p:sp>
      <p:sp>
        <p:nvSpPr>
          <p:cNvPr id="12" name="Shape 10"/>
          <p:cNvSpPr/>
          <p:nvPr/>
        </p:nvSpPr>
        <p:spPr>
          <a:xfrm>
            <a:off x="365760" y="3895344"/>
            <a:ext cx="8412480" cy="713232"/>
          </a:xfrm>
          <a:prstGeom prst="roundRect">
            <a:avLst>
              <a:gd name="adj" fmla="val 12821"/>
            </a:avLst>
          </a:prstGeom>
          <a:solidFill>
            <a:srgbClr val="F8FAFC"/>
          </a:solidFill>
          <a:ln/>
          <a:effectLst>
            <a:outerShdw sx="100000" sy="100000" kx="0" ky="0" algn="bl" rotWithShape="0" blurRad="101600" dist="38100" dir="2700000">
              <a:srgbClr val="000000">
                <a:alpha val="12000"/>
              </a:srgbClr>
            </a:outerShdw>
          </a:effectLst>
        </p:spPr>
      </p:sp>
      <p:sp>
        <p:nvSpPr>
          <p:cNvPr id="13" name="Text 11"/>
          <p:cNvSpPr/>
          <p:nvPr/>
        </p:nvSpPr>
        <p:spPr>
          <a:xfrm>
            <a:off x="548640" y="3968496"/>
            <a:ext cx="8046720" cy="566928"/>
          </a:xfrm>
          <a:prstGeom prst="rect">
            <a:avLst/>
          </a:prstGeom>
          <a:noFill/>
          <a:ln/>
        </p:spPr>
        <p:txBody>
          <a:bodyPr wrap="square" lIns="0" tIns="0" rIns="0" bIns="0" rtlCol="0" anchor="ctr"/>
          <a:lstStyle/>
          <a:p>
            <a:pPr indent="0" marL="0">
              <a:buNone/>
            </a:pPr>
            <a:r>
              <a:rPr lang="en-US" sz="1500" dirty="0">
                <a:solidFill>
                  <a:srgbClr val="000000"/>
                </a:solidFill>
              </a:rPr>
              <a:t>📖  </a:t>
            </a:r>
            <a:pPr indent="0" marL="0">
              <a:buNone/>
            </a:pPr>
            <a:r>
              <a:rPr lang="en-US" sz="1300" b="1" dirty="0">
                <a:solidFill>
                  <a:srgbClr val="0E1C42"/>
                </a:solidFill>
                <a:latin typeface="Calibri" pitchFamily="34" charset="0"/>
                <a:ea typeface="Calibri" pitchFamily="34" charset="-122"/>
                <a:cs typeface="Calibri" pitchFamily="34" charset="-120"/>
              </a:rPr>
              <a:t>Reading: </a:t>
            </a:r>
            <a:pPr indent="0" marL="0">
              <a:buNone/>
            </a:pPr>
            <a:r>
              <a:rPr lang="en-US" sz="1250" dirty="0">
                <a:solidFill>
                  <a:srgbClr val="1E293B"/>
                </a:solidFill>
                <a:latin typeface="Calibri" pitchFamily="34" charset="0"/>
                <a:ea typeface="Calibri" pitchFamily="34" charset="-122"/>
                <a:cs typeface="Calibri" pitchFamily="34" charset="-120"/>
              </a:rPr>
              <a:t>I will analyze the coyote hole rescue, the empty coat, and what Praiseworthy’s response reveals.</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Study What's Right</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TAP TO NOTICE</a:t>
            </a:r>
            <a:endParaRPr lang="en-US" sz="1100" dirty="0"/>
          </a:p>
        </p:txBody>
      </p:sp>
      <p:sp>
        <p:nvSpPr>
          <p:cNvPr id="5" name="Shape 3"/>
          <p:cNvSpPr/>
          <p:nvPr/>
        </p:nvSpPr>
        <p:spPr>
          <a:xfrm>
            <a:off x="365760" y="1078992"/>
            <a:ext cx="8412480" cy="914400"/>
          </a:xfrm>
          <a:prstGeom prst="roundRect">
            <a:avLst>
              <a:gd name="adj" fmla="val 10000"/>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6858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Gripping the rope with both hands , Jack planted his feet on solid ground and heaved a sigh of relief.</a:t>
            </a:r>
            <a:endParaRPr lang="en-US" sz="1600" dirty="0"/>
          </a:p>
        </p:txBody>
      </p:sp>
      <p:sp>
        <p:nvSpPr>
          <p:cNvPr id="7" name="Text 5"/>
          <p:cNvSpPr/>
          <p:nvPr/>
        </p:nvSpPr>
        <p:spPr>
          <a:xfrm>
            <a:off x="365760" y="210312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EACH TAPPED WORD TEACHES</a:t>
            </a:r>
            <a:endParaRPr lang="en-US" sz="1100" dirty="0"/>
          </a:p>
        </p:txBody>
      </p:sp>
      <p:sp>
        <p:nvSpPr>
          <p:cNvPr id="8" name="Shape 6"/>
          <p:cNvSpPr/>
          <p:nvPr/>
        </p:nvSpPr>
        <p:spPr>
          <a:xfrm>
            <a:off x="365760" y="2377440"/>
            <a:ext cx="8412480" cy="457200"/>
          </a:xfrm>
          <a:prstGeom prst="roundRect">
            <a:avLst>
              <a:gd name="adj" fmla="val 20000"/>
            </a:avLst>
          </a:prstGeom>
          <a:solidFill>
            <a:srgbClr val="F8FAFC"/>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423160"/>
            <a:ext cx="8046720" cy="365760"/>
          </a:xfrm>
          <a:prstGeom prst="rect">
            <a:avLst/>
          </a:prstGeom>
          <a:noFill/>
          <a:ln/>
        </p:spPr>
        <p:txBody>
          <a:bodyPr wrap="square" lIns="0" tIns="0" rIns="0" bIns="0" rtlCol="0" anchor="ctr"/>
          <a:lstStyle/>
          <a:p>
            <a:pPr indent="0" marL="0">
              <a:buNone/>
            </a:pPr>
            <a:r>
              <a:rPr lang="en-US" sz="1250" b="1" dirty="0">
                <a:solidFill>
                  <a:srgbClr val="34B76F"/>
                </a:solidFill>
                <a:latin typeface="Calibri" pitchFamily="34" charset="0"/>
                <a:ea typeface="Calibri" pitchFamily="34" charset="-122"/>
                <a:cs typeface="Calibri" pitchFamily="34" charset="-120"/>
              </a:rPr>
              <a:t>Gripping the rope with both hands  </a:t>
            </a:r>
            <a:pPr indent="0" marL="0">
              <a:buNone/>
            </a:pPr>
            <a:r>
              <a:rPr lang="en-US" sz="1150" dirty="0">
                <a:solidFill>
                  <a:srgbClr val="1E293B"/>
                </a:solidFill>
                <a:latin typeface="Calibri" pitchFamily="34" charset="0"/>
                <a:ea typeface="Calibri" pitchFamily="34" charset="-122"/>
                <a:cs typeface="Calibri" pitchFamily="34" charset="-120"/>
              </a:rPr>
              <a:t>Gripping the rope — participial phrase opener. It puts us in the action instantly. Contrast with the long sentence that follows: the short phrase + subject + verb, then a longer reflection. Opener variety creates momentum.</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reformed road agent laughed at jack for pointing an unloaded squirrel gun at him but he gave jack a useful piece of advice and told him that next time he really ought to trouble himself to reload it first</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Daily Oral Language — Fix It</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777240"/>
          </a:xfrm>
          <a:prstGeom prst="roundRect">
            <a:avLst>
              <a:gd name="adj" fmla="val 11765"/>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the reformed road agent laughed at jack for pointing an unloaded squirrel gun at him but he gave jack a useful piece of advice and told him that next time he really ought to trouble himself to reload it first</a:t>
            </a:r>
            <a:endParaRPr lang="en-US" sz="1600" dirty="0"/>
          </a:p>
        </p:txBody>
      </p:sp>
      <p:sp>
        <p:nvSpPr>
          <p:cNvPr id="9" name="Text 7"/>
          <p:cNvSpPr/>
          <p:nvPr/>
        </p:nvSpPr>
        <p:spPr>
          <a:xfrm>
            <a:off x="457200" y="1965960"/>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reading journal.</a:t>
            </a:r>
            <a:endParaRPr lang="en-US" sz="1500" dirty="0"/>
          </a:p>
        </p:txBody>
      </p:sp>
      <p:sp>
        <p:nvSpPr>
          <p:cNvPr id="10" name="Shape 8"/>
          <p:cNvSpPr/>
          <p:nvPr/>
        </p:nvSpPr>
        <p:spPr>
          <a:xfrm>
            <a:off x="365760" y="2468880"/>
            <a:ext cx="8412480" cy="1371600"/>
          </a:xfrm>
          <a:prstGeom prst="roundRect">
            <a:avLst>
              <a:gd name="adj" fmla="val 6667"/>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56032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  CORRECTED</a:t>
            </a:r>
            <a:endParaRPr lang="en-US" sz="1100" dirty="0"/>
          </a:p>
        </p:txBody>
      </p:sp>
      <p:sp>
        <p:nvSpPr>
          <p:cNvPr id="12" name="Text 10"/>
          <p:cNvSpPr/>
          <p:nvPr/>
        </p:nvSpPr>
        <p:spPr>
          <a:xfrm>
            <a:off x="594360" y="2834640"/>
            <a:ext cx="7955280" cy="457200"/>
          </a:xfrm>
          <a:prstGeom prst="rect">
            <a:avLst/>
          </a:prstGeom>
          <a:noFill/>
          <a:ln/>
        </p:spPr>
        <p:txBody>
          <a:bodyPr wrap="square" lIns="0" tIns="0" rIns="0" bIns="0" rtlCol="0" anchor="ctr"/>
          <a:lstStyle/>
          <a:p>
            <a:pPr indent="0" marL="0">
              <a:buNone/>
            </a:pPr>
            <a:r>
              <a:rPr lang="en-US" sz="1500" b="1" i="1" dirty="0">
                <a:solidFill>
                  <a:srgbClr val="1E293B"/>
                </a:solidFill>
                <a:latin typeface="Calibri" pitchFamily="34" charset="0"/>
                <a:ea typeface="Calibri" pitchFamily="34" charset="-122"/>
                <a:cs typeface="Calibri" pitchFamily="34" charset="-120"/>
              </a:rPr>
              <a:t>The reformed road agent laughed at Jack for pointing an unloaded squirrel gun at him; but he gave Jack a useful piece of advice — he told him that next time he really ought to trouble himself to reload it first.</a:t>
            </a:r>
            <a:endParaRPr lang="en-US" sz="1500" dirty="0"/>
          </a:p>
        </p:txBody>
      </p:sp>
      <p:sp>
        <p:nvSpPr>
          <p:cNvPr id="13" name="Text 11"/>
          <p:cNvSpPr/>
          <p:nvPr/>
        </p:nvSpPr>
        <p:spPr>
          <a:xfrm>
            <a:off x="594360" y="3310128"/>
            <a:ext cx="7955280" cy="457200"/>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Fixes: capitalize Jack ; semicolon before but (two independent clauses); em dash for dramatic setup; no comma needed after advice with the dash.</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Quick Write (Optional)</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144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 READ THE PROMPT — 1 MINUTE</a:t>
            </a:r>
            <a:endParaRPr lang="en-US" sz="1100" dirty="0"/>
          </a:p>
        </p:txBody>
      </p:sp>
      <p:sp>
        <p:nvSpPr>
          <p:cNvPr id="5" name="Shape 3"/>
          <p:cNvSpPr/>
          <p:nvPr/>
        </p:nvSpPr>
        <p:spPr>
          <a:xfrm>
            <a:off x="457200" y="1280160"/>
            <a:ext cx="8229600" cy="1463040"/>
          </a:xfrm>
          <a:prstGeom prst="roundRect">
            <a:avLst>
              <a:gd name="adj" fmla="val 6250"/>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389888"/>
            <a:ext cx="7863840" cy="12344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Jack falls into a coyote hole, a grizzly appears, and a reformed road agent shows up, all in one chapter. Which danger in Chapter 15 do you think was the most serious? Defend your answer with evidence.</a:t>
            </a:r>
            <a:endParaRPr lang="en-US" sz="1600" dirty="0"/>
          </a:p>
        </p:txBody>
      </p:sp>
      <p:sp>
        <p:nvSpPr>
          <p:cNvPr id="7" name="Text 5"/>
          <p:cNvSpPr/>
          <p:nvPr/>
        </p:nvSpPr>
        <p:spPr>
          <a:xfrm>
            <a:off x="457200" y="292608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SENTENCE SCAFFOLD (USE WHAT HELPS)</a:t>
            </a:r>
            <a:endParaRPr lang="en-US" sz="1100" dirty="0"/>
          </a:p>
        </p:txBody>
      </p:sp>
      <p:sp>
        <p:nvSpPr>
          <p:cNvPr id="8" name="Text 6"/>
          <p:cNvSpPr/>
          <p:nvPr/>
        </p:nvSpPr>
        <p:spPr>
          <a:xfrm>
            <a:off x="457200" y="3218688"/>
            <a:ext cx="8229600" cy="822960"/>
          </a:xfrm>
          <a:prstGeom prst="rect">
            <a:avLst/>
          </a:prstGeom>
          <a:noFill/>
          <a:ln/>
        </p:spPr>
        <p:txBody>
          <a:bodyPr wrap="square" lIns="0" tIns="0" rIns="0" bIns="0" rtlCol="0" anchor="ctr"/>
          <a:lstStyle/>
          <a:p>
            <a:pPr indent="0" marL="0">
              <a:buNone/>
            </a:pPr>
            <a:r>
              <a:rPr lang="en-US" sz="1150" i="1" dirty="0">
                <a:solidFill>
                  <a:srgbClr val="0E1C42"/>
                </a:solidFill>
                <a:latin typeface="Calibri" pitchFamily="34" charset="0"/>
                <a:ea typeface="Calibri" pitchFamily="34" charset="-122"/>
                <a:cs typeface="Calibri" pitchFamily="34" charset="-120"/>
              </a:rPr>
              <a:t>I think...   →   because...   →   One piece of evidence is...   →   This matters because...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  Writing Time</a:t>
            </a:r>
            <a:endParaRPr lang="en-US" sz="3000" dirty="0"/>
          </a:p>
        </p:txBody>
      </p:sp>
      <p:sp>
        <p:nvSpPr>
          <p:cNvPr id="3" name="Text 1"/>
          <p:cNvSpPr/>
          <p:nvPr/>
        </p:nvSpPr>
        <p:spPr>
          <a:xfrm>
            <a:off x="914400" y="804672"/>
            <a:ext cx="7315200" cy="365760"/>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5 minutes — keep your pencil moving!</a:t>
            </a:r>
            <a:endParaRPr lang="en-US" sz="1500" dirty="0"/>
          </a:p>
        </p:txBody>
      </p:sp>
      <p:sp>
        <p:nvSpPr>
          <p:cNvPr id="4" name="Shape 2"/>
          <p:cNvSpPr/>
          <p:nvPr/>
        </p:nvSpPr>
        <p:spPr>
          <a:xfrm>
            <a:off x="457200" y="1325880"/>
            <a:ext cx="8229600" cy="1188720"/>
          </a:xfrm>
          <a:prstGeom prst="roundRect">
            <a:avLst>
              <a:gd name="adj" fmla="val 7692"/>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371600"/>
            <a:ext cx="7863840" cy="109728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 Prompt: </a:t>
            </a:r>
            <a:pPr indent="0" marL="0">
              <a:buNone/>
            </a:pPr>
            <a:r>
              <a:rPr lang="en-US" sz="1200" i="1" dirty="0">
                <a:solidFill>
                  <a:srgbClr val="1E293B"/>
                </a:solidFill>
                <a:latin typeface="Calibri" pitchFamily="34" charset="0"/>
                <a:ea typeface="Calibri" pitchFamily="34" charset="-122"/>
                <a:cs typeface="Calibri" pitchFamily="34" charset="-120"/>
              </a:rPr>
              <a:t>Jack falls into a coyote hole, a grizzly appears, and a reformed road agent shows up, all in one chapter. Which danger in Chapter 15 do you think was the most serious? Defend your answer with evidence.</a:t>
            </a:r>
            <a:endParaRPr lang="en-US" sz="1200" dirty="0"/>
          </a:p>
        </p:txBody>
      </p:sp>
      <p:sp>
        <p:nvSpPr>
          <p:cNvPr id="6" name="Shape 4"/>
          <p:cNvSpPr/>
          <p:nvPr/>
        </p:nvSpPr>
        <p:spPr>
          <a:xfrm>
            <a:off x="1554480" y="2743200"/>
            <a:ext cx="6035040" cy="1600200"/>
          </a:xfrm>
          <a:prstGeom prst="roundRect">
            <a:avLst>
              <a:gd name="adj" fmla="val 6857"/>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737360" y="2834640"/>
            <a:ext cx="5669280" cy="14173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Scaffold, if you need it:
</a:t>
            </a:r>
            <a:pPr indent="0" marL="0">
              <a:buNone/>
            </a:pPr>
            <a:r>
              <a:rPr lang="en-US" sz="1150" dirty="0">
                <a:solidFill>
                  <a:srgbClr val="1E293B"/>
                </a:solidFill>
                <a:latin typeface="Calibri" pitchFamily="34" charset="0"/>
                <a:ea typeface="Calibri" pitchFamily="34" charset="-122"/>
                <a:cs typeface="Calibri" pitchFamily="34" charset="-120"/>
              </a:rPr>
              <a:t>I think...</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because...</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One piece of evidence is...</a:t>
            </a:r>
            <a:endParaRPr lang="en-US" sz="1300" dirty="0"/>
          </a:p>
          <a:p>
            <a:pPr indent="0" marL="0">
              <a:buNone/>
            </a:pPr>
            <a:r>
              <a:rPr lang="en-US" sz="1150" dirty="0">
                <a:solidFill>
                  <a:srgbClr val="1E293B"/>
                </a:solidFill>
                <a:latin typeface="Calibri" pitchFamily="34" charset="0"/>
                <a:ea typeface="Calibri" pitchFamily="34" charset="-122"/>
                <a:cs typeface="Calibri" pitchFamily="34" charset="-120"/>
              </a:rPr>
              <a:t>This matters because...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3657600" y="320040"/>
            <a:ext cx="1828800" cy="548640"/>
          </a:xfrm>
          <a:prstGeom prst="rect">
            <a:avLst/>
          </a:prstGeom>
          <a:noFill/>
          <a:ln/>
        </p:spPr>
        <p:txBody>
          <a:bodyPr wrap="square" lIns="0" tIns="0" rIns="0" bIns="0" rtlCol="0" anchor="ctr"/>
          <a:lstStyle/>
          <a:p>
            <a:pPr algn="ctr" indent="0" marL="0">
              <a:buNone/>
            </a:pPr>
            <a:r>
              <a:rPr lang="en-US" sz="3600" dirty="0">
                <a:solidFill>
                  <a:srgbClr val="000000"/>
                </a:solidFill>
              </a:rPr>
              <a:t>🔍</a:t>
            </a:r>
            <a:endParaRPr lang="en-US" sz="3600" dirty="0"/>
          </a:p>
        </p:txBody>
      </p:sp>
      <p:sp>
        <p:nvSpPr>
          <p:cNvPr id="3" name="Text 1"/>
          <p:cNvSpPr/>
          <p:nvPr/>
        </p:nvSpPr>
        <p:spPr>
          <a:xfrm>
            <a:off x="914400" y="822960"/>
            <a:ext cx="7315200" cy="594360"/>
          </a:xfrm>
          <a:prstGeom prst="rect">
            <a:avLst/>
          </a:prstGeom>
          <a:noFill/>
          <a:ln/>
        </p:spPr>
        <p:txBody>
          <a:bodyPr wrap="square" lIns="0" tIns="0" rIns="0" bIns="0" rtlCol="0" anchor="ctr"/>
          <a:lstStyle/>
          <a:p>
            <a:pPr algn="ctr" indent="0" marL="0">
              <a:buNone/>
            </a:pPr>
            <a:r>
              <a:rPr lang="en-US" sz="2800" b="1" dirty="0">
                <a:solidFill>
                  <a:srgbClr val="0E1C42"/>
                </a:solidFill>
                <a:latin typeface="Calibri" pitchFamily="34" charset="0"/>
                <a:ea typeface="Calibri" pitchFamily="34" charset="-122"/>
                <a:cs typeface="Calibri" pitchFamily="34" charset="-120"/>
              </a:rPr>
              <a:t>Edit &amp; Revise</a:t>
            </a:r>
            <a:endParaRPr lang="en-US" sz="2800" dirty="0"/>
          </a:p>
        </p:txBody>
      </p:sp>
      <p:sp>
        <p:nvSpPr>
          <p:cNvPr id="4" name="Text 2"/>
          <p:cNvSpPr/>
          <p:nvPr/>
        </p:nvSpPr>
        <p:spPr>
          <a:xfrm>
            <a:off x="914400" y="1371600"/>
            <a:ext cx="7315200" cy="411480"/>
          </a:xfrm>
          <a:prstGeom prst="rect">
            <a:avLst/>
          </a:prstGeom>
          <a:noFill/>
          <a:ln/>
        </p:spPr>
        <p:txBody>
          <a:bodyPr wrap="square" lIns="0" tIns="0" rIns="0" bIns="0" rtlCol="0" anchor="ctr"/>
          <a:lstStyle/>
          <a:p>
            <a:pPr algn="ctr" indent="0" marL="0">
              <a:buNone/>
            </a:pPr>
            <a:r>
              <a:rPr lang="en-US" sz="1400" dirty="0">
                <a:solidFill>
                  <a:srgbClr val="34B76F"/>
                </a:solidFill>
                <a:latin typeface="Calibri" pitchFamily="34" charset="0"/>
                <a:ea typeface="Calibri" pitchFamily="34" charset="-122"/>
                <a:cs typeface="Calibri" pitchFamily="34" charset="-120"/>
              </a:rPr>
              <a:t>1 minute — one deliberate decision, not a full edit pass</a:t>
            </a:r>
            <a:endParaRPr lang="en-US" sz="1400" dirty="0"/>
          </a:p>
        </p:txBody>
      </p:sp>
      <p:sp>
        <p:nvSpPr>
          <p:cNvPr id="5" name="Shape 3"/>
          <p:cNvSpPr/>
          <p:nvPr/>
        </p:nvSpPr>
        <p:spPr>
          <a:xfrm>
            <a:off x="1188720" y="2011680"/>
            <a:ext cx="676656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1371600" y="2084832"/>
            <a:ext cx="6400800" cy="640080"/>
          </a:xfrm>
          <a:prstGeom prst="rect">
            <a:avLst/>
          </a:prstGeom>
          <a:noFill/>
          <a:ln/>
        </p:spPr>
        <p:txBody>
          <a:bodyPr wrap="square" lIns="0" tIns="0" rIns="0" bIns="0" rtlCol="0" anchor="ctr"/>
          <a:lstStyle/>
          <a:p>
            <a:pPr indent="0" marL="0">
              <a:buNone/>
            </a:pPr>
            <a:r>
              <a:rPr lang="en-US" sz="1300" b="1" dirty="0">
                <a:solidFill>
                  <a:srgbClr val="34B76F"/>
                </a:solidFill>
                <a:latin typeface="Calibri" pitchFamily="34" charset="0"/>
                <a:ea typeface="Calibri" pitchFamily="34" charset="-122"/>
                <a:cs typeface="Calibri" pitchFamily="34" charset="-120"/>
              </a:rPr>
              <a:t>Today's revision check: </a:t>
            </a:r>
            <a:pPr indent="0" marL="0">
              <a:buNone/>
            </a:pPr>
            <a:r>
              <a:rPr lang="en-US" sz="1300" dirty="0">
                <a:solidFill>
                  <a:srgbClr val="1E293B"/>
                </a:solidFill>
                <a:latin typeface="Calibri" pitchFamily="34" charset="0"/>
                <a:ea typeface="Calibri" pitchFamily="34" charset="-122"/>
                <a:cs typeface="Calibri" pitchFamily="34" charset="-120"/>
              </a:rPr>
              <a:t>Is there a stronger, more specific word I could use instead of a vague one?</a:t>
            </a:r>
            <a:endParaRPr lang="en-US" sz="1300" dirty="0"/>
          </a:p>
        </p:txBody>
      </p:sp>
      <p:sp>
        <p:nvSpPr>
          <p:cNvPr id="7" name="Text 5"/>
          <p:cNvSpPr/>
          <p:nvPr/>
        </p:nvSpPr>
        <p:spPr>
          <a:xfrm>
            <a:off x="1188720" y="3017520"/>
            <a:ext cx="6766560" cy="457200"/>
          </a:xfrm>
          <a:prstGeom prst="rect">
            <a:avLst/>
          </a:prstGeom>
          <a:noFill/>
          <a:ln/>
        </p:spPr>
        <p:txBody>
          <a:bodyPr wrap="square" lIns="0" tIns="0" rIns="0" bIns="0" rtlCol="0" anchor="ctr"/>
          <a:lstStyle/>
          <a:p>
            <a:pPr algn="ctr" indent="0" marL="0">
              <a:buNone/>
            </a:pPr>
            <a:r>
              <a:rPr lang="en-US" sz="1200" i="1" dirty="0">
                <a:solidFill>
                  <a:srgbClr val="64748B"/>
                </a:solidFill>
                <a:latin typeface="Calibri" pitchFamily="34" charset="0"/>
                <a:ea typeface="Calibri" pitchFamily="34" charset="-122"/>
                <a:cs typeface="Calibri" pitchFamily="34" charset="-120"/>
              </a:rPr>
              <a:t>Revision = improving ideas. Editing = fixing conventions. Pick ONE thing.</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0" y="457200"/>
            <a:ext cx="1828800" cy="640080"/>
          </a:xfrm>
          <a:prstGeom prst="rect">
            <a:avLst/>
          </a:prstGeom>
          <a:noFill/>
          <a:ln/>
        </p:spPr>
        <p:txBody>
          <a:bodyPr wrap="square" lIns="0" tIns="0" rIns="0" bIns="0" rtlCol="0" anchor="ctr"/>
          <a:lstStyle/>
          <a:p>
            <a:pPr algn="ctr" indent="0" marL="0">
              <a:buNone/>
            </a:pPr>
            <a:r>
              <a:rPr lang="en-US" sz="4000" dirty="0">
                <a:solidFill>
                  <a:srgbClr val="000000"/>
                </a:solidFill>
              </a:rPr>
              <a:t>🗣️</a:t>
            </a:r>
            <a:endParaRPr lang="en-US" sz="4000" dirty="0"/>
          </a:p>
        </p:txBody>
      </p:sp>
      <p:sp>
        <p:nvSpPr>
          <p:cNvPr id="3" name="Text 1"/>
          <p:cNvSpPr/>
          <p:nvPr/>
        </p:nvSpPr>
        <p:spPr>
          <a:xfrm>
            <a:off x="914400" y="1005840"/>
            <a:ext cx="7315200" cy="594360"/>
          </a:xfrm>
          <a:prstGeom prst="rect">
            <a:avLst/>
          </a:prstGeom>
          <a:noFill/>
          <a:ln/>
        </p:spPr>
        <p:txBody>
          <a:bodyPr wrap="square" lIns="0" tIns="0" rIns="0" bIns="0" rtlCol="0" anchor="ctr"/>
          <a:lstStyle/>
          <a:p>
            <a:pPr algn="ctr" indent="0" marL="0">
              <a:buNone/>
            </a:pPr>
            <a:r>
              <a:rPr lang="en-US" sz="3000" b="1" dirty="0">
                <a:solidFill>
                  <a:srgbClr val="0E1C42"/>
                </a:solidFill>
                <a:latin typeface="Calibri" pitchFamily="34" charset="0"/>
                <a:ea typeface="Calibri" pitchFamily="34" charset="-122"/>
                <a:cs typeface="Calibri" pitchFamily="34" charset="-120"/>
              </a:rPr>
              <a:t>Share Time</a:t>
            </a:r>
            <a:endParaRPr lang="en-US" sz="3000" dirty="0"/>
          </a:p>
        </p:txBody>
      </p:sp>
      <p:sp>
        <p:nvSpPr>
          <p:cNvPr id="4" name="Text 2"/>
          <p:cNvSpPr/>
          <p:nvPr/>
        </p:nvSpPr>
        <p:spPr>
          <a:xfrm>
            <a:off x="914400" y="15544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3 minutes — let's hear your thinking!</a:t>
            </a:r>
            <a:endParaRPr lang="en-US" sz="1500" dirty="0"/>
          </a:p>
        </p:txBody>
      </p:sp>
      <p:sp>
        <p:nvSpPr>
          <p:cNvPr id="5" name="Shape 3"/>
          <p:cNvSpPr/>
          <p:nvPr/>
        </p:nvSpPr>
        <p:spPr>
          <a:xfrm>
            <a:off x="1828800" y="2194560"/>
            <a:ext cx="5486400" cy="1371600"/>
          </a:xfrm>
          <a:prstGeom prst="roundRect">
            <a:avLst>
              <a:gd name="adj" fmla="val 8000"/>
            </a:avLst>
          </a:prstGeom>
          <a:solidFill>
            <a:srgbClr val="FFFFFF"/>
          </a:solidFill>
          <a:ln/>
          <a:effectLst>
            <a:outerShdw sx="100000" sy="100000" kx="0" ky="0" algn="bl" rotWithShape="0" blurRad="101600" dist="38100" dir="2700000">
              <a:srgbClr val="000000">
                <a:alpha val="12000"/>
              </a:srgbClr>
            </a:outerShdw>
          </a:effectLst>
        </p:spPr>
      </p:sp>
      <p:sp>
        <p:nvSpPr>
          <p:cNvPr id="6" name="Text 4"/>
          <p:cNvSpPr/>
          <p:nvPr/>
        </p:nvSpPr>
        <p:spPr>
          <a:xfrm>
            <a:off x="2011680" y="2286000"/>
            <a:ext cx="5120640" cy="1188720"/>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Raise your hand </a:t>
            </a:r>
            <a:pPr indent="0" marL="0">
              <a:buNone/>
            </a:pPr>
            <a:r>
              <a:rPr lang="en-US" sz="1300" dirty="0">
                <a:solidFill>
                  <a:srgbClr val="1E293B"/>
                </a:solidFill>
                <a:latin typeface="Calibri" pitchFamily="34" charset="0"/>
                <a:ea typeface="Calibri" pitchFamily="34" charset="-122"/>
                <a:cs typeface="Calibri" pitchFamily="34" charset="-120"/>
              </a:rPr>
              <a:t>to share, or paste your writing in the chat.
</a:t>
            </a:r>
            <a:pPr indent="0" marL="0">
              <a:buNone/>
            </a:pPr>
            <a:r>
              <a:rPr lang="en-US" sz="1200" i="1" dirty="0">
                <a:solidFill>
                  <a:srgbClr val="64748B"/>
                </a:solidFill>
                <a:latin typeface="Calibri" pitchFamily="34" charset="0"/>
                <a:ea typeface="Calibri" pitchFamily="34" charset="-122"/>
                <a:cs typeface="Calibri" pitchFamily="34" charset="-120"/>
              </a:rPr>
              <a:t>If you disagree with a classmate's choice, say so respectfully — that's part of the thinking.</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Morphology</a:t>
            </a:r>
            <a:endParaRPr lang="en-US" sz="2600" dirty="0"/>
          </a:p>
        </p:txBody>
      </p:sp>
      <p:sp>
        <p:nvSpPr>
          <p:cNvPr id="3" name="Shape 1"/>
          <p:cNvSpPr/>
          <p:nvPr/>
        </p:nvSpPr>
        <p:spPr>
          <a:xfrm>
            <a:off x="365760" y="749808"/>
            <a:ext cx="8412480" cy="0"/>
          </a:xfrm>
          <a:prstGeom prst="line">
            <a:avLst/>
          </a:prstGeom>
          <a:noFill/>
          <a:ln w="19050">
            <a:solidFill>
              <a:srgbClr val="8B6FC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Suffixes –ous/–ive/–ity — Use</a:t>
            </a:r>
            <a:endParaRPr lang="en-US" sz="1100" dirty="0"/>
          </a:p>
        </p:txBody>
      </p:sp>
      <p:sp>
        <p:nvSpPr>
          <p:cNvPr id="5" name="Shape 3"/>
          <p:cNvSpPr/>
          <p:nvPr/>
        </p:nvSpPr>
        <p:spPr>
          <a:xfrm>
            <a:off x="365760" y="1097280"/>
            <a:ext cx="8412480" cy="603504"/>
          </a:xfrm>
          <a:prstGeom prst="roundRect">
            <a:avLst>
              <a:gd name="adj" fmla="val 1515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512064"/>
          </a:xfrm>
          <a:prstGeom prst="rect">
            <a:avLst/>
          </a:prstGeom>
          <a:noFill/>
          <a:ln/>
        </p:spPr>
        <p:txBody>
          <a:bodyPr wrap="square" lIns="0" tIns="0" rIns="0" bIns="0" rtlCol="0" anchor="ctr"/>
          <a:lstStyle/>
          <a:p>
            <a:pPr indent="0" marL="0">
              <a:buNone/>
            </a:pPr>
            <a:r>
              <a:rPr lang="en-US" sz="1100" dirty="0">
                <a:solidFill>
                  <a:srgbClr val="1E293B"/>
                </a:solidFill>
                <a:latin typeface="Calibri" pitchFamily="34" charset="0"/>
                <a:ea typeface="Calibri" pitchFamily="34" charset="-122"/>
                <a:cs typeface="Calibri" pitchFamily="34" charset="-120"/>
              </a:rPr>
              <a:t>In your journal: Choose one character from the novel and describe them in 3 sentences using at least one –ous word, one –ive word, and one –ity word. Underline each suffix word.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Vocabulary</a:t>
            </a:r>
            <a:endParaRPr lang="en-US" sz="2600" dirty="0"/>
          </a:p>
        </p:txBody>
      </p:sp>
      <p:sp>
        <p:nvSpPr>
          <p:cNvPr id="3" name="Shape 1"/>
          <p:cNvSpPr/>
          <p:nvPr/>
        </p:nvSpPr>
        <p:spPr>
          <a:xfrm>
            <a:off x="365760" y="749808"/>
            <a:ext cx="8412480" cy="0"/>
          </a:xfrm>
          <a:prstGeom prst="line">
            <a:avLst/>
          </a:prstGeom>
          <a:noFill/>
          <a:ln w="19050">
            <a:solidFill>
              <a:srgbClr val="55C8E8"/>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09728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notoriety  </a:t>
            </a:r>
            <a:pPr indent="0" marL="0">
              <a:buNone/>
            </a:pPr>
            <a:r>
              <a:rPr lang="en-US" sz="1150" dirty="0">
                <a:solidFill>
                  <a:srgbClr val="1E293B"/>
                </a:solidFill>
                <a:latin typeface="Calibri" pitchFamily="34" charset="0"/>
                <a:ea typeface="Calibri" pitchFamily="34" charset="-122"/>
                <a:cs typeface="Calibri" pitchFamily="34" charset="-120"/>
              </a:rPr>
              <a:t>The state of being known for something bold or questionable</a:t>
            </a:r>
            <a:endParaRPr lang="en-US" sz="1300" dirty="0"/>
          </a:p>
        </p:txBody>
      </p:sp>
      <p:sp>
        <p:nvSpPr>
          <p:cNvPr id="7" name="Shape 5"/>
          <p:cNvSpPr/>
          <p:nvPr/>
        </p:nvSpPr>
        <p:spPr>
          <a:xfrm>
            <a:off x="365760" y="169164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3736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tenacious  </a:t>
            </a:r>
            <a:pPr indent="0" marL="0">
              <a:buNone/>
            </a:pPr>
            <a:r>
              <a:rPr lang="en-US" sz="1150" dirty="0">
                <a:solidFill>
                  <a:srgbClr val="1E293B"/>
                </a:solidFill>
                <a:latin typeface="Calibri" pitchFamily="34" charset="0"/>
                <a:ea typeface="Calibri" pitchFamily="34" charset="-122"/>
                <a:cs typeface="Calibri" pitchFamily="34" charset="-120"/>
              </a:rPr>
              <a:t>Holding firmly; refusing to give up on a goal</a:t>
            </a:r>
            <a:endParaRPr lang="en-US" sz="1300" dirty="0"/>
          </a:p>
        </p:txBody>
      </p:sp>
      <p:sp>
        <p:nvSpPr>
          <p:cNvPr id="9" name="Shape 7"/>
          <p:cNvSpPr/>
          <p:nvPr/>
        </p:nvSpPr>
        <p:spPr>
          <a:xfrm>
            <a:off x="365760" y="228600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33172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evasive  </a:t>
            </a:r>
            <a:pPr indent="0" marL="0">
              <a:buNone/>
            </a:pPr>
            <a:r>
              <a:rPr lang="en-US" sz="1150" dirty="0">
                <a:solidFill>
                  <a:srgbClr val="1E293B"/>
                </a:solidFill>
                <a:latin typeface="Calibri" pitchFamily="34" charset="0"/>
                <a:ea typeface="Calibri" pitchFamily="34" charset="-122"/>
                <a:cs typeface="Calibri" pitchFamily="34" charset="-120"/>
              </a:rPr>
              <a:t>Tending to avoid or escape; not straightforward</a:t>
            </a:r>
            <a:endParaRPr lang="en-US" sz="1300" dirty="0"/>
          </a:p>
        </p:txBody>
      </p:sp>
      <p:sp>
        <p:nvSpPr>
          <p:cNvPr id="11" name="Shape 9"/>
          <p:cNvSpPr/>
          <p:nvPr/>
        </p:nvSpPr>
        <p:spPr>
          <a:xfrm>
            <a:off x="365760" y="2880360"/>
            <a:ext cx="8412480" cy="530352"/>
          </a:xfrm>
          <a:prstGeom prst="roundRect">
            <a:avLst>
              <a:gd name="adj" fmla="val 17241"/>
            </a:avLst>
          </a:prstGeom>
          <a:solidFill>
            <a:srgbClr val="EAF6FA"/>
          </a:solidFill>
          <a:ln/>
          <a:effectLst>
            <a:outerShdw sx="100000" sy="100000" kx="0" ky="0" algn="bl" rotWithShape="0" blurRad="101600" dist="38100" dir="2700000">
              <a:srgbClr val="000000">
                <a:alpha val="12000"/>
              </a:srgbClr>
            </a:outerShdw>
          </a:effectLst>
        </p:spPr>
      </p:sp>
      <p:sp>
        <p:nvSpPr>
          <p:cNvPr id="12" name="Text 10"/>
          <p:cNvSpPr/>
          <p:nvPr/>
        </p:nvSpPr>
        <p:spPr>
          <a:xfrm>
            <a:off x="548640" y="292608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benefactor  </a:t>
            </a:r>
            <a:pPr indent="0" marL="0">
              <a:buNone/>
            </a:pPr>
            <a:r>
              <a:rPr lang="en-US" sz="1150" dirty="0">
                <a:solidFill>
                  <a:srgbClr val="1E293B"/>
                </a:solidFill>
                <a:latin typeface="Calibri" pitchFamily="34" charset="0"/>
                <a:ea typeface="Calibri" pitchFamily="34" charset="-122"/>
                <a:cs typeface="Calibri" pitchFamily="34" charset="-120"/>
              </a:rPr>
              <a:t>A person who gives help or advantage to another</a:t>
            </a:r>
            <a:endParaRPr lang="en-US" sz="1300" dirty="0"/>
          </a:p>
        </p:txBody>
      </p:sp>
      <p:sp>
        <p:nvSpPr>
          <p:cNvPr id="13" name="Shape 11"/>
          <p:cNvSpPr/>
          <p:nvPr/>
        </p:nvSpPr>
        <p:spPr>
          <a:xfrm>
            <a:off x="365760" y="3474720"/>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14" name="Text 12"/>
          <p:cNvSpPr/>
          <p:nvPr/>
        </p:nvSpPr>
        <p:spPr>
          <a:xfrm>
            <a:off x="548640" y="3520440"/>
            <a:ext cx="8046720" cy="438912"/>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prospector  </a:t>
            </a:r>
            <a:pPr indent="0" marL="0">
              <a:buNone/>
            </a:pPr>
            <a:r>
              <a:rPr lang="en-US" sz="1150" dirty="0">
                <a:solidFill>
                  <a:srgbClr val="1E293B"/>
                </a:solidFill>
                <a:latin typeface="Calibri" pitchFamily="34" charset="0"/>
                <a:ea typeface="Calibri" pitchFamily="34" charset="-122"/>
                <a:cs typeface="Calibri" pitchFamily="34" charset="-120"/>
              </a:rPr>
              <a:t>A person who searches for gold or other minerals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Grammar — Sentence Variety — Use</a:t>
            </a:r>
            <a:endParaRPr lang="en-US" sz="26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115568"/>
            <a:ext cx="8412480" cy="566928"/>
          </a:xfrm>
          <a:prstGeom prst="roundRect">
            <a:avLst>
              <a:gd name="adj" fmla="val 1612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In your journal: Find one paragraph in your own adventure draft that uses only one type of sentence opener. Revise it with at least two different openers. Write both versions — original and revised.</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Spelling — Word Families — Use &amp; SWYK</a:t>
            </a:r>
            <a:endParaRPr lang="en-US" sz="2600" dirty="0"/>
          </a:p>
        </p:txBody>
      </p:sp>
      <p:sp>
        <p:nvSpPr>
          <p:cNvPr id="3" name="Shape 1"/>
          <p:cNvSpPr/>
          <p:nvPr/>
        </p:nvSpPr>
        <p:spPr>
          <a:xfrm>
            <a:off x="365760" y="749808"/>
            <a:ext cx="8412480" cy="0"/>
          </a:xfrm>
          <a:prstGeom prst="line">
            <a:avLst/>
          </a:prstGeom>
          <a:noFill/>
          <a:ln w="19050">
            <a:solidFill>
              <a:srgbClr val="0E1C42"/>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endParaRPr lang="en-US" sz="1100" dirty="0"/>
          </a:p>
        </p:txBody>
      </p:sp>
      <p:sp>
        <p:nvSpPr>
          <p:cNvPr id="5" name="Shape 3"/>
          <p:cNvSpPr/>
          <p:nvPr/>
        </p:nvSpPr>
        <p:spPr>
          <a:xfrm>
            <a:off x="365760" y="1115568"/>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61288"/>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A word family is a group of words that share a common root but use different prefixes and suffixes to change meaning and part of speech.</a:t>
            </a:r>
            <a:endParaRPr lang="en-US" sz="1150" dirty="0"/>
          </a:p>
        </p:txBody>
      </p:sp>
      <p:sp>
        <p:nvSpPr>
          <p:cNvPr id="7" name="Shape 5"/>
          <p:cNvSpPr/>
          <p:nvPr/>
        </p:nvSpPr>
        <p:spPr>
          <a:xfrm>
            <a:off x="365760" y="1737360"/>
            <a:ext cx="8412480" cy="566928"/>
          </a:xfrm>
          <a:prstGeom prst="roundRect">
            <a:avLst>
              <a:gd name="adj" fmla="val 16129"/>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1783080"/>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Family 1: describe describe (v.) · description (n.) · descriptive (adj.) · indescribable (adj.) · descriptor (n.)</a:t>
            </a:r>
            <a:endParaRPr lang="en-US" sz="1150" dirty="0"/>
          </a:p>
        </p:txBody>
      </p:sp>
      <p:sp>
        <p:nvSpPr>
          <p:cNvPr id="9" name="Shape 7"/>
          <p:cNvSpPr/>
          <p:nvPr/>
        </p:nvSpPr>
        <p:spPr>
          <a:xfrm>
            <a:off x="365760" y="2359152"/>
            <a:ext cx="8412480" cy="566928"/>
          </a:xfrm>
          <a:prstGeom prst="roundRect">
            <a:avLst>
              <a:gd name="adj" fmla="val 16129"/>
            </a:avLst>
          </a:prstGeom>
          <a:solidFill>
            <a:srgbClr val="EEF2FA"/>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2404872"/>
            <a:ext cx="8046720" cy="475488"/>
          </a:xfrm>
          <a:prstGeom prst="rect">
            <a:avLst/>
          </a:prstGeom>
          <a:noFill/>
          <a:ln/>
        </p:spPr>
        <p:txBody>
          <a:bodyPr wrap="square" lIns="0" tIns="0" rIns="0" bIns="0" rtlCol="0" anchor="ctr"/>
          <a:lstStyle/>
          <a:p>
            <a:pPr indent="0" marL="0">
              <a:buNone/>
            </a:pPr>
            <a:r>
              <a:rPr lang="en-US" sz="1150" dirty="0">
                <a:solidFill>
                  <a:srgbClr val="1E293B"/>
                </a:solidFill>
                <a:latin typeface="Calibri" pitchFamily="34" charset="0"/>
                <a:ea typeface="Calibri" pitchFamily="34" charset="-122"/>
                <a:cs typeface="Calibri" pitchFamily="34" charset="-120"/>
              </a:rPr>
              <a:t>Family 2: persist persist (v.) · persistent (adj.) · persistence (n.) · persistently (adv.) · impersistently (rare)</a:t>
            </a:r>
            <a:endParaRPr lang="en-US" sz="1150" dirty="0"/>
          </a:p>
        </p:txBody>
      </p:sp>
      <p:sp>
        <p:nvSpPr>
          <p:cNvPr id="11" name="Shape 9"/>
          <p:cNvSpPr/>
          <p:nvPr/>
        </p:nvSpPr>
        <p:spPr>
          <a:xfrm>
            <a:off x="365760" y="3026664"/>
            <a:ext cx="8412480" cy="777240"/>
          </a:xfrm>
          <a:prstGeom prst="roundRect">
            <a:avLst>
              <a:gd name="adj" fmla="val 11765"/>
            </a:avLst>
          </a:prstGeom>
          <a:solidFill>
            <a:srgbClr val="FEF6E8"/>
          </a:solidFill>
          <a:ln w="12700">
            <a:solidFill>
              <a:srgbClr val="C7922C"/>
            </a:solidFill>
            <a:prstDash val="solid"/>
          </a:ln>
        </p:spPr>
      </p:sp>
      <p:sp>
        <p:nvSpPr>
          <p:cNvPr id="12" name="Text 10"/>
          <p:cNvSpPr/>
          <p:nvPr/>
        </p:nvSpPr>
        <p:spPr>
          <a:xfrm>
            <a:off x="548640" y="3099816"/>
            <a:ext cx="8046720" cy="640080"/>
          </a:xfrm>
          <a:prstGeom prst="rect">
            <a:avLst/>
          </a:prstGeom>
          <a:noFill/>
          <a:ln/>
        </p:spPr>
        <p:txBody>
          <a:bodyPr wrap="square" lIns="0" tIns="0" rIns="0" bIns="0" rtlCol="0" anchor="t"/>
          <a:lstStyle/>
          <a:p>
            <a:pPr indent="0" marL="0">
              <a:buNone/>
            </a:pPr>
            <a:r>
              <a:rPr lang="en-US" sz="1050" b="1" dirty="0">
                <a:solidFill>
                  <a:srgbClr val="C7922C"/>
                </a:solidFill>
                <a:latin typeface="Calibri" pitchFamily="34" charset="0"/>
                <a:ea typeface="Calibri" pitchFamily="34" charset="-122"/>
                <a:cs typeface="Calibri" pitchFamily="34" charset="-120"/>
              </a:rPr>
              <a:t>🫖 Show What You Know · Spelling
</a:t>
            </a:r>
            <a:pPr indent="0" marL="0">
              <a:buNone/>
            </a:pPr>
            <a:r>
              <a:rPr lang="en-US" sz="1050" i="1" dirty="0">
                <a:solidFill>
                  <a:srgbClr val="1E293B"/>
                </a:solidFill>
                <a:latin typeface="Calibri" pitchFamily="34" charset="0"/>
                <a:ea typeface="Calibri" pitchFamily="34" charset="-122"/>
                <a:cs typeface="Calibri" pitchFamily="34" charset="-120"/>
              </a:rPr>
              <a:t>Choose three of the four word families below. For each chosen family: (a) write all the related words given, spelled correctly; (b) underline any spelling changes from the base; and (c) use two members of the family in sentences about the novel. Families: (1) describe/description/descriptive/descriptor (2) persist/persistent/persistence/persistently (3) create/creative/creativity/creation (4) prospect/prospector/prospective/prosperous/prosperity</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Reading Focus + Story Journey</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Shape 2"/>
          <p:cNvSpPr/>
          <p:nvPr/>
        </p:nvSpPr>
        <p:spPr>
          <a:xfrm>
            <a:off x="6492240" y="173736"/>
            <a:ext cx="2286000" cy="502920"/>
          </a:xfrm>
          <a:prstGeom prst="roundRect">
            <a:avLst>
              <a:gd name="adj" fmla="val 21818"/>
            </a:avLst>
          </a:prstGeom>
          <a:solidFill>
            <a:srgbClr val="5CB85C"/>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YOUR STORY JOURNEY</a:t>
            </a:r>
            <a:endParaRPr lang="en-US" sz="1100" dirty="0"/>
          </a:p>
        </p:txBody>
      </p:sp>
      <p:sp>
        <p:nvSpPr>
          <p:cNvPr id="7" name="Shape 5"/>
          <p:cNvSpPr/>
          <p:nvPr/>
        </p:nvSpPr>
        <p:spPr>
          <a:xfrm>
            <a:off x="365760" y="1078992"/>
            <a:ext cx="8412480" cy="640080"/>
          </a:xfrm>
          <a:prstGeom prst="roundRect">
            <a:avLst>
              <a:gd name="adj" fmla="val 14286"/>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52144"/>
            <a:ext cx="7955280" cy="493776"/>
          </a:xfrm>
          <a:prstGeom prst="rect">
            <a:avLst/>
          </a:prstGeom>
          <a:noFill/>
          <a:ln/>
        </p:spPr>
        <p:txBody>
          <a:bodyPr wrap="square" lIns="0" tIns="0" rIns="0" bIns="0" rtlCol="0" anchor="ctr"/>
          <a:lstStyle/>
          <a:p>
            <a:pPr indent="0" marL="0">
              <a:buNone/>
            </a:pPr>
            <a:r>
              <a:rPr lang="en-US" sz="1250" b="1" dirty="0">
                <a:solidFill>
                  <a:srgbClr val="1E293B"/>
                </a:solidFill>
                <a:latin typeface="Calibri" pitchFamily="34" charset="0"/>
                <a:ea typeface="Calibri" pitchFamily="34" charset="-122"/>
                <a:cs typeface="Calibri" pitchFamily="34" charset="-120"/>
              </a:rPr>
              <a:t>Six Weeks with By the Great Horn Spoon! — Week 29 — Chapter 15: The Man Who Couldn't Sit Down</a:t>
            </a:r>
            <a:endParaRPr lang="en-US" sz="1250" dirty="0"/>
          </a:p>
        </p:txBody>
      </p:sp>
      <p:sp>
        <p:nvSpPr>
          <p:cNvPr id="9" name="Text 7"/>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5CB85C"/>
                </a:solidFill>
                <a:latin typeface="Calibri" pitchFamily="34" charset="0"/>
                <a:ea typeface="Calibri" pitchFamily="34" charset="-122"/>
                <a:cs typeface="Calibri" pitchFamily="34" charset="-120"/>
              </a:rPr>
              <a:t>TODAY YOU ARE READING</a:t>
            </a:r>
            <a:endParaRPr lang="en-US" sz="1100" dirty="0"/>
          </a:p>
        </p:txBody>
      </p:sp>
      <p:sp>
        <p:nvSpPr>
          <p:cNvPr id="10" name="Shape 8"/>
          <p:cNvSpPr/>
          <p:nvPr/>
        </p:nvSpPr>
        <p:spPr>
          <a:xfrm>
            <a:off x="365760" y="2084832"/>
            <a:ext cx="8412480" cy="548640"/>
          </a:xfrm>
          <a:prstGeom prst="roundRect">
            <a:avLst>
              <a:gd name="adj" fmla="val 16667"/>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139696"/>
            <a:ext cx="7955280" cy="438912"/>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Week 29 — Chapter 15: The Man Who Couldn't Sit Down</a:t>
            </a:r>
            <a:endParaRPr lang="en-US" sz="1400" dirty="0"/>
          </a:p>
        </p:txBody>
      </p:sp>
      <p:sp>
        <p:nvSpPr>
          <p:cNvPr id="12" name="Text 10"/>
          <p:cNvSpPr/>
          <p:nvPr/>
        </p:nvSpPr>
        <p:spPr>
          <a:xfrm>
            <a:off x="365760" y="274320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READING FOCUS</a:t>
            </a:r>
            <a:endParaRPr lang="en-US" sz="1100" dirty="0"/>
          </a:p>
        </p:txBody>
      </p:sp>
      <p:sp>
        <p:nvSpPr>
          <p:cNvPr id="13" name="Shape 11"/>
          <p:cNvSpPr/>
          <p:nvPr/>
        </p:nvSpPr>
        <p:spPr>
          <a:xfrm>
            <a:off x="365760" y="2999232"/>
            <a:ext cx="8412480" cy="1600200"/>
          </a:xfrm>
          <a:prstGeom prst="roundRect">
            <a:avLst>
              <a:gd name="adj" fmla="val 5714"/>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090672"/>
            <a:ext cx="7955280" cy="1417320"/>
          </a:xfrm>
          <a:prstGeom prst="rect">
            <a:avLst/>
          </a:prstGeom>
          <a:noFill/>
          <a:ln/>
        </p:spPr>
        <p:txBody>
          <a:bodyPr wrap="square" lIns="0" tIns="0" rIns="0" bIns="0" rtlCol="0" anchor="t"/>
          <a:lstStyle/>
          <a:p>
            <a:pPr indent="0" marL="0">
              <a:buNone/>
            </a:pPr>
            <a:r>
              <a:rPr lang="en-US" sz="1150" i="1" dirty="0">
                <a:solidFill>
                  <a:srgbClr val="1E293B"/>
                </a:solidFill>
                <a:latin typeface="Calibri" pitchFamily="34" charset="0"/>
                <a:ea typeface="Calibri" pitchFamily="34" charset="-122"/>
                <a:cs typeface="Calibri" pitchFamily="34" charset="-120"/>
              </a:rPr>
              <a:t>📌 Reading Focus Chapter 15 combines three of Fleischman’s best comic-adventure techniques: (1) escalating danger that turns absurd (grizzly + coyote hole + unloaded gun); (2) a villain redeemed by circumstance (the road agent who can’t sit down); (3) a hope dashed — but Praiseworthy responds immediately with the next plan. Watch how Fleischman handles the disappointment of the empty coat. How does tone prevent this moment from feeling like a failure?</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Comprehension — Read: Chapter 15 — “The Man Who Couldn’t Sit Down”</a:t>
            </a:r>
            <a:endParaRPr lang="en-US" sz="2600" dirty="0"/>
          </a:p>
        </p:txBody>
      </p:sp>
      <p:sp>
        <p:nvSpPr>
          <p:cNvPr id="3" name="Shape 1"/>
          <p:cNvSpPr/>
          <p:nvPr/>
        </p:nvSpPr>
        <p:spPr>
          <a:xfrm>
            <a:off x="365760" y="749808"/>
            <a:ext cx="8412480" cy="0"/>
          </a:xfrm>
          <a:prstGeom prst="line">
            <a:avLst/>
          </a:prstGeom>
          <a:noFill/>
          <a:ln w="19050">
            <a:solidFill>
              <a:srgbClr val="5CB85C"/>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WHAT YOU'LL ANSWER TODAY</a:t>
            </a:r>
            <a:endParaRPr lang="en-US" sz="1100" dirty="0"/>
          </a:p>
        </p:txBody>
      </p:sp>
      <p:sp>
        <p:nvSpPr>
          <p:cNvPr id="5" name="Shape 3"/>
          <p:cNvSpPr/>
          <p:nvPr/>
        </p:nvSpPr>
        <p:spPr>
          <a:xfrm>
            <a:off x="365760" y="1097280"/>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1.  </a:t>
            </a:r>
            <a:pPr indent="0" marL="0">
              <a:buNone/>
            </a:pPr>
            <a:r>
              <a:rPr lang="en-US" sz="1100" dirty="0">
                <a:solidFill>
                  <a:srgbClr val="1E293B"/>
                </a:solidFill>
                <a:latin typeface="Calibri" pitchFamily="34" charset="0"/>
                <a:ea typeface="Calibri" pitchFamily="34" charset="-122"/>
                <a:cs typeface="Calibri" pitchFamily="34" charset="-120"/>
              </a:rPr>
              <a:t>Jack is trapped in a coyote hole with a grizzly nearby and only an unloaded squirrel gun. Explain how Fleischman makes this moment simultaneously frightening, funny, and revealing of Jack’s character.</a:t>
            </a:r>
            <a:endParaRPr lang="en-US" sz="1300" dirty="0"/>
          </a:p>
        </p:txBody>
      </p:sp>
      <p:sp>
        <p:nvSpPr>
          <p:cNvPr id="7" name="Shape 5"/>
          <p:cNvSpPr/>
          <p:nvPr/>
        </p:nvSpPr>
        <p:spPr>
          <a:xfrm>
            <a:off x="365760" y="2084832"/>
            <a:ext cx="8412480" cy="914400"/>
          </a:xfrm>
          <a:prstGeom prst="roundRect">
            <a:avLst>
              <a:gd name="adj" fmla="val 10000"/>
            </a:avLst>
          </a:prstGeom>
          <a:solidFill>
            <a:srgbClr val="F4F7FC"/>
          </a:solidFill>
          <a:ln/>
          <a:effectLst>
            <a:outerShdw sx="100000" sy="100000" kx="0" ky="0" algn="bl" rotWithShape="0" blurRad="101600" dist="38100" dir="2700000">
              <a:srgbClr val="000000">
                <a:alpha val="12000"/>
              </a:srgbClr>
            </a:outerShdw>
          </a:effectLst>
        </p:spPr>
      </p:sp>
      <p:sp>
        <p:nvSpPr>
          <p:cNvPr id="8" name="Text 6"/>
          <p:cNvSpPr/>
          <p:nvPr/>
        </p:nvSpPr>
        <p:spPr>
          <a:xfrm>
            <a:off x="548640" y="2139696"/>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2.  </a:t>
            </a:r>
            <a:pPr indent="0" marL="0">
              <a:buNone/>
            </a:pPr>
            <a:r>
              <a:rPr lang="en-US" sz="1100" dirty="0">
                <a:solidFill>
                  <a:srgbClr val="1E293B"/>
                </a:solidFill>
                <a:latin typeface="Calibri" pitchFamily="34" charset="0"/>
                <a:ea typeface="Calibri" pitchFamily="34" charset="-122"/>
                <a:cs typeface="Calibri" pitchFamily="34" charset="-120"/>
              </a:rPr>
              <a:t>When the coat is opened and there is no map, Jack’s excitement “died away.” Praiseworthy’s immediate response is “Put some beans on to fry, partner Jack. First thing in the morning we’ll start for Shirt-tail Camp.” What does this response tell us about Praiseworthy’s character — and why does Fleischman end the chapter on this note?</a:t>
            </a:r>
            <a:endParaRPr lang="en-US" sz="1300" dirty="0"/>
          </a:p>
        </p:txBody>
      </p:sp>
      <p:sp>
        <p:nvSpPr>
          <p:cNvPr id="9" name="Shape 7"/>
          <p:cNvSpPr/>
          <p:nvPr/>
        </p:nvSpPr>
        <p:spPr>
          <a:xfrm>
            <a:off x="365760" y="3072384"/>
            <a:ext cx="8412480" cy="914400"/>
          </a:xfrm>
          <a:prstGeom prst="roundRect">
            <a:avLst>
              <a:gd name="adj" fmla="val 10000"/>
            </a:avLst>
          </a:prstGeom>
          <a:solidFill>
            <a:srgbClr val="F8FAFC"/>
          </a:solidFill>
          <a:ln/>
          <a:effectLst>
            <a:outerShdw sx="100000" sy="100000" kx="0" ky="0" algn="bl" rotWithShape="0" blurRad="101600" dist="38100" dir="2700000">
              <a:srgbClr val="000000">
                <a:alpha val="12000"/>
              </a:srgbClr>
            </a:outerShdw>
          </a:effectLst>
        </p:spPr>
      </p:sp>
      <p:sp>
        <p:nvSpPr>
          <p:cNvPr id="10" name="Text 8"/>
          <p:cNvSpPr/>
          <p:nvPr/>
        </p:nvSpPr>
        <p:spPr>
          <a:xfrm>
            <a:off x="548640" y="3127248"/>
            <a:ext cx="8046720" cy="804672"/>
          </a:xfrm>
          <a:prstGeom prst="rect">
            <a:avLst/>
          </a:prstGeom>
          <a:noFill/>
          <a:ln/>
        </p:spPr>
        <p:txBody>
          <a:bodyPr wrap="square" lIns="0" tIns="0" rIns="0" bIns="0" rtlCol="0" anchor="ctr"/>
          <a:lstStyle/>
          <a:p>
            <a:pPr indent="0" marL="0">
              <a:buNone/>
            </a:pPr>
            <a:r>
              <a:rPr lang="en-US" sz="1300" b="1" dirty="0">
                <a:solidFill>
                  <a:srgbClr val="5CB85C"/>
                </a:solidFill>
                <a:latin typeface="Calibri" pitchFamily="34" charset="0"/>
                <a:ea typeface="Calibri" pitchFamily="34" charset="-122"/>
                <a:cs typeface="Calibri" pitchFamily="34" charset="-120"/>
              </a:rPr>
              <a:t>3.  </a:t>
            </a:r>
            <a:pPr indent="0" marL="0">
              <a:buNone/>
            </a:pPr>
            <a:r>
              <a:rPr lang="en-US" sz="1100" dirty="0">
                <a:solidFill>
                  <a:srgbClr val="1E293B"/>
                </a:solidFill>
                <a:latin typeface="Calibri" pitchFamily="34" charset="0"/>
                <a:ea typeface="Calibri" pitchFamily="34" charset="-122"/>
                <a:cs typeface="Calibri" pitchFamily="34" charset="-120"/>
              </a:rPr>
              <a:t>Looking across Chapters 13–15, Fleischman keeps delaying the main goal — finding gold, catching Cut-Eye Higgins, getting the map. Explain how he uses humor, character development, and quick pivots to keep the reader engaged even though the heroes keep failing to get what they want.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600" b="1" dirty="0">
                <a:solidFill>
                  <a:srgbClr val="0E1C42"/>
                </a:solidFill>
                <a:latin typeface="Calibri" pitchFamily="34" charset="0"/>
                <a:ea typeface="Calibri" pitchFamily="34" charset="-122"/>
                <a:cs typeface="Calibri" pitchFamily="34" charset="-120"/>
              </a:rPr>
              <a:t>✍️ Writing Connection</a:t>
            </a:r>
            <a:endParaRPr lang="en-US" sz="26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Text 2"/>
          <p:cNvSpPr/>
          <p:nvPr/>
        </p:nvSpPr>
        <p:spPr>
          <a:xfrm>
            <a:off x="365760" y="841248"/>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STAGE: REVISE</a:t>
            </a:r>
            <a:endParaRPr lang="en-US" sz="1100" dirty="0"/>
          </a:p>
        </p:txBody>
      </p:sp>
      <p:sp>
        <p:nvSpPr>
          <p:cNvPr id="5" name="Shape 3"/>
          <p:cNvSpPr/>
          <p:nvPr/>
        </p:nvSpPr>
        <p:spPr>
          <a:xfrm>
            <a:off x="365760" y="1097280"/>
            <a:ext cx="8412480" cy="502920"/>
          </a:xfrm>
          <a:prstGeom prst="roundRect">
            <a:avLst>
              <a:gd name="adj" fmla="val 18182"/>
            </a:avLst>
          </a:prstGeom>
          <a:solidFill>
            <a:srgbClr val="E8F8E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43000"/>
            <a:ext cx="8046720" cy="411480"/>
          </a:xfrm>
          <a:prstGeom prst="rect">
            <a:avLst/>
          </a:prstGeom>
          <a:noFill/>
          <a:ln/>
        </p:spPr>
        <p:txBody>
          <a:bodyPr wrap="square" lIns="0" tIns="0" rIns="0" bIns="0" rtlCol="0" anchor="ctr"/>
          <a:lstStyle/>
          <a:p>
            <a:pPr indent="0" marL="0">
              <a:buNone/>
            </a:pPr>
            <a:r>
              <a:rPr lang="en-US" sz="1300" b="1" dirty="0">
                <a:solidFill>
                  <a:srgbClr val="1E293B"/>
                </a:solidFill>
                <a:latin typeface="Calibri" pitchFamily="34" charset="0"/>
                <a:ea typeface="Calibri" pitchFamily="34" charset="-122"/>
                <a:cs typeface="Calibri" pitchFamily="34" charset="-120"/>
              </a:rPr>
              <a:t>Revise for description — replace one vague detail with one specific one</a:t>
            </a:r>
            <a:endParaRPr lang="en-US" sz="1300" dirty="0"/>
          </a:p>
        </p:txBody>
      </p:sp>
      <p:sp>
        <p:nvSpPr>
          <p:cNvPr id="7" name="Text 5"/>
          <p:cNvSpPr/>
          <p:nvPr/>
        </p:nvSpPr>
        <p:spPr>
          <a:xfrm>
            <a:off x="365760" y="175564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 TODAY'S TASK</a:t>
            </a:r>
            <a:endParaRPr lang="en-US" sz="1100" dirty="0"/>
          </a:p>
        </p:txBody>
      </p:sp>
      <p:sp>
        <p:nvSpPr>
          <p:cNvPr id="8" name="Shape 6"/>
          <p:cNvSpPr/>
          <p:nvPr/>
        </p:nvSpPr>
        <p:spPr>
          <a:xfrm>
            <a:off x="365760" y="2011680"/>
            <a:ext cx="8412480" cy="2377440"/>
          </a:xfrm>
          <a:prstGeom prst="roundRect">
            <a:avLst>
              <a:gd name="adj" fmla="val 3846"/>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548640" y="2103120"/>
            <a:ext cx="8046720" cy="2194560"/>
          </a:xfrm>
          <a:prstGeom prst="rect">
            <a:avLst/>
          </a:prstGeom>
          <a:noFill/>
          <a:ln/>
        </p:spPr>
        <p:txBody>
          <a:bodyPr wrap="square" lIns="0" tIns="0" rIns="0" bIns="0" rtlCol="0" anchor="t"/>
          <a:lstStyle/>
          <a:p>
            <a:pPr indent="0" marL="0">
              <a:buNone/>
            </a:pPr>
            <a:r>
              <a:rPr lang="en-US" sz="1300" dirty="0">
                <a:solidFill>
                  <a:srgbClr val="1E293B"/>
                </a:solidFill>
                <a:latin typeface="Calibri" pitchFamily="34" charset="0"/>
                <a:ea typeface="Calibri" pitchFamily="34" charset="-122"/>
                <a:cs typeface="Calibri" pitchFamily="34" charset="-120"/>
              </a:rPr>
              <a:t>Choose one paragraph from your draft and revise it for voice, dialogue, or description. Write both the original and the revised version.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2026-07-13T17:56:40Z</dcterms:created>
  <dcterms:modified xsi:type="dcterms:W3CDTF">2026-07-13T17:56:40Z</dcterms:modified>
</cp:coreProperties>
</file>