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29, Day 4, Week 29 — Voice &amp; Tone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Today you analyze Fleischman’s techniques for voice and tone, connect them to specific passages from the novel, and apply what you find to one final revision of your adventure writing.
Vocabulary SWYK: I will complete a choice board for all five Week 29 words.
Voice &amp; Tone Analysis: I will identify and explain Fleischman’s specific techniques.
Writing: I will do a final revision pass on my adventure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"jack's voice in these chapters is tenacious (–ous) in his humor even when things go wrong like when the road agent told him to trouble himself to reload his squirrel gun before pointing it at a bad hombre"
Corrected: "Jack’s voice in these chapters is tenacious in its humor, even when things go wrong — like when the road agent told him to trouble himself to reload his squirrel gun before pointing it at a bad hombre."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"jack's voice in these chapters is tenacious (–ous) in his humor even when things go wrong like when the road agent told him to trouble himself to reload his squirrel gun before pointing it at a bad hombre"
Corrected: "Jack’s voice in these chapters is tenacious in its humor, even when things go wrong — like when the road agent told him to trouble himself to reload his squirrel gun before pointing it at a bad hombre."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my point,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choice_board.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Word Families —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29 — Voice &amp; Tone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REVISE
Focus: Week 29 closes — final revision pass using one new Fleischman technique
Task: Choose one paragraph from your draft and revise it for voice, dialogue, or description. Write both the original and the revised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29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29 — Voice &amp; Tone Analysis</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29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Today you analyze Fleischman’s techniques for voice and tone, connect them to specific passages from the novel, and apply what you find to one final revision of your adventure writing.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SWYK: </a:t>
            </a:r>
            <a:pPr indent="0" marL="0">
              <a:buNone/>
            </a:pPr>
            <a:r>
              <a:rPr lang="en-US" sz="1250" dirty="0">
                <a:solidFill>
                  <a:srgbClr val="1E293B"/>
                </a:solidFill>
                <a:latin typeface="Calibri" pitchFamily="34" charset="0"/>
                <a:ea typeface="Calibri" pitchFamily="34" charset="-122"/>
                <a:cs typeface="Calibri" pitchFamily="34" charset="-120"/>
              </a:rPr>
              <a:t>I will complete a choice board for all five Week 29 words.</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Voice &amp; Tone Analysis: </a:t>
            </a:r>
            <a:pPr indent="0" marL="0">
              <a:buNone/>
            </a:pPr>
            <a:r>
              <a:rPr lang="en-US" sz="1250" dirty="0">
                <a:solidFill>
                  <a:srgbClr val="1E293B"/>
                </a:solidFill>
                <a:latin typeface="Calibri" pitchFamily="34" charset="0"/>
                <a:ea typeface="Calibri" pitchFamily="34" charset="-122"/>
                <a:cs typeface="Calibri" pitchFamily="34" charset="-120"/>
              </a:rPr>
              <a:t>I will identify and explain Fleischman’s specific techniques.</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Writing: </a:t>
            </a:r>
            <a:pPr indent="0" marL="0">
              <a:buNone/>
            </a:pPr>
            <a:r>
              <a:rPr lang="en-US" sz="1250" dirty="0">
                <a:solidFill>
                  <a:srgbClr val="1E293B"/>
                </a:solidFill>
                <a:latin typeface="Calibri" pitchFamily="34" charset="0"/>
                <a:ea typeface="Calibri" pitchFamily="34" charset="-122"/>
                <a:cs typeface="Calibri" pitchFamily="34" charset="-120"/>
              </a:rPr>
              <a:t>I will do a final revision pass on my adventure draft.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 couldn’t get out. The sheer earthen walls gave way at every hand and foothold. Once he got himself halfway to the top, only to tumble to the bottom with a small avalanche of loose dirt.</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The sheer earthen walls gave way at every hand and foothold.  </a:t>
            </a:r>
            <a:pPr indent="0" marL="0">
              <a:buNone/>
            </a:pP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jack's voice in these chapters is tenacious (–ous) in his humor even when things go wrong like when the road agent told him to trouble himself to reload his squirrel gun before pointing it at a bad hombre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jack's voice in these chapters is tenacious (–ous) in his humor even when things go wrong like when the road agent told him to trouble himself to reload his squirrel gun before pointing it at a bad hombre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Jack’s voice in these chapters is tenacious in its humor, even when things go wrong — like when the road agent told him to trouble himself to reload his squirrel gun before pointing it at a bad hombre.</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Fleischman gives Jack and Praiseworthy very different voices. Whose voice do you think is more distinct and memorable? Defend your answer with evidence from Chapters 13-15.</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Fleischman gives Jack and Praiseworthy very different voices. Whose voice do you think is more distinct and memorable? Defend your answer with evidence from Chapters 13-15.</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detail actually support my point, or is it just filler?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Suffixes –ous/–ive/–ity — Explain</a:t>
            </a:r>
            <a:endParaRPr lang="en-US" sz="1100" dirty="0"/>
          </a:p>
        </p:txBody>
      </p:sp>
      <p:sp>
        <p:nvSpPr>
          <p:cNvPr id="5" name="Shape 3"/>
          <p:cNvSpPr/>
          <p:nvPr/>
        </p:nvSpPr>
        <p:spPr>
          <a:xfrm>
            <a:off x="365760" y="1097280"/>
            <a:ext cx="8412480" cy="603504"/>
          </a:xfrm>
          <a:prstGeom prst="roundRect">
            <a:avLst>
              <a:gd name="adj" fmla="val 1515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51206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 your journal: Explain the difference between –ous, –ive, and –ity to a classmate in 4 sentences. Use an example word from the novel for each suffix. Which suffix creates adjectives? Which creates nouns?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097280"/>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Show what you know: notoriety · tenacious · evasive · benefactor · prospector</a:t>
            </a:r>
            <a:endParaRPr lang="en-US" sz="1200" dirty="0"/>
          </a:p>
        </p:txBody>
      </p:sp>
      <p:sp>
        <p:nvSpPr>
          <p:cNvPr id="7" name="Shape 5"/>
          <p:cNvSpPr/>
          <p:nvPr/>
        </p:nvSpPr>
        <p:spPr>
          <a:xfrm>
            <a:off x="365760" y="1664208"/>
            <a:ext cx="8412480" cy="512064"/>
          </a:xfrm>
          <a:prstGeom prst="roundRect">
            <a:avLst>
              <a:gd name="adj" fmla="val 17857"/>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0784"/>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Jack’s Voice:  </a:t>
            </a:r>
            <a:pPr indent="0" marL="0">
              <a:buNone/>
            </a:pPr>
            <a:r>
              <a:rPr lang="en-US" sz="1050" dirty="0">
                <a:solidFill>
                  <a:srgbClr val="1E293B"/>
                </a:solidFill>
                <a:latin typeface="Calibri" pitchFamily="34" charset="0"/>
                <a:ea typeface="Calibri" pitchFamily="34" charset="-122"/>
                <a:cs typeface="Calibri" pitchFamily="34" charset="-120"/>
              </a:rPr>
              <a:t>Write a 5–7 sentence journal entry from Jack’s point of view during Chapters 13–15, using all five words naturally in his voice.</a:t>
            </a:r>
            <a:endParaRPr lang="en-US" sz="1150" dirty="0"/>
          </a:p>
        </p:txBody>
      </p:sp>
      <p:sp>
        <p:nvSpPr>
          <p:cNvPr id="9" name="Shape 7"/>
          <p:cNvSpPr/>
          <p:nvPr/>
        </p:nvSpPr>
        <p:spPr>
          <a:xfrm>
            <a:off x="365760" y="223113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67712"/>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Suffix Breakdown:  </a:t>
            </a:r>
            <a:pPr indent="0" marL="0">
              <a:buNone/>
            </a:pPr>
            <a:r>
              <a:rPr lang="en-US" sz="1050" dirty="0">
                <a:solidFill>
                  <a:srgbClr val="1E293B"/>
                </a:solidFill>
                <a:latin typeface="Calibri" pitchFamily="34" charset="0"/>
                <a:ea typeface="Calibri" pitchFamily="34" charset="-122"/>
                <a:cs typeface="Calibri" pitchFamily="34" charset="-120"/>
              </a:rPr>
              <a:t>For notoriety, tenacious, and evasive : write the base, the suffix, the suffix meaning, and the full word meaning. Then use all five in sentences.</a:t>
            </a:r>
            <a:endParaRPr lang="en-US" sz="1150" dirty="0"/>
          </a:p>
        </p:txBody>
      </p:sp>
      <p:sp>
        <p:nvSpPr>
          <p:cNvPr id="11" name="Shape 9"/>
          <p:cNvSpPr/>
          <p:nvPr/>
        </p:nvSpPr>
        <p:spPr>
          <a:xfrm>
            <a:off x="365760" y="2798064"/>
            <a:ext cx="8412480" cy="512064"/>
          </a:xfrm>
          <a:prstGeom prst="roundRect">
            <a:avLst>
              <a:gd name="adj" fmla="val 17857"/>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34640"/>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Definitions + Sentences:  </a:t>
            </a:r>
            <a:pPr indent="0" marL="0">
              <a:buNone/>
            </a:pPr>
            <a:r>
              <a:rPr lang="en-US" sz="1050" dirty="0">
                <a:solidFill>
                  <a:srgbClr val="1E293B"/>
                </a:solidFill>
                <a:latin typeface="Calibri" pitchFamily="34" charset="0"/>
                <a:ea typeface="Calibri" pitchFamily="34" charset="-122"/>
                <a:cs typeface="Calibri" pitchFamily="34" charset="-120"/>
              </a:rPr>
              <a:t>Define each word in your own words, then write a sentence for each connecting it to a specific event in Chapters 13–15.</a:t>
            </a:r>
            <a:endParaRPr lang="en-US" sz="1150" dirty="0"/>
          </a:p>
        </p:txBody>
      </p:sp>
      <p:sp>
        <p:nvSpPr>
          <p:cNvPr id="13" name="Shape 11"/>
          <p:cNvSpPr/>
          <p:nvPr/>
        </p:nvSpPr>
        <p:spPr>
          <a:xfrm>
            <a:off x="365760" y="336499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401568"/>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The Gold Rush in Five Words:  </a:t>
            </a:r>
            <a:pPr indent="0" marL="0">
              <a:buNone/>
            </a:pPr>
            <a:r>
              <a:rPr lang="en-US" sz="1050" dirty="0">
                <a:solidFill>
                  <a:srgbClr val="1E293B"/>
                </a:solidFill>
                <a:latin typeface="Calibri" pitchFamily="34" charset="0"/>
                <a:ea typeface="Calibri" pitchFamily="34" charset="-122"/>
                <a:cs typeface="Calibri" pitchFamily="34" charset="-120"/>
              </a:rPr>
              <a:t>Write a paragraph about the experience of being a Forty-Niner using all five words at least once. Make every word earn its place.</a:t>
            </a:r>
            <a:endParaRPr lang="en-US" sz="1150" dirty="0"/>
          </a:p>
        </p:txBody>
      </p:sp>
      <p:sp>
        <p:nvSpPr>
          <p:cNvPr id="15" name="Shape 13"/>
          <p:cNvSpPr/>
          <p:nvPr/>
        </p:nvSpPr>
        <p:spPr>
          <a:xfrm>
            <a:off x="365760" y="3977640"/>
            <a:ext cx="8412480" cy="777240"/>
          </a:xfrm>
          <a:prstGeom prst="roundRect">
            <a:avLst>
              <a:gd name="adj" fmla="val 11765"/>
            </a:avLst>
          </a:prstGeom>
          <a:solidFill>
            <a:srgbClr val="FEF6E8"/>
          </a:solidFill>
          <a:ln w="12700">
            <a:solidFill>
              <a:srgbClr val="C7922C"/>
            </a:solidFill>
            <a:prstDash val="solid"/>
          </a:ln>
        </p:spPr>
      </p:sp>
      <p:sp>
        <p:nvSpPr>
          <p:cNvPr id="16" name="Text 14"/>
          <p:cNvSpPr/>
          <p:nvPr/>
        </p:nvSpPr>
        <p:spPr>
          <a:xfrm>
            <a:off x="548640" y="4050792"/>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Vocabulary
</a:t>
            </a:r>
            <a:pPr indent="0" marL="0">
              <a:buNone/>
            </a:pPr>
            <a:r>
              <a:rPr lang="en-US" sz="1050" i="1" dirty="0">
                <a:solidFill>
                  <a:srgbClr val="1E293B"/>
                </a:solidFill>
                <a:latin typeface="Calibri" pitchFamily="34" charset="0"/>
                <a:ea typeface="Calibri" pitchFamily="34" charset="-122"/>
                <a:cs typeface="Calibri" pitchFamily="34" charset="-120"/>
              </a:rPr>
              <a:t>Choose one option above and complete it. Identify your option at the top.</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Sentence Variety — Explain</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Find one sentence from Chapters 13–15 that you think demonstrates excellent sentence variety or rhythm. Copy it, then explain in 2–3 sentences what Fleischman did and why it works.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Word Families — Explain</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Explain why knowing word families helps with both spelling and vocabulary. Use the prospect family as your example. Write 3–4 sentences connecting the family to how Jack and Praiseworthy think about gold: they look prospectively , they are prospectors , they hope for prosperity .</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29 — Voice &amp; Tone Analysis</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29 — Voice &amp; Tone Analysis</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(See Reading tab for today's focus.)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Analyzing Fleischman’s Voice &amp; Tone</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Choose one of Fleischman’s five voice techniques. Quote or closely paraphrase one example from Chapters 13–15 that demonstrates it. Then explain in 2–3 sentences: what is the technique doing, and what would be lost if it weren’t there?</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Fleischman’s tone is consistently cheerful and slightly amused — even during setbacks. Find one moment from Chapters 13–15 where the tone stays warm even though something bad or disappointing just happened. Describe the moment and explain how Fleischman achieves this tone.</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Looking at your own adventure draft: which of Fleischman’s five techniques is most missing from your writing? Describe the gap, write one sentence that adds that technique to your story, then explain what the addition does for your voice and tone. (This is your final revision challenge.)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REVISE</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Week 29 closes — final revision pass using one new Fleischman technique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Choose one paragraph from your draft and revise it for voice, dialogue, or description. Write both the original and the revised version.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2026-07-13T17:56:40Z</dcterms:created>
  <dcterms:modified xsi:type="dcterms:W3CDTF">2026-07-13T17:56:40Z</dcterms:modified>
</cp:coreProperties>
</file>