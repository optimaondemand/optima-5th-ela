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11.3: Chapter 11, "What Next?". Banner quote: “We can’t have freedom — unless we have freedom.” (Dr. Bentley, Chapter 11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When everything you’ve built finally gets used. Today you read Chapter 11 and continue drafting your expository research piece. Keep asking: How do events in this chapter develop Nat’s character?
Objectives:
- 🌱 Morphology: Use meter and scope/spect words in original sentences about navigation.
- 🔤 Spelling SWYK: Spell schwa words correctly and use them accurately.
- ✏️ Grammar: I will write using relative clauses punctuated correctly.
- 📖 Reading: I will analyze what nine years of study actually bought Nat, as evidence for the book’s argument about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charts and calculations of a skilled navigator helps the captain find his position at sea
Corrected: The charts and calculations of a skilled navigator help the captain find his position at sea.
Fixes: capitalize “The”; subject is “charts and calculations” (compound = plural) →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charts and calculations of a skilled navigator helps the captain find his position at sea
Corrected: The charts and calculations of a skilled navigator help the captain find his position at sea.
Fixes: capitalize “The”; subject is “charts and calculations” (compound = plural) →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 and answer someone who disagrees.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here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meter/metr + scope/spect — Use — put the roots to work.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barometer  2. telescope  3. inspect  4.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chronometer
2. telescope
3. inspected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observation  2. supercargo  3. longitude  4. terrestrial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Relative Pronouns &amp; Clauses — Use — build the clause yourself.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who  2. which  3. that  4. whose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Dividing Long Words by Their Parts — Apply — divide and decode.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sentence aloud twice. Work through Reader → Writer → Mimic.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Draft: Draft your first body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Draft: Draft your first body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Draft: Draft your first body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Draft: Draft your first body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11  ·  DAY 3  ·  LESSON 11.3</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11 — What Next?</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“We can’t have freedom — unless we have freedom.”</a:t>
            </a:r>
            <a:pPr indent="0" marL="0">
              <a:buNone/>
            </a:pPr>
            <a:r>
              <a:rPr lang="en-US" sz="1600" dirty="0">
                <a:solidFill>
                  <a:srgbClr val="55C8E8"/>
                </a:solidFill>
                <a:latin typeface="Calibri" pitchFamily="34" charset="0"/>
                <a:ea typeface="Calibri" pitchFamily="34" charset="-122"/>
                <a:cs typeface="Calibri" pitchFamily="34" charset="-120"/>
              </a:rPr>
              <a:t>  — Dr. Bentley, Chapter 11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USE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11</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When everything you’ve built finally gets used.</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11 and continue drafting your expository research piece. Keep asking: How do events in this chapter develop Nat’s character?</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Use meter and scope/spect words in original sentences about navigation.</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Spell schwa words correctly and use them accurately.</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write using relative clauses punctuated correctly.</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analyze what nine years of study actually bought Nat, as evidence for the book’s argument about persistence.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REREAD — PERSEVERANCE TURNING INTO SKILL</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Today reread the passage in Chapter 11 where everything Nat built in the chandlery — mathematics, navigation, astronomy — finally starts to pay: Dr. Bentley hires him for the survey of Salem, and Captain Gibaut offers him a berth as clerk on the Henry. Reread it and ask what those nine years actually bought him. This is where the book’s argument about persistence stops being encouragement and becomes evidence.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Find the moment quitting was an option: Perseverance only shows where giving up was genuinely available.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Ask what keeps him going: Look for the reason the text gives, not the one you would supply yourself.</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Name the theme as a sentence: Say what the book argues about people who keep going. “Perseverance” is a topic; a theme is a full sentence.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REREAD — PERSEVERANCE TURNING INTO SKILL</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does Dr. Bentley mean when he says, “We can’t have freedom — unless we have freedom”? Why does Nat come to agree?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How do Dr. Bentley and Captain Gibaut react to Nat’s skill with figures? What does this tell you about what was missing before?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Latham has been building toward this moment since Chapter 5. How does Chapter 11 pay off what began in those ash-breeze years?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b="1" u="sng" dirty="0">
                <a:solidFill>
                  <a:srgbClr val="1E8E52"/>
                </a:solidFill>
                <a:latin typeface="Calibri" pitchFamily="34" charset="0"/>
                <a:ea typeface="Calibri" pitchFamily="34" charset="-122"/>
                <a:cs typeface="Calibri" pitchFamily="34" charset="-120"/>
              </a:rPr>
              <a:t>Nat’s skill</a:t>
            </a:r>
            <a:pPr indent="0" marL="0">
              <a:buNone/>
            </a:pPr>
            <a:r>
              <a:rPr lang="en-US" sz="2600" dirty="0">
                <a:solidFill>
                  <a:srgbClr val="1E293B"/>
                </a:solidFill>
                <a:latin typeface="Calibri" pitchFamily="34" charset="0"/>
                <a:ea typeface="Calibri" pitchFamily="34" charset="-122"/>
                <a:cs typeface="Calibri" pitchFamily="34" charset="-120"/>
              </a:rPr>
              <a:t> with columns of figures </a:t>
            </a:r>
            <a:pPr indent="0" marL="0">
              <a:buNone/>
            </a:pPr>
            <a:r>
              <a:rPr lang="en-US" sz="2600" b="1" u="sng" dirty="0">
                <a:solidFill>
                  <a:srgbClr val="1E8E52"/>
                </a:solidFill>
                <a:latin typeface="Calibri" pitchFamily="34" charset="0"/>
                <a:ea typeface="Calibri" pitchFamily="34" charset="-122"/>
                <a:cs typeface="Calibri" pitchFamily="34" charset="-120"/>
              </a:rPr>
              <a:t>earns</a:t>
            </a:r>
            <a:pPr indent="0" marL="0">
              <a:buNone/>
            </a:pPr>
            <a:r>
              <a:rPr lang="en-US" sz="2600" dirty="0">
                <a:solidFill>
                  <a:srgbClr val="1E293B"/>
                </a:solidFill>
                <a:latin typeface="Calibri" pitchFamily="34" charset="0"/>
                <a:ea typeface="Calibri" pitchFamily="34" charset="-122"/>
                <a:cs typeface="Calibri" pitchFamily="34" charset="-120"/>
              </a:rPr>
              <a:t> him a </a:t>
            </a:r>
            <a:pPr indent="0" marL="0">
              <a:buNone/>
            </a:pPr>
            <a:r>
              <a:rPr lang="en-US" sz="2600" b="1" u="sng" dirty="0">
                <a:solidFill>
                  <a:srgbClr val="1E8E52"/>
                </a:solidFill>
                <a:latin typeface="Calibri" pitchFamily="34" charset="0"/>
                <a:ea typeface="Calibri" pitchFamily="34" charset="-122"/>
                <a:cs typeface="Calibri" pitchFamily="34" charset="-120"/>
              </a:rPr>
              <a:t>place</a:t>
            </a:r>
            <a:pPr indent="0" marL="0">
              <a:buNone/>
            </a:pPr>
            <a:r>
              <a:rPr lang="en-US" sz="2600" dirty="0">
                <a:solidFill>
                  <a:srgbClr val="1E293B"/>
                </a:solidFill>
                <a:latin typeface="Calibri" pitchFamily="34" charset="0"/>
                <a:ea typeface="Calibri" pitchFamily="34" charset="-122"/>
                <a:cs typeface="Calibri" pitchFamily="34" charset="-120"/>
              </a:rPr>
              <a:t> on Dr. Bentley’s survey crew.</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Nat’s skill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Subject: “skill” (singular). The phrase “with columns of figures” is an intervening prepositional phrase.</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earns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“earns” agrees with the singular subject “skill” — not with “figures.”</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place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“place” is the object of “earns” — not the subject. The subject is “skill.”</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charts and calculations of a skilled navigator helps the captain find his position at sea</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charts and calculations of a skilled navigator helps the captain find his position at sea</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The charts and calculations of a skilled navigator help the captain find his position at sea.</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capitalize “The”; subject is “charts and calculations” (compound = plural) → “help.”</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700" dirty="0">
                <a:solidFill>
                  <a:srgbClr val="1E293B"/>
                </a:solidFill>
                <a:latin typeface="Calibri" pitchFamily="34" charset="0"/>
                <a:ea typeface="Calibri" pitchFamily="34" charset="-122"/>
                <a:cs typeface="Calibri" pitchFamily="34" charset="-120"/>
              </a:rPr>
              <a:t>In Chapter 11 Nat accepts a berth as clerk on the Henry and puts almost every cent he has into a venture to sell in Bourbon. Was that a brave choice or a foolish one? Defend your answer with evidence. Then answer someone who disagrees.</a:t>
            </a:r>
            <a:endParaRPr lang="en-US" sz="27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In Chapter 11 Nat accepts a berth as clerk on the Henry and puts almost every cent he has into a venture to sell in Bourbon. Was that a brave choice or a foolish one? Defend your answer with evidence. Then answer someone who disagrees.</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Someone might disagree, but...</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Is there a stronger, more specific word I could use here instead of a vague one?</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Now use them. In Chapter 11, Nat gets ready for sea — he studies his navigation notebook all over again and practices with David’s sextant (on land, for now). Choose the word that fits.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Two Roots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meter / metr = measure → thermometer, barometer, chronometer, perimeter, diameter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scope = look, watch → telescope, microscope, periscope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spect = look → inspect, spectator, perspective — you met this one in the Witch unit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test: if the word gives you a number, suspect meter. If it gives you a view, suspect scope or spect.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meter / metr = measure. scope / spect = look, watch.</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Put the roots to work.</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457200"/>
          </a:xfrm>
          <a:prstGeom prst="rect">
            <a:avLst/>
          </a:prstGeom>
          <a:noFill/>
          <a:ln/>
        </p:spPr>
        <p:txBody>
          <a:bodyPr wrap="square" lIns="0" tIns="0" rIns="0" bIns="0" rtlCol="0" anchor="ctr"/>
          <a:lstStyle/>
          <a:p>
            <a:pPr indent="0" marL="0">
              <a:buNone/>
            </a:pPr>
            <a:r>
              <a:rPr lang="en-US" sz="2000" i="1" dirty="0">
                <a:solidFill>
                  <a:srgbClr val="C7922C"/>
                </a:solidFill>
                <a:latin typeface="Calibri" pitchFamily="34" charset="0"/>
                <a:ea typeface="Calibri" pitchFamily="34" charset="-122"/>
                <a:cs typeface="Calibri" pitchFamily="34" charset="-120"/>
              </a:rPr>
              <a:t>Word bank: barometer · telescope · inspect · geometry</a:t>
            </a:r>
            <a:endParaRPr lang="en-US" sz="2000" dirty="0"/>
          </a:p>
        </p:txBody>
      </p:sp>
      <p:sp>
        <p:nvSpPr>
          <p:cNvPr id="9" name="Shape 7"/>
          <p:cNvSpPr/>
          <p:nvPr/>
        </p:nvSpPr>
        <p:spPr>
          <a:xfrm>
            <a:off x="502920" y="2103120"/>
            <a:ext cx="11185855" cy="948690"/>
          </a:xfrm>
          <a:prstGeom prst="roundRect">
            <a:avLst>
              <a:gd name="adj" fmla="val 7711"/>
            </a:avLst>
          </a:prstGeom>
          <a:solidFill>
            <a:srgbClr val="F8FAFC"/>
          </a:solidFill>
          <a:ln w="15875">
            <a:solidFill>
              <a:srgbClr val="CBD5E1"/>
            </a:solidFill>
            <a:prstDash val="solid"/>
          </a:ln>
        </p:spPr>
      </p:sp>
      <p:sp>
        <p:nvSpPr>
          <p:cNvPr id="10" name="Text 8"/>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An instrument for measuring air pressure is 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502920" y="3188970"/>
            <a:ext cx="11185855" cy="948690"/>
          </a:xfrm>
          <a:prstGeom prst="roundRect">
            <a:avLst>
              <a:gd name="adj" fmla="val 7711"/>
            </a:avLst>
          </a:prstGeom>
          <a:solidFill>
            <a:srgbClr val="F8FAFC"/>
          </a:solidFill>
          <a:ln w="15875">
            <a:solidFill>
              <a:srgbClr val="CBD5E1"/>
            </a:solidFill>
            <a:prstDash val="solid"/>
          </a:ln>
        </p:spPr>
      </p:sp>
      <p:sp>
        <p:nvSpPr>
          <p:cNvPr id="12" name="Text 10"/>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An instrument for looking at distant things is 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502920" y="4274820"/>
            <a:ext cx="11185855" cy="948690"/>
          </a:xfrm>
          <a:prstGeom prst="roundRect">
            <a:avLst>
              <a:gd name="adj" fmla="val 7711"/>
            </a:avLst>
          </a:prstGeom>
          <a:solidFill>
            <a:srgbClr val="F8FAFC"/>
          </a:solidFill>
          <a:ln w="15875">
            <a:solidFill>
              <a:srgbClr val="CBD5E1"/>
            </a:solidFill>
            <a:prstDash val="solid"/>
          </a:ln>
        </p:spPr>
      </p:sp>
      <p:sp>
        <p:nvSpPr>
          <p:cNvPr id="14" name="Text 12"/>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To look closely at something is to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it.</a:t>
            </a:r>
            <a:endParaRPr lang="en-US" sz="2200" dirty="0"/>
          </a:p>
        </p:txBody>
      </p:sp>
      <p:sp>
        <p:nvSpPr>
          <p:cNvPr id="15" name="Shape 13"/>
          <p:cNvSpPr/>
          <p:nvPr/>
        </p:nvSpPr>
        <p:spPr>
          <a:xfrm>
            <a:off x="502920" y="5360670"/>
            <a:ext cx="11185855" cy="948690"/>
          </a:xfrm>
          <a:prstGeom prst="roundRect">
            <a:avLst>
              <a:gd name="adj" fmla="val 7711"/>
            </a:avLst>
          </a:prstGeom>
          <a:solidFill>
            <a:srgbClr val="F8FAFC"/>
          </a:solidFill>
          <a:ln w="15875">
            <a:solidFill>
              <a:srgbClr val="CBD5E1"/>
            </a:solidFill>
            <a:prstDash val="solid"/>
          </a:ln>
        </p:spPr>
      </p:sp>
      <p:sp>
        <p:nvSpPr>
          <p:cNvPr id="16" name="Text 14"/>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The measuring of angles and shapes is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2103120"/>
            <a:ext cx="11185855" cy="948690"/>
          </a:xfrm>
          <a:prstGeom prst="roundRect">
            <a:avLst>
              <a:gd name="adj" fmla="val 7711"/>
            </a:avLst>
          </a:prstGeom>
          <a:solidFill>
            <a:srgbClr val="E8F8EF"/>
          </a:solidFill>
          <a:ln w="15875">
            <a:solidFill>
              <a:srgbClr val="9ED9B5"/>
            </a:solidFill>
            <a:prstDash val="solid"/>
          </a:ln>
        </p:spPr>
      </p:sp>
      <p:sp>
        <p:nvSpPr>
          <p:cNvPr id="9" name="Text 7"/>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An instrument for measuring air pressure is a </a:t>
            </a:r>
            <a:pPr indent="0" marL="0">
              <a:buNone/>
            </a:pPr>
            <a:r>
              <a:rPr lang="en-US" sz="2200" b="1" dirty="0">
                <a:solidFill>
                  <a:srgbClr val="1E8E52"/>
                </a:solidFill>
                <a:latin typeface="Calibri" pitchFamily="34" charset="0"/>
                <a:ea typeface="Calibri" pitchFamily="34" charset="-122"/>
                <a:cs typeface="Calibri" pitchFamily="34" charset="-120"/>
              </a:rPr>
              <a:t>barometer</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502920" y="3188970"/>
            <a:ext cx="11185855" cy="948690"/>
          </a:xfrm>
          <a:prstGeom prst="roundRect">
            <a:avLst>
              <a:gd name="adj" fmla="val 7711"/>
            </a:avLst>
          </a:prstGeom>
          <a:solidFill>
            <a:srgbClr val="E8F8EF"/>
          </a:solidFill>
          <a:ln w="15875">
            <a:solidFill>
              <a:srgbClr val="9ED9B5"/>
            </a:solidFill>
            <a:prstDash val="solid"/>
          </a:ln>
        </p:spPr>
      </p:sp>
      <p:sp>
        <p:nvSpPr>
          <p:cNvPr id="11" name="Text 9"/>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An instrument for looking at distant things is a </a:t>
            </a:r>
            <a:pPr indent="0" marL="0">
              <a:buNone/>
            </a:pPr>
            <a:r>
              <a:rPr lang="en-US" sz="2200" b="1" dirty="0">
                <a:solidFill>
                  <a:srgbClr val="1E8E52"/>
                </a:solidFill>
                <a:latin typeface="Calibri" pitchFamily="34" charset="0"/>
                <a:ea typeface="Calibri" pitchFamily="34" charset="-122"/>
                <a:cs typeface="Calibri" pitchFamily="34" charset="-120"/>
              </a:rPr>
              <a:t>telescope</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502920" y="4274820"/>
            <a:ext cx="11185855" cy="948690"/>
          </a:xfrm>
          <a:prstGeom prst="roundRect">
            <a:avLst>
              <a:gd name="adj" fmla="val 7711"/>
            </a:avLst>
          </a:prstGeom>
          <a:solidFill>
            <a:srgbClr val="E8F8EF"/>
          </a:solidFill>
          <a:ln w="15875">
            <a:solidFill>
              <a:srgbClr val="9ED9B5"/>
            </a:solidFill>
            <a:prstDash val="solid"/>
          </a:ln>
        </p:spPr>
      </p:sp>
      <p:sp>
        <p:nvSpPr>
          <p:cNvPr id="13" name="Text 11"/>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To look closely at something is to </a:t>
            </a:r>
            <a:pPr indent="0" marL="0">
              <a:buNone/>
            </a:pPr>
            <a:r>
              <a:rPr lang="en-US" sz="2200" b="1" dirty="0">
                <a:solidFill>
                  <a:srgbClr val="1E8E52"/>
                </a:solidFill>
                <a:latin typeface="Calibri" pitchFamily="34" charset="0"/>
                <a:ea typeface="Calibri" pitchFamily="34" charset="-122"/>
                <a:cs typeface="Calibri" pitchFamily="34" charset="-120"/>
              </a:rPr>
              <a:t>inspect</a:t>
            </a:r>
            <a:pPr indent="0" marL="0">
              <a:buNone/>
            </a:pPr>
            <a:r>
              <a:rPr lang="en-US" sz="2200" dirty="0">
                <a:solidFill>
                  <a:srgbClr val="1E293B"/>
                </a:solidFill>
                <a:latin typeface="Calibri" pitchFamily="34" charset="0"/>
                <a:ea typeface="Calibri" pitchFamily="34" charset="-122"/>
                <a:cs typeface="Calibri" pitchFamily="34" charset="-120"/>
              </a:rPr>
              <a:t> it.</a:t>
            </a:r>
            <a:endParaRPr lang="en-US" sz="2200" dirty="0"/>
          </a:p>
        </p:txBody>
      </p:sp>
      <p:sp>
        <p:nvSpPr>
          <p:cNvPr id="14" name="Shape 12"/>
          <p:cNvSpPr/>
          <p:nvPr/>
        </p:nvSpPr>
        <p:spPr>
          <a:xfrm>
            <a:off x="502920" y="5360670"/>
            <a:ext cx="11185855" cy="948690"/>
          </a:xfrm>
          <a:prstGeom prst="roundRect">
            <a:avLst>
              <a:gd name="adj" fmla="val 7711"/>
            </a:avLst>
          </a:prstGeom>
          <a:solidFill>
            <a:srgbClr val="E8F8EF"/>
          </a:solidFill>
          <a:ln w="15875">
            <a:solidFill>
              <a:srgbClr val="9ED9B5"/>
            </a:solidFill>
            <a:prstDash val="solid"/>
          </a:ln>
        </p:spPr>
      </p:sp>
      <p:sp>
        <p:nvSpPr>
          <p:cNvPr id="15" name="Text 13"/>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The measuring of angles and shapes is </a:t>
            </a:r>
            <a:pPr indent="0" marL="0">
              <a:buNone/>
            </a:pPr>
            <a:r>
              <a:rPr lang="en-US" sz="2200" b="1" dirty="0">
                <a:solidFill>
                  <a:srgbClr val="1E8E52"/>
                </a:solidFill>
                <a:latin typeface="Calibri" pitchFamily="34" charset="0"/>
                <a:ea typeface="Calibri" pitchFamily="34" charset="-122"/>
                <a:cs typeface="Calibri" pitchFamily="34" charset="-120"/>
              </a:rPr>
              <a:t>geometry</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The captain handed Nat the instrument that measures time. Which word fits?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chronometer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telescope</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Nat needed to bring the distant horizon into view. Which word fits?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barometer</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telescope</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Before trusting a single figure, Nat looked into it closely. Which word fits?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inspected</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measured</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The captain handed Nat the instrument that measures time. Which word fits?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chronometer</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telescope</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Nat needed to bring the distant horizon into view. Which word fits?</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barometer</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telescope</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Before trusting a single figure, Nat looked into it closely. Which word fits?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inspected</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measured</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FILL IN THE BLANK WITH THIS WEEK’S WORDS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Use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F8FAFC"/>
          </a:solidFill>
          <a:ln w="15875">
            <a:solidFill>
              <a:srgbClr val="CBD5E1"/>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To find his exact position, Nat took a careful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of the sun at noon.</a:t>
            </a:r>
            <a:endParaRPr lang="en-US" sz="2200" dirty="0"/>
          </a:p>
        </p:txBody>
      </p:sp>
      <p:sp>
        <p:nvSpPr>
          <p:cNvPr id="10" name="Shape 8"/>
          <p:cNvSpPr/>
          <p:nvPr/>
        </p:nvSpPr>
        <p:spPr>
          <a:xfrm>
            <a:off x="502920" y="2777490"/>
            <a:ext cx="11185855" cy="1085850"/>
          </a:xfrm>
          <a:prstGeom prst="roundRect">
            <a:avLst>
              <a:gd name="adj" fmla="val 6737"/>
            </a:avLst>
          </a:prstGeom>
          <a:solidFill>
            <a:srgbClr val="F8FAFC"/>
          </a:solidFill>
          <a:ln w="15875">
            <a:solidFill>
              <a:srgbClr val="CBD5E1"/>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The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of a merchant vessel managed all the cargo and commercial business of the voyage.</a:t>
            </a:r>
            <a:endParaRPr lang="en-US" sz="2200" dirty="0"/>
          </a:p>
        </p:txBody>
      </p:sp>
      <p:sp>
        <p:nvSpPr>
          <p:cNvPr id="12" name="Shape 10"/>
          <p:cNvSpPr/>
          <p:nvPr/>
        </p:nvSpPr>
        <p:spPr>
          <a:xfrm>
            <a:off x="502920" y="4000500"/>
            <a:ext cx="11185855" cy="1085850"/>
          </a:xfrm>
          <a:prstGeom prst="roundRect">
            <a:avLst>
              <a:gd name="adj" fmla="val 6737"/>
            </a:avLst>
          </a:prstGeom>
          <a:solidFill>
            <a:srgbClr val="F8FAFC"/>
          </a:solidFill>
          <a:ln w="15875">
            <a:solidFill>
              <a:srgbClr val="CBD5E1"/>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A navigator must know both latitude and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to pinpoint a ship’s location.</a:t>
            </a:r>
            <a:endParaRPr lang="en-US" sz="2200" dirty="0"/>
          </a:p>
        </p:txBody>
      </p:sp>
      <p:sp>
        <p:nvSpPr>
          <p:cNvPr id="14" name="Shape 12"/>
          <p:cNvSpPr/>
          <p:nvPr/>
        </p:nvSpPr>
        <p:spPr>
          <a:xfrm>
            <a:off x="502920" y="5223510"/>
            <a:ext cx="11185855" cy="1085850"/>
          </a:xfrm>
          <a:prstGeom prst="roundRect">
            <a:avLst>
              <a:gd name="adj" fmla="val 6737"/>
            </a:avLst>
          </a:prstGeom>
          <a:solidFill>
            <a:srgbClr val="F8FAFC"/>
          </a:solidFill>
          <a:ln w="15875">
            <a:solidFill>
              <a:srgbClr val="CBD5E1"/>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globes show land and ocean; celestial globes show the stars.</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FILL IN THE BLANK WITH THIS WEEK’S WORDS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Use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E8F8EF"/>
          </a:solidFill>
          <a:ln w="15875">
            <a:solidFill>
              <a:srgbClr val="9ED9B5"/>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To find his exact position, Nat took a careful </a:t>
            </a:r>
            <a:pPr indent="0" marL="0">
              <a:buNone/>
            </a:pPr>
            <a:r>
              <a:rPr lang="en-US" sz="2200" b="1" dirty="0">
                <a:solidFill>
                  <a:srgbClr val="1E8E52"/>
                </a:solidFill>
                <a:latin typeface="Calibri" pitchFamily="34" charset="0"/>
                <a:ea typeface="Calibri" pitchFamily="34" charset="-122"/>
                <a:cs typeface="Calibri" pitchFamily="34" charset="-120"/>
              </a:rPr>
              <a:t>observation</a:t>
            </a:r>
            <a:pPr indent="0" marL="0">
              <a:buNone/>
            </a:pPr>
            <a:r>
              <a:rPr lang="en-US" sz="2200" dirty="0">
                <a:solidFill>
                  <a:srgbClr val="1E293B"/>
                </a:solidFill>
                <a:latin typeface="Calibri" pitchFamily="34" charset="0"/>
                <a:ea typeface="Calibri" pitchFamily="34" charset="-122"/>
                <a:cs typeface="Calibri" pitchFamily="34" charset="-120"/>
              </a:rPr>
              <a:t> of the sun at noon.</a:t>
            </a:r>
            <a:endParaRPr lang="en-US" sz="2200" dirty="0"/>
          </a:p>
        </p:txBody>
      </p:sp>
      <p:sp>
        <p:nvSpPr>
          <p:cNvPr id="10" name="Shape 8"/>
          <p:cNvSpPr/>
          <p:nvPr/>
        </p:nvSpPr>
        <p:spPr>
          <a:xfrm>
            <a:off x="502920" y="2777490"/>
            <a:ext cx="11185855" cy="1085850"/>
          </a:xfrm>
          <a:prstGeom prst="roundRect">
            <a:avLst>
              <a:gd name="adj" fmla="val 6737"/>
            </a:avLst>
          </a:prstGeom>
          <a:solidFill>
            <a:srgbClr val="E8F8EF"/>
          </a:solidFill>
          <a:ln w="15875">
            <a:solidFill>
              <a:srgbClr val="9ED9B5"/>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The </a:t>
            </a:r>
            <a:pPr indent="0" marL="0">
              <a:buNone/>
            </a:pPr>
            <a:r>
              <a:rPr lang="en-US" sz="2200" b="1" dirty="0">
                <a:solidFill>
                  <a:srgbClr val="1E8E52"/>
                </a:solidFill>
                <a:latin typeface="Calibri" pitchFamily="34" charset="0"/>
                <a:ea typeface="Calibri" pitchFamily="34" charset="-122"/>
                <a:cs typeface="Calibri" pitchFamily="34" charset="-120"/>
              </a:rPr>
              <a:t>supercargo</a:t>
            </a:r>
            <a:pPr indent="0" marL="0">
              <a:buNone/>
            </a:pPr>
            <a:r>
              <a:rPr lang="en-US" sz="2200" dirty="0">
                <a:solidFill>
                  <a:srgbClr val="1E293B"/>
                </a:solidFill>
                <a:latin typeface="Calibri" pitchFamily="34" charset="0"/>
                <a:ea typeface="Calibri" pitchFamily="34" charset="-122"/>
                <a:cs typeface="Calibri" pitchFamily="34" charset="-120"/>
              </a:rPr>
              <a:t> of a merchant vessel managed all the cargo and commercial business of the voyage.</a:t>
            </a:r>
            <a:endParaRPr lang="en-US" sz="2200" dirty="0"/>
          </a:p>
        </p:txBody>
      </p:sp>
      <p:sp>
        <p:nvSpPr>
          <p:cNvPr id="12" name="Shape 10"/>
          <p:cNvSpPr/>
          <p:nvPr/>
        </p:nvSpPr>
        <p:spPr>
          <a:xfrm>
            <a:off x="502920" y="4000500"/>
            <a:ext cx="11185855" cy="1085850"/>
          </a:xfrm>
          <a:prstGeom prst="roundRect">
            <a:avLst>
              <a:gd name="adj" fmla="val 6737"/>
            </a:avLst>
          </a:prstGeom>
          <a:solidFill>
            <a:srgbClr val="E8F8EF"/>
          </a:solidFill>
          <a:ln w="15875">
            <a:solidFill>
              <a:srgbClr val="9ED9B5"/>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A navigator must know both latitude and </a:t>
            </a:r>
            <a:pPr indent="0" marL="0">
              <a:buNone/>
            </a:pPr>
            <a:r>
              <a:rPr lang="en-US" sz="2200" b="1" dirty="0">
                <a:solidFill>
                  <a:srgbClr val="1E8E52"/>
                </a:solidFill>
                <a:latin typeface="Calibri" pitchFamily="34" charset="0"/>
                <a:ea typeface="Calibri" pitchFamily="34" charset="-122"/>
                <a:cs typeface="Calibri" pitchFamily="34" charset="-120"/>
              </a:rPr>
              <a:t>longitude</a:t>
            </a:r>
            <a:pPr indent="0" marL="0">
              <a:buNone/>
            </a:pPr>
            <a:r>
              <a:rPr lang="en-US" sz="2200" dirty="0">
                <a:solidFill>
                  <a:srgbClr val="1E293B"/>
                </a:solidFill>
                <a:latin typeface="Calibri" pitchFamily="34" charset="0"/>
                <a:ea typeface="Calibri" pitchFamily="34" charset="-122"/>
                <a:cs typeface="Calibri" pitchFamily="34" charset="-120"/>
              </a:rPr>
              <a:t> to pinpoint a ship’s location.</a:t>
            </a:r>
            <a:endParaRPr lang="en-US" sz="2200" dirty="0"/>
          </a:p>
        </p:txBody>
      </p:sp>
      <p:sp>
        <p:nvSpPr>
          <p:cNvPr id="14" name="Shape 12"/>
          <p:cNvSpPr/>
          <p:nvPr/>
        </p:nvSpPr>
        <p:spPr>
          <a:xfrm>
            <a:off x="502920" y="5223510"/>
            <a:ext cx="11185855" cy="1085850"/>
          </a:xfrm>
          <a:prstGeom prst="roundRect">
            <a:avLst>
              <a:gd name="adj" fmla="val 6737"/>
            </a:avLst>
          </a:prstGeom>
          <a:solidFill>
            <a:srgbClr val="E8F8EF"/>
          </a:solidFill>
          <a:ln w="15875">
            <a:solidFill>
              <a:srgbClr val="9ED9B5"/>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pPr indent="0" marL="0">
              <a:buNone/>
            </a:pPr>
            <a:r>
              <a:rPr lang="en-US" sz="2200" b="1" dirty="0">
                <a:solidFill>
                  <a:srgbClr val="1E8E52"/>
                </a:solidFill>
                <a:latin typeface="Calibri" pitchFamily="34" charset="0"/>
                <a:ea typeface="Calibri" pitchFamily="34" charset="-122"/>
                <a:cs typeface="Calibri" pitchFamily="34" charset="-120"/>
              </a:rPr>
              <a:t>terrestrial</a:t>
            </a:r>
            <a:pPr indent="0" marL="0">
              <a:buNone/>
            </a:pPr>
            <a:r>
              <a:rPr lang="en-US" sz="2200" dirty="0">
                <a:solidFill>
                  <a:srgbClr val="1E293B"/>
                </a:solidFill>
                <a:latin typeface="Calibri" pitchFamily="34" charset="0"/>
                <a:ea typeface="Calibri" pitchFamily="34" charset="-122"/>
                <a:cs typeface="Calibri" pitchFamily="34" charset="-120"/>
              </a:rPr>
              <a:t> globes show land and ocean; celestial globes show the stars.</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BUILD THE CLAUSE YOURSELF</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Before you start: hunt for the noun each pronoun replaced.</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Now use them. The commas in this paragraph are all wrong Every comma in this paragraph is in the wrong place. For each clausemdash; some are missing and some do not belong. For each clause, ask: does it tell me which one (essential, no commas), or does it just add detail (extra, commas)?</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Write your corrected paragraph in your reading journal.</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A relative clause starts with who, which or that and tells you more about the noun in front of it.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Build the clause. Type the relative pronoun that belongs.</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BUILD THE CLAUSE YOURSELF</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457200"/>
          </a:xfrm>
          <a:prstGeom prst="rect">
            <a:avLst/>
          </a:prstGeom>
          <a:noFill/>
          <a:ln/>
        </p:spPr>
        <p:txBody>
          <a:bodyPr wrap="square" lIns="0" tIns="0" rIns="0" bIns="0" rtlCol="0" anchor="ctr"/>
          <a:lstStyle/>
          <a:p>
            <a:pPr indent="0" marL="0">
              <a:buNone/>
            </a:pPr>
            <a:r>
              <a:rPr lang="en-US" sz="2000" i="1" dirty="0">
                <a:solidFill>
                  <a:srgbClr val="C7922C"/>
                </a:solidFill>
                <a:latin typeface="Calibri" pitchFamily="34" charset="0"/>
                <a:ea typeface="Calibri" pitchFamily="34" charset="-122"/>
                <a:cs typeface="Calibri" pitchFamily="34" charset="-120"/>
              </a:rPr>
              <a:t>Word bank: who · which · that · whose</a:t>
            </a:r>
            <a:endParaRPr lang="en-US" sz="2000" dirty="0"/>
          </a:p>
        </p:txBody>
      </p:sp>
      <p:sp>
        <p:nvSpPr>
          <p:cNvPr id="9" name="Shape 7"/>
          <p:cNvSpPr/>
          <p:nvPr/>
        </p:nvSpPr>
        <p:spPr>
          <a:xfrm>
            <a:off x="502920" y="2103120"/>
            <a:ext cx="11185855" cy="948690"/>
          </a:xfrm>
          <a:prstGeom prst="roundRect">
            <a:avLst>
              <a:gd name="adj" fmla="val 7711"/>
            </a:avLst>
          </a:prstGeom>
          <a:solidFill>
            <a:srgbClr val="F8FAFC"/>
          </a:solidFill>
          <a:ln w="15875">
            <a:solidFill>
              <a:srgbClr val="CBD5E1"/>
            </a:solidFill>
            <a:prstDash val="solid"/>
          </a:ln>
        </p:spPr>
      </p:sp>
      <p:sp>
        <p:nvSpPr>
          <p:cNvPr id="10" name="Text 8"/>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Nat,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had no schooling after age ten, taught himself Latin.</a:t>
            </a:r>
            <a:endParaRPr lang="en-US" sz="2200" dirty="0"/>
          </a:p>
        </p:txBody>
      </p:sp>
      <p:sp>
        <p:nvSpPr>
          <p:cNvPr id="11" name="Shape 9"/>
          <p:cNvSpPr/>
          <p:nvPr/>
        </p:nvSpPr>
        <p:spPr>
          <a:xfrm>
            <a:off x="502920" y="3188970"/>
            <a:ext cx="11185855" cy="948690"/>
          </a:xfrm>
          <a:prstGeom prst="roundRect">
            <a:avLst>
              <a:gd name="adj" fmla="val 7711"/>
            </a:avLst>
          </a:prstGeom>
          <a:solidFill>
            <a:srgbClr val="F8FAFC"/>
          </a:solidFill>
          <a:ln w="15875">
            <a:solidFill>
              <a:srgbClr val="CBD5E1"/>
            </a:solidFill>
            <a:prstDash val="solid"/>
          </a:ln>
        </p:spPr>
      </p:sp>
      <p:sp>
        <p:nvSpPr>
          <p:cNvPr id="12" name="Text 10"/>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The sextant,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was a gift from David, helped Nat practice.</a:t>
            </a:r>
            <a:endParaRPr lang="en-US" sz="2200" dirty="0"/>
          </a:p>
        </p:txBody>
      </p:sp>
      <p:sp>
        <p:nvSpPr>
          <p:cNvPr id="13" name="Shape 11"/>
          <p:cNvSpPr/>
          <p:nvPr/>
        </p:nvSpPr>
        <p:spPr>
          <a:xfrm>
            <a:off x="502920" y="4274820"/>
            <a:ext cx="11185855" cy="948690"/>
          </a:xfrm>
          <a:prstGeom prst="roundRect">
            <a:avLst>
              <a:gd name="adj" fmla="val 7711"/>
            </a:avLst>
          </a:prstGeom>
          <a:solidFill>
            <a:srgbClr val="F8FAFC"/>
          </a:solidFill>
          <a:ln w="15875">
            <a:solidFill>
              <a:srgbClr val="CBD5E1"/>
            </a:solidFill>
            <a:prstDash val="solid"/>
          </a:ln>
        </p:spPr>
      </p:sp>
      <p:sp>
        <p:nvSpPr>
          <p:cNvPr id="14" name="Text 12"/>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The ship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carried him on his first voyage was the Henry.</a:t>
            </a:r>
            <a:endParaRPr lang="en-US" sz="2200" dirty="0"/>
          </a:p>
        </p:txBody>
      </p:sp>
      <p:sp>
        <p:nvSpPr>
          <p:cNvPr id="15" name="Shape 13"/>
          <p:cNvSpPr/>
          <p:nvPr/>
        </p:nvSpPr>
        <p:spPr>
          <a:xfrm>
            <a:off x="502920" y="5360670"/>
            <a:ext cx="11185855" cy="948690"/>
          </a:xfrm>
          <a:prstGeom prst="roundRect">
            <a:avLst>
              <a:gd name="adj" fmla="val 7711"/>
            </a:avLst>
          </a:prstGeom>
          <a:solidFill>
            <a:srgbClr val="F8FAFC"/>
          </a:solidFill>
          <a:ln w="15875">
            <a:solidFill>
              <a:srgbClr val="CBD5E1"/>
            </a:solidFill>
            <a:prstDash val="solid"/>
          </a:ln>
        </p:spPr>
      </p:sp>
      <p:sp>
        <p:nvSpPr>
          <p:cNvPr id="16" name="Text 14"/>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Dr. Bentley,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Latin books Nat borrowed, helped him get started.</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BUILD THE CLAUSE YOURSELF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2103120"/>
            <a:ext cx="11185855" cy="948690"/>
          </a:xfrm>
          <a:prstGeom prst="roundRect">
            <a:avLst>
              <a:gd name="adj" fmla="val 7711"/>
            </a:avLst>
          </a:prstGeom>
          <a:solidFill>
            <a:srgbClr val="E8F8EF"/>
          </a:solidFill>
          <a:ln w="15875">
            <a:solidFill>
              <a:srgbClr val="9ED9B5"/>
            </a:solidFill>
            <a:prstDash val="solid"/>
          </a:ln>
        </p:spPr>
      </p:sp>
      <p:sp>
        <p:nvSpPr>
          <p:cNvPr id="9" name="Text 7"/>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Nat, </a:t>
            </a:r>
            <a:pPr indent="0" marL="0">
              <a:buNone/>
            </a:pPr>
            <a:r>
              <a:rPr lang="en-US" sz="2200" b="1" dirty="0">
                <a:solidFill>
                  <a:srgbClr val="1E8E52"/>
                </a:solidFill>
                <a:latin typeface="Calibri" pitchFamily="34" charset="0"/>
                <a:ea typeface="Calibri" pitchFamily="34" charset="-122"/>
                <a:cs typeface="Calibri" pitchFamily="34" charset="-120"/>
              </a:rPr>
              <a:t>who</a:t>
            </a:r>
            <a:pPr indent="0" marL="0">
              <a:buNone/>
            </a:pPr>
            <a:r>
              <a:rPr lang="en-US" sz="2200" dirty="0">
                <a:solidFill>
                  <a:srgbClr val="1E293B"/>
                </a:solidFill>
                <a:latin typeface="Calibri" pitchFamily="34" charset="0"/>
                <a:ea typeface="Calibri" pitchFamily="34" charset="-122"/>
                <a:cs typeface="Calibri" pitchFamily="34" charset="-120"/>
              </a:rPr>
              <a:t> had no schooling after age ten, taught himself Latin.</a:t>
            </a:r>
            <a:endParaRPr lang="en-US" sz="2200" dirty="0"/>
          </a:p>
        </p:txBody>
      </p:sp>
      <p:sp>
        <p:nvSpPr>
          <p:cNvPr id="10" name="Shape 8"/>
          <p:cNvSpPr/>
          <p:nvPr/>
        </p:nvSpPr>
        <p:spPr>
          <a:xfrm>
            <a:off x="502920" y="3188970"/>
            <a:ext cx="11185855" cy="948690"/>
          </a:xfrm>
          <a:prstGeom prst="roundRect">
            <a:avLst>
              <a:gd name="adj" fmla="val 7711"/>
            </a:avLst>
          </a:prstGeom>
          <a:solidFill>
            <a:srgbClr val="E8F8EF"/>
          </a:solidFill>
          <a:ln w="15875">
            <a:solidFill>
              <a:srgbClr val="9ED9B5"/>
            </a:solidFill>
            <a:prstDash val="solid"/>
          </a:ln>
        </p:spPr>
      </p:sp>
      <p:sp>
        <p:nvSpPr>
          <p:cNvPr id="11" name="Text 9"/>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The sextant, </a:t>
            </a:r>
            <a:pPr indent="0" marL="0">
              <a:buNone/>
            </a:pPr>
            <a:r>
              <a:rPr lang="en-US" sz="2200" b="1" dirty="0">
                <a:solidFill>
                  <a:srgbClr val="1E8E52"/>
                </a:solidFill>
                <a:latin typeface="Calibri" pitchFamily="34" charset="0"/>
                <a:ea typeface="Calibri" pitchFamily="34" charset="-122"/>
                <a:cs typeface="Calibri" pitchFamily="34" charset="-120"/>
              </a:rPr>
              <a:t>which</a:t>
            </a:r>
            <a:pPr indent="0" marL="0">
              <a:buNone/>
            </a:pPr>
            <a:r>
              <a:rPr lang="en-US" sz="2200" dirty="0">
                <a:solidFill>
                  <a:srgbClr val="1E293B"/>
                </a:solidFill>
                <a:latin typeface="Calibri" pitchFamily="34" charset="0"/>
                <a:ea typeface="Calibri" pitchFamily="34" charset="-122"/>
                <a:cs typeface="Calibri" pitchFamily="34" charset="-120"/>
              </a:rPr>
              <a:t> was a gift from David, helped Nat practice.</a:t>
            </a:r>
            <a:endParaRPr lang="en-US" sz="2200" dirty="0"/>
          </a:p>
        </p:txBody>
      </p:sp>
      <p:sp>
        <p:nvSpPr>
          <p:cNvPr id="12" name="Shape 10"/>
          <p:cNvSpPr/>
          <p:nvPr/>
        </p:nvSpPr>
        <p:spPr>
          <a:xfrm>
            <a:off x="502920" y="4274820"/>
            <a:ext cx="11185855" cy="948690"/>
          </a:xfrm>
          <a:prstGeom prst="roundRect">
            <a:avLst>
              <a:gd name="adj" fmla="val 7711"/>
            </a:avLst>
          </a:prstGeom>
          <a:solidFill>
            <a:srgbClr val="E8F8EF"/>
          </a:solidFill>
          <a:ln w="15875">
            <a:solidFill>
              <a:srgbClr val="9ED9B5"/>
            </a:solidFill>
            <a:prstDash val="solid"/>
          </a:ln>
        </p:spPr>
      </p:sp>
      <p:sp>
        <p:nvSpPr>
          <p:cNvPr id="13" name="Text 11"/>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The ship </a:t>
            </a:r>
            <a:pPr indent="0" marL="0">
              <a:buNone/>
            </a:pPr>
            <a:r>
              <a:rPr lang="en-US" sz="2200" b="1" dirty="0">
                <a:solidFill>
                  <a:srgbClr val="1E8E52"/>
                </a:solidFill>
                <a:latin typeface="Calibri" pitchFamily="34" charset="0"/>
                <a:ea typeface="Calibri" pitchFamily="34" charset="-122"/>
                <a:cs typeface="Calibri" pitchFamily="34" charset="-120"/>
              </a:rPr>
              <a:t>that</a:t>
            </a:r>
            <a:pPr indent="0" marL="0">
              <a:buNone/>
            </a:pPr>
            <a:r>
              <a:rPr lang="en-US" sz="2200" dirty="0">
                <a:solidFill>
                  <a:srgbClr val="1E293B"/>
                </a:solidFill>
                <a:latin typeface="Calibri" pitchFamily="34" charset="0"/>
                <a:ea typeface="Calibri" pitchFamily="34" charset="-122"/>
                <a:cs typeface="Calibri" pitchFamily="34" charset="-120"/>
              </a:rPr>
              <a:t> carried him on his first voyage was the Henry.</a:t>
            </a:r>
            <a:endParaRPr lang="en-US" sz="2200" dirty="0"/>
          </a:p>
        </p:txBody>
      </p:sp>
      <p:sp>
        <p:nvSpPr>
          <p:cNvPr id="14" name="Shape 12"/>
          <p:cNvSpPr/>
          <p:nvPr/>
        </p:nvSpPr>
        <p:spPr>
          <a:xfrm>
            <a:off x="502920" y="5360670"/>
            <a:ext cx="11185855" cy="948690"/>
          </a:xfrm>
          <a:prstGeom prst="roundRect">
            <a:avLst>
              <a:gd name="adj" fmla="val 7711"/>
            </a:avLst>
          </a:prstGeom>
          <a:solidFill>
            <a:srgbClr val="E8F8EF"/>
          </a:solidFill>
          <a:ln w="15875">
            <a:solidFill>
              <a:srgbClr val="9ED9B5"/>
            </a:solidFill>
            <a:prstDash val="solid"/>
          </a:ln>
        </p:spPr>
      </p:sp>
      <p:sp>
        <p:nvSpPr>
          <p:cNvPr id="15" name="Text 13"/>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Dr. Bentley, </a:t>
            </a:r>
            <a:pPr indent="0" marL="0">
              <a:buNone/>
            </a:pPr>
            <a:r>
              <a:rPr lang="en-US" sz="2200" b="1" dirty="0">
                <a:solidFill>
                  <a:srgbClr val="1E8E52"/>
                </a:solidFill>
                <a:latin typeface="Calibri" pitchFamily="34" charset="0"/>
                <a:ea typeface="Calibri" pitchFamily="34" charset="-122"/>
                <a:cs typeface="Calibri" pitchFamily="34" charset="-120"/>
              </a:rPr>
              <a:t>whose</a:t>
            </a:r>
            <a:pPr indent="0" marL="0">
              <a:buNone/>
            </a:pPr>
            <a:r>
              <a:rPr lang="en-US" sz="2200" dirty="0">
                <a:solidFill>
                  <a:srgbClr val="1E293B"/>
                </a:solidFill>
                <a:latin typeface="Calibri" pitchFamily="34" charset="0"/>
                <a:ea typeface="Calibri" pitchFamily="34" charset="-122"/>
                <a:cs typeface="Calibri" pitchFamily="34" charset="-120"/>
              </a:rPr>
              <a:t> Latin books Nat borrowed, helped him get started.</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APPLY — DIVIDE AND DECODE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Dividing Long Words by Their Parts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clap the beats, then decide where the splits go.</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Spelling</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Divide each word at its meaning-seams and give the meaning of every part: chronometer, telescope, manuscript.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Write each word split into its parts with slashes, then translate every part.</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MENTOR SENTENCE · CHAPTER 11</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RWM — Read like a Reader, Read like a Writer, Mimic</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463040"/>
          </a:xfrm>
          <a:prstGeom prst="roundRect">
            <a:avLst>
              <a:gd name="adj" fmla="val 5000"/>
            </a:avLst>
          </a:prstGeom>
          <a:solidFill>
            <a:srgbClr val="FEF6E8"/>
          </a:solidFill>
          <a:ln w="15875">
            <a:solidFill>
              <a:srgbClr val="C7922C"/>
            </a:solidFill>
            <a:prstDash val="solid"/>
          </a:ln>
        </p:spPr>
      </p:sp>
      <p:sp>
        <p:nvSpPr>
          <p:cNvPr id="7" name="Text 5"/>
          <p:cNvSpPr/>
          <p:nvPr/>
        </p:nvSpPr>
        <p:spPr>
          <a:xfrm>
            <a:off x="777240" y="1645920"/>
            <a:ext cx="10637215" cy="1280160"/>
          </a:xfrm>
          <a:prstGeom prst="rect">
            <a:avLst/>
          </a:prstGeom>
          <a:noFill/>
          <a:ln/>
        </p:spPr>
        <p:txBody>
          <a:bodyPr wrap="square" lIns="0" tIns="0" rIns="0" bIns="0" rtlCol="0" anchor="ctr">
            <a:normAutofit/>
          </a:bodyPr>
          <a:lstStyle/>
          <a:p>
            <a:pPr indent="0" marL="0">
              <a:buNone/>
            </a:pPr>
            <a:r>
              <a:rPr lang="en-US" sz="2400" i="1" dirty="0">
                <a:solidFill>
                  <a:srgbClr val="1E293B"/>
                </a:solidFill>
                <a:latin typeface="Georgia" pitchFamily="34" charset="0"/>
                <a:ea typeface="Georgia" pitchFamily="34" charset="-122"/>
                <a:cs typeface="Georgia" pitchFamily="34" charset="-120"/>
              </a:rPr>
              <a:t>“If we argue against any branch of liberty, just because sometimes people abuse that liberty, then we argue against liberty itself.”</a:t>
            </a:r>
            <a:endParaRPr lang="en-US" sz="2400" dirty="0"/>
          </a:p>
        </p:txBody>
      </p:sp>
      <p:sp>
        <p:nvSpPr>
          <p:cNvPr id="8" name="Shape 6"/>
          <p:cNvSpPr/>
          <p:nvPr/>
        </p:nvSpPr>
        <p:spPr>
          <a:xfrm>
            <a:off x="502920" y="3246120"/>
            <a:ext cx="3606698" cy="3200400"/>
          </a:xfrm>
          <a:prstGeom prst="roundRect">
            <a:avLst>
              <a:gd name="adj" fmla="val 2286"/>
            </a:avLst>
          </a:prstGeom>
          <a:solidFill>
            <a:srgbClr val="F8FAFC"/>
          </a:solidFill>
          <a:ln w="15875">
            <a:solidFill>
              <a:srgbClr val="CBD5E1"/>
            </a:solidFill>
            <a:prstDash val="solid"/>
          </a:ln>
        </p:spPr>
      </p:sp>
      <p:sp>
        <p:nvSpPr>
          <p:cNvPr id="9" name="Text 7"/>
          <p:cNvSpPr/>
          <p:nvPr/>
        </p:nvSpPr>
        <p:spPr>
          <a:xfrm>
            <a:off x="685800"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Reader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Dr. Bentley is defending a newspaper that printed something he disagrees with. What is he saying about what happens when you start making exceptions to a freedom?</a:t>
            </a:r>
            <a:endParaRPr lang="en-US" sz="1900" dirty="0"/>
          </a:p>
        </p:txBody>
      </p:sp>
      <p:sp>
        <p:nvSpPr>
          <p:cNvPr id="10" name="Shape 8"/>
          <p:cNvSpPr/>
          <p:nvPr/>
        </p:nvSpPr>
        <p:spPr>
          <a:xfrm>
            <a:off x="4292498" y="3246120"/>
            <a:ext cx="3606698" cy="3200400"/>
          </a:xfrm>
          <a:prstGeom prst="roundRect">
            <a:avLst>
              <a:gd name="adj" fmla="val 2286"/>
            </a:avLst>
          </a:prstGeom>
          <a:solidFill>
            <a:srgbClr val="F8FAFC"/>
          </a:solidFill>
          <a:ln w="15875">
            <a:solidFill>
              <a:srgbClr val="CBD5E1"/>
            </a:solidFill>
            <a:prstDash val="solid"/>
          </a:ln>
        </p:spPr>
      </p:sp>
      <p:sp>
        <p:nvSpPr>
          <p:cNvPr id="11" name="Text 9"/>
          <p:cNvSpPr/>
          <p:nvPr/>
        </p:nvSpPr>
        <p:spPr>
          <a:xfrm>
            <a:off x="4475378"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Writer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This is a central idea built as a piece of reasoning: If … just because … then. The middle clause is the objection somebody might raise, and Bentley puts it inside his own sentence instead of ignoring it. A central idea is stronger when it answers the obvious complaint on its way past.</a:t>
            </a:r>
            <a:endParaRPr lang="en-US" sz="1900" dirty="0"/>
          </a:p>
        </p:txBody>
      </p:sp>
      <p:sp>
        <p:nvSpPr>
          <p:cNvPr id="12" name="Shape 10"/>
          <p:cNvSpPr/>
          <p:nvPr/>
        </p:nvSpPr>
        <p:spPr>
          <a:xfrm>
            <a:off x="8082077" y="3246120"/>
            <a:ext cx="3606698" cy="3200400"/>
          </a:xfrm>
          <a:prstGeom prst="roundRect">
            <a:avLst>
              <a:gd name="adj" fmla="val 2286"/>
            </a:avLst>
          </a:prstGeom>
          <a:solidFill>
            <a:srgbClr val="F8FAFC"/>
          </a:solidFill>
          <a:ln w="15875">
            <a:solidFill>
              <a:srgbClr val="CBD5E1"/>
            </a:solidFill>
            <a:prstDash val="solid"/>
          </a:ln>
        </p:spPr>
      </p:sp>
      <p:sp>
        <p:nvSpPr>
          <p:cNvPr id="13" name="Text 11"/>
          <p:cNvSpPr/>
          <p:nvPr/>
        </p:nvSpPr>
        <p:spPr>
          <a:xfrm>
            <a:off x="8264957"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Mimic</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Write one If … just because … then … sentence stating something you believe about fairness or freedom. Put the strongest objection inside your own sentence. No frame this time.</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11 — “WHAT NEXT?”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Week 11 — Chapter 11 — What Next?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11 is Nat’s last week at the chandlery — and then the question the title asks: what next? He has the mathematics. He has the navigation theory. Now he needs a place to use them, and this chapter tests him with a job, an offer, a loss, and a risk.</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11</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Gibaut’s Offer: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Captain Gibaut offers Nat “a berth as clerk on the Henry.” Why does Gibaut think Nat would do well as a clerk? What is the first thing Nat wonders about — and what does that tell you? How does this moment connect to the teachers Nat had (or didn’t have) during his nine years at the chandlery?</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“Now What Would He Do?”: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11 is called ‘What Next?’ Nat has been asking this question for years. The chapter ends with Gibaut quitting the Henry and Nat’s venture at risk. How does Nat’s ‘What next?’ look at the end of this chapter? What is at stake for him now?</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In Chapter 11, Nat puts almost every cent he has into a venture to sell in Bourbon. Nobody made him do it. Explain: (a) what he invests in and how he decides, (b) why he does it, (c) how it contributes to the plot and character development.</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This chapter is the payoff of nine years. Connect one specific event from Chapter 11 back to a specific moment from Chapters 5, 6, 7, or 8. Explain the cause-and-effect: how did that earlier moment make this later one possible?</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The chapter is titled ‘What Next?’ Based on all you’ve read through Chapter 11, what do you think Nat’s answer to that question is — not just as a career choice, but as a life philosophy?</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DRAFT · DRAFT YOUR FIRST BODY SECTION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11 · DRAFT  (1/4)</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Your introduction is written. Now the first body section. Every body section has the same structure: topic sentence → Fact → Explanation → Significance. Today you build it piece by piece.</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DRAFT · DRAFT YOUR FIRST BODY SECTION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11 · DRAFT  (2/4)</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builds Body 1 sentence by sentence using the F+E+S structure. BEFORE Alex’s attempt without structure: Nat studied a lot in the chandlery. He filled many notebooks. This shows he was dedicated. AFTER Alex’s F+E+S version: Topic: One quality that made Bowditch extraordinary was his commitment to self-education despite having no time, money, or formal schooling. Fact: For nine years at the chandlery, he stayed up after it closed, filling notebook after notebook with everything he could learn — navigation, Latin, algebra, astronomy. Explanation: This kind of sustained effort, night after night for nearly a decade, is not ordinary intelligence — it is disciplined character. Significance: It proves the claim because his knowledge came not from privilege but from choice, which is exactly what made it possible for him to later teach it to others. Notice: Alex’s “before” has the right facts but no structure. The F+E+S version transforms three weak sentences into a complete argument. The significance sentence directly ties back to the claim.</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DRAFT · DRAFT YOUR FIRST BODY SECTION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11 · DRAFT  (3/4)</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F+E+S Builder (Body 1):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Build your Body 1 piece by piece using the four-part structure. Alex’s example (filled): Topic Sentence One quality that made Bowditch extraordinary was his commitment to self-education despite having no time, money, or formal schooling. Fact (What happened?) For nine years at the chandlery, he stayed up after it closed, filling notebook after notebook with navigation, Latin, algebra, and astronomy. Explanation (What does this mean?) This kind of sustained effort, night after night for a decade, is not ordinary intelligence — it is disciplined character. Significance (Why does it prove the claim?) His knowledge came not from privilege but from choice — which is exactly what made it later possible for him to teach it to others. Your turn — do the same in your reading journal: Topic: ____________________ Fact (what happened, which chapter?): ____________________ Explanation (what does this mean?): ____________________ Significance (why does this support your claim?): ____________________</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DRAFT · DRAFT YOUR FIRST BODY SECTION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11 · DRAFT  (4/4)</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“One quality that made Bowditch extraordinary was ___.” “For ___ years/chapters, he ___, showing that ___.” “This matters because it proves that ___, which is exactly the kind of person who could...”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11.3 — Carry On, Mr. Bowditch, Chapter 11</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