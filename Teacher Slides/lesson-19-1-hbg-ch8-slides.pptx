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1, Chapter 8 — Walking People. Historical content note: this novel is narrated by a Choctaw boy during the Trail of Tears / removal era — handle with the same care as the source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Isaac tells you on the first page that he is already a ghost. How does knowing the ending change how you feel as you read the beginning?
Reading: I will analyze Isaac's first-person narrative voice in Chapter 1.
Grammar: I will identify appositives in sentences from Chapter 1.
Spelling: I will sort historical vocabulary words by syllable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"eventually the sleet stopped and the soldiers said let's make camp here"
Corrected: "Eventually, the sleet stopped and the soldiers said, “Let’s make camp here.”"
Comma after “Eventually” (transition). Quotation marks and comma around the direct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"eventually the sleet stopped and the soldiers said let's make camp here"
Corrected: "Eventually, the sleet stopped and the soldiers said, “Let’s make camp here.”"
Comma after “Eventually” (transition). Quotation marks and comma around the direct speech.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review — same word set practiced across the week (match/identify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answers yet — students tap/discuss and guess the appositive.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revealed — correct word in green.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Open &amp; Closed Syllables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Isaac’s Path — 📍 Chapter 8 — Walking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Focus: Conflict and Rising Action
Task: Today is the Plan stage. This week you will draft a scene about conflict and rising tension. Think about a moment from the novel — or from your own life — where danger and hope existed at the same time. In your reading journal: jot down what the conflict is, what makes it tense, and what small hope breaks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0A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8B6FC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8B6FC0"/>
                </a:solidFill>
                <a:latin typeface="Calibri" pitchFamily="34" charset="0"/>
                <a:ea typeface="Calibri" pitchFamily="34" charset="-122"/>
                <a:cs typeface="Calibri" pitchFamily="34" charset="-120"/>
              </a:rPr>
              <a:t>WEEK 19  ·  DAY 1</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I Became a Ghost</a:t>
            </a:r>
            <a:endParaRPr lang="en-US" sz="2800" dirty="0"/>
          </a:p>
          <a:p>
            <a:pPr algn="l" indent="0" marL="0">
              <a:buNone/>
            </a:pPr>
            <a:r>
              <a:rPr lang="en-US" sz="2800" b="1" dirty="0">
                <a:solidFill>
                  <a:srgbClr val="FFFFFF"/>
                </a:solidFill>
                <a:latin typeface="Calibri" pitchFamily="34" charset="0"/>
                <a:ea typeface="Calibri" pitchFamily="34" charset="-122"/>
                <a:cs typeface="Calibri" pitchFamily="34" charset="-120"/>
              </a:rPr>
              <a:t>Chapter 8 — Walking People</a:t>
            </a:r>
            <a:endParaRPr lang="en-US" sz="28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Courage &amp; Remembrance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Isaac tells you on the first page that he is already a ghost. How does knowing the ending change how you feel as you read the beginning?</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Isaac's first-person narrative voice in Chapter 1.</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identify appositives in sentences from Chapter 1.</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a:t>
            </a:r>
            <a:pPr indent="0" marL="0">
              <a:buNone/>
            </a:pPr>
            <a:r>
              <a:rPr lang="en-US" sz="1250" dirty="0">
                <a:solidFill>
                  <a:srgbClr val="1E293B"/>
                </a:solidFill>
                <a:latin typeface="Calibri" pitchFamily="34" charset="0"/>
                <a:ea typeface="Calibri" pitchFamily="34" charset="-122"/>
                <a:cs typeface="Calibri" pitchFamily="34" charset="-120"/>
              </a:rPr>
              <a:t>I will sort historical vocabulary words by syllable 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Good readers watch how new characters are introduced. Authors don’t always describe them directly — they show you through action, dialogue, and small details. In Chapter 8, Isaac meets Gabe, Ruth, and Nita. Watch how Tingle introduces each of them. What details does he choose to show first?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Eventually, the rain stopped and we built our evening fire.</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Eventually,  </a:t>
            </a:r>
            <a:pPr indent="0" marL="0">
              <a:buNone/>
            </a:pPr>
            <a:r>
              <a:rPr lang="en-US" sz="1150" dirty="0">
                <a:solidFill>
                  <a:srgbClr val="1E293B"/>
                </a:solidFill>
                <a:latin typeface="Calibri" pitchFamily="34" charset="0"/>
                <a:ea typeface="Calibri" pitchFamily="34" charset="-122"/>
                <a:cs typeface="Calibri" pitchFamily="34" charset="-120"/>
              </a:rPr>
              <a:t>Transition word + comma.</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stopped  </a:t>
            </a:r>
            <a:pPr indent="0" marL="0">
              <a:buNone/>
            </a:pPr>
            <a:r>
              <a:rPr lang="en-US" sz="1150" dirty="0">
                <a:solidFill>
                  <a:srgbClr val="1E293B"/>
                </a:solidFill>
                <a:latin typeface="Calibri" pitchFamily="34" charset="0"/>
                <a:ea typeface="Calibri" pitchFamily="34" charset="-122"/>
                <a:cs typeface="Calibri" pitchFamily="34" charset="-120"/>
              </a:rPr>
              <a:t>Active verb.</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built  </a:t>
            </a:r>
            <a:pPr indent="0" marL="0">
              <a:buNone/>
            </a:pPr>
            <a:r>
              <a:rPr lang="en-US" sz="1150" dirty="0">
                <a:solidFill>
                  <a:srgbClr val="1E293B"/>
                </a:solidFill>
                <a:latin typeface="Calibri" pitchFamily="34" charset="0"/>
                <a:ea typeface="Calibri" pitchFamily="34" charset="-122"/>
                <a:cs typeface="Calibri" pitchFamily="34" charset="-120"/>
              </a:rPr>
              <a:t>Strong verb.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eventually the sleet stopped and the soldiers said let's make camp here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eventually the sleet stopped and the soldiers said let's make camp here</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Eventually, the sleet stopped and the soldiers said, “Let’s make camp here.”</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Comma after “Eventually” (transition). Quotation marks and comma around the direct speech.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Isaac's people are called the 'Walking People' in this chapter. Is that name more about physical distance traveled, or about what they carry with them emotionally? Defend your answer with evidence from Chapter 8.</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Isaac's people are called the 'Walking People' in this chapter. Is that name more about physical distance traveled, or about what they carry with them emotionally? Defend your answer with evidence from Chapter 8.</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Morphology: Roots mem/memor + script</a:t>
            </a:r>
            <a:endParaRPr lang="en-US" sz="1100" dirty="0"/>
          </a:p>
        </p:txBody>
      </p:sp>
      <p:sp>
        <p:nvSpPr>
          <p:cNvPr id="5" name="Shape 3"/>
          <p:cNvSpPr/>
          <p:nvPr/>
        </p:nvSpPr>
        <p:spPr>
          <a:xfrm>
            <a:off x="365760" y="109728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mem / memor = memory → memoir, memorial, memorize, commemorate script = write → script, inscription, description, manuscript, prescribe</a:t>
            </a:r>
            <a:endParaRPr lang="en-US" sz="1150" dirty="0"/>
          </a:p>
        </p:txBody>
      </p:sp>
      <p:sp>
        <p:nvSpPr>
          <p:cNvPr id="7" name="Shape 5"/>
          <p:cNvSpPr/>
          <p:nvPr/>
        </p:nvSpPr>
        <p:spPr>
          <a:xfrm>
            <a:off x="365760" y="1737360"/>
            <a:ext cx="8412480" cy="566928"/>
          </a:xfrm>
          <a:prstGeom prst="roundRect">
            <a:avLst>
              <a:gd name="adj" fmla="val 16129"/>
            </a:avLst>
          </a:prstGeom>
          <a:solidFill>
            <a:srgbClr val="F8F4FF"/>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9222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commemorate → Root: mem/memor (memory)</a:t>
            </a:r>
            <a:endParaRPr lang="en-US" sz="1150" dirty="0"/>
          </a:p>
        </p:txBody>
      </p:sp>
      <p:sp>
        <p:nvSpPr>
          <p:cNvPr id="9" name="Shape 7"/>
          <p:cNvSpPr/>
          <p:nvPr/>
        </p:nvSpPr>
        <p:spPr>
          <a:xfrm>
            <a:off x="365760" y="2377440"/>
            <a:ext cx="8412480" cy="566928"/>
          </a:xfrm>
          <a:prstGeom prst="roundRect">
            <a:avLst>
              <a:gd name="adj" fmla="val 16129"/>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32304"/>
            <a:ext cx="804672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manuscript → Root: script (write)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Words from this week's chapters.</a:t>
            </a: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narrator  </a:t>
            </a:r>
            <a:pPr indent="0" marL="0">
              <a:buNone/>
            </a:pPr>
            <a:r>
              <a:rPr lang="en-US" sz="1150" dirty="0">
                <a:solidFill>
                  <a:srgbClr val="1E293B"/>
                </a:solidFill>
                <a:latin typeface="Calibri" pitchFamily="34" charset="0"/>
                <a:ea typeface="Calibri" pitchFamily="34" charset="-122"/>
                <a:cs typeface="Calibri" pitchFamily="34" charset="-120"/>
              </a:rPr>
              <a:t>The person telling the story in their own words.</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treaty  </a:t>
            </a:r>
            <a:pPr indent="0" marL="0">
              <a:buNone/>
            </a:pPr>
            <a:r>
              <a:rPr lang="en-US" sz="1150" dirty="0">
                <a:solidFill>
                  <a:srgbClr val="1E293B"/>
                </a:solidFill>
                <a:latin typeface="Calibri" pitchFamily="34" charset="0"/>
                <a:ea typeface="Calibri" pitchFamily="34" charset="-122"/>
                <a:cs typeface="Calibri" pitchFamily="34" charset="-120"/>
              </a:rPr>
              <a:t>A formal agreement between governments.</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memoir  </a:t>
            </a:r>
            <a:pPr indent="0" marL="0">
              <a:buNone/>
            </a:pPr>
            <a:r>
              <a:rPr lang="en-US" sz="1150" dirty="0">
                <a:solidFill>
                  <a:srgbClr val="1E293B"/>
                </a:solidFill>
                <a:latin typeface="Calibri" pitchFamily="34" charset="0"/>
                <a:ea typeface="Calibri" pitchFamily="34" charset="-122"/>
                <a:cs typeface="Calibri" pitchFamily="34" charset="-120"/>
              </a:rPr>
              <a:t>A written account of events a person lived through.</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removal  </a:t>
            </a:r>
            <a:pPr indent="0" marL="0">
              <a:buNone/>
            </a:pPr>
            <a:r>
              <a:rPr lang="en-US" sz="1150" dirty="0">
                <a:solidFill>
                  <a:srgbClr val="1E293B"/>
                </a:solidFill>
                <a:latin typeface="Calibri" pitchFamily="34" charset="0"/>
                <a:ea typeface="Calibri" pitchFamily="34" charset="-122"/>
                <a:cs typeface="Calibri" pitchFamily="34" charset="-120"/>
              </a:rPr>
              <a:t>Being forced from your homeland.</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prophecy  </a:t>
            </a:r>
            <a:pPr indent="0" marL="0">
              <a:buNone/>
            </a:pPr>
            <a:r>
              <a:rPr lang="en-US" sz="1150" dirty="0">
                <a:solidFill>
                  <a:srgbClr val="1E293B"/>
                </a:solidFill>
                <a:latin typeface="Calibri" pitchFamily="34" charset="0"/>
                <a:ea typeface="Calibri" pitchFamily="34" charset="-122"/>
                <a:cs typeface="Calibri" pitchFamily="34" charset="-120"/>
              </a:rPr>
              <a:t>A prediction of what will happen in the future.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Grammar: Appositives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Day 2: Identify — tap the appositive in each sentence.</a:t>
            </a:r>
            <a:endParaRPr lang="en-US" sz="1100" dirty="0"/>
          </a:p>
        </p:txBody>
      </p:sp>
      <p:sp>
        <p:nvSpPr>
          <p:cNvPr id="7" name="Text 5"/>
          <p:cNvSpPr/>
          <p:nvPr/>
        </p:nvSpPr>
        <p:spPr>
          <a:xfrm>
            <a:off x="365760" y="1097280"/>
            <a:ext cx="8412480" cy="4572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An appositive renames or describes the noun right before it. It is set off with commas on both sides.</a:t>
            </a:r>
            <a:endParaRPr lang="en-US" sz="1150" dirty="0"/>
          </a:p>
        </p:txBody>
      </p:sp>
      <p:sp>
        <p:nvSpPr>
          <p:cNvPr id="8" name="Shape 6"/>
          <p:cNvSpPr/>
          <p:nvPr/>
        </p:nvSpPr>
        <p:spPr>
          <a:xfrm>
            <a:off x="365760" y="1600200"/>
            <a:ext cx="8412480" cy="457200"/>
          </a:xfrm>
          <a:prstGeom prst="roundRect">
            <a:avLst>
              <a:gd name="adj" fmla="val 20000"/>
            </a:avLst>
          </a:prstGeom>
          <a:solidFill>
            <a:srgbClr val="FFFF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1645920"/>
            <a:ext cx="8046720" cy="365760"/>
          </a:xfrm>
          <a:prstGeom prst="rect">
            <a:avLst/>
          </a:prstGeom>
          <a:noFill/>
          <a:ln/>
        </p:spPr>
        <p:txBody>
          <a:bodyPr wrap="square" lIns="0" tIns="0" rIns="0" bIns="0" rtlCol="0" anchor="ctr"/>
          <a:lstStyle/>
          <a:p>
            <a:pPr indent="0" marL="0">
              <a:buNone/>
            </a:pPr>
            <a:r>
              <a:rPr lang="en-US" sz="1100" b="1" dirty="0">
                <a:solidFill>
                  <a:srgbClr val="34B76F"/>
                </a:solidFill>
                <a:latin typeface="Calibri" pitchFamily="34" charset="0"/>
                <a:ea typeface="Calibri" pitchFamily="34" charset="-122"/>
                <a:cs typeface="Calibri" pitchFamily="34" charset="-120"/>
              </a:rPr>
              <a:t>Model: </a:t>
            </a:r>
            <a:pPr indent="0" marL="0">
              <a:buNone/>
            </a:pPr>
            <a:r>
              <a:rPr lang="en-US" sz="1100" i="1" dirty="0">
                <a:solidFill>
                  <a:srgbClr val="1E293B"/>
                </a:solidFill>
                <a:latin typeface="Calibri" pitchFamily="34" charset="0"/>
                <a:ea typeface="Calibri" pitchFamily="34" charset="-122"/>
                <a:cs typeface="Calibri" pitchFamily="34" charset="-120"/>
              </a:rPr>
              <a:t>Isaac, a ten-year-old Choctaw boy, lived in Mississippi.</a:t>
            </a:r>
            <a:endParaRPr lang="en-US" sz="1100" dirty="0"/>
          </a:p>
        </p:txBody>
      </p:sp>
      <p:sp>
        <p:nvSpPr>
          <p:cNvPr id="10" name="Shape 8"/>
          <p:cNvSpPr/>
          <p:nvPr/>
        </p:nvSpPr>
        <p:spPr>
          <a:xfrm>
            <a:off x="365760" y="2130552"/>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176272"/>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Jumper, my dog, was always by my side.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2" name="Shape 10"/>
          <p:cNvSpPr/>
          <p:nvPr/>
        </p:nvSpPr>
        <p:spPr>
          <a:xfrm>
            <a:off x="365760" y="2752344"/>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2798064"/>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Luke, my big brother, left to play stickball.
</a:t>
            </a:r>
            <a:pPr indent="0" marL="0">
              <a:buNone/>
            </a:pPr>
            <a:r>
              <a:rPr lang="en-US" sz="1200" b="1" dirty="0">
                <a:solidFill>
                  <a:srgbClr val="34B76F"/>
                </a:solidFill>
                <a:latin typeface="Calibri" pitchFamily="34" charset="0"/>
                <a:ea typeface="Calibri" pitchFamily="34" charset="-122"/>
                <a:cs typeface="Calibri" pitchFamily="34" charset="-120"/>
              </a:rPr>
              <a:t>✅ my</a:t>
            </a:r>
            <a:endParaRPr lang="en-US" sz="1150" dirty="0"/>
          </a:p>
        </p:txBody>
      </p:sp>
      <p:sp>
        <p:nvSpPr>
          <p:cNvPr id="14" name="Shape 12"/>
          <p:cNvSpPr/>
          <p:nvPr/>
        </p:nvSpPr>
        <p:spPr>
          <a:xfrm>
            <a:off x="365760" y="3374136"/>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15" name="Text 13"/>
          <p:cNvSpPr/>
          <p:nvPr/>
        </p:nvSpPr>
        <p:spPr>
          <a:xfrm>
            <a:off x="548640" y="3419856"/>
            <a:ext cx="8046720" cy="475488"/>
          </a:xfrm>
          <a:prstGeom prst="rect">
            <a:avLst/>
          </a:prstGeom>
          <a:noFill/>
          <a:ln/>
        </p:spPr>
        <p:txBody>
          <a:bodyPr wrap="square" lIns="0" tIns="0" rIns="0" bIns="0" rtlCol="0" anchor="ctr"/>
          <a:lstStyle/>
          <a:p>
            <a:pPr indent="0" marL="0">
              <a:buNone/>
            </a:pPr>
            <a:r>
              <a:rPr lang="en-US" sz="1150" i="1" dirty="0">
                <a:solidFill>
                  <a:srgbClr val="1E293B"/>
                </a:solidFill>
                <a:latin typeface="Calibri" pitchFamily="34" charset="0"/>
                <a:ea typeface="Calibri" pitchFamily="34" charset="-122"/>
                <a:cs typeface="Calibri" pitchFamily="34" charset="-120"/>
              </a:rPr>
              <a:t>Treaty Talk, news from the Nahullos, had come to town.
</a:t>
            </a:r>
            <a:pPr indent="0" marL="0">
              <a:buNone/>
            </a:pPr>
            <a:r>
              <a:rPr lang="en-US" sz="1200" b="1" dirty="0">
                <a:solidFill>
                  <a:srgbClr val="34B76F"/>
                </a:solidFill>
                <a:latin typeface="Calibri" pitchFamily="34" charset="0"/>
                <a:ea typeface="Calibri" pitchFamily="34" charset="-122"/>
                <a:cs typeface="Calibri" pitchFamily="34" charset="-120"/>
              </a:rPr>
              <a:t>✅ news</a:t>
            </a:r>
            <a:endParaRPr lang="en-US" sz="1150" dirty="0"/>
          </a:p>
        </p:txBody>
      </p:sp>
      <p:sp>
        <p:nvSpPr>
          <p:cNvPr id="16" name="Shape 14"/>
          <p:cNvSpPr/>
          <p:nvPr/>
        </p:nvSpPr>
        <p:spPr>
          <a:xfrm>
            <a:off x="365760" y="4014216"/>
            <a:ext cx="8412480" cy="777240"/>
          </a:xfrm>
          <a:prstGeom prst="roundRect">
            <a:avLst>
              <a:gd name="adj" fmla="val 11765"/>
            </a:avLst>
          </a:prstGeom>
          <a:solidFill>
            <a:srgbClr val="FEF6E8"/>
          </a:solidFill>
          <a:ln w="12700">
            <a:solidFill>
              <a:srgbClr val="C7922C"/>
            </a:solidFill>
            <a:prstDash val="solid"/>
          </a:ln>
        </p:spPr>
      </p:sp>
      <p:sp>
        <p:nvSpPr>
          <p:cNvPr id="17" name="Text 15"/>
          <p:cNvSpPr/>
          <p:nvPr/>
        </p:nvSpPr>
        <p:spPr>
          <a:xfrm>
            <a:off x="548640" y="4087368"/>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Show What You Know
</a:t>
            </a:r>
            <a:pPr indent="0" marL="0">
              <a:buNone/>
            </a:pPr>
            <a:r>
              <a:rPr lang="en-US" sz="1050" i="1" dirty="0">
                <a:solidFill>
                  <a:srgbClr val="1E293B"/>
                </a:solidFill>
                <a:latin typeface="Calibri" pitchFamily="34" charset="0"/>
                <a:ea typeface="Calibri" pitchFamily="34" charset="-122"/>
                <a:cs typeface="Calibri" pitchFamily="34" charset="-120"/>
              </a:rPr>
              <a:t>Read this sentence: “Isaac’s father, a quiet and dignified man, held Mother’s hand.” What is the appositive? What does it tell you about Isaac’s father?</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Spelling: Open &amp; Closed Syllables</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Sort the words by their first syllable.</a:t>
            </a:r>
            <a:endParaRPr lang="en-US" sz="1100" dirty="0"/>
          </a:p>
        </p:txBody>
      </p:sp>
      <p:sp>
        <p:nvSpPr>
          <p:cNvPr id="7" name="Text 5"/>
          <p:cNvSpPr/>
          <p:nvPr/>
        </p:nvSpPr>
        <p:spPr>
          <a:xfrm>
            <a:off x="36576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syllables</a:t>
            </a:r>
            <a:endParaRPr lang="en-US" sz="1300" dirty="0"/>
          </a:p>
        </p:txBody>
      </p:sp>
      <p:sp>
        <p:nvSpPr>
          <p:cNvPr id="8" name="Text 6"/>
          <p:cNvSpPr/>
          <p:nvPr/>
        </p:nvSpPr>
        <p:spPr>
          <a:xfrm>
            <a:off x="36576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Choctaw</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treaty</a:t>
            </a:r>
            <a:endParaRPr lang="en-US" sz="1300" dirty="0"/>
          </a:p>
        </p:txBody>
      </p:sp>
      <p:sp>
        <p:nvSpPr>
          <p:cNvPr id="9" name="Text 7"/>
          <p:cNvSpPr/>
          <p:nvPr/>
        </p:nvSpPr>
        <p:spPr>
          <a:xfrm>
            <a:off x="316992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4 syllables</a:t>
            </a:r>
            <a:endParaRPr lang="en-US" sz="1300" dirty="0"/>
          </a:p>
        </p:txBody>
      </p:sp>
      <p:sp>
        <p:nvSpPr>
          <p:cNvPr id="10" name="Text 8"/>
          <p:cNvSpPr/>
          <p:nvPr/>
        </p:nvSpPr>
        <p:spPr>
          <a:xfrm>
            <a:off x="316992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Mississippi</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territory</a:t>
            </a:r>
            <a:endParaRPr lang="en-US" sz="1300" dirty="0"/>
          </a:p>
        </p:txBody>
      </p:sp>
      <p:sp>
        <p:nvSpPr>
          <p:cNvPr id="11" name="Text 9"/>
          <p:cNvSpPr/>
          <p:nvPr/>
        </p:nvSpPr>
        <p:spPr>
          <a:xfrm>
            <a:off x="5974080" y="1143000"/>
            <a:ext cx="2712720" cy="32004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syllables</a:t>
            </a:r>
            <a:endParaRPr lang="en-US" sz="1300" dirty="0"/>
          </a:p>
        </p:txBody>
      </p:sp>
      <p:sp>
        <p:nvSpPr>
          <p:cNvPr id="12" name="Text 10"/>
          <p:cNvSpPr/>
          <p:nvPr/>
        </p:nvSpPr>
        <p:spPr>
          <a:xfrm>
            <a:off x="5974080" y="1527048"/>
            <a:ext cx="2712720" cy="18288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removal</a:t>
            </a:r>
            <a:endParaRPr lang="en-US" sz="1300" dirty="0"/>
          </a:p>
          <a:p>
            <a:pPr indent="0" marL="0">
              <a:buNone/>
            </a:pPr>
            <a:r>
              <a:rPr lang="en-US" sz="1300" dirty="0">
                <a:solidFill>
                  <a:srgbClr val="1E293B"/>
                </a:solidFill>
                <a:latin typeface="Calibri" pitchFamily="34" charset="0"/>
                <a:ea typeface="Calibri" pitchFamily="34" charset="-122"/>
                <a:cs typeface="Calibri" pitchFamily="34" charset="-120"/>
              </a:rPr>
              <a:t>government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6492240" y="173736"/>
            <a:ext cx="2286000" cy="502920"/>
          </a:xfrm>
          <a:prstGeom prst="roundRect">
            <a:avLst>
              <a:gd name="adj" fmla="val 21818"/>
            </a:avLst>
          </a:prstGeom>
          <a:solidFill>
            <a:srgbClr val="8B6FC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777240"/>
          </a:xfrm>
          <a:prstGeom prst="roundRect">
            <a:avLst>
              <a:gd name="adj" fmla="val 1176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955280" cy="594360"/>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Isaac’s Path — 📍 Chapter 8 — Walking People</a:t>
            </a:r>
            <a:endParaRPr lang="en-US" sz="1250" dirty="0"/>
          </a:p>
        </p:txBody>
      </p:sp>
      <p:sp>
        <p:nvSpPr>
          <p:cNvPr id="9" name="Text 7"/>
          <p:cNvSpPr/>
          <p:nvPr/>
        </p:nvSpPr>
        <p:spPr>
          <a:xfrm>
            <a:off x="365760" y="1975104"/>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231136"/>
            <a:ext cx="8412480" cy="640080"/>
          </a:xfrm>
          <a:prstGeom prst="roundRect">
            <a:avLst>
              <a:gd name="adj" fmla="val 14286"/>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304288"/>
            <a:ext cx="7955280" cy="493776"/>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Chapter 8 — Walking People</a:t>
            </a:r>
            <a:endParaRPr lang="en-US" sz="1500" dirty="0"/>
          </a:p>
        </p:txBody>
      </p:sp>
      <p:sp>
        <p:nvSpPr>
          <p:cNvPr id="12" name="Text 10"/>
          <p:cNvSpPr/>
          <p:nvPr/>
        </p:nvSpPr>
        <p:spPr>
          <a:xfrm>
            <a:off x="365760" y="2999232"/>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KEEP YOUR READING LENS IN MIND</a:t>
            </a:r>
            <a:endParaRPr lang="en-US" sz="1100" dirty="0"/>
          </a:p>
        </p:txBody>
      </p:sp>
      <p:sp>
        <p:nvSpPr>
          <p:cNvPr id="13" name="Shape 11"/>
          <p:cNvSpPr/>
          <p:nvPr/>
        </p:nvSpPr>
        <p:spPr>
          <a:xfrm>
            <a:off x="365760" y="3255264"/>
            <a:ext cx="8412480" cy="1280160"/>
          </a:xfrm>
          <a:prstGeom prst="roundRect">
            <a:avLst>
              <a:gd name="adj" fmla="val 7143"/>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46704"/>
            <a:ext cx="7955280" cy="109728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Good readers watch how new characters are introduced. Authors don’t always describe them directly — they show you through action, dialogue, and small details. In Chapter 8, Isaac meets Gabe, Ruth, and Nita. Watch how Tingle introduces each of them. What details does he choose to show first?</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Questions — Preview</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(PART A)</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70432"/>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1.  </a:t>
            </a:r>
            <a:pPr indent="0" marL="0">
              <a:buNone/>
            </a:pPr>
            <a:r>
              <a:rPr lang="en-US" sz="1150" dirty="0">
                <a:solidFill>
                  <a:srgbClr val="1E293B"/>
                </a:solidFill>
                <a:latin typeface="Calibri" pitchFamily="34" charset="0"/>
                <a:ea typeface="Calibri" pitchFamily="34" charset="-122"/>
                <a:cs typeface="Calibri" pitchFamily="34" charset="-120"/>
              </a:rPr>
              <a:t>Isaac’s family watches the blanket sickness spread through the camp. Then they leave. Why do they leave? What does it tell you about Isaac’s father that he makes this decision?</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57984"/>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2.  </a:t>
            </a:r>
            <a:pPr indent="0" marL="0">
              <a:buNone/>
            </a:pPr>
            <a:r>
              <a:rPr lang="en-US" sz="1150" dirty="0">
                <a:solidFill>
                  <a:srgbClr val="1E293B"/>
                </a:solidFill>
                <a:latin typeface="Calibri" pitchFamily="34" charset="0"/>
                <a:ea typeface="Calibri" pitchFamily="34" charset="-122"/>
                <a:cs typeface="Calibri" pitchFamily="34" charset="-120"/>
              </a:rPr>
              <a:t>On the road, Isaac asks Jumper: “Do you see the ghosts?” Jumper says yes, and adds “Maybe I will be a ghost soon.” What does this conversation add to the story? Why does Tingle include Jumper’s confession here?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45536"/>
            <a:ext cx="8046720" cy="768096"/>
          </a:xfrm>
          <a:prstGeom prst="rect">
            <a:avLst/>
          </a:prstGeom>
          <a:noFill/>
          <a:ln/>
        </p:spPr>
        <p:txBody>
          <a:bodyPr wrap="square" lIns="0" tIns="0" rIns="0" bIns="0" rtlCol="0" anchor="ctr"/>
          <a:lstStyle/>
          <a:p>
            <a:pPr indent="0" marL="0">
              <a:buNone/>
            </a:pPr>
            <a:r>
              <a:rPr lang="en-US" sz="1300" b="1" dirty="0">
                <a:solidFill>
                  <a:srgbClr val="8B6FC0"/>
                </a:solidFill>
                <a:latin typeface="Calibri" pitchFamily="34" charset="0"/>
                <a:ea typeface="Calibri" pitchFamily="34" charset="-122"/>
                <a:cs typeface="Calibri" pitchFamily="34" charset="-120"/>
              </a:rPr>
              <a:t>3.  </a:t>
            </a:r>
            <a:pPr indent="0" marL="0">
              <a:buNone/>
            </a:pPr>
            <a:r>
              <a:rPr lang="en-US" sz="1150" dirty="0">
                <a:solidFill>
                  <a:srgbClr val="1E293B"/>
                </a:solidFill>
                <a:latin typeface="Calibri" pitchFamily="34" charset="0"/>
                <a:ea typeface="Calibri" pitchFamily="34" charset="-122"/>
                <a:cs typeface="Calibri" pitchFamily="34" charset="-120"/>
              </a:rPr>
              <a:t>At the end of Chapter 8, Mister Jonah’s ghost visits Isaac and tells him the new blankets are safe. Why is this moment important? What does it show about how Isaac’s gift works — and why it matters to his family?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Conflict and Rising Action</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Today is the Plan stage. This week you will draft a scene about conflict and rising tension. Think about a moment from the novel — or from your own life — where danger and hope existed at the same time. In your reading journal: jot down what the conflict is, what makes it tense, and what small hope breaks through.</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2026-07-13T17:32:02Z</dcterms:created>
  <dcterms:modified xsi:type="dcterms:W3CDTF">2026-07-13T17:32:02Z</dcterms:modified>
</cp:coreProperties>
</file>