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Week 10, Day 4, Chapter 8 — Lock, Stock, and Bookkeeper.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Big Q: You’ve now read four chapters of Nat’s indenture years. Today’s reflective question asks you to look back across all of Chapters 5–8 and explain the pattern you’ve seen.
Morphology: Explain graph/gram/meter roots to someone else.
Vocab SWYK: Choice board — show what you know your own way.
Grammar: Explain why consistent tense matters in research writing.
Reading: Chapter 8 + reflective question spanning Chs. 5–8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lens aloud before students open their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answer needed — tap-and-notice only. Discuss why each highlighted word/punctuation mark is correct.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Fix-it: "nathaniel bowditch works as a bookkeeper at ropes and hodges and he teaches the sailors how to use logarithms"
Corrected: "Nathaniel Bowditch worked as a bookkeeper at Ropes and Hodges and taught the sailors how to use logarithms."
Fixes: “Nathaniel Bowditch” (proper noun); “Ropes and Hodges” (proper noun — company name); “works” → “worked” and “teaches” → “taught” (tense shift corrected to consistent past).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Fix-it: "nathaniel bowditch works as a bookkeeper at ropes and hodges and he teaches the sailors how to use logarithms"
Corrected: "Nathaniel Bowditch worked as a bookkeeper at Ropes and Hodges and taught the sailors how to use logarithms."
Fixes: “Nathaniel Bowditch” (proper noun); “Ropes and Hodges” (proper noun — company name); “works” → “worked” and “teaches” → “taught” (tense shift corrected to consistent past).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poem aloud. Give students a moment to notice before discussing.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routine — use if time allows. Read the prompt aloud. Remind students: pick a side, defend with evidence, anticipate disagreement.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a 5-minute timer. Remind: choose a side, defend with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Focus: Does this detail actually support what I'm trying to say, or is it just filler?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 on 3-4 students. Encourage respectful disagreement about their choice/defense.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Vocabulary mode: Choice Menu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Reflection/journal-based grammar task today — no quiz reveal.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Spelling focus: 🔤 Spelling: Explain the Patterns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Tracker: Nat’s Path Through Carry On, Mr. Bowditch — 📍 You are here: Chapter 8 — Lock, Stock, and Bookkeeper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Preview only — students answer these after reading, in the Assignment tab.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Connection — PLAN: Complete your full 5-box plan
Focus: Your plan is almost done. Today you write the complete 5-box plan that will guide your drafting. After this, you write — no more planning.
Before: BEFORE Alex’s rough notes: Hook = fog scene. Body 1 = chandlery nights + notebooks. Body 2 = Moore’s errors + teaching sailors.
After: AFTER Alex’s complete 5-box plan: (1) INTRO: Hook: December fog, ship navigating blind → Nat Bowditch, Salem mathematician → Claim. (2) BODY 1: Subtopic: self-made scholar. Evidence A: chandlery nights (Chs. 5–8). Evidence B: fills notebooks. (3) BODY 2: Subtopic: knowledge for everyone. Evidence A: Moore’s corrections (Ch. 13). Evidence B: teaches sailors (Chs. 11, 16). (4) CONCLUSION: Return to fog → synthesize both subtopics → why it matters. (5) SOURCES: Latham, Jean Lee.
Notice: Notice: The plan names specific chapters for each piece of evidence. This makes drafting much easier — Alex knows exactly where to look.
Tool: Today’s Tool: Complete 5-Box Plan — Fill in all five boxes. Your plan should be detailed enough that you could hand it to someone else and they could draft from it.
Frames: “My essay plan has ___ and ___ as my two main body sections.” | “My evidence for Body 1 comes from Chapters ___ and shows ___.” | “My evidence for Body 2 comes from Chapters ___ and shows...”
Prompt: Write your complete 5-box plan. All five boxes filled: Introduction, Body 1, Body 2, Conclusion,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C42"/>
        </a:solidFill>
      </p:bgPr>
    </p:bg>
    <p:spTree>
      <p:nvGrpSpPr>
        <p:cNvPr id="1" name=""/>
        <p:cNvGrpSpPr/>
        <p:nvPr/>
      </p:nvGrpSpPr>
      <p:grpSpPr>
        <a:xfrm>
          <a:off x="0" y="0"/>
          <a:ext cx="0" cy="0"/>
          <a:chOff x="0" y="0"/>
          <a:chExt cx="0" cy="0"/>
        </a:xfrm>
      </p:grpSpPr>
      <p:sp>
        <p:nvSpPr>
          <p:cNvPr id="2" name="Shape 0"/>
          <p:cNvSpPr/>
          <p:nvPr/>
        </p:nvSpPr>
        <p:spPr>
          <a:xfrm>
            <a:off x="0" y="4114800"/>
            <a:ext cx="9144000" cy="1028700"/>
          </a:xfrm>
          <a:prstGeom prst="rect">
            <a:avLst/>
          </a:prstGeom>
          <a:solidFill>
            <a:srgbClr val="55C8E8">
              <a:alpha val="15000"/>
            </a:srgbClr>
          </a:solidFill>
          <a:ln/>
        </p:spPr>
      </p:sp>
      <p:sp>
        <p:nvSpPr>
          <p:cNvPr id="3" name="Text 1"/>
          <p:cNvSpPr/>
          <p:nvPr/>
        </p:nvSpPr>
        <p:spPr>
          <a:xfrm>
            <a:off x="457200" y="640080"/>
            <a:ext cx="8229600" cy="365760"/>
          </a:xfrm>
          <a:prstGeom prst="rect">
            <a:avLst/>
          </a:prstGeom>
          <a:noFill/>
          <a:ln/>
        </p:spPr>
        <p:txBody>
          <a:bodyPr wrap="square" lIns="0" tIns="0" rIns="0" bIns="0" rtlCol="0" anchor="ctr"/>
          <a:lstStyle/>
          <a:p>
            <a:pPr algn="l" indent="0" marL="0">
              <a:buNone/>
            </a:pPr>
            <a:r>
              <a:rPr lang="en-US" sz="1300" b="1" spc="400" kern="0" dirty="0">
                <a:solidFill>
                  <a:srgbClr val="55C8E8"/>
                </a:solidFill>
                <a:latin typeface="Calibri" pitchFamily="34" charset="0"/>
                <a:ea typeface="Calibri" pitchFamily="34" charset="-122"/>
                <a:cs typeface="Calibri" pitchFamily="34" charset="-120"/>
              </a:rPr>
              <a:t>WEEK 10  ·  DAY 4</a:t>
            </a:r>
            <a:endParaRPr lang="en-US" sz="1300" dirty="0"/>
          </a:p>
        </p:txBody>
      </p:sp>
      <p:sp>
        <p:nvSpPr>
          <p:cNvPr id="4" name="Text 2"/>
          <p:cNvSpPr/>
          <p:nvPr/>
        </p:nvSpPr>
        <p:spPr>
          <a:xfrm>
            <a:off x="457200" y="1097280"/>
            <a:ext cx="8229600" cy="1645920"/>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Carry On, Mr. Bowditch</a:t>
            </a:r>
            <a:endParaRPr lang="en-US" sz="3000" dirty="0"/>
          </a:p>
          <a:p>
            <a:pPr algn="l" indent="0" marL="0">
              <a:buNone/>
            </a:pPr>
            <a:r>
              <a:rPr lang="en-US" sz="3000" b="1" dirty="0">
                <a:solidFill>
                  <a:srgbClr val="FFFFFF"/>
                </a:solidFill>
                <a:latin typeface="Calibri" pitchFamily="34" charset="0"/>
                <a:ea typeface="Calibri" pitchFamily="34" charset="-122"/>
                <a:cs typeface="Calibri" pitchFamily="34" charset="-120"/>
              </a:rPr>
              <a:t>Chapter 8 — Lock, Stock, and Bookkeeper</a:t>
            </a:r>
            <a:endParaRPr lang="en-US" sz="3000" dirty="0"/>
          </a:p>
        </p:txBody>
      </p:sp>
      <p:sp>
        <p:nvSpPr>
          <p:cNvPr id="5" name="Text 3"/>
          <p:cNvSpPr/>
          <p:nvPr/>
        </p:nvSpPr>
        <p:spPr>
          <a:xfrm>
            <a:off x="457200" y="4434840"/>
            <a:ext cx="8229600" cy="365760"/>
          </a:xfrm>
          <a:prstGeom prst="rect">
            <a:avLst/>
          </a:prstGeom>
          <a:noFill/>
          <a:ln/>
        </p:spPr>
        <p:txBody>
          <a:bodyPr wrap="square" lIns="0" tIns="0" rIns="0" bIns="0" rtlCol="0" anchor="ctr"/>
          <a:lstStyle/>
          <a:p>
            <a:pPr algn="l" indent="0" marL="0">
              <a:buNone/>
            </a:pPr>
            <a:r>
              <a:rPr lang="en-US" sz="1200" dirty="0">
                <a:solidFill>
                  <a:srgbClr val="FFFFFF"/>
                </a:solidFill>
                <a:latin typeface="Calibri" pitchFamily="34" charset="0"/>
                <a:ea typeface="Calibri" pitchFamily="34" charset="-122"/>
                <a:cs typeface="Calibri" pitchFamily="34" charset="-120"/>
              </a:rPr>
              <a:t>🧭  Week 10  ·  Virtue: Perseverance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Today's Objectives</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Text 2"/>
          <p:cNvSpPr/>
          <p:nvPr/>
        </p:nvSpPr>
        <p:spPr>
          <a:xfrm>
            <a:off x="365760" y="86868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BIG QUESTION</a:t>
            </a:r>
            <a:endParaRPr lang="en-US" sz="1100" dirty="0"/>
          </a:p>
        </p:txBody>
      </p:sp>
      <p:sp>
        <p:nvSpPr>
          <p:cNvPr id="5" name="Shape 3"/>
          <p:cNvSpPr/>
          <p:nvPr/>
        </p:nvSpPr>
        <p:spPr>
          <a:xfrm>
            <a:off x="365760" y="1115568"/>
            <a:ext cx="8412480" cy="777240"/>
          </a:xfrm>
          <a:prstGeom prst="roundRect">
            <a:avLst>
              <a:gd name="adj" fmla="val 11765"/>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207008"/>
            <a:ext cx="7955280" cy="594360"/>
          </a:xfrm>
          <a:prstGeom prst="rect">
            <a:avLst/>
          </a:prstGeom>
          <a:noFill/>
          <a:ln/>
        </p:spPr>
        <p:txBody>
          <a:bodyPr wrap="square" lIns="0" tIns="0" rIns="0" bIns="0" rtlCol="0" anchor="ctr"/>
          <a:lstStyle/>
          <a:p>
            <a:pPr indent="0" marL="0">
              <a:buNone/>
            </a:pPr>
            <a:r>
              <a:rPr lang="en-US" sz="1300" i="1" dirty="0">
                <a:solidFill>
                  <a:srgbClr val="1E293B"/>
                </a:solidFill>
                <a:latin typeface="Calibri" pitchFamily="34" charset="0"/>
                <a:ea typeface="Calibri" pitchFamily="34" charset="-122"/>
                <a:cs typeface="Calibri" pitchFamily="34" charset="-120"/>
              </a:rPr>
              <a:t>You’ve now read four chapters of Nat’s indenture years. Today’s reflective question asks you to look back across all of Chapters 5–8 and explain the pattern you’ve seen.</a:t>
            </a:r>
            <a:endParaRPr lang="en-US" sz="1300" dirty="0"/>
          </a:p>
        </p:txBody>
      </p:sp>
      <p:sp>
        <p:nvSpPr>
          <p:cNvPr id="7" name="Text 5"/>
          <p:cNvSpPr/>
          <p:nvPr/>
        </p:nvSpPr>
        <p:spPr>
          <a:xfrm>
            <a:off x="365760" y="201168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BY THE END OF THIS LESSON...</a:t>
            </a:r>
            <a:endParaRPr lang="en-US" sz="1100" dirty="0"/>
          </a:p>
        </p:txBody>
      </p:sp>
      <p:sp>
        <p:nvSpPr>
          <p:cNvPr id="8" name="Shape 6"/>
          <p:cNvSpPr/>
          <p:nvPr/>
        </p:nvSpPr>
        <p:spPr>
          <a:xfrm>
            <a:off x="365760" y="2286000"/>
            <a:ext cx="8412480" cy="713232"/>
          </a:xfrm>
          <a:prstGeom prst="roundRect">
            <a:avLst>
              <a:gd name="adj" fmla="val 12821"/>
            </a:avLst>
          </a:prstGeom>
          <a:solidFill>
            <a:srgbClr val="F8FAFC"/>
          </a:solidFill>
          <a:ln/>
          <a:effectLst>
            <a:outerShdw sx="100000" sy="100000" kx="0" ky="0" algn="bl" rotWithShape="0" blurRad="101600" dist="38100" dir="2700000">
              <a:srgbClr val="000000">
                <a:alpha val="12000"/>
              </a:srgbClr>
            </a:outerShdw>
          </a:effectLst>
        </p:spPr>
      </p:sp>
      <p:sp>
        <p:nvSpPr>
          <p:cNvPr id="9" name="Text 7"/>
          <p:cNvSpPr/>
          <p:nvPr/>
        </p:nvSpPr>
        <p:spPr>
          <a:xfrm>
            <a:off x="548640" y="2359152"/>
            <a:ext cx="8046720" cy="566928"/>
          </a:xfrm>
          <a:prstGeom prst="rect">
            <a:avLst/>
          </a:prstGeom>
          <a:noFill/>
          <a:ln/>
        </p:spPr>
        <p:txBody>
          <a:bodyPr wrap="square" lIns="0" tIns="0" rIns="0" bIns="0" rtlCol="0" anchor="ctr"/>
          <a:lstStyle/>
          <a:p>
            <a:pPr indent="0" marL="0">
              <a:buNone/>
            </a:pPr>
            <a:r>
              <a:rPr lang="en-US" sz="1500" dirty="0">
                <a:solidFill>
                  <a:srgbClr val="000000"/>
                </a:solidFill>
              </a:rPr>
              <a:t>🌱  </a:t>
            </a:r>
            <a:pPr indent="0" marL="0">
              <a:buNone/>
            </a:pPr>
            <a:r>
              <a:rPr lang="en-US" sz="1300" b="1" dirty="0">
                <a:solidFill>
                  <a:srgbClr val="0E1C42"/>
                </a:solidFill>
                <a:latin typeface="Calibri" pitchFamily="34" charset="0"/>
                <a:ea typeface="Calibri" pitchFamily="34" charset="-122"/>
                <a:cs typeface="Calibri" pitchFamily="34" charset="-120"/>
              </a:rPr>
              <a:t>Morphology: </a:t>
            </a:r>
            <a:pPr indent="0" marL="0">
              <a:buNone/>
            </a:pPr>
            <a:r>
              <a:rPr lang="en-US" sz="1250" dirty="0">
                <a:solidFill>
                  <a:srgbClr val="1E293B"/>
                </a:solidFill>
                <a:latin typeface="Calibri" pitchFamily="34" charset="0"/>
                <a:ea typeface="Calibri" pitchFamily="34" charset="-122"/>
                <a:cs typeface="Calibri" pitchFamily="34" charset="-120"/>
              </a:rPr>
              <a:t>Explain graph/gram/meter roots to someone else.</a:t>
            </a:r>
            <a:endParaRPr lang="en-US" sz="1500" dirty="0"/>
          </a:p>
        </p:txBody>
      </p:sp>
      <p:sp>
        <p:nvSpPr>
          <p:cNvPr id="10" name="Shape 8"/>
          <p:cNvSpPr/>
          <p:nvPr/>
        </p:nvSpPr>
        <p:spPr>
          <a:xfrm>
            <a:off x="365760" y="3090672"/>
            <a:ext cx="8412480" cy="713232"/>
          </a:xfrm>
          <a:prstGeom prst="roundRect">
            <a:avLst>
              <a:gd name="adj" fmla="val 12821"/>
            </a:avLst>
          </a:prstGeom>
          <a:solidFill>
            <a:srgbClr val="F8FAFC"/>
          </a:solidFill>
          <a:ln/>
          <a:effectLst>
            <a:outerShdw sx="100000" sy="100000" kx="0" ky="0" algn="bl" rotWithShape="0" blurRad="101600" dist="38100" dir="2700000">
              <a:srgbClr val="000000">
                <a:alpha val="12000"/>
              </a:srgbClr>
            </a:outerShdw>
          </a:effectLst>
        </p:spPr>
      </p:sp>
      <p:sp>
        <p:nvSpPr>
          <p:cNvPr id="11" name="Text 9"/>
          <p:cNvSpPr/>
          <p:nvPr/>
        </p:nvSpPr>
        <p:spPr>
          <a:xfrm>
            <a:off x="548640" y="3163824"/>
            <a:ext cx="8046720" cy="566928"/>
          </a:xfrm>
          <a:prstGeom prst="rect">
            <a:avLst/>
          </a:prstGeom>
          <a:noFill/>
          <a:ln/>
        </p:spPr>
        <p:txBody>
          <a:bodyPr wrap="square" lIns="0" tIns="0" rIns="0" bIns="0" rtlCol="0" anchor="ctr"/>
          <a:lstStyle/>
          <a:p>
            <a:pPr indent="0" marL="0">
              <a:buNone/>
            </a:pPr>
            <a:r>
              <a:rPr lang="en-US" sz="1500" dirty="0">
                <a:solidFill>
                  <a:srgbClr val="000000"/>
                </a:solidFill>
              </a:rPr>
              <a:t>📚  </a:t>
            </a:r>
            <a:pPr indent="0" marL="0">
              <a:buNone/>
            </a:pPr>
            <a:r>
              <a:rPr lang="en-US" sz="1300" b="1" dirty="0">
                <a:solidFill>
                  <a:srgbClr val="0E1C42"/>
                </a:solidFill>
                <a:latin typeface="Calibri" pitchFamily="34" charset="0"/>
                <a:ea typeface="Calibri" pitchFamily="34" charset="-122"/>
                <a:cs typeface="Calibri" pitchFamily="34" charset="-120"/>
              </a:rPr>
              <a:t>Vocab SWYK: </a:t>
            </a:r>
            <a:pPr indent="0" marL="0">
              <a:buNone/>
            </a:pPr>
            <a:r>
              <a:rPr lang="en-US" sz="1250" dirty="0">
                <a:solidFill>
                  <a:srgbClr val="1E293B"/>
                </a:solidFill>
                <a:latin typeface="Calibri" pitchFamily="34" charset="0"/>
                <a:ea typeface="Calibri" pitchFamily="34" charset="-122"/>
                <a:cs typeface="Calibri" pitchFamily="34" charset="-120"/>
              </a:rPr>
              <a:t>Choice board — show what you know your own way.</a:t>
            </a:r>
            <a:endParaRPr lang="en-US" sz="1500" dirty="0"/>
          </a:p>
        </p:txBody>
      </p:sp>
      <p:sp>
        <p:nvSpPr>
          <p:cNvPr id="12" name="Shape 10"/>
          <p:cNvSpPr/>
          <p:nvPr/>
        </p:nvSpPr>
        <p:spPr>
          <a:xfrm>
            <a:off x="365760" y="3895344"/>
            <a:ext cx="8412480" cy="713232"/>
          </a:xfrm>
          <a:prstGeom prst="roundRect">
            <a:avLst>
              <a:gd name="adj" fmla="val 12821"/>
            </a:avLst>
          </a:prstGeom>
          <a:solidFill>
            <a:srgbClr val="F8FAFC"/>
          </a:solidFill>
          <a:ln/>
          <a:effectLst>
            <a:outerShdw sx="100000" sy="100000" kx="0" ky="0" algn="bl" rotWithShape="0" blurRad="101600" dist="38100" dir="2700000">
              <a:srgbClr val="000000">
                <a:alpha val="12000"/>
              </a:srgbClr>
            </a:outerShdw>
          </a:effectLst>
        </p:spPr>
      </p:sp>
      <p:sp>
        <p:nvSpPr>
          <p:cNvPr id="13" name="Text 11"/>
          <p:cNvSpPr/>
          <p:nvPr/>
        </p:nvSpPr>
        <p:spPr>
          <a:xfrm>
            <a:off x="548640" y="3968496"/>
            <a:ext cx="8046720" cy="566928"/>
          </a:xfrm>
          <a:prstGeom prst="rect">
            <a:avLst/>
          </a:prstGeom>
          <a:noFill/>
          <a:ln/>
        </p:spPr>
        <p:txBody>
          <a:bodyPr wrap="square" lIns="0" tIns="0" rIns="0" bIns="0" rtlCol="0" anchor="ctr"/>
          <a:lstStyle/>
          <a:p>
            <a:pPr indent="0" marL="0">
              <a:buNone/>
            </a:pPr>
            <a:r>
              <a:rPr lang="en-US" sz="1500" dirty="0">
                <a:solidFill>
                  <a:srgbClr val="000000"/>
                </a:solidFill>
              </a:rPr>
              <a:t>✏️  </a:t>
            </a:r>
            <a:pPr indent="0" marL="0">
              <a:buNone/>
            </a:pPr>
            <a:r>
              <a:rPr lang="en-US" sz="1300" b="1" dirty="0">
                <a:solidFill>
                  <a:srgbClr val="0E1C42"/>
                </a:solidFill>
                <a:latin typeface="Calibri" pitchFamily="34" charset="0"/>
                <a:ea typeface="Calibri" pitchFamily="34" charset="-122"/>
                <a:cs typeface="Calibri" pitchFamily="34" charset="-120"/>
              </a:rPr>
              <a:t>Grammar: </a:t>
            </a:r>
            <a:pPr indent="0" marL="0">
              <a:buNone/>
            </a:pPr>
            <a:r>
              <a:rPr lang="en-US" sz="1250" dirty="0">
                <a:solidFill>
                  <a:srgbClr val="1E293B"/>
                </a:solidFill>
                <a:latin typeface="Calibri" pitchFamily="34" charset="0"/>
                <a:ea typeface="Calibri" pitchFamily="34" charset="-122"/>
                <a:cs typeface="Calibri" pitchFamily="34" charset="-120"/>
              </a:rPr>
              <a:t>Explain why consistent tense matters in research writing.</a:t>
            </a:r>
            <a:endParaRPr lang="en-US" sz="1500" dirty="0"/>
          </a:p>
        </p:txBody>
      </p:sp>
      <p:sp>
        <p:nvSpPr>
          <p:cNvPr id="14" name="Shape 12"/>
          <p:cNvSpPr/>
          <p:nvPr/>
        </p:nvSpPr>
        <p:spPr>
          <a:xfrm>
            <a:off x="365760" y="4700016"/>
            <a:ext cx="8412480" cy="713232"/>
          </a:xfrm>
          <a:prstGeom prst="roundRect">
            <a:avLst>
              <a:gd name="adj" fmla="val 12821"/>
            </a:avLst>
          </a:prstGeom>
          <a:solidFill>
            <a:srgbClr val="F8FAFC"/>
          </a:solidFill>
          <a:ln/>
          <a:effectLst>
            <a:outerShdw sx="100000" sy="100000" kx="0" ky="0" algn="bl" rotWithShape="0" blurRad="101600" dist="38100" dir="2700000">
              <a:srgbClr val="000000">
                <a:alpha val="12000"/>
              </a:srgbClr>
            </a:outerShdw>
          </a:effectLst>
        </p:spPr>
      </p:sp>
      <p:sp>
        <p:nvSpPr>
          <p:cNvPr id="15" name="Text 13"/>
          <p:cNvSpPr/>
          <p:nvPr/>
        </p:nvSpPr>
        <p:spPr>
          <a:xfrm>
            <a:off x="548640" y="4773168"/>
            <a:ext cx="8046720" cy="566928"/>
          </a:xfrm>
          <a:prstGeom prst="rect">
            <a:avLst/>
          </a:prstGeom>
          <a:noFill/>
          <a:ln/>
        </p:spPr>
        <p:txBody>
          <a:bodyPr wrap="square" lIns="0" tIns="0" rIns="0" bIns="0" rtlCol="0" anchor="ctr"/>
          <a:lstStyle/>
          <a:p>
            <a:pPr indent="0" marL="0">
              <a:buNone/>
            </a:pPr>
            <a:r>
              <a:rPr lang="en-US" sz="1500" dirty="0">
                <a:solidFill>
                  <a:srgbClr val="000000"/>
                </a:solidFill>
              </a:rPr>
              <a:t>📖  </a:t>
            </a:r>
            <a:pPr indent="0" marL="0">
              <a:buNone/>
            </a:pPr>
            <a:r>
              <a:rPr lang="en-US" sz="1300" b="1" dirty="0">
                <a:solidFill>
                  <a:srgbClr val="0E1C42"/>
                </a:solidFill>
                <a:latin typeface="Calibri" pitchFamily="34" charset="0"/>
                <a:ea typeface="Calibri" pitchFamily="34" charset="-122"/>
                <a:cs typeface="Calibri" pitchFamily="34" charset="-120"/>
              </a:rPr>
              <a:t>Reading: </a:t>
            </a:r>
            <a:pPr indent="0" marL="0">
              <a:buNone/>
            </a:pPr>
            <a:r>
              <a:rPr lang="en-US" sz="1250" dirty="0">
                <a:solidFill>
                  <a:srgbClr val="1E293B"/>
                </a:solidFill>
                <a:latin typeface="Calibri" pitchFamily="34" charset="0"/>
                <a:ea typeface="Calibri" pitchFamily="34" charset="-122"/>
                <a:cs typeface="Calibri" pitchFamily="34" charset="-120"/>
              </a:rPr>
              <a:t>Chapter 8 + reflective question spanning Chs. 5–8</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What Good Readers Do</a:t>
            </a:r>
            <a:endParaRPr lang="en-US" sz="26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SET YOUR READING LENS</a:t>
            </a:r>
            <a:endParaRPr lang="en-US" sz="1100" dirty="0"/>
          </a:p>
        </p:txBody>
      </p:sp>
      <p:sp>
        <p:nvSpPr>
          <p:cNvPr id="5" name="Shape 3"/>
          <p:cNvSpPr/>
          <p:nvPr/>
        </p:nvSpPr>
        <p:spPr>
          <a:xfrm>
            <a:off x="365760" y="1078992"/>
            <a:ext cx="8412480" cy="1051560"/>
          </a:xfrm>
          <a:prstGeom prst="roundRect">
            <a:avLst>
              <a:gd name="adj" fmla="val 8696"/>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170432"/>
            <a:ext cx="7955280" cy="868680"/>
          </a:xfrm>
          <a:prstGeom prst="rect">
            <a:avLst/>
          </a:prstGeom>
          <a:noFill/>
          <a:ln/>
        </p:spPr>
        <p:txBody>
          <a:bodyPr wrap="square" lIns="0" tIns="0" rIns="0" bIns="0" rtlCol="0" anchor="ctr"/>
          <a:lstStyle/>
          <a:p>
            <a:pPr indent="0" marL="0">
              <a:buNone/>
            </a:pPr>
            <a:r>
              <a:rPr lang="en-US" sz="1300" dirty="0">
                <a:solidFill>
                  <a:srgbClr val="1E293B"/>
                </a:solidFill>
                <a:latin typeface="Calibri" pitchFamily="34" charset="0"/>
                <a:ea typeface="Calibri" pitchFamily="34" charset="-122"/>
                <a:cs typeface="Calibri" pitchFamily="34" charset="-120"/>
              </a:rPr>
              <a:t>Before you open Chapter 8, take a moment to look back at the full arc of Chapters 5–8. A week of reading is like a wave: something builds, reaches a peak, and changes. What has changed for Nat?</a:t>
            </a:r>
            <a:endParaRPr lang="en-US" sz="1300" dirty="0"/>
          </a:p>
        </p:txBody>
      </p:sp>
      <p:sp>
        <p:nvSpPr>
          <p:cNvPr id="7" name="Text 5"/>
          <p:cNvSpPr/>
          <p:nvPr/>
        </p:nvSpPr>
        <p:spPr>
          <a:xfrm>
            <a:off x="365760" y="228600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 WATCH FOR THIS AS YOU READ</a:t>
            </a:r>
            <a:endParaRPr lang="en-US" sz="1100" dirty="0"/>
          </a:p>
        </p:txBody>
      </p:sp>
      <p:sp>
        <p:nvSpPr>
          <p:cNvPr id="8" name="Shape 6"/>
          <p:cNvSpPr/>
          <p:nvPr/>
        </p:nvSpPr>
        <p:spPr>
          <a:xfrm>
            <a:off x="365760" y="2606040"/>
            <a:ext cx="8412480" cy="621792"/>
          </a:xfrm>
          <a:prstGeom prst="roundRect">
            <a:avLst>
              <a:gd name="adj" fmla="val 14706"/>
            </a:avLst>
          </a:prstGeom>
          <a:solidFill>
            <a:srgbClr val="F8FAFC"/>
          </a:solidFill>
          <a:ln/>
          <a:effectLst>
            <a:outerShdw sx="100000" sy="100000" kx="0" ky="0" algn="bl" rotWithShape="0" blurRad="101600" dist="38100" dir="2700000">
              <a:srgbClr val="000000">
                <a:alpha val="12000"/>
              </a:srgbClr>
            </a:outerShdw>
          </a:effectLst>
        </p:spPr>
      </p:sp>
      <p:sp>
        <p:nvSpPr>
          <p:cNvPr id="9" name="Text 7"/>
          <p:cNvSpPr/>
          <p:nvPr/>
        </p:nvSpPr>
        <p:spPr>
          <a:xfrm>
            <a:off x="548640" y="2679192"/>
            <a:ext cx="8046720" cy="475488"/>
          </a:xfrm>
          <a:prstGeom prst="rect">
            <a:avLst/>
          </a:prstGeom>
          <a:noFill/>
          <a:ln/>
        </p:spPr>
        <p:txBody>
          <a:bodyPr wrap="square" lIns="0" tIns="0" rIns="0" bIns="0" rtlCol="0" anchor="ctr"/>
          <a:lstStyle/>
          <a:p>
            <a:pPr indent="0" marL="0">
              <a:buNone/>
            </a:pPr>
            <a:r>
              <a:rPr lang="en-US" sz="1300" i="1" dirty="0">
                <a:solidFill>
                  <a:srgbClr val="1E293B"/>
                </a:solidFill>
                <a:latin typeface="Calibri" pitchFamily="34" charset="0"/>
                <a:ea typeface="Calibri" pitchFamily="34" charset="-122"/>
                <a:cs typeface="Calibri" pitchFamily="34" charset="-120"/>
              </a:rPr>
              <a:t>•  At the start of Chapter 5, Nat’s whistle dies on the street. By Chapter 7, he is finding errors that no one else sees. What has changed — in Nat’s circumstances? In his mindset? In what Latham is showing us about who he is?</a:t>
            </a:r>
            <a:endParaRPr lang="en-US" sz="1300" dirty="0"/>
          </a:p>
        </p:txBody>
      </p:sp>
      <p:sp>
        <p:nvSpPr>
          <p:cNvPr id="10" name="Shape 8"/>
          <p:cNvSpPr/>
          <p:nvPr/>
        </p:nvSpPr>
        <p:spPr>
          <a:xfrm>
            <a:off x="365760" y="3319272"/>
            <a:ext cx="8412480" cy="621792"/>
          </a:xfrm>
          <a:prstGeom prst="roundRect">
            <a:avLst>
              <a:gd name="adj" fmla="val 14706"/>
            </a:avLst>
          </a:prstGeom>
          <a:solidFill>
            <a:srgbClr val="F8FAFC"/>
          </a:solidFill>
          <a:ln/>
          <a:effectLst>
            <a:outerShdw sx="100000" sy="100000" kx="0" ky="0" algn="bl" rotWithShape="0" blurRad="101600" dist="38100" dir="2700000">
              <a:srgbClr val="000000">
                <a:alpha val="12000"/>
              </a:srgbClr>
            </a:outerShdw>
          </a:effectLst>
        </p:spPr>
      </p:sp>
      <p:sp>
        <p:nvSpPr>
          <p:cNvPr id="11" name="Text 9"/>
          <p:cNvSpPr/>
          <p:nvPr/>
        </p:nvSpPr>
        <p:spPr>
          <a:xfrm>
            <a:off x="548640" y="3392424"/>
            <a:ext cx="8046720" cy="475488"/>
          </a:xfrm>
          <a:prstGeom prst="rect">
            <a:avLst/>
          </a:prstGeom>
          <a:noFill/>
          <a:ln/>
        </p:spPr>
        <p:txBody>
          <a:bodyPr wrap="square" lIns="0" tIns="0" rIns="0" bIns="0" rtlCol="0" anchor="ctr"/>
          <a:lstStyle/>
          <a:p>
            <a:pPr indent="0" marL="0">
              <a:buNone/>
            </a:pPr>
            <a:r>
              <a:rPr lang="en-US" sz="1300" i="1" dirty="0">
                <a:solidFill>
                  <a:srgbClr val="1E293B"/>
                </a:solidFill>
                <a:latin typeface="Calibri" pitchFamily="34" charset="0"/>
                <a:ea typeface="Calibri" pitchFamily="34" charset="-122"/>
                <a:cs typeface="Calibri" pitchFamily="34" charset="-120"/>
              </a:rPr>
              <a:t>•  As you read Chapter 8, pay attention to how Nat relates to the sailors he works with. What does he begin to do that no one asked him to do?</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Daily Oral Language — Study What's Right</a:t>
            </a:r>
            <a:endParaRPr lang="en-US" sz="2600" dirty="0"/>
          </a:p>
        </p:txBody>
      </p:sp>
      <p:sp>
        <p:nvSpPr>
          <p:cNvPr id="3" name="Shape 1"/>
          <p:cNvSpPr/>
          <p:nvPr/>
        </p:nvSpPr>
        <p:spPr>
          <a:xfrm>
            <a:off x="365760" y="749808"/>
            <a:ext cx="8412480" cy="0"/>
          </a:xfrm>
          <a:prstGeom prst="line">
            <a:avLst/>
          </a:prstGeom>
          <a:noFill/>
          <a:ln w="19050">
            <a:solidFill>
              <a:srgbClr val="34B76F"/>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CORRECT MODEL — TAP TO NOTICE</a:t>
            </a:r>
            <a:endParaRPr lang="en-US" sz="1100" dirty="0"/>
          </a:p>
        </p:txBody>
      </p:sp>
      <p:sp>
        <p:nvSpPr>
          <p:cNvPr id="5" name="Shape 3"/>
          <p:cNvSpPr/>
          <p:nvPr/>
        </p:nvSpPr>
        <p:spPr>
          <a:xfrm>
            <a:off x="365760" y="1078992"/>
            <a:ext cx="8412480" cy="914400"/>
          </a:xfrm>
          <a:prstGeom prst="roundRect">
            <a:avLst>
              <a:gd name="adj" fmla="val 10000"/>
            </a:avLst>
          </a:prstGeom>
          <a:solidFill>
            <a:srgbClr val="E8F8EF"/>
          </a:solidFill>
          <a:ln w="12700">
            <a:solidFill>
              <a:srgbClr val="34B76F"/>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548640" y="1188720"/>
            <a:ext cx="8046720" cy="685800"/>
          </a:xfrm>
          <a:prstGeom prst="rect">
            <a:avLst/>
          </a:prstGeom>
          <a:noFill/>
          <a:ln/>
        </p:spPr>
        <p:txBody>
          <a:bodyPr wrap="square" lIns="0" tIns="0" rIns="0" bIns="0" rtlCol="0" anchor="ctr"/>
          <a:lstStyle/>
          <a:p>
            <a:pPr indent="0" marL="0">
              <a:buNone/>
            </a:pPr>
            <a:r>
              <a:rPr lang="en-US" sz="1600" i="1" dirty="0">
                <a:solidFill>
                  <a:srgbClr val="1E293B"/>
                </a:solidFill>
                <a:latin typeface="Calibri" pitchFamily="34" charset="0"/>
                <a:ea typeface="Calibri" pitchFamily="34" charset="-122"/>
                <a:cs typeface="Calibri" pitchFamily="34" charset="-120"/>
              </a:rPr>
              <a:t>For nine years, Nathaniel Bowditch worked as a bookkeeper at the ship chandlery and taught himself mathematics by night.</a:t>
            </a:r>
            <a:endParaRPr lang="en-US" sz="1600" dirty="0"/>
          </a:p>
        </p:txBody>
      </p:sp>
      <p:sp>
        <p:nvSpPr>
          <p:cNvPr id="7" name="Text 5"/>
          <p:cNvSpPr/>
          <p:nvPr/>
        </p:nvSpPr>
        <p:spPr>
          <a:xfrm>
            <a:off x="365760" y="210312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WHAT EACH TAPPED WORD TEACHES</a:t>
            </a:r>
            <a:endParaRPr lang="en-US" sz="1100" dirty="0"/>
          </a:p>
        </p:txBody>
      </p:sp>
      <p:sp>
        <p:nvSpPr>
          <p:cNvPr id="8" name="Shape 6"/>
          <p:cNvSpPr/>
          <p:nvPr/>
        </p:nvSpPr>
        <p:spPr>
          <a:xfrm>
            <a:off x="365760" y="2377440"/>
            <a:ext cx="8412480" cy="512064"/>
          </a:xfrm>
          <a:prstGeom prst="roundRect">
            <a:avLst>
              <a:gd name="adj" fmla="val 17857"/>
            </a:avLst>
          </a:prstGeom>
          <a:solidFill>
            <a:srgbClr val="F8FAFC"/>
          </a:solidFill>
          <a:ln/>
          <a:effectLst>
            <a:outerShdw sx="100000" sy="100000" kx="0" ky="0" algn="bl" rotWithShape="0" blurRad="101600" dist="38100" dir="2700000">
              <a:srgbClr val="000000">
                <a:alpha val="12000"/>
              </a:srgbClr>
            </a:outerShdw>
          </a:effectLst>
        </p:spPr>
      </p:sp>
      <p:sp>
        <p:nvSpPr>
          <p:cNvPr id="9" name="Text 7"/>
          <p:cNvSpPr/>
          <p:nvPr/>
        </p:nvSpPr>
        <p:spPr>
          <a:xfrm>
            <a:off x="548640" y="2432304"/>
            <a:ext cx="8046720" cy="402336"/>
          </a:xfrm>
          <a:prstGeom prst="rect">
            <a:avLst/>
          </a:prstGeom>
          <a:noFill/>
          <a:ln/>
        </p:spPr>
        <p:txBody>
          <a:bodyPr wrap="square" lIns="0" tIns="0" rIns="0" bIns="0" rtlCol="0" anchor="ctr"/>
          <a:lstStyle/>
          <a:p>
            <a:pPr indent="0" marL="0">
              <a:buNone/>
            </a:pPr>
            <a:r>
              <a:rPr lang="en-US" sz="1300" b="1" dirty="0">
                <a:solidFill>
                  <a:srgbClr val="34B76F"/>
                </a:solidFill>
                <a:latin typeface="Calibri" pitchFamily="34" charset="0"/>
                <a:ea typeface="Calibri" pitchFamily="34" charset="-122"/>
                <a:cs typeface="Calibri" pitchFamily="34" charset="-120"/>
              </a:rPr>
              <a:t>Nathaniel Bowditch  </a:t>
            </a:r>
            <a:pPr indent="0" marL="0">
              <a:buNone/>
            </a:pPr>
            <a:r>
              <a:rPr lang="en-US" sz="1200" dirty="0">
                <a:solidFill>
                  <a:srgbClr val="1E293B"/>
                </a:solidFill>
                <a:latin typeface="Calibri" pitchFamily="34" charset="0"/>
                <a:ea typeface="Calibri" pitchFamily="34" charset="-122"/>
                <a:cs typeface="Calibri" pitchFamily="34" charset="-120"/>
              </a:rPr>
              <a:t>"Nathaniel Bowditch" is a proper noun — both first and last name capitalized.</a:t>
            </a:r>
            <a:endParaRPr lang="en-US" sz="1300" dirty="0"/>
          </a:p>
        </p:txBody>
      </p:sp>
      <p:sp>
        <p:nvSpPr>
          <p:cNvPr id="10" name="Shape 8"/>
          <p:cNvSpPr/>
          <p:nvPr/>
        </p:nvSpPr>
        <p:spPr>
          <a:xfrm>
            <a:off x="365760" y="2953512"/>
            <a:ext cx="8412480" cy="512064"/>
          </a:xfrm>
          <a:prstGeom prst="roundRect">
            <a:avLst>
              <a:gd name="adj" fmla="val 17857"/>
            </a:avLst>
          </a:prstGeom>
          <a:solidFill>
            <a:srgbClr val="F8FAFC"/>
          </a:solidFill>
          <a:ln/>
          <a:effectLst>
            <a:outerShdw sx="100000" sy="100000" kx="0" ky="0" algn="bl" rotWithShape="0" blurRad="101600" dist="38100" dir="2700000">
              <a:srgbClr val="000000">
                <a:alpha val="12000"/>
              </a:srgbClr>
            </a:outerShdw>
          </a:effectLst>
        </p:spPr>
      </p:sp>
      <p:sp>
        <p:nvSpPr>
          <p:cNvPr id="11" name="Text 9"/>
          <p:cNvSpPr/>
          <p:nvPr/>
        </p:nvSpPr>
        <p:spPr>
          <a:xfrm>
            <a:off x="548640" y="3008376"/>
            <a:ext cx="8046720" cy="402336"/>
          </a:xfrm>
          <a:prstGeom prst="rect">
            <a:avLst/>
          </a:prstGeom>
          <a:noFill/>
          <a:ln/>
        </p:spPr>
        <p:txBody>
          <a:bodyPr wrap="square" lIns="0" tIns="0" rIns="0" bIns="0" rtlCol="0" anchor="ctr"/>
          <a:lstStyle/>
          <a:p>
            <a:pPr indent="0" marL="0">
              <a:buNone/>
            </a:pPr>
            <a:r>
              <a:rPr lang="en-US" sz="1300" b="1" dirty="0">
                <a:solidFill>
                  <a:srgbClr val="34B76F"/>
                </a:solidFill>
                <a:latin typeface="Calibri" pitchFamily="34" charset="0"/>
                <a:ea typeface="Calibri" pitchFamily="34" charset="-122"/>
                <a:cs typeface="Calibri" pitchFamily="34" charset="-120"/>
              </a:rPr>
              <a:t>taught  </a:t>
            </a:r>
            <a:pPr indent="0" marL="0">
              <a:buNone/>
            </a:pPr>
            <a:r>
              <a:rPr lang="en-US" sz="1200" dirty="0">
                <a:solidFill>
                  <a:srgbClr val="1E293B"/>
                </a:solidFill>
                <a:latin typeface="Calibri" pitchFamily="34" charset="0"/>
                <a:ea typeface="Calibri" pitchFamily="34" charset="-122"/>
                <a:cs typeface="Calibri" pitchFamily="34" charset="-120"/>
              </a:rPr>
              <a:t>"taught" is consistent past tense, matching "worked."</a:t>
            </a:r>
            <a:endParaRPr lang="en-US" sz="1300" dirty="0"/>
          </a:p>
        </p:txBody>
      </p:sp>
      <p:sp>
        <p:nvSpPr>
          <p:cNvPr id="12" name="Shape 10"/>
          <p:cNvSpPr/>
          <p:nvPr/>
        </p:nvSpPr>
        <p:spPr>
          <a:xfrm>
            <a:off x="365760" y="3529584"/>
            <a:ext cx="8412480" cy="512064"/>
          </a:xfrm>
          <a:prstGeom prst="roundRect">
            <a:avLst>
              <a:gd name="adj" fmla="val 17857"/>
            </a:avLst>
          </a:prstGeom>
          <a:solidFill>
            <a:srgbClr val="F8FAFC"/>
          </a:solidFill>
          <a:ln/>
          <a:effectLst>
            <a:outerShdw sx="100000" sy="100000" kx="0" ky="0" algn="bl" rotWithShape="0" blurRad="101600" dist="38100" dir="2700000">
              <a:srgbClr val="000000">
                <a:alpha val="12000"/>
              </a:srgbClr>
            </a:outerShdw>
          </a:effectLst>
        </p:spPr>
      </p:sp>
      <p:sp>
        <p:nvSpPr>
          <p:cNvPr id="13" name="Text 11"/>
          <p:cNvSpPr/>
          <p:nvPr/>
        </p:nvSpPr>
        <p:spPr>
          <a:xfrm>
            <a:off x="548640" y="3584448"/>
            <a:ext cx="8046720" cy="402336"/>
          </a:xfrm>
          <a:prstGeom prst="rect">
            <a:avLst/>
          </a:prstGeom>
          <a:noFill/>
          <a:ln/>
        </p:spPr>
        <p:txBody>
          <a:bodyPr wrap="square" lIns="0" tIns="0" rIns="0" bIns="0" rtlCol="0" anchor="ctr"/>
          <a:lstStyle/>
          <a:p>
            <a:pPr indent="0" marL="0">
              <a:buNone/>
            </a:pPr>
            <a:r>
              <a:rPr lang="en-US" sz="1300" b="1" dirty="0">
                <a:solidFill>
                  <a:srgbClr val="34B76F"/>
                </a:solidFill>
                <a:latin typeface="Calibri" pitchFamily="34" charset="0"/>
                <a:ea typeface="Calibri" pitchFamily="34" charset="-122"/>
                <a:cs typeface="Calibri" pitchFamily="34" charset="-120"/>
              </a:rPr>
              <a:t>by night.  </a:t>
            </a:r>
            <a:pPr indent="0" marL="0">
              <a:buNone/>
            </a:pPr>
            <a:r>
              <a:rPr lang="en-US" sz="1200" dirty="0">
                <a:solidFill>
                  <a:srgbClr val="1E293B"/>
                </a:solidFill>
                <a:latin typeface="Calibri" pitchFamily="34" charset="0"/>
                <a:ea typeface="Calibri" pitchFamily="34" charset="-122"/>
                <a:cs typeface="Calibri" pitchFamily="34" charset="-120"/>
              </a:rPr>
              <a:t>A period ends this declarative sentence correctly.</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Daily Oral Language — Fix It</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6492240" y="173736"/>
            <a:ext cx="2286000" cy="502920"/>
          </a:xfrm>
          <a:prstGeom prst="roundRect">
            <a:avLst>
              <a:gd name="adj" fmla="val 21818"/>
            </a:avLst>
          </a:prstGeom>
          <a:solidFill>
            <a:srgbClr val="55C8E8"/>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NEEDS FIXING</a:t>
            </a:r>
            <a:endParaRPr lang="en-US" sz="1100" dirty="0"/>
          </a:p>
        </p:txBody>
      </p:sp>
      <p:sp>
        <p:nvSpPr>
          <p:cNvPr id="7" name="Shape 5"/>
          <p:cNvSpPr/>
          <p:nvPr/>
        </p:nvSpPr>
        <p:spPr>
          <a:xfrm>
            <a:off x="365760" y="1078992"/>
            <a:ext cx="8412480" cy="777240"/>
          </a:xfrm>
          <a:prstGeom prst="roundRect">
            <a:avLst>
              <a:gd name="adj" fmla="val 11765"/>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48640" y="1188720"/>
            <a:ext cx="8046720" cy="548640"/>
          </a:xfrm>
          <a:prstGeom prst="rect">
            <a:avLst/>
          </a:prstGeom>
          <a:noFill/>
          <a:ln/>
        </p:spPr>
        <p:txBody>
          <a:bodyPr wrap="square" lIns="0" tIns="0" rIns="0" bIns="0" rtlCol="0" anchor="ctr"/>
          <a:lstStyle/>
          <a:p>
            <a:pPr indent="0" marL="0">
              <a:buNone/>
            </a:pPr>
            <a:r>
              <a:rPr lang="en-US" sz="1600" i="1" dirty="0">
                <a:solidFill>
                  <a:srgbClr val="1E293B"/>
                </a:solidFill>
                <a:latin typeface="Calibri" pitchFamily="34" charset="0"/>
                <a:ea typeface="Calibri" pitchFamily="34" charset="-122"/>
                <a:cs typeface="Calibri" pitchFamily="34" charset="-120"/>
              </a:rPr>
              <a:t>nathaniel bowditch works as a bookkeeper at ropes and hodges and he teaches the sailors how to use logarithms</a:t>
            </a:r>
            <a:endParaRPr lang="en-US" sz="1600" dirty="0"/>
          </a:p>
        </p:txBody>
      </p:sp>
      <p:sp>
        <p:nvSpPr>
          <p:cNvPr id="9" name="Text 7"/>
          <p:cNvSpPr/>
          <p:nvPr/>
        </p:nvSpPr>
        <p:spPr>
          <a:xfrm>
            <a:off x="457200" y="1965960"/>
            <a:ext cx="8229600" cy="384048"/>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Rewrite the corrected sentence in your notebook.</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Daily Oral Language — Fix It</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6492240" y="173736"/>
            <a:ext cx="2286000" cy="502920"/>
          </a:xfrm>
          <a:prstGeom prst="roundRect">
            <a:avLst>
              <a:gd name="adj" fmla="val 21818"/>
            </a:avLst>
          </a:prstGeom>
          <a:solidFill>
            <a:srgbClr val="55C8E8"/>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NEEDS FIXING</a:t>
            </a:r>
            <a:endParaRPr lang="en-US" sz="1100" dirty="0"/>
          </a:p>
        </p:txBody>
      </p:sp>
      <p:sp>
        <p:nvSpPr>
          <p:cNvPr id="7" name="Shape 5"/>
          <p:cNvSpPr/>
          <p:nvPr/>
        </p:nvSpPr>
        <p:spPr>
          <a:xfrm>
            <a:off x="365760" y="1078992"/>
            <a:ext cx="8412480" cy="777240"/>
          </a:xfrm>
          <a:prstGeom prst="roundRect">
            <a:avLst>
              <a:gd name="adj" fmla="val 11765"/>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48640" y="1188720"/>
            <a:ext cx="8046720" cy="548640"/>
          </a:xfrm>
          <a:prstGeom prst="rect">
            <a:avLst/>
          </a:prstGeom>
          <a:noFill/>
          <a:ln/>
        </p:spPr>
        <p:txBody>
          <a:bodyPr wrap="square" lIns="0" tIns="0" rIns="0" bIns="0" rtlCol="0" anchor="ctr"/>
          <a:lstStyle/>
          <a:p>
            <a:pPr indent="0" marL="0">
              <a:buNone/>
            </a:pPr>
            <a:r>
              <a:rPr lang="en-US" sz="1600" i="1" dirty="0">
                <a:solidFill>
                  <a:srgbClr val="1E293B"/>
                </a:solidFill>
                <a:latin typeface="Calibri" pitchFamily="34" charset="0"/>
                <a:ea typeface="Calibri" pitchFamily="34" charset="-122"/>
                <a:cs typeface="Calibri" pitchFamily="34" charset="-120"/>
              </a:rPr>
              <a:t>nathaniel bowditch works as a bookkeeper at ropes and hodges and he teaches the sailors how to use logarithms</a:t>
            </a:r>
            <a:endParaRPr lang="en-US" sz="1600" dirty="0"/>
          </a:p>
        </p:txBody>
      </p:sp>
      <p:sp>
        <p:nvSpPr>
          <p:cNvPr id="9" name="Text 7"/>
          <p:cNvSpPr/>
          <p:nvPr/>
        </p:nvSpPr>
        <p:spPr>
          <a:xfrm>
            <a:off x="457200" y="1965960"/>
            <a:ext cx="8229600" cy="384048"/>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Rewrite the corrected sentence in your notebook.</a:t>
            </a:r>
            <a:endParaRPr lang="en-US" sz="1500" dirty="0"/>
          </a:p>
        </p:txBody>
      </p:sp>
      <p:sp>
        <p:nvSpPr>
          <p:cNvPr id="10" name="Shape 8"/>
          <p:cNvSpPr/>
          <p:nvPr/>
        </p:nvSpPr>
        <p:spPr>
          <a:xfrm>
            <a:off x="365760" y="2468880"/>
            <a:ext cx="8412480" cy="1371600"/>
          </a:xfrm>
          <a:prstGeom prst="roundRect">
            <a:avLst>
              <a:gd name="adj" fmla="val 6667"/>
            </a:avLst>
          </a:prstGeom>
          <a:solidFill>
            <a:srgbClr val="E8F8EF"/>
          </a:solidFill>
          <a:ln/>
          <a:effectLst>
            <a:outerShdw sx="100000" sy="100000" kx="0" ky="0" algn="bl" rotWithShape="0" blurRad="101600" dist="38100" dir="2700000">
              <a:srgbClr val="000000">
                <a:alpha val="12000"/>
              </a:srgbClr>
            </a:outerShdw>
          </a:effectLst>
        </p:spPr>
      </p:sp>
      <p:sp>
        <p:nvSpPr>
          <p:cNvPr id="11" name="Text 9"/>
          <p:cNvSpPr/>
          <p:nvPr/>
        </p:nvSpPr>
        <p:spPr>
          <a:xfrm>
            <a:off x="594360" y="2560320"/>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  CORRECTED</a:t>
            </a:r>
            <a:endParaRPr lang="en-US" sz="1100" dirty="0"/>
          </a:p>
        </p:txBody>
      </p:sp>
      <p:sp>
        <p:nvSpPr>
          <p:cNvPr id="12" name="Text 10"/>
          <p:cNvSpPr/>
          <p:nvPr/>
        </p:nvSpPr>
        <p:spPr>
          <a:xfrm>
            <a:off x="594360" y="2834640"/>
            <a:ext cx="7955280" cy="457200"/>
          </a:xfrm>
          <a:prstGeom prst="rect">
            <a:avLst/>
          </a:prstGeom>
          <a:noFill/>
          <a:ln/>
        </p:spPr>
        <p:txBody>
          <a:bodyPr wrap="square" lIns="0" tIns="0" rIns="0" bIns="0" rtlCol="0" anchor="ctr"/>
          <a:lstStyle/>
          <a:p>
            <a:pPr indent="0" marL="0">
              <a:buNone/>
            </a:pPr>
            <a:r>
              <a:rPr lang="en-US" sz="1500" b="1" i="1" dirty="0">
                <a:solidFill>
                  <a:srgbClr val="1E293B"/>
                </a:solidFill>
                <a:latin typeface="Calibri" pitchFamily="34" charset="0"/>
                <a:ea typeface="Calibri" pitchFamily="34" charset="-122"/>
                <a:cs typeface="Calibri" pitchFamily="34" charset="-120"/>
              </a:rPr>
              <a:t>Nathaniel Bowditch worked as a bookkeeper at Ropes and Hodges and taught the sailors how to use logarithms.</a:t>
            </a:r>
            <a:endParaRPr lang="en-US" sz="1500" dirty="0"/>
          </a:p>
        </p:txBody>
      </p:sp>
      <p:sp>
        <p:nvSpPr>
          <p:cNvPr id="13" name="Text 11"/>
          <p:cNvSpPr/>
          <p:nvPr/>
        </p:nvSpPr>
        <p:spPr>
          <a:xfrm>
            <a:off x="594360" y="3310128"/>
            <a:ext cx="7955280" cy="457200"/>
          </a:xfrm>
          <a:prstGeom prst="rect">
            <a:avLst/>
          </a:prstGeom>
          <a:noFill/>
          <a:ln/>
        </p:spPr>
        <p:txBody>
          <a:bodyPr wrap="square" lIns="0" tIns="0" rIns="0" bIns="0" rtlCol="0" anchor="ctr"/>
          <a:lstStyle/>
          <a:p>
            <a:pPr indent="0" marL="0">
              <a:buNone/>
            </a:pPr>
            <a:r>
              <a:rPr lang="en-US" sz="1100" i="1" dirty="0">
                <a:solidFill>
                  <a:srgbClr val="64748B"/>
                </a:solidFill>
                <a:latin typeface="Calibri" pitchFamily="34" charset="0"/>
                <a:ea typeface="Calibri" pitchFamily="34" charset="-122"/>
                <a:cs typeface="Calibri" pitchFamily="34" charset="-120"/>
              </a:rPr>
              <a:t>Fixes: “Nathaniel Bowditch” (proper noun); “Ropes and Hodges” (proper noun — company name); “works” → “worked” and “teaches” → “taught” (tense shift corrected to consistent past).</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Poetry Corner</a:t>
            </a:r>
            <a:endParaRPr lang="en-US" sz="2600" dirty="0"/>
          </a:p>
        </p:txBody>
      </p:sp>
      <p:sp>
        <p:nvSpPr>
          <p:cNvPr id="3" name="Shape 1"/>
          <p:cNvSpPr/>
          <p:nvPr/>
        </p:nvSpPr>
        <p:spPr>
          <a:xfrm>
            <a:off x="365760" y="749808"/>
            <a:ext cx="8412480" cy="0"/>
          </a:xfrm>
          <a:prstGeom prst="line">
            <a:avLst/>
          </a:prstGeom>
          <a:noFill/>
          <a:ln w="19050">
            <a:solidFill>
              <a:srgbClr val="C7922C"/>
            </a:solidFill>
            <a:prstDash val="solid"/>
          </a:ln>
        </p:spPr>
      </p:sp>
      <p:sp>
        <p:nvSpPr>
          <p:cNvPr id="4" name="Shape 2"/>
          <p:cNvSpPr/>
          <p:nvPr/>
        </p:nvSpPr>
        <p:spPr>
          <a:xfrm>
            <a:off x="365760" y="868680"/>
            <a:ext cx="8412480" cy="2423160"/>
          </a:xfrm>
          <a:prstGeom prst="roundRect">
            <a:avLst>
              <a:gd name="adj" fmla="val 3774"/>
            </a:avLst>
          </a:prstGeom>
          <a:solidFill>
            <a:srgbClr val="FEF6E8"/>
          </a:solidFill>
          <a:ln/>
          <a:effectLst>
            <a:outerShdw sx="100000" sy="100000" kx="0" ky="0" algn="bl" rotWithShape="0" blurRad="101600" dist="38100" dir="2700000">
              <a:srgbClr val="000000">
                <a:alpha val="12000"/>
              </a:srgbClr>
            </a:outerShdw>
          </a:effectLst>
        </p:spPr>
      </p:sp>
      <p:sp>
        <p:nvSpPr>
          <p:cNvPr id="5" name="Text 3"/>
          <p:cNvSpPr/>
          <p:nvPr/>
        </p:nvSpPr>
        <p:spPr>
          <a:xfrm>
            <a:off x="594360" y="960120"/>
            <a:ext cx="7955280" cy="365760"/>
          </a:xfrm>
          <a:prstGeom prst="rect">
            <a:avLst/>
          </a:prstGeom>
          <a:noFill/>
          <a:ln/>
        </p:spPr>
        <p:txBody>
          <a:bodyPr wrap="square" lIns="0" tIns="0" rIns="0" bIns="0" rtlCol="0" anchor="ctr"/>
          <a:lstStyle/>
          <a:p>
            <a:pPr indent="0" marL="0">
              <a:buNone/>
            </a:pPr>
            <a:r>
              <a:rPr lang="en-US" sz="2000" b="1" dirty="0">
                <a:solidFill>
                  <a:srgbClr val="0E1C42"/>
                </a:solidFill>
                <a:latin typeface="Calibri" pitchFamily="34" charset="0"/>
                <a:ea typeface="Calibri" pitchFamily="34" charset="-122"/>
                <a:cs typeface="Calibri" pitchFamily="34" charset="-120"/>
              </a:rPr>
              <a:t>from Psalm 121</a:t>
            </a:r>
            <a:endParaRPr lang="en-US" sz="2000" dirty="0"/>
          </a:p>
        </p:txBody>
      </p:sp>
      <p:sp>
        <p:nvSpPr>
          <p:cNvPr id="6" name="Text 4"/>
          <p:cNvSpPr/>
          <p:nvPr/>
        </p:nvSpPr>
        <p:spPr>
          <a:xfrm>
            <a:off x="594360" y="1325880"/>
            <a:ext cx="7955280" cy="274320"/>
          </a:xfrm>
          <a:prstGeom prst="rect">
            <a:avLst/>
          </a:prstGeom>
          <a:noFill/>
          <a:ln/>
        </p:spPr>
        <p:txBody>
          <a:bodyPr wrap="square" lIns="0" tIns="0" rIns="0" bIns="0" rtlCol="0" anchor="ctr"/>
          <a:lstStyle/>
          <a:p>
            <a:pPr indent="0" marL="0">
              <a:buNone/>
            </a:pPr>
            <a:r>
              <a:rPr lang="en-US" sz="1300" i="1" dirty="0">
                <a:solidFill>
                  <a:srgbClr val="64748B"/>
                </a:solidFill>
                <a:latin typeface="Calibri" pitchFamily="34" charset="0"/>
                <a:ea typeface="Calibri" pitchFamily="34" charset="-122"/>
                <a:cs typeface="Calibri" pitchFamily="34" charset="-120"/>
              </a:rPr>
              <a:t>by King James Bible, 1611 — public domain</a:t>
            </a:r>
            <a:endParaRPr lang="en-US" sz="1300" dirty="0"/>
          </a:p>
        </p:txBody>
      </p:sp>
      <p:sp>
        <p:nvSpPr>
          <p:cNvPr id="7" name="Text 5"/>
          <p:cNvSpPr/>
          <p:nvPr/>
        </p:nvSpPr>
        <p:spPr>
          <a:xfrm>
            <a:off x="594360" y="1645920"/>
            <a:ext cx="7955280" cy="1554480"/>
          </a:xfrm>
          <a:prstGeom prst="rect">
            <a:avLst/>
          </a:prstGeom>
          <a:noFill/>
          <a:ln/>
        </p:spPr>
        <p:txBody>
          <a:bodyPr wrap="square" lIns="0" tIns="0" rIns="0" bIns="0" rtlCol="0" anchor="t"/>
          <a:lstStyle/>
          <a:p>
            <a:pPr indent="0" marL="0">
              <a:buNone/>
            </a:pPr>
            <a:r>
              <a:rPr lang="en-US" sz="1500" i="1" dirty="0">
                <a:solidFill>
                  <a:srgbClr val="1E293B"/>
                </a:solidFill>
                <a:latin typeface="Georgia" pitchFamily="34" charset="0"/>
                <a:ea typeface="Georgia" pitchFamily="34" charset="-122"/>
                <a:cs typeface="Georgia" pitchFamily="34" charset="-120"/>
              </a:rPr>
              <a:t>I will lift up mine eyes unto the hills,</a:t>
            </a:r>
            <a:endParaRPr lang="en-US" sz="1500" dirty="0"/>
          </a:p>
          <a:p>
            <a:pPr indent="0" marL="0">
              <a:buNone/>
            </a:pPr>
            <a:r>
              <a:rPr lang="en-US" sz="1500" i="1" dirty="0">
                <a:solidFill>
                  <a:srgbClr val="1E293B"/>
                </a:solidFill>
                <a:latin typeface="Georgia" pitchFamily="34" charset="0"/>
                <a:ea typeface="Georgia" pitchFamily="34" charset="-122"/>
                <a:cs typeface="Georgia" pitchFamily="34" charset="-120"/>
              </a:rPr>
              <a:t>from whence cometh my help.</a:t>
            </a:r>
            <a:endParaRPr lang="en-US" sz="1500" dirty="0"/>
          </a:p>
          <a:p>
            <a:pPr indent="0" marL="0">
              <a:buNone/>
            </a:pPr>
            <a:r>
              <a:rPr lang="en-US" sz="1500" i="1" dirty="0">
                <a:solidFill>
                  <a:srgbClr val="1E293B"/>
                </a:solidFill>
                <a:latin typeface="Georgia" pitchFamily="34" charset="0"/>
                <a:ea typeface="Georgia" pitchFamily="34" charset="-122"/>
                <a:cs typeface="Georgia" pitchFamily="34" charset="-120"/>
              </a:rPr>
              <a:t>My help cometh from the Lord,</a:t>
            </a:r>
            <a:endParaRPr lang="en-US" sz="1500" dirty="0"/>
          </a:p>
          <a:p>
            <a:pPr indent="0" marL="0">
              <a:buNone/>
            </a:pPr>
            <a:r>
              <a:rPr lang="en-US" sz="1500" i="1" dirty="0">
                <a:solidFill>
                  <a:srgbClr val="1E293B"/>
                </a:solidFill>
                <a:latin typeface="Georgia" pitchFamily="34" charset="0"/>
                <a:ea typeface="Georgia" pitchFamily="34" charset="-122"/>
                <a:cs typeface="Georgia" pitchFamily="34" charset="-120"/>
              </a:rPr>
              <a:t>which made heaven and earth.</a:t>
            </a:r>
            <a:endParaRPr lang="en-US" sz="1500" dirty="0"/>
          </a:p>
          <a:p>
            <a:pPr indent="0" marL="0">
              <a:buNone/>
            </a:pPr>
            <a:r>
              <a:rPr lang="en-US" sz="1500" i="1" dirty="0">
                <a:solidFill>
                  <a:srgbClr val="1E293B"/>
                </a:solidFill>
                <a:latin typeface="Georgia" pitchFamily="34" charset="0"/>
                <a:ea typeface="Georgia" pitchFamily="34" charset="-122"/>
                <a:cs typeface="Georgia" pitchFamily="34" charset="-120"/>
              </a:rPr>
              <a:t>He will not suffer thy foot to be moved:</a:t>
            </a:r>
            <a:endParaRPr lang="en-US" sz="1500" dirty="0"/>
          </a:p>
          <a:p>
            <a:pPr indent="0" marL="0">
              <a:buNone/>
            </a:pPr>
            <a:r>
              <a:rPr lang="en-US" sz="1500" i="1" dirty="0">
                <a:solidFill>
                  <a:srgbClr val="1E293B"/>
                </a:solidFill>
                <a:latin typeface="Georgia" pitchFamily="34" charset="0"/>
                <a:ea typeface="Georgia" pitchFamily="34" charset="-122"/>
                <a:cs typeface="Georgia" pitchFamily="34" charset="-120"/>
              </a:rPr>
              <a:t>he that keepeth thee will not slumber.</a:t>
            </a:r>
            <a:endParaRPr lang="en-US" sz="1500" dirty="0"/>
          </a:p>
        </p:txBody>
      </p:sp>
      <p:sp>
        <p:nvSpPr>
          <p:cNvPr id="8" name="Text 6"/>
          <p:cNvSpPr/>
          <p:nvPr/>
        </p:nvSpPr>
        <p:spPr>
          <a:xfrm>
            <a:off x="365760" y="342900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 THINK ABOUT THIS</a:t>
            </a:r>
            <a:endParaRPr lang="en-US" sz="1100" dirty="0"/>
          </a:p>
        </p:txBody>
      </p:sp>
      <p:sp>
        <p:nvSpPr>
          <p:cNvPr id="9" name="Shape 7"/>
          <p:cNvSpPr/>
          <p:nvPr/>
        </p:nvSpPr>
        <p:spPr>
          <a:xfrm>
            <a:off x="365760" y="3685032"/>
            <a:ext cx="8412480" cy="914400"/>
          </a:xfrm>
          <a:prstGeom prst="roundRect">
            <a:avLst>
              <a:gd name="adj" fmla="val 10000"/>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3776472"/>
            <a:ext cx="7955280" cy="73152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Nat’s mother changed “the hills” to “the stars” when she made this her own saying. Why might she have chosen stars instead of hills? What does looking up at the stars do for Nat throughout these chapters? Where have you seen Nat look up — literally or figuratively — during Chapters 5–8?</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Quick Write (Optional)</a:t>
            </a:r>
            <a:endParaRPr lang="en-US" sz="2600" dirty="0"/>
          </a:p>
        </p:txBody>
      </p:sp>
      <p:sp>
        <p:nvSpPr>
          <p:cNvPr id="3" name="Shape 1"/>
          <p:cNvSpPr/>
          <p:nvPr/>
        </p:nvSpPr>
        <p:spPr>
          <a:xfrm>
            <a:off x="365760" y="749808"/>
            <a:ext cx="8412480" cy="0"/>
          </a:xfrm>
          <a:prstGeom prst="line">
            <a:avLst/>
          </a:prstGeom>
          <a:noFill/>
          <a:ln w="19050">
            <a:solidFill>
              <a:srgbClr val="C7922C"/>
            </a:solidFill>
            <a:prstDash val="solid"/>
          </a:ln>
        </p:spPr>
      </p:sp>
      <p:sp>
        <p:nvSpPr>
          <p:cNvPr id="4" name="Text 2"/>
          <p:cNvSpPr/>
          <p:nvPr/>
        </p:nvSpPr>
        <p:spPr>
          <a:xfrm>
            <a:off x="457200" y="91440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 READ THE PROMPT — 1 MINUTE</a:t>
            </a:r>
            <a:endParaRPr lang="en-US" sz="1100" dirty="0"/>
          </a:p>
        </p:txBody>
      </p:sp>
      <p:sp>
        <p:nvSpPr>
          <p:cNvPr id="5" name="Shape 3"/>
          <p:cNvSpPr/>
          <p:nvPr/>
        </p:nvSpPr>
        <p:spPr>
          <a:xfrm>
            <a:off x="457200" y="1280160"/>
            <a:ext cx="8229600" cy="1463040"/>
          </a:xfrm>
          <a:prstGeom prst="roundRect">
            <a:avLst>
              <a:gd name="adj" fmla="val 6250"/>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640080" y="1389888"/>
            <a:ext cx="7863840" cy="1234440"/>
          </a:xfrm>
          <a:prstGeom prst="rect">
            <a:avLst/>
          </a:prstGeom>
          <a:noFill/>
          <a:ln/>
        </p:spPr>
        <p:txBody>
          <a:bodyPr wrap="square" lIns="0" tIns="0" rIns="0" bIns="0" rtlCol="0" anchor="ctr"/>
          <a:lstStyle/>
          <a:p>
            <a:pPr indent="0" marL="0">
              <a:buNone/>
            </a:pPr>
            <a:r>
              <a:rPr lang="en-US" sz="1600" i="1" dirty="0">
                <a:solidFill>
                  <a:srgbClr val="1E293B"/>
                </a:solidFill>
                <a:latin typeface="Calibri" pitchFamily="34" charset="0"/>
                <a:ea typeface="Calibri" pitchFamily="34" charset="-122"/>
                <a:cs typeface="Calibri" pitchFamily="34" charset="-120"/>
              </a:rPr>
              <a:t>Looking back at Chapters 5-8, which single moment best shows Nat turning his indenture into an opportunity instead of a punishment? Defend your answer with evidence.</a:t>
            </a:r>
            <a:endParaRPr lang="en-US" sz="1600" dirty="0"/>
          </a:p>
        </p:txBody>
      </p:sp>
      <p:sp>
        <p:nvSpPr>
          <p:cNvPr id="7" name="Text 5"/>
          <p:cNvSpPr/>
          <p:nvPr/>
        </p:nvSpPr>
        <p:spPr>
          <a:xfrm>
            <a:off x="457200" y="292608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SENTENCE SCAFFOLD (USE WHAT HELPS)</a:t>
            </a:r>
            <a:endParaRPr lang="en-US" sz="1100" dirty="0"/>
          </a:p>
        </p:txBody>
      </p:sp>
      <p:sp>
        <p:nvSpPr>
          <p:cNvPr id="8" name="Text 6"/>
          <p:cNvSpPr/>
          <p:nvPr/>
        </p:nvSpPr>
        <p:spPr>
          <a:xfrm>
            <a:off x="457200" y="3218688"/>
            <a:ext cx="8229600" cy="822960"/>
          </a:xfrm>
          <a:prstGeom prst="rect">
            <a:avLst/>
          </a:prstGeom>
          <a:noFill/>
          <a:ln/>
        </p:spPr>
        <p:txBody>
          <a:bodyPr wrap="square" lIns="0" tIns="0" rIns="0" bIns="0" rtlCol="0" anchor="ctr"/>
          <a:lstStyle/>
          <a:p>
            <a:pPr indent="0" marL="0">
              <a:buNone/>
            </a:pPr>
            <a:r>
              <a:rPr lang="en-US" sz="1150" i="1" dirty="0">
                <a:solidFill>
                  <a:srgbClr val="0E1C42"/>
                </a:solidFill>
                <a:latin typeface="Calibri" pitchFamily="34" charset="0"/>
                <a:ea typeface="Calibri" pitchFamily="34" charset="-122"/>
                <a:cs typeface="Calibri" pitchFamily="34" charset="-120"/>
              </a:rPr>
              <a:t>I think...   →   because...   →   One piece of evidence is...   →   Someone might disagree, but...</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EF6E8"/>
        </a:solidFill>
      </p:bgPr>
    </p:bg>
    <p:spTree>
      <p:nvGrpSpPr>
        <p:cNvPr id="1" name=""/>
        <p:cNvGrpSpPr/>
        <p:nvPr/>
      </p:nvGrpSpPr>
      <p:grpSpPr>
        <a:xfrm>
          <a:off x="0" y="0"/>
          <a:ext cx="0" cy="0"/>
          <a:chOff x="0" y="0"/>
          <a:chExt cx="0" cy="0"/>
        </a:xfrm>
      </p:grpSpPr>
      <p:sp>
        <p:nvSpPr>
          <p:cNvPr id="2" name="Text 0"/>
          <p:cNvSpPr/>
          <p:nvPr/>
        </p:nvSpPr>
        <p:spPr>
          <a:xfrm>
            <a:off x="457200" y="228600"/>
            <a:ext cx="8229600" cy="640080"/>
          </a:xfrm>
          <a:prstGeom prst="rect">
            <a:avLst/>
          </a:prstGeom>
          <a:noFill/>
          <a:ln/>
        </p:spPr>
        <p:txBody>
          <a:bodyPr wrap="square" lIns="0" tIns="0" rIns="0" bIns="0" rtlCol="0" anchor="ctr"/>
          <a:lstStyle/>
          <a:p>
            <a:pPr algn="ctr" indent="0" marL="0">
              <a:buNone/>
            </a:pPr>
            <a:r>
              <a:rPr lang="en-US" sz="3000" b="1" dirty="0">
                <a:solidFill>
                  <a:srgbClr val="0E1C42"/>
                </a:solidFill>
                <a:latin typeface="Calibri" pitchFamily="34" charset="0"/>
                <a:ea typeface="Calibri" pitchFamily="34" charset="-122"/>
                <a:cs typeface="Calibri" pitchFamily="34" charset="-120"/>
              </a:rPr>
              <a:t>✏️  Writing Time</a:t>
            </a:r>
            <a:endParaRPr lang="en-US" sz="3000" dirty="0"/>
          </a:p>
        </p:txBody>
      </p:sp>
      <p:sp>
        <p:nvSpPr>
          <p:cNvPr id="3" name="Text 1"/>
          <p:cNvSpPr/>
          <p:nvPr/>
        </p:nvSpPr>
        <p:spPr>
          <a:xfrm>
            <a:off x="914400" y="804672"/>
            <a:ext cx="7315200" cy="365760"/>
          </a:xfrm>
          <a:prstGeom prst="rect">
            <a:avLst/>
          </a:prstGeom>
          <a:noFill/>
          <a:ln/>
        </p:spPr>
        <p:txBody>
          <a:bodyPr wrap="square" lIns="0" tIns="0" rIns="0" bIns="0" rtlCol="0" anchor="ctr"/>
          <a:lstStyle/>
          <a:p>
            <a:pPr algn="ctr" indent="0" marL="0">
              <a:buNone/>
            </a:pPr>
            <a:r>
              <a:rPr lang="en-US" sz="1500" dirty="0">
                <a:solidFill>
                  <a:srgbClr val="C7922C"/>
                </a:solidFill>
                <a:latin typeface="Calibri" pitchFamily="34" charset="0"/>
                <a:ea typeface="Calibri" pitchFamily="34" charset="-122"/>
                <a:cs typeface="Calibri" pitchFamily="34" charset="-120"/>
              </a:rPr>
              <a:t>5 minutes — keep your pencil moving!</a:t>
            </a:r>
            <a:endParaRPr lang="en-US" sz="1500" dirty="0"/>
          </a:p>
        </p:txBody>
      </p:sp>
      <p:sp>
        <p:nvSpPr>
          <p:cNvPr id="4" name="Shape 2"/>
          <p:cNvSpPr/>
          <p:nvPr/>
        </p:nvSpPr>
        <p:spPr>
          <a:xfrm>
            <a:off x="457200" y="1325880"/>
            <a:ext cx="8229600" cy="1188720"/>
          </a:xfrm>
          <a:prstGeom prst="roundRect">
            <a:avLst>
              <a:gd name="adj" fmla="val 7692"/>
            </a:avLst>
          </a:prstGeom>
          <a:solidFill>
            <a:srgbClr val="FFFFFF"/>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5" name="Text 3"/>
          <p:cNvSpPr/>
          <p:nvPr/>
        </p:nvSpPr>
        <p:spPr>
          <a:xfrm>
            <a:off x="640080" y="1371600"/>
            <a:ext cx="7863840" cy="1097280"/>
          </a:xfrm>
          <a:prstGeom prst="rect">
            <a:avLst/>
          </a:prstGeom>
          <a:noFill/>
          <a:ln/>
        </p:spPr>
        <p:txBody>
          <a:bodyPr wrap="square" lIns="0" tIns="0" rIns="0" bIns="0" rtlCol="0" anchor="t"/>
          <a:lstStyle/>
          <a:p>
            <a:pPr indent="0" marL="0">
              <a:buNone/>
            </a:pPr>
            <a:r>
              <a:rPr lang="en-US" sz="1200" b="1" dirty="0">
                <a:solidFill>
                  <a:srgbClr val="C7922C"/>
                </a:solidFill>
                <a:latin typeface="Calibri" pitchFamily="34" charset="0"/>
                <a:ea typeface="Calibri" pitchFamily="34" charset="-122"/>
                <a:cs typeface="Calibri" pitchFamily="34" charset="-120"/>
              </a:rPr>
              <a:t>📖 Prompt: </a:t>
            </a:r>
            <a:pPr indent="0" marL="0">
              <a:buNone/>
            </a:pPr>
            <a:r>
              <a:rPr lang="en-US" sz="1200" i="1" dirty="0">
                <a:solidFill>
                  <a:srgbClr val="1E293B"/>
                </a:solidFill>
                <a:latin typeface="Calibri" pitchFamily="34" charset="0"/>
                <a:ea typeface="Calibri" pitchFamily="34" charset="-122"/>
                <a:cs typeface="Calibri" pitchFamily="34" charset="-120"/>
              </a:rPr>
              <a:t>Looking back at Chapters 5-8, which single moment best shows Nat turning his indenture into an opportunity instead of a punishment? Defend your answer with evidence.</a:t>
            </a:r>
            <a:endParaRPr lang="en-US" sz="1200" dirty="0"/>
          </a:p>
        </p:txBody>
      </p:sp>
      <p:sp>
        <p:nvSpPr>
          <p:cNvPr id="6" name="Shape 4"/>
          <p:cNvSpPr/>
          <p:nvPr/>
        </p:nvSpPr>
        <p:spPr>
          <a:xfrm>
            <a:off x="1554480" y="2743200"/>
            <a:ext cx="6035040" cy="1600200"/>
          </a:xfrm>
          <a:prstGeom prst="roundRect">
            <a:avLst>
              <a:gd name="adj" fmla="val 6857"/>
            </a:avLst>
          </a:prstGeom>
          <a:solidFill>
            <a:srgbClr val="FFFFFF"/>
          </a:solidFill>
          <a:ln/>
          <a:effectLst>
            <a:outerShdw sx="100000" sy="100000" kx="0" ky="0" algn="bl" rotWithShape="0" blurRad="101600" dist="38100" dir="2700000">
              <a:srgbClr val="000000">
                <a:alpha val="12000"/>
              </a:srgbClr>
            </a:outerShdw>
          </a:effectLst>
        </p:spPr>
      </p:sp>
      <p:sp>
        <p:nvSpPr>
          <p:cNvPr id="7" name="Text 5"/>
          <p:cNvSpPr/>
          <p:nvPr/>
        </p:nvSpPr>
        <p:spPr>
          <a:xfrm>
            <a:off x="1737360" y="2834640"/>
            <a:ext cx="5669280" cy="1417320"/>
          </a:xfrm>
          <a:prstGeom prst="rect">
            <a:avLst/>
          </a:prstGeom>
          <a:noFill/>
          <a:ln/>
        </p:spPr>
        <p:txBody>
          <a:bodyPr wrap="square" lIns="0" tIns="0" rIns="0" bIns="0" rtlCol="0" anchor="t"/>
          <a:lstStyle/>
          <a:p>
            <a:pPr indent="0" marL="0">
              <a:buNone/>
            </a:pPr>
            <a:r>
              <a:rPr lang="en-US" sz="1300" b="1" dirty="0">
                <a:solidFill>
                  <a:srgbClr val="0E1C42"/>
                </a:solidFill>
                <a:latin typeface="Calibri" pitchFamily="34" charset="0"/>
                <a:ea typeface="Calibri" pitchFamily="34" charset="-122"/>
                <a:cs typeface="Calibri" pitchFamily="34" charset="-120"/>
              </a:rPr>
              <a:t>Scaffold, if you need it:
</a:t>
            </a:r>
            <a:pPr indent="0" marL="0">
              <a:buNone/>
            </a:pPr>
            <a:r>
              <a:rPr lang="en-US" sz="1150" dirty="0">
                <a:solidFill>
                  <a:srgbClr val="1E293B"/>
                </a:solidFill>
                <a:latin typeface="Calibri" pitchFamily="34" charset="0"/>
                <a:ea typeface="Calibri" pitchFamily="34" charset="-122"/>
                <a:cs typeface="Calibri" pitchFamily="34" charset="-120"/>
              </a:rPr>
              <a:t>I think...</a:t>
            </a:r>
            <a:endParaRPr lang="en-US" sz="1300" dirty="0"/>
          </a:p>
          <a:p>
            <a:pPr indent="0" marL="0">
              <a:buNone/>
            </a:pPr>
            <a:r>
              <a:rPr lang="en-US" sz="1150" dirty="0">
                <a:solidFill>
                  <a:srgbClr val="1E293B"/>
                </a:solidFill>
                <a:latin typeface="Calibri" pitchFamily="34" charset="0"/>
                <a:ea typeface="Calibri" pitchFamily="34" charset="-122"/>
                <a:cs typeface="Calibri" pitchFamily="34" charset="-120"/>
              </a:rPr>
              <a:t>because...</a:t>
            </a:r>
            <a:endParaRPr lang="en-US" sz="1300" dirty="0"/>
          </a:p>
          <a:p>
            <a:pPr indent="0" marL="0">
              <a:buNone/>
            </a:pPr>
            <a:r>
              <a:rPr lang="en-US" sz="1150" dirty="0">
                <a:solidFill>
                  <a:srgbClr val="1E293B"/>
                </a:solidFill>
                <a:latin typeface="Calibri" pitchFamily="34" charset="0"/>
                <a:ea typeface="Calibri" pitchFamily="34" charset="-122"/>
                <a:cs typeface="Calibri" pitchFamily="34" charset="-120"/>
              </a:rPr>
              <a:t>One piece of evidence is...</a:t>
            </a:r>
            <a:endParaRPr lang="en-US" sz="1300" dirty="0"/>
          </a:p>
          <a:p>
            <a:pPr indent="0" marL="0">
              <a:buNone/>
            </a:pPr>
            <a:r>
              <a:rPr lang="en-US" sz="1150" dirty="0">
                <a:solidFill>
                  <a:srgbClr val="1E293B"/>
                </a:solidFill>
                <a:latin typeface="Calibri" pitchFamily="34" charset="0"/>
                <a:ea typeface="Calibri" pitchFamily="34" charset="-122"/>
                <a:cs typeface="Calibri" pitchFamily="34" charset="-120"/>
              </a:rPr>
              <a:t>Someone might disagree, but...</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8F8EF"/>
        </a:solidFill>
      </p:bgPr>
    </p:bg>
    <p:spTree>
      <p:nvGrpSpPr>
        <p:cNvPr id="1" name=""/>
        <p:cNvGrpSpPr/>
        <p:nvPr/>
      </p:nvGrpSpPr>
      <p:grpSpPr>
        <a:xfrm>
          <a:off x="0" y="0"/>
          <a:ext cx="0" cy="0"/>
          <a:chOff x="0" y="0"/>
          <a:chExt cx="0" cy="0"/>
        </a:xfrm>
      </p:grpSpPr>
      <p:sp>
        <p:nvSpPr>
          <p:cNvPr id="2" name="Text 0"/>
          <p:cNvSpPr/>
          <p:nvPr/>
        </p:nvSpPr>
        <p:spPr>
          <a:xfrm>
            <a:off x="3657600" y="320040"/>
            <a:ext cx="1828800" cy="548640"/>
          </a:xfrm>
          <a:prstGeom prst="rect">
            <a:avLst/>
          </a:prstGeom>
          <a:noFill/>
          <a:ln/>
        </p:spPr>
        <p:txBody>
          <a:bodyPr wrap="square" lIns="0" tIns="0" rIns="0" bIns="0" rtlCol="0" anchor="ctr"/>
          <a:lstStyle/>
          <a:p>
            <a:pPr algn="ctr" indent="0" marL="0">
              <a:buNone/>
            </a:pPr>
            <a:r>
              <a:rPr lang="en-US" sz="3600" dirty="0">
                <a:solidFill>
                  <a:srgbClr val="000000"/>
                </a:solidFill>
              </a:rPr>
              <a:t>🔍</a:t>
            </a:r>
            <a:endParaRPr lang="en-US" sz="3600" dirty="0"/>
          </a:p>
        </p:txBody>
      </p:sp>
      <p:sp>
        <p:nvSpPr>
          <p:cNvPr id="3" name="Text 1"/>
          <p:cNvSpPr/>
          <p:nvPr/>
        </p:nvSpPr>
        <p:spPr>
          <a:xfrm>
            <a:off x="914400" y="822960"/>
            <a:ext cx="7315200" cy="594360"/>
          </a:xfrm>
          <a:prstGeom prst="rect">
            <a:avLst/>
          </a:prstGeom>
          <a:noFill/>
          <a:ln/>
        </p:spPr>
        <p:txBody>
          <a:bodyPr wrap="square" lIns="0" tIns="0" rIns="0" bIns="0" rtlCol="0" anchor="ctr"/>
          <a:lstStyle/>
          <a:p>
            <a:pPr algn="ctr" indent="0" marL="0">
              <a:buNone/>
            </a:pPr>
            <a:r>
              <a:rPr lang="en-US" sz="2800" b="1" dirty="0">
                <a:solidFill>
                  <a:srgbClr val="0E1C42"/>
                </a:solidFill>
                <a:latin typeface="Calibri" pitchFamily="34" charset="0"/>
                <a:ea typeface="Calibri" pitchFamily="34" charset="-122"/>
                <a:cs typeface="Calibri" pitchFamily="34" charset="-120"/>
              </a:rPr>
              <a:t>Edit &amp; Revise</a:t>
            </a:r>
            <a:endParaRPr lang="en-US" sz="2800" dirty="0"/>
          </a:p>
        </p:txBody>
      </p:sp>
      <p:sp>
        <p:nvSpPr>
          <p:cNvPr id="4" name="Text 2"/>
          <p:cNvSpPr/>
          <p:nvPr/>
        </p:nvSpPr>
        <p:spPr>
          <a:xfrm>
            <a:off x="914400" y="1371600"/>
            <a:ext cx="7315200" cy="411480"/>
          </a:xfrm>
          <a:prstGeom prst="rect">
            <a:avLst/>
          </a:prstGeom>
          <a:noFill/>
          <a:ln/>
        </p:spPr>
        <p:txBody>
          <a:bodyPr wrap="square" lIns="0" tIns="0" rIns="0" bIns="0" rtlCol="0" anchor="ctr"/>
          <a:lstStyle/>
          <a:p>
            <a:pPr algn="ctr" indent="0" marL="0">
              <a:buNone/>
            </a:pPr>
            <a:r>
              <a:rPr lang="en-US" sz="1400" dirty="0">
                <a:solidFill>
                  <a:srgbClr val="34B76F"/>
                </a:solidFill>
                <a:latin typeface="Calibri" pitchFamily="34" charset="0"/>
                <a:ea typeface="Calibri" pitchFamily="34" charset="-122"/>
                <a:cs typeface="Calibri" pitchFamily="34" charset="-120"/>
              </a:rPr>
              <a:t>1 minute — one deliberate decision, not a full edit pass</a:t>
            </a:r>
            <a:endParaRPr lang="en-US" sz="1400" dirty="0"/>
          </a:p>
        </p:txBody>
      </p:sp>
      <p:sp>
        <p:nvSpPr>
          <p:cNvPr id="5" name="Shape 3"/>
          <p:cNvSpPr/>
          <p:nvPr/>
        </p:nvSpPr>
        <p:spPr>
          <a:xfrm>
            <a:off x="1188720" y="2011680"/>
            <a:ext cx="6766560" cy="777240"/>
          </a:xfrm>
          <a:prstGeom prst="roundRect">
            <a:avLst>
              <a:gd name="adj" fmla="val 11765"/>
            </a:avLst>
          </a:prstGeom>
          <a:solidFill>
            <a:srgbClr val="FFFFFF"/>
          </a:solidFill>
          <a:ln w="19050">
            <a:solidFill>
              <a:srgbClr val="34B76F"/>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1371600" y="2084832"/>
            <a:ext cx="6400800" cy="640080"/>
          </a:xfrm>
          <a:prstGeom prst="rect">
            <a:avLst/>
          </a:prstGeom>
          <a:noFill/>
          <a:ln/>
        </p:spPr>
        <p:txBody>
          <a:bodyPr wrap="square" lIns="0" tIns="0" rIns="0" bIns="0" rtlCol="0" anchor="ctr"/>
          <a:lstStyle/>
          <a:p>
            <a:pPr indent="0" marL="0">
              <a:buNone/>
            </a:pPr>
            <a:r>
              <a:rPr lang="en-US" sz="1300" b="1" dirty="0">
                <a:solidFill>
                  <a:srgbClr val="34B76F"/>
                </a:solidFill>
                <a:latin typeface="Calibri" pitchFamily="34" charset="0"/>
                <a:ea typeface="Calibri" pitchFamily="34" charset="-122"/>
                <a:cs typeface="Calibri" pitchFamily="34" charset="-120"/>
              </a:rPr>
              <a:t>Today's revision check: </a:t>
            </a:r>
            <a:pPr indent="0" marL="0">
              <a:buNone/>
            </a:pPr>
            <a:r>
              <a:rPr lang="en-US" sz="1300" dirty="0">
                <a:solidFill>
                  <a:srgbClr val="1E293B"/>
                </a:solidFill>
                <a:latin typeface="Calibri" pitchFamily="34" charset="0"/>
                <a:ea typeface="Calibri" pitchFamily="34" charset="-122"/>
                <a:cs typeface="Calibri" pitchFamily="34" charset="-120"/>
              </a:rPr>
              <a:t>Does this detail actually support what I'm trying to say, or is it just filler?</a:t>
            </a:r>
            <a:endParaRPr lang="en-US" sz="1300" dirty="0"/>
          </a:p>
        </p:txBody>
      </p:sp>
      <p:sp>
        <p:nvSpPr>
          <p:cNvPr id="7" name="Text 5"/>
          <p:cNvSpPr/>
          <p:nvPr/>
        </p:nvSpPr>
        <p:spPr>
          <a:xfrm>
            <a:off x="1188720" y="3017520"/>
            <a:ext cx="6766560" cy="457200"/>
          </a:xfrm>
          <a:prstGeom prst="rect">
            <a:avLst/>
          </a:prstGeom>
          <a:noFill/>
          <a:ln/>
        </p:spPr>
        <p:txBody>
          <a:bodyPr wrap="square" lIns="0" tIns="0" rIns="0" bIns="0" rtlCol="0" anchor="ctr"/>
          <a:lstStyle/>
          <a:p>
            <a:pPr algn="ctr" indent="0" marL="0">
              <a:buNone/>
            </a:pPr>
            <a:r>
              <a:rPr lang="en-US" sz="1200" i="1" dirty="0">
                <a:solidFill>
                  <a:srgbClr val="64748B"/>
                </a:solidFill>
                <a:latin typeface="Calibri" pitchFamily="34" charset="0"/>
                <a:ea typeface="Calibri" pitchFamily="34" charset="-122"/>
                <a:cs typeface="Calibri" pitchFamily="34" charset="-120"/>
              </a:rPr>
              <a:t>Revision = improving ideas. Editing = fixing conventions. Pick ONE thing.</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0" y="457200"/>
            <a:ext cx="1828800" cy="640080"/>
          </a:xfrm>
          <a:prstGeom prst="rect">
            <a:avLst/>
          </a:prstGeom>
          <a:noFill/>
          <a:ln/>
        </p:spPr>
        <p:txBody>
          <a:bodyPr wrap="square" lIns="0" tIns="0" rIns="0" bIns="0" rtlCol="0" anchor="ctr"/>
          <a:lstStyle/>
          <a:p>
            <a:pPr algn="ctr" indent="0" marL="0">
              <a:buNone/>
            </a:pPr>
            <a:r>
              <a:rPr lang="en-US" sz="4000" dirty="0">
                <a:solidFill>
                  <a:srgbClr val="000000"/>
                </a:solidFill>
              </a:rPr>
              <a:t>🗣️</a:t>
            </a:r>
            <a:endParaRPr lang="en-US" sz="4000" dirty="0"/>
          </a:p>
        </p:txBody>
      </p:sp>
      <p:sp>
        <p:nvSpPr>
          <p:cNvPr id="3" name="Text 1"/>
          <p:cNvSpPr/>
          <p:nvPr/>
        </p:nvSpPr>
        <p:spPr>
          <a:xfrm>
            <a:off x="914400" y="1005840"/>
            <a:ext cx="7315200" cy="594360"/>
          </a:xfrm>
          <a:prstGeom prst="rect">
            <a:avLst/>
          </a:prstGeom>
          <a:noFill/>
          <a:ln/>
        </p:spPr>
        <p:txBody>
          <a:bodyPr wrap="square" lIns="0" tIns="0" rIns="0" bIns="0" rtlCol="0" anchor="ctr"/>
          <a:lstStyle/>
          <a:p>
            <a:pPr algn="ctr" indent="0" marL="0">
              <a:buNone/>
            </a:pPr>
            <a:r>
              <a:rPr lang="en-US" sz="3000" b="1" dirty="0">
                <a:solidFill>
                  <a:srgbClr val="0E1C42"/>
                </a:solidFill>
                <a:latin typeface="Calibri" pitchFamily="34" charset="0"/>
                <a:ea typeface="Calibri" pitchFamily="34" charset="-122"/>
                <a:cs typeface="Calibri" pitchFamily="34" charset="-120"/>
              </a:rPr>
              <a:t>Share Time</a:t>
            </a:r>
            <a:endParaRPr lang="en-US" sz="3000" dirty="0"/>
          </a:p>
        </p:txBody>
      </p:sp>
      <p:sp>
        <p:nvSpPr>
          <p:cNvPr id="4" name="Text 2"/>
          <p:cNvSpPr/>
          <p:nvPr/>
        </p:nvSpPr>
        <p:spPr>
          <a:xfrm>
            <a:off x="914400" y="1554480"/>
            <a:ext cx="7315200" cy="411480"/>
          </a:xfrm>
          <a:prstGeom prst="rect">
            <a:avLst/>
          </a:prstGeom>
          <a:noFill/>
          <a:ln/>
        </p:spPr>
        <p:txBody>
          <a:bodyPr wrap="square" lIns="0" tIns="0" rIns="0" bIns="0" rtlCol="0" anchor="ctr"/>
          <a:lstStyle/>
          <a:p>
            <a:pPr algn="ctr" indent="0" marL="0">
              <a:buNone/>
            </a:pPr>
            <a:r>
              <a:rPr lang="en-US" sz="1500" dirty="0">
                <a:solidFill>
                  <a:srgbClr val="55C8E8"/>
                </a:solidFill>
                <a:latin typeface="Calibri" pitchFamily="34" charset="0"/>
                <a:ea typeface="Calibri" pitchFamily="34" charset="-122"/>
                <a:cs typeface="Calibri" pitchFamily="34" charset="-120"/>
              </a:rPr>
              <a:t>3 minutes — let's hear your thinking!</a:t>
            </a:r>
            <a:endParaRPr lang="en-US" sz="1500" dirty="0"/>
          </a:p>
        </p:txBody>
      </p:sp>
      <p:sp>
        <p:nvSpPr>
          <p:cNvPr id="5" name="Shape 3"/>
          <p:cNvSpPr/>
          <p:nvPr/>
        </p:nvSpPr>
        <p:spPr>
          <a:xfrm>
            <a:off x="1828800" y="2194560"/>
            <a:ext cx="5486400" cy="1371600"/>
          </a:xfrm>
          <a:prstGeom prst="roundRect">
            <a:avLst>
              <a:gd name="adj" fmla="val 8000"/>
            </a:avLst>
          </a:prstGeom>
          <a:solidFill>
            <a:srgbClr val="FFFFFF"/>
          </a:solidFill>
          <a:ln/>
          <a:effectLst>
            <a:outerShdw sx="100000" sy="100000" kx="0" ky="0" algn="bl" rotWithShape="0" blurRad="101600" dist="38100" dir="2700000">
              <a:srgbClr val="000000">
                <a:alpha val="12000"/>
              </a:srgbClr>
            </a:outerShdw>
          </a:effectLst>
        </p:spPr>
      </p:sp>
      <p:sp>
        <p:nvSpPr>
          <p:cNvPr id="6" name="Text 4"/>
          <p:cNvSpPr/>
          <p:nvPr/>
        </p:nvSpPr>
        <p:spPr>
          <a:xfrm>
            <a:off x="2011680" y="2286000"/>
            <a:ext cx="5120640" cy="1188720"/>
          </a:xfrm>
          <a:prstGeom prst="rect">
            <a:avLst/>
          </a:prstGeom>
          <a:noFill/>
          <a:ln/>
        </p:spPr>
        <p:txBody>
          <a:bodyPr wrap="square" lIns="0" tIns="0" rIns="0" bIns="0" rtlCol="0" anchor="t"/>
          <a:lstStyle/>
          <a:p>
            <a:pPr indent="0" marL="0">
              <a:buNone/>
            </a:pPr>
            <a:r>
              <a:rPr lang="en-US" sz="1300" b="1" dirty="0">
                <a:solidFill>
                  <a:srgbClr val="0E1C42"/>
                </a:solidFill>
                <a:latin typeface="Calibri" pitchFamily="34" charset="0"/>
                <a:ea typeface="Calibri" pitchFamily="34" charset="-122"/>
                <a:cs typeface="Calibri" pitchFamily="34" charset="-120"/>
              </a:rPr>
              <a:t>Raise your hand </a:t>
            </a:r>
            <a:pPr indent="0" marL="0">
              <a:buNone/>
            </a:pPr>
            <a:r>
              <a:rPr lang="en-US" sz="1300" dirty="0">
                <a:solidFill>
                  <a:srgbClr val="1E293B"/>
                </a:solidFill>
                <a:latin typeface="Calibri" pitchFamily="34" charset="0"/>
                <a:ea typeface="Calibri" pitchFamily="34" charset="-122"/>
                <a:cs typeface="Calibri" pitchFamily="34" charset="-120"/>
              </a:rPr>
              <a:t>to share, or paste your writing in the chat.
</a:t>
            </a:r>
            <a:pPr indent="0" marL="0">
              <a:buNone/>
            </a:pPr>
            <a:r>
              <a:rPr lang="en-US" sz="1200" i="1" dirty="0">
                <a:solidFill>
                  <a:srgbClr val="64748B"/>
                </a:solidFill>
                <a:latin typeface="Calibri" pitchFamily="34" charset="0"/>
                <a:ea typeface="Calibri" pitchFamily="34" charset="-122"/>
                <a:cs typeface="Calibri" pitchFamily="34" charset="-120"/>
              </a:rPr>
              <a:t>If you disagree with a classmate's choice, say so respectfully — that's part of the thinking.</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Vocabulary — Choice Menu</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Show What You Know — your way</a:t>
            </a:r>
            <a:endParaRPr lang="en-US" sz="1100" dirty="0"/>
          </a:p>
        </p:txBody>
      </p:sp>
      <p:sp>
        <p:nvSpPr>
          <p:cNvPr id="5" name="Shape 3"/>
          <p:cNvSpPr/>
          <p:nvPr/>
        </p:nvSpPr>
        <p:spPr>
          <a:xfrm>
            <a:off x="365760" y="1097280"/>
            <a:ext cx="8412480" cy="502920"/>
          </a:xfrm>
          <a:prstGeom prst="roundRect">
            <a:avLst>
              <a:gd name="adj" fmla="val 18182"/>
            </a:avLst>
          </a:prstGeom>
          <a:solidFill>
            <a:srgbClr val="E5F7FC"/>
          </a:solidFill>
          <a:ln/>
          <a:effectLst>
            <a:outerShdw sx="100000" sy="100000" kx="0" ky="0" algn="bl" rotWithShape="0" blurRad="101600" dist="38100" dir="2700000">
              <a:srgbClr val="000000">
                <a:alpha val="12000"/>
              </a:srgbClr>
            </a:outerShdw>
          </a:effectLst>
        </p:spPr>
      </p:sp>
      <p:sp>
        <p:nvSpPr>
          <p:cNvPr id="6" name="Text 4"/>
          <p:cNvSpPr/>
          <p:nvPr/>
        </p:nvSpPr>
        <p:spPr>
          <a:xfrm>
            <a:off x="548640" y="1143000"/>
            <a:ext cx="8046720" cy="411480"/>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  Option A: ✍️ Write a Scene — Write a 4–6 sentence scene where Nat uses three of this week’s words in context. Underline each vocabulary word.</a:t>
            </a:r>
            <a:endParaRPr lang="en-US" sz="1050" dirty="0"/>
          </a:p>
        </p:txBody>
      </p:sp>
      <p:sp>
        <p:nvSpPr>
          <p:cNvPr id="7" name="Shape 5"/>
          <p:cNvSpPr/>
          <p:nvPr/>
        </p:nvSpPr>
        <p:spPr>
          <a:xfrm>
            <a:off x="365760" y="1655064"/>
            <a:ext cx="8412480" cy="502920"/>
          </a:xfrm>
          <a:prstGeom prst="roundRect">
            <a:avLst>
              <a:gd name="adj" fmla="val 18182"/>
            </a:avLst>
          </a:prstGeom>
          <a:solidFill>
            <a:srgbClr val="EAF6FA"/>
          </a:solidFill>
          <a:ln/>
          <a:effectLst>
            <a:outerShdw sx="100000" sy="100000" kx="0" ky="0" algn="bl" rotWithShape="0" blurRad="101600" dist="38100" dir="2700000">
              <a:srgbClr val="000000">
                <a:alpha val="12000"/>
              </a:srgbClr>
            </a:outerShdw>
          </a:effectLst>
        </p:spPr>
      </p:sp>
      <p:sp>
        <p:nvSpPr>
          <p:cNvPr id="8" name="Text 6"/>
          <p:cNvSpPr/>
          <p:nvPr/>
        </p:nvSpPr>
        <p:spPr>
          <a:xfrm>
            <a:off x="548640" y="1700784"/>
            <a:ext cx="8046720" cy="411480"/>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  Option B: 📊 Two-Column Chart — For four words, write: the word · its definition in your own words · one specific way Nat encounters it. Use a chart format.</a:t>
            </a:r>
            <a:endParaRPr lang="en-US" sz="1050" dirty="0"/>
          </a:p>
        </p:txBody>
      </p:sp>
      <p:sp>
        <p:nvSpPr>
          <p:cNvPr id="9" name="Shape 7"/>
          <p:cNvSpPr/>
          <p:nvPr/>
        </p:nvSpPr>
        <p:spPr>
          <a:xfrm>
            <a:off x="365760" y="2212848"/>
            <a:ext cx="8412480" cy="502920"/>
          </a:xfrm>
          <a:prstGeom prst="roundRect">
            <a:avLst>
              <a:gd name="adj" fmla="val 18182"/>
            </a:avLst>
          </a:prstGeom>
          <a:solidFill>
            <a:srgbClr val="E5F7FC"/>
          </a:solidFill>
          <a:ln/>
          <a:effectLst>
            <a:outerShdw sx="100000" sy="100000" kx="0" ky="0" algn="bl" rotWithShape="0" blurRad="101600" dist="38100" dir="2700000">
              <a:srgbClr val="000000">
                <a:alpha val="12000"/>
              </a:srgbClr>
            </a:outerShdw>
          </a:effectLst>
        </p:spPr>
      </p:sp>
      <p:sp>
        <p:nvSpPr>
          <p:cNvPr id="10" name="Text 8"/>
          <p:cNvSpPr/>
          <p:nvPr/>
        </p:nvSpPr>
        <p:spPr>
          <a:xfrm>
            <a:off x="548640" y="2258568"/>
            <a:ext cx="8046720" cy="411480"/>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  Option C: 🧠 Explain It — Choose two words and explain them as if teaching a younger student. What does each word mean? Why does it matter in Nat’s story?</a:t>
            </a:r>
            <a:endParaRPr lang="en-US" sz="1050" dirty="0"/>
          </a:p>
        </p:txBody>
      </p:sp>
      <p:sp>
        <p:nvSpPr>
          <p:cNvPr id="11" name="Shape 9"/>
          <p:cNvSpPr/>
          <p:nvPr/>
        </p:nvSpPr>
        <p:spPr>
          <a:xfrm>
            <a:off x="365760" y="2770632"/>
            <a:ext cx="8412480" cy="502920"/>
          </a:xfrm>
          <a:prstGeom prst="roundRect">
            <a:avLst>
              <a:gd name="adj" fmla="val 18182"/>
            </a:avLst>
          </a:prstGeom>
          <a:solidFill>
            <a:srgbClr val="EAF6FA"/>
          </a:solidFill>
          <a:ln/>
          <a:effectLst>
            <a:outerShdw sx="100000" sy="100000" kx="0" ky="0" algn="bl" rotWithShape="0" blurRad="101600" dist="38100" dir="2700000">
              <a:srgbClr val="000000">
                <a:alpha val="12000"/>
              </a:srgbClr>
            </a:outerShdw>
          </a:effectLst>
        </p:spPr>
      </p:sp>
      <p:sp>
        <p:nvSpPr>
          <p:cNvPr id="12" name="Text 10"/>
          <p:cNvSpPr/>
          <p:nvPr/>
        </p:nvSpPr>
        <p:spPr>
          <a:xfrm>
            <a:off x="548640" y="2816352"/>
            <a:ext cx="8046720" cy="411480"/>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  Option D: 📝 Connections — Choose three words and explain how they are connected to each other. How do logarithm, celestial, and almanac (for example) work together in Nat’s world?</a:t>
            </a:r>
            <a:endParaRPr lang="en-US" sz="1050" dirty="0"/>
          </a:p>
        </p:txBody>
      </p:sp>
      <p:sp>
        <p:nvSpPr>
          <p:cNvPr id="13" name="Shape 11"/>
          <p:cNvSpPr/>
          <p:nvPr/>
        </p:nvSpPr>
        <p:spPr>
          <a:xfrm>
            <a:off x="365760" y="3374136"/>
            <a:ext cx="8412480" cy="640080"/>
          </a:xfrm>
          <a:prstGeom prst="roundRect">
            <a:avLst>
              <a:gd name="adj" fmla="val 14286"/>
            </a:avLst>
          </a:prstGeom>
          <a:solidFill>
            <a:srgbClr val="FEF6E8"/>
          </a:solidFill>
          <a:ln w="12700">
            <a:solidFill>
              <a:srgbClr val="C7922C"/>
            </a:solidFill>
            <a:prstDash val="solid"/>
          </a:ln>
        </p:spPr>
      </p:sp>
      <p:sp>
        <p:nvSpPr>
          <p:cNvPr id="14" name="Text 12"/>
          <p:cNvSpPr/>
          <p:nvPr/>
        </p:nvSpPr>
        <p:spPr>
          <a:xfrm>
            <a:off x="548640" y="3419856"/>
            <a:ext cx="8046720" cy="548640"/>
          </a:xfrm>
          <a:prstGeom prst="rect">
            <a:avLst/>
          </a:prstGeom>
          <a:noFill/>
          <a:ln/>
        </p:spPr>
        <p:txBody>
          <a:bodyPr wrap="square" lIns="0" tIns="0" rIns="0" bIns="0" rtlCol="0" anchor="t"/>
          <a:lstStyle/>
          <a:p>
            <a:pPr indent="0" marL="0">
              <a:buNone/>
            </a:pPr>
            <a:r>
              <a:rPr lang="en-US" sz="1000" b="1" dirty="0">
                <a:solidFill>
                  <a:srgbClr val="C7922C"/>
                </a:solidFill>
                <a:latin typeface="Calibri" pitchFamily="34" charset="0"/>
                <a:ea typeface="Calibri" pitchFamily="34" charset="-122"/>
                <a:cs typeface="Calibri" pitchFamily="34" charset="-120"/>
              </a:rPr>
              <a:t>🫖 Show What You Know · Vocabulary
</a:t>
            </a:r>
            <a:pPr indent="0" marL="0">
              <a:buNone/>
            </a:pPr>
            <a:r>
              <a:rPr lang="en-US" sz="1000" i="1" dirty="0">
                <a:solidFill>
                  <a:srgbClr val="1E293B"/>
                </a:solidFill>
                <a:latin typeface="Calibri" pitchFamily="34" charset="0"/>
                <a:ea typeface="Calibri" pitchFamily="34" charset="-122"/>
                <a:cs typeface="Calibri" pitchFamily="34" charset="-120"/>
              </a:rPr>
              <a:t>Complete your chosen activity above in the box below. Use this week’s words: apprentice · bookkeeping · almanac · latitude · logarithm · celestial</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Grammar — ✏️ Grammar: Explain Consistent Tense</a:t>
            </a:r>
            <a:endParaRPr lang="en-US" sz="2600" dirty="0"/>
          </a:p>
        </p:txBody>
      </p:sp>
      <p:sp>
        <p:nvSpPr>
          <p:cNvPr id="3" name="Shape 1"/>
          <p:cNvSpPr/>
          <p:nvPr/>
        </p:nvSpPr>
        <p:spPr>
          <a:xfrm>
            <a:off x="365760" y="749808"/>
            <a:ext cx="8412480" cy="0"/>
          </a:xfrm>
          <a:prstGeom prst="line">
            <a:avLst/>
          </a:prstGeom>
          <a:noFill/>
          <a:ln w="19050">
            <a:solidFill>
              <a:srgbClr val="C7922C"/>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Explain — why does consistent tense matter?</a:t>
            </a:r>
            <a:endParaRPr lang="en-US" sz="1100" dirty="0"/>
          </a:p>
        </p:txBody>
      </p:sp>
      <p:sp>
        <p:nvSpPr>
          <p:cNvPr id="5" name="Text 3"/>
          <p:cNvSpPr/>
          <p:nvPr/>
        </p:nvSpPr>
        <p:spPr>
          <a:xfrm>
            <a:off x="365760" y="109728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 REFLECT IN YOUR READING JOURNAL</a:t>
            </a:r>
            <a:endParaRPr lang="en-US" sz="1100" dirty="0"/>
          </a:p>
        </p:txBody>
      </p:sp>
      <p:sp>
        <p:nvSpPr>
          <p:cNvPr id="6" name="Shape 4"/>
          <p:cNvSpPr/>
          <p:nvPr/>
        </p:nvSpPr>
        <p:spPr>
          <a:xfrm>
            <a:off x="365760" y="1371600"/>
            <a:ext cx="8412480" cy="1463040"/>
          </a:xfrm>
          <a:prstGeom prst="roundRect">
            <a:avLst>
              <a:gd name="adj" fmla="val 6250"/>
            </a:avLst>
          </a:prstGeom>
          <a:solidFill>
            <a:srgbClr val="F0E8FF"/>
          </a:solidFill>
          <a:ln/>
          <a:effectLst>
            <a:outerShdw sx="100000" sy="100000" kx="0" ky="0" algn="bl" rotWithShape="0" blurRad="101600" dist="38100" dir="2700000">
              <a:srgbClr val="000000">
                <a:alpha val="12000"/>
              </a:srgbClr>
            </a:outerShdw>
          </a:effectLst>
        </p:spPr>
      </p:sp>
      <p:sp>
        <p:nvSpPr>
          <p:cNvPr id="7" name="Text 5"/>
          <p:cNvSpPr/>
          <p:nvPr/>
        </p:nvSpPr>
        <p:spPr>
          <a:xfrm>
            <a:off x="548640" y="1463040"/>
            <a:ext cx="8046720" cy="1280160"/>
          </a:xfrm>
          <a:prstGeom prst="rect">
            <a:avLst/>
          </a:prstGeom>
          <a:noFill/>
          <a:ln/>
        </p:spPr>
        <p:txBody>
          <a:bodyPr wrap="square" lIns="0" tIns="0" rIns="0" bIns="0" rtlCol="0" anchor="t"/>
          <a:lstStyle/>
          <a:p>
            <a:pPr indent="0" marL="0">
              <a:buNone/>
            </a:pPr>
            <a:r>
              <a:rPr lang="en-US" sz="1250" i="1" dirty="0">
                <a:solidFill>
                  <a:srgbClr val="1E293B"/>
                </a:solidFill>
                <a:latin typeface="Calibri" pitchFamily="34" charset="0"/>
                <a:ea typeface="Calibri" pitchFamily="34" charset="-122"/>
                <a:cs typeface="Calibri" pitchFamily="34" charset="-120"/>
              </a:rPr>
              <a:t>Imagine a younger student says: “Why does it matter what tense I use, as long as I tell the story?” Write a 3–4 sentence explanation using one example from this week’s novel sentences. Your explanation should be in your own words — not just a definition.</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Spelling — 🔤 Spelling: Explain the Patterns</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6492240" y="173736"/>
            <a:ext cx="2286000" cy="502920"/>
          </a:xfrm>
          <a:prstGeom prst="roundRect">
            <a:avLst>
              <a:gd name="adj" fmla="val 21818"/>
            </a:avLst>
          </a:prstGeom>
          <a:solidFill>
            <a:srgbClr val="55C8E8"/>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0E1C42"/>
                </a:solidFill>
                <a:latin typeface="Calibri" pitchFamily="34" charset="0"/>
                <a:ea typeface="Calibri" pitchFamily="34" charset="-122"/>
                <a:cs typeface="Calibri" pitchFamily="34" charset="-120"/>
              </a:rPr>
              <a:t>Explain — teach VCV and VCCV to a classmate</a:t>
            </a:r>
            <a:endParaRPr lang="en-US" sz="1100" dirty="0"/>
          </a:p>
        </p:txBody>
      </p:sp>
      <p:sp>
        <p:nvSpPr>
          <p:cNvPr id="7" name="Shape 5"/>
          <p:cNvSpPr/>
          <p:nvPr/>
        </p:nvSpPr>
        <p:spPr>
          <a:xfrm>
            <a:off x="365760" y="1143000"/>
            <a:ext cx="8412480" cy="777240"/>
          </a:xfrm>
          <a:prstGeom prst="roundRect">
            <a:avLst>
              <a:gd name="adj" fmla="val 11765"/>
            </a:avLst>
          </a:prstGeom>
          <a:solidFill>
            <a:srgbClr val="F8FAFC"/>
          </a:solidFill>
          <a:ln/>
          <a:effectLst>
            <a:outerShdw sx="100000" sy="100000" kx="0" ky="0" algn="bl" rotWithShape="0" blurRad="101600" dist="38100" dir="2700000">
              <a:srgbClr val="000000">
                <a:alpha val="12000"/>
              </a:srgbClr>
            </a:outerShdw>
          </a:effectLst>
        </p:spPr>
      </p:sp>
      <p:sp>
        <p:nvSpPr>
          <p:cNvPr id="8" name="Text 6"/>
          <p:cNvSpPr/>
          <p:nvPr/>
        </p:nvSpPr>
        <p:spPr>
          <a:xfrm>
            <a:off x="548640" y="1207008"/>
            <a:ext cx="8046720" cy="649224"/>
          </a:xfrm>
          <a:prstGeom prst="rect">
            <a:avLst/>
          </a:prstGeom>
          <a:noFill/>
          <a:ln/>
        </p:spPr>
        <p:txBody>
          <a:bodyPr wrap="square" lIns="0" tIns="0" rIns="0" bIns="0" rtlCol="0" anchor="ctr"/>
          <a:lstStyle/>
          <a:p>
            <a:pPr indent="0" marL="0">
              <a:buNone/>
            </a:pPr>
            <a:r>
              <a:rPr lang="en-US" sz="1150" b="1" dirty="0">
                <a:solidFill>
                  <a:srgbClr val="0E1C42"/>
                </a:solidFill>
                <a:latin typeface="Calibri" pitchFamily="34" charset="0"/>
                <a:ea typeface="Calibri" pitchFamily="34" charset="-122"/>
                <a:cs typeface="Calibri" pitchFamily="34" charset="-120"/>
              </a:rPr>
              <a:t>✏️ In Your Reading Journal
</a:t>
            </a:r>
            <a:pPr indent="0" marL="0">
              <a:buNone/>
            </a:pPr>
            <a:r>
              <a:rPr lang="en-US" sz="1100" dirty="0">
                <a:solidFill>
                  <a:srgbClr val="1E293B"/>
                </a:solidFill>
                <a:latin typeface="Calibri" pitchFamily="34" charset="0"/>
                <a:ea typeface="Calibri" pitchFamily="34" charset="-122"/>
                <a:cs typeface="Calibri" pitchFamily="34" charset="-120"/>
              </a:rPr>
              <a:t>Write a quick teaching guide for a friend: explain the VCV and VCCV patterns in your own words. Give one example of each pattern using a word you choose yourself (not one from this week’s word list). Show the syllable break with dots.</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Reading Focus + Story Journey</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6492240" y="173736"/>
            <a:ext cx="2286000" cy="502920"/>
          </a:xfrm>
          <a:prstGeom prst="roundRect">
            <a:avLst>
              <a:gd name="adj" fmla="val 21818"/>
            </a:avLst>
          </a:prstGeom>
          <a:solidFill>
            <a:srgbClr val="55C8E8"/>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YOUR STORY JOURNEY</a:t>
            </a:r>
            <a:endParaRPr lang="en-US" sz="1100" dirty="0"/>
          </a:p>
        </p:txBody>
      </p:sp>
      <p:sp>
        <p:nvSpPr>
          <p:cNvPr id="7" name="Shape 5"/>
          <p:cNvSpPr/>
          <p:nvPr/>
        </p:nvSpPr>
        <p:spPr>
          <a:xfrm>
            <a:off x="365760" y="1078992"/>
            <a:ext cx="8412480" cy="777240"/>
          </a:xfrm>
          <a:prstGeom prst="roundRect">
            <a:avLst>
              <a:gd name="adj" fmla="val 11765"/>
            </a:avLst>
          </a:prstGeom>
          <a:solidFill>
            <a:srgbClr val="F8FAFC"/>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170432"/>
            <a:ext cx="7955280" cy="594360"/>
          </a:xfrm>
          <a:prstGeom prst="rect">
            <a:avLst/>
          </a:prstGeom>
          <a:noFill/>
          <a:ln/>
        </p:spPr>
        <p:txBody>
          <a:bodyPr wrap="square" lIns="0" tIns="0" rIns="0" bIns="0" rtlCol="0" anchor="ctr"/>
          <a:lstStyle/>
          <a:p>
            <a:pPr indent="0" marL="0">
              <a:buNone/>
            </a:pPr>
            <a:r>
              <a:rPr lang="en-US" sz="1250" b="1" dirty="0">
                <a:solidFill>
                  <a:srgbClr val="1E293B"/>
                </a:solidFill>
                <a:latin typeface="Calibri" pitchFamily="34" charset="0"/>
                <a:ea typeface="Calibri" pitchFamily="34" charset="-122"/>
                <a:cs typeface="Calibri" pitchFamily="34" charset="-120"/>
              </a:rPr>
              <a:t>Nat’s Path Through Carry On, Mr. Bowditch — 📍 You are here: Chapter 8 — Lock, Stock, and Bookkeeper</a:t>
            </a:r>
            <a:endParaRPr lang="en-US" sz="1250" dirty="0"/>
          </a:p>
        </p:txBody>
      </p:sp>
      <p:sp>
        <p:nvSpPr>
          <p:cNvPr id="9" name="Text 7"/>
          <p:cNvSpPr/>
          <p:nvPr/>
        </p:nvSpPr>
        <p:spPr>
          <a:xfrm>
            <a:off x="365760" y="1975104"/>
            <a:ext cx="8046720" cy="292608"/>
          </a:xfrm>
          <a:prstGeom prst="rect">
            <a:avLst/>
          </a:prstGeom>
          <a:noFill/>
          <a:ln/>
        </p:spPr>
        <p:txBody>
          <a:bodyPr wrap="square" lIns="0" tIns="0" rIns="0" bIns="0" rtlCol="0" anchor="ctr"/>
          <a:lstStyle/>
          <a:p>
            <a:pPr indent="0" marL="0">
              <a:buNone/>
            </a:pPr>
            <a:r>
              <a:rPr lang="en-US" sz="1100" b="1" spc="200" kern="0" dirty="0">
                <a:solidFill>
                  <a:srgbClr val="55C8E8"/>
                </a:solidFill>
                <a:latin typeface="Calibri" pitchFamily="34" charset="0"/>
                <a:ea typeface="Calibri" pitchFamily="34" charset="-122"/>
                <a:cs typeface="Calibri" pitchFamily="34" charset="-120"/>
              </a:rPr>
              <a:t>TODAY YOU ARE READING</a:t>
            </a:r>
            <a:endParaRPr lang="en-US" sz="1100" dirty="0"/>
          </a:p>
        </p:txBody>
      </p:sp>
      <p:sp>
        <p:nvSpPr>
          <p:cNvPr id="10" name="Shape 8"/>
          <p:cNvSpPr/>
          <p:nvPr/>
        </p:nvSpPr>
        <p:spPr>
          <a:xfrm>
            <a:off x="365760" y="2231136"/>
            <a:ext cx="8412480" cy="640080"/>
          </a:xfrm>
          <a:prstGeom prst="roundRect">
            <a:avLst>
              <a:gd name="adj" fmla="val 14286"/>
            </a:avLst>
          </a:prstGeom>
          <a:solidFill>
            <a:srgbClr val="FEF6E8"/>
          </a:solidFill>
          <a:ln/>
          <a:effectLst>
            <a:outerShdw sx="100000" sy="100000" kx="0" ky="0" algn="bl" rotWithShape="0" blurRad="101600" dist="38100" dir="2700000">
              <a:srgbClr val="000000">
                <a:alpha val="12000"/>
              </a:srgbClr>
            </a:outerShdw>
          </a:effectLst>
        </p:spPr>
      </p:sp>
      <p:sp>
        <p:nvSpPr>
          <p:cNvPr id="11" name="Text 9"/>
          <p:cNvSpPr/>
          <p:nvPr/>
        </p:nvSpPr>
        <p:spPr>
          <a:xfrm>
            <a:off x="594360" y="2304288"/>
            <a:ext cx="7955280" cy="493776"/>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Chapter 8 — Lock, Stock, and Bookkeeper</a:t>
            </a:r>
            <a:endParaRPr lang="en-US" sz="1500" dirty="0"/>
          </a:p>
        </p:txBody>
      </p:sp>
      <p:sp>
        <p:nvSpPr>
          <p:cNvPr id="12" name="Text 10"/>
          <p:cNvSpPr/>
          <p:nvPr/>
        </p:nvSpPr>
        <p:spPr>
          <a:xfrm>
            <a:off x="365760" y="2999232"/>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 KEEP YOUR READING LENS IN MIND</a:t>
            </a:r>
            <a:endParaRPr lang="en-US" sz="1100" dirty="0"/>
          </a:p>
        </p:txBody>
      </p:sp>
      <p:sp>
        <p:nvSpPr>
          <p:cNvPr id="13" name="Shape 11"/>
          <p:cNvSpPr/>
          <p:nvPr/>
        </p:nvSpPr>
        <p:spPr>
          <a:xfrm>
            <a:off x="365760" y="3255264"/>
            <a:ext cx="8412480" cy="1280160"/>
          </a:xfrm>
          <a:prstGeom prst="roundRect">
            <a:avLst>
              <a:gd name="adj" fmla="val 7143"/>
            </a:avLst>
          </a:prstGeom>
          <a:solidFill>
            <a:srgbClr val="F0E8FF"/>
          </a:solidFill>
          <a:ln/>
          <a:effectLst>
            <a:outerShdw sx="100000" sy="100000" kx="0" ky="0" algn="bl" rotWithShape="0" blurRad="101600" dist="38100" dir="2700000">
              <a:srgbClr val="000000">
                <a:alpha val="12000"/>
              </a:srgbClr>
            </a:outerShdw>
          </a:effectLst>
        </p:spPr>
      </p:sp>
      <p:sp>
        <p:nvSpPr>
          <p:cNvPr id="14" name="Text 12"/>
          <p:cNvSpPr/>
          <p:nvPr/>
        </p:nvSpPr>
        <p:spPr>
          <a:xfrm>
            <a:off x="594360" y="3346704"/>
            <a:ext cx="7955280" cy="1097280"/>
          </a:xfrm>
          <a:prstGeom prst="rect">
            <a:avLst/>
          </a:prstGeom>
          <a:noFill/>
          <a:ln/>
        </p:spPr>
        <p:txBody>
          <a:bodyPr wrap="square" lIns="0" tIns="0" rIns="0" bIns="0" rtlCol="0" anchor="t"/>
          <a:lstStyle/>
          <a:p>
            <a:pPr indent="0" marL="0">
              <a:buNone/>
            </a:pPr>
            <a:r>
              <a:rPr lang="en-US" sz="1200" i="1" dirty="0">
                <a:solidFill>
                  <a:srgbClr val="1E293B"/>
                </a:solidFill>
                <a:latin typeface="Calibri" pitchFamily="34" charset="0"/>
                <a:ea typeface="Calibri" pitchFamily="34" charset="-122"/>
                <a:cs typeface="Calibri" pitchFamily="34" charset="-120"/>
              </a:rPr>
              <a:t>At the start of Chapter 5, Nat’s whistle dies on the street. By Chapter 7, he is finding errors that no one else sees. What has changed — in Nat’s circumstances? In his mindset? In what Latham is showing us about who he is?</a:t>
            </a:r>
            <a:endParaRPr lang="en-US" sz="1200" dirty="0"/>
          </a:p>
          <a:p>
            <a:pPr indent="0" marL="0">
              <a:buNone/>
            </a:pPr>
            <a:endParaRPr lang="en-US" sz="1200" dirty="0"/>
          </a:p>
          <a:p>
            <a:pPr indent="0" marL="0">
              <a:buNone/>
            </a:pPr>
            <a:r>
              <a:rPr lang="en-US" sz="1200" i="1" dirty="0">
                <a:solidFill>
                  <a:srgbClr val="1E293B"/>
                </a:solidFill>
                <a:latin typeface="Calibri" pitchFamily="34" charset="0"/>
                <a:ea typeface="Calibri" pitchFamily="34" charset="-122"/>
                <a:cs typeface="Calibri" pitchFamily="34" charset="-120"/>
              </a:rPr>
              <a:t>As you read Chapter 8, pay attention to how Nat relates to the sailors he works with. What does he begin to do that no one asked him to do?</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Comprehension Questions — Preview</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WHAT YOU'LL ANSWER (PART A)</a:t>
            </a:r>
            <a:endParaRPr lang="en-US" sz="1100" dirty="0"/>
          </a:p>
        </p:txBody>
      </p:sp>
      <p:sp>
        <p:nvSpPr>
          <p:cNvPr id="5" name="Shape 3"/>
          <p:cNvSpPr/>
          <p:nvPr/>
        </p:nvSpPr>
        <p:spPr>
          <a:xfrm>
            <a:off x="365760" y="1097280"/>
            <a:ext cx="8412480" cy="914400"/>
          </a:xfrm>
          <a:prstGeom prst="roundRect">
            <a:avLst>
              <a:gd name="adj" fmla="val 10000"/>
            </a:avLst>
          </a:prstGeom>
          <a:solidFill>
            <a:srgbClr val="F8FAFC"/>
          </a:solidFill>
          <a:ln/>
          <a:effectLst>
            <a:outerShdw sx="100000" sy="100000" kx="0" ky="0" algn="bl" rotWithShape="0" blurRad="101600" dist="38100" dir="2700000">
              <a:srgbClr val="000000">
                <a:alpha val="12000"/>
              </a:srgbClr>
            </a:outerShdw>
          </a:effectLst>
        </p:spPr>
      </p:sp>
      <p:sp>
        <p:nvSpPr>
          <p:cNvPr id="6" name="Text 4"/>
          <p:cNvSpPr/>
          <p:nvPr/>
        </p:nvSpPr>
        <p:spPr>
          <a:xfrm>
            <a:off x="548640" y="1170432"/>
            <a:ext cx="8046720" cy="768096"/>
          </a:xfrm>
          <a:prstGeom prst="rect">
            <a:avLst/>
          </a:prstGeom>
          <a:noFill/>
          <a:ln/>
        </p:spPr>
        <p:txBody>
          <a:bodyPr wrap="square" lIns="0" tIns="0" rIns="0" bIns="0" rtlCol="0" anchor="ctr"/>
          <a:lstStyle/>
          <a:p>
            <a:pPr indent="0" marL="0">
              <a:buNone/>
            </a:pPr>
            <a:r>
              <a:rPr lang="en-US" sz="1300" b="1" dirty="0">
                <a:solidFill>
                  <a:srgbClr val="55C8E8"/>
                </a:solidFill>
                <a:latin typeface="Calibri" pitchFamily="34" charset="0"/>
                <a:ea typeface="Calibri" pitchFamily="34" charset="-122"/>
                <a:cs typeface="Calibri" pitchFamily="34" charset="-120"/>
              </a:rPr>
              <a:t>1.  </a:t>
            </a:r>
            <a:pPr indent="0" marL="0">
              <a:buNone/>
            </a:pPr>
            <a:r>
              <a:rPr lang="en-US" sz="1150" dirty="0">
                <a:solidFill>
                  <a:srgbClr val="1E293B"/>
                </a:solidFill>
                <a:latin typeface="Calibri" pitchFamily="34" charset="0"/>
                <a:ea typeface="Calibri" pitchFamily="34" charset="-122"/>
                <a:cs typeface="Calibri" pitchFamily="34" charset="-120"/>
              </a:rPr>
              <a:t>In Chapter 8, Nat begins teaching the sailors how to use logarithms and navigation calculations. Nobody asked him to do this. Why does he do it? What does this tell you about what Nat values — beyond his own advancement?</a:t>
            </a:r>
            <a:endParaRPr lang="en-US" sz="1300" dirty="0"/>
          </a:p>
        </p:txBody>
      </p:sp>
      <p:sp>
        <p:nvSpPr>
          <p:cNvPr id="7" name="Shape 5"/>
          <p:cNvSpPr/>
          <p:nvPr/>
        </p:nvSpPr>
        <p:spPr>
          <a:xfrm>
            <a:off x="365760" y="2084832"/>
            <a:ext cx="8412480" cy="914400"/>
          </a:xfrm>
          <a:prstGeom prst="roundRect">
            <a:avLst>
              <a:gd name="adj" fmla="val 10000"/>
            </a:avLst>
          </a:prstGeom>
          <a:solidFill>
            <a:srgbClr val="F4F7FC"/>
          </a:solidFill>
          <a:ln/>
          <a:effectLst>
            <a:outerShdw sx="100000" sy="100000" kx="0" ky="0" algn="bl" rotWithShape="0" blurRad="101600" dist="38100" dir="2700000">
              <a:srgbClr val="000000">
                <a:alpha val="12000"/>
              </a:srgbClr>
            </a:outerShdw>
          </a:effectLst>
        </p:spPr>
      </p:sp>
      <p:sp>
        <p:nvSpPr>
          <p:cNvPr id="8" name="Text 6"/>
          <p:cNvSpPr/>
          <p:nvPr/>
        </p:nvSpPr>
        <p:spPr>
          <a:xfrm>
            <a:off x="548640" y="2157984"/>
            <a:ext cx="8046720" cy="768096"/>
          </a:xfrm>
          <a:prstGeom prst="rect">
            <a:avLst/>
          </a:prstGeom>
          <a:noFill/>
          <a:ln/>
        </p:spPr>
        <p:txBody>
          <a:bodyPr wrap="square" lIns="0" tIns="0" rIns="0" bIns="0" rtlCol="0" anchor="ctr"/>
          <a:lstStyle/>
          <a:p>
            <a:pPr indent="0" marL="0">
              <a:buNone/>
            </a:pPr>
            <a:r>
              <a:rPr lang="en-US" sz="1300" b="1" dirty="0">
                <a:solidFill>
                  <a:srgbClr val="55C8E8"/>
                </a:solidFill>
                <a:latin typeface="Calibri" pitchFamily="34" charset="0"/>
                <a:ea typeface="Calibri" pitchFamily="34" charset="-122"/>
                <a:cs typeface="Calibri" pitchFamily="34" charset="-120"/>
              </a:rPr>
              <a:t>2.  </a:t>
            </a:r>
            <a:pPr indent="0" marL="0">
              <a:buNone/>
            </a:pPr>
            <a:r>
              <a:rPr lang="en-US" sz="1150" dirty="0">
                <a:solidFill>
                  <a:srgbClr val="1E293B"/>
                </a:solidFill>
                <a:latin typeface="Calibri" pitchFamily="34" charset="0"/>
                <a:ea typeface="Calibri" pitchFamily="34" charset="-122"/>
                <a:cs typeface="Calibri" pitchFamily="34" charset="-120"/>
              </a:rPr>
              <a:t>Nat’s mother told him: “I will lift up my eyes unto the stars. Sometimes, if you look at the stars long enough, it helps.” Across Chapters 5–8, in what ways has Nat “looked at the stars” — literally or as a metaphor for lifting his eyes above his immediate circumstances?</a:t>
            </a:r>
            <a:endParaRPr lang="en-US" sz="1300" dirty="0"/>
          </a:p>
        </p:txBody>
      </p:sp>
      <p:sp>
        <p:nvSpPr>
          <p:cNvPr id="9" name="Shape 7"/>
          <p:cNvSpPr/>
          <p:nvPr/>
        </p:nvSpPr>
        <p:spPr>
          <a:xfrm>
            <a:off x="365760" y="3072384"/>
            <a:ext cx="8412480" cy="914400"/>
          </a:xfrm>
          <a:prstGeom prst="roundRect">
            <a:avLst>
              <a:gd name="adj" fmla="val 10000"/>
            </a:avLst>
          </a:prstGeom>
          <a:solidFill>
            <a:srgbClr val="F8FAFC"/>
          </a:solidFill>
          <a:ln/>
          <a:effectLst>
            <a:outerShdw sx="100000" sy="100000" kx="0" ky="0" algn="bl" rotWithShape="0" blurRad="101600" dist="38100" dir="2700000">
              <a:srgbClr val="000000">
                <a:alpha val="12000"/>
              </a:srgbClr>
            </a:outerShdw>
          </a:effectLst>
        </p:spPr>
      </p:sp>
      <p:sp>
        <p:nvSpPr>
          <p:cNvPr id="10" name="Text 8"/>
          <p:cNvSpPr/>
          <p:nvPr/>
        </p:nvSpPr>
        <p:spPr>
          <a:xfrm>
            <a:off x="548640" y="3145536"/>
            <a:ext cx="8046720" cy="768096"/>
          </a:xfrm>
          <a:prstGeom prst="rect">
            <a:avLst/>
          </a:prstGeom>
          <a:noFill/>
          <a:ln/>
        </p:spPr>
        <p:txBody>
          <a:bodyPr wrap="square" lIns="0" tIns="0" rIns="0" bIns="0" rtlCol="0" anchor="ctr"/>
          <a:lstStyle/>
          <a:p>
            <a:pPr indent="0" marL="0">
              <a:buNone/>
            </a:pPr>
            <a:r>
              <a:rPr lang="en-US" sz="1300" b="1" dirty="0">
                <a:solidFill>
                  <a:srgbClr val="55C8E8"/>
                </a:solidFill>
                <a:latin typeface="Calibri" pitchFamily="34" charset="0"/>
                <a:ea typeface="Calibri" pitchFamily="34" charset="-122"/>
                <a:cs typeface="Calibri" pitchFamily="34" charset="-120"/>
              </a:rPr>
              <a:t>3.  </a:t>
            </a:r>
            <a:pPr indent="0" marL="0">
              <a:buNone/>
            </a:pPr>
            <a:r>
              <a:rPr lang="en-US" sz="1150" dirty="0">
                <a:solidFill>
                  <a:srgbClr val="1E293B"/>
                </a:solidFill>
                <a:latin typeface="Calibri" pitchFamily="34" charset="0"/>
                <a:ea typeface="Calibri" pitchFamily="34" charset="-122"/>
                <a:cs typeface="Calibri" pitchFamily="34" charset="-120"/>
              </a:rPr>
              <a:t>💡 Week Reflective Question (Chs. 5–8): What one quality do you believe made Nathaniel Bowditch extraordinary during these chapters? Choose a specific word for this quality. Then use evidence from at least two different chapters to support your claim. This is the beginning of your research claim.</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Writing Connection — Research Essay</a:t>
            </a:r>
            <a:endParaRPr lang="en-US" sz="2600" dirty="0"/>
          </a:p>
        </p:txBody>
      </p:sp>
      <p:sp>
        <p:nvSpPr>
          <p:cNvPr id="3" name="Shape 1"/>
          <p:cNvSpPr/>
          <p:nvPr/>
        </p:nvSpPr>
        <p:spPr>
          <a:xfrm>
            <a:off x="365760" y="749808"/>
            <a:ext cx="8412480" cy="0"/>
          </a:xfrm>
          <a:prstGeom prst="line">
            <a:avLst/>
          </a:prstGeom>
          <a:noFill/>
          <a:ln w="19050">
            <a:solidFill>
              <a:srgbClr val="34B76F"/>
            </a:solidFill>
            <a:prstDash val="solid"/>
          </a:ln>
        </p:spPr>
      </p:sp>
      <p:sp>
        <p:nvSpPr>
          <p:cNvPr id="4" name="Text 2"/>
          <p:cNvSpPr/>
          <p:nvPr/>
        </p:nvSpPr>
        <p:spPr>
          <a:xfrm>
            <a:off x="365760" y="841248"/>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STAGE: PLAN  ·  Complete your full 5-box plan</a:t>
            </a:r>
            <a:endParaRPr lang="en-US" sz="1100" dirty="0"/>
          </a:p>
        </p:txBody>
      </p:sp>
      <p:sp>
        <p:nvSpPr>
          <p:cNvPr id="5" name="Shape 3"/>
          <p:cNvSpPr/>
          <p:nvPr/>
        </p:nvSpPr>
        <p:spPr>
          <a:xfrm>
            <a:off x="365760" y="1097280"/>
            <a:ext cx="8412480" cy="548640"/>
          </a:xfrm>
          <a:prstGeom prst="roundRect">
            <a:avLst>
              <a:gd name="adj" fmla="val 16667"/>
            </a:avLst>
          </a:prstGeom>
          <a:solidFill>
            <a:srgbClr val="E8F8EF"/>
          </a:solidFill>
          <a:ln/>
          <a:effectLst>
            <a:outerShdw sx="100000" sy="100000" kx="0" ky="0" algn="bl" rotWithShape="0" blurRad="101600" dist="38100" dir="2700000">
              <a:srgbClr val="000000">
                <a:alpha val="12000"/>
              </a:srgbClr>
            </a:outerShdw>
          </a:effectLst>
        </p:spPr>
      </p:sp>
      <p:sp>
        <p:nvSpPr>
          <p:cNvPr id="6" name="Text 4"/>
          <p:cNvSpPr/>
          <p:nvPr/>
        </p:nvSpPr>
        <p:spPr>
          <a:xfrm>
            <a:off x="548640" y="1152144"/>
            <a:ext cx="8046720" cy="438912"/>
          </a:xfrm>
          <a:prstGeom prst="rect">
            <a:avLst/>
          </a:prstGeom>
          <a:noFill/>
          <a:ln/>
        </p:spPr>
        <p:txBody>
          <a:bodyPr wrap="square" lIns="0" tIns="0" rIns="0" bIns="0" rtlCol="0" anchor="ctr"/>
          <a:lstStyle/>
          <a:p>
            <a:pPr indent="0" marL="0">
              <a:buNone/>
            </a:pPr>
            <a:r>
              <a:rPr lang="en-US" sz="1150" b="1" dirty="0">
                <a:solidFill>
                  <a:srgbClr val="1E293B"/>
                </a:solidFill>
                <a:latin typeface="Calibri" pitchFamily="34" charset="0"/>
                <a:ea typeface="Calibri" pitchFamily="34" charset="-122"/>
                <a:cs typeface="Calibri" pitchFamily="34" charset="-120"/>
              </a:rPr>
              <a:t>Your plan is almost done. Today you write the complete 5-box plan that will guide your drafting. After this, you write — no more planning.</a:t>
            </a:r>
            <a:endParaRPr lang="en-US" sz="1150" dirty="0"/>
          </a:p>
        </p:txBody>
      </p:sp>
      <p:sp>
        <p:nvSpPr>
          <p:cNvPr id="7" name="Text 5"/>
          <p:cNvSpPr/>
          <p:nvPr/>
        </p:nvSpPr>
        <p:spPr>
          <a:xfrm>
            <a:off x="365760" y="178308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 WATCH HOW ALEX DOES IT</a:t>
            </a:r>
            <a:endParaRPr lang="en-US" sz="1100" dirty="0"/>
          </a:p>
        </p:txBody>
      </p:sp>
      <p:sp>
        <p:nvSpPr>
          <p:cNvPr id="8" name="Shape 6"/>
          <p:cNvSpPr/>
          <p:nvPr/>
        </p:nvSpPr>
        <p:spPr>
          <a:xfrm>
            <a:off x="365760" y="2029968"/>
            <a:ext cx="4114800" cy="1051560"/>
          </a:xfrm>
          <a:prstGeom prst="roundRect">
            <a:avLst>
              <a:gd name="adj" fmla="val 8696"/>
            </a:avLst>
          </a:prstGeom>
          <a:solidFill>
            <a:srgbClr val="F8FAFC"/>
          </a:solidFill>
          <a:ln/>
          <a:effectLst>
            <a:outerShdw sx="100000" sy="100000" kx="0" ky="0" algn="bl" rotWithShape="0" blurRad="101600" dist="38100" dir="2700000">
              <a:srgbClr val="000000">
                <a:alpha val="12000"/>
              </a:srgbClr>
            </a:outerShdw>
          </a:effectLst>
        </p:spPr>
      </p:sp>
      <p:sp>
        <p:nvSpPr>
          <p:cNvPr id="9" name="Text 7"/>
          <p:cNvSpPr/>
          <p:nvPr/>
        </p:nvSpPr>
        <p:spPr>
          <a:xfrm>
            <a:off x="502920" y="2084832"/>
            <a:ext cx="3840480" cy="941832"/>
          </a:xfrm>
          <a:prstGeom prst="rect">
            <a:avLst/>
          </a:prstGeom>
          <a:noFill/>
          <a:ln/>
        </p:spPr>
        <p:txBody>
          <a:bodyPr wrap="square" lIns="0" tIns="0" rIns="0" bIns="0" rtlCol="0" anchor="t"/>
          <a:lstStyle/>
          <a:p>
            <a:pPr indent="0" marL="0">
              <a:buNone/>
            </a:pPr>
            <a:r>
              <a:rPr lang="en-US" sz="950" dirty="0">
                <a:solidFill>
                  <a:srgbClr val="1E293B"/>
                </a:solidFill>
                <a:latin typeface="Calibri" pitchFamily="34" charset="0"/>
                <a:ea typeface="Calibri" pitchFamily="34" charset="-122"/>
                <a:cs typeface="Calibri" pitchFamily="34" charset="-120"/>
              </a:rPr>
              <a:t>BEFORE Alex’s rough notes: Hook = fog scene. Body 1 = chandlery nights + notebooks. Body 2 = Moore’s errors + teaching sailors.</a:t>
            </a:r>
            <a:endParaRPr lang="en-US" sz="950" dirty="0"/>
          </a:p>
        </p:txBody>
      </p:sp>
      <p:sp>
        <p:nvSpPr>
          <p:cNvPr id="10" name="Shape 8"/>
          <p:cNvSpPr/>
          <p:nvPr/>
        </p:nvSpPr>
        <p:spPr>
          <a:xfrm>
            <a:off x="4663440" y="2029968"/>
            <a:ext cx="4114800" cy="1051560"/>
          </a:xfrm>
          <a:prstGeom prst="roundRect">
            <a:avLst>
              <a:gd name="adj" fmla="val 8696"/>
            </a:avLst>
          </a:prstGeom>
          <a:solidFill>
            <a:srgbClr val="EAF6FA"/>
          </a:solidFill>
          <a:ln/>
          <a:effectLst>
            <a:outerShdw sx="100000" sy="100000" kx="0" ky="0" algn="bl" rotWithShape="0" blurRad="101600" dist="38100" dir="2700000">
              <a:srgbClr val="000000">
                <a:alpha val="12000"/>
              </a:srgbClr>
            </a:outerShdw>
          </a:effectLst>
        </p:spPr>
      </p:sp>
      <p:sp>
        <p:nvSpPr>
          <p:cNvPr id="11" name="Text 9"/>
          <p:cNvSpPr/>
          <p:nvPr/>
        </p:nvSpPr>
        <p:spPr>
          <a:xfrm>
            <a:off x="4800600" y="2084832"/>
            <a:ext cx="3840480" cy="941832"/>
          </a:xfrm>
          <a:prstGeom prst="rect">
            <a:avLst/>
          </a:prstGeom>
          <a:noFill/>
          <a:ln/>
        </p:spPr>
        <p:txBody>
          <a:bodyPr wrap="square" lIns="0" tIns="0" rIns="0" bIns="0" rtlCol="0" anchor="t"/>
          <a:lstStyle/>
          <a:p>
            <a:pPr indent="0" marL="0">
              <a:buNone/>
            </a:pPr>
            <a:r>
              <a:rPr lang="en-US" sz="950" dirty="0">
                <a:solidFill>
                  <a:srgbClr val="1E293B"/>
                </a:solidFill>
                <a:latin typeface="Calibri" pitchFamily="34" charset="0"/>
                <a:ea typeface="Calibri" pitchFamily="34" charset="-122"/>
                <a:cs typeface="Calibri" pitchFamily="34" charset="-120"/>
              </a:rPr>
              <a:t>AFTER Alex’s complete 5-box plan: (1) INTRO: Hook: December fog, ship navigating blind → Nat Bowditch, Salem mathematician → Claim. (2) BODY 1: Subtopic: self-made scholar. Evidence A: chandlery nights (Chs. 5–8). Evidence B: fills notebooks. (3) BODY 2: Subtopic: knowledge for everyone. Evidence A: Moore’s corrections (Ch. 13). Evidence B: teaches sailors (Chs. 11, 16). (4) CONCLUSION: Return to fog → synthesize both subtopics → why it matters. (5) SOURCES: Latham, Jean Lee.</a:t>
            </a:r>
            <a:endParaRPr lang="en-US" sz="950" dirty="0"/>
          </a:p>
        </p:txBody>
      </p:sp>
      <p:sp>
        <p:nvSpPr>
          <p:cNvPr id="12" name="Text 10"/>
          <p:cNvSpPr/>
          <p:nvPr/>
        </p:nvSpPr>
        <p:spPr>
          <a:xfrm>
            <a:off x="365760" y="3127248"/>
            <a:ext cx="8412480" cy="457200"/>
          </a:xfrm>
          <a:prstGeom prst="rect">
            <a:avLst/>
          </a:prstGeom>
          <a:noFill/>
          <a:ln/>
        </p:spPr>
        <p:txBody>
          <a:bodyPr wrap="square" lIns="0" tIns="0" rIns="0" bIns="0" rtlCol="0" anchor="ctr"/>
          <a:lstStyle/>
          <a:p>
            <a:pPr indent="0" marL="0">
              <a:buNone/>
            </a:pPr>
            <a:r>
              <a:rPr lang="en-US" sz="950" i="1" dirty="0">
                <a:solidFill>
                  <a:srgbClr val="64748B"/>
                </a:solidFill>
                <a:latin typeface="Calibri" pitchFamily="34" charset="0"/>
                <a:ea typeface="Calibri" pitchFamily="34" charset="-122"/>
                <a:cs typeface="Calibri" pitchFamily="34" charset="-120"/>
              </a:rPr>
              <a:t>Notice: The plan names specific chapters for each piece of evidence. This makes drafting much easier — Alex knows exactly where to look.</a:t>
            </a:r>
            <a:endParaRPr lang="en-US" sz="950" dirty="0"/>
          </a:p>
        </p:txBody>
      </p:sp>
      <p:sp>
        <p:nvSpPr>
          <p:cNvPr id="13" name="Text 11"/>
          <p:cNvSpPr/>
          <p:nvPr/>
        </p:nvSpPr>
        <p:spPr>
          <a:xfrm>
            <a:off x="365760" y="3639312"/>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 TODAY’S TOOL: COMPLETE 5-BOX PLAN</a:t>
            </a:r>
            <a:endParaRPr lang="en-US" sz="1100" dirty="0"/>
          </a:p>
        </p:txBody>
      </p:sp>
      <p:sp>
        <p:nvSpPr>
          <p:cNvPr id="14" name="Shape 12"/>
          <p:cNvSpPr/>
          <p:nvPr/>
        </p:nvSpPr>
        <p:spPr>
          <a:xfrm>
            <a:off x="365760" y="3877056"/>
            <a:ext cx="8412480" cy="502920"/>
          </a:xfrm>
          <a:prstGeom prst="roundRect">
            <a:avLst>
              <a:gd name="adj" fmla="val 18182"/>
            </a:avLst>
          </a:prstGeom>
          <a:solidFill>
            <a:srgbClr val="F0E8FF"/>
          </a:solidFill>
          <a:ln/>
          <a:effectLst>
            <a:outerShdw sx="100000" sy="100000" kx="0" ky="0" algn="bl" rotWithShape="0" blurRad="101600" dist="38100" dir="2700000">
              <a:srgbClr val="000000">
                <a:alpha val="12000"/>
              </a:srgbClr>
            </a:outerShdw>
          </a:effectLst>
        </p:spPr>
      </p:sp>
      <p:sp>
        <p:nvSpPr>
          <p:cNvPr id="15" name="Text 13"/>
          <p:cNvSpPr/>
          <p:nvPr/>
        </p:nvSpPr>
        <p:spPr>
          <a:xfrm>
            <a:off x="548640" y="3922776"/>
            <a:ext cx="8046720" cy="411480"/>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Fill in all five boxes. Your plan should be detailed enough that you could hand it to someone else and they could draft from it.</a:t>
            </a:r>
            <a:endParaRPr lang="en-US" sz="1050" dirty="0"/>
          </a:p>
        </p:txBody>
      </p:sp>
      <p:sp>
        <p:nvSpPr>
          <p:cNvPr id="16" name="Text 14"/>
          <p:cNvSpPr/>
          <p:nvPr/>
        </p:nvSpPr>
        <p:spPr>
          <a:xfrm>
            <a:off x="365760" y="4462272"/>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 NOW YOU TRY</a:t>
            </a:r>
            <a:endParaRPr lang="en-US" sz="1100" dirty="0"/>
          </a:p>
        </p:txBody>
      </p:sp>
      <p:sp>
        <p:nvSpPr>
          <p:cNvPr id="17" name="Shape 15"/>
          <p:cNvSpPr/>
          <p:nvPr/>
        </p:nvSpPr>
        <p:spPr>
          <a:xfrm>
            <a:off x="365760" y="4681728"/>
            <a:ext cx="8412480" cy="384048"/>
          </a:xfrm>
          <a:prstGeom prst="roundRect">
            <a:avLst>
              <a:gd name="adj" fmla="val 23810"/>
            </a:avLst>
          </a:prstGeom>
          <a:solidFill>
            <a:srgbClr val="FEF6E8"/>
          </a:solidFill>
          <a:ln/>
          <a:effectLst>
            <a:outerShdw sx="100000" sy="100000" kx="0" ky="0" algn="bl" rotWithShape="0" blurRad="101600" dist="38100" dir="2700000">
              <a:srgbClr val="000000">
                <a:alpha val="12000"/>
              </a:srgbClr>
            </a:outerShdw>
          </a:effectLst>
        </p:spPr>
      </p:sp>
      <p:sp>
        <p:nvSpPr>
          <p:cNvPr id="18" name="Text 16"/>
          <p:cNvSpPr/>
          <p:nvPr/>
        </p:nvSpPr>
        <p:spPr>
          <a:xfrm>
            <a:off x="548640" y="4700016"/>
            <a:ext cx="8046720" cy="347472"/>
          </a:xfrm>
          <a:prstGeom prst="rect">
            <a:avLst/>
          </a:prstGeom>
          <a:noFill/>
          <a:ln/>
        </p:spPr>
        <p:txBody>
          <a:bodyPr wrap="square" lIns="0" tIns="0" rIns="0" bIns="0" rtlCol="0" anchor="ctr"/>
          <a:lstStyle/>
          <a:p>
            <a:pPr indent="0" marL="0">
              <a:buNone/>
            </a:pPr>
            <a:r>
              <a:rPr lang="en-US" sz="1000" dirty="0">
                <a:solidFill>
                  <a:srgbClr val="1E293B"/>
                </a:solidFill>
                <a:latin typeface="Calibri" pitchFamily="34" charset="0"/>
                <a:ea typeface="Calibri" pitchFamily="34" charset="-122"/>
                <a:cs typeface="Calibri" pitchFamily="34" charset="-120"/>
              </a:rPr>
              <a:t>Write your complete 5-box plan. All five boxes filled: Introduction, Body 1, Body 2, Conclusion, Sources.</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2026-07-13T16:49:16Z</dcterms:created>
  <dcterms:modified xsi:type="dcterms:W3CDTF">2026-07-13T16:49:16Z</dcterms:modified>
</cp:coreProperties>
</file>