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10.4: Chapter 8, "Lock, Stock, and Bookkeeper". Banner quote: “I will lift up my eyes unto the stars. Sometimes, if you look at the stars long enough, it helps.” (Nat’s mother • Chapter 4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kind of person sails by ash breeze for nine years? You’ve now read four chapters of Nat’s indenture years. Today’s reflective question asks you to look back across all of Chapters 5–8 and explain the pattern you’ve seen.
Objectives:
- 🌱 Morphology: Explain graph/gram/scribe roots to someone else.
- 🔤 Vocab SWYK: Choice board — show what you know your own way.
- ✏️ Grammar: Explain why consistent tense matters in research writing.
- 📖 Reading: I will explain how the problems Nat solved across Chapters 5–8 shape the rest of his life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nathaniel bowditch works as a bookkeeper at ropes and hodges and he teaches himself latin
Corrected: Nathaniel Bowditch worked as a bookkeeper at Ropes and Hodges and taught himself Latin.
Fixes: “Nathaniel Bowditch” (proper noun); “Ropes and Hodges” (proper noun — company name); “Latin” (names of languages are always capitalized); “works” → “worked” and “teaches” → “taught” (tense shift corrected to consistent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nathaniel bowditch works as a bookkeeper at ropes and hodges and he teaches himself latin
Corrected: Nathaniel Bowditch worked as a bookkeeper at Ropes and Hodges and taught himself Latin.
Fixes: “Nathaniel Bowditch” (proper noun); “Ropes and Hodges” (proper noun — company name); “Latin” (names of languages are always capitalized); “works” → “worked” and “teaches” → “taught” (tense shift corrected to consistent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In Chapter 4, Nat’s mother tells him her saying: “I will lift up my eyes unto the stars.” Those words come from one of the oldest poems in the world — Psalm 121, written thousands of years ago. Nat’s mother found comfort in them. As you finish Week 10, read them again.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graph / gram / scribe — Explain — act or object?.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The act of writing: transcribe, inscribe, describe
The thing written: telegram, manuscript, autograph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manuscript
2. diagram
3. autograph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SWYK: Choice Board — Show What You Know — your way.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Explain Consistent Tense — Explain — why does consistent tense matter?.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Explain Consistent Tense — Explain — why does consistent tense matter?.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It moves the reader in time without warning them. — g10d4gs1
2. When the meaning really does move in time. — g10d4gs2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Explain — why English keeps both.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the words came into English from different languages. — g10d4ss1
2. navigator — g10d4ss2
3. teacher — g10d4ss3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Complete your full 5-box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Complete your full 5-box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Complete your full 5-box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10  ·  DAY 4  ·  LESSON 10.4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8 — Lock, Stock, and Bookkeeper</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 will lift up my eyes unto the stars. Sometimes, if you look at the stars long enough, it helps.”</a:t>
            </a:r>
            <a:pPr indent="0" marL="0">
              <a:buNone/>
            </a:pPr>
            <a:r>
              <a:rPr lang="en-US" sz="1600" dirty="0">
                <a:solidFill>
                  <a:srgbClr val="55C8E8"/>
                </a:solidFill>
                <a:latin typeface="Calibri" pitchFamily="34" charset="0"/>
                <a:ea typeface="Calibri" pitchFamily="34" charset="-122"/>
                <a:cs typeface="Calibri" pitchFamily="34" charset="-120"/>
              </a:rPr>
              <a:t>  — Nat’s mother • Chapter 4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WEEK 10 CLOSER</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000"/>
              </a:spcAft>
              <a:buNone/>
            </a:pPr>
            <a:r>
              <a:rPr lang="en-US" sz="2300" b="1" dirty="0">
                <a:solidFill>
                  <a:srgbClr val="6B4FA8"/>
                </a:solidFill>
                <a:latin typeface="Calibri" pitchFamily="34" charset="0"/>
                <a:ea typeface="Calibri" pitchFamily="34" charset="-122"/>
                <a:cs typeface="Calibri" pitchFamily="34" charset="-120"/>
              </a:rPr>
              <a:t>What kind of person sails by ash breeze for nine years?</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You’ve now read four chapters of Nat’s indenture years. Today’s reflective question asks you to look back across all of Chapters 5–8 and explain the pattern you’ve seen.</a:t>
            </a:r>
            <a:endParaRPr lang="en-US" sz="23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graph/gram/scribe roots to someone else.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Vocab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Choice board — show what you know your own way.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why consistent tense matters in research writing.</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how the problems Nat solved across Chapters 5–8 shape the rest of his life story.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A CHAIN OF PROBLEMS SOLVED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put the week together. Look back across Chapters 5–8 and lay the events end to end. For each one, name the problem and name what Nat did with it — then say what the chain adds up to. A life story is built out of what someone does after things go wrong.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Whole-book thinking: Across Chapters 5–8, which single problem changed the most about what Nat could do afterwards? Name it, name what he did, and trace forward to one later thing it made possible.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problem: For each event, say plainly what problem it puts in front of Nat.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what he does with it: Look for the specific action he takes. A life story turns on what a person does next.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Follow the consequence forward: Ask what this makes possible later. A life story is a chain, not a 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A CHAIN OF PROBLEMS SOLVED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At the end of Chapter 5, Nat’s whistle dies on the street. By Chapter 7, he has filled notebooks on navigation, surveying, and algebra and figured out an almanac of his own. What has changed — in Nat’s circumstances? In his mindset? In what Latham is showing us about who he is?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 you read Chapter 8, pay attention to what Nat does when a book he longs to read turns out to be in Latin. What does he decide to take on that no one asked him to do?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For nine years, </a:t>
            </a:r>
            <a:pPr indent="0" marL="0">
              <a:buNone/>
            </a:pPr>
            <a:r>
              <a:rPr lang="en-US" sz="2600" b="1" u="sng" dirty="0">
                <a:solidFill>
                  <a:srgbClr val="1E8E52"/>
                </a:solidFill>
                <a:latin typeface="Calibri" pitchFamily="34" charset="0"/>
                <a:ea typeface="Calibri" pitchFamily="34" charset="-122"/>
                <a:cs typeface="Calibri" pitchFamily="34" charset="-120"/>
              </a:rPr>
              <a:t>Nathaniel Bowditch</a:t>
            </a:r>
            <a:pPr indent="0" marL="0">
              <a:buNone/>
            </a:pPr>
            <a:r>
              <a:rPr lang="en-US" sz="2600" dirty="0">
                <a:solidFill>
                  <a:srgbClr val="1E293B"/>
                </a:solidFill>
                <a:latin typeface="Calibri" pitchFamily="34" charset="0"/>
                <a:ea typeface="Calibri" pitchFamily="34" charset="-122"/>
                <a:cs typeface="Calibri" pitchFamily="34" charset="-120"/>
              </a:rPr>
              <a:t> worked as a bookkeeper at the ship chandlery and </a:t>
            </a:r>
            <a:pPr indent="0" marL="0">
              <a:buNone/>
            </a:pPr>
            <a:r>
              <a:rPr lang="en-US" sz="2600" b="1" u="sng" dirty="0">
                <a:solidFill>
                  <a:srgbClr val="1E8E52"/>
                </a:solidFill>
                <a:latin typeface="Calibri" pitchFamily="34" charset="0"/>
                <a:ea typeface="Calibri" pitchFamily="34" charset="-122"/>
                <a:cs typeface="Calibri" pitchFamily="34" charset="-120"/>
              </a:rPr>
              <a:t>taught</a:t>
            </a:r>
            <a:pPr indent="0" marL="0">
              <a:buNone/>
            </a:pPr>
            <a:r>
              <a:rPr lang="en-US" sz="2600" dirty="0">
                <a:solidFill>
                  <a:srgbClr val="1E293B"/>
                </a:solidFill>
                <a:latin typeface="Calibri" pitchFamily="34" charset="0"/>
                <a:ea typeface="Calibri" pitchFamily="34" charset="-122"/>
                <a:cs typeface="Calibri" pitchFamily="34" charset="-120"/>
              </a:rPr>
              <a:t> himself mathematics </a:t>
            </a:r>
            <a:pPr indent="0" marL="0">
              <a:buNone/>
            </a:pPr>
            <a:r>
              <a:rPr lang="en-US" sz="2600" b="1" u="sng" dirty="0">
                <a:solidFill>
                  <a:srgbClr val="1E8E52"/>
                </a:solidFill>
                <a:latin typeface="Calibri" pitchFamily="34" charset="0"/>
                <a:ea typeface="Calibri" pitchFamily="34" charset="-122"/>
                <a:cs typeface="Calibri" pitchFamily="34" charset="-120"/>
              </a:rPr>
              <a:t>by night.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Nathaniel Bowditch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"Nathaniel Bowditch" is a proper noun — both first and last name capitalized.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taught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"taught" is consistent past tense, matching "worked."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by night.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 period ends this declarative sentence correctly.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nathaniel bowditch works as a bookkeeper at ropes and hodges and he teaches himself latin</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nathaniel bowditch works as a bookkeeper at ropes and hodges and he teaches himself latin</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Nathaniel Bowditch worked as a bookkeeper at Ropes and Hodges and taught himself Latin.</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“Nathaniel Bowditch” (proper noun); “Ropes and Hodges” (proper noun — company name); “Latin” (names of languages are always capitalized); “works” → “worked” and “teaches” → “taught” (tense shift corrected to consistent past).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PSALM 121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King James Bible, 1611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I will lift up mine eyes unto the hills,</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from whence cometh my help.</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My help cometh from the Lord,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which made heaven and earth.</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He will not suffer thy foot to be moved:</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he that keepeth thee will not slumber.</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Nat’s mother changed “the hills” to “the stars” when she made this her own saying. Why might she have chosen stars instead of hills? What does looking up at the stars do for Nat throughout these chapters? Where have you seen Nat look up — literally or figuratively — during Chapters 5–8?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In Chapter 8 Nat starts learning Latin, and then he hears the chandlery was sold "lock, stock, and bookkeeper." Which moment this week best shows Nat turning his indenture into an opportunity? Defend your answer with evidence from Chapters 5-8.</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In Chapter 8 Nat starts learning Latin, and then he hears the chandlery was sold "lock, stock, and bookkeeper." Which moment this week best shows Nat turning his indenture into an opportunity? Defend your answer with evidence from Chapters 5-8.</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ACT OR OBJECT?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Last day with these roots. Now explain the difference you have been using all week. A telegram is a thing; to transcribe is an act. Gram gives you the object; graph and scribe usually give you the doing.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Odd One Out — three words share a root. One does not. Click the word that does not belong to the root family.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Some words built on these roots name the act of writing; others name the thing written.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Sort each word by what it names.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ACT OR OBJECT?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transcribe     ·     inscribe     ·     describe     ·     telegram     ·     manuscript     ·     autograph</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The act of writing</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The thing written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ACT OR OBJECT?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The act of writing</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transcribe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inscribe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describe</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The thing written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telegram</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manuscript</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autograph</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ACT OR OBJECT?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graph / gram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paragraph</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biography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manuscript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telegram</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scribe / script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transcribe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inscribe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description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diagram</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Root family: gram — the thing written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telegram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diagram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grammar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autograph</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ACT OR OBJECT?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graph / gram</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paragraph</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biography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manuscript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telegram</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scribe / script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transcribe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inscribe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description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diagram</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Root family: gram — the thing written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telegram</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diagram</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grammar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autograph</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YOUR WAY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one activity from the board below to show what you know about this week’s vocabulary. Select an option, then complete it in the space provided.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F8FAFC"/>
          </a:solidFill>
          <a:ln w="15875">
            <a:solidFill>
              <a:srgbClr val="CBD5E1"/>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 Write a Scene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4–6 sentence scene where Nat uses three of this week’s words in context. Underline each vocabulary word.</a:t>
            </a:r>
            <a:endParaRPr lang="en-US" sz="2100" dirty="0"/>
          </a:p>
        </p:txBody>
      </p:sp>
      <p:sp>
        <p:nvSpPr>
          <p:cNvPr id="8" name="Shape 6"/>
          <p:cNvSpPr/>
          <p:nvPr/>
        </p:nvSpPr>
        <p:spPr>
          <a:xfrm>
            <a:off x="6187288" y="1554480"/>
            <a:ext cx="5501488" cy="2354580"/>
          </a:xfrm>
          <a:prstGeom prst="roundRect">
            <a:avLst>
              <a:gd name="adj" fmla="val 3107"/>
            </a:avLst>
          </a:prstGeom>
          <a:solidFill>
            <a:srgbClr val="F8FAFC"/>
          </a:solidFill>
          <a:ln w="15875">
            <a:solidFill>
              <a:srgbClr val="CBD5E1"/>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 Two-Column Chart</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For four words, write: the word · its definition in your own words · one specific way Nat encounters it. Use a chart format.</a:t>
            </a:r>
            <a:endParaRPr lang="en-US" sz="2100" dirty="0"/>
          </a:p>
        </p:txBody>
      </p:sp>
      <p:sp>
        <p:nvSpPr>
          <p:cNvPr id="10" name="Shape 8"/>
          <p:cNvSpPr/>
          <p:nvPr/>
        </p:nvSpPr>
        <p:spPr>
          <a:xfrm>
            <a:off x="502920" y="4091940"/>
            <a:ext cx="5501488" cy="2354580"/>
          </a:xfrm>
          <a:prstGeom prst="roundRect">
            <a:avLst>
              <a:gd name="adj" fmla="val 3107"/>
            </a:avLst>
          </a:prstGeom>
          <a:solidFill>
            <a:srgbClr val="F8FAFC"/>
          </a:solidFill>
          <a:ln w="15875">
            <a:solidFill>
              <a:srgbClr val="CBD5E1"/>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 Explain It</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Choose two words and explain them as if teaching a younger student. What does each word mean? Why does it matter in Nat’s story?</a:t>
            </a:r>
            <a:endParaRPr lang="en-US" sz="2100" dirty="0"/>
          </a:p>
        </p:txBody>
      </p:sp>
      <p:sp>
        <p:nvSpPr>
          <p:cNvPr id="12" name="Shape 10"/>
          <p:cNvSpPr/>
          <p:nvPr/>
        </p:nvSpPr>
        <p:spPr>
          <a:xfrm>
            <a:off x="6187288" y="4091940"/>
            <a:ext cx="5501488" cy="2354580"/>
          </a:xfrm>
          <a:prstGeom prst="roundRect">
            <a:avLst>
              <a:gd name="adj" fmla="val 3107"/>
            </a:avLst>
          </a:prstGeom>
          <a:solidFill>
            <a:srgbClr val="F8FAFC"/>
          </a:solidFill>
          <a:ln w="15875">
            <a:solidFill>
              <a:srgbClr val="CBD5E1"/>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 Connections</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Choose three words and explain how they are connected to each other. How do logarithm, celestial, and almanac (for example) work together in Nat’s world?</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Vocabulary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Complete your chosen activity above in the box below. Use this week’s words: apprentice · bookkeeping · almanac · latitude · logarithm · celestial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Complete your chosen vocabulary activity here. Identify which option you chose at the top of your response.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DOES CONSISTENT TENSE MATTER?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Explain Consistent Tense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decide when each sentence happens, then check it stays there.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All week you defined, identified, and used consistent verb tense. Now explain it — in your own words — to a younger writer who is confused about tense shifts.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Think about what it feels like as a reader when a tense suddenly shifts. What happens to your understanding of when events happen? Why is that disorienting?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Write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Imagine a younger student says: “Why does it matter what tense I use, as long as I tell the story?” Write a 3–4 sentence explanation using one example from this week’s novel sentences. Your explanation should be in your own words — not just a definition.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your explanation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DOES CONSISTENT TENSE MATTER?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Explain Consistent Tense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borrowed the algebra book. He copies it into his notebook and checked every page.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borrowed the algebra book. He copied it into his notebook and checked every page.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One verb was in the present and the rest in the past. The reader does not notice a rule being broken — they just lose their footing for a second.</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DOES CONSISTENT TENSE MATTER?</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Explain Consistent Tense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a tense shift matter?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It is against the rules.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It moves the reader in time without warning them.</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When is changing tense the right choice?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When the meaning really does move in time.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When a paragraph is getting repetitive.</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DOES CONSISTENT TENSE MATTER?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Explain Consistent Tense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a tense shift matter?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It is against the rules.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It moves the reader in time without warning them.</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When is changing tense the right choice?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When the meaning really does move in time.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When a paragraph is getting repetitive.</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KEEPS BOTH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The best test of whether you understand a rule is whether you can create your own examples. Try it below.</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Which Ending?</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Both endings mean one who does it. They sound the same. Only the word’s history decides.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-er on ordinary English verbs: teach → teach er, print → print er, keep → keep er</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-or on words that came through Latin: navigate → naviga tor, calculate → calcula tor, inspect → inspec tor</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Watch for: a verb ending in -ate almost always takes -or.</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And a few in -ar: scholar, beggar, liar. Rare, but worth knowing.</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KEEPS BOTH</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English keep both –er and –or?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they mean slightly different things.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the words came into English from different languages.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navigator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teachor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teacher</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ENGLISH KEEPS BOTH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English keep both –er and –or?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they mean slightly different things.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Because the words came into English from different languages.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navigator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teachor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teacher</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8 — “LOCK, STOCK, AND BOOKKEEPER”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8 — Lock, Stock, and Bookkeeper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8 brings together the threads of Chapters 5–7: the indenture, the ash-breeze self-education, the almanac he made at sixteen. Now watch how Nat reaches for something even harder — and how one piece of news changes everything. Pay particular attention to the moment Nat learns who bought the chandlery.</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8</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Mr. Ward Arrives: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does Nat think the sale of the chandlery means for him? What does “lock, stock, and bookkeeper” tell him? Why does he crush the letter to Mr. Morris?</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Reflective Question — Chs. 5–8: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Think across all four chapters this week. Nat began with a dying whistle and an indenture he never chose. By Chapter 8, what has he built? What one word would you use to describe the quality that made this possible — and where do you see it most clearly in the text?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&amp; WEEK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In Chapter 8, why does Nat start learning Latin, and what does Elias Wilson say about how long it will take? Nobody made Nat do this. What does it tell you about what Nat values?</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Nat’s mother told him: “I will lift up my eyes unto the stars. Sometimes, if you look at the stars long enough, it helps.” Across Chapters 5–8, in what ways has Nat “looked at the stars” — literally or as a metaphor for lifting his eyes above his immediate circumstances?</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Week Reflective Question (Chs. 5–8): What one quality do you believe made Nathaniel Bowditch extraordinary during these chapters? Choose a specific word for this quality. Then use evidence from at least two different chapters to support your claim. This is the beginning of your research claim.</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COMPLETE YOUR FULL 5-BOX PLAN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(1/3)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plan is almost done. Today you write the complete 5-box plan that will guide your drafting. After this, you write — no more planning.</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assembles all pieces into the final plan: introduction box, two body boxes, conclusion box, sources box. BEFORE Alex’s rough notes: Hook = fog scene. Body 1 = chandlery nights + notebooks. Body 2 = Moore’s errors + teaching sailors. AFTER Alex’s complete 5-box plan: (1) INTRO: Hook: December fog, ship navigating blind → Nat Bowditch, Salem mathematician → Claim. (2) BODY 1: Subtopic: self-made scholar. Evidence A: chandlery nights (Chs. 6–8). Evidence B: fills notebooks. (3) BODY 2: Subtopic: knowledge for everyone. Evidence A: Moore’s corrections (Ch. 13). Evidence B: teaches sailors (Chs. 12–16). (4) CONCLUSION: Return to fog → synthesize both subtopics → why it matters. (5) SOURCES: Latham, Jean Lee. Notice: The plan names specific chapters for each piece of evidence. This makes drafting much easier — Alex knows exactly where to look.</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COMPLETE YOUR FULL 5-BOX PLAN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(2/3)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Complete 5-Box Plan: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Fill in all five boxes. Your plan should be detailed enough that you could hand it to someone else and they could draft from it. Alex’s example (filled): INTRODUCTION — Hook: fog/blind navigation. Bridge: Nat Bowditch, Salem. Claim: [Alex’s full claim] BODY 1 — Subtopic: self-made scholar. Evidence A: chandlery nights (Chs. 6–8). Evidence B: notebooks (Chs. 6–8). Closing: because of this, he became... BODY 2 — Subtopic: accessible knowledge. Evidence A: Moore’s errors (Ch. 13). Evidence B: teaches sailors (Chs. 12–16). Closing: together, these show... CONCLUSION — Return to fog scene → synthesize Body 1 + 2 → why it matters SOURCES — Latham, Jean Lee. Carry On, Mr. Bowditch. Houghton Mifflin, 1955. Your turn — do the same in your reading journal: INTRO: Hook = ___ → Bridge = ___ → Claim = ___ BODY 1: Subtopic = ___ → Ev. A = ___ (Ch. ___) → Ev. B = ___ (Ch. ___) BODY 2: Subtopic = ___ → Ev. A = ___ (Ch. ___) → Ev. B = ___ (Ch. ___) CONCLUSION: Return to ___ → Synthesize ___ SOURCES: Latham, Jean Lee. Carry On, Mr. Bowditch. Houghton Mifflin, 1955.</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COMPLETE YOUR FULL 5-BOX PLAN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(3/3)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“My essay plan has ___ and ___ as my two main body sections.” “My evidence for Body 1 comes from Chapters ___ and shows ___.” “My evidence for Body 2 comes from Chapters ___ and shows...”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10.4 — Carry On, Mr. Bowditch, Chapter 8</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