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16 Day 2 — Fact and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How might the same historical event be remembered differently by different people? Today we read two views of the same treaty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choctaw nation of oklahoma believes the treaty forever changed the story of the chahta people"
Corrected: "The Choctaw Nation of Oklahoma believes the treaty forever changed the story of the Chahta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choctaw nation of oklahoma believes the treaty forever changed the story of the chahta people"
Corrected: "The Choctaw Nation of Oklahoma believes the treaty forever changed the story of the Chahta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The Prefix 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16  ·  DAY 2</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16 · Research + Perspective</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Fact and Perspective</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Research Passage: Fact and Perspective — The Treaty of Dancing Rabbit Creek</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How might the same historical event be remembered differently by different people? Today we read two views of the same treaty side by side.</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300" dirty="0">
                <a:solidFill>
                  <a:srgbClr val="1E293B"/>
                </a:solidFill>
                <a:latin typeface="Calibri" pitchFamily="34" charset="0"/>
                <a:ea typeface="Calibri" pitchFamily="34" charset="-122"/>
                <a:cs typeface="Calibri" pitchFamily="34" charset="-120"/>
              </a:rPr>
              <a:t>I will distinguish fact from perspective in an informational passage.</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identify sentence variety — short vs. long sentences and different openings — in explanatory writing.</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sort historical vocabulary words by their spelling pattern.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of nonfiction notice the difference between a fact (can be checked) and a perspective (how someone feels/thinks about it).</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sentences describe something that happened?</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sentences describe how someone feels or thinks about it?</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Why might two true accounts of the same event sound so different?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Choctaw Nation of Oklahoma remembers this history differently today.</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"Choctaw Nation of Oklahoma" — official name of a nation, capitalized</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period ends the statement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choctaw nation of oklahoma believes the treaty forever changed the story of the chahta people</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choctaw nation of oklahoma believes the treaty forever changed the story of the chahta people</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The Choctaw Nation of Oklahoma believes the treaty forever changed the story of the Chahta people.</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 letters for the official nation name, and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Poetry Corner</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The Road Behind, the Road Ahead</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 A reflection, written for this lesson</a:t>
            </a:r>
            <a:endParaRPr lang="en-US" sz="12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The house you knew grows small and still,</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 single point beyond the hill.</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 road ahead is long and new,</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but part of home still travels too—</a:t>
            </a:r>
            <a:endParaRPr lang="en-US" sz="1400" dirty="0"/>
          </a:p>
          <a:p>
            <a:pPr indent="0" marL="0">
              <a:buNone/>
            </a:pP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in words remembered, songs half-sung,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in stories carried, old and young.</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No mile can walk that feeling away: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what shaped you stays, however far you stray.</a:t>
            </a:r>
            <a:endParaRPr lang="en-US" sz="14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WHAT DO YOU NOTICE?</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What do you notice about this poem? What feeling or image stands out to you?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migr / mov / mot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Practice: match words to meanings</a:t>
            </a:r>
            <a:endParaRPr lang="en-US" sz="1100" dirty="0"/>
          </a:p>
        </p:txBody>
      </p:sp>
      <p:sp>
        <p:nvSpPr>
          <p:cNvPr id="5" name="Shape 3"/>
          <p:cNvSpPr/>
          <p:nvPr/>
        </p:nvSpPr>
        <p:spPr>
          <a:xfrm>
            <a:off x="365760" y="109728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migrate — to move to live in a new place</a:t>
            </a:r>
            <a:endParaRPr lang="en-US" sz="1200" dirty="0"/>
          </a:p>
        </p:txBody>
      </p:sp>
      <p:sp>
        <p:nvSpPr>
          <p:cNvPr id="7" name="Shape 5"/>
          <p:cNvSpPr/>
          <p:nvPr/>
        </p:nvSpPr>
        <p:spPr>
          <a:xfrm>
            <a:off x="365760" y="1618488"/>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motion — the act or process of moving</a:t>
            </a:r>
            <a:endParaRPr lang="en-US" sz="1200" dirty="0"/>
          </a:p>
        </p:txBody>
      </p:sp>
      <p:sp>
        <p:nvSpPr>
          <p:cNvPr id="9" name="Shape 7"/>
          <p:cNvSpPr/>
          <p:nvPr/>
        </p:nvSpPr>
        <p:spPr>
          <a:xfrm>
            <a:off x="365760" y="2139696"/>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85416"/>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movement — the act of moving</a:t>
            </a:r>
            <a:endParaRPr lang="en-US" sz="1200" dirty="0"/>
          </a:p>
        </p:txBody>
      </p:sp>
      <p:sp>
        <p:nvSpPr>
          <p:cNvPr id="11" name="Shape 9"/>
          <p:cNvSpPr/>
          <p:nvPr/>
        </p:nvSpPr>
        <p:spPr>
          <a:xfrm>
            <a:off x="365760" y="2660904"/>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706624"/>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remove — to move something back or away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Sort or Match</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94360"/>
          </a:xfrm>
          <a:prstGeom prst="roundRect">
            <a:avLst>
              <a:gd name="adj" fmla="val 15385"/>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9264"/>
            <a:ext cx="8046720" cy="48463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homeland / territory / ancestral
</a:t>
            </a:r>
            <a:pPr indent="0" marL="0">
              <a:buNone/>
            </a:pPr>
            <a:r>
              <a:rPr lang="en-US" sz="1100" i="1" dirty="0">
                <a:solidFill>
                  <a:srgbClr val="1E293B"/>
                </a:solidFill>
                <a:latin typeface="Calibri" pitchFamily="34" charset="0"/>
                <a:ea typeface="Calibri" pitchFamily="34" charset="-122"/>
                <a:cs typeface="Calibri" pitchFamily="34" charset="-120"/>
              </a:rPr>
              <a:t>Words about land</a:t>
            </a:r>
            <a:endParaRPr lang="en-US" sz="1300" dirty="0"/>
          </a:p>
        </p:txBody>
      </p:sp>
      <p:sp>
        <p:nvSpPr>
          <p:cNvPr id="6" name="Shape 4"/>
          <p:cNvSpPr/>
          <p:nvPr/>
        </p:nvSpPr>
        <p:spPr>
          <a:xfrm>
            <a:off x="365760" y="1572768"/>
            <a:ext cx="8412480" cy="594360"/>
          </a:xfrm>
          <a:prstGeom prst="roundRect">
            <a:avLst>
              <a:gd name="adj" fmla="val 15385"/>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27632"/>
            <a:ext cx="8046720" cy="48463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nation / treaty / removal
</a:t>
            </a:r>
            <a:pPr indent="0" marL="0">
              <a:buNone/>
            </a:pPr>
            <a:r>
              <a:rPr lang="en-US" sz="1100" i="1" dirty="0">
                <a:solidFill>
                  <a:srgbClr val="1E293B"/>
                </a:solidFill>
                <a:latin typeface="Calibri" pitchFamily="34" charset="0"/>
                <a:ea typeface="Calibri" pitchFamily="34" charset="-122"/>
                <a:cs typeface="Calibri" pitchFamily="34" charset="-120"/>
              </a:rPr>
              <a:t>Words about people &amp; agreements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spot short/long sentences and varied openings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Let’s spot sentence variety in a sentence from today’s passage.</a:t>
            </a:r>
            <a:endParaRPr lang="en-US" sz="1100" dirty="0"/>
          </a:p>
        </p:txBody>
      </p:sp>
      <p:sp>
        <p:nvSpPr>
          <p:cNvPr id="8" name="Text 6"/>
          <p:cNvSpPr/>
          <p:nvPr/>
        </p:nvSpPr>
        <p:spPr>
          <a:xfrm>
            <a:off x="365760" y="1737360"/>
            <a:ext cx="8412480" cy="320040"/>
          </a:xfrm>
          <a:prstGeom prst="rect">
            <a:avLst/>
          </a:prstGeom>
          <a:noFill/>
          <a:ln/>
        </p:spPr>
        <p:txBody>
          <a:bodyPr wrap="square" lIns="0" tIns="0" rIns="0" bIns="0" rtlCol="0" anchor="ctr"/>
          <a:lstStyle/>
          <a:p>
            <a:pPr indent="0" marL="0">
              <a:buNone/>
            </a:pPr>
            <a:r>
              <a:rPr lang="en-US" sz="1100" b="1" i="1" dirty="0">
                <a:solidFill>
                  <a:srgbClr val="64748B"/>
                </a:solidFill>
                <a:latin typeface="Calibri" pitchFamily="34" charset="0"/>
                <a:ea typeface="Calibri" pitchFamily="34" charset="-122"/>
                <a:cs typeface="Calibri" pitchFamily="34" charset="-120"/>
              </a:rPr>
              <a:t>Tap the introductory phrase this sentence opens with (before the comma).</a:t>
            </a:r>
            <a:endParaRPr lang="en-US" sz="1100" dirty="0"/>
          </a:p>
        </p:txBody>
      </p:sp>
      <p:sp>
        <p:nvSpPr>
          <p:cNvPr id="9" name="Shape 7"/>
          <p:cNvSpPr/>
          <p:nvPr/>
        </p:nvSpPr>
        <p:spPr>
          <a:xfrm>
            <a:off x="365760" y="212140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7627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[By the 1830s,] the United States government and many American settlers wanted more land for farming.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spot short/long sentences and varied openings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Let’s spot sentence variety in a sentence from today’s passage.</a:t>
            </a:r>
            <a:endParaRPr lang="en-US" sz="1100" dirty="0"/>
          </a:p>
        </p:txBody>
      </p:sp>
      <p:sp>
        <p:nvSpPr>
          <p:cNvPr id="8" name="Shape 6"/>
          <p:cNvSpPr/>
          <p:nvPr/>
        </p:nvSpPr>
        <p:spPr>
          <a:xfrm>
            <a:off x="365760" y="1737360"/>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By the 1830s, the United States government and many American settlers wanted more land for farming.
</a:t>
            </a:r>
            <a:pPr indent="0" marL="0">
              <a:buNone/>
            </a:pPr>
            <a:r>
              <a:rPr lang="en-US" sz="1200" b="1" dirty="0">
                <a:solidFill>
                  <a:srgbClr val="34B76F"/>
                </a:solidFill>
                <a:latin typeface="Calibri" pitchFamily="34" charset="0"/>
                <a:ea typeface="Calibri" pitchFamily="34" charset="-122"/>
                <a:cs typeface="Calibri" pitchFamily="34" charset="-120"/>
              </a:rPr>
              <a:t>✅ By the 1830s,</a:t>
            </a:r>
            <a:endParaRPr lang="en-US" sz="1200" dirty="0"/>
          </a:p>
        </p:txBody>
      </p:sp>
      <p:sp>
        <p:nvSpPr>
          <p:cNvPr id="10" name="Shape 8"/>
          <p:cNvSpPr/>
          <p:nvPr/>
        </p:nvSpPr>
        <p:spPr>
          <a:xfrm>
            <a:off x="365760" y="2432304"/>
            <a:ext cx="8412480" cy="640080"/>
          </a:xfrm>
          <a:prstGeom prst="roundRect">
            <a:avLst>
              <a:gd name="adj" fmla="val 14286"/>
            </a:avLst>
          </a:prstGeom>
          <a:solidFill>
            <a:srgbClr val="FEF6E8"/>
          </a:solidFill>
          <a:ln w="12700">
            <a:solidFill>
              <a:srgbClr val="C7922C"/>
            </a:solidFill>
            <a:prstDash val="solid"/>
          </a:ln>
        </p:spPr>
      </p:sp>
      <p:sp>
        <p:nvSpPr>
          <p:cNvPr id="11" name="Text 9"/>
          <p:cNvSpPr/>
          <p:nvPr/>
        </p:nvSpPr>
        <p:spPr>
          <a:xfrm>
            <a:off x="548640" y="2505456"/>
            <a:ext cx="8046720" cy="50292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Compare: "Both of these ideas are part of the historical record." vs. "President Andrew Jackson supported the Indian Removal Act of 1830, a law that allowed the government to make treaties exchanging Native homelands in the Southeast for land west of the Mississippi River." Identify how these two sentences differ in length and how each begins.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The Prefix re-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prefix words vs. no-prefix words</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Has prefix re-</a:t>
            </a:r>
            <a:endParaRPr lang="en-US" sz="1300" dirty="0"/>
          </a:p>
        </p:txBody>
      </p:sp>
      <p:sp>
        <p:nvSpPr>
          <p:cNvPr id="8" name="Text 6"/>
          <p:cNvSpPr/>
          <p:nvPr/>
        </p:nvSpPr>
        <p:spPr>
          <a:xfrm>
            <a:off x="36576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rebuild, reunite, rewrite, reservation</a:t>
            </a:r>
            <a:endParaRPr lang="en-US" sz="12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Multisyllabic, no re-</a:t>
            </a:r>
            <a:endParaRPr lang="en-US" sz="1300" dirty="0"/>
          </a:p>
        </p:txBody>
      </p:sp>
      <p:sp>
        <p:nvSpPr>
          <p:cNvPr id="10" name="Text 8"/>
          <p:cNvSpPr/>
          <p:nvPr/>
        </p:nvSpPr>
        <p:spPr>
          <a:xfrm>
            <a:off x="466344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boundary, government, territory, ancestral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RWM — Reader · Writer · Mimic</a:t>
            </a:r>
            <a:endParaRPr lang="en-US" sz="24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For generations, the Choctaw Nation's identity was tied to this land—the rivers, fields, and forests that had supported their communities for centuries.</a:t>
            </a:r>
            <a:endParaRPr lang="en-US" sz="15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does this sentence show about how important the land was to the Choctaw Nation's sense of who they were?</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Notice the introductory phrase "For generations," before the comma, and the dash that introduces a list of examples. How does the dash help organize the sentence?</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"For ___, ___ was tied to ___—the ___, ___, and ___ that had ___."</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Open the Source Table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Your job today is to notice which parts are stated facts and which parts are perspective.</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By the 1830s, the United States government and many American settlers wanted more land for farming, especially for growing cotton. President Andrew Jackson supported the Indian Removal Act of 1830... Supporters of removal argued that moving the Choctaw Nation and other Native nations west would end disputes over land and open new territory for settlers.</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The Choctaw Nation of Oklahoma remembers this history differently today. In its own words, the Choctaw Nation describes the Treaty of Dancing Rabbit Creek as a moment that "forever changed our Chahta people’s story."</a:t>
            </a:r>
            <a:endParaRPr lang="en-US" sz="1200" dirty="0"/>
          </a:p>
          <a:p>
            <a:pPr indent="0" marL="0">
              <a:buNone/>
            </a:pPr>
            <a:endParaRPr lang="en-US" sz="1200" dirty="0"/>
          </a:p>
          <a:p>
            <a:pPr indent="0" marL="0">
              <a:buNone/>
            </a:pPr>
            <a:r>
              <a:rPr lang="en-US" sz="1200" i="1" dirty="0">
                <a:solidFill>
                  <a:srgbClr val="1E293B"/>
                </a:solidFill>
                <a:latin typeface="Georgia" pitchFamily="34" charset="0"/>
                <a:ea typeface="Georgia" pitchFamily="34" charset="-122"/>
                <a:cs typeface="Georgia" pitchFamily="34" charset="-120"/>
              </a:rPr>
              <a:t>Both of these ideas are part of the historical record. One explains a policy decision made by a government. The other is a nation’s own reflection on what that decision meant for its people.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sentence in the passage sounds most like a stated fact you could look up and check?</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sentence sounds most like a perspective or reflection? How can you tell?</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Describe both the government’s argument for removal AND the Choctaw Nation of Oklahoma’s reflection on it today, in your own words.</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Which part of today’s passage is closer to a stated fact, and which is closer to a perspective or reflection? Explain how you decided.</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Why might the same historical event — like the Treaty of Dancing Rabbit Creek — be described differently by a government report and by the people it affected?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Writing Connection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Explain in 2–3 sentences why the same historical event might be remembered differently by different people, using an example from today’s passage.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2026-07-13T03:04:01Z</dcterms:created>
  <dcterms:modified xsi:type="dcterms:W3CDTF">2026-07-13T03:04:01Z</dcterms:modified>
</cp:coreProperties>
</file>