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27, Day 4, Week 27 — Gold Rush Informational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Jack has been dreaming of gold fields since Boston. Today you read an informational passage about what mining actually looked like in 1849 — and connect it to Chapters 7–9.
Vocabulary SWYK: I will complete a choice board for all five Week 27 words.
Morphology: I will explain curr/curs and tract roots to a classmate.
Informational Reading: I will read about the California diggings and connect it to the novel.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"miners worked from dawn to dusk in icy mountain streams and their backs ached and their boots rotted and most of them found little or nothing yet still they kept working because the dream was more powerful than the reality"
Corrected: "Miners worked from dawn to dusk in icy mountain streams; their backs ached, their boots rotted, and most of them found little or nothing. Yet still they kept working, because the dream was more powerful than the reality."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"miners worked from dawn to dusk in icy mountain streams and their backs ached and their boots rotted and most of them found little or nothing yet still they kept working because the dream was more powerful than the reality"
Corrected: "Miners worked from dawn to dusk in icy mountain streams; their backs ached, their boots rotted, and most of them found little or nothing. Yet still they kept working, because the dream was more powerful than the reality."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detail actually support my point, or is it just filler?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choice_board. Graded SWYK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content — this novel uses explain/tap-to-notice practice rather than a scored quiz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–tion/–sion —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Six Weeks with By the Great Horn Spoon! — Week 27 — Gold Rush Informational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in the Reading tab as they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BUILD THE MIDDLE
Focus: Week 27 closes — middle section complete, ready for Week 28
Task: Write the middle section of your adventure. Make things worse before they get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B85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B85C"/>
                </a:solidFill>
                <a:latin typeface="Calibri" pitchFamily="34" charset="0"/>
                <a:ea typeface="Calibri" pitchFamily="34" charset="-122"/>
                <a:cs typeface="Calibri" pitchFamily="34" charset="-120"/>
              </a:rPr>
              <a:t>WEEK 27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By the Great Horn Spoon!</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Week 27 — Gold Rush Informational Connection</a:t>
            </a:r>
            <a:endParaRPr lang="en-US" sz="26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27  ·  Grit, Wit &amp; Adventure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Jack has been dreaming of gold fields since Boston. Today you read an informational passage about what mining actually looked like in 1849 — and connect it to Chapters 7–9.</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Vocabulary SWYK: </a:t>
            </a:r>
            <a:pPr indent="0" marL="0">
              <a:buNone/>
            </a:pPr>
            <a:r>
              <a:rPr lang="en-US" sz="1250" dirty="0">
                <a:solidFill>
                  <a:srgbClr val="1E293B"/>
                </a:solidFill>
                <a:latin typeface="Calibri" pitchFamily="34" charset="0"/>
                <a:ea typeface="Calibri" pitchFamily="34" charset="-122"/>
                <a:cs typeface="Calibri" pitchFamily="34" charset="-120"/>
              </a:rPr>
              <a:t>I will complete a choice board for all five Week 27 words.</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Morphology: </a:t>
            </a:r>
            <a:pPr indent="0" marL="0">
              <a:buNone/>
            </a:pPr>
            <a:r>
              <a:rPr lang="en-US" sz="1250" dirty="0">
                <a:solidFill>
                  <a:srgbClr val="1E293B"/>
                </a:solidFill>
                <a:latin typeface="Calibri" pitchFamily="34" charset="0"/>
                <a:ea typeface="Calibri" pitchFamily="34" charset="-122"/>
                <a:cs typeface="Calibri" pitchFamily="34" charset="-120"/>
              </a:rPr>
              <a:t>I will explain curr/curs and tract roots to a classmate.</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Informational Reading: </a:t>
            </a:r>
            <a:pPr indent="0" marL="0">
              <a:buNone/>
            </a:pPr>
            <a:r>
              <a:rPr lang="en-US" sz="1250" dirty="0">
                <a:solidFill>
                  <a:srgbClr val="1E293B"/>
                </a:solidFill>
                <a:latin typeface="Calibri" pitchFamily="34" charset="0"/>
                <a:ea typeface="Calibri" pitchFamily="34" charset="-122"/>
                <a:cs typeface="Calibri" pitchFamily="34" charset="-120"/>
              </a:rPr>
              <a:t>I will read about the California diggings and connect it to the novel.</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When you understand how placer mining works, Quartz Jackson’s explanation in Chapter 8 becomes a real lesson, not just a plot detail. When you see that flour cost $1 a pound, you understand why Praiseworthy guards their gold dust so carefully. History makes the novel vivid; the novel makes history human.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Because gold was heavy and sank to the bottom of any pan of water , the technique of placer mining was simple; but finding a rich claim was anything but certain.</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Because gold was heavy and sank to the bottom of any pan of water  </a:t>
            </a:r>
            <a:pPr indent="0" marL="0">
              <a:buNone/>
            </a:pPr>
            <a:r>
              <a:rPr lang="en-US" sz="1150" dirty="0">
                <a:solidFill>
                  <a:srgbClr val="1E293B"/>
                </a:solidFill>
                <a:latin typeface="Calibri" pitchFamily="34" charset="0"/>
                <a:ea typeface="Calibri" pitchFamily="34" charset="-122"/>
                <a:cs typeface="Calibri" pitchFamily="34" charset="-120"/>
              </a:rPr>
              <a:t>Complex-compound sentence. Because starts the dependent clause (cause). The semicolon separates two main clauses (compound). Cause + two contrasting effects.</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but finding a rich claim was anything but certain.  </a:t>
            </a:r>
            <a:pPr indent="0" marL="0">
              <a:buNone/>
            </a:pPr>
            <a:r>
              <a:rPr lang="en-US" sz="1150" dirty="0">
                <a:solidFill>
                  <a:srgbClr val="1E293B"/>
                </a:solidFill>
                <a:latin typeface="Calibri" pitchFamily="34" charset="0"/>
                <a:ea typeface="Calibri" pitchFamily="34" charset="-122"/>
                <a:cs typeface="Calibri" pitchFamily="34" charset="-120"/>
              </a:rPr>
              <a:t>Second main clause: but finding a rich claim was anything but certain. The contrast is the whole story of the Gold Rush.</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miners worked from dawn to dusk in icy mountain streams and their backs ached and their boots rotted and most of them found little or nothing yet still they kept working because the dream was more powerful than the reality</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miners worked from dawn to dusk in icy mountain streams and their backs ached and their boots rotted and most of them found little or nothing yet still they kept working because the dream was more powerful than the reality</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Miners worked from dawn to dusk in icy mountain streams; their backs ached, their boots rotted, and most of them found little or nothing. Yet still they kept working, because the dream was more powerful than the reality.</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Comparing the informational passage to Jack's story, which teaches you more about the real Gold Rush: the facts, or the fiction? Defend your answer with evidence from both texts.</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Comparing the informational passage to Jack's story, which teaches you more about the real Gold Rush: the facts, or the fiction? Defend your answer with evidence from both texts.</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Does this detail actually support my point, or is it just filler?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Roots curr/curs + tract — Explain</a:t>
            </a:r>
            <a:endParaRPr lang="en-US" sz="1100" dirty="0"/>
          </a:p>
        </p:txBody>
      </p:sp>
      <p:sp>
        <p:nvSpPr>
          <p:cNvPr id="5" name="Shape 3"/>
          <p:cNvSpPr/>
          <p:nvPr/>
        </p:nvSpPr>
        <p:spPr>
          <a:xfrm>
            <a:off x="365760" y="1097280"/>
            <a:ext cx="8412480" cy="603504"/>
          </a:xfrm>
          <a:prstGeom prst="roundRect">
            <a:avLst>
              <a:gd name="adj" fmla="val 1515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51206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 your journal: Explain curr/curs and tract to a classmate. For each: meaning, three example words, one sentence connecting the root to something in Chapters 7–9. 4–6 sentences total.</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097280"/>
            <a:ext cx="8412480" cy="457200"/>
          </a:xfrm>
          <a:prstGeom prst="roundRect">
            <a:avLst>
              <a:gd name="adj" fmla="val 20000"/>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3657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Show what you know: skedaddled · grubstake · diggings · assay · jipijapa</a:t>
            </a:r>
            <a:endParaRPr lang="en-US" sz="1200" dirty="0"/>
          </a:p>
        </p:txBody>
      </p:sp>
      <p:sp>
        <p:nvSpPr>
          <p:cNvPr id="7" name="Shape 5"/>
          <p:cNvSpPr/>
          <p:nvPr/>
        </p:nvSpPr>
        <p:spPr>
          <a:xfrm>
            <a:off x="365760" y="1664208"/>
            <a:ext cx="8412480" cy="512064"/>
          </a:xfrm>
          <a:prstGeom prst="roundRect">
            <a:avLst>
              <a:gd name="adj" fmla="val 17857"/>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00784"/>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Miner’s Journal:  </a:t>
            </a:r>
            <a:pPr indent="0" marL="0">
              <a:buNone/>
            </a:pPr>
            <a:r>
              <a:rPr lang="en-US" sz="1050" dirty="0">
                <a:solidFill>
                  <a:srgbClr val="1E293B"/>
                </a:solidFill>
                <a:latin typeface="Calibri" pitchFamily="34" charset="0"/>
                <a:ea typeface="Calibri" pitchFamily="34" charset="-122"/>
                <a:cs typeface="Calibri" pitchFamily="34" charset="-120"/>
              </a:rPr>
              <a:t>Write a 5–7 sentence journal entry from a Forty-Niner arriving in California, using all five words naturally.</a:t>
            </a:r>
            <a:endParaRPr lang="en-US" sz="1150" dirty="0"/>
          </a:p>
        </p:txBody>
      </p:sp>
      <p:sp>
        <p:nvSpPr>
          <p:cNvPr id="9" name="Shape 7"/>
          <p:cNvSpPr/>
          <p:nvPr/>
        </p:nvSpPr>
        <p:spPr>
          <a:xfrm>
            <a:off x="365760" y="223113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67712"/>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Word Origins:  </a:t>
            </a:r>
            <a:pPr indent="0" marL="0">
              <a:buNone/>
            </a:pPr>
            <a:r>
              <a:rPr lang="en-US" sz="1050" dirty="0">
                <a:solidFill>
                  <a:srgbClr val="1E293B"/>
                </a:solidFill>
                <a:latin typeface="Calibri" pitchFamily="34" charset="0"/>
                <a:ea typeface="Calibri" pitchFamily="34" charset="-122"/>
                <a:cs typeface="Calibri" pitchFamily="34" charset="-120"/>
              </a:rPr>
              <a:t>For each word: write it, find or explain its origin, and show how the origin connects to the Gold Rush context in the novel.</a:t>
            </a:r>
            <a:endParaRPr lang="en-US" sz="1150" dirty="0"/>
          </a:p>
        </p:txBody>
      </p:sp>
      <p:sp>
        <p:nvSpPr>
          <p:cNvPr id="11" name="Shape 9"/>
          <p:cNvSpPr/>
          <p:nvPr/>
        </p:nvSpPr>
        <p:spPr>
          <a:xfrm>
            <a:off x="365760" y="2798064"/>
            <a:ext cx="8412480" cy="512064"/>
          </a:xfrm>
          <a:prstGeom prst="roundRect">
            <a:avLst>
              <a:gd name="adj" fmla="val 17857"/>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34640"/>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Definitions + Sentences:  </a:t>
            </a:r>
            <a:pPr indent="0" marL="0">
              <a:buNone/>
            </a:pPr>
            <a:r>
              <a:rPr lang="en-US" sz="1050" dirty="0">
                <a:solidFill>
                  <a:srgbClr val="1E293B"/>
                </a:solidFill>
                <a:latin typeface="Calibri" pitchFamily="34" charset="0"/>
                <a:ea typeface="Calibri" pitchFamily="34" charset="-122"/>
                <a:cs typeface="Calibri" pitchFamily="34" charset="-120"/>
              </a:rPr>
              <a:t>Define each word precisely in your own words, then write a sentence using it that connects to Chs. 7–9.</a:t>
            </a:r>
            <a:endParaRPr lang="en-US" sz="1150" dirty="0"/>
          </a:p>
        </p:txBody>
      </p:sp>
      <p:sp>
        <p:nvSpPr>
          <p:cNvPr id="13" name="Shape 11"/>
          <p:cNvSpPr/>
          <p:nvPr/>
        </p:nvSpPr>
        <p:spPr>
          <a:xfrm>
            <a:off x="365760" y="336499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401568"/>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Gold Rush Web:  </a:t>
            </a:r>
            <a:pPr indent="0" marL="0">
              <a:buNone/>
            </a:pPr>
            <a:r>
              <a:rPr lang="en-US" sz="1050" dirty="0">
                <a:solidFill>
                  <a:srgbClr val="1E293B"/>
                </a:solidFill>
                <a:latin typeface="Calibri" pitchFamily="34" charset="0"/>
                <a:ea typeface="Calibri" pitchFamily="34" charset="-122"/>
                <a:cs typeface="Calibri" pitchFamily="34" charset="-120"/>
              </a:rPr>
              <a:t>Write a paragraph explaining how all five words connect to the world Jack and Praiseworthy have just entered. Use every word at least once.</a:t>
            </a:r>
            <a:endParaRPr lang="en-US" sz="1150" dirty="0"/>
          </a:p>
        </p:txBody>
      </p:sp>
      <p:sp>
        <p:nvSpPr>
          <p:cNvPr id="15" name="Shape 13"/>
          <p:cNvSpPr/>
          <p:nvPr/>
        </p:nvSpPr>
        <p:spPr>
          <a:xfrm>
            <a:off x="365760" y="3977640"/>
            <a:ext cx="8412480" cy="777240"/>
          </a:xfrm>
          <a:prstGeom prst="roundRect">
            <a:avLst>
              <a:gd name="adj" fmla="val 11765"/>
            </a:avLst>
          </a:prstGeom>
          <a:solidFill>
            <a:srgbClr val="FEF6E8"/>
          </a:solidFill>
          <a:ln w="12700">
            <a:solidFill>
              <a:srgbClr val="C7922C"/>
            </a:solidFill>
            <a:prstDash val="solid"/>
          </a:ln>
        </p:spPr>
      </p:sp>
      <p:sp>
        <p:nvSpPr>
          <p:cNvPr id="16" name="Text 14"/>
          <p:cNvSpPr/>
          <p:nvPr/>
        </p:nvSpPr>
        <p:spPr>
          <a:xfrm>
            <a:off x="548640" y="4050792"/>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Vocabulary
</a:t>
            </a:r>
            <a:pPr indent="0" marL="0">
              <a:buNone/>
            </a:pPr>
            <a:r>
              <a:rPr lang="en-US" sz="1050" i="1" dirty="0">
                <a:solidFill>
                  <a:srgbClr val="1E293B"/>
                </a:solidFill>
                <a:latin typeface="Calibri" pitchFamily="34" charset="0"/>
                <a:ea typeface="Calibri" pitchFamily="34" charset="-122"/>
                <a:cs typeface="Calibri" pitchFamily="34" charset="-120"/>
              </a:rPr>
              <a:t>Choose one option above and complete it.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Compound &amp; Complex — Explain</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 your journal: A classmate asks, “Why use complex sentences in adventure writing — can’t I just use short sentences?” Write a 3-sentence explanation with one example from Chapters 7–9 showing how a complex sentence creates momentum or cause-and-effect that two short sentences can’t.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–tion/–sion — Explain</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 your journal: Explain the –tion/–sion rule to someone who always confuses them. Give the pronunciation clue (/shun/ vs. /zhun/) and two examples of each. Why do these suffixes appear so often in nonfiction and informational writing?</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52144"/>
            <a:ext cx="7955280" cy="493776"/>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Six Weeks with By the Great Horn Spoon! — Week 27 — Gold Rush Informational Connection</a:t>
            </a:r>
            <a:endParaRPr lang="en-US" sz="1250" dirty="0"/>
          </a:p>
        </p:txBody>
      </p:sp>
      <p:sp>
        <p:nvSpPr>
          <p:cNvPr id="9" name="Text 7"/>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5CB85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084832"/>
            <a:ext cx="8412480" cy="548640"/>
          </a:xfrm>
          <a:prstGeom prst="roundRect">
            <a:avLst>
              <a:gd name="adj" fmla="val 16667"/>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139696"/>
            <a:ext cx="7955280" cy="43891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Week 27 — Gold Rush Informational Connection</a:t>
            </a:r>
            <a:endParaRPr lang="en-US" sz="1400" dirty="0"/>
          </a:p>
        </p:txBody>
      </p:sp>
      <p:sp>
        <p:nvSpPr>
          <p:cNvPr id="12" name="Text 10"/>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READING FOCUS</a:t>
            </a:r>
            <a:endParaRPr lang="en-US" sz="1100" dirty="0"/>
          </a:p>
        </p:txBody>
      </p:sp>
      <p:sp>
        <p:nvSpPr>
          <p:cNvPr id="13" name="Shape 11"/>
          <p:cNvSpPr/>
          <p:nvPr/>
        </p:nvSpPr>
        <p:spPr>
          <a:xfrm>
            <a:off x="365760" y="2999232"/>
            <a:ext cx="8412480" cy="1600200"/>
          </a:xfrm>
          <a:prstGeom prst="roundRect">
            <a:avLst>
              <a:gd name="adj" fmla="val 5714"/>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090672"/>
            <a:ext cx="7955280" cy="141732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When you understand how placer mining works, Quartz Jackson’s explanation in Chapter 8 becomes a real lesson, not just a plot detail. When you see that flour cost $1 a pound, you understand why Praiseworthy guards their gold dust so carefully. History makes the novel vivid; the novel makes history human.</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 Read: Life in the California Diggings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TODAY</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1.  </a:t>
            </a:r>
            <a:pPr indent="0" marL="0">
              <a:buNone/>
            </a:pPr>
            <a:r>
              <a:rPr lang="en-US" sz="1100" dirty="0">
                <a:solidFill>
                  <a:srgbClr val="1E293B"/>
                </a:solidFill>
                <a:latin typeface="Calibri" pitchFamily="34" charset="0"/>
                <a:ea typeface="Calibri" pitchFamily="34" charset="-122"/>
                <a:cs typeface="Calibri" pitchFamily="34" charset="-120"/>
              </a:rPr>
              <a:t>Explain how placer mining worked. What tool did most miners use, and why did gold settle to the bottom of the pan? Use at least one specific detail from the passage.</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39696"/>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2.  </a:t>
            </a:r>
            <a:pPr indent="0" marL="0">
              <a:buNone/>
            </a:pPr>
            <a:r>
              <a:rPr lang="en-US" sz="1100" dirty="0">
                <a:solidFill>
                  <a:srgbClr val="1E293B"/>
                </a:solidFill>
                <a:latin typeface="Calibri" pitchFamily="34" charset="0"/>
                <a:ea typeface="Calibri" pitchFamily="34" charset="-122"/>
                <a:cs typeface="Calibri" pitchFamily="34" charset="-120"/>
              </a:rPr>
              <a:t>Using both the informational passage and Chapter 8, explain why prices were so extreme in California in 1849. Name at least one specific price from each source.</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27248"/>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3.  </a:t>
            </a:r>
            <a:pPr indent="0" marL="0">
              <a:buNone/>
            </a:pPr>
            <a:r>
              <a:rPr lang="en-US" sz="1100" dirty="0">
                <a:solidFill>
                  <a:srgbClr val="1E293B"/>
                </a:solidFill>
                <a:latin typeface="Calibri" pitchFamily="34" charset="0"/>
                <a:ea typeface="Calibri" pitchFamily="34" charset="-122"/>
                <a:cs typeface="Calibri" pitchFamily="34" charset="-120"/>
              </a:rPr>
              <a:t>The passage says most Forty-Niners did not get rich. Praiseworthy privately doubts they’ll find gold. Yet Fleischman keeps us rooting for Jack. Using both the passage and Chapters 7–9, explain what Fleischman is saying about hope versus reality. What makes Jack’s journey worth reading about even when the odds are against him?</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BUILD THE MIDDLE</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Week 27 closes — middle section complete, ready for Week 28</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Write the middle section of your adventure. Make things worse before they get better.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2026-07-13T17:56:39Z</dcterms:created>
  <dcterms:modified xsi:type="dcterms:W3CDTF">2026-07-13T17:56:39Z</dcterms:modified>
</cp:coreProperties>
</file>