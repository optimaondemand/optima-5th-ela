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18, Day 3, Chapter 6 — Men with Blankets. Historical content note: this novel is narrated by a Choctaw boy during the Trail of Tears / removal era — handle with the same care as the source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Isaac tells you on the first page that he is already a ghost. How does knowing the ending change how you feel as you read the beginning?
Reading: I will analyze Isaac's first-person narrative voice in Chapter 1.
Grammar: I will identify appositives in sentences from Chapter 1.
Spelling: I will sort historical vocabulary words by syllable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 needed — tap-and-notice only. Discuss why each highlighted word/punctuation mark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 blanket was wrapped around old man and a turn was made by him for all to see"
Corrected: "Old Man wrapped himself in the blanket and turned around for everyone to see."
Active voice: Old Man is the subject who acts. Both verbs — “wrapped” and “turned” — are strong and precise.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 blanket was wrapped around old man and a turn was made by him for all to see"
Corrected: "Old Man wrapped himself in the blanket and turned around for everyone to see."
Active voice: Old Man is the subject who acts. Both verbs — “wrapped” and “turned” — are strong and precise.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routine — use if time allows. Read the prompt aloud. Remind students: pick a side, defend with evidence, anticipate disagreement.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Is there a stronger, more specific word I could use here instead of a vague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Encourage respectful disagreement about their choice/defense.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review — same word set practiced across the week (match/identify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answers yet — students tap/discuss and guess the appositive.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revealed — correct word in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 Spelling: Open &amp; Closed Syllables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RWM — Reader / Writer / Mimic. Read the sentence aloud, then work through each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Tracker: Isaac’s Path — 📍 Chapter 6 — Men with Blankets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Connection — Stage: APPLY
Focus: Developing First-Person Voice
Task: Today is the Apply stage. Read your draft from Day 2. Add ONE inside detail — a specific image, sound, feeling, or thought. Tingle does this constantly: “I felt the warm shiver from inside.” One inside detail changes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A0A4A"/>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8B6FC0">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8B6FC0"/>
                </a:solidFill>
                <a:latin typeface="Calibri" pitchFamily="34" charset="0"/>
                <a:ea typeface="Calibri" pitchFamily="34" charset="-122"/>
                <a:cs typeface="Calibri" pitchFamily="34" charset="-120"/>
              </a:rPr>
              <a:t>WEEK 18  ·  DAY 3</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How I Became a Ghost</a:t>
            </a:r>
            <a:endParaRPr lang="en-US" sz="2800" dirty="0"/>
          </a:p>
          <a:p>
            <a:pPr algn="l" indent="0" marL="0">
              <a:buNone/>
            </a:pPr>
            <a:r>
              <a:rPr lang="en-US" sz="2800" b="1" dirty="0">
                <a:solidFill>
                  <a:srgbClr val="FFFFFF"/>
                </a:solidFill>
                <a:latin typeface="Calibri" pitchFamily="34" charset="0"/>
                <a:ea typeface="Calibri" pitchFamily="34" charset="-122"/>
                <a:cs typeface="Calibri" pitchFamily="34" charset="-120"/>
              </a:rPr>
              <a:t>Chapter 6 — Men with Blankets</a:t>
            </a:r>
            <a:endParaRPr lang="en-US" sz="28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18  ·  Courage &amp; Remembrance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Today's Objectives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6868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5" name="Shape 3"/>
          <p:cNvSpPr/>
          <p:nvPr/>
        </p:nvSpPr>
        <p:spPr>
          <a:xfrm>
            <a:off x="365760" y="1115568"/>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94360"/>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Isaac tells you on the first page that he is already a ghost. How does knowing the ending change how you feel as you read the beginning?</a:t>
            </a:r>
            <a:endParaRPr lang="en-US" sz="1300" dirty="0"/>
          </a:p>
        </p:txBody>
      </p:sp>
      <p:sp>
        <p:nvSpPr>
          <p:cNvPr id="7" name="Text 5"/>
          <p:cNvSpPr/>
          <p:nvPr/>
        </p:nvSpPr>
        <p:spPr>
          <a:xfrm>
            <a:off x="365760" y="20116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8" name="Shape 6"/>
          <p:cNvSpPr/>
          <p:nvPr/>
        </p:nvSpPr>
        <p:spPr>
          <a:xfrm>
            <a:off x="365760" y="228600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359152"/>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Reading: </a:t>
            </a:r>
            <a:pPr indent="0" marL="0">
              <a:buNone/>
            </a:pPr>
            <a:r>
              <a:rPr lang="en-US" sz="1250" dirty="0">
                <a:solidFill>
                  <a:srgbClr val="1E293B"/>
                </a:solidFill>
                <a:latin typeface="Calibri" pitchFamily="34" charset="0"/>
                <a:ea typeface="Calibri" pitchFamily="34" charset="-122"/>
                <a:cs typeface="Calibri" pitchFamily="34" charset="-120"/>
              </a:rPr>
              <a:t>I will analyze Isaac's first-person narrative voice in Chapter 1.</a:t>
            </a:r>
            <a:endParaRPr lang="en-US" sz="1500" dirty="0"/>
          </a:p>
        </p:txBody>
      </p:sp>
      <p:sp>
        <p:nvSpPr>
          <p:cNvPr id="10" name="Shape 8"/>
          <p:cNvSpPr/>
          <p:nvPr/>
        </p:nvSpPr>
        <p:spPr>
          <a:xfrm>
            <a:off x="365760" y="3090672"/>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163824"/>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Grammar: </a:t>
            </a:r>
            <a:pPr indent="0" marL="0">
              <a:buNone/>
            </a:pPr>
            <a:r>
              <a:rPr lang="en-US" sz="1250" dirty="0">
                <a:solidFill>
                  <a:srgbClr val="1E293B"/>
                </a:solidFill>
                <a:latin typeface="Calibri" pitchFamily="34" charset="0"/>
                <a:ea typeface="Calibri" pitchFamily="34" charset="-122"/>
                <a:cs typeface="Calibri" pitchFamily="34" charset="-120"/>
              </a:rPr>
              <a:t>I will identify appositives in sentences from Chapter 1.</a:t>
            </a:r>
            <a:endParaRPr lang="en-US" sz="1500" dirty="0"/>
          </a:p>
        </p:txBody>
      </p:sp>
      <p:sp>
        <p:nvSpPr>
          <p:cNvPr id="12" name="Shape 10"/>
          <p:cNvSpPr/>
          <p:nvPr/>
        </p:nvSpPr>
        <p:spPr>
          <a:xfrm>
            <a:off x="365760" y="3895344"/>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968496"/>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Spelling: </a:t>
            </a:r>
            <a:pPr indent="0" marL="0">
              <a:buNone/>
            </a:pPr>
            <a:r>
              <a:rPr lang="en-US" sz="1250" dirty="0">
                <a:solidFill>
                  <a:srgbClr val="1E293B"/>
                </a:solidFill>
                <a:latin typeface="Calibri" pitchFamily="34" charset="0"/>
                <a:ea typeface="Calibri" pitchFamily="34" charset="-122"/>
                <a:cs typeface="Calibri" pitchFamily="34" charset="-120"/>
              </a:rPr>
              <a:t>I will sort historical vocabulary words by syllable count.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What Good Readers Do</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SET YOUR READING LENS</a:t>
            </a:r>
            <a:endParaRPr lang="en-US" sz="1100" dirty="0"/>
          </a:p>
        </p:txBody>
      </p:sp>
      <p:sp>
        <p:nvSpPr>
          <p:cNvPr id="5" name="Shape 3"/>
          <p:cNvSpPr/>
          <p:nvPr/>
        </p:nvSpPr>
        <p:spPr>
          <a:xfrm>
            <a:off x="365760" y="1078992"/>
            <a:ext cx="8412480" cy="1554480"/>
          </a:xfrm>
          <a:prstGeom prst="roundRect">
            <a:avLst>
              <a:gd name="adj" fmla="val 588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70432"/>
            <a:ext cx="7955280" cy="13716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Good readers pay attention to what a character chooses not to do — because refusing can be as powerful as acting. In Chapter 6, Isaac’s mother makes a refusal. Watch: what does she know that no one else knows? How does Tingle signal that her instinct is right?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Study What's Right</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Old Man wrapped himself in the blanket and turned around for everyone to see.</a:t>
            </a:r>
            <a:endParaRPr lang="en-US" sz="16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WORD TEACHES</a:t>
            </a:r>
            <a:endParaRPr lang="en-US" sz="1100" dirty="0"/>
          </a:p>
        </p:txBody>
      </p:sp>
      <p:sp>
        <p:nvSpPr>
          <p:cNvPr id="8" name="Shape 6"/>
          <p:cNvSpPr/>
          <p:nvPr/>
        </p:nvSpPr>
        <p:spPr>
          <a:xfrm>
            <a:off x="365760" y="2377440"/>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23160"/>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Man  </a:t>
            </a:r>
            <a:pPr indent="0" marL="0">
              <a:buNone/>
            </a:pPr>
            <a:r>
              <a:rPr lang="en-US" sz="1150" dirty="0">
                <a:solidFill>
                  <a:srgbClr val="1E293B"/>
                </a:solidFill>
                <a:latin typeface="Calibri" pitchFamily="34" charset="0"/>
                <a:ea typeface="Calibri" pitchFamily="34" charset="-122"/>
                <a:cs typeface="Calibri" pitchFamily="34" charset="-120"/>
              </a:rPr>
              <a:t>Subject — Old Man acts.</a:t>
            </a:r>
            <a:endParaRPr lang="en-US" sz="1250" dirty="0"/>
          </a:p>
        </p:txBody>
      </p:sp>
      <p:sp>
        <p:nvSpPr>
          <p:cNvPr id="10" name="Shape 8"/>
          <p:cNvSpPr/>
          <p:nvPr/>
        </p:nvSpPr>
        <p:spPr>
          <a:xfrm>
            <a:off x="365760" y="2889504"/>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935224"/>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wrapped  </a:t>
            </a:r>
            <a:pPr indent="0" marL="0">
              <a:buNone/>
            </a:pPr>
            <a:r>
              <a:rPr lang="en-US" sz="1150" dirty="0">
                <a:solidFill>
                  <a:srgbClr val="1E293B"/>
                </a:solidFill>
                <a:latin typeface="Calibri" pitchFamily="34" charset="0"/>
                <a:ea typeface="Calibri" pitchFamily="34" charset="-122"/>
                <a:cs typeface="Calibri" pitchFamily="34" charset="-120"/>
              </a:rPr>
              <a:t>Strong verb: deliberate action.</a:t>
            </a:r>
            <a:endParaRPr lang="en-US" sz="1250" dirty="0"/>
          </a:p>
        </p:txBody>
      </p:sp>
      <p:sp>
        <p:nvSpPr>
          <p:cNvPr id="12" name="Shape 10"/>
          <p:cNvSpPr/>
          <p:nvPr/>
        </p:nvSpPr>
        <p:spPr>
          <a:xfrm>
            <a:off x="365760" y="3401568"/>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447288"/>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turned  </a:t>
            </a:r>
            <a:pPr indent="0" marL="0">
              <a:buNone/>
            </a:pPr>
            <a:r>
              <a:rPr lang="en-US" sz="1150" dirty="0">
                <a:solidFill>
                  <a:srgbClr val="1E293B"/>
                </a:solidFill>
                <a:latin typeface="Calibri" pitchFamily="34" charset="0"/>
                <a:ea typeface="Calibri" pitchFamily="34" charset="-122"/>
                <a:cs typeface="Calibri" pitchFamily="34" charset="-120"/>
              </a:rPr>
              <a:t>Second strong verb.</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 blanket was wrapped around old man and a turn was made by him for all to see</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 blanket was wrapped around old man and a turn was made by him for all to see</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r>
              <a:rPr lang="en-US" sz="1500" b="1" i="1" dirty="0">
                <a:solidFill>
                  <a:srgbClr val="1E293B"/>
                </a:solidFill>
                <a:latin typeface="Calibri" pitchFamily="34" charset="0"/>
                <a:ea typeface="Calibri" pitchFamily="34" charset="-122"/>
                <a:cs typeface="Calibri" pitchFamily="34" charset="-120"/>
              </a:rPr>
              <a:t>Old Man wrapped himself in the blanket and turned around for everyone to see.</a:t>
            </a:r>
            <a:endParaRPr lang="en-US" sz="15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Active voice: Old Man is the subject who acts. Both verbs — “wrapped” and “turned” — are strong and precise.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Quick Write (Optional)</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144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READ THE PROMPT — 1 MINUTE</a:t>
            </a:r>
            <a:endParaRPr lang="en-US" sz="1100" dirty="0"/>
          </a:p>
        </p:txBody>
      </p:sp>
      <p:sp>
        <p:nvSpPr>
          <p:cNvPr id="5" name="Shape 3"/>
          <p:cNvSpPr/>
          <p:nvPr/>
        </p:nvSpPr>
        <p:spPr>
          <a:xfrm>
            <a:off x="457200" y="1280160"/>
            <a:ext cx="8229600" cy="1463040"/>
          </a:xfrm>
          <a:prstGeom prst="roundRect">
            <a:avLst>
              <a:gd name="adj" fmla="val 6250"/>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389888"/>
            <a:ext cx="7863840" cy="12344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 'Men with Blankets' bring both help and a hidden danger. Which detail in Chapter 6 best shows that not everything that looks like kindness truly is? Defend your answer with evidence.</a:t>
            </a:r>
            <a:endParaRPr lang="en-US" sz="1600" dirty="0"/>
          </a:p>
        </p:txBody>
      </p:sp>
      <p:sp>
        <p:nvSpPr>
          <p:cNvPr id="7" name="Text 5"/>
          <p:cNvSpPr/>
          <p:nvPr/>
        </p:nvSpPr>
        <p:spPr>
          <a:xfrm>
            <a:off x="457200" y="29260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SENTENCE SCAFFOLD (USE WHAT HELPS)</a:t>
            </a:r>
            <a:endParaRPr lang="en-US" sz="1100" dirty="0"/>
          </a:p>
        </p:txBody>
      </p:sp>
      <p:sp>
        <p:nvSpPr>
          <p:cNvPr id="8" name="Text 6"/>
          <p:cNvSpPr/>
          <p:nvPr/>
        </p:nvSpPr>
        <p:spPr>
          <a:xfrm>
            <a:off x="457200" y="3218688"/>
            <a:ext cx="8229600" cy="822960"/>
          </a:xfrm>
          <a:prstGeom prst="rect">
            <a:avLst/>
          </a:prstGeom>
          <a:noFill/>
          <a:ln/>
        </p:spPr>
        <p:txBody>
          <a:bodyPr wrap="square" lIns="0" tIns="0" rIns="0" bIns="0" rtlCol="0" anchor="ctr"/>
          <a:lstStyle/>
          <a:p>
            <a:pPr indent="0" marL="0">
              <a:buNone/>
            </a:pPr>
            <a:r>
              <a:rPr lang="en-US" sz="1150" i="1" dirty="0">
                <a:solidFill>
                  <a:srgbClr val="0E1C42"/>
                </a:solidFill>
                <a:latin typeface="Calibri" pitchFamily="34" charset="0"/>
                <a:ea typeface="Calibri" pitchFamily="34" charset="-122"/>
                <a:cs typeface="Calibri" pitchFamily="34" charset="-120"/>
              </a:rPr>
              <a:t>I think...   →   because...   →   One piece of evidence is...   →   This matters because...</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  Writing Time</a:t>
            </a:r>
            <a:endParaRPr lang="en-US" sz="3000" dirty="0"/>
          </a:p>
        </p:txBody>
      </p:sp>
      <p:sp>
        <p:nvSpPr>
          <p:cNvPr id="3" name="Text 1"/>
          <p:cNvSpPr/>
          <p:nvPr/>
        </p:nvSpPr>
        <p:spPr>
          <a:xfrm>
            <a:off x="914400" y="804672"/>
            <a:ext cx="7315200" cy="365760"/>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5 minutes — keep your pencil moving!</a:t>
            </a:r>
            <a:endParaRPr lang="en-US" sz="1500" dirty="0"/>
          </a:p>
        </p:txBody>
      </p:sp>
      <p:sp>
        <p:nvSpPr>
          <p:cNvPr id="4" name="Shape 2"/>
          <p:cNvSpPr/>
          <p:nvPr/>
        </p:nvSpPr>
        <p:spPr>
          <a:xfrm>
            <a:off x="457200" y="1325880"/>
            <a:ext cx="8229600" cy="1188720"/>
          </a:xfrm>
          <a:prstGeom prst="roundRect">
            <a:avLst>
              <a:gd name="adj" fmla="val 7692"/>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371600"/>
            <a:ext cx="7863840" cy="109728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 Prompt: </a:t>
            </a:r>
            <a:pPr indent="0" marL="0">
              <a:buNone/>
            </a:pPr>
            <a:r>
              <a:rPr lang="en-US" sz="1200" i="1" dirty="0">
                <a:solidFill>
                  <a:srgbClr val="1E293B"/>
                </a:solidFill>
                <a:latin typeface="Calibri" pitchFamily="34" charset="0"/>
                <a:ea typeface="Calibri" pitchFamily="34" charset="-122"/>
                <a:cs typeface="Calibri" pitchFamily="34" charset="-120"/>
              </a:rPr>
              <a:t>The 'Men with Blankets' bring both help and a hidden danger. Which detail in Chapter 6 best shows that not everything that looks like kindness truly is? Defend your answer with evidence.</a:t>
            </a:r>
            <a:endParaRPr lang="en-US" sz="1200" dirty="0"/>
          </a:p>
        </p:txBody>
      </p:sp>
      <p:sp>
        <p:nvSpPr>
          <p:cNvPr id="6" name="Shape 4"/>
          <p:cNvSpPr/>
          <p:nvPr/>
        </p:nvSpPr>
        <p:spPr>
          <a:xfrm>
            <a:off x="1554480" y="2743200"/>
            <a:ext cx="6035040" cy="1600200"/>
          </a:xfrm>
          <a:prstGeom prst="roundRect">
            <a:avLst>
              <a:gd name="adj" fmla="val 6857"/>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737360" y="2834640"/>
            <a:ext cx="5669280" cy="14173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Scaffold, if you need it:
</a:t>
            </a:r>
            <a:pPr indent="0" marL="0">
              <a:buNone/>
            </a:pPr>
            <a:r>
              <a:rPr lang="en-US" sz="1150" dirty="0">
                <a:solidFill>
                  <a:srgbClr val="1E293B"/>
                </a:solidFill>
                <a:latin typeface="Calibri" pitchFamily="34" charset="0"/>
                <a:ea typeface="Calibri" pitchFamily="34" charset="-122"/>
                <a:cs typeface="Calibri" pitchFamily="34" charset="-120"/>
              </a:rPr>
              <a:t>I think...</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because...</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One piece of evidence is...</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This matters because...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3657600" y="320040"/>
            <a:ext cx="1828800" cy="5486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3" name="Text 1"/>
          <p:cNvSpPr/>
          <p:nvPr/>
        </p:nvSpPr>
        <p:spPr>
          <a:xfrm>
            <a:off x="914400" y="822960"/>
            <a:ext cx="7315200" cy="594360"/>
          </a:xfrm>
          <a:prstGeom prst="rect">
            <a:avLst/>
          </a:prstGeom>
          <a:noFill/>
          <a:ln/>
        </p:spPr>
        <p:txBody>
          <a:bodyPr wrap="square" lIns="0" tIns="0" rIns="0" bIns="0" rtlCol="0" anchor="ctr"/>
          <a:lstStyle/>
          <a:p>
            <a:pPr algn="ctr" indent="0" marL="0">
              <a:buNone/>
            </a:pPr>
            <a:r>
              <a:rPr lang="en-US" sz="2800" b="1" dirty="0">
                <a:solidFill>
                  <a:srgbClr val="0E1C42"/>
                </a:solidFill>
                <a:latin typeface="Calibri" pitchFamily="34" charset="0"/>
                <a:ea typeface="Calibri" pitchFamily="34" charset="-122"/>
                <a:cs typeface="Calibri" pitchFamily="34" charset="-120"/>
              </a:rPr>
              <a:t>Edit &amp; Revise</a:t>
            </a:r>
            <a:endParaRPr lang="en-US" sz="2800" dirty="0"/>
          </a:p>
        </p:txBody>
      </p:sp>
      <p:sp>
        <p:nvSpPr>
          <p:cNvPr id="4" name="Text 2"/>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400" dirty="0">
                <a:solidFill>
                  <a:srgbClr val="34B76F"/>
                </a:solidFill>
                <a:latin typeface="Calibri" pitchFamily="34" charset="0"/>
                <a:ea typeface="Calibri" pitchFamily="34" charset="-122"/>
                <a:cs typeface="Calibri" pitchFamily="34" charset="-120"/>
              </a:rPr>
              <a:t>1 minute — one deliberate decision, not a full edit pass</a:t>
            </a:r>
            <a:endParaRPr lang="en-US" sz="1400" dirty="0"/>
          </a:p>
        </p:txBody>
      </p:sp>
      <p:sp>
        <p:nvSpPr>
          <p:cNvPr id="5" name="Shape 3"/>
          <p:cNvSpPr/>
          <p:nvPr/>
        </p:nvSpPr>
        <p:spPr>
          <a:xfrm>
            <a:off x="1188720" y="2011680"/>
            <a:ext cx="676656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1371600" y="2084832"/>
            <a:ext cx="6400800" cy="64008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Today's revision check: </a:t>
            </a:r>
            <a:pPr indent="0" marL="0">
              <a:buNone/>
            </a:pPr>
            <a:r>
              <a:rPr lang="en-US" sz="1300" dirty="0">
                <a:solidFill>
                  <a:srgbClr val="1E293B"/>
                </a:solidFill>
                <a:latin typeface="Calibri" pitchFamily="34" charset="0"/>
                <a:ea typeface="Calibri" pitchFamily="34" charset="-122"/>
                <a:cs typeface="Calibri" pitchFamily="34" charset="-120"/>
              </a:rPr>
              <a:t>Is there a stronger, more specific word I could use here instead of a vague one?</a:t>
            </a:r>
            <a:endParaRPr lang="en-US" sz="1300" dirty="0"/>
          </a:p>
        </p:txBody>
      </p:sp>
      <p:sp>
        <p:nvSpPr>
          <p:cNvPr id="7" name="Text 5"/>
          <p:cNvSpPr/>
          <p:nvPr/>
        </p:nvSpPr>
        <p:spPr>
          <a:xfrm>
            <a:off x="1188720" y="3017520"/>
            <a:ext cx="6766560" cy="45720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Revision = improving ideas. Editing = fixing conventions. Pick ONE thing.</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0" y="457200"/>
            <a:ext cx="1828800" cy="64008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3" name="Text 1"/>
          <p:cNvSpPr/>
          <p:nvPr/>
        </p:nvSpPr>
        <p:spPr>
          <a:xfrm>
            <a:off x="914400" y="1005840"/>
            <a:ext cx="7315200" cy="59436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Share Time</a:t>
            </a:r>
            <a:endParaRPr lang="en-US" sz="3000" dirty="0"/>
          </a:p>
        </p:txBody>
      </p:sp>
      <p:sp>
        <p:nvSpPr>
          <p:cNvPr id="4" name="Text 2"/>
          <p:cNvSpPr/>
          <p:nvPr/>
        </p:nvSpPr>
        <p:spPr>
          <a:xfrm>
            <a:off x="914400" y="15544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3 minutes — let's hear your thinking!</a:t>
            </a:r>
            <a:endParaRPr lang="en-US" sz="1500" dirty="0"/>
          </a:p>
        </p:txBody>
      </p:sp>
      <p:sp>
        <p:nvSpPr>
          <p:cNvPr id="5" name="Shape 3"/>
          <p:cNvSpPr/>
          <p:nvPr/>
        </p:nvSpPr>
        <p:spPr>
          <a:xfrm>
            <a:off x="1828800" y="2194560"/>
            <a:ext cx="5486400" cy="1371600"/>
          </a:xfrm>
          <a:prstGeom prst="roundRect">
            <a:avLst>
              <a:gd name="adj" fmla="val 8000"/>
            </a:avLst>
          </a:prstGeom>
          <a:solidFill>
            <a:srgbClr val="FFFFFF"/>
          </a:solidFill>
          <a:ln/>
          <a:effectLst>
            <a:outerShdw sx="100000" sy="100000" kx="0" ky="0" algn="bl" rotWithShape="0" blurRad="101600" dist="38100" dir="2700000">
              <a:srgbClr val="000000">
                <a:alpha val="12000"/>
              </a:srgbClr>
            </a:outerShdw>
          </a:effectLst>
        </p:spPr>
      </p:sp>
      <p:sp>
        <p:nvSpPr>
          <p:cNvPr id="6" name="Text 4"/>
          <p:cNvSpPr/>
          <p:nvPr/>
        </p:nvSpPr>
        <p:spPr>
          <a:xfrm>
            <a:off x="2011680" y="2286000"/>
            <a:ext cx="5120640" cy="11887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Raise your hand </a:t>
            </a:r>
            <a:pPr indent="0" marL="0">
              <a:buNone/>
            </a:pPr>
            <a:r>
              <a:rPr lang="en-US" sz="1300" dirty="0">
                <a:solidFill>
                  <a:srgbClr val="1E293B"/>
                </a:solidFill>
                <a:latin typeface="Calibri" pitchFamily="34" charset="0"/>
                <a:ea typeface="Calibri" pitchFamily="34" charset="-122"/>
                <a:cs typeface="Calibri" pitchFamily="34" charset="-120"/>
              </a:rPr>
              <a:t>to share, or paste your writing in the chat.
</a:t>
            </a:r>
            <a:pPr indent="0" marL="0">
              <a:buNone/>
            </a:pPr>
            <a:r>
              <a:rPr lang="en-US" sz="1200" i="1" dirty="0">
                <a:solidFill>
                  <a:srgbClr val="64748B"/>
                </a:solidFill>
                <a:latin typeface="Calibri" pitchFamily="34" charset="0"/>
                <a:ea typeface="Calibri" pitchFamily="34" charset="-122"/>
                <a:cs typeface="Calibri" pitchFamily="34" charset="-120"/>
              </a:rPr>
              <a:t>If you disagree with a classmate's choice, say so respectfully — that's part of the thinking.</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Morphology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Morphology: Roots mem/memor + script</a:t>
            </a:r>
            <a:endParaRPr lang="en-US" sz="1100" dirty="0"/>
          </a:p>
        </p:txBody>
      </p:sp>
      <p:sp>
        <p:nvSpPr>
          <p:cNvPr id="5" name="Shape 3"/>
          <p:cNvSpPr/>
          <p:nvPr/>
        </p:nvSpPr>
        <p:spPr>
          <a:xfrm>
            <a:off x="365760" y="1097280"/>
            <a:ext cx="8412480" cy="566928"/>
          </a:xfrm>
          <a:prstGeom prst="roundRect">
            <a:avLst>
              <a:gd name="adj" fmla="val 16129"/>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mem / memor = memory → memoir, memorial, memorize, commemorate script = write → script, inscription, description, manuscript, prescribe</a:t>
            </a:r>
            <a:endParaRPr lang="en-US" sz="1150" dirty="0"/>
          </a:p>
        </p:txBody>
      </p:sp>
      <p:sp>
        <p:nvSpPr>
          <p:cNvPr id="7" name="Shape 5"/>
          <p:cNvSpPr/>
          <p:nvPr/>
        </p:nvSpPr>
        <p:spPr>
          <a:xfrm>
            <a:off x="365760" y="1737360"/>
            <a:ext cx="8412480" cy="566928"/>
          </a:xfrm>
          <a:prstGeom prst="roundRect">
            <a:avLst>
              <a:gd name="adj" fmla="val 16129"/>
            </a:avLst>
          </a:prstGeom>
          <a:solidFill>
            <a:srgbClr val="F8F4FF"/>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92224"/>
            <a:ext cx="804672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commemorate → Root: mem/memor (memory)</a:t>
            </a:r>
            <a:endParaRPr lang="en-US" sz="1150" dirty="0"/>
          </a:p>
        </p:txBody>
      </p:sp>
      <p:sp>
        <p:nvSpPr>
          <p:cNvPr id="9" name="Shape 7"/>
          <p:cNvSpPr/>
          <p:nvPr/>
        </p:nvSpPr>
        <p:spPr>
          <a:xfrm>
            <a:off x="365760" y="2377440"/>
            <a:ext cx="8412480" cy="566928"/>
          </a:xfrm>
          <a:prstGeom prst="roundRect">
            <a:avLst>
              <a:gd name="adj" fmla="val 16129"/>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432304"/>
            <a:ext cx="804672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manuscript → Root: script (write)</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Vocabulary</a:t>
            </a:r>
            <a:endParaRPr lang="en-US" sz="26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Words from this week's chapters.</a:t>
            </a:r>
            <a:endParaRPr lang="en-US" sz="1100" dirty="0"/>
          </a:p>
        </p:txBody>
      </p:sp>
      <p:sp>
        <p:nvSpPr>
          <p:cNvPr id="5" name="Shape 3"/>
          <p:cNvSpPr/>
          <p:nvPr/>
        </p:nvSpPr>
        <p:spPr>
          <a:xfrm>
            <a:off x="365760" y="109728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narrator  </a:t>
            </a:r>
            <a:pPr indent="0" marL="0">
              <a:buNone/>
            </a:pPr>
            <a:r>
              <a:rPr lang="en-US" sz="1150" dirty="0">
                <a:solidFill>
                  <a:srgbClr val="1E293B"/>
                </a:solidFill>
                <a:latin typeface="Calibri" pitchFamily="34" charset="0"/>
                <a:ea typeface="Calibri" pitchFamily="34" charset="-122"/>
                <a:cs typeface="Calibri" pitchFamily="34" charset="-120"/>
              </a:rPr>
              <a:t>The person telling the story in their own words.</a:t>
            </a:r>
            <a:endParaRPr lang="en-US" sz="1300" dirty="0"/>
          </a:p>
        </p:txBody>
      </p:sp>
      <p:sp>
        <p:nvSpPr>
          <p:cNvPr id="7" name="Shape 5"/>
          <p:cNvSpPr/>
          <p:nvPr/>
        </p:nvSpPr>
        <p:spPr>
          <a:xfrm>
            <a:off x="365760" y="1691640"/>
            <a:ext cx="8412480" cy="530352"/>
          </a:xfrm>
          <a:prstGeom prst="roundRect">
            <a:avLst>
              <a:gd name="adj" fmla="val 17241"/>
            </a:avLst>
          </a:prstGeom>
          <a:solidFill>
            <a:srgbClr val="EAF6FA"/>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3736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treaty  </a:t>
            </a:r>
            <a:pPr indent="0" marL="0">
              <a:buNone/>
            </a:pPr>
            <a:r>
              <a:rPr lang="en-US" sz="1150" dirty="0">
                <a:solidFill>
                  <a:srgbClr val="1E293B"/>
                </a:solidFill>
                <a:latin typeface="Calibri" pitchFamily="34" charset="0"/>
                <a:ea typeface="Calibri" pitchFamily="34" charset="-122"/>
                <a:cs typeface="Calibri" pitchFamily="34" charset="-120"/>
              </a:rPr>
              <a:t>A formal agreement between governments.</a:t>
            </a:r>
            <a:endParaRPr lang="en-US" sz="1300" dirty="0"/>
          </a:p>
        </p:txBody>
      </p:sp>
      <p:sp>
        <p:nvSpPr>
          <p:cNvPr id="9" name="Shape 7"/>
          <p:cNvSpPr/>
          <p:nvPr/>
        </p:nvSpPr>
        <p:spPr>
          <a:xfrm>
            <a:off x="365760" y="228600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33172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memoir  </a:t>
            </a:r>
            <a:pPr indent="0" marL="0">
              <a:buNone/>
            </a:pPr>
            <a:r>
              <a:rPr lang="en-US" sz="1150" dirty="0">
                <a:solidFill>
                  <a:srgbClr val="1E293B"/>
                </a:solidFill>
                <a:latin typeface="Calibri" pitchFamily="34" charset="0"/>
                <a:ea typeface="Calibri" pitchFamily="34" charset="-122"/>
                <a:cs typeface="Calibri" pitchFamily="34" charset="-120"/>
              </a:rPr>
              <a:t>A written account of events a person lived through.</a:t>
            </a:r>
            <a:endParaRPr lang="en-US" sz="1300" dirty="0"/>
          </a:p>
        </p:txBody>
      </p:sp>
      <p:sp>
        <p:nvSpPr>
          <p:cNvPr id="11" name="Shape 9"/>
          <p:cNvSpPr/>
          <p:nvPr/>
        </p:nvSpPr>
        <p:spPr>
          <a:xfrm>
            <a:off x="365760" y="2880360"/>
            <a:ext cx="8412480" cy="530352"/>
          </a:xfrm>
          <a:prstGeom prst="roundRect">
            <a:avLst>
              <a:gd name="adj" fmla="val 17241"/>
            </a:avLst>
          </a:prstGeom>
          <a:solidFill>
            <a:srgbClr val="EAF6FA"/>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92608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removal  </a:t>
            </a:r>
            <a:pPr indent="0" marL="0">
              <a:buNone/>
            </a:pPr>
            <a:r>
              <a:rPr lang="en-US" sz="1150" dirty="0">
                <a:solidFill>
                  <a:srgbClr val="1E293B"/>
                </a:solidFill>
                <a:latin typeface="Calibri" pitchFamily="34" charset="0"/>
                <a:ea typeface="Calibri" pitchFamily="34" charset="-122"/>
                <a:cs typeface="Calibri" pitchFamily="34" charset="-120"/>
              </a:rPr>
              <a:t>Being forced from your homeland.</a:t>
            </a:r>
            <a:endParaRPr lang="en-US" sz="1300" dirty="0"/>
          </a:p>
        </p:txBody>
      </p:sp>
      <p:sp>
        <p:nvSpPr>
          <p:cNvPr id="13" name="Shape 11"/>
          <p:cNvSpPr/>
          <p:nvPr/>
        </p:nvSpPr>
        <p:spPr>
          <a:xfrm>
            <a:off x="365760" y="347472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14" name="Text 12"/>
          <p:cNvSpPr/>
          <p:nvPr/>
        </p:nvSpPr>
        <p:spPr>
          <a:xfrm>
            <a:off x="548640" y="352044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prophecy  </a:t>
            </a:r>
            <a:pPr indent="0" marL="0">
              <a:buNone/>
            </a:pPr>
            <a:r>
              <a:rPr lang="en-US" sz="1150" dirty="0">
                <a:solidFill>
                  <a:srgbClr val="1E293B"/>
                </a:solidFill>
                <a:latin typeface="Calibri" pitchFamily="34" charset="0"/>
                <a:ea typeface="Calibri" pitchFamily="34" charset="-122"/>
                <a:cs typeface="Calibri" pitchFamily="34" charset="-120"/>
              </a:rPr>
              <a:t>A prediction of what will happen in the future.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Grammar: Appositives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Day 2: Identify — tap the appositive in each sentence.</a:t>
            </a:r>
            <a:endParaRPr lang="en-US" sz="1100" dirty="0"/>
          </a:p>
        </p:txBody>
      </p:sp>
      <p:sp>
        <p:nvSpPr>
          <p:cNvPr id="7" name="Text 5"/>
          <p:cNvSpPr/>
          <p:nvPr/>
        </p:nvSpPr>
        <p:spPr>
          <a:xfrm>
            <a:off x="365760" y="1097280"/>
            <a:ext cx="841248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An appositive renames or describes the noun right before it. It is set off with commas on both sides.</a:t>
            </a:r>
            <a:endParaRPr lang="en-US" sz="1150" dirty="0"/>
          </a:p>
        </p:txBody>
      </p:sp>
      <p:sp>
        <p:nvSpPr>
          <p:cNvPr id="8" name="Shape 6"/>
          <p:cNvSpPr/>
          <p:nvPr/>
        </p:nvSpPr>
        <p:spPr>
          <a:xfrm>
            <a:off x="365760" y="1600200"/>
            <a:ext cx="8412480" cy="457200"/>
          </a:xfrm>
          <a:prstGeom prst="roundRect">
            <a:avLst>
              <a:gd name="adj" fmla="val 20000"/>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645920"/>
            <a:ext cx="8046720" cy="365760"/>
          </a:xfrm>
          <a:prstGeom prst="rect">
            <a:avLst/>
          </a:prstGeom>
          <a:noFill/>
          <a:ln/>
        </p:spPr>
        <p:txBody>
          <a:bodyPr wrap="square" lIns="0" tIns="0" rIns="0" bIns="0" rtlCol="0" anchor="ctr"/>
          <a:lstStyle/>
          <a:p>
            <a:pPr indent="0" marL="0">
              <a:buNone/>
            </a:pPr>
            <a:r>
              <a:rPr lang="en-US" sz="1100" b="1" dirty="0">
                <a:solidFill>
                  <a:srgbClr val="34B76F"/>
                </a:solidFill>
                <a:latin typeface="Calibri" pitchFamily="34" charset="0"/>
                <a:ea typeface="Calibri" pitchFamily="34" charset="-122"/>
                <a:cs typeface="Calibri" pitchFamily="34" charset="-120"/>
              </a:rPr>
              <a:t>Model: </a:t>
            </a:r>
            <a:pPr indent="0" marL="0">
              <a:buNone/>
            </a:pPr>
            <a:r>
              <a:rPr lang="en-US" sz="1100" i="1" dirty="0">
                <a:solidFill>
                  <a:srgbClr val="1E293B"/>
                </a:solidFill>
                <a:latin typeface="Calibri" pitchFamily="34" charset="0"/>
                <a:ea typeface="Calibri" pitchFamily="34" charset="-122"/>
                <a:cs typeface="Calibri" pitchFamily="34" charset="-120"/>
              </a:rPr>
              <a:t>Isaac, a ten-year-old Choctaw boy, lived in Mississippi.</a:t>
            </a:r>
            <a:endParaRPr lang="en-US" sz="1100" dirty="0"/>
          </a:p>
        </p:txBody>
      </p:sp>
      <p:sp>
        <p:nvSpPr>
          <p:cNvPr id="10" name="Shape 8"/>
          <p:cNvSpPr/>
          <p:nvPr/>
        </p:nvSpPr>
        <p:spPr>
          <a:xfrm>
            <a:off x="365760" y="2130552"/>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176272"/>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Jumper, my dog, was always by my side.</a:t>
            </a:r>
            <a:endParaRPr lang="en-US" sz="1150" dirty="0"/>
          </a:p>
        </p:txBody>
      </p:sp>
      <p:sp>
        <p:nvSpPr>
          <p:cNvPr id="12" name="Shape 10"/>
          <p:cNvSpPr/>
          <p:nvPr/>
        </p:nvSpPr>
        <p:spPr>
          <a:xfrm>
            <a:off x="365760" y="2752344"/>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2798064"/>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Luke, my big brother, left to play stickball.</a:t>
            </a:r>
            <a:endParaRPr lang="en-US" sz="1150" dirty="0"/>
          </a:p>
        </p:txBody>
      </p:sp>
      <p:sp>
        <p:nvSpPr>
          <p:cNvPr id="14" name="Shape 12"/>
          <p:cNvSpPr/>
          <p:nvPr/>
        </p:nvSpPr>
        <p:spPr>
          <a:xfrm>
            <a:off x="365760" y="3374136"/>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3419856"/>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Treaty Talk, news from the Nahullos, had come to town.</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Grammar: Appositives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Day 2: Identify — tap the appositive in each sentence.</a:t>
            </a:r>
            <a:endParaRPr lang="en-US" sz="1100" dirty="0"/>
          </a:p>
        </p:txBody>
      </p:sp>
      <p:sp>
        <p:nvSpPr>
          <p:cNvPr id="7" name="Text 5"/>
          <p:cNvSpPr/>
          <p:nvPr/>
        </p:nvSpPr>
        <p:spPr>
          <a:xfrm>
            <a:off x="365760" y="1097280"/>
            <a:ext cx="841248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An appositive renames or describes the noun right before it. It is set off with commas on both sides.</a:t>
            </a:r>
            <a:endParaRPr lang="en-US" sz="1150" dirty="0"/>
          </a:p>
        </p:txBody>
      </p:sp>
      <p:sp>
        <p:nvSpPr>
          <p:cNvPr id="8" name="Shape 6"/>
          <p:cNvSpPr/>
          <p:nvPr/>
        </p:nvSpPr>
        <p:spPr>
          <a:xfrm>
            <a:off x="365760" y="1600200"/>
            <a:ext cx="8412480" cy="457200"/>
          </a:xfrm>
          <a:prstGeom prst="roundRect">
            <a:avLst>
              <a:gd name="adj" fmla="val 20000"/>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645920"/>
            <a:ext cx="8046720" cy="365760"/>
          </a:xfrm>
          <a:prstGeom prst="rect">
            <a:avLst/>
          </a:prstGeom>
          <a:noFill/>
          <a:ln/>
        </p:spPr>
        <p:txBody>
          <a:bodyPr wrap="square" lIns="0" tIns="0" rIns="0" bIns="0" rtlCol="0" anchor="ctr"/>
          <a:lstStyle/>
          <a:p>
            <a:pPr indent="0" marL="0">
              <a:buNone/>
            </a:pPr>
            <a:r>
              <a:rPr lang="en-US" sz="1100" b="1" dirty="0">
                <a:solidFill>
                  <a:srgbClr val="34B76F"/>
                </a:solidFill>
                <a:latin typeface="Calibri" pitchFamily="34" charset="0"/>
                <a:ea typeface="Calibri" pitchFamily="34" charset="-122"/>
                <a:cs typeface="Calibri" pitchFamily="34" charset="-120"/>
              </a:rPr>
              <a:t>Model: </a:t>
            </a:r>
            <a:pPr indent="0" marL="0">
              <a:buNone/>
            </a:pPr>
            <a:r>
              <a:rPr lang="en-US" sz="1100" i="1" dirty="0">
                <a:solidFill>
                  <a:srgbClr val="1E293B"/>
                </a:solidFill>
                <a:latin typeface="Calibri" pitchFamily="34" charset="0"/>
                <a:ea typeface="Calibri" pitchFamily="34" charset="-122"/>
                <a:cs typeface="Calibri" pitchFamily="34" charset="-120"/>
              </a:rPr>
              <a:t>Isaac, a ten-year-old Choctaw boy, lived in Mississippi.</a:t>
            </a:r>
            <a:endParaRPr lang="en-US" sz="1100" dirty="0"/>
          </a:p>
        </p:txBody>
      </p:sp>
      <p:sp>
        <p:nvSpPr>
          <p:cNvPr id="10" name="Shape 8"/>
          <p:cNvSpPr/>
          <p:nvPr/>
        </p:nvSpPr>
        <p:spPr>
          <a:xfrm>
            <a:off x="365760" y="2130552"/>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176272"/>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Jumper, my dog, was always by my side.
</a:t>
            </a:r>
            <a:pPr indent="0" marL="0">
              <a:buNone/>
            </a:pPr>
            <a:r>
              <a:rPr lang="en-US" sz="1200" b="1" dirty="0">
                <a:solidFill>
                  <a:srgbClr val="34B76F"/>
                </a:solidFill>
                <a:latin typeface="Calibri" pitchFamily="34" charset="0"/>
                <a:ea typeface="Calibri" pitchFamily="34" charset="-122"/>
                <a:cs typeface="Calibri" pitchFamily="34" charset="-120"/>
              </a:rPr>
              <a:t>✅ my</a:t>
            </a:r>
            <a:endParaRPr lang="en-US" sz="1150" dirty="0"/>
          </a:p>
        </p:txBody>
      </p:sp>
      <p:sp>
        <p:nvSpPr>
          <p:cNvPr id="12" name="Shape 10"/>
          <p:cNvSpPr/>
          <p:nvPr/>
        </p:nvSpPr>
        <p:spPr>
          <a:xfrm>
            <a:off x="365760" y="2752344"/>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2798064"/>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Luke, my big brother, left to play stickball.
</a:t>
            </a:r>
            <a:pPr indent="0" marL="0">
              <a:buNone/>
            </a:pPr>
            <a:r>
              <a:rPr lang="en-US" sz="1200" b="1" dirty="0">
                <a:solidFill>
                  <a:srgbClr val="34B76F"/>
                </a:solidFill>
                <a:latin typeface="Calibri" pitchFamily="34" charset="0"/>
                <a:ea typeface="Calibri" pitchFamily="34" charset="-122"/>
                <a:cs typeface="Calibri" pitchFamily="34" charset="-120"/>
              </a:rPr>
              <a:t>✅ my</a:t>
            </a:r>
            <a:endParaRPr lang="en-US" sz="1150" dirty="0"/>
          </a:p>
        </p:txBody>
      </p:sp>
      <p:sp>
        <p:nvSpPr>
          <p:cNvPr id="14" name="Shape 12"/>
          <p:cNvSpPr/>
          <p:nvPr/>
        </p:nvSpPr>
        <p:spPr>
          <a:xfrm>
            <a:off x="365760" y="3374136"/>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3419856"/>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Treaty Talk, news from the Nahullos, had come to town.
</a:t>
            </a:r>
            <a:pPr indent="0" marL="0">
              <a:buNone/>
            </a:pPr>
            <a:r>
              <a:rPr lang="en-US" sz="1200" b="1" dirty="0">
                <a:solidFill>
                  <a:srgbClr val="34B76F"/>
                </a:solidFill>
                <a:latin typeface="Calibri" pitchFamily="34" charset="0"/>
                <a:ea typeface="Calibri" pitchFamily="34" charset="-122"/>
                <a:cs typeface="Calibri" pitchFamily="34" charset="-120"/>
              </a:rPr>
              <a:t>✅ news</a:t>
            </a:r>
            <a:endParaRPr lang="en-US" sz="1150" dirty="0"/>
          </a:p>
        </p:txBody>
      </p:sp>
      <p:sp>
        <p:nvSpPr>
          <p:cNvPr id="16" name="Shape 14"/>
          <p:cNvSpPr/>
          <p:nvPr/>
        </p:nvSpPr>
        <p:spPr>
          <a:xfrm>
            <a:off x="365760" y="4014216"/>
            <a:ext cx="8412480" cy="777240"/>
          </a:xfrm>
          <a:prstGeom prst="roundRect">
            <a:avLst>
              <a:gd name="adj" fmla="val 11765"/>
            </a:avLst>
          </a:prstGeom>
          <a:solidFill>
            <a:srgbClr val="FEF6E8"/>
          </a:solidFill>
          <a:ln w="12700">
            <a:solidFill>
              <a:srgbClr val="C7922C"/>
            </a:solidFill>
            <a:prstDash val="solid"/>
          </a:ln>
        </p:spPr>
      </p:sp>
      <p:sp>
        <p:nvSpPr>
          <p:cNvPr id="17" name="Text 15"/>
          <p:cNvSpPr/>
          <p:nvPr/>
        </p:nvSpPr>
        <p:spPr>
          <a:xfrm>
            <a:off x="548640" y="4087368"/>
            <a:ext cx="8046720" cy="640080"/>
          </a:xfrm>
          <a:prstGeom prst="rect">
            <a:avLst/>
          </a:prstGeom>
          <a:noFill/>
          <a:ln/>
        </p:spPr>
        <p:txBody>
          <a:bodyPr wrap="square" lIns="0" tIns="0" rIns="0" bIns="0" rtlCol="0" anchor="t"/>
          <a:lstStyle/>
          <a:p>
            <a:pPr indent="0" marL="0">
              <a:buNone/>
            </a:pPr>
            <a:r>
              <a:rPr lang="en-US" sz="1050" b="1" dirty="0">
                <a:solidFill>
                  <a:srgbClr val="C7922C"/>
                </a:solidFill>
                <a:latin typeface="Calibri" pitchFamily="34" charset="0"/>
                <a:ea typeface="Calibri" pitchFamily="34" charset="-122"/>
                <a:cs typeface="Calibri" pitchFamily="34" charset="-120"/>
              </a:rPr>
              <a:t>🫖 Show What You Know · Show What You Know
</a:t>
            </a:r>
            <a:pPr indent="0" marL="0">
              <a:buNone/>
            </a:pPr>
            <a:r>
              <a:rPr lang="en-US" sz="1050" i="1" dirty="0">
                <a:solidFill>
                  <a:srgbClr val="1E293B"/>
                </a:solidFill>
                <a:latin typeface="Calibri" pitchFamily="34" charset="0"/>
                <a:ea typeface="Calibri" pitchFamily="34" charset="-122"/>
                <a:cs typeface="Calibri" pitchFamily="34" charset="-120"/>
              </a:rPr>
              <a:t>Read this sentence: “Isaac’s father, a quiet and dignified man, held Mother’s hand.” What is the appositive? What does it tell you about Isaac’s father?</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Spelling — Spelling: Open &amp; Closed Syllables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Sort the words by their first syllable.</a:t>
            </a:r>
            <a:endParaRPr lang="en-US" sz="1100" dirty="0"/>
          </a:p>
        </p:txBody>
      </p:sp>
      <p:sp>
        <p:nvSpPr>
          <p:cNvPr id="7" name="Text 5"/>
          <p:cNvSpPr/>
          <p:nvPr/>
        </p:nvSpPr>
        <p:spPr>
          <a:xfrm>
            <a:off x="365760" y="1143000"/>
            <a:ext cx="271272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2 syllables</a:t>
            </a:r>
            <a:endParaRPr lang="en-US" sz="1300" dirty="0"/>
          </a:p>
        </p:txBody>
      </p:sp>
      <p:sp>
        <p:nvSpPr>
          <p:cNvPr id="8" name="Text 6"/>
          <p:cNvSpPr/>
          <p:nvPr/>
        </p:nvSpPr>
        <p:spPr>
          <a:xfrm>
            <a:off x="365760" y="1527048"/>
            <a:ext cx="271272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Choctaw</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treaty</a:t>
            </a:r>
            <a:endParaRPr lang="en-US" sz="1300" dirty="0"/>
          </a:p>
        </p:txBody>
      </p:sp>
      <p:sp>
        <p:nvSpPr>
          <p:cNvPr id="9" name="Text 7"/>
          <p:cNvSpPr/>
          <p:nvPr/>
        </p:nvSpPr>
        <p:spPr>
          <a:xfrm>
            <a:off x="3169920" y="1143000"/>
            <a:ext cx="271272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4 syllables</a:t>
            </a:r>
            <a:endParaRPr lang="en-US" sz="1300" dirty="0"/>
          </a:p>
        </p:txBody>
      </p:sp>
      <p:sp>
        <p:nvSpPr>
          <p:cNvPr id="10" name="Text 8"/>
          <p:cNvSpPr/>
          <p:nvPr/>
        </p:nvSpPr>
        <p:spPr>
          <a:xfrm>
            <a:off x="3169920" y="1527048"/>
            <a:ext cx="271272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Mississippi</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territory</a:t>
            </a:r>
            <a:endParaRPr lang="en-US" sz="1300" dirty="0"/>
          </a:p>
        </p:txBody>
      </p:sp>
      <p:sp>
        <p:nvSpPr>
          <p:cNvPr id="11" name="Text 9"/>
          <p:cNvSpPr/>
          <p:nvPr/>
        </p:nvSpPr>
        <p:spPr>
          <a:xfrm>
            <a:off x="5974080" y="1143000"/>
            <a:ext cx="271272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3 syllables</a:t>
            </a:r>
            <a:endParaRPr lang="en-US" sz="1300" dirty="0"/>
          </a:p>
        </p:txBody>
      </p:sp>
      <p:sp>
        <p:nvSpPr>
          <p:cNvPr id="12" name="Text 10"/>
          <p:cNvSpPr/>
          <p:nvPr/>
        </p:nvSpPr>
        <p:spPr>
          <a:xfrm>
            <a:off x="5974080" y="1527048"/>
            <a:ext cx="271272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removal</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government</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RWM — Read · Notice · Try</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THE SENTENCE</a:t>
            </a:r>
            <a:endParaRPr lang="en-US" sz="1100" dirty="0"/>
          </a:p>
        </p:txBody>
      </p:sp>
      <p:sp>
        <p:nvSpPr>
          <p:cNvPr id="5" name="Shape 3"/>
          <p:cNvSpPr/>
          <p:nvPr/>
        </p:nvSpPr>
        <p:spPr>
          <a:xfrm>
            <a:off x="365760" y="1078992"/>
            <a:ext cx="8412480" cy="685800"/>
          </a:xfrm>
          <a:prstGeom prst="roundRect">
            <a:avLst>
              <a:gd name="adj" fmla="val 13333"/>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“With blowguns we caught our food. With lean-tos we had a place to sleep.”</a:t>
            </a:r>
            <a:endParaRPr lang="en-US" sz="1600" dirty="0"/>
          </a:p>
        </p:txBody>
      </p:sp>
      <p:sp>
        <p:nvSpPr>
          <p:cNvPr id="7" name="Shape 5"/>
          <p:cNvSpPr/>
          <p:nvPr/>
        </p:nvSpPr>
        <p:spPr>
          <a:xfrm>
            <a:off x="365760" y="187452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929384"/>
            <a:ext cx="8046720" cy="603504"/>
          </a:xfrm>
          <a:prstGeom prst="rect">
            <a:avLst/>
          </a:prstGeom>
          <a:noFill/>
          <a:ln/>
        </p:spPr>
        <p:txBody>
          <a:bodyPr wrap="square" lIns="0" tIns="0" rIns="0" bIns="0" rtlCol="0" anchor="ctr"/>
          <a:lstStyle/>
          <a:p>
            <a:pPr indent="0" marL="0">
              <a:buNone/>
            </a:pPr>
            <a:r>
              <a:rPr lang="en-US" sz="1150" b="1" dirty="0">
                <a:solidFill>
                  <a:srgbClr val="0E1C42"/>
                </a:solidFill>
                <a:latin typeface="Calibri" pitchFamily="34" charset="0"/>
                <a:ea typeface="Calibri" pitchFamily="34" charset="-122"/>
                <a:cs typeface="Calibri" pitchFamily="34" charset="-120"/>
              </a:rPr>
              <a:t>📖 As a Reader
</a:t>
            </a:r>
            <a:pPr indent="0" marL="0">
              <a:buNone/>
            </a:pPr>
            <a:r>
              <a:rPr lang="en-US" sz="1100" dirty="0">
                <a:solidFill>
                  <a:srgbClr val="1E293B"/>
                </a:solidFill>
                <a:latin typeface="Calibri" pitchFamily="34" charset="0"/>
                <a:ea typeface="Calibri" pitchFamily="34" charset="-122"/>
                <a:cs typeface="Calibri" pitchFamily="34" charset="-120"/>
              </a:rPr>
              <a:t>What does this sentence make you see or feel?</a:t>
            </a:r>
            <a:endParaRPr lang="en-US" sz="1150" dirty="0"/>
          </a:p>
        </p:txBody>
      </p:sp>
      <p:sp>
        <p:nvSpPr>
          <p:cNvPr id="9" name="Shape 7"/>
          <p:cNvSpPr/>
          <p:nvPr/>
        </p:nvSpPr>
        <p:spPr>
          <a:xfrm>
            <a:off x="365760" y="2660904"/>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715768"/>
            <a:ext cx="8046720" cy="603504"/>
          </a:xfrm>
          <a:prstGeom prst="rect">
            <a:avLst/>
          </a:prstGeom>
          <a:noFill/>
          <a:ln/>
        </p:spPr>
        <p:txBody>
          <a:bodyPr wrap="square" lIns="0" tIns="0" rIns="0" bIns="0" rtlCol="0" anchor="ctr"/>
          <a:lstStyle/>
          <a:p>
            <a:pPr indent="0" marL="0">
              <a:buNone/>
            </a:pPr>
            <a:r>
              <a:rPr lang="en-US" sz="1150" b="1" dirty="0">
                <a:solidFill>
                  <a:srgbClr val="0E1C42"/>
                </a:solidFill>
                <a:latin typeface="Calibri" pitchFamily="34" charset="0"/>
                <a:ea typeface="Calibri" pitchFamily="34" charset="-122"/>
                <a:cs typeface="Calibri" pitchFamily="34" charset="-120"/>
              </a:rPr>
              <a:t>✏️ As a Writer
</a:t>
            </a:r>
            <a:pPr indent="0" marL="0">
              <a:buNone/>
            </a:pPr>
            <a:r>
              <a:rPr lang="en-US" sz="1100" dirty="0">
                <a:solidFill>
                  <a:srgbClr val="1E293B"/>
                </a:solidFill>
                <a:latin typeface="Calibri" pitchFamily="34" charset="0"/>
                <a:ea typeface="Calibri" pitchFamily="34" charset="-122"/>
                <a:cs typeface="Calibri" pitchFamily="34" charset="-120"/>
              </a:rPr>
              <a:t>Tingle uses parallel structure — “With X we did Y” repeated. Same sentence shape, different content. This creates rhythm and dignity.</a:t>
            </a:r>
            <a:endParaRPr lang="en-US" sz="1150" dirty="0"/>
          </a:p>
        </p:txBody>
      </p:sp>
      <p:sp>
        <p:nvSpPr>
          <p:cNvPr id="11" name="Shape 9"/>
          <p:cNvSpPr/>
          <p:nvPr/>
        </p:nvSpPr>
        <p:spPr>
          <a:xfrm>
            <a:off x="365760" y="3447288"/>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3502152"/>
            <a:ext cx="8046720" cy="603504"/>
          </a:xfrm>
          <a:prstGeom prst="rect">
            <a:avLst/>
          </a:prstGeom>
          <a:noFill/>
          <a:ln/>
        </p:spPr>
        <p:txBody>
          <a:bodyPr wrap="square" lIns="0" tIns="0" rIns="0" bIns="0" rtlCol="0" anchor="ctr"/>
          <a:lstStyle/>
          <a:p>
            <a:pPr indent="0" marL="0">
              <a:buNone/>
            </a:pPr>
            <a:r>
              <a:rPr lang="en-US" sz="1150" b="1" dirty="0">
                <a:solidFill>
                  <a:srgbClr val="0E1C42"/>
                </a:solidFill>
                <a:latin typeface="Calibri" pitchFamily="34" charset="0"/>
                <a:ea typeface="Calibri" pitchFamily="34" charset="-122"/>
                <a:cs typeface="Calibri" pitchFamily="34" charset="-120"/>
              </a:rPr>
              <a:t>🖊️ Try It
</a:t>
            </a:r>
            <a:pPr indent="0" marL="0">
              <a:buNone/>
            </a:pPr>
            <a:r>
              <a:rPr lang="en-US" sz="1100" dirty="0">
                <a:solidFill>
                  <a:srgbClr val="1E293B"/>
                </a:solidFill>
                <a:latin typeface="Calibri" pitchFamily="34" charset="0"/>
                <a:ea typeface="Calibri" pitchFamily="34" charset="-122"/>
                <a:cs typeface="Calibri" pitchFamily="34" charset="-120"/>
              </a:rPr>
              <a:t>Write two parallel sentences using “With ___ we ___” to describe something in your own life.</a:t>
            </a:r>
            <a:endParaRPr lang="en-US" sz="1150" dirty="0"/>
          </a:p>
        </p:txBody>
      </p:sp>
      <p:sp>
        <p:nvSpPr>
          <p:cNvPr id="13" name="Shape 11"/>
          <p:cNvSpPr/>
          <p:nvPr/>
        </p:nvSpPr>
        <p:spPr>
          <a:xfrm>
            <a:off x="365760" y="4251960"/>
            <a:ext cx="8412480" cy="457200"/>
          </a:xfrm>
          <a:prstGeom prst="roundRect">
            <a:avLst>
              <a:gd name="adj" fmla="val 20000"/>
            </a:avLst>
          </a:prstGeom>
          <a:solidFill>
            <a:srgbClr val="F0E8FF"/>
          </a:solidFill>
          <a:ln w="12700">
            <a:solidFill>
              <a:srgbClr val="8B6FC0"/>
            </a:solidFill>
            <a:prstDash val="solid"/>
          </a:ln>
        </p:spPr>
      </p:sp>
      <p:sp>
        <p:nvSpPr>
          <p:cNvPr id="14" name="Text 12"/>
          <p:cNvSpPr/>
          <p:nvPr/>
        </p:nvSpPr>
        <p:spPr>
          <a:xfrm>
            <a:off x="548640" y="4288536"/>
            <a:ext cx="8046720" cy="365760"/>
          </a:xfrm>
          <a:prstGeom prst="rect">
            <a:avLst/>
          </a:prstGeom>
          <a:noFill/>
          <a:ln/>
        </p:spPr>
        <p:txBody>
          <a:bodyPr wrap="square" lIns="0" tIns="0" rIns="0" bIns="0" rtlCol="0" anchor="ctr"/>
          <a:lstStyle/>
          <a:p>
            <a:pPr indent="0" marL="0">
              <a:buNone/>
            </a:pPr>
            <a:r>
              <a:rPr lang="en-US" sz="1050" b="1" dirty="0">
                <a:solidFill>
                  <a:srgbClr val="8B6FC0"/>
                </a:solidFill>
                <a:latin typeface="Calibri" pitchFamily="34" charset="0"/>
                <a:ea typeface="Calibri" pitchFamily="34" charset="-122"/>
                <a:cs typeface="Calibri" pitchFamily="34" charset="-120"/>
              </a:rPr>
              <a:t>Sentence frame: </a:t>
            </a:r>
            <a:pPr indent="0" marL="0">
              <a:buNone/>
            </a:pPr>
            <a:r>
              <a:rPr lang="en-US" sz="1050" i="1" dirty="0">
                <a:solidFill>
                  <a:srgbClr val="1E293B"/>
                </a:solidFill>
                <a:latin typeface="Calibri" pitchFamily="34" charset="0"/>
                <a:ea typeface="Calibri" pitchFamily="34" charset="-122"/>
                <a:cs typeface="Calibri" pitchFamily="34" charset="-120"/>
              </a:rPr>
              <a:t>With ___ we ___. With ___ we ___.</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Reading Focus + Story Journey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YOUR STORY JOURNEY</a:t>
            </a:r>
            <a:endParaRPr lang="en-US" sz="1100" dirty="0"/>
          </a:p>
        </p:txBody>
      </p:sp>
      <p:sp>
        <p:nvSpPr>
          <p:cNvPr id="7" name="Shape 5"/>
          <p:cNvSpPr/>
          <p:nvPr/>
        </p:nvSpPr>
        <p:spPr>
          <a:xfrm>
            <a:off x="365760" y="1078992"/>
            <a:ext cx="8412480" cy="777240"/>
          </a:xfrm>
          <a:prstGeom prst="roundRect">
            <a:avLst>
              <a:gd name="adj" fmla="val 1176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955280" cy="594360"/>
          </a:xfrm>
          <a:prstGeom prst="rect">
            <a:avLst/>
          </a:prstGeom>
          <a:noFill/>
          <a:ln/>
        </p:spPr>
        <p:txBody>
          <a:bodyPr wrap="square" lIns="0" tIns="0" rIns="0" bIns="0" rtlCol="0" anchor="ctr"/>
          <a:lstStyle/>
          <a:p>
            <a:pPr indent="0" marL="0">
              <a:buNone/>
            </a:pPr>
            <a:r>
              <a:rPr lang="en-US" sz="1250" b="1" dirty="0">
                <a:solidFill>
                  <a:srgbClr val="1E293B"/>
                </a:solidFill>
                <a:latin typeface="Calibri" pitchFamily="34" charset="0"/>
                <a:ea typeface="Calibri" pitchFamily="34" charset="-122"/>
                <a:cs typeface="Calibri" pitchFamily="34" charset="-120"/>
              </a:rPr>
              <a:t>Isaac’s Path — 📍 Chapter 6 — Men with Blankets</a:t>
            </a:r>
            <a:endParaRPr lang="en-US" sz="1250" dirty="0"/>
          </a:p>
        </p:txBody>
      </p:sp>
      <p:sp>
        <p:nvSpPr>
          <p:cNvPr id="9" name="Text 7"/>
          <p:cNvSpPr/>
          <p:nvPr/>
        </p:nvSpPr>
        <p:spPr>
          <a:xfrm>
            <a:off x="365760" y="1975104"/>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TODAY YOU ARE READING</a:t>
            </a:r>
            <a:endParaRPr lang="en-US" sz="1100" dirty="0"/>
          </a:p>
        </p:txBody>
      </p:sp>
      <p:sp>
        <p:nvSpPr>
          <p:cNvPr id="10" name="Shape 8"/>
          <p:cNvSpPr/>
          <p:nvPr/>
        </p:nvSpPr>
        <p:spPr>
          <a:xfrm>
            <a:off x="365760" y="2231136"/>
            <a:ext cx="8412480" cy="640080"/>
          </a:xfrm>
          <a:prstGeom prst="roundRect">
            <a:avLst>
              <a:gd name="adj" fmla="val 14286"/>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304288"/>
            <a:ext cx="7955280" cy="493776"/>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Chapter 6 — Men with Blankets</a:t>
            </a:r>
            <a:endParaRPr lang="en-US" sz="1500" dirty="0"/>
          </a:p>
        </p:txBody>
      </p:sp>
      <p:sp>
        <p:nvSpPr>
          <p:cNvPr id="12" name="Text 10"/>
          <p:cNvSpPr/>
          <p:nvPr/>
        </p:nvSpPr>
        <p:spPr>
          <a:xfrm>
            <a:off x="365760" y="2999232"/>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KEEP YOUR READING LENS IN MIND</a:t>
            </a:r>
            <a:endParaRPr lang="en-US" sz="1100" dirty="0"/>
          </a:p>
        </p:txBody>
      </p:sp>
      <p:sp>
        <p:nvSpPr>
          <p:cNvPr id="13" name="Shape 11"/>
          <p:cNvSpPr/>
          <p:nvPr/>
        </p:nvSpPr>
        <p:spPr>
          <a:xfrm>
            <a:off x="365760" y="3255264"/>
            <a:ext cx="8412480" cy="1280160"/>
          </a:xfrm>
          <a:prstGeom prst="roundRect">
            <a:avLst>
              <a:gd name="adj" fmla="val 7143"/>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46704"/>
            <a:ext cx="7955280" cy="1097280"/>
          </a:xfrm>
          <a:prstGeom prst="rect">
            <a:avLst/>
          </a:prstGeom>
          <a:noFill/>
          <a:ln/>
        </p:spPr>
        <p:txBody>
          <a:bodyPr wrap="square" lIns="0" tIns="0" rIns="0" bIns="0" rtlCol="0" anchor="t"/>
          <a:lstStyle/>
          <a:p>
            <a:pPr indent="0" marL="0">
              <a:buNone/>
            </a:pPr>
            <a:r>
              <a:rPr lang="en-US" sz="1150" i="1" dirty="0">
                <a:solidFill>
                  <a:srgbClr val="1E293B"/>
                </a:solidFill>
                <a:latin typeface="Calibri" pitchFamily="34" charset="0"/>
                <a:ea typeface="Calibri" pitchFamily="34" charset="-122"/>
                <a:cs typeface="Calibri" pitchFamily="34" charset="-120"/>
              </a:rPr>
              <a:t>Good readers pay attention to what a character chooses not to do — because refusing can be as powerful as acting. In Chapter 6, Isaac’s mother makes a refusal. Watch: what does she know that no one else knows? How does Tingle signal that her instinct is right?</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Comprehension Questions — Preview</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 (PART A)</a:t>
            </a:r>
            <a:endParaRPr lang="en-US" sz="1100" dirty="0"/>
          </a:p>
        </p:txBody>
      </p:sp>
      <p:sp>
        <p:nvSpPr>
          <p:cNvPr id="5" name="Shape 3"/>
          <p:cNvSpPr/>
          <p:nvPr/>
        </p:nvSpPr>
        <p:spPr>
          <a:xfrm>
            <a:off x="365760" y="1097280"/>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70432"/>
            <a:ext cx="8046720" cy="768096"/>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1.  </a:t>
            </a:r>
            <a:pPr indent="0" marL="0">
              <a:buNone/>
            </a:pPr>
            <a:r>
              <a:rPr lang="en-US" sz="1150" dirty="0">
                <a:solidFill>
                  <a:srgbClr val="1E293B"/>
                </a:solidFill>
                <a:latin typeface="Calibri" pitchFamily="34" charset="0"/>
                <a:ea typeface="Calibri" pitchFamily="34" charset="-122"/>
                <a:cs typeface="Calibri" pitchFamily="34" charset="-120"/>
              </a:rPr>
              <a:t>The soldiers offer blankets to the freezing Choctaw people. Everyone accepts them gladly — except Isaac’s family. Why does Mother refuse? What does she know, or sense? Use at least one direct detail from Chapter 6.</a:t>
            </a:r>
            <a:endParaRPr lang="en-US" sz="1300" dirty="0"/>
          </a:p>
        </p:txBody>
      </p:sp>
      <p:sp>
        <p:nvSpPr>
          <p:cNvPr id="7" name="Shape 5"/>
          <p:cNvSpPr/>
          <p:nvPr/>
        </p:nvSpPr>
        <p:spPr>
          <a:xfrm>
            <a:off x="365760" y="2084832"/>
            <a:ext cx="8412480" cy="914400"/>
          </a:xfrm>
          <a:prstGeom prst="roundRect">
            <a:avLst>
              <a:gd name="adj" fmla="val 10000"/>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57984"/>
            <a:ext cx="8046720" cy="768096"/>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2.  </a:t>
            </a:r>
            <a:pPr indent="0" marL="0">
              <a:buNone/>
            </a:pPr>
            <a:r>
              <a:rPr lang="en-US" sz="1150" dirty="0">
                <a:solidFill>
                  <a:srgbClr val="1E293B"/>
                </a:solidFill>
                <a:latin typeface="Calibri" pitchFamily="34" charset="0"/>
                <a:ea typeface="Calibri" pitchFamily="34" charset="-122"/>
                <a:cs typeface="Calibri" pitchFamily="34" charset="-120"/>
              </a:rPr>
              <a:t>When Isaac sees the sores spreading across Old Man’s face, he shouts “I don’t want to see this!” Why is this vision different from others? What does Isaac’s gift cost him here?</a:t>
            </a:r>
            <a:endParaRPr lang="en-US" sz="1300" dirty="0"/>
          </a:p>
        </p:txBody>
      </p:sp>
      <p:sp>
        <p:nvSpPr>
          <p:cNvPr id="9" name="Shape 7"/>
          <p:cNvSpPr/>
          <p:nvPr/>
        </p:nvSpPr>
        <p:spPr>
          <a:xfrm>
            <a:off x="365760" y="3072384"/>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145536"/>
            <a:ext cx="8046720" cy="768096"/>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3.  </a:t>
            </a:r>
            <a:pPr indent="0" marL="0">
              <a:buNone/>
            </a:pPr>
            <a:r>
              <a:rPr lang="en-US" sz="1150" dirty="0">
                <a:solidFill>
                  <a:srgbClr val="1E293B"/>
                </a:solidFill>
                <a:latin typeface="Calibri" pitchFamily="34" charset="0"/>
                <a:ea typeface="Calibri" pitchFamily="34" charset="-122"/>
                <a:cs typeface="Calibri" pitchFamily="34" charset="-120"/>
              </a:rPr>
              <a:t>🌟 Week Closer. In Chapters 4, 5, and 6, Isaac faces three dangers: fire, cold/hunger, and the blankets. What do these dangers have in common? What does Isaac — and his family — do each time? Use one specific detail from each chapter.</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Writing Connection</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41248"/>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STAGE: APPLY</a:t>
            </a:r>
            <a:endParaRPr lang="en-US" sz="1100" dirty="0"/>
          </a:p>
        </p:txBody>
      </p:sp>
      <p:sp>
        <p:nvSpPr>
          <p:cNvPr id="5" name="Shape 3"/>
          <p:cNvSpPr/>
          <p:nvPr/>
        </p:nvSpPr>
        <p:spPr>
          <a:xfrm>
            <a:off x="365760" y="1097280"/>
            <a:ext cx="8412480" cy="502920"/>
          </a:xfrm>
          <a:prstGeom prst="roundRect">
            <a:avLst>
              <a:gd name="adj" fmla="val 18182"/>
            </a:avLst>
          </a:prstGeom>
          <a:solidFill>
            <a:srgbClr val="E8F8E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1148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Developing First-Person Voice</a:t>
            </a:r>
            <a:endParaRPr lang="en-US" sz="1300" dirty="0"/>
          </a:p>
        </p:txBody>
      </p:sp>
      <p:sp>
        <p:nvSpPr>
          <p:cNvPr id="7" name="Text 5"/>
          <p:cNvSpPr/>
          <p:nvPr/>
        </p:nvSpPr>
        <p:spPr>
          <a:xfrm>
            <a:off x="365760" y="175564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TODAY'S TASK</a:t>
            </a:r>
            <a:endParaRPr lang="en-US" sz="1100" dirty="0"/>
          </a:p>
        </p:txBody>
      </p:sp>
      <p:sp>
        <p:nvSpPr>
          <p:cNvPr id="8" name="Shape 6"/>
          <p:cNvSpPr/>
          <p:nvPr/>
        </p:nvSpPr>
        <p:spPr>
          <a:xfrm>
            <a:off x="365760" y="2011680"/>
            <a:ext cx="8412480" cy="2377440"/>
          </a:xfrm>
          <a:prstGeom prst="roundRect">
            <a:avLst>
              <a:gd name="adj" fmla="val 3846"/>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103120"/>
            <a:ext cx="8046720" cy="219456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Today is the Apply stage. Read your draft from Day 2. Add ONE inside detail — a specific image, sound, feeling, or thought. Tingle does this constantly: “I felt the warm shiver from inside.” One inside detail changes everything.</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2026-07-13T17:32:02Z</dcterms:created>
  <dcterms:modified xsi:type="dcterms:W3CDTF">2026-07-13T17:32:02Z</dcterms:modified>
</cp:coreProperties>
</file>