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5, Day 4, Chapter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does it mean to find where you truly belong — and what finally makes a place feel like home?
Reading: I will explain how the resolution reveals character growth and the novel’s central theme.
Grammar: I will explain why commas after introductory words and phrases matter for clarity.
Spelling: I will challenge myself with a cumulative suffix rule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"on the wharf kit recognized the blue coat and brass buttons before she recognized the face"
Corrected: "On the wharf, Kit recognized the blue coat and brass buttons before she recognized the face."
Compare with the model: the introductory phrase “On the wharf” needs a comma after it. “Kit” is capitalized as a proper name. The sentence needs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"on the wharf kit recognized the blue coat and brass buttons before she recognized the face"
Corrected: "On the wharf, Kit recognized the blue coat and brass buttons before she recognized the face."
Compare with the model: the introductory phrase “On the wharf” needs a comma after it. “Kit” is capitalized as a proper name. The sentence needs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Cumulative Suffix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21 (Final Chapter) — Spring, love, and the ketch named The 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5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21 — Resolution — Spring, love, and home</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5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does it mean to find where you truly belong — and what finally makes a place feel like home?</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explain how the resolution reveals character growth and the novel’s central theme.</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explain why commas after introductory words and phrases matter for clarity.</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challenge myself with a cumulative suffix rule review.</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This is the final chapter. As you read, think about Kit’s whole journey — from the girl who leaped off the Dolphin into Saybrook harbor to the young woman who chooses to stay. What has Kit learned about freedom, belonging, and love? How has she changed from the person who arrived in Connecticut with nothing but silk dresses and a grandfather’s memory?</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Kit realizes “it was not escape that she had dreamed about, it was love.” What is the difference between escaping from something and running toward something?</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has Kit’s understanding of home changed from the beginning of the novel to this final chapter?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On the wharf , Kit recognized the blue coat and brass buttons before she recognized the face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On  </a:t>
            </a:r>
            <a:pPr indent="0" marL="0">
              <a:buNone/>
            </a:pPr>
            <a:r>
              <a:rPr lang="en-US" sz="1200" dirty="0">
                <a:solidFill>
                  <a:srgbClr val="1E293B"/>
                </a:solidFill>
                <a:latin typeface="Calibri" pitchFamily="34" charset="0"/>
                <a:ea typeface="Calibri" pitchFamily="34" charset="-122"/>
                <a:cs typeface="Calibri" pitchFamily="34" charset="-120"/>
              </a:rPr>
              <a:t>"On" starts an introductory phrase, so it begins with a capital letter.</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the  </a:t>
            </a:r>
            <a:pPr indent="0" marL="0">
              <a:buNone/>
            </a:pPr>
            <a:r>
              <a:rPr lang="en-US" sz="1200" dirty="0">
                <a:solidFill>
                  <a:srgbClr val="1E293B"/>
                </a:solidFill>
                <a:latin typeface="Calibri" pitchFamily="34" charset="0"/>
                <a:ea typeface="Calibri" pitchFamily="34" charset="-122"/>
                <a:cs typeface="Calibri" pitchFamily="34" charset="-120"/>
              </a:rPr>
              <a:t>"the wharf" is part of the introductory prepositional phrase.</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wharf  </a:t>
            </a:r>
            <a:pPr indent="0" marL="0">
              <a:buNone/>
            </a:pPr>
            <a:r>
              <a:rPr lang="en-US" sz="1200" dirty="0">
                <a:solidFill>
                  <a:srgbClr val="1E293B"/>
                </a:solidFill>
                <a:latin typeface="Calibri" pitchFamily="34" charset="0"/>
                <a:ea typeface="Calibri" pitchFamily="34" charset="-122"/>
                <a:cs typeface="Calibri" pitchFamily="34" charset="-120"/>
              </a:rPr>
              <a:t>"wharf" completes the introductory phrase.</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t>
            </a:r>
            <a:pPr indent="0" marL="0">
              <a:buNone/>
            </a:pPr>
            <a:r>
              <a:rPr lang="en-US" sz="1200" dirty="0">
                <a:solidFill>
                  <a:srgbClr val="1E293B"/>
                </a:solidFill>
                <a:latin typeface="Calibri" pitchFamily="34" charset="0"/>
                <a:ea typeface="Calibri" pitchFamily="34" charset="-122"/>
                <a:cs typeface="Calibri" pitchFamily="34" charset="-120"/>
              </a:rPr>
              <a:t>A comma separates the introductory phrase from the main clause.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on the wharf kit recognized the blue coat and brass buttons before she recognized the face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on the wharf kit recognized the blue coat and brass buttons before she recognized the face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On the wharf, Kit recognized the blue coat and brass buttons before she recognized the face.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the introductory phrase “On the wharf” needs a comma after it. “Kit” is capitalized as a proper name. The sentence needs a period at the 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“Hope” is the thing with feathers</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Emily Dickinson</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"Hope" is the thing with feathers —</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That perches in the soul —</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sings the tune without the words —</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never stops — at all —</a:t>
            </a:r>
            <a:endParaRPr lang="en-US" sz="1600" dirty="0"/>
          </a:p>
          <a:p>
            <a:pPr indent="0" marL="0">
              <a:buNone/>
            </a:pP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sweetest — in the Gale — is heard —</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sore must be the storm —</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That could abash the little Bird</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That kept so many warm —</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Kit has weathered storms — a trial, a harsh winter, loneliness, and loss. Yet hope never left her. How does Dickinson’s image of the bird that “never stops” singing connect to Kit’s journey through this novel? What kept Kit’s hope alive?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moment best proves that Kit has finally found where she belongs — her spring walk in the meadow, or the name "the Witch" that Nat gives her? Defend your choice with evidence from across the novel. Someone might disagree and say Kit hasn't fully arrived yet.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moment best proves that Kit has finally found where she belongs — her spring walk in the meadow, or the name "the Witch" that Nat gives her? Defend your choice with evidence from across the novel. Someone might disagree and say Kit hasn't fully arrived yet.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-ity / -ty</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vital → vitality (the state of being full of life) | cruel → cruelty (the quality of being cruel) | pure → purity (the state of being pure) | prosperous → prosperity (the state of being prosperous)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Choice Menu</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This week's words from Chapter 21</a:t>
            </a:r>
            <a:endParaRPr lang="en-US" sz="1100" dirty="0"/>
          </a:p>
        </p:txBody>
      </p:sp>
      <p:sp>
        <p:nvSpPr>
          <p:cNvPr id="5" name="Text 3"/>
          <p:cNvSpPr/>
          <p:nvPr/>
        </p:nvSpPr>
        <p:spPr>
          <a:xfrm>
            <a:off x="365760" y="1097280"/>
            <a:ext cx="841248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Words: radiant, wistful, tantalizing, pinnace, transom</a:t>
            </a:r>
            <a:endParaRPr lang="en-US" sz="1200" dirty="0"/>
          </a:p>
        </p:txBody>
      </p:sp>
      <p:sp>
        <p:nvSpPr>
          <p:cNvPr id="6" name="Shape 4"/>
          <p:cNvSpPr/>
          <p:nvPr/>
        </p:nvSpPr>
        <p:spPr>
          <a:xfrm>
            <a:off x="365760" y="1554480"/>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00200"/>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Write 3 sentences using 3 different vocabulary words (radiant, wistful, tantalizing, pinnace, transom). Show you understand each word’s meaning.</a:t>
            </a:r>
            <a:endParaRPr lang="en-US" sz="1100" dirty="0"/>
          </a:p>
        </p:txBody>
      </p:sp>
      <p:sp>
        <p:nvSpPr>
          <p:cNvPr id="8" name="Shape 6"/>
          <p:cNvSpPr/>
          <p:nvPr/>
        </p:nvSpPr>
        <p:spPr>
          <a:xfrm>
            <a:off x="365760" y="2066544"/>
            <a:ext cx="8412480" cy="457200"/>
          </a:xfrm>
          <a:prstGeom prst="roundRect">
            <a:avLst>
              <a:gd name="adj" fmla="val 20000"/>
            </a:avLst>
          </a:prstGeom>
          <a:solidFill>
            <a:srgbClr val="EAF6FA"/>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12264"/>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Create a word web connecting 3 vocabulary words to Chapter 21. Explain how each word connects to the spring scene or Nat’s return.</a:t>
            </a:r>
            <a:endParaRPr lang="en-US" sz="1100" dirty="0"/>
          </a:p>
        </p:txBody>
      </p:sp>
      <p:sp>
        <p:nvSpPr>
          <p:cNvPr id="10" name="Shape 8"/>
          <p:cNvSpPr/>
          <p:nvPr/>
        </p:nvSpPr>
        <p:spPr>
          <a:xfrm>
            <a:off x="365760" y="2578608"/>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624328"/>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Write a paragraph using 4 or more vocabulary words. The paragraph should describe Kit’s realization or the final scene at the wharf.</a:t>
            </a:r>
            <a:endParaRPr lang="en-US" sz="1100" dirty="0"/>
          </a:p>
        </p:txBody>
      </p:sp>
      <p:sp>
        <p:nvSpPr>
          <p:cNvPr id="12" name="Shape 10"/>
          <p:cNvSpPr/>
          <p:nvPr/>
        </p:nvSpPr>
        <p:spPr>
          <a:xfrm>
            <a:off x="365760" y="3090672"/>
            <a:ext cx="8412480" cy="457200"/>
          </a:xfrm>
          <a:prstGeom prst="roundRect">
            <a:avLst>
              <a:gd name="adj" fmla="val 20000"/>
            </a:avLst>
          </a:prstGeom>
          <a:solidFill>
            <a:srgbClr val="EAF6FA"/>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136392"/>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Describe a scene from Chapter 21 that illustrates 2 vocabulary words. Explain how each word fits what Kit is feeling or seeing.</a:t>
            </a:r>
            <a:endParaRPr lang="en-US" sz="1100" dirty="0"/>
          </a:p>
        </p:txBody>
      </p:sp>
      <p:sp>
        <p:nvSpPr>
          <p:cNvPr id="14" name="Shape 12"/>
          <p:cNvSpPr/>
          <p:nvPr/>
        </p:nvSpPr>
        <p:spPr>
          <a:xfrm>
            <a:off x="365760" y="3648456"/>
            <a:ext cx="8412480" cy="640080"/>
          </a:xfrm>
          <a:prstGeom prst="roundRect">
            <a:avLst>
              <a:gd name="adj" fmla="val 14286"/>
            </a:avLst>
          </a:prstGeom>
          <a:solidFill>
            <a:srgbClr val="FEF6E8"/>
          </a:solidFill>
          <a:ln w="12700">
            <a:solidFill>
              <a:srgbClr val="C7922C"/>
            </a:solidFill>
            <a:prstDash val="solid"/>
          </a:ln>
        </p:spPr>
      </p:sp>
      <p:sp>
        <p:nvSpPr>
          <p:cNvPr id="15" name="Text 13"/>
          <p:cNvSpPr/>
          <p:nvPr/>
        </p:nvSpPr>
        <p:spPr>
          <a:xfrm>
            <a:off x="548640" y="3694176"/>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Vocabulary
</a:t>
            </a:r>
            <a:pPr indent="0" marL="0">
              <a:buNone/>
            </a:pPr>
            <a:r>
              <a:rPr lang="en-US" sz="1000" i="1" dirty="0">
                <a:solidFill>
                  <a:srgbClr val="1E293B"/>
                </a:solidFill>
                <a:latin typeface="Calibri" pitchFamily="34" charset="0"/>
                <a:ea typeface="Calibri" pitchFamily="34" charset="-122"/>
                <a:cs typeface="Calibri" pitchFamily="34" charset="-120"/>
              </a:rPr>
              <a:t>Choose ONE activity from the board. Then write your response in the box below.</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Commas with Introductory Phrases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 reflective practice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With comma: In the spring meadow, Kit realized she did not want to leave. Without comma: In the spring meadow Kit realized she did not want to leave. The comma after “In the spring meadow” signals that the introductory phrase is finished and the main clause is beginning. Without it, the reader stumbles.</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After months of cold and hardship, Kit finally felt the warmth of spring.   /   After months of cold and hardship Kit finally felt the warmth of spring.</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Standing at the water’s edge she saw the ketch rounding the point.   /   Standing at the water’s edge, she saw the ketch rounding the point.</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With a smile on her face, Kit ran toward the wharf.   /   With a smile on her face Kit ran toward the wharf.</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Commas with Introductory Phrases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 reflective practice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With comma: In the spring meadow, Kit realized she did not want to leave. Without comma: In the spring meadow Kit realized she did not want to leave. The comma after “In the spring meadow” signals that the introductory phrase is finished and the main clause is beginning. Without it, the reader stumbles.</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After months of cold and hardship, Kit finally felt the warmth of spring.</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Standing at the water’s edge, she saw the ketch rounding the point.</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With a smile on her face, Kit ran toward the wharf.</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Cumulative Suffix 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Challenge — suffix riddles</a:t>
            </a:r>
            <a:endParaRPr lang="en-US" sz="1100" dirty="0"/>
          </a:p>
        </p:txBody>
      </p:sp>
      <p:sp>
        <p:nvSpPr>
          <p:cNvPr id="7" name="Shape 5"/>
          <p:cNvSpPr/>
          <p:nvPr/>
        </p:nvSpPr>
        <p:spPr>
          <a:xfrm>
            <a:off x="365760" y="1143000"/>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197864"/>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I am the noun form of “cruel.” I end in -ty. What am I?
</a:t>
            </a:r>
            <a:pPr indent="0" marL="0">
              <a:buNone/>
            </a:pPr>
            <a:r>
              <a:rPr lang="en-US" sz="1100" i="1" dirty="0">
                <a:solidFill>
                  <a:srgbClr val="64748B"/>
                </a:solidFill>
                <a:latin typeface="Calibri" pitchFamily="34" charset="0"/>
                <a:ea typeface="Calibri" pitchFamily="34" charset="-122"/>
                <a:cs typeface="Calibri" pitchFamily="34" charset="-120"/>
              </a:rPr>
              <a:t>cruelty   (— cruel + -ty = cruelty (the quality of being cruel).)</a:t>
            </a:r>
            <a:endParaRPr lang="en-US" sz="1400" dirty="0"/>
          </a:p>
        </p:txBody>
      </p:sp>
      <p:sp>
        <p:nvSpPr>
          <p:cNvPr id="9" name="Shape 7"/>
          <p:cNvSpPr/>
          <p:nvPr/>
        </p:nvSpPr>
        <p:spPr>
          <a:xfrm>
            <a:off x="365760" y="1901952"/>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1956816"/>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I start with “radiant” but I name a quality, not describe it. I end in a suffix. What am I?
</a:t>
            </a:r>
            <a:pPr indent="0" marL="0">
              <a:buNone/>
            </a:pPr>
            <a:r>
              <a:rPr lang="en-US" sz="1100" i="1" dirty="0">
                <a:solidFill>
                  <a:srgbClr val="64748B"/>
                </a:solidFill>
                <a:latin typeface="Calibri" pitchFamily="34" charset="0"/>
                <a:ea typeface="Calibri" pitchFamily="34" charset="-122"/>
                <a:cs typeface="Calibri" pitchFamily="34" charset="-120"/>
              </a:rPr>
              <a:t>radiance   (— radiant becomes radiance (not -ity this time!). Not every adjective uses -ity. This one uses -ance.)</a:t>
            </a:r>
            <a:endParaRPr lang="en-US" sz="1400" dirty="0"/>
          </a:p>
        </p:txBody>
      </p:sp>
      <p:sp>
        <p:nvSpPr>
          <p:cNvPr id="11" name="Shape 9"/>
          <p:cNvSpPr/>
          <p:nvPr/>
        </p:nvSpPr>
        <p:spPr>
          <a:xfrm>
            <a:off x="365760" y="2660904"/>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715768"/>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I describe something you can see through. Add -ity to make me a noun. Drop the silent “e” first!
</a:t>
            </a:r>
            <a:pPr indent="0" marL="0">
              <a:buNone/>
            </a:pPr>
            <a:r>
              <a:rPr lang="en-US" sz="1100" i="1" dirty="0">
                <a:solidFill>
                  <a:srgbClr val="64748B"/>
                </a:solidFill>
                <a:latin typeface="Calibri" pitchFamily="34" charset="0"/>
                <a:ea typeface="Calibri" pitchFamily="34" charset="-122"/>
                <a:cs typeface="Calibri" pitchFamily="34" charset="-120"/>
              </a:rPr>
              <a:t>transparency   (— transparent → drop the -ent, add -ency. The suffix pattern shifts! (Also acceptable: pure → purity .))</a:t>
            </a:r>
            <a:endParaRPr lang="en-US" sz="1400" dirty="0"/>
          </a:p>
        </p:txBody>
      </p:sp>
      <p:sp>
        <p:nvSpPr>
          <p:cNvPr id="13" name="Shape 11"/>
          <p:cNvSpPr/>
          <p:nvPr/>
        </p:nvSpPr>
        <p:spPr>
          <a:xfrm>
            <a:off x="365760" y="3419856"/>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74720"/>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I mean “full of life.” My adjective form is “vital.” Add -ity. What am I?
</a:t>
            </a:r>
            <a:pPr indent="0" marL="0">
              <a:buNone/>
            </a:pPr>
            <a:r>
              <a:rPr lang="en-US" sz="1100" i="1" dirty="0">
                <a:solidFill>
                  <a:srgbClr val="64748B"/>
                </a:solidFill>
                <a:latin typeface="Calibri" pitchFamily="34" charset="0"/>
                <a:ea typeface="Calibri" pitchFamily="34" charset="-122"/>
                <a:cs typeface="Calibri" pitchFamily="34" charset="-120"/>
              </a:rPr>
              <a:t>vitality   (— vital + -ity = vitality (the state of being full of life and energy).)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21 (Final Chapter) — Spring, love, and the ketch named The Witch</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21 — Resolution — Spring, love, and home</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Kit realizes “it was not escape that she had dreamed about, it was love.” What is the difference between escaping from something and running toward something?</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How has Kit’s understanding of home changed from the beginning of the novel to this final chapter?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How does Kit’s spring walk in the meadow mirror her autumn walk in Ch. 14? What has changed in her?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What does the name “The Witch” reveal about Nat and how he sees Kit?</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Cross-Week + Whole-Book Question: How has Kit’s understanding of “home” changed from the beginning of the novel to the end? Use evidence from at least three chapters across the book.</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Hannah told Kit, “There is no escape if love is not there.” Write 3–4 sentences explaining how Kit’s journey proves Hannah right. Use evidence from at least two moments in the novel.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2026-07-12T13:24:42Z</dcterms:created>
  <dcterms:modified xsi:type="dcterms:W3CDTF">2026-07-12T13:24:42Z</dcterms:modified>
</cp:coreProperties>
</file>