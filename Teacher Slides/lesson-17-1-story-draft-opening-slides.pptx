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Week 17 Day 1 — Plan &amp; Draft the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You've spent two weeks studying how real writers build historical worlds and how real history shapes real lives. Now it's your turn: what story do YOU want to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lens before students dive into today's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no answer required — discuss why each part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"when the bells rang out across the city sarah dropped her books and ran toward the sound of shouting"
Corrected: "When the bells rang out across the city, Sarah dropped her books and ran toward the sound of shouting."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"when the bells rang out across the city sarah dropped her books and ran toward the sound of shouting"
Corrected: "When the bells rang out across the city, Sarah dropped her books and ran toward the sound of shouting."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Graded SWYK strand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Decode &amp; Discover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Suffix Changes in Narrative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aloud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jot notes for each box before drafting.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no single right answer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today's study,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writing time — this is the day's graded writing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2817"/>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4AF6A">
              <a:alpha val="15000"/>
            </a:srgbClr>
          </a:solidFill>
          <a:ln/>
        </p:spPr>
      </p:sp>
      <p:sp>
        <p:nvSpPr>
          <p:cNvPr id="3" name="Text 1"/>
          <p:cNvSpPr/>
          <p:nvPr/>
        </p:nvSpPr>
        <p:spPr>
          <a:xfrm>
            <a:off x="457200" y="502920"/>
            <a:ext cx="8229600" cy="365760"/>
          </a:xfrm>
          <a:prstGeom prst="rect">
            <a:avLst/>
          </a:prstGeom>
          <a:noFill/>
          <a:ln/>
        </p:spPr>
        <p:txBody>
          <a:bodyPr wrap="square" lIns="0" tIns="0" rIns="0" bIns="0" rtlCol="0" anchor="ctr"/>
          <a:lstStyle/>
          <a:p>
            <a:pPr algn="l" indent="0" marL="0">
              <a:buNone/>
            </a:pPr>
            <a:r>
              <a:rPr lang="en-US" sz="1300" b="1" spc="400" kern="0" dirty="0">
                <a:solidFill>
                  <a:srgbClr val="D4AF6A"/>
                </a:solidFill>
                <a:latin typeface="Calibri" pitchFamily="34" charset="0"/>
                <a:ea typeface="Calibri" pitchFamily="34" charset="-122"/>
                <a:cs typeface="Calibri" pitchFamily="34" charset="-120"/>
              </a:rPr>
              <a:t>WEEK 17  ·  DAY 1</a:t>
            </a:r>
            <a:endParaRPr lang="en-US" sz="1300" dirty="0"/>
          </a:p>
        </p:txBody>
      </p:sp>
      <p:sp>
        <p:nvSpPr>
          <p:cNvPr id="4" name="Text 2"/>
          <p:cNvSpPr/>
          <p:nvPr/>
        </p:nvSpPr>
        <p:spPr>
          <a:xfrm>
            <a:off x="457200" y="868680"/>
            <a:ext cx="8229600" cy="36576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Week 17 · Historical Fiction Short Story</a:t>
            </a:r>
            <a:endParaRPr lang="en-US" sz="1400" dirty="0"/>
          </a:p>
        </p:txBody>
      </p:sp>
      <p:sp>
        <p:nvSpPr>
          <p:cNvPr id="5" name="Text 3"/>
          <p:cNvSpPr/>
          <p:nvPr/>
        </p:nvSpPr>
        <p:spPr>
          <a:xfrm>
            <a:off x="457200" y="1280160"/>
            <a:ext cx="8229600" cy="137160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Plan &amp; Draft the Opening</a:t>
            </a:r>
            <a:endParaRPr lang="en-US" sz="3000" dirty="0"/>
          </a:p>
        </p:txBody>
      </p:sp>
      <p:sp>
        <p:nvSpPr>
          <p:cNvPr id="6" name="Text 4"/>
          <p:cNvSpPr/>
          <p:nvPr/>
        </p:nvSpPr>
        <p:spPr>
          <a:xfrm>
            <a:off x="457200" y="2514600"/>
            <a:ext cx="8229600" cy="457200"/>
          </a:xfrm>
          <a:prstGeom prst="rect">
            <a:avLst/>
          </a:prstGeom>
          <a:noFill/>
          <a:ln/>
        </p:spPr>
        <p:txBody>
          <a:bodyPr wrap="square" lIns="0" tIns="0" rIns="0" bIns="0" rtlCol="0" anchor="ctr"/>
          <a:lstStyle/>
          <a:p>
            <a:pPr algn="l" indent="0" marL="0">
              <a:buNone/>
            </a:pPr>
            <a:r>
              <a:rPr lang="en-US" sz="1300" i="1" dirty="0">
                <a:solidFill>
                  <a:srgbClr val="D4AF6A"/>
                </a:solidFill>
                <a:latin typeface="Georgia" pitchFamily="34" charset="0"/>
                <a:ea typeface="Georgia" pitchFamily="34" charset="-122"/>
                <a:cs typeface="Georgia" pitchFamily="34" charset="-120"/>
              </a:rPr>
              <a:t>Ms. Birchum's Example (teacher-written mentor model, not from a published book)</a:t>
            </a:r>
            <a:endParaRPr lang="en-US" sz="1300" dirty="0"/>
          </a:p>
        </p:txBody>
      </p:sp>
      <p:sp>
        <p:nvSpPr>
          <p:cNvPr id="7" name="Text 5"/>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Writer's Bridge  ·  Voice &amp; Craft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Today's Big Question</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365760" y="914400"/>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051560"/>
            <a:ext cx="7955280" cy="10058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You've spent two weeks studying how real writers build historical worlds and how real history shapes real lives. Now it's your turn: what story do YOU want to tell?</a:t>
            </a:r>
            <a:endParaRPr lang="en-US" sz="1600" dirty="0"/>
          </a:p>
        </p:txBody>
      </p:sp>
      <p:sp>
        <p:nvSpPr>
          <p:cNvPr id="6" name="Text 4"/>
          <p:cNvSpPr/>
          <p:nvPr/>
        </p:nvSpPr>
        <p:spPr>
          <a:xfrm>
            <a:off x="365760" y="23774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7" name="Shape 5"/>
          <p:cNvSpPr/>
          <p:nvPr/>
        </p:nvSpPr>
        <p:spPr>
          <a:xfrm>
            <a:off x="365760" y="2670048"/>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724912"/>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Writing: </a:t>
            </a:r>
            <a:pPr indent="0" marL="0">
              <a:buNone/>
            </a:pPr>
            <a:r>
              <a:rPr lang="en-US" sz="1300" dirty="0">
                <a:solidFill>
                  <a:srgbClr val="1E293B"/>
                </a:solidFill>
                <a:latin typeface="Calibri" pitchFamily="34" charset="0"/>
                <a:ea typeface="Calibri" pitchFamily="34" charset="-122"/>
                <a:cs typeface="Calibri" pitchFamily="34" charset="-120"/>
              </a:rPr>
              <a:t>I will plan my historical fiction story and draft its opening paragraph.</a:t>
            </a:r>
            <a:endParaRPr lang="en-US" sz="1500" dirty="0"/>
          </a:p>
        </p:txBody>
      </p:sp>
      <p:sp>
        <p:nvSpPr>
          <p:cNvPr id="9" name="Shape 7"/>
          <p:cNvSpPr/>
          <p:nvPr/>
        </p:nvSpPr>
        <p:spPr>
          <a:xfrm>
            <a:off x="365760" y="336499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419856"/>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300" dirty="0">
                <a:solidFill>
                  <a:srgbClr val="1E293B"/>
                </a:solidFill>
                <a:latin typeface="Calibri" pitchFamily="34" charset="0"/>
                <a:ea typeface="Calibri" pitchFamily="34" charset="-122"/>
                <a:cs typeface="Calibri" pitchFamily="34" charset="-120"/>
              </a:rPr>
              <a:t>I will define complex sentences and how they show cause and effect.</a:t>
            </a:r>
            <a:endParaRPr lang="en-US" sz="1500" dirty="0"/>
          </a:p>
        </p:txBody>
      </p:sp>
      <p:sp>
        <p:nvSpPr>
          <p:cNvPr id="11" name="Shape 9"/>
          <p:cNvSpPr/>
          <p:nvPr/>
        </p:nvSpPr>
        <p:spPr>
          <a:xfrm>
            <a:off x="365760" y="405993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4114800"/>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300" dirty="0">
                <a:solidFill>
                  <a:srgbClr val="1E293B"/>
                </a:solidFill>
                <a:latin typeface="Calibri" pitchFamily="34" charset="0"/>
                <a:ea typeface="Calibri" pitchFamily="34" charset="-122"/>
                <a:cs typeface="Calibri" pitchFamily="34" charset="-120"/>
              </a:rPr>
              <a:t>I will define the suffix spelling changes that happen when -ed and -ing are added to narrative verbs.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What Good Readers Do</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86868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5943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historical fiction writers plan their whole story before they draft — setting, character, conflict, and a real historical event to anchor it.</a:t>
            </a:r>
            <a:endParaRPr lang="en-US" sz="1300" dirty="0"/>
          </a:p>
        </p:txBody>
      </p:sp>
      <p:sp>
        <p:nvSpPr>
          <p:cNvPr id="6" name="Text 4"/>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a:t>
            </a:r>
            <a:endParaRPr lang="en-US" sz="1100" dirty="0"/>
          </a:p>
        </p:txBody>
      </p:sp>
      <p:sp>
        <p:nvSpPr>
          <p:cNvPr id="7" name="Shape 5"/>
          <p:cNvSpPr/>
          <p:nvPr/>
        </p:nvSpPr>
        <p:spPr>
          <a:xfrm>
            <a:off x="365760" y="208483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time and place will I use?</a:t>
            </a:r>
            <a:endParaRPr lang="en-US" sz="1300" dirty="0"/>
          </a:p>
        </p:txBody>
      </p:sp>
      <p:sp>
        <p:nvSpPr>
          <p:cNvPr id="9" name="Shape 7"/>
          <p:cNvSpPr/>
          <p:nvPr/>
        </p:nvSpPr>
        <p:spPr>
          <a:xfrm>
            <a:off x="365760" y="2798064"/>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871216"/>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does my character want?</a:t>
            </a:r>
            <a:endParaRPr lang="en-US" sz="1300" dirty="0"/>
          </a:p>
        </p:txBody>
      </p:sp>
      <p:sp>
        <p:nvSpPr>
          <p:cNvPr id="11" name="Shape 9"/>
          <p:cNvSpPr/>
          <p:nvPr/>
        </p:nvSpPr>
        <p:spPr>
          <a:xfrm>
            <a:off x="365760" y="351129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84448"/>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stands in their way?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Study What's Right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MODEL SENTENCE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Nathaniel pressed his back against the cold brick wall, listening for footsteps, and gripped the folded letter inside his coat until his knuckles ached.</a:t>
            </a:r>
            <a:endParaRPr lang="en-US" sz="15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SPOT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"Nathaniel" — character name, capitalized</a:t>
            </a:r>
            <a:endParaRPr lang="en-US" sz="12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comma sets off "listening for footsteps"</a:t>
            </a:r>
            <a:endParaRPr lang="en-US" sz="12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"until" joins the gripping to its result (cause and effect)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when the bells rang out across the city sarah dropped her books and ran toward the sound of shouting</a:t>
            </a:r>
            <a:endParaRPr lang="en-US" sz="15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when the bells rang out across the city sarah dropped her books and ran toward the sound of shouting</a:t>
            </a:r>
            <a:endParaRPr lang="en-US" sz="15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400" b="1" i="1" dirty="0">
                <a:solidFill>
                  <a:srgbClr val="1E293B"/>
                </a:solidFill>
                <a:latin typeface="Calibri" pitchFamily="34" charset="0"/>
                <a:ea typeface="Calibri" pitchFamily="34" charset="-122"/>
                <a:cs typeface="Calibri" pitchFamily="34" charset="-120"/>
              </a:rPr>
              <a:t>When the bells rang out across the city, Sarah dropped her books and ran toward the sound of shouting.</a:t>
            </a:r>
            <a:endParaRPr lang="en-US" sz="14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Both sentences begin with a descriptive/dependent clause and need a capital letter on the character’s name.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Morphology: narr / fic</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Latin · "to tell" / "to make or form"</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 story is something you narrate (tell) that is also fiction (made or formed from imagination).</a:t>
            </a:r>
            <a:endParaRPr lang="en-US" sz="1200" dirty="0"/>
          </a:p>
        </p:txBody>
      </p:sp>
      <p:sp>
        <p:nvSpPr>
          <p:cNvPr id="7" name="Shape 5"/>
          <p:cNvSpPr/>
          <p:nvPr/>
        </p:nvSpPr>
        <p:spPr>
          <a:xfrm>
            <a:off x="365760" y="175564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801368"/>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narrate — to tell a story or give an account of events</a:t>
            </a:r>
            <a:endParaRPr lang="en-US" sz="1200" dirty="0"/>
          </a:p>
        </p:txBody>
      </p:sp>
      <p:sp>
        <p:nvSpPr>
          <p:cNvPr id="9" name="Shape 7"/>
          <p:cNvSpPr/>
          <p:nvPr/>
        </p:nvSpPr>
        <p:spPr>
          <a:xfrm>
            <a:off x="365760" y="2276856"/>
            <a:ext cx="8412480" cy="457200"/>
          </a:xfrm>
          <a:prstGeom prst="roundRect">
            <a:avLst>
              <a:gd name="adj" fmla="val 20000"/>
            </a:avLst>
          </a:prstGeom>
          <a:solidFill>
            <a:srgbClr val="F8F4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22576"/>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narrator — the person telling the story</a:t>
            </a:r>
            <a:endParaRPr lang="en-US" sz="1200" dirty="0"/>
          </a:p>
        </p:txBody>
      </p:sp>
      <p:sp>
        <p:nvSpPr>
          <p:cNvPr id="11" name="Shape 9"/>
          <p:cNvSpPr/>
          <p:nvPr/>
        </p:nvSpPr>
        <p:spPr>
          <a:xfrm>
            <a:off x="365760" y="279806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43784"/>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fiction — writing about imagined events and characters</a:t>
            </a:r>
            <a:endParaRPr lang="en-US" sz="1200" dirty="0"/>
          </a:p>
        </p:txBody>
      </p:sp>
      <p:sp>
        <p:nvSpPr>
          <p:cNvPr id="13" name="Shape 11"/>
          <p:cNvSpPr/>
          <p:nvPr/>
        </p:nvSpPr>
        <p:spPr>
          <a:xfrm>
            <a:off x="365760" y="3319272"/>
            <a:ext cx="8412480" cy="457200"/>
          </a:xfrm>
          <a:prstGeom prst="roundRect">
            <a:avLst>
              <a:gd name="adj" fmla="val 20000"/>
            </a:avLst>
          </a:prstGeom>
          <a:solidFill>
            <a:srgbClr val="F8F4FF"/>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364992"/>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fictional — made up, not real</a:t>
            </a:r>
            <a:endParaRPr lang="en-US" sz="1200" dirty="0"/>
          </a:p>
        </p:txBody>
      </p:sp>
      <p:sp>
        <p:nvSpPr>
          <p:cNvPr id="15" name="Shape 13"/>
          <p:cNvSpPr/>
          <p:nvPr/>
        </p:nvSpPr>
        <p:spPr>
          <a:xfrm>
            <a:off x="365760" y="3886200"/>
            <a:ext cx="8412480" cy="685800"/>
          </a:xfrm>
          <a:prstGeom prst="roundRect">
            <a:avLst>
              <a:gd name="adj" fmla="val 13333"/>
            </a:avLst>
          </a:prstGeom>
          <a:solidFill>
            <a:srgbClr val="FEF6E8"/>
          </a:solidFill>
          <a:ln w="12700">
            <a:solidFill>
              <a:srgbClr val="C7922C"/>
            </a:solidFill>
            <a:prstDash val="solid"/>
          </a:ln>
        </p:spPr>
      </p:sp>
      <p:sp>
        <p:nvSpPr>
          <p:cNvPr id="16" name="Text 14"/>
          <p:cNvSpPr/>
          <p:nvPr/>
        </p:nvSpPr>
        <p:spPr>
          <a:xfrm>
            <a:off x="548640" y="3931920"/>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a:t>
            </a:r>
            <a:pPr indent="0" marL="0">
              <a:buNone/>
            </a:pPr>
            <a:r>
              <a:rPr lang="en-US" sz="1000" i="1" dirty="0">
                <a:solidFill>
                  <a:srgbClr val="1E293B"/>
                </a:solidFill>
                <a:latin typeface="Calibri" pitchFamily="34" charset="0"/>
                <a:ea typeface="Calibri" pitchFamily="34" charset="-122"/>
                <a:cs typeface="Calibri" pitchFamily="34" charset="-120"/>
              </a:rPr>
              <a:t>Explain, in your own words, how the roots narr and fic connect to what you are doing this week as a writer. Use at least one example word from each root.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Vocabulary — Decode &amp; Discover</a:t>
            </a:r>
            <a:endParaRPr lang="en-US" sz="24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Shape 2"/>
          <p:cNvSpPr/>
          <p:nvPr/>
        </p:nvSpPr>
        <p:spPr>
          <a:xfrm>
            <a:off x="365760" y="914400"/>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60120"/>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setting  </a:t>
            </a:r>
            <a:pPr indent="0" marL="0">
              <a:buNone/>
            </a:pPr>
            <a:r>
              <a:rPr lang="en-US" sz="1150" dirty="0">
                <a:solidFill>
                  <a:srgbClr val="1E293B"/>
                </a:solidFill>
                <a:latin typeface="Calibri" pitchFamily="34" charset="0"/>
                <a:ea typeface="Calibri" pitchFamily="34" charset="-122"/>
                <a:cs typeface="Calibri" pitchFamily="34" charset="-120"/>
              </a:rPr>
              <a:t>The time and place where a story happens.</a:t>
            </a:r>
            <a:endParaRPr lang="en-US" sz="1300" dirty="0"/>
          </a:p>
        </p:txBody>
      </p:sp>
      <p:sp>
        <p:nvSpPr>
          <p:cNvPr id="6" name="Shape 4"/>
          <p:cNvSpPr/>
          <p:nvPr/>
        </p:nvSpPr>
        <p:spPr>
          <a:xfrm>
            <a:off x="365760" y="1517904"/>
            <a:ext cx="8412480" cy="548640"/>
          </a:xfrm>
          <a:prstGeom prst="roundRect">
            <a:avLst>
              <a:gd name="adj" fmla="val 16667"/>
            </a:avLst>
          </a:prstGeom>
          <a:solidFill>
            <a:srgbClr val="EAF6FA"/>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563624"/>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conflict  </a:t>
            </a:r>
            <a:pPr indent="0" marL="0">
              <a:buNone/>
            </a:pPr>
            <a:r>
              <a:rPr lang="en-US" sz="1150" dirty="0">
                <a:solidFill>
                  <a:srgbClr val="1E293B"/>
                </a:solidFill>
                <a:latin typeface="Calibri" pitchFamily="34" charset="0"/>
                <a:ea typeface="Calibri" pitchFamily="34" charset="-122"/>
                <a:cs typeface="Calibri" pitchFamily="34" charset="-120"/>
              </a:rPr>
              <a:t>The problem or struggle a character faces — inside themselves or against something outside them.</a:t>
            </a:r>
            <a:endParaRPr lang="en-US" sz="1300" dirty="0"/>
          </a:p>
        </p:txBody>
      </p:sp>
      <p:sp>
        <p:nvSpPr>
          <p:cNvPr id="8" name="Shape 6"/>
          <p:cNvSpPr/>
          <p:nvPr/>
        </p:nvSpPr>
        <p:spPr>
          <a:xfrm>
            <a:off x="365760" y="2121408"/>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67128"/>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dialogue  </a:t>
            </a:r>
            <a:pPr indent="0" marL="0">
              <a:buNone/>
            </a:pPr>
            <a:r>
              <a:rPr lang="en-US" sz="1150" dirty="0">
                <a:solidFill>
                  <a:srgbClr val="1E293B"/>
                </a:solidFill>
                <a:latin typeface="Calibri" pitchFamily="34" charset="0"/>
                <a:ea typeface="Calibri" pitchFamily="34" charset="-122"/>
                <a:cs typeface="Calibri" pitchFamily="34" charset="-120"/>
              </a:rPr>
              <a:t>The words characters speak aloud to each other, punctuated with quotation marks.</a:t>
            </a:r>
            <a:endParaRPr lang="en-US" sz="1300" dirty="0"/>
          </a:p>
        </p:txBody>
      </p:sp>
      <p:sp>
        <p:nvSpPr>
          <p:cNvPr id="10" name="Shape 8"/>
          <p:cNvSpPr/>
          <p:nvPr/>
        </p:nvSpPr>
        <p:spPr>
          <a:xfrm>
            <a:off x="365760" y="2724912"/>
            <a:ext cx="8412480" cy="548640"/>
          </a:xfrm>
          <a:prstGeom prst="roundRect">
            <a:avLst>
              <a:gd name="adj" fmla="val 16667"/>
            </a:avLst>
          </a:prstGeom>
          <a:solidFill>
            <a:srgbClr val="EAF6FA"/>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770632"/>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voice telling the story. Comes from the root narr, "to tell."</a:t>
            </a:r>
            <a:endParaRPr lang="en-US" sz="1300" dirty="0"/>
          </a:p>
        </p:txBody>
      </p:sp>
      <p:sp>
        <p:nvSpPr>
          <p:cNvPr id="12" name="Shape 10"/>
          <p:cNvSpPr/>
          <p:nvPr/>
        </p:nvSpPr>
        <p:spPr>
          <a:xfrm>
            <a:off x="365760" y="3328416"/>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374136"/>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historical  </a:t>
            </a:r>
            <a:pPr indent="0" marL="0">
              <a:buNone/>
            </a:pPr>
            <a:r>
              <a:rPr lang="en-US" sz="1150" dirty="0">
                <a:solidFill>
                  <a:srgbClr val="1E293B"/>
                </a:solidFill>
                <a:latin typeface="Calibri" pitchFamily="34" charset="0"/>
                <a:ea typeface="Calibri" pitchFamily="34" charset="-122"/>
                <a:cs typeface="Calibri" pitchFamily="34" charset="-120"/>
              </a:rPr>
              <a:t>Based on or connected to real events and time periods from the past.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 Complex Sentences</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Learn: define cause-and-effect complex sentences</a:t>
            </a:r>
            <a:endParaRPr lang="en-US" sz="1100" dirty="0"/>
          </a:p>
        </p:txBody>
      </p:sp>
      <p:sp>
        <p:nvSpPr>
          <p:cNvPr id="7" name="Text 5"/>
          <p:cNvSpPr/>
          <p:nvPr/>
        </p:nvSpPr>
        <p:spPr>
          <a:xfrm>
            <a:off x="365760" y="1078992"/>
            <a:ext cx="8412480" cy="56692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 complex sentence joins one independent clause with one dependent clause, using a subordinating conjunction like because, since, until, although, or so that — perfect for showing cause and effect.</a:t>
            </a:r>
            <a:endParaRPr lang="en-US" sz="1100" dirty="0"/>
          </a:p>
        </p:txBody>
      </p:sp>
      <p:sp>
        <p:nvSpPr>
          <p:cNvPr id="8" name="Text 6"/>
          <p:cNvSpPr/>
          <p:nvPr/>
        </p:nvSpPr>
        <p:spPr>
          <a:xfrm>
            <a:off x="365760" y="1737360"/>
            <a:ext cx="8412480" cy="320040"/>
          </a:xfrm>
          <a:prstGeom prst="rect">
            <a:avLst/>
          </a:prstGeom>
          <a:noFill/>
          <a:ln/>
        </p:spPr>
        <p:txBody>
          <a:bodyPr wrap="square" lIns="0" tIns="0" rIns="0" bIns="0" rtlCol="0" anchor="ctr"/>
          <a:lstStyle/>
          <a:p>
            <a:pPr indent="0" marL="0">
              <a:buNone/>
            </a:pPr>
            <a:r>
              <a:rPr lang="en-US" sz="1100" b="1" i="1" dirty="0">
                <a:solidFill>
                  <a:srgbClr val="64748B"/>
                </a:solidFill>
                <a:latin typeface="Calibri" pitchFamily="34" charset="0"/>
                <a:ea typeface="Calibri" pitchFamily="34" charset="-122"/>
                <a:cs typeface="Calibri" pitchFamily="34" charset="-120"/>
              </a:rPr>
              <a:t>Tap the word that joins the two ideas and shows cause and effect.</a:t>
            </a:r>
            <a:endParaRPr lang="en-US" sz="1100" dirty="0"/>
          </a:p>
        </p:txBody>
      </p:sp>
      <p:sp>
        <p:nvSpPr>
          <p:cNvPr id="9" name="Shape 7"/>
          <p:cNvSpPr/>
          <p:nvPr/>
        </p:nvSpPr>
        <p:spPr>
          <a:xfrm>
            <a:off x="365760" y="2121408"/>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176272"/>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Nathaniel promised [because] he walked the letter across town before sunrise, he had made a promise.</a:t>
            </a:r>
            <a:endParaRPr lang="en-US" sz="1200" dirty="0"/>
          </a:p>
        </p:txBody>
      </p:sp>
      <p:sp>
        <p:nvSpPr>
          <p:cNvPr id="11" name="Shape 9"/>
          <p:cNvSpPr/>
          <p:nvPr/>
        </p:nvSpPr>
        <p:spPr>
          <a:xfrm>
            <a:off x="365760" y="2816352"/>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71216"/>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Sarah dropped her books [when] she heard the bells ringing across the city.</a:t>
            </a:r>
            <a:endParaRPr lang="en-US" sz="1200" dirty="0"/>
          </a:p>
        </p:txBody>
      </p:sp>
      <p:sp>
        <p:nvSpPr>
          <p:cNvPr id="13" name="Shape 11"/>
          <p:cNvSpPr/>
          <p:nvPr/>
        </p:nvSpPr>
        <p:spPr>
          <a:xfrm>
            <a:off x="365760" y="3511296"/>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66160"/>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apprentice worked late into the night [so that] the order would be ready by morning.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 Complex Sentences</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Learn: define cause-and-effect complex sentences</a:t>
            </a:r>
            <a:endParaRPr lang="en-US" sz="1100" dirty="0"/>
          </a:p>
        </p:txBody>
      </p:sp>
      <p:sp>
        <p:nvSpPr>
          <p:cNvPr id="7" name="Text 5"/>
          <p:cNvSpPr/>
          <p:nvPr/>
        </p:nvSpPr>
        <p:spPr>
          <a:xfrm>
            <a:off x="365760" y="1078992"/>
            <a:ext cx="8412480" cy="56692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 complex sentence joins one independent clause with one dependent clause, using a subordinating conjunction like because, since, until, although, or so that — perfect for showing cause and effect.</a:t>
            </a:r>
            <a:endParaRPr lang="en-US" sz="1100" dirty="0"/>
          </a:p>
        </p:txBody>
      </p:sp>
      <p:sp>
        <p:nvSpPr>
          <p:cNvPr id="8" name="Shape 6"/>
          <p:cNvSpPr/>
          <p:nvPr/>
        </p:nvSpPr>
        <p:spPr>
          <a:xfrm>
            <a:off x="365760" y="1737360"/>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Nathaniel promised because he walked the letter across town before sunrise, he had made a promise.
</a:t>
            </a:r>
            <a:pPr indent="0" marL="0">
              <a:buNone/>
            </a:pPr>
            <a:r>
              <a:rPr lang="en-US" sz="1200" b="1" dirty="0">
                <a:solidFill>
                  <a:srgbClr val="34B76F"/>
                </a:solidFill>
                <a:latin typeface="Calibri" pitchFamily="34" charset="0"/>
                <a:ea typeface="Calibri" pitchFamily="34" charset="-122"/>
                <a:cs typeface="Calibri" pitchFamily="34" charset="-120"/>
              </a:rPr>
              <a:t>✅ because</a:t>
            </a:r>
            <a:endParaRPr lang="en-US" sz="1200" dirty="0"/>
          </a:p>
        </p:txBody>
      </p:sp>
      <p:sp>
        <p:nvSpPr>
          <p:cNvPr id="10" name="Shape 8"/>
          <p:cNvSpPr/>
          <p:nvPr/>
        </p:nvSpPr>
        <p:spPr>
          <a:xfrm>
            <a:off x="365760" y="2432304"/>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487168"/>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Sarah dropped her books when she heard the bells ringing across the city.
</a:t>
            </a:r>
            <a:pPr indent="0" marL="0">
              <a:buNone/>
            </a:pPr>
            <a:r>
              <a:rPr lang="en-US" sz="1200" b="1" dirty="0">
                <a:solidFill>
                  <a:srgbClr val="34B76F"/>
                </a:solidFill>
                <a:latin typeface="Calibri" pitchFamily="34" charset="0"/>
                <a:ea typeface="Calibri" pitchFamily="34" charset="-122"/>
                <a:cs typeface="Calibri" pitchFamily="34" charset="-120"/>
              </a:rPr>
              <a:t>✅ when</a:t>
            </a:r>
            <a:endParaRPr lang="en-US" sz="1200" dirty="0"/>
          </a:p>
        </p:txBody>
      </p:sp>
      <p:sp>
        <p:nvSpPr>
          <p:cNvPr id="12" name="Shape 10"/>
          <p:cNvSpPr/>
          <p:nvPr/>
        </p:nvSpPr>
        <p:spPr>
          <a:xfrm>
            <a:off x="365760" y="3127248"/>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182112"/>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apprentice worked late into the night so that the order would be ready by morning.
</a:t>
            </a:r>
            <a:pPr indent="0" marL="0">
              <a:buNone/>
            </a:pPr>
            <a:r>
              <a:rPr lang="en-US" sz="1200" b="1" dirty="0">
                <a:solidFill>
                  <a:srgbClr val="34B76F"/>
                </a:solidFill>
                <a:latin typeface="Calibri" pitchFamily="34" charset="0"/>
                <a:ea typeface="Calibri" pitchFamily="34" charset="-122"/>
                <a:cs typeface="Calibri" pitchFamily="34" charset="-120"/>
              </a:rPr>
              <a:t>✅ so that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Spelling — Suffix Changes in Narrative Verbs</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Discover: -ed and -ing spelling changes</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Drop the silent e</a:t>
            </a:r>
            <a:endParaRPr lang="en-US" sz="1300" dirty="0"/>
          </a:p>
        </p:txBody>
      </p:sp>
      <p:sp>
        <p:nvSpPr>
          <p:cNvPr id="8" name="Text 6"/>
          <p:cNvSpPr/>
          <p:nvPr/>
        </p:nvSpPr>
        <p:spPr>
          <a:xfrm>
            <a:off x="365760" y="1508760"/>
            <a:ext cx="4023360" cy="1463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hope→hoping, write→writing, describe→describing, decide→deciding</a:t>
            </a:r>
            <a:endParaRPr lang="en-US" sz="12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Double the consonant</a:t>
            </a:r>
            <a:endParaRPr lang="en-US" sz="1300" dirty="0"/>
          </a:p>
        </p:txBody>
      </p:sp>
      <p:sp>
        <p:nvSpPr>
          <p:cNvPr id="10" name="Text 8"/>
          <p:cNvSpPr/>
          <p:nvPr/>
        </p:nvSpPr>
        <p:spPr>
          <a:xfrm>
            <a:off x="4663440" y="1508760"/>
            <a:ext cx="4023360" cy="1463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run→running, stop→stopping, drop→dropping, grip→gripping</a:t>
            </a:r>
            <a:endParaRPr lang="en-US" sz="1200" dirty="0"/>
          </a:p>
        </p:txBody>
      </p:sp>
      <p:sp>
        <p:nvSpPr>
          <p:cNvPr id="11" name="Shape 9"/>
          <p:cNvSpPr/>
          <p:nvPr/>
        </p:nvSpPr>
        <p:spPr>
          <a:xfrm>
            <a:off x="365760" y="3063240"/>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118104"/>
            <a:ext cx="8046720" cy="530352"/>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If a verb ends in silent e, drop the e before -ing/-ed. If a short verb ends in one vowel + one consonant, double the final consonant before -ing/-ed.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Open Your Story Map — Plan Before You Draft</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Text 2"/>
          <p:cNvSpPr/>
          <p:nvPr/>
        </p:nvSpPr>
        <p:spPr>
          <a:xfrm>
            <a:off x="365760" y="822960"/>
            <a:ext cx="841248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Recall Chapter I of Johnny Tremain, which opened with gulls and ordinary chores, not a battle or speech. Good historical fiction almost always starts small and sensory before it gets big.</a:t>
            </a:r>
            <a:endParaRPr lang="en-US" sz="1200" dirty="0"/>
          </a:p>
        </p:txBody>
      </p:sp>
      <p:sp>
        <p:nvSpPr>
          <p:cNvPr id="5" name="Shape 3"/>
          <p:cNvSpPr/>
          <p:nvPr/>
        </p:nvSpPr>
        <p:spPr>
          <a:xfrm>
            <a:off x="365760" y="1325880"/>
            <a:ext cx="8412480" cy="2103120"/>
          </a:xfrm>
          <a:prstGeom prst="roundRect">
            <a:avLst>
              <a:gd name="adj" fmla="val 4348"/>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435608"/>
            <a:ext cx="8046720" cy="1883664"/>
          </a:xfrm>
          <a:prstGeom prst="rect">
            <a:avLst/>
          </a:prstGeom>
          <a:noFill/>
          <a:ln/>
        </p:spPr>
        <p:txBody>
          <a:bodyPr wrap="square" lIns="0" tIns="0" rIns="0" bIns="0" rtlCol="0" anchor="t"/>
          <a:lstStyle/>
          <a:p>
            <a:pPr indent="0" marL="0">
              <a:buNone/>
            </a:pPr>
            <a:r>
              <a:rPr lang="en-US" sz="1200" i="1" dirty="0">
                <a:solidFill>
                  <a:srgbClr val="1E293B"/>
                </a:solidFill>
                <a:latin typeface="Georgia" pitchFamily="34" charset="0"/>
                <a:ea typeface="Georgia" pitchFamily="34" charset="-122"/>
                <a:cs typeface="Georgia" pitchFamily="34" charset="-120"/>
              </a:rPr>
              <a:t>"The wind off the harbor carried the sharp smell of salt and gunpowder smoke that still lingered three days after the battle. Nathaniel pressed his back against the cold brick wall, listening for footsteps, and gripped the folded letter inside his coat until his knuckles ached. He had promised to deliver it before sunrise, no matter what waited in the dark streets between him and the print shop."</a:t>
            </a:r>
            <a:endParaRPr lang="en-US" sz="1200" dirty="0"/>
          </a:p>
        </p:txBody>
      </p:sp>
      <p:sp>
        <p:nvSpPr>
          <p:cNvPr id="7" name="Text 5"/>
          <p:cNvSpPr/>
          <p:nvPr/>
        </p:nvSpPr>
        <p:spPr>
          <a:xfrm>
            <a:off x="365760" y="3566160"/>
            <a:ext cx="8412480" cy="457200"/>
          </a:xfrm>
          <a:prstGeom prst="rect">
            <a:avLst/>
          </a:prstGeom>
          <a:noFill/>
          <a:ln/>
        </p:spPr>
        <p:txBody>
          <a:bodyPr wrap="square" lIns="0" tIns="0" rIns="0" bIns="0" rtlCol="0" anchor="ctr"/>
          <a:lstStyle/>
          <a:p>
            <a:pPr indent="0" marL="0">
              <a:buNone/>
            </a:pPr>
            <a:r>
              <a:rPr lang="en-US" sz="1100" i="1" dirty="0">
                <a:solidFill>
                  <a:srgbClr val="8B6FC0"/>
                </a:solidFill>
                <a:latin typeface="Calibri" pitchFamily="34" charset="0"/>
                <a:ea typeface="Calibri" pitchFamily="34" charset="-122"/>
                <a:cs typeface="Calibri" pitchFamily="34" charset="-120"/>
              </a:rPr>
              <a:t>Notice the sensory detail (salt and gunpowder), the real historical anchor (three days after a battle), the character’s want (deliver the letter), and the conflict (danger in the dark streets).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Your Story Map</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365760" y="868680"/>
            <a:ext cx="8412480" cy="777240"/>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41832"/>
            <a:ext cx="8046720" cy="630936"/>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 Setting
</a:t>
            </a:r>
            <a:pPr indent="0" marL="0">
              <a:buNone/>
            </a:pPr>
            <a:r>
              <a:rPr lang="en-US" sz="1150" dirty="0">
                <a:solidFill>
                  <a:srgbClr val="1E293B"/>
                </a:solidFill>
                <a:latin typeface="Calibri" pitchFamily="34" charset="0"/>
                <a:ea typeface="Calibri" pitchFamily="34" charset="-122"/>
                <a:cs typeface="Calibri" pitchFamily="34" charset="-120"/>
              </a:rPr>
              <a:t>Choose a time and place: Revolutionary Boston (extending Johnny Tremain’s world) or another well-documented historical moment.</a:t>
            </a:r>
            <a:endParaRPr lang="en-US" sz="1300" dirty="0"/>
          </a:p>
        </p:txBody>
      </p:sp>
      <p:sp>
        <p:nvSpPr>
          <p:cNvPr id="6" name="Shape 4"/>
          <p:cNvSpPr/>
          <p:nvPr/>
        </p:nvSpPr>
        <p:spPr>
          <a:xfrm>
            <a:off x="365760" y="1737360"/>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810512"/>
            <a:ext cx="8046720" cy="630936"/>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 Real Historical Event
</a:t>
            </a:r>
            <a:pPr indent="0" marL="0">
              <a:buNone/>
            </a:pPr>
            <a:r>
              <a:rPr lang="en-US" sz="1150" dirty="0">
                <a:solidFill>
                  <a:srgbClr val="1E293B"/>
                </a:solidFill>
                <a:latin typeface="Calibri" pitchFamily="34" charset="0"/>
                <a:ea typeface="Calibri" pitchFamily="34" charset="-122"/>
                <a:cs typeface="Calibri" pitchFamily="34" charset="-120"/>
              </a:rPr>
              <a:t>What real, documented event will anchor your story? (A battle, a law, a journey, an invention, an announcement.)</a:t>
            </a:r>
            <a:endParaRPr lang="en-US" sz="1300" dirty="0"/>
          </a:p>
        </p:txBody>
      </p:sp>
      <p:sp>
        <p:nvSpPr>
          <p:cNvPr id="8" name="Shape 6"/>
          <p:cNvSpPr/>
          <p:nvPr/>
        </p:nvSpPr>
        <p:spPr>
          <a:xfrm>
            <a:off x="365760" y="2606040"/>
            <a:ext cx="8412480" cy="777240"/>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630936"/>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 Main Character
</a:t>
            </a:r>
            <a:pPr indent="0" marL="0">
              <a:buNone/>
            </a:pPr>
            <a:r>
              <a:rPr lang="en-US" sz="1150" dirty="0">
                <a:solidFill>
                  <a:srgbClr val="1E293B"/>
                </a:solidFill>
                <a:latin typeface="Calibri" pitchFamily="34" charset="0"/>
                <a:ea typeface="Calibri" pitchFamily="34" charset="-122"/>
                <a:cs typeface="Calibri" pitchFamily="34" charset="-120"/>
              </a:rPr>
              <a:t>Invent a young person living through this moment. What do they want more than anything?</a:t>
            </a:r>
            <a:endParaRPr lang="en-US" sz="1300" dirty="0"/>
          </a:p>
        </p:txBody>
      </p:sp>
      <p:sp>
        <p:nvSpPr>
          <p:cNvPr id="10" name="Shape 8"/>
          <p:cNvSpPr/>
          <p:nvPr/>
        </p:nvSpPr>
        <p:spPr>
          <a:xfrm>
            <a:off x="365760" y="3474720"/>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547872"/>
            <a:ext cx="8046720" cy="630936"/>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 Conflict
</a:t>
            </a:r>
            <a:pPr indent="0" marL="0">
              <a:buNone/>
            </a:pPr>
            <a:r>
              <a:rPr lang="en-US" sz="1150" dirty="0">
                <a:solidFill>
                  <a:srgbClr val="1E293B"/>
                </a:solidFill>
                <a:latin typeface="Calibri" pitchFamily="34" charset="0"/>
                <a:ea typeface="Calibri" pitchFamily="34" charset="-122"/>
                <a:cs typeface="Calibri" pitchFamily="34" charset="-120"/>
              </a:rPr>
              <a:t>What stands in their way — both outside them (external) and inside them (internal)?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Notice &amp; Discuss</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TALK ABOUT IT</a:t>
            </a:r>
            <a:endParaRPr lang="en-US" sz="1100" dirty="0"/>
          </a:p>
        </p:txBody>
      </p:sp>
      <p:sp>
        <p:nvSpPr>
          <p:cNvPr id="7" name="Shape 5"/>
          <p:cNvSpPr/>
          <p:nvPr/>
        </p:nvSpPr>
        <p:spPr>
          <a:xfrm>
            <a:off x="365760" y="109728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170432"/>
            <a:ext cx="8046720" cy="630936"/>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Jot your setting, event, character, and conflict in your journal using the story map above.</a:t>
            </a:r>
            <a:endParaRPr lang="en-US" sz="1300" dirty="0"/>
          </a:p>
        </p:txBody>
      </p:sp>
      <p:sp>
        <p:nvSpPr>
          <p:cNvPr id="9" name="Shape 7"/>
          <p:cNvSpPr/>
          <p:nvPr/>
        </p:nvSpPr>
        <p:spPr>
          <a:xfrm>
            <a:off x="365760" y="196596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039112"/>
            <a:ext cx="8046720" cy="630936"/>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Think of one sensory detail (see, hear, or smell) that would make your opening moment feel real.</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Craft Questions — Preview</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a:t>
            </a:r>
            <a:endParaRPr lang="en-US" sz="1100" dirty="0"/>
          </a:p>
        </p:txBody>
      </p:sp>
      <p:sp>
        <p:nvSpPr>
          <p:cNvPr id="5" name="Shape 3"/>
          <p:cNvSpPr/>
          <p:nvPr/>
        </p:nvSpPr>
        <p:spPr>
          <a:xfrm>
            <a:off x="365760" y="1097280"/>
            <a:ext cx="8412480" cy="868680"/>
          </a:xfrm>
          <a:prstGeom prst="roundRect">
            <a:avLst>
              <a:gd name="adj" fmla="val 10526"/>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What historical setting and real event will anchor your story? Why did you choose it?</a:t>
            </a:r>
            <a:endParaRPr lang="en-US" sz="1300" dirty="0"/>
          </a:p>
        </p:txBody>
      </p:sp>
      <p:sp>
        <p:nvSpPr>
          <p:cNvPr id="7" name="Shape 5"/>
          <p:cNvSpPr/>
          <p:nvPr/>
        </p:nvSpPr>
        <p:spPr>
          <a:xfrm>
            <a:off x="365760" y="2039112"/>
            <a:ext cx="8412480" cy="868680"/>
          </a:xfrm>
          <a:prstGeom prst="roundRect">
            <a:avLst>
              <a:gd name="adj" fmla="val 10526"/>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12264"/>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Who is your main character, and what do they want?</a:t>
            </a:r>
            <a:endParaRPr lang="en-US" sz="1300" dirty="0"/>
          </a:p>
        </p:txBody>
      </p:sp>
      <p:sp>
        <p:nvSpPr>
          <p:cNvPr id="9" name="Shape 7"/>
          <p:cNvSpPr/>
          <p:nvPr/>
        </p:nvSpPr>
        <p:spPr>
          <a:xfrm>
            <a:off x="365760" y="2980944"/>
            <a:ext cx="8412480" cy="868680"/>
          </a:xfrm>
          <a:prstGeom prst="roundRect">
            <a:avLst>
              <a:gd name="adj" fmla="val 1052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054096"/>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What sensory detail will open your story?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Draft Your Opening</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TODAY'S WRITING TASK</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Draft the opening paragraph of your historical fiction story (5-8 sentences). Include your setting, your character, and one sensory detail, the way Ms. Birchum’s mentor model does.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2026-07-13T03:04:01Z</dcterms:created>
  <dcterms:modified xsi:type="dcterms:W3CDTF">2026-07-13T03:04:01Z</dcterms:modified>
</cp:coreProperties>
</file>