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2, Week 29 — Chapter 14: The Prospectors.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Chapter 14 shows Jack as a genuine Forty-Niner: he has a burro, a squirrel gun, and a way of explaining things to his imaginary sisters. He can pan gold. He knows the mountains. He is becoming someone Constance and Sarah really would not recognize — and he loves it.
Grammar SWYK: I will write a paragraph using deliberate sentence variety — labeled short, participial, and subordinating conjunction openers.
Vocabulary: I will practice Week 29 words with flip cards.
Reading: I will analyze how Chapter 14 develops Jack’s character through action and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 held on gripping the rough hair on stubb's back the burro flagged his ears and seemed satisfied that he had been shown the proper respect he gave a little kick just to get it out of his system"
Corrected: "Jack held on, gripping the rough hair on Stubb’s back. The burro flagged his ears and seemed satisfied that he had been shown the proper respect. He gave a little kick — just to get it out of his system."
Fixes: comma after held on (participial phrase); period after back (new sentence for rhythm); period after respect (new sentence); em dash before just to get it out of his system (adds Fleischman-style comic punch). Note how the three sentences vary in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 held on gripping the rough hair on stubb's back the burro flagged his ears and seemed satisfied that he had been shown the proper respect he gave a little kick just to get it out of his system"
Corrected: "Jack held on, gripping the rough hair on Stubb’s back. The burro flagged his ears and seemed satisfied that he had been shown the proper respect. He gave a little kick — just to get it out of his system."
Fixes: comma after held on (participial phrase); period after back (new sentence for rhythm); period after respect (new sentence); em dash before just to get it out of his system (adds Fleischman-style comic punch). Note how the three sentences vary in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Word Families — Identify Spelling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29 — Chapter 14: The Prospectors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REVISE
Focus: Revise for dialogue — does your character sound like themselves or like a narrator?
Task: Choose one paragraph from your draft and revise it for voice, dialogue, or description. Write both the original and the revised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29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29 — Chapter 14: The Prospectors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Chapter 14 shows Jack as a genuine Forty-Niner: he has a burro, a squirrel gun, and a way of explaining things to his imaginary sisters. He can pan gold. He knows the mountains. He is becoming someone Constance and Sarah really would not recognize — and he loves it.</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50" dirty="0">
                <a:solidFill>
                  <a:srgbClr val="1E293B"/>
                </a:solidFill>
                <a:latin typeface="Calibri" pitchFamily="34" charset="0"/>
                <a:ea typeface="Calibri" pitchFamily="34" charset="-122"/>
                <a:cs typeface="Calibri" pitchFamily="34" charset="-120"/>
              </a:rPr>
              <a:t>I will write a paragraph using deliberate sentence variety — labeled short, participial, and subordinating conjunction openers.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practice Week 29 words with flip cards.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how Chapter 14 develops Jack’s character through action and voice.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Stubb stood for a moment, as if trying to make up his mind whether to act like a mule or a burro.</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as if trying to make up his mind whether to act like a mule or a burro.  </a:t>
            </a:r>
            <a:pPr indent="0" marL="0">
              <a:buNone/>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held on gripping the rough hair on stubb's back the burro flagged his ears and seemed satisfied that he had been shown the proper respect he gave a little kick just to get it out of his system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held on gripping the rough hair on stubb's back the burro flagged his ears and seemed satisfied that he had been shown the proper respect he gave a little kick just to get it out of his system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Jack held on, gripping the rough hair on Stubb’s back. The burro flagged his ears and seemed satisfied that he had been shown the proper respect. He gave a little kick — just to get it out of his system.</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comma after held on (participial phrase); period after back (new sentence for rhythm); period after respect (new sentence); em dash before just to get it out of his system (adds Fleischman-style comic punch). Note how the three sentences vary in length.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Chapter 14 shows Jack finally looking like a real Forty-Niner, with a burro and a squirrel gun. Does looking the part matter as much as knowing what you're doing?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Chapter 14 shows Jack finally looking like a real Forty-Niner, with a burro and a squirrel gun. Does looking the part matter as much as knowing what you're doing?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Suffixes –ous/–ive/–ity — Identify</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notori ___ — the state of being notoriously known; fame for something bold</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impuls ___ — tending to act on sudden feelings without thinking</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adventur ___ — full of adventure; willing to take risks</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tenaci ___ — the quality of holding on; refusal to give up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notoriety  </a:t>
            </a:r>
            <a:pPr indent="0" marL="0">
              <a:buNone/>
            </a:pPr>
            <a:r>
              <a:rPr lang="en-US" sz="1150" dirty="0">
                <a:solidFill>
                  <a:srgbClr val="1E293B"/>
                </a:solidFill>
                <a:latin typeface="Calibri" pitchFamily="34" charset="0"/>
                <a:ea typeface="Calibri" pitchFamily="34" charset="-122"/>
                <a:cs typeface="Calibri" pitchFamily="34" charset="-120"/>
              </a:rPr>
              <a:t>The state of being famous for something questionable or bold. From Latin notus (known) + –ity. Praiseworthy’s reputation as “Bullwhip” spread through the diggings as notoriety.</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tenacious  </a:t>
            </a:r>
            <a:pPr indent="0" marL="0">
              <a:buNone/>
            </a:pPr>
            <a:r>
              <a:rPr lang="en-US" sz="1150" dirty="0">
                <a:solidFill>
                  <a:srgbClr val="1E293B"/>
                </a:solidFill>
                <a:latin typeface="Calibri" pitchFamily="34" charset="0"/>
                <a:ea typeface="Calibri" pitchFamily="34" charset="-122"/>
                <a:cs typeface="Calibri" pitchFamily="34" charset="-120"/>
              </a:rPr>
              <a:t>Holding firmly; refusing to give up. From Latin tenax (holding fast) + –ous. Jack and Praiseworthy’s daily prospecting shows tenacious effort.</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evasive  </a:t>
            </a:r>
            <a:pPr indent="0" marL="0">
              <a:buNone/>
            </a:pPr>
            <a:r>
              <a:rPr lang="en-US" sz="1150" dirty="0">
                <a:solidFill>
                  <a:srgbClr val="1E293B"/>
                </a:solidFill>
                <a:latin typeface="Calibri" pitchFamily="34" charset="0"/>
                <a:ea typeface="Calibri" pitchFamily="34" charset="-122"/>
                <a:cs typeface="Calibri" pitchFamily="34" charset="-120"/>
              </a:rPr>
              <a:t>Tending to avoid or escape; not straightforward. From Latin evadere + –ive. Cut-Eye Higgins proves evasive — he’s always one step ahead.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benefactor  </a:t>
            </a:r>
            <a:pPr indent="0" marL="0">
              <a:buNone/>
            </a:pPr>
            <a:r>
              <a:rPr lang="en-US" sz="1150" dirty="0">
                <a:solidFill>
                  <a:srgbClr val="1E293B"/>
                </a:solidFill>
                <a:latin typeface="Calibri" pitchFamily="34" charset="0"/>
                <a:ea typeface="Calibri" pitchFamily="34" charset="-122"/>
                <a:cs typeface="Calibri" pitchFamily="34" charset="-120"/>
              </a:rPr>
              <a:t>A person who gives help or advantage to another. From Latin bene (well) + factor (doer). The reformed road agent is Jack’s unlikely benefactor in Ch.15.</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prospector  </a:t>
            </a:r>
            <a:pPr indent="0" marL="0">
              <a:buNone/>
            </a:pPr>
            <a:r>
              <a:rPr lang="en-US" sz="1150" dirty="0">
                <a:solidFill>
                  <a:srgbClr val="1E293B"/>
                </a:solidFill>
                <a:latin typeface="Calibri" pitchFamily="34" charset="0"/>
                <a:ea typeface="Calibri" pitchFamily="34" charset="-122"/>
                <a:cs typeface="Calibri" pitchFamily="34" charset="-120"/>
              </a:rPr>
              <a:t>A person who searches for gold, oil, or other minerals. From Latin prospectus (view ahead) + –or. Jack and Praiseworthy become prospectors in the Sierra Nevada foothills.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 Variety — Identify &amp; SWYK</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Short sentences punch. They create emphasis. They land hard.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Long sentences flow and accumulate — they let Fleischman stack detail on detail until the reader feels the full weight of a moment, the way a day of prospecting in the mountains might feel when every rock turned over is another small disappointment.</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Variety strategies:</a:t>
            </a:r>
            <a:endParaRPr lang="en-US" sz="1150" dirty="0"/>
          </a:p>
        </p:txBody>
      </p:sp>
      <p:sp>
        <p:nvSpPr>
          <p:cNvPr id="11" name="Shape 9"/>
          <p:cNvSpPr/>
          <p:nvPr/>
        </p:nvSpPr>
        <p:spPr>
          <a:xfrm>
            <a:off x="365760" y="3026664"/>
            <a:ext cx="8412480" cy="777240"/>
          </a:xfrm>
          <a:prstGeom prst="roundRect">
            <a:avLst>
              <a:gd name="adj" fmla="val 11765"/>
            </a:avLst>
          </a:prstGeom>
          <a:solidFill>
            <a:srgbClr val="FEF6E8"/>
          </a:solidFill>
          <a:ln w="12700">
            <a:solidFill>
              <a:srgbClr val="C7922C"/>
            </a:solidFill>
            <a:prstDash val="solid"/>
          </a:ln>
        </p:spPr>
      </p:sp>
      <p:sp>
        <p:nvSpPr>
          <p:cNvPr id="12" name="Text 10"/>
          <p:cNvSpPr/>
          <p:nvPr/>
        </p:nvSpPr>
        <p:spPr>
          <a:xfrm>
            <a:off x="548640" y="309981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50" i="1" dirty="0">
                <a:solidFill>
                  <a:srgbClr val="1E293B"/>
                </a:solidFill>
                <a:latin typeface="Calibri" pitchFamily="34" charset="0"/>
                <a:ea typeface="Calibri" pitchFamily="34" charset="-122"/>
                <a:cs typeface="Calibri" pitchFamily="34" charset="-120"/>
              </a:rPr>
              <a:t>Write a paragraph of 5–7 sentences about the moment Praiseworthy’s umbrella was used as a gold pan (Ch. 11) or the coyote hole rescue (Ch. 15). Show deliberate sentence variety: include at least one short sentence (under 8 words), one sentence beginning with a participial phrase, and one sentence beginning with a subordinating conjunction. Label each in parentheses after the sentence.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Word Families — Identify Spelling Shifts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word family is a group of words that share a common root but use different prefixes and suffixes to change meaning and part of speech.</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1: describe describe (v.) · description (n.) · descriptive (adj.) · indescribable (adj.) · descriptor (n.)</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2: persist persist (v.) · persistent (adj.) · persistence (n.) · persistently (adv.) · impersistently (rare)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29 — Chapter 14: The Prospectors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29 — Chapter 14: The Prospectors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14 is a chapter about becoming. Jack learns to ride Stubb (after falling off), learns to handle a squirrel gun, and wanders the mountains imagining his sisters’ reactions. Praiseworthy practices shadow boxing when Jack isn’t watching. Fleischman uses small, specific details to show how these two characters are changing — and how each is keeping something private from the other. Watch for the interior voice — what characters think but don’t say.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14 — “The Prospectors”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Stubb the burro “thinks he’s a mule.” Fleischman gives Stubb a personality and an inner life. How does this comic animal character add something to the chapter that a realistic, neutral burro description wouldn’t?</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Fleischman shows Praiseworthy shadow-boxing when Jack isn’t watching. He keeps this private. What does this detail reveal about Praiseworthy — and why does Fleischman let us see it but keep it from Jack?</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Chapter 14 shows Jack practicing with a squirrel gun, exploring the mountain trails alone, and imagining his life to his sisters. How do these details collectively show that Jack has been changed by this journey? What would the Jack from Chapter 1 have done differently?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REVISE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Revise for dialogue — does your character sound like themselves or like a narrator?</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Choose one paragraph from your draft and revise it for voice, dialogue, or description. Write both the original and the revised version.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