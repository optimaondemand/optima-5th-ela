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Week 9, Day 1, Chapter 1 — The Good-Luck Spell.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Q: When everything goes wrong and there’s nothing you can do, what does a person do? What does it tell you about someone when they refuse to stop trying?
Reading: I will make connections with Chapter 1 and answer comprehension questions about Nat’s character.
Grammar: I will define active and passive voice and identify examples from the novel.
Spelling: I will discover two ways to spell the long /ā/ sound in maritime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lens aloud before students open their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answer needed — tap-and-notice only. Discuss why each highlighted word/punctuation mark is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Fix-it: "nat watched the wind chase clouds over the stars the rain began to fall"
Corrected: "Nat watched the wind chase clouds over the stars. The rain began to fall."
Compare with the model: both sentences need a capital letter at the start and a period at the end. “Nat” is a person’s name, so it gets a capital N — and “The rain” starts a new sentence, so it needs its own capital 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Fix-it: "nat watched the wind chase clouds over the stars the rain began to fall"
Corrected: "Nat watched the wind chase clouds over the stars. The rain began to fall."
Compare with the model: both sentences need a capital letter at the start and a period at the end. “Nat” is a person’s name, so it gets a capital N — and “The rain” starts a new sentence, so it needs its own capital 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routine — use if time allows. Read the prompt aloud. Remind students: pick a side, defend with evidence, anticipate disagreement.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5-minute timer. Remind: choose a side, defend with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Focus: Is there a detail here I could cut because it doesn't support my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3-4 students. Encourage respectful disagreement about their choice/defense.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Morphology practice for the day. Graded SWYK strand today: Morphology.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Vocabulary mode: Decode &amp; Discover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answers yet — students discuss and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revealed — correct labels in green.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focus: 🔠 Spelling: Vowel Teams in Maritime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Tracker: Nat’s Path Through Carry On, Mr. Bowditch — 📍 You are here: Chapter 1 — The Good-Luck Spell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Preview only — students answer these after reading, in the Assignment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Connection — RESEARCH CLAIM: Write a research claim
Focus: A research claim is one sentence that answers the research question. It’s your whole essay in miniature — specific, arguable, and provable.
Before: BEFORE Nat Bowditch was really good at math and helped a lot of sailors.
After: AFTER What made Nathaniel Bowditch extraordinary was not just his mathematical genius, but his belief that complex navigation could be learned by any ordinary sailor willing to try.
Notice: Notice: Alex’s “before” is a fact, not a claim. It’s vague (“really good”) and doesn’t say anything arguable. The “after” makes a real argument — someone could disagree and need evidence to be convinced.
Tool: Today’s Tool: Claim Strength Test — A strong research claim passes three tests. Check yours against each one.
Frames: “What made Nathaniel Bowditch extraordinary was ___.” | “The most important quality that defined ___ was his willingness to ___.” | “___ stands apart from others because he ___ even when ___.”
Prompt: Write your first attempt at a research claim. It doesn’t have to be perfect — just get your best idea on paper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C42"/>
        </a:solidFill>
      </p:bgPr>
    </p:bg>
    <p:spTree>
      <p:nvGrpSpPr>
        <p:cNvPr id="1" name=""/>
        <p:cNvGrpSpPr/>
        <p:nvPr/>
      </p:nvGrpSpPr>
      <p:grpSpPr>
        <a:xfrm>
          <a:off x="0" y="0"/>
          <a:ext cx="0" cy="0"/>
          <a:chOff x="0" y="0"/>
          <a:chExt cx="0" cy="0"/>
        </a:xfrm>
      </p:grpSpPr>
      <p:sp>
        <p:nvSpPr>
          <p:cNvPr id="2" name="Shape 0"/>
          <p:cNvSpPr/>
          <p:nvPr/>
        </p:nvSpPr>
        <p:spPr>
          <a:xfrm>
            <a:off x="0" y="4114800"/>
            <a:ext cx="9144000" cy="1028700"/>
          </a:xfrm>
          <a:prstGeom prst="rect">
            <a:avLst/>
          </a:prstGeom>
          <a:solidFill>
            <a:srgbClr val="55C8E8">
              <a:alpha val="15000"/>
            </a:srgbClr>
          </a:solidFill>
          <a:ln/>
        </p:spPr>
      </p:sp>
      <p:sp>
        <p:nvSpPr>
          <p:cNvPr id="3" name="Text 1"/>
          <p:cNvSpPr/>
          <p:nvPr/>
        </p:nvSpPr>
        <p:spPr>
          <a:xfrm>
            <a:off x="457200" y="640080"/>
            <a:ext cx="8229600" cy="365760"/>
          </a:xfrm>
          <a:prstGeom prst="rect">
            <a:avLst/>
          </a:prstGeom>
          <a:noFill/>
          <a:ln/>
        </p:spPr>
        <p:txBody>
          <a:bodyPr wrap="square" lIns="0" tIns="0" rIns="0" bIns="0" rtlCol="0" anchor="ctr"/>
          <a:lstStyle/>
          <a:p>
            <a:pPr algn="l" indent="0" marL="0">
              <a:buNone/>
            </a:pPr>
            <a:r>
              <a:rPr lang="en-US" sz="1300" b="1" spc="400" kern="0" dirty="0">
                <a:solidFill>
                  <a:srgbClr val="55C8E8"/>
                </a:solidFill>
                <a:latin typeface="Calibri" pitchFamily="34" charset="0"/>
                <a:ea typeface="Calibri" pitchFamily="34" charset="-122"/>
                <a:cs typeface="Calibri" pitchFamily="34" charset="-120"/>
              </a:rPr>
              <a:t>WEEK 9  ·  DAY 1</a:t>
            </a:r>
            <a:endParaRPr lang="en-US" sz="1300" dirty="0"/>
          </a:p>
        </p:txBody>
      </p:sp>
      <p:sp>
        <p:nvSpPr>
          <p:cNvPr id="4" name="Text 2"/>
          <p:cNvSpPr/>
          <p:nvPr/>
        </p:nvSpPr>
        <p:spPr>
          <a:xfrm>
            <a:off x="457200" y="1097280"/>
            <a:ext cx="8229600" cy="1645920"/>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Carry On, Mr. Bowditch</a:t>
            </a:r>
            <a:endParaRPr lang="en-US" sz="3000" dirty="0"/>
          </a:p>
          <a:p>
            <a:pPr algn="l" indent="0" marL="0">
              <a:buNone/>
            </a:pPr>
            <a:r>
              <a:rPr lang="en-US" sz="3000" b="1" dirty="0">
                <a:solidFill>
                  <a:srgbClr val="FFFFFF"/>
                </a:solidFill>
                <a:latin typeface="Calibri" pitchFamily="34" charset="0"/>
                <a:ea typeface="Calibri" pitchFamily="34" charset="-122"/>
                <a:cs typeface="Calibri" pitchFamily="34" charset="-120"/>
              </a:rPr>
              <a:t>Chapter 1 — The Good-Luck Spell</a:t>
            </a:r>
            <a:endParaRPr lang="en-US" sz="3000" dirty="0"/>
          </a:p>
        </p:txBody>
      </p:sp>
      <p:sp>
        <p:nvSpPr>
          <p:cNvPr id="5" name="Text 3"/>
          <p:cNvSpPr/>
          <p:nvPr/>
        </p:nvSpPr>
        <p:spPr>
          <a:xfrm>
            <a:off x="457200" y="4434840"/>
            <a:ext cx="8229600" cy="365760"/>
          </a:xfrm>
          <a:prstGeom prst="rect">
            <a:avLst/>
          </a:prstGeom>
          <a:noFill/>
          <a:ln/>
        </p:spPr>
        <p:txBody>
          <a:bodyPr wrap="square" lIns="0" tIns="0" rIns="0" bIns="0" rtlCol="0" anchor="ctr"/>
          <a:lstStyle/>
          <a:p>
            <a:pPr algn="l" indent="0" marL="0">
              <a:buNone/>
            </a:pPr>
            <a:r>
              <a:rPr lang="en-US" sz="1200" dirty="0">
                <a:solidFill>
                  <a:srgbClr val="FFFFFF"/>
                </a:solidFill>
                <a:latin typeface="Calibri" pitchFamily="34" charset="0"/>
                <a:ea typeface="Calibri" pitchFamily="34" charset="-122"/>
                <a:cs typeface="Calibri" pitchFamily="34" charset="-120"/>
              </a:rPr>
              <a:t>🧭  Week 9  ·  Virtue: Perseverance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Today's Objectives</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6868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BIG QUESTION</a:t>
            </a:r>
            <a:endParaRPr lang="en-US" sz="1100" dirty="0"/>
          </a:p>
        </p:txBody>
      </p:sp>
      <p:sp>
        <p:nvSpPr>
          <p:cNvPr id="5" name="Shape 3"/>
          <p:cNvSpPr/>
          <p:nvPr/>
        </p:nvSpPr>
        <p:spPr>
          <a:xfrm>
            <a:off x="365760" y="1115568"/>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07008"/>
            <a:ext cx="7955280" cy="594360"/>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When everything goes wrong and there’s nothing you can do, what does a person do? What does it tell you about someone when they refuse to stop trying?</a:t>
            </a:r>
            <a:endParaRPr lang="en-US" sz="1300" dirty="0"/>
          </a:p>
        </p:txBody>
      </p:sp>
      <p:sp>
        <p:nvSpPr>
          <p:cNvPr id="7" name="Text 5"/>
          <p:cNvSpPr/>
          <p:nvPr/>
        </p:nvSpPr>
        <p:spPr>
          <a:xfrm>
            <a:off x="365760" y="20116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BY THE END OF THIS LESSON...</a:t>
            </a:r>
            <a:endParaRPr lang="en-US" sz="1100" dirty="0"/>
          </a:p>
        </p:txBody>
      </p:sp>
      <p:sp>
        <p:nvSpPr>
          <p:cNvPr id="8" name="Shape 6"/>
          <p:cNvSpPr/>
          <p:nvPr/>
        </p:nvSpPr>
        <p:spPr>
          <a:xfrm>
            <a:off x="365760" y="2286000"/>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359152"/>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Reading: </a:t>
            </a:r>
            <a:pPr indent="0" marL="0">
              <a:buNone/>
            </a:pPr>
            <a:r>
              <a:rPr lang="en-US" sz="1250" dirty="0">
                <a:solidFill>
                  <a:srgbClr val="1E293B"/>
                </a:solidFill>
                <a:latin typeface="Calibri" pitchFamily="34" charset="0"/>
                <a:ea typeface="Calibri" pitchFamily="34" charset="-122"/>
                <a:cs typeface="Calibri" pitchFamily="34" charset="-120"/>
              </a:rPr>
              <a:t>I will make connections with Chapter 1 and answer comprehension questions about Nat’s character.</a:t>
            </a:r>
            <a:endParaRPr lang="en-US" sz="1500" dirty="0"/>
          </a:p>
        </p:txBody>
      </p:sp>
      <p:sp>
        <p:nvSpPr>
          <p:cNvPr id="10" name="Shape 8"/>
          <p:cNvSpPr/>
          <p:nvPr/>
        </p:nvSpPr>
        <p:spPr>
          <a:xfrm>
            <a:off x="365760" y="3090672"/>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163824"/>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Grammar: </a:t>
            </a:r>
            <a:pPr indent="0" marL="0">
              <a:buNone/>
            </a:pPr>
            <a:r>
              <a:rPr lang="en-US" sz="1250" dirty="0">
                <a:solidFill>
                  <a:srgbClr val="1E293B"/>
                </a:solidFill>
                <a:latin typeface="Calibri" pitchFamily="34" charset="0"/>
                <a:ea typeface="Calibri" pitchFamily="34" charset="-122"/>
                <a:cs typeface="Calibri" pitchFamily="34" charset="-120"/>
              </a:rPr>
              <a:t>I will define active and passive voice and identify examples from the novel.</a:t>
            </a:r>
            <a:endParaRPr lang="en-US" sz="1500" dirty="0"/>
          </a:p>
        </p:txBody>
      </p:sp>
      <p:sp>
        <p:nvSpPr>
          <p:cNvPr id="12" name="Shape 10"/>
          <p:cNvSpPr/>
          <p:nvPr/>
        </p:nvSpPr>
        <p:spPr>
          <a:xfrm>
            <a:off x="365760" y="3895344"/>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3968496"/>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Spelling: </a:t>
            </a:r>
            <a:pPr indent="0" marL="0">
              <a:buNone/>
            </a:pPr>
            <a:r>
              <a:rPr lang="en-US" sz="1250" dirty="0">
                <a:solidFill>
                  <a:srgbClr val="1E293B"/>
                </a:solidFill>
                <a:latin typeface="Calibri" pitchFamily="34" charset="0"/>
                <a:ea typeface="Calibri" pitchFamily="34" charset="-122"/>
                <a:cs typeface="Calibri" pitchFamily="34" charset="-120"/>
              </a:rPr>
              <a:t>I will discover two ways to spell the long /ā/ sound in maritime words.</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What Good Readers Do</a:t>
            </a:r>
            <a:endParaRPr lang="en-US" sz="26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SET YOUR READING LENS</a:t>
            </a:r>
            <a:endParaRPr lang="en-US" sz="1100" dirty="0"/>
          </a:p>
        </p:txBody>
      </p:sp>
      <p:sp>
        <p:nvSpPr>
          <p:cNvPr id="5" name="Shape 3"/>
          <p:cNvSpPr/>
          <p:nvPr/>
        </p:nvSpPr>
        <p:spPr>
          <a:xfrm>
            <a:off x="365760" y="1078992"/>
            <a:ext cx="8412480" cy="1051560"/>
          </a:xfrm>
          <a:prstGeom prst="roundRect">
            <a:avLst>
              <a:gd name="adj" fmla="val 8696"/>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170432"/>
            <a:ext cx="7955280" cy="86868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Good readers pay attention to what characters want and what stands in their way. When you notice what a character is trying to do — and what keeps stopping them — you start to understand who that character really is. As you read Chapter 1 today, watch what Nat wants, what obstacles he faces, and how he responds. Hold these questions in your mind as you read:</a:t>
            </a:r>
            <a:endParaRPr lang="en-US" sz="1300" dirty="0"/>
          </a:p>
        </p:txBody>
      </p:sp>
      <p:sp>
        <p:nvSpPr>
          <p:cNvPr id="7" name="Text 5"/>
          <p:cNvSpPr/>
          <p:nvPr/>
        </p:nvSpPr>
        <p:spPr>
          <a:xfrm>
            <a:off x="365760" y="228600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 WATCH FOR THIS AS YOU READ</a:t>
            </a:r>
            <a:endParaRPr lang="en-US" sz="1100" dirty="0"/>
          </a:p>
        </p:txBody>
      </p:sp>
      <p:sp>
        <p:nvSpPr>
          <p:cNvPr id="8" name="Shape 6"/>
          <p:cNvSpPr/>
          <p:nvPr/>
        </p:nvSpPr>
        <p:spPr>
          <a:xfrm>
            <a:off x="365760" y="2606040"/>
            <a:ext cx="8412480" cy="621792"/>
          </a:xfrm>
          <a:prstGeom prst="roundRect">
            <a:avLst>
              <a:gd name="adj" fmla="val 14706"/>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679192"/>
            <a:ext cx="8046720" cy="475488"/>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  What is Nat trying to do at the very start of the story? What goal does he have?</a:t>
            </a:r>
            <a:endParaRPr lang="en-US" sz="1300" dirty="0"/>
          </a:p>
        </p:txBody>
      </p:sp>
      <p:sp>
        <p:nvSpPr>
          <p:cNvPr id="10" name="Shape 8"/>
          <p:cNvSpPr/>
          <p:nvPr/>
        </p:nvSpPr>
        <p:spPr>
          <a:xfrm>
            <a:off x="365760" y="3319272"/>
            <a:ext cx="8412480" cy="621792"/>
          </a:xfrm>
          <a:prstGeom prst="roundRect">
            <a:avLst>
              <a:gd name="adj" fmla="val 14706"/>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392424"/>
            <a:ext cx="8046720" cy="475488"/>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  What obstacle or setback gets in his way?</a:t>
            </a:r>
            <a:endParaRPr lang="en-US" sz="1300" dirty="0"/>
          </a:p>
        </p:txBody>
      </p:sp>
      <p:sp>
        <p:nvSpPr>
          <p:cNvPr id="12" name="Shape 10"/>
          <p:cNvSpPr/>
          <p:nvPr/>
        </p:nvSpPr>
        <p:spPr>
          <a:xfrm>
            <a:off x="365760" y="4032504"/>
            <a:ext cx="8412480" cy="621792"/>
          </a:xfrm>
          <a:prstGeom prst="roundRect">
            <a:avLst>
              <a:gd name="adj" fmla="val 14706"/>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4105656"/>
            <a:ext cx="8046720" cy="475488"/>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  What does Nat’s response to that obstacle reveal about his character?</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Study What's Right</a:t>
            </a:r>
            <a:endParaRPr lang="en-US" sz="26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CORRECT MODEL — TAP TO NOTICE</a:t>
            </a:r>
            <a:endParaRPr lang="en-US" sz="1100" dirty="0"/>
          </a:p>
        </p:txBody>
      </p:sp>
      <p:sp>
        <p:nvSpPr>
          <p:cNvPr id="5" name="Shape 3"/>
          <p:cNvSpPr/>
          <p:nvPr/>
        </p:nvSpPr>
        <p:spPr>
          <a:xfrm>
            <a:off x="365760" y="1078992"/>
            <a:ext cx="8412480" cy="914400"/>
          </a:xfrm>
          <a:prstGeom prst="roundRect">
            <a:avLst>
              <a:gd name="adj" fmla="val 10000"/>
            </a:avLst>
          </a:prstGeom>
          <a:solidFill>
            <a:srgbClr val="E8F8EF"/>
          </a:solidFill>
          <a:ln w="1270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48640" y="1188720"/>
            <a:ext cx="8046720" cy="68580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He stared out the window and watched the April breeze chase clouds across the stars.</a:t>
            </a:r>
            <a:endParaRPr lang="en-US" sz="1600" dirty="0"/>
          </a:p>
        </p:txBody>
      </p:sp>
      <p:sp>
        <p:nvSpPr>
          <p:cNvPr id="7" name="Text 5"/>
          <p:cNvSpPr/>
          <p:nvPr/>
        </p:nvSpPr>
        <p:spPr>
          <a:xfrm>
            <a:off x="365760" y="210312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WHAT EACH TAPPED WORD TEACHES</a:t>
            </a:r>
            <a:endParaRPr lang="en-US" sz="1100" dirty="0"/>
          </a:p>
        </p:txBody>
      </p:sp>
      <p:sp>
        <p:nvSpPr>
          <p:cNvPr id="8" name="Shape 6"/>
          <p:cNvSpPr/>
          <p:nvPr/>
        </p:nvSpPr>
        <p:spPr>
          <a:xfrm>
            <a:off x="365760" y="2377440"/>
            <a:ext cx="8412480" cy="512064"/>
          </a:xfrm>
          <a:prstGeom prst="roundRect">
            <a:avLst>
              <a:gd name="adj" fmla="val 17857"/>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432304"/>
            <a:ext cx="8046720" cy="402336"/>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He  </a:t>
            </a:r>
            <a:pPr indent="0" marL="0">
              <a:buNone/>
            </a:pPr>
            <a:r>
              <a:rPr lang="en-US" sz="1200" dirty="0">
                <a:solidFill>
                  <a:srgbClr val="1E293B"/>
                </a:solidFill>
                <a:latin typeface="Calibri" pitchFamily="34" charset="0"/>
                <a:ea typeface="Calibri" pitchFamily="34" charset="-122"/>
                <a:cs typeface="Calibri" pitchFamily="34" charset="-120"/>
              </a:rPr>
              <a:t>"He" is the first word of the sentence, so it starts with a capital letter.</a:t>
            </a:r>
            <a:endParaRPr lang="en-US" sz="1300" dirty="0"/>
          </a:p>
        </p:txBody>
      </p:sp>
      <p:sp>
        <p:nvSpPr>
          <p:cNvPr id="10" name="Shape 8"/>
          <p:cNvSpPr/>
          <p:nvPr/>
        </p:nvSpPr>
        <p:spPr>
          <a:xfrm>
            <a:off x="365760" y="2953512"/>
            <a:ext cx="8412480" cy="512064"/>
          </a:xfrm>
          <a:prstGeom prst="roundRect">
            <a:avLst>
              <a:gd name="adj" fmla="val 17857"/>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008376"/>
            <a:ext cx="8046720" cy="402336"/>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April  </a:t>
            </a:r>
            <a:pPr indent="0" marL="0">
              <a:buNone/>
            </a:pPr>
            <a:r>
              <a:rPr lang="en-US" sz="1200" dirty="0">
                <a:solidFill>
                  <a:srgbClr val="1E293B"/>
                </a:solidFill>
                <a:latin typeface="Calibri" pitchFamily="34" charset="0"/>
                <a:ea typeface="Calibri" pitchFamily="34" charset="-122"/>
                <a:cs typeface="Calibri" pitchFamily="34" charset="-120"/>
              </a:rPr>
              <a:t>"April" is a proper noun — the name of a specific month — so it always starts with a capital letter.</a:t>
            </a:r>
            <a:endParaRPr lang="en-US" sz="1300" dirty="0"/>
          </a:p>
        </p:txBody>
      </p:sp>
      <p:sp>
        <p:nvSpPr>
          <p:cNvPr id="12" name="Shape 10"/>
          <p:cNvSpPr/>
          <p:nvPr/>
        </p:nvSpPr>
        <p:spPr>
          <a:xfrm>
            <a:off x="365760" y="3529584"/>
            <a:ext cx="8412480" cy="512064"/>
          </a:xfrm>
          <a:prstGeom prst="roundRect">
            <a:avLst>
              <a:gd name="adj" fmla="val 17857"/>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3584448"/>
            <a:ext cx="8046720" cy="402336"/>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stars.  </a:t>
            </a:r>
            <a:pPr indent="0" marL="0">
              <a:buNone/>
            </a:pPr>
            <a:r>
              <a:rPr lang="en-US" sz="1200" dirty="0">
                <a:solidFill>
                  <a:srgbClr val="1E293B"/>
                </a:solidFill>
                <a:latin typeface="Calibri" pitchFamily="34" charset="0"/>
                <a:ea typeface="Calibri" pitchFamily="34" charset="-122"/>
                <a:cs typeface="Calibri" pitchFamily="34" charset="-120"/>
              </a:rPr>
              <a:t>A period ends the sentence. Every complete sentence needs end punctuation.</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Fix It</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777240"/>
          </a:xfrm>
          <a:prstGeom prst="roundRect">
            <a:avLst>
              <a:gd name="adj" fmla="val 11765"/>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5486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nat watched the wind chase clouds over the stars the rain began to fall</a:t>
            </a:r>
            <a:endParaRPr lang="en-US" sz="1600" dirty="0"/>
          </a:p>
        </p:txBody>
      </p:sp>
      <p:sp>
        <p:nvSpPr>
          <p:cNvPr id="9" name="Text 7"/>
          <p:cNvSpPr/>
          <p:nvPr/>
        </p:nvSpPr>
        <p:spPr>
          <a:xfrm>
            <a:off x="457200" y="1965960"/>
            <a:ext cx="8229600" cy="384048"/>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Rewrite the corrected sentence in your notebook.</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Fix It</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777240"/>
          </a:xfrm>
          <a:prstGeom prst="roundRect">
            <a:avLst>
              <a:gd name="adj" fmla="val 11765"/>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5486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nat watched the wind chase clouds over the stars the rain began to fall</a:t>
            </a:r>
            <a:endParaRPr lang="en-US" sz="1600" dirty="0"/>
          </a:p>
        </p:txBody>
      </p:sp>
      <p:sp>
        <p:nvSpPr>
          <p:cNvPr id="9" name="Text 7"/>
          <p:cNvSpPr/>
          <p:nvPr/>
        </p:nvSpPr>
        <p:spPr>
          <a:xfrm>
            <a:off x="457200" y="1965960"/>
            <a:ext cx="8229600" cy="384048"/>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Rewrite the corrected sentence in your notebook.</a:t>
            </a:r>
            <a:endParaRPr lang="en-US" sz="1500" dirty="0"/>
          </a:p>
        </p:txBody>
      </p:sp>
      <p:sp>
        <p:nvSpPr>
          <p:cNvPr id="10" name="Shape 8"/>
          <p:cNvSpPr/>
          <p:nvPr/>
        </p:nvSpPr>
        <p:spPr>
          <a:xfrm>
            <a:off x="365760" y="2468880"/>
            <a:ext cx="8412480" cy="1371600"/>
          </a:xfrm>
          <a:prstGeom prst="roundRect">
            <a:avLst>
              <a:gd name="adj" fmla="val 6667"/>
            </a:avLst>
          </a:prstGeom>
          <a:solidFill>
            <a:srgbClr val="E8F8EF"/>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56032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CORRECTED</a:t>
            </a:r>
            <a:endParaRPr lang="en-US" sz="1100" dirty="0"/>
          </a:p>
        </p:txBody>
      </p:sp>
      <p:sp>
        <p:nvSpPr>
          <p:cNvPr id="12" name="Text 10"/>
          <p:cNvSpPr/>
          <p:nvPr/>
        </p:nvSpPr>
        <p:spPr>
          <a:xfrm>
            <a:off x="594360" y="2834640"/>
            <a:ext cx="7955280" cy="457200"/>
          </a:xfrm>
          <a:prstGeom prst="rect">
            <a:avLst/>
          </a:prstGeom>
          <a:noFill/>
          <a:ln/>
        </p:spPr>
        <p:txBody>
          <a:bodyPr wrap="square" lIns="0" tIns="0" rIns="0" bIns="0" rtlCol="0" anchor="ctr"/>
          <a:lstStyle/>
          <a:p>
            <a:pPr indent="0" marL="0">
              <a:buNone/>
            </a:pPr>
            <a:r>
              <a:rPr lang="en-US" sz="1500" b="1" i="1" dirty="0">
                <a:solidFill>
                  <a:srgbClr val="1E293B"/>
                </a:solidFill>
                <a:latin typeface="Calibri" pitchFamily="34" charset="0"/>
                <a:ea typeface="Calibri" pitchFamily="34" charset="-122"/>
                <a:cs typeface="Calibri" pitchFamily="34" charset="-120"/>
              </a:rPr>
              <a:t>Nat watched the wind chase clouds over the stars. The rain began to fall.</a:t>
            </a:r>
            <a:endParaRPr lang="en-US" sz="1500" dirty="0"/>
          </a:p>
        </p:txBody>
      </p:sp>
      <p:sp>
        <p:nvSpPr>
          <p:cNvPr id="13" name="Text 11"/>
          <p:cNvSpPr/>
          <p:nvPr/>
        </p:nvSpPr>
        <p:spPr>
          <a:xfrm>
            <a:off x="594360" y="3310128"/>
            <a:ext cx="7955280" cy="45720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Compare with the model: both sentences need a capital letter at the start and a period at the end. “Nat” is a person’s name, so it gets a capital N — and “The rain” starts a new sentence, so it needs its own capital T.</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Quick Write (Optional)</a:t>
            </a:r>
            <a:endParaRPr lang="en-US" sz="26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457200" y="91440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 READ THE PROMPT — 1 MINUTE</a:t>
            </a:r>
            <a:endParaRPr lang="en-US" sz="1100" dirty="0"/>
          </a:p>
        </p:txBody>
      </p:sp>
      <p:sp>
        <p:nvSpPr>
          <p:cNvPr id="5" name="Shape 3"/>
          <p:cNvSpPr/>
          <p:nvPr/>
        </p:nvSpPr>
        <p:spPr>
          <a:xfrm>
            <a:off x="457200" y="1280160"/>
            <a:ext cx="8229600" cy="1463040"/>
          </a:xfrm>
          <a:prstGeom prst="roundRect">
            <a:avLst>
              <a:gd name="adj" fmla="val 6250"/>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389888"/>
            <a:ext cx="7863840" cy="12344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Nat decides to keep trying even after the nor'easter ruins his plan. Which is the bigger act of courage: making the plan in the first place, or saying "I'll think of something" after it fails? Defend your answer with evidence from Chapter 1.</a:t>
            </a:r>
            <a:endParaRPr lang="en-US" sz="1600" dirty="0"/>
          </a:p>
        </p:txBody>
      </p:sp>
      <p:sp>
        <p:nvSpPr>
          <p:cNvPr id="7" name="Text 5"/>
          <p:cNvSpPr/>
          <p:nvPr/>
        </p:nvSpPr>
        <p:spPr>
          <a:xfrm>
            <a:off x="457200" y="29260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SENTENCE SCAFFOLD (USE WHAT HELPS)</a:t>
            </a:r>
            <a:endParaRPr lang="en-US" sz="1100" dirty="0"/>
          </a:p>
        </p:txBody>
      </p:sp>
      <p:sp>
        <p:nvSpPr>
          <p:cNvPr id="8" name="Text 6"/>
          <p:cNvSpPr/>
          <p:nvPr/>
        </p:nvSpPr>
        <p:spPr>
          <a:xfrm>
            <a:off x="457200" y="3218688"/>
            <a:ext cx="8229600" cy="822960"/>
          </a:xfrm>
          <a:prstGeom prst="rect">
            <a:avLst/>
          </a:prstGeom>
          <a:noFill/>
          <a:ln/>
        </p:spPr>
        <p:txBody>
          <a:bodyPr wrap="square" lIns="0" tIns="0" rIns="0" bIns="0" rtlCol="0" anchor="ctr"/>
          <a:lstStyle/>
          <a:p>
            <a:pPr indent="0" marL="0">
              <a:buNone/>
            </a:pPr>
            <a:r>
              <a:rPr lang="en-US" sz="1150" i="1" dirty="0">
                <a:solidFill>
                  <a:srgbClr val="0E1C42"/>
                </a:solidFill>
                <a:latin typeface="Calibri" pitchFamily="34" charset="0"/>
                <a:ea typeface="Calibri" pitchFamily="34" charset="-122"/>
                <a:cs typeface="Calibri" pitchFamily="34" charset="-120"/>
              </a:rPr>
              <a:t>I think...   →   because...   →   One piece of evidence is...   →   This matters because...</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EF6E8"/>
        </a:solidFill>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algn="ctr" indent="0" marL="0">
              <a:buNone/>
            </a:pPr>
            <a:r>
              <a:rPr lang="en-US" sz="3000" b="1" dirty="0">
                <a:solidFill>
                  <a:srgbClr val="0E1C42"/>
                </a:solidFill>
                <a:latin typeface="Calibri" pitchFamily="34" charset="0"/>
                <a:ea typeface="Calibri" pitchFamily="34" charset="-122"/>
                <a:cs typeface="Calibri" pitchFamily="34" charset="-120"/>
              </a:rPr>
              <a:t>✏️  Writing Time</a:t>
            </a:r>
            <a:endParaRPr lang="en-US" sz="3000" dirty="0"/>
          </a:p>
        </p:txBody>
      </p:sp>
      <p:sp>
        <p:nvSpPr>
          <p:cNvPr id="3" name="Text 1"/>
          <p:cNvSpPr/>
          <p:nvPr/>
        </p:nvSpPr>
        <p:spPr>
          <a:xfrm>
            <a:off x="914400" y="804672"/>
            <a:ext cx="7315200" cy="365760"/>
          </a:xfrm>
          <a:prstGeom prst="rect">
            <a:avLst/>
          </a:prstGeom>
          <a:noFill/>
          <a:ln/>
        </p:spPr>
        <p:txBody>
          <a:bodyPr wrap="square" lIns="0" tIns="0" rIns="0" bIns="0" rtlCol="0" anchor="ctr"/>
          <a:lstStyle/>
          <a:p>
            <a:pPr algn="ctr" indent="0" marL="0">
              <a:buNone/>
            </a:pPr>
            <a:r>
              <a:rPr lang="en-US" sz="1500" dirty="0">
                <a:solidFill>
                  <a:srgbClr val="C7922C"/>
                </a:solidFill>
                <a:latin typeface="Calibri" pitchFamily="34" charset="0"/>
                <a:ea typeface="Calibri" pitchFamily="34" charset="-122"/>
                <a:cs typeface="Calibri" pitchFamily="34" charset="-120"/>
              </a:rPr>
              <a:t>5 minutes — keep your pencil moving!</a:t>
            </a:r>
            <a:endParaRPr lang="en-US" sz="1500" dirty="0"/>
          </a:p>
        </p:txBody>
      </p:sp>
      <p:sp>
        <p:nvSpPr>
          <p:cNvPr id="4" name="Shape 2"/>
          <p:cNvSpPr/>
          <p:nvPr/>
        </p:nvSpPr>
        <p:spPr>
          <a:xfrm>
            <a:off x="457200" y="1325880"/>
            <a:ext cx="8229600" cy="1188720"/>
          </a:xfrm>
          <a:prstGeom prst="roundRect">
            <a:avLst>
              <a:gd name="adj" fmla="val 7692"/>
            </a:avLst>
          </a:prstGeom>
          <a:solidFill>
            <a:srgbClr val="FFFFFF"/>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371600"/>
            <a:ext cx="7863840" cy="1097280"/>
          </a:xfrm>
          <a:prstGeom prst="rect">
            <a:avLst/>
          </a:prstGeom>
          <a:noFill/>
          <a:ln/>
        </p:spPr>
        <p:txBody>
          <a:bodyPr wrap="square" lIns="0" tIns="0" rIns="0" bIns="0" rtlCol="0" anchor="t"/>
          <a:lstStyle/>
          <a:p>
            <a:pPr indent="0" marL="0">
              <a:buNone/>
            </a:pPr>
            <a:r>
              <a:rPr lang="en-US" sz="1200" b="1" dirty="0">
                <a:solidFill>
                  <a:srgbClr val="C7922C"/>
                </a:solidFill>
                <a:latin typeface="Calibri" pitchFamily="34" charset="0"/>
                <a:ea typeface="Calibri" pitchFamily="34" charset="-122"/>
                <a:cs typeface="Calibri" pitchFamily="34" charset="-120"/>
              </a:rPr>
              <a:t>📖 Prompt: </a:t>
            </a:r>
            <a:pPr indent="0" marL="0">
              <a:buNone/>
            </a:pPr>
            <a:r>
              <a:rPr lang="en-US" sz="1200" i="1" dirty="0">
                <a:solidFill>
                  <a:srgbClr val="1E293B"/>
                </a:solidFill>
                <a:latin typeface="Calibri" pitchFamily="34" charset="0"/>
                <a:ea typeface="Calibri" pitchFamily="34" charset="-122"/>
                <a:cs typeface="Calibri" pitchFamily="34" charset="-120"/>
              </a:rPr>
              <a:t>Nat decides to keep trying even after the nor'easter ruins his plan. Which is the bigger act of courage: making the plan in the first place, or saying "I'll think of something" after it fails? Defend your answer with evidence from Chapter 1.</a:t>
            </a:r>
            <a:endParaRPr lang="en-US" sz="1200" dirty="0"/>
          </a:p>
        </p:txBody>
      </p:sp>
      <p:sp>
        <p:nvSpPr>
          <p:cNvPr id="6" name="Shape 4"/>
          <p:cNvSpPr/>
          <p:nvPr/>
        </p:nvSpPr>
        <p:spPr>
          <a:xfrm>
            <a:off x="1554480" y="2743200"/>
            <a:ext cx="6035040" cy="1600200"/>
          </a:xfrm>
          <a:prstGeom prst="roundRect">
            <a:avLst>
              <a:gd name="adj" fmla="val 6857"/>
            </a:avLst>
          </a:prstGeom>
          <a:solidFill>
            <a:srgbClr val="FFFFFF"/>
          </a:solidFill>
          <a:ln/>
          <a:effectLst>
            <a:outerShdw sx="100000" sy="100000" kx="0" ky="0" algn="bl" rotWithShape="0" blurRad="101600" dist="38100" dir="2700000">
              <a:srgbClr val="000000">
                <a:alpha val="12000"/>
              </a:srgbClr>
            </a:outerShdw>
          </a:effectLst>
        </p:spPr>
      </p:sp>
      <p:sp>
        <p:nvSpPr>
          <p:cNvPr id="7" name="Text 5"/>
          <p:cNvSpPr/>
          <p:nvPr/>
        </p:nvSpPr>
        <p:spPr>
          <a:xfrm>
            <a:off x="1737360" y="2834640"/>
            <a:ext cx="5669280" cy="1417320"/>
          </a:xfrm>
          <a:prstGeom prst="rect">
            <a:avLst/>
          </a:prstGeom>
          <a:noFill/>
          <a:ln/>
        </p:spPr>
        <p:txBody>
          <a:bodyPr wrap="square" lIns="0" tIns="0" rIns="0" bIns="0" rtlCol="0" anchor="t"/>
          <a:lstStyle/>
          <a:p>
            <a:pPr indent="0" marL="0">
              <a:buNone/>
            </a:pPr>
            <a:r>
              <a:rPr lang="en-US" sz="1300" b="1" dirty="0">
                <a:solidFill>
                  <a:srgbClr val="0E1C42"/>
                </a:solidFill>
                <a:latin typeface="Calibri" pitchFamily="34" charset="0"/>
                <a:ea typeface="Calibri" pitchFamily="34" charset="-122"/>
                <a:cs typeface="Calibri" pitchFamily="34" charset="-120"/>
              </a:rPr>
              <a:t>Scaffold, if you need it:
</a:t>
            </a:r>
            <a:pPr indent="0" marL="0">
              <a:buNone/>
            </a:pPr>
            <a:r>
              <a:rPr lang="en-US" sz="1150" dirty="0">
                <a:solidFill>
                  <a:srgbClr val="1E293B"/>
                </a:solidFill>
                <a:latin typeface="Calibri" pitchFamily="34" charset="0"/>
                <a:ea typeface="Calibri" pitchFamily="34" charset="-122"/>
                <a:cs typeface="Calibri" pitchFamily="34" charset="-120"/>
              </a:rPr>
              <a:t>I think...</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because...</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One piece of evidence is...</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This matters because...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8F8EF"/>
        </a:solidFill>
      </p:bgPr>
    </p:bg>
    <p:spTree>
      <p:nvGrpSpPr>
        <p:cNvPr id="1" name=""/>
        <p:cNvGrpSpPr/>
        <p:nvPr/>
      </p:nvGrpSpPr>
      <p:grpSpPr>
        <a:xfrm>
          <a:off x="0" y="0"/>
          <a:ext cx="0" cy="0"/>
          <a:chOff x="0" y="0"/>
          <a:chExt cx="0" cy="0"/>
        </a:xfrm>
      </p:grpSpPr>
      <p:sp>
        <p:nvSpPr>
          <p:cNvPr id="2" name="Text 0"/>
          <p:cNvSpPr/>
          <p:nvPr/>
        </p:nvSpPr>
        <p:spPr>
          <a:xfrm>
            <a:off x="3657600" y="320040"/>
            <a:ext cx="1828800" cy="548640"/>
          </a:xfrm>
          <a:prstGeom prst="rect">
            <a:avLst/>
          </a:prstGeom>
          <a:noFill/>
          <a:ln/>
        </p:spPr>
        <p:txBody>
          <a:bodyPr wrap="square" lIns="0" tIns="0" rIns="0" bIns="0" rtlCol="0" anchor="ctr"/>
          <a:lstStyle/>
          <a:p>
            <a:pPr algn="ctr" indent="0" marL="0">
              <a:buNone/>
            </a:pPr>
            <a:r>
              <a:rPr lang="en-US" sz="3600" dirty="0">
                <a:solidFill>
                  <a:srgbClr val="000000"/>
                </a:solidFill>
              </a:rPr>
              <a:t>🔍</a:t>
            </a:r>
            <a:endParaRPr lang="en-US" sz="3600" dirty="0"/>
          </a:p>
        </p:txBody>
      </p:sp>
      <p:sp>
        <p:nvSpPr>
          <p:cNvPr id="3" name="Text 1"/>
          <p:cNvSpPr/>
          <p:nvPr/>
        </p:nvSpPr>
        <p:spPr>
          <a:xfrm>
            <a:off x="914400" y="822960"/>
            <a:ext cx="7315200" cy="594360"/>
          </a:xfrm>
          <a:prstGeom prst="rect">
            <a:avLst/>
          </a:prstGeom>
          <a:noFill/>
          <a:ln/>
        </p:spPr>
        <p:txBody>
          <a:bodyPr wrap="square" lIns="0" tIns="0" rIns="0" bIns="0" rtlCol="0" anchor="ctr"/>
          <a:lstStyle/>
          <a:p>
            <a:pPr algn="ctr" indent="0" marL="0">
              <a:buNone/>
            </a:pPr>
            <a:r>
              <a:rPr lang="en-US" sz="2800" b="1" dirty="0">
                <a:solidFill>
                  <a:srgbClr val="0E1C42"/>
                </a:solidFill>
                <a:latin typeface="Calibri" pitchFamily="34" charset="0"/>
                <a:ea typeface="Calibri" pitchFamily="34" charset="-122"/>
                <a:cs typeface="Calibri" pitchFamily="34" charset="-120"/>
              </a:rPr>
              <a:t>Edit &amp; Revise</a:t>
            </a:r>
            <a:endParaRPr lang="en-US" sz="2800" dirty="0"/>
          </a:p>
        </p:txBody>
      </p:sp>
      <p:sp>
        <p:nvSpPr>
          <p:cNvPr id="4" name="Text 2"/>
          <p:cNvSpPr/>
          <p:nvPr/>
        </p:nvSpPr>
        <p:spPr>
          <a:xfrm>
            <a:off x="914400" y="1371600"/>
            <a:ext cx="7315200" cy="411480"/>
          </a:xfrm>
          <a:prstGeom prst="rect">
            <a:avLst/>
          </a:prstGeom>
          <a:noFill/>
          <a:ln/>
        </p:spPr>
        <p:txBody>
          <a:bodyPr wrap="square" lIns="0" tIns="0" rIns="0" bIns="0" rtlCol="0" anchor="ctr"/>
          <a:lstStyle/>
          <a:p>
            <a:pPr algn="ctr" indent="0" marL="0">
              <a:buNone/>
            </a:pPr>
            <a:r>
              <a:rPr lang="en-US" sz="1400" dirty="0">
                <a:solidFill>
                  <a:srgbClr val="34B76F"/>
                </a:solidFill>
                <a:latin typeface="Calibri" pitchFamily="34" charset="0"/>
                <a:ea typeface="Calibri" pitchFamily="34" charset="-122"/>
                <a:cs typeface="Calibri" pitchFamily="34" charset="-120"/>
              </a:rPr>
              <a:t>1 minute — one deliberate decision, not a full edit pass</a:t>
            </a:r>
            <a:endParaRPr lang="en-US" sz="1400" dirty="0"/>
          </a:p>
        </p:txBody>
      </p:sp>
      <p:sp>
        <p:nvSpPr>
          <p:cNvPr id="5" name="Shape 3"/>
          <p:cNvSpPr/>
          <p:nvPr/>
        </p:nvSpPr>
        <p:spPr>
          <a:xfrm>
            <a:off x="1188720" y="2011680"/>
            <a:ext cx="6766560" cy="777240"/>
          </a:xfrm>
          <a:prstGeom prst="roundRect">
            <a:avLst>
              <a:gd name="adj" fmla="val 11765"/>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1371600" y="2084832"/>
            <a:ext cx="6400800" cy="640080"/>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Today's revision check: </a:t>
            </a:r>
            <a:pPr indent="0" marL="0">
              <a:buNone/>
            </a:pPr>
            <a:r>
              <a:rPr lang="en-US" sz="1300" dirty="0">
                <a:solidFill>
                  <a:srgbClr val="1E293B"/>
                </a:solidFill>
                <a:latin typeface="Calibri" pitchFamily="34" charset="0"/>
                <a:ea typeface="Calibri" pitchFamily="34" charset="-122"/>
                <a:cs typeface="Calibri" pitchFamily="34" charset="-120"/>
              </a:rPr>
              <a:t>Is there a detail here I could cut because it doesn't support my point?</a:t>
            </a:r>
            <a:endParaRPr lang="en-US" sz="1300" dirty="0"/>
          </a:p>
        </p:txBody>
      </p:sp>
      <p:sp>
        <p:nvSpPr>
          <p:cNvPr id="7" name="Text 5"/>
          <p:cNvSpPr/>
          <p:nvPr/>
        </p:nvSpPr>
        <p:spPr>
          <a:xfrm>
            <a:off x="1188720" y="3017520"/>
            <a:ext cx="6766560" cy="457200"/>
          </a:xfrm>
          <a:prstGeom prst="rect">
            <a:avLst/>
          </a:prstGeom>
          <a:noFill/>
          <a:ln/>
        </p:spPr>
        <p:txBody>
          <a:bodyPr wrap="square" lIns="0" tIns="0" rIns="0" bIns="0" rtlCol="0" anchor="ctr"/>
          <a:lstStyle/>
          <a:p>
            <a:pPr algn="ctr" indent="0" marL="0">
              <a:buNone/>
            </a:pPr>
            <a:r>
              <a:rPr lang="en-US" sz="1200" i="1" dirty="0">
                <a:solidFill>
                  <a:srgbClr val="64748B"/>
                </a:solidFill>
                <a:latin typeface="Calibri" pitchFamily="34" charset="0"/>
                <a:ea typeface="Calibri" pitchFamily="34" charset="-122"/>
                <a:cs typeface="Calibri" pitchFamily="34" charset="-120"/>
              </a:rPr>
              <a:t>Revision = improving ideas. Editing = fixing conventions. Pick ONE thing.</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0" y="457200"/>
            <a:ext cx="1828800" cy="640080"/>
          </a:xfrm>
          <a:prstGeom prst="rect">
            <a:avLst/>
          </a:prstGeom>
          <a:noFill/>
          <a:ln/>
        </p:spPr>
        <p:txBody>
          <a:bodyPr wrap="square" lIns="0" tIns="0" rIns="0" bIns="0" rtlCol="0" anchor="ctr"/>
          <a:lstStyle/>
          <a:p>
            <a:pPr algn="ctr" indent="0" marL="0">
              <a:buNone/>
            </a:pPr>
            <a:r>
              <a:rPr lang="en-US" sz="4000" dirty="0">
                <a:solidFill>
                  <a:srgbClr val="000000"/>
                </a:solidFill>
              </a:rPr>
              <a:t>🗣️</a:t>
            </a:r>
            <a:endParaRPr lang="en-US" sz="4000" dirty="0"/>
          </a:p>
        </p:txBody>
      </p:sp>
      <p:sp>
        <p:nvSpPr>
          <p:cNvPr id="3" name="Text 1"/>
          <p:cNvSpPr/>
          <p:nvPr/>
        </p:nvSpPr>
        <p:spPr>
          <a:xfrm>
            <a:off x="914400" y="1005840"/>
            <a:ext cx="7315200" cy="594360"/>
          </a:xfrm>
          <a:prstGeom prst="rect">
            <a:avLst/>
          </a:prstGeom>
          <a:noFill/>
          <a:ln/>
        </p:spPr>
        <p:txBody>
          <a:bodyPr wrap="square" lIns="0" tIns="0" rIns="0" bIns="0" rtlCol="0" anchor="ctr"/>
          <a:lstStyle/>
          <a:p>
            <a:pPr algn="ctr" indent="0" marL="0">
              <a:buNone/>
            </a:pPr>
            <a:r>
              <a:rPr lang="en-US" sz="3000" b="1" dirty="0">
                <a:solidFill>
                  <a:srgbClr val="0E1C42"/>
                </a:solidFill>
                <a:latin typeface="Calibri" pitchFamily="34" charset="0"/>
                <a:ea typeface="Calibri" pitchFamily="34" charset="-122"/>
                <a:cs typeface="Calibri" pitchFamily="34" charset="-120"/>
              </a:rPr>
              <a:t>Share Time</a:t>
            </a:r>
            <a:endParaRPr lang="en-US" sz="3000" dirty="0"/>
          </a:p>
        </p:txBody>
      </p:sp>
      <p:sp>
        <p:nvSpPr>
          <p:cNvPr id="4" name="Text 2"/>
          <p:cNvSpPr/>
          <p:nvPr/>
        </p:nvSpPr>
        <p:spPr>
          <a:xfrm>
            <a:off x="914400" y="1554480"/>
            <a:ext cx="7315200" cy="411480"/>
          </a:xfrm>
          <a:prstGeom prst="rect">
            <a:avLst/>
          </a:prstGeom>
          <a:noFill/>
          <a:ln/>
        </p:spPr>
        <p:txBody>
          <a:bodyPr wrap="square" lIns="0" tIns="0" rIns="0" bIns="0" rtlCol="0" anchor="ctr"/>
          <a:lstStyle/>
          <a:p>
            <a:pPr algn="ctr" indent="0" marL="0">
              <a:buNone/>
            </a:pPr>
            <a:r>
              <a:rPr lang="en-US" sz="1500" dirty="0">
                <a:solidFill>
                  <a:srgbClr val="55C8E8"/>
                </a:solidFill>
                <a:latin typeface="Calibri" pitchFamily="34" charset="0"/>
                <a:ea typeface="Calibri" pitchFamily="34" charset="-122"/>
                <a:cs typeface="Calibri" pitchFamily="34" charset="-120"/>
              </a:rPr>
              <a:t>3 minutes — let's hear your thinking!</a:t>
            </a:r>
            <a:endParaRPr lang="en-US" sz="1500" dirty="0"/>
          </a:p>
        </p:txBody>
      </p:sp>
      <p:sp>
        <p:nvSpPr>
          <p:cNvPr id="5" name="Shape 3"/>
          <p:cNvSpPr/>
          <p:nvPr/>
        </p:nvSpPr>
        <p:spPr>
          <a:xfrm>
            <a:off x="1828800" y="2194560"/>
            <a:ext cx="5486400" cy="1371600"/>
          </a:xfrm>
          <a:prstGeom prst="roundRect">
            <a:avLst>
              <a:gd name="adj" fmla="val 8000"/>
            </a:avLst>
          </a:prstGeom>
          <a:solidFill>
            <a:srgbClr val="FFFFFF"/>
          </a:solidFill>
          <a:ln/>
          <a:effectLst>
            <a:outerShdw sx="100000" sy="100000" kx="0" ky="0" algn="bl" rotWithShape="0" blurRad="101600" dist="38100" dir="2700000">
              <a:srgbClr val="000000">
                <a:alpha val="12000"/>
              </a:srgbClr>
            </a:outerShdw>
          </a:effectLst>
        </p:spPr>
      </p:sp>
      <p:sp>
        <p:nvSpPr>
          <p:cNvPr id="6" name="Text 4"/>
          <p:cNvSpPr/>
          <p:nvPr/>
        </p:nvSpPr>
        <p:spPr>
          <a:xfrm>
            <a:off x="2011680" y="2286000"/>
            <a:ext cx="5120640" cy="1188720"/>
          </a:xfrm>
          <a:prstGeom prst="rect">
            <a:avLst/>
          </a:prstGeom>
          <a:noFill/>
          <a:ln/>
        </p:spPr>
        <p:txBody>
          <a:bodyPr wrap="square" lIns="0" tIns="0" rIns="0" bIns="0" rtlCol="0" anchor="t"/>
          <a:lstStyle/>
          <a:p>
            <a:pPr indent="0" marL="0">
              <a:buNone/>
            </a:pPr>
            <a:r>
              <a:rPr lang="en-US" sz="1300" b="1" dirty="0">
                <a:solidFill>
                  <a:srgbClr val="0E1C42"/>
                </a:solidFill>
                <a:latin typeface="Calibri" pitchFamily="34" charset="0"/>
                <a:ea typeface="Calibri" pitchFamily="34" charset="-122"/>
                <a:cs typeface="Calibri" pitchFamily="34" charset="-120"/>
              </a:rPr>
              <a:t>Raise your hand </a:t>
            </a:r>
            <a:pPr indent="0" marL="0">
              <a:buNone/>
            </a:pPr>
            <a:r>
              <a:rPr lang="en-US" sz="1300" dirty="0">
                <a:solidFill>
                  <a:srgbClr val="1E293B"/>
                </a:solidFill>
                <a:latin typeface="Calibri" pitchFamily="34" charset="0"/>
                <a:ea typeface="Calibri" pitchFamily="34" charset="-122"/>
                <a:cs typeface="Calibri" pitchFamily="34" charset="-120"/>
              </a:rPr>
              <a:t>to share, or paste your writing in the chat.
</a:t>
            </a:r>
            <a:pPr indent="0" marL="0">
              <a:buNone/>
            </a:pPr>
            <a:r>
              <a:rPr lang="en-US" sz="1200" i="1" dirty="0">
                <a:solidFill>
                  <a:srgbClr val="64748B"/>
                </a:solidFill>
                <a:latin typeface="Calibri" pitchFamily="34" charset="0"/>
                <a:ea typeface="Calibri" pitchFamily="34" charset="-122"/>
                <a:cs typeface="Calibri" pitchFamily="34" charset="-120"/>
              </a:rPr>
              <a:t>If you disagree with a classmate's choice, say so respectfully — that's part of the thinking.</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Morphology</a:t>
            </a:r>
            <a:endParaRPr lang="en-US" sz="26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Morphology: Roots naut / nav and port</a:t>
            </a:r>
            <a:endParaRPr lang="en-US" sz="1100" dirty="0"/>
          </a:p>
        </p:txBody>
      </p:sp>
      <p:sp>
        <p:nvSpPr>
          <p:cNvPr id="5" name="Shape 3"/>
          <p:cNvSpPr/>
          <p:nvPr/>
        </p:nvSpPr>
        <p:spPr>
          <a:xfrm>
            <a:off x="365760" y="1097280"/>
            <a:ext cx="8412480" cy="502920"/>
          </a:xfrm>
          <a:prstGeom prst="roundRect">
            <a:avLst>
              <a:gd name="adj" fmla="val 18182"/>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52144"/>
            <a:ext cx="8046720" cy="393192"/>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naut / nav — from Latin and Greek words meaning ship or sailor . You’ll find these in words about ships, the sea, and navigating. | port — from the Latin word portare , meaning to carry . You’ll find this in words about moving things from one place to another. | navigator → nav (ship) + the person who guides it → one who guides a ship’s route | nautical → naut (sailor) + -ical (relating to) → relating to ships and the sea | transport → trans (across) + port (carry) → to carry something from one place to another | portable → port (carry) + -able (able to be) → able to be carried or moved easily</a:t>
            </a:r>
            <a:endParaRPr lang="en-US" sz="1150" dirty="0"/>
          </a:p>
        </p:txBody>
      </p:sp>
      <p:sp>
        <p:nvSpPr>
          <p:cNvPr id="7" name="Shape 5"/>
          <p:cNvSpPr/>
          <p:nvPr/>
        </p:nvSpPr>
        <p:spPr>
          <a:xfrm>
            <a:off x="365760" y="1664208"/>
            <a:ext cx="8412480" cy="502920"/>
          </a:xfrm>
          <a:prstGeom prst="roundRect">
            <a:avLst>
              <a:gd name="adj" fmla="val 18182"/>
            </a:avLst>
          </a:prstGeom>
          <a:solidFill>
            <a:srgbClr val="F8F4FF"/>
          </a:solidFill>
          <a:ln/>
          <a:effectLst>
            <a:outerShdw sx="100000" sy="100000" kx="0" ky="0" algn="bl" rotWithShape="0" blurRad="101600" dist="38100" dir="2700000">
              <a:srgbClr val="000000">
                <a:alpha val="12000"/>
              </a:srgbClr>
            </a:outerShdw>
          </a:effectLst>
        </p:spPr>
      </p:sp>
      <p:sp>
        <p:nvSpPr>
          <p:cNvPr id="8" name="Text 6"/>
          <p:cNvSpPr/>
          <p:nvPr/>
        </p:nvSpPr>
        <p:spPr>
          <a:xfrm>
            <a:off x="548640" y="1719072"/>
            <a:ext cx="8046720" cy="393192"/>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navigator = one who guides a ship’s route and position</a:t>
            </a:r>
            <a:endParaRPr lang="en-US" sz="1150" dirty="0"/>
          </a:p>
        </p:txBody>
      </p:sp>
      <p:sp>
        <p:nvSpPr>
          <p:cNvPr id="9" name="Shape 7"/>
          <p:cNvSpPr/>
          <p:nvPr/>
        </p:nvSpPr>
        <p:spPr>
          <a:xfrm>
            <a:off x="365760" y="2231136"/>
            <a:ext cx="8412480" cy="502920"/>
          </a:xfrm>
          <a:prstGeom prst="roundRect">
            <a:avLst>
              <a:gd name="adj" fmla="val 18182"/>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2286000"/>
            <a:ext cx="8046720" cy="393192"/>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transport = to carry something across from one place to another</a:t>
            </a:r>
            <a:endParaRPr lang="en-US" sz="1150" dirty="0"/>
          </a:p>
        </p:txBody>
      </p:sp>
      <p:sp>
        <p:nvSpPr>
          <p:cNvPr id="11" name="Shape 9"/>
          <p:cNvSpPr/>
          <p:nvPr/>
        </p:nvSpPr>
        <p:spPr>
          <a:xfrm>
            <a:off x="365760" y="2798064"/>
            <a:ext cx="8412480" cy="502920"/>
          </a:xfrm>
          <a:prstGeom prst="roundRect">
            <a:avLst>
              <a:gd name="adj" fmla="val 18182"/>
            </a:avLst>
          </a:prstGeom>
          <a:solidFill>
            <a:srgbClr val="F8F4FF"/>
          </a:solidFill>
          <a:ln/>
          <a:effectLst>
            <a:outerShdw sx="100000" sy="100000" kx="0" ky="0" algn="bl" rotWithShape="0" blurRad="101600" dist="38100" dir="2700000">
              <a:srgbClr val="000000">
                <a:alpha val="12000"/>
              </a:srgbClr>
            </a:outerShdw>
          </a:effectLst>
        </p:spPr>
      </p:sp>
      <p:sp>
        <p:nvSpPr>
          <p:cNvPr id="12" name="Text 10"/>
          <p:cNvSpPr/>
          <p:nvPr/>
        </p:nvSpPr>
        <p:spPr>
          <a:xfrm>
            <a:off x="548640" y="2852928"/>
            <a:ext cx="8046720" cy="393192"/>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nautical = relating to ships, sailors, and the sea</a:t>
            </a:r>
            <a:endParaRPr lang="en-US" sz="1150" dirty="0"/>
          </a:p>
        </p:txBody>
      </p:sp>
      <p:sp>
        <p:nvSpPr>
          <p:cNvPr id="13" name="Shape 11"/>
          <p:cNvSpPr/>
          <p:nvPr/>
        </p:nvSpPr>
        <p:spPr>
          <a:xfrm>
            <a:off x="365760" y="3410712"/>
            <a:ext cx="8412480" cy="777240"/>
          </a:xfrm>
          <a:prstGeom prst="roundRect">
            <a:avLst>
              <a:gd name="adj" fmla="val 11765"/>
            </a:avLst>
          </a:prstGeom>
          <a:solidFill>
            <a:srgbClr val="FEF6E8"/>
          </a:solidFill>
          <a:ln w="12700">
            <a:solidFill>
              <a:srgbClr val="C7922C"/>
            </a:solidFill>
            <a:prstDash val="solid"/>
          </a:ln>
        </p:spPr>
      </p:sp>
      <p:sp>
        <p:nvSpPr>
          <p:cNvPr id="14" name="Text 12"/>
          <p:cNvSpPr/>
          <p:nvPr/>
        </p:nvSpPr>
        <p:spPr>
          <a:xfrm>
            <a:off x="548640" y="3483864"/>
            <a:ext cx="8046720" cy="640080"/>
          </a:xfrm>
          <a:prstGeom prst="rect">
            <a:avLst/>
          </a:prstGeom>
          <a:noFill/>
          <a:ln/>
        </p:spPr>
        <p:txBody>
          <a:bodyPr wrap="square" lIns="0" tIns="0" rIns="0" bIns="0" rtlCol="0" anchor="t"/>
          <a:lstStyle/>
          <a:p>
            <a:pPr indent="0" marL="0">
              <a:buNone/>
            </a:pPr>
            <a:r>
              <a:rPr lang="en-US" sz="1100" b="1" dirty="0">
                <a:solidFill>
                  <a:srgbClr val="C7922C"/>
                </a:solidFill>
                <a:latin typeface="Calibri" pitchFamily="34" charset="0"/>
                <a:ea typeface="Calibri" pitchFamily="34" charset="-122"/>
                <a:cs typeface="Calibri" pitchFamily="34" charset="-120"/>
              </a:rPr>
              <a:t>🫖 Show What You Know · Morphology
</a:t>
            </a:r>
            <a:pPr indent="0" marL="0">
              <a:buNone/>
            </a:pPr>
            <a:r>
              <a:rPr lang="en-US" sz="1100" i="1" dirty="0">
                <a:solidFill>
                  <a:srgbClr val="1E293B"/>
                </a:solidFill>
                <a:latin typeface="Calibri" pitchFamily="34" charset="0"/>
                <a:ea typeface="Calibri" pitchFamily="34" charset="-122"/>
                <a:cs typeface="Calibri" pitchFamily="34" charset="-120"/>
              </a:rPr>
              <a:t>Choose one word from today’s lesson — navigator , nautical , transport , or portable . Explain what the root tells you about its meaning. Then write a sentence using that word to describe something from Nat’s world in Chapter 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Vocabulary — Decode &amp; Discover</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Maritime words from Chapters 1–4</a:t>
            </a:r>
            <a:endParaRPr lang="en-US" sz="1100" dirty="0"/>
          </a:p>
        </p:txBody>
      </p:sp>
      <p:sp>
        <p:nvSpPr>
          <p:cNvPr id="5" name="Shape 3"/>
          <p:cNvSpPr/>
          <p:nvPr/>
        </p:nvSpPr>
        <p:spPr>
          <a:xfrm>
            <a:off x="365760" y="1097280"/>
            <a:ext cx="8412480" cy="621792"/>
          </a:xfrm>
          <a:prstGeom prst="roundRect">
            <a:avLst>
              <a:gd name="adj" fmla="val 14706"/>
            </a:avLst>
          </a:prstGeom>
          <a:solidFill>
            <a:srgbClr val="E5F7FC"/>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52144"/>
            <a:ext cx="8046720" cy="512064"/>
          </a:xfrm>
          <a:prstGeom prst="rect">
            <a:avLst/>
          </a:prstGeom>
          <a:noFill/>
          <a:ln/>
        </p:spPr>
        <p:txBody>
          <a:bodyPr wrap="square" lIns="0" tIns="0" rIns="0" bIns="0" rtlCol="0" anchor="ctr"/>
          <a:lstStyle/>
          <a:p>
            <a:pPr indent="0" marL="0">
              <a:buNone/>
            </a:pPr>
            <a:r>
              <a:rPr lang="en-US" sz="1300" b="1" dirty="0">
                <a:solidFill>
                  <a:srgbClr val="0E1C42"/>
                </a:solidFill>
                <a:latin typeface="Calibri" pitchFamily="34" charset="0"/>
                <a:ea typeface="Calibri" pitchFamily="34" charset="-122"/>
                <a:cs typeface="Calibri" pitchFamily="34" charset="-120"/>
              </a:rPr>
              <a:t>expectation  </a:t>
            </a:r>
            <a:pPr indent="0" marL="0">
              <a:buNone/>
            </a:pPr>
            <a:r>
              <a:rPr lang="en-US" sz="1100" dirty="0">
                <a:solidFill>
                  <a:srgbClr val="1E293B"/>
                </a:solidFill>
                <a:latin typeface="Calibri" pitchFamily="34" charset="0"/>
                <a:ea typeface="Calibri" pitchFamily="34" charset="-122"/>
                <a:cs typeface="Calibri" pitchFamily="34" charset="-120"/>
              </a:rPr>
              <a:t>A sailor’s share of future earnings; what someone hopes to earn or gain. Nat buys a “ten percent expectation” from Tom Perry — meaning he gets 10% of whatever Tom makes.</a:t>
            </a:r>
            <a:endParaRPr lang="en-US" sz="1300" dirty="0"/>
          </a:p>
        </p:txBody>
      </p:sp>
      <p:sp>
        <p:nvSpPr>
          <p:cNvPr id="7" name="Shape 5"/>
          <p:cNvSpPr/>
          <p:nvPr/>
        </p:nvSpPr>
        <p:spPr>
          <a:xfrm>
            <a:off x="365760" y="1783080"/>
            <a:ext cx="8412480" cy="621792"/>
          </a:xfrm>
          <a:prstGeom prst="roundRect">
            <a:avLst>
              <a:gd name="adj" fmla="val 14706"/>
            </a:avLst>
          </a:prstGeom>
          <a:solidFill>
            <a:srgbClr val="EAF6FA"/>
          </a:solidFill>
          <a:ln/>
          <a:effectLst>
            <a:outerShdw sx="100000" sy="100000" kx="0" ky="0" algn="bl" rotWithShape="0" blurRad="101600" dist="38100" dir="2700000">
              <a:srgbClr val="000000">
                <a:alpha val="12000"/>
              </a:srgbClr>
            </a:outerShdw>
          </a:effectLst>
        </p:spPr>
      </p:sp>
      <p:sp>
        <p:nvSpPr>
          <p:cNvPr id="8" name="Text 6"/>
          <p:cNvSpPr/>
          <p:nvPr/>
        </p:nvSpPr>
        <p:spPr>
          <a:xfrm>
            <a:off x="548640" y="1837944"/>
            <a:ext cx="8046720" cy="512064"/>
          </a:xfrm>
          <a:prstGeom prst="rect">
            <a:avLst/>
          </a:prstGeom>
          <a:noFill/>
          <a:ln/>
        </p:spPr>
        <p:txBody>
          <a:bodyPr wrap="square" lIns="0" tIns="0" rIns="0" bIns="0" rtlCol="0" anchor="ctr"/>
          <a:lstStyle/>
          <a:p>
            <a:pPr indent="0" marL="0">
              <a:buNone/>
            </a:pPr>
            <a:r>
              <a:rPr lang="en-US" sz="1300" b="1" dirty="0">
                <a:solidFill>
                  <a:srgbClr val="0E1C42"/>
                </a:solidFill>
                <a:latin typeface="Calibri" pitchFamily="34" charset="0"/>
                <a:ea typeface="Calibri" pitchFamily="34" charset="-122"/>
                <a:cs typeface="Calibri" pitchFamily="34" charset="-120"/>
              </a:rPr>
              <a:t>chandlery  </a:t>
            </a:r>
            <a:pPr indent="0" marL="0">
              <a:buNone/>
            </a:pPr>
            <a:r>
              <a:rPr lang="en-US" sz="1100" dirty="0">
                <a:solidFill>
                  <a:srgbClr val="1E293B"/>
                </a:solidFill>
                <a:latin typeface="Calibri" pitchFamily="34" charset="0"/>
                <a:ea typeface="Calibri" pitchFamily="34" charset="-122"/>
                <a:cs typeface="Calibri" pitchFamily="34" charset="-120"/>
              </a:rPr>
              <a:t>A store that sells supplies for ships — ropes, tools, food, barrels, and all the equipment a ship needs for a voyage. Nat will spend nine years working in one.</a:t>
            </a:r>
            <a:endParaRPr lang="en-US" sz="1300" dirty="0"/>
          </a:p>
        </p:txBody>
      </p:sp>
      <p:sp>
        <p:nvSpPr>
          <p:cNvPr id="9" name="Shape 7"/>
          <p:cNvSpPr/>
          <p:nvPr/>
        </p:nvSpPr>
        <p:spPr>
          <a:xfrm>
            <a:off x="365760" y="2468880"/>
            <a:ext cx="8412480" cy="621792"/>
          </a:xfrm>
          <a:prstGeom prst="roundRect">
            <a:avLst>
              <a:gd name="adj" fmla="val 14706"/>
            </a:avLst>
          </a:prstGeom>
          <a:solidFill>
            <a:srgbClr val="E5F7FC"/>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2523744"/>
            <a:ext cx="8046720" cy="512064"/>
          </a:xfrm>
          <a:prstGeom prst="rect">
            <a:avLst/>
          </a:prstGeom>
          <a:noFill/>
          <a:ln/>
        </p:spPr>
        <p:txBody>
          <a:bodyPr wrap="square" lIns="0" tIns="0" rIns="0" bIns="0" rtlCol="0" anchor="ctr"/>
          <a:lstStyle/>
          <a:p>
            <a:pPr indent="0" marL="0">
              <a:buNone/>
            </a:pPr>
            <a:r>
              <a:rPr lang="en-US" sz="1300" b="1" dirty="0">
                <a:solidFill>
                  <a:srgbClr val="0E1C42"/>
                </a:solidFill>
                <a:latin typeface="Calibri" pitchFamily="34" charset="0"/>
                <a:ea typeface="Calibri" pitchFamily="34" charset="-122"/>
                <a:cs typeface="Calibri" pitchFamily="34" charset="-120"/>
              </a:rPr>
              <a:t>cooperage  </a:t>
            </a:r>
            <a:pPr indent="0" marL="0">
              <a:buNone/>
            </a:pPr>
            <a:r>
              <a:rPr lang="en-US" sz="1100" dirty="0">
                <a:solidFill>
                  <a:srgbClr val="1E293B"/>
                </a:solidFill>
                <a:latin typeface="Calibri" pitchFamily="34" charset="0"/>
                <a:ea typeface="Calibri" pitchFamily="34" charset="-122"/>
                <a:cs typeface="Calibri" pitchFamily="34" charset="-120"/>
              </a:rPr>
              <a:t>The craft of making barrels; also the workshop where barrels are made. After losing his ship, Captain Bowditch becomes a cooper — a barrel-maker — to support his family.</a:t>
            </a:r>
            <a:endParaRPr lang="en-US" sz="1300" dirty="0"/>
          </a:p>
        </p:txBody>
      </p:sp>
      <p:sp>
        <p:nvSpPr>
          <p:cNvPr id="11" name="Shape 9"/>
          <p:cNvSpPr/>
          <p:nvPr/>
        </p:nvSpPr>
        <p:spPr>
          <a:xfrm>
            <a:off x="365760" y="3154680"/>
            <a:ext cx="8412480" cy="621792"/>
          </a:xfrm>
          <a:prstGeom prst="roundRect">
            <a:avLst>
              <a:gd name="adj" fmla="val 14706"/>
            </a:avLst>
          </a:prstGeom>
          <a:solidFill>
            <a:srgbClr val="EAF6FA"/>
          </a:solidFill>
          <a:ln/>
          <a:effectLst>
            <a:outerShdw sx="100000" sy="100000" kx="0" ky="0" algn="bl" rotWithShape="0" blurRad="101600" dist="38100" dir="2700000">
              <a:srgbClr val="000000">
                <a:alpha val="12000"/>
              </a:srgbClr>
            </a:outerShdw>
          </a:effectLst>
        </p:spPr>
      </p:sp>
      <p:sp>
        <p:nvSpPr>
          <p:cNvPr id="12" name="Text 10"/>
          <p:cNvSpPr/>
          <p:nvPr/>
        </p:nvSpPr>
        <p:spPr>
          <a:xfrm>
            <a:off x="548640" y="3209544"/>
            <a:ext cx="8046720" cy="512064"/>
          </a:xfrm>
          <a:prstGeom prst="rect">
            <a:avLst/>
          </a:prstGeom>
          <a:noFill/>
          <a:ln/>
        </p:spPr>
        <p:txBody>
          <a:bodyPr wrap="square" lIns="0" tIns="0" rIns="0" bIns="0" rtlCol="0" anchor="ctr"/>
          <a:lstStyle/>
          <a:p>
            <a:pPr indent="0" marL="0">
              <a:buNone/>
            </a:pPr>
            <a:r>
              <a:rPr lang="en-US" sz="1300" b="1" dirty="0">
                <a:solidFill>
                  <a:srgbClr val="0E1C42"/>
                </a:solidFill>
                <a:latin typeface="Calibri" pitchFamily="34" charset="0"/>
                <a:ea typeface="Calibri" pitchFamily="34" charset="-122"/>
                <a:cs typeface="Calibri" pitchFamily="34" charset="-120"/>
              </a:rPr>
              <a:t>indenture  </a:t>
            </a:r>
            <a:pPr indent="0" marL="0">
              <a:buNone/>
            </a:pPr>
            <a:r>
              <a:rPr lang="en-US" sz="1100" dirty="0">
                <a:solidFill>
                  <a:srgbClr val="1E293B"/>
                </a:solidFill>
                <a:latin typeface="Calibri" pitchFamily="34" charset="0"/>
                <a:ea typeface="Calibri" pitchFamily="34" charset="-122"/>
                <a:cs typeface="Calibri" pitchFamily="34" charset="-120"/>
              </a:rPr>
              <a:t>A legal contract that binds a person to work for someone else for a set number of years — with no pay and no freedom to leave. Nat must serve Ropes &amp; Hodges for nine years, starting at age twelve.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Grammar — ✏️ Grammar: Active and Passive Voice</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Learn — define what makes a sentence active or passive</a:t>
            </a:r>
            <a:endParaRPr lang="en-US" sz="1100" dirty="0"/>
          </a:p>
        </p:txBody>
      </p:sp>
      <p:sp>
        <p:nvSpPr>
          <p:cNvPr id="7" name="Text 5"/>
          <p:cNvSpPr/>
          <p:nvPr/>
        </p:nvSpPr>
        <p:spPr>
          <a:xfrm>
            <a:off x="365760" y="1078992"/>
            <a:ext cx="8412480" cy="594360"/>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Active Voice: The subject does the action. The sentence moves forward: who does what. “Nat solved the problem.” — Nat (subject) is doing the solving. “Granny shook her head.” — Granny (subject) is doing the shaking. Passive Voice: The subject receives the action. A form of “to be” (was, were, is, are) + a past participle shows this. “The problem was solved by Nat.” — The problem (subject) receives the solving. “The coals were dumped on the kindling.” — The coals receive the action. Quick check: Passive voice almost always uses was or were + a verb ending in -ed or -en. If you can add “by [someone]” at the end and it makes sense, it’s probably passive.</a:t>
            </a:r>
            <a:endParaRPr lang="en-US" sz="1100" dirty="0"/>
          </a:p>
        </p:txBody>
      </p:sp>
      <p:sp>
        <p:nvSpPr>
          <p:cNvPr id="8" name="Shape 6"/>
          <p:cNvSpPr/>
          <p:nvPr/>
        </p:nvSpPr>
        <p:spPr>
          <a:xfrm>
            <a:off x="365760" y="173736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9" name="Text 7"/>
          <p:cNvSpPr/>
          <p:nvPr/>
        </p:nvSpPr>
        <p:spPr>
          <a:xfrm>
            <a:off x="548640" y="179222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“Nat carried his bowl over to the corner.”</a:t>
            </a:r>
            <a:pPr indent="0" marL="0">
              <a:buNone/>
            </a:pPr>
            <a:endParaRPr lang="en-US" sz="1200" dirty="0"/>
          </a:p>
          <a:p>
            <a:pPr indent="0" marL="0">
              <a:buNone/>
            </a:pPr>
            <a:r>
              <a:rPr lang="en-US" sz="1100" dirty="0">
                <a:solidFill>
                  <a:srgbClr val="64748B"/>
                </a:solidFill>
                <a:latin typeface="Calibri" pitchFamily="34" charset="0"/>
                <a:ea typeface="Calibri" pitchFamily="34" charset="-122"/>
                <a:cs typeface="Calibri" pitchFamily="34" charset="-120"/>
              </a:rPr>
              <a:t>Active   /   Passive</a:t>
            </a:r>
            <a:endParaRPr lang="en-US" sz="1200" dirty="0"/>
          </a:p>
        </p:txBody>
      </p:sp>
      <p:sp>
        <p:nvSpPr>
          <p:cNvPr id="10" name="Shape 8"/>
          <p:cNvSpPr/>
          <p:nvPr/>
        </p:nvSpPr>
        <p:spPr>
          <a:xfrm>
            <a:off x="365760" y="246888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252374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“The coals were dumped on the kindling.”</a:t>
            </a:r>
            <a:pPr indent="0" marL="0">
              <a:buNone/>
            </a:pPr>
            <a:endParaRPr lang="en-US" sz="1200" dirty="0"/>
          </a:p>
          <a:p>
            <a:pPr indent="0" marL="0">
              <a:buNone/>
            </a:pPr>
            <a:r>
              <a:rPr lang="en-US" sz="1100" dirty="0">
                <a:solidFill>
                  <a:srgbClr val="64748B"/>
                </a:solidFill>
                <a:latin typeface="Calibri" pitchFamily="34" charset="0"/>
                <a:ea typeface="Calibri" pitchFamily="34" charset="-122"/>
                <a:cs typeface="Calibri" pitchFamily="34" charset="-120"/>
              </a:rPr>
              <a:t>Active   /   Passive</a:t>
            </a:r>
            <a:endParaRPr lang="en-US" sz="1200" dirty="0"/>
          </a:p>
        </p:txBody>
      </p:sp>
      <p:sp>
        <p:nvSpPr>
          <p:cNvPr id="12" name="Shape 10"/>
          <p:cNvSpPr/>
          <p:nvPr/>
        </p:nvSpPr>
        <p:spPr>
          <a:xfrm>
            <a:off x="365760" y="320040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325526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“Hab pulled the covers off Nat.”</a:t>
            </a:r>
            <a:pPr indent="0" marL="0">
              <a:buNone/>
            </a:pPr>
            <a:endParaRPr lang="en-US" sz="1200" dirty="0"/>
          </a:p>
          <a:p>
            <a:pPr indent="0" marL="0">
              <a:buNone/>
            </a:pPr>
            <a:r>
              <a:rPr lang="en-US" sz="1100" dirty="0">
                <a:solidFill>
                  <a:srgbClr val="64748B"/>
                </a:solidFill>
                <a:latin typeface="Calibri" pitchFamily="34" charset="0"/>
                <a:ea typeface="Calibri" pitchFamily="34" charset="-122"/>
                <a:cs typeface="Calibri" pitchFamily="34" charset="-120"/>
              </a:rPr>
              <a:t>Active   /   Passive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Grammar — ✏️ Grammar: Active and Passive Voice</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Learn — define what makes a sentence active or passive</a:t>
            </a:r>
            <a:endParaRPr lang="en-US" sz="1100" dirty="0"/>
          </a:p>
        </p:txBody>
      </p:sp>
      <p:sp>
        <p:nvSpPr>
          <p:cNvPr id="7" name="Text 5"/>
          <p:cNvSpPr/>
          <p:nvPr/>
        </p:nvSpPr>
        <p:spPr>
          <a:xfrm>
            <a:off x="365760" y="1078992"/>
            <a:ext cx="8412480" cy="594360"/>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Active Voice: The subject does the action. The sentence moves forward: who does what. “Nat solved the problem.” — Nat (subject) is doing the solving. “Granny shook her head.” — Granny (subject) is doing the shaking. Passive Voice: The subject receives the action. A form of “to be” (was, were, is, are) + a past participle shows this. “The problem was solved by Nat.” — The problem (subject) receives the solving. “The coals were dumped on the kindling.” — The coals receive the action. Quick check: Passive voice almost always uses was or were + a verb ending in -ed or -en. If you can add “by [someone]” at the end and it makes sense, it’s probably passive.</a:t>
            </a:r>
            <a:endParaRPr lang="en-US" sz="1100" dirty="0"/>
          </a:p>
        </p:txBody>
      </p:sp>
      <p:sp>
        <p:nvSpPr>
          <p:cNvPr id="8" name="Shape 6"/>
          <p:cNvSpPr/>
          <p:nvPr/>
        </p:nvSpPr>
        <p:spPr>
          <a:xfrm>
            <a:off x="365760" y="173736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9" name="Text 7"/>
          <p:cNvSpPr/>
          <p:nvPr/>
        </p:nvSpPr>
        <p:spPr>
          <a:xfrm>
            <a:off x="548640" y="179222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“Nat carried his bowl over to the corner.”
</a:t>
            </a:r>
            <a:pPr indent="0" marL="0">
              <a:buNone/>
            </a:pPr>
            <a:r>
              <a:rPr lang="en-US" sz="1200" b="1" dirty="0">
                <a:solidFill>
                  <a:srgbClr val="34B76F"/>
                </a:solidFill>
                <a:latin typeface="Calibri" pitchFamily="34" charset="0"/>
                <a:ea typeface="Calibri" pitchFamily="34" charset="-122"/>
                <a:cs typeface="Calibri" pitchFamily="34" charset="-120"/>
              </a:rPr>
              <a:t>✅ Active</a:t>
            </a:r>
            <a:endParaRPr lang="en-US" sz="1200" dirty="0"/>
          </a:p>
        </p:txBody>
      </p:sp>
      <p:sp>
        <p:nvSpPr>
          <p:cNvPr id="10" name="Shape 8"/>
          <p:cNvSpPr/>
          <p:nvPr/>
        </p:nvSpPr>
        <p:spPr>
          <a:xfrm>
            <a:off x="365760" y="246888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252374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“The coals were dumped on the kindling.”
</a:t>
            </a:r>
            <a:pPr indent="0" marL="0">
              <a:buNone/>
            </a:pPr>
            <a:r>
              <a:rPr lang="en-US" sz="1200" b="1" dirty="0">
                <a:solidFill>
                  <a:srgbClr val="34B76F"/>
                </a:solidFill>
                <a:latin typeface="Calibri" pitchFamily="34" charset="0"/>
                <a:ea typeface="Calibri" pitchFamily="34" charset="-122"/>
                <a:cs typeface="Calibri" pitchFamily="34" charset="-120"/>
              </a:rPr>
              <a:t>✅ Passive</a:t>
            </a:r>
            <a:endParaRPr lang="en-US" sz="1200" dirty="0"/>
          </a:p>
        </p:txBody>
      </p:sp>
      <p:sp>
        <p:nvSpPr>
          <p:cNvPr id="12" name="Shape 10"/>
          <p:cNvSpPr/>
          <p:nvPr/>
        </p:nvSpPr>
        <p:spPr>
          <a:xfrm>
            <a:off x="365760" y="320040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325526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“Hab pulled the covers off Nat.”
</a:t>
            </a:r>
            <a:pPr indent="0" marL="0">
              <a:buNone/>
            </a:pPr>
            <a:r>
              <a:rPr lang="en-US" sz="1200" b="1" dirty="0">
                <a:solidFill>
                  <a:srgbClr val="34B76F"/>
                </a:solidFill>
                <a:latin typeface="Calibri" pitchFamily="34" charset="0"/>
                <a:ea typeface="Calibri" pitchFamily="34" charset="-122"/>
                <a:cs typeface="Calibri" pitchFamily="34" charset="-120"/>
              </a:rPr>
              <a:t>✅ Active</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Spelling — 🔠 Spelling: Vowel Teams in Maritime Words</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0E1C42"/>
                </a:solidFill>
                <a:latin typeface="Calibri" pitchFamily="34" charset="0"/>
                <a:ea typeface="Calibri" pitchFamily="34" charset="-122"/>
                <a:cs typeface="Calibri" pitchFamily="34" charset="-120"/>
              </a:rPr>
              <a:t>Discover — two ways to spell the long /ā/ sound</a:t>
            </a:r>
            <a:endParaRPr lang="en-US" sz="1100" dirty="0"/>
          </a:p>
        </p:txBody>
      </p:sp>
      <p:sp>
        <p:nvSpPr>
          <p:cNvPr id="7" name="Text 5"/>
          <p:cNvSpPr/>
          <p:nvPr/>
        </p:nvSpPr>
        <p:spPr>
          <a:xfrm>
            <a:off x="365760" y="1143000"/>
            <a:ext cx="4023360" cy="320040"/>
          </a:xfrm>
          <a:prstGeom prst="rect">
            <a:avLst/>
          </a:prstGeom>
          <a:noFill/>
          <a:ln/>
        </p:spPr>
        <p:txBody>
          <a:bodyPr wrap="square" lIns="0" tIns="0" rIns="0" bIns="0" rtlCol="0" anchor="ctr"/>
          <a:lstStyle/>
          <a:p>
            <a:pPr indent="0" marL="0">
              <a:buNone/>
            </a:pPr>
            <a:r>
              <a:rPr lang="en-US" sz="1300" b="1" dirty="0">
                <a:solidFill>
                  <a:srgbClr val="0E1C42"/>
                </a:solidFill>
                <a:latin typeface="Calibri" pitchFamily="34" charset="0"/>
                <a:ea typeface="Calibri" pitchFamily="34" charset="-122"/>
                <a:cs typeface="Calibri" pitchFamily="34" charset="-120"/>
              </a:rPr>
              <a:t>ai pattern two vowels together</a:t>
            </a:r>
            <a:endParaRPr lang="en-US" sz="1300" dirty="0"/>
          </a:p>
        </p:txBody>
      </p:sp>
      <p:sp>
        <p:nvSpPr>
          <p:cNvPr id="8" name="Text 6"/>
          <p:cNvSpPr/>
          <p:nvPr/>
        </p:nvSpPr>
        <p:spPr>
          <a:xfrm>
            <a:off x="365760" y="1508760"/>
            <a:ext cx="4023360" cy="182880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sail  ·  main  ·  claim  ·  braid</a:t>
            </a:r>
            <a:endParaRPr lang="en-US" sz="1300" dirty="0"/>
          </a:p>
        </p:txBody>
      </p:sp>
      <p:sp>
        <p:nvSpPr>
          <p:cNvPr id="9" name="Text 7"/>
          <p:cNvSpPr/>
          <p:nvPr/>
        </p:nvSpPr>
        <p:spPr>
          <a:xfrm>
            <a:off x="4663440" y="1143000"/>
            <a:ext cx="4023360" cy="320040"/>
          </a:xfrm>
          <a:prstGeom prst="rect">
            <a:avLst/>
          </a:prstGeom>
          <a:noFill/>
          <a:ln/>
        </p:spPr>
        <p:txBody>
          <a:bodyPr wrap="square" lIns="0" tIns="0" rIns="0" bIns="0" rtlCol="0" anchor="ctr"/>
          <a:lstStyle/>
          <a:p>
            <a:pPr indent="0" marL="0">
              <a:buNone/>
            </a:pPr>
            <a:r>
              <a:rPr lang="en-US" sz="1300" b="1" dirty="0">
                <a:solidFill>
                  <a:srgbClr val="0E1C42"/>
                </a:solidFill>
                <a:latin typeface="Calibri" pitchFamily="34" charset="0"/>
                <a:ea typeface="Calibri" pitchFamily="34" charset="-122"/>
                <a:cs typeface="Calibri" pitchFamily="34" charset="-120"/>
              </a:rPr>
              <a:t>a_e pattern vowel + consonant + silent e</a:t>
            </a:r>
            <a:endParaRPr lang="en-US" sz="1300" dirty="0"/>
          </a:p>
        </p:txBody>
      </p:sp>
      <p:sp>
        <p:nvSpPr>
          <p:cNvPr id="10" name="Text 8"/>
          <p:cNvSpPr/>
          <p:nvPr/>
        </p:nvSpPr>
        <p:spPr>
          <a:xfrm>
            <a:off x="4663440" y="1508760"/>
            <a:ext cx="4023360" cy="182880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chase  ·  brave  ·  late  ·  gale</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Reading Focus + Story Journey</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YOUR STORY JOURNEY</a:t>
            </a:r>
            <a:endParaRPr lang="en-US" sz="1100" dirty="0"/>
          </a:p>
        </p:txBody>
      </p:sp>
      <p:sp>
        <p:nvSpPr>
          <p:cNvPr id="7" name="Shape 5"/>
          <p:cNvSpPr/>
          <p:nvPr/>
        </p:nvSpPr>
        <p:spPr>
          <a:xfrm>
            <a:off x="365760" y="1078992"/>
            <a:ext cx="8412480" cy="777240"/>
          </a:xfrm>
          <a:prstGeom prst="roundRect">
            <a:avLst>
              <a:gd name="adj" fmla="val 11765"/>
            </a:avLst>
          </a:prstGeom>
          <a:solidFill>
            <a:srgbClr val="F8FAFC"/>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70432"/>
            <a:ext cx="7955280" cy="594360"/>
          </a:xfrm>
          <a:prstGeom prst="rect">
            <a:avLst/>
          </a:prstGeom>
          <a:noFill/>
          <a:ln/>
        </p:spPr>
        <p:txBody>
          <a:bodyPr wrap="square" lIns="0" tIns="0" rIns="0" bIns="0" rtlCol="0" anchor="ctr"/>
          <a:lstStyle/>
          <a:p>
            <a:pPr indent="0" marL="0">
              <a:buNone/>
            </a:pPr>
            <a:r>
              <a:rPr lang="en-US" sz="1250" b="1" dirty="0">
                <a:solidFill>
                  <a:srgbClr val="1E293B"/>
                </a:solidFill>
                <a:latin typeface="Calibri" pitchFamily="34" charset="0"/>
                <a:ea typeface="Calibri" pitchFamily="34" charset="-122"/>
                <a:cs typeface="Calibri" pitchFamily="34" charset="-120"/>
              </a:rPr>
              <a:t>Nat’s Path Through Carry On, Mr. Bowditch — 📍 You are here: Chapter 1 — The Good-Luck Spell</a:t>
            </a:r>
            <a:endParaRPr lang="en-US" sz="1250" dirty="0"/>
          </a:p>
        </p:txBody>
      </p:sp>
      <p:sp>
        <p:nvSpPr>
          <p:cNvPr id="9" name="Text 7"/>
          <p:cNvSpPr/>
          <p:nvPr/>
        </p:nvSpPr>
        <p:spPr>
          <a:xfrm>
            <a:off x="365760" y="1975104"/>
            <a:ext cx="8046720" cy="292608"/>
          </a:xfrm>
          <a:prstGeom prst="rect">
            <a:avLst/>
          </a:prstGeom>
          <a:noFill/>
          <a:ln/>
        </p:spPr>
        <p:txBody>
          <a:bodyPr wrap="square" lIns="0" tIns="0" rIns="0" bIns="0" rtlCol="0" anchor="ctr"/>
          <a:lstStyle/>
          <a:p>
            <a:pPr indent="0" marL="0">
              <a:buNone/>
            </a:pPr>
            <a:r>
              <a:rPr lang="en-US" sz="1100" b="1" spc="200" kern="0" dirty="0">
                <a:solidFill>
                  <a:srgbClr val="55C8E8"/>
                </a:solidFill>
                <a:latin typeface="Calibri" pitchFamily="34" charset="0"/>
                <a:ea typeface="Calibri" pitchFamily="34" charset="-122"/>
                <a:cs typeface="Calibri" pitchFamily="34" charset="-120"/>
              </a:rPr>
              <a:t>TODAY YOU ARE READING</a:t>
            </a:r>
            <a:endParaRPr lang="en-US" sz="1100" dirty="0"/>
          </a:p>
        </p:txBody>
      </p:sp>
      <p:sp>
        <p:nvSpPr>
          <p:cNvPr id="10" name="Shape 8"/>
          <p:cNvSpPr/>
          <p:nvPr/>
        </p:nvSpPr>
        <p:spPr>
          <a:xfrm>
            <a:off x="365760" y="2231136"/>
            <a:ext cx="8412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304288"/>
            <a:ext cx="7955280" cy="493776"/>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Chapter 1 — The Good-Luck Spell</a:t>
            </a:r>
            <a:endParaRPr lang="en-US" sz="1500" dirty="0"/>
          </a:p>
        </p:txBody>
      </p:sp>
      <p:sp>
        <p:nvSpPr>
          <p:cNvPr id="12" name="Text 10"/>
          <p:cNvSpPr/>
          <p:nvPr/>
        </p:nvSpPr>
        <p:spPr>
          <a:xfrm>
            <a:off x="365760" y="2999232"/>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KEEP YOUR READING LENS IN MIND</a:t>
            </a:r>
            <a:endParaRPr lang="en-US" sz="1100" dirty="0"/>
          </a:p>
        </p:txBody>
      </p:sp>
      <p:sp>
        <p:nvSpPr>
          <p:cNvPr id="13" name="Shape 11"/>
          <p:cNvSpPr/>
          <p:nvPr/>
        </p:nvSpPr>
        <p:spPr>
          <a:xfrm>
            <a:off x="365760" y="3255264"/>
            <a:ext cx="84124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346704"/>
            <a:ext cx="7955280" cy="1097280"/>
          </a:xfrm>
          <a:prstGeom prst="rect">
            <a:avLst/>
          </a:prstGeom>
          <a:noFill/>
          <a:ln/>
        </p:spPr>
        <p:txBody>
          <a:bodyPr wrap="square" lIns="0" tIns="0" rIns="0" bIns="0" rtlCol="0" anchor="t"/>
          <a:lstStyle/>
          <a:p>
            <a:pPr indent="0" marL="0">
              <a:buNone/>
            </a:pPr>
            <a:r>
              <a:rPr lang="en-US" sz="1200" i="1" dirty="0">
                <a:solidFill>
                  <a:srgbClr val="1E293B"/>
                </a:solidFill>
                <a:latin typeface="Calibri" pitchFamily="34" charset="0"/>
                <a:ea typeface="Calibri" pitchFamily="34" charset="-122"/>
                <a:cs typeface="Calibri" pitchFamily="34" charset="-120"/>
              </a:rPr>
              <a:t>What is Nat trying to do at the very start of the story? What goal does he have?</a:t>
            </a:r>
            <a:endParaRPr lang="en-US" sz="1200" dirty="0"/>
          </a:p>
          <a:p>
            <a:pPr indent="0" marL="0">
              <a:buNone/>
            </a:pPr>
            <a:endParaRPr lang="en-US" sz="1200" dirty="0"/>
          </a:p>
          <a:p>
            <a:pPr indent="0" marL="0">
              <a:buNone/>
            </a:pPr>
            <a:r>
              <a:rPr lang="en-US" sz="1200" i="1" dirty="0">
                <a:solidFill>
                  <a:srgbClr val="1E293B"/>
                </a:solidFill>
                <a:latin typeface="Calibri" pitchFamily="34" charset="0"/>
                <a:ea typeface="Calibri" pitchFamily="34" charset="-122"/>
                <a:cs typeface="Calibri" pitchFamily="34" charset="-120"/>
              </a:rPr>
              <a:t>What obstacle or setback gets in his way?</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Comprehension Questions — Preview</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WHAT YOU'LL ANSWER (PART A)</a:t>
            </a:r>
            <a:endParaRPr lang="en-US" sz="1100" dirty="0"/>
          </a:p>
        </p:txBody>
      </p:sp>
      <p:sp>
        <p:nvSpPr>
          <p:cNvPr id="5" name="Shape 3"/>
          <p:cNvSpPr/>
          <p:nvPr/>
        </p:nvSpPr>
        <p:spPr>
          <a:xfrm>
            <a:off x="365760" y="1097280"/>
            <a:ext cx="8412480" cy="914400"/>
          </a:xfrm>
          <a:prstGeom prst="roundRect">
            <a:avLst>
              <a:gd name="adj" fmla="val 10000"/>
            </a:avLst>
          </a:prstGeom>
          <a:solidFill>
            <a:srgbClr val="F8FAFC"/>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70432"/>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1.  </a:t>
            </a:r>
            <a:pPr indent="0" marL="0">
              <a:buNone/>
            </a:pPr>
            <a:r>
              <a:rPr lang="en-US" sz="1150" dirty="0">
                <a:solidFill>
                  <a:srgbClr val="1E293B"/>
                </a:solidFill>
                <a:latin typeface="Calibri" pitchFamily="34" charset="0"/>
                <a:ea typeface="Calibri" pitchFamily="34" charset="-122"/>
                <a:cs typeface="Calibri" pitchFamily="34" charset="-120"/>
              </a:rPr>
              <a:t>At the beginning of the story, the Bowditch family has had a lot of bad luck — Father lost his ship, they’ve had to move to Salem, and times are hard. What does Nat decide to do about their situation? What does this decision tell you about his character? Use a specific detail from Chapter 1.</a:t>
            </a:r>
            <a:endParaRPr lang="en-US" sz="1300" dirty="0"/>
          </a:p>
        </p:txBody>
      </p:sp>
      <p:sp>
        <p:nvSpPr>
          <p:cNvPr id="7" name="Shape 5"/>
          <p:cNvSpPr/>
          <p:nvPr/>
        </p:nvSpPr>
        <p:spPr>
          <a:xfrm>
            <a:off x="365760" y="2084832"/>
            <a:ext cx="8412480" cy="914400"/>
          </a:xfrm>
          <a:prstGeom prst="roundRect">
            <a:avLst>
              <a:gd name="adj" fmla="val 10000"/>
            </a:avLst>
          </a:prstGeom>
          <a:solidFill>
            <a:srgbClr val="F4F7FC"/>
          </a:solidFill>
          <a:ln/>
          <a:effectLst>
            <a:outerShdw sx="100000" sy="100000" kx="0" ky="0" algn="bl" rotWithShape="0" blurRad="101600" dist="38100" dir="2700000">
              <a:srgbClr val="000000">
                <a:alpha val="12000"/>
              </a:srgbClr>
            </a:outerShdw>
          </a:effectLst>
        </p:spPr>
      </p:sp>
      <p:sp>
        <p:nvSpPr>
          <p:cNvPr id="8" name="Text 6"/>
          <p:cNvSpPr/>
          <p:nvPr/>
        </p:nvSpPr>
        <p:spPr>
          <a:xfrm>
            <a:off x="548640" y="2157984"/>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2.  </a:t>
            </a:r>
            <a:pPr indent="0" marL="0">
              <a:buNone/>
            </a:pPr>
            <a:r>
              <a:rPr lang="en-US" sz="1150" dirty="0">
                <a:solidFill>
                  <a:srgbClr val="1E293B"/>
                </a:solidFill>
                <a:latin typeface="Calibri" pitchFamily="34" charset="0"/>
                <a:ea typeface="Calibri" pitchFamily="34" charset="-122"/>
                <a:cs typeface="Calibri" pitchFamily="34" charset="-120"/>
              </a:rPr>
              <a:t>When the nor’easter arrives and ruins his plan, Nat tells Lizza: “I’ll think of something. Sure, I will. I’ll think of something.” Why does he say it twice? What is Nat really doing when he repeats this promise? Use a detail from the chapter.</a:t>
            </a:r>
            <a:endParaRPr lang="en-US" sz="1300" dirty="0"/>
          </a:p>
        </p:txBody>
      </p:sp>
      <p:sp>
        <p:nvSpPr>
          <p:cNvPr id="9" name="Shape 7"/>
          <p:cNvSpPr/>
          <p:nvPr/>
        </p:nvSpPr>
        <p:spPr>
          <a:xfrm>
            <a:off x="365760" y="3072384"/>
            <a:ext cx="8412480" cy="914400"/>
          </a:xfrm>
          <a:prstGeom prst="roundRect">
            <a:avLst>
              <a:gd name="adj" fmla="val 10000"/>
            </a:avLst>
          </a:prstGeom>
          <a:solidFill>
            <a:srgbClr val="F8FAFC"/>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3145536"/>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3.  </a:t>
            </a:r>
            <a:pPr indent="0" marL="0">
              <a:buNone/>
            </a:pPr>
            <a:r>
              <a:rPr lang="en-US" sz="1150" dirty="0">
                <a:solidFill>
                  <a:srgbClr val="1E293B"/>
                </a:solidFill>
                <a:latin typeface="Calibri" pitchFamily="34" charset="0"/>
                <a:ea typeface="Calibri" pitchFamily="34" charset="-122"/>
                <a:cs typeface="Calibri" pitchFamily="34" charset="-120"/>
              </a:rPr>
              <a:t>Jean Lee Latham writes “his stomach still felt scared” instead of simply writing “Nat was scared.” She puts the feeling in the body rather than naming the emotion directly. Why do you think a writer does this? What effect does it have on you as a reader?</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Writing Connection — Research Essay</a:t>
            </a:r>
            <a:endParaRPr lang="en-US" sz="26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365760" y="841248"/>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STAGE: RESEARCH CLAIM  ·  Write a research claim</a:t>
            </a:r>
            <a:endParaRPr lang="en-US" sz="1100" dirty="0"/>
          </a:p>
        </p:txBody>
      </p:sp>
      <p:sp>
        <p:nvSpPr>
          <p:cNvPr id="5" name="Shape 3"/>
          <p:cNvSpPr/>
          <p:nvPr/>
        </p:nvSpPr>
        <p:spPr>
          <a:xfrm>
            <a:off x="365760" y="1097280"/>
            <a:ext cx="8412480" cy="548640"/>
          </a:xfrm>
          <a:prstGeom prst="roundRect">
            <a:avLst>
              <a:gd name="adj" fmla="val 16667"/>
            </a:avLst>
          </a:prstGeom>
          <a:solidFill>
            <a:srgbClr val="E8F8EF"/>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52144"/>
            <a:ext cx="8046720" cy="438912"/>
          </a:xfrm>
          <a:prstGeom prst="rect">
            <a:avLst/>
          </a:prstGeom>
          <a:noFill/>
          <a:ln/>
        </p:spPr>
        <p:txBody>
          <a:bodyPr wrap="square" lIns="0" tIns="0" rIns="0" bIns="0" rtlCol="0" anchor="ctr"/>
          <a:lstStyle/>
          <a:p>
            <a:pPr indent="0" marL="0">
              <a:buNone/>
            </a:pPr>
            <a:r>
              <a:rPr lang="en-US" sz="1150" b="1" dirty="0">
                <a:solidFill>
                  <a:srgbClr val="1E293B"/>
                </a:solidFill>
                <a:latin typeface="Calibri" pitchFamily="34" charset="0"/>
                <a:ea typeface="Calibri" pitchFamily="34" charset="-122"/>
                <a:cs typeface="Calibri" pitchFamily="34" charset="-120"/>
              </a:rPr>
              <a:t>A research claim is one sentence that answers the research question. It’s your whole essay in miniature — specific, arguable, and provable.</a:t>
            </a:r>
            <a:endParaRPr lang="en-US" sz="1150" dirty="0"/>
          </a:p>
        </p:txBody>
      </p:sp>
      <p:sp>
        <p:nvSpPr>
          <p:cNvPr id="7" name="Text 5"/>
          <p:cNvSpPr/>
          <p:nvPr/>
        </p:nvSpPr>
        <p:spPr>
          <a:xfrm>
            <a:off x="365760" y="17830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 WATCH HOW ALEX DOES IT</a:t>
            </a:r>
            <a:endParaRPr lang="en-US" sz="1100" dirty="0"/>
          </a:p>
        </p:txBody>
      </p:sp>
      <p:sp>
        <p:nvSpPr>
          <p:cNvPr id="8" name="Shape 6"/>
          <p:cNvSpPr/>
          <p:nvPr/>
        </p:nvSpPr>
        <p:spPr>
          <a:xfrm>
            <a:off x="365760" y="2029968"/>
            <a:ext cx="4114800" cy="1051560"/>
          </a:xfrm>
          <a:prstGeom prst="roundRect">
            <a:avLst>
              <a:gd name="adj" fmla="val 8696"/>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02920" y="2084832"/>
            <a:ext cx="3840480" cy="941832"/>
          </a:xfrm>
          <a:prstGeom prst="rect">
            <a:avLst/>
          </a:prstGeom>
          <a:noFill/>
          <a:ln/>
        </p:spPr>
        <p:txBody>
          <a:bodyPr wrap="square" lIns="0" tIns="0" rIns="0" bIns="0" rtlCol="0" anchor="t"/>
          <a:lstStyle/>
          <a:p>
            <a:pPr indent="0" marL="0">
              <a:buNone/>
            </a:pPr>
            <a:r>
              <a:rPr lang="en-US" sz="950" dirty="0">
                <a:solidFill>
                  <a:srgbClr val="1E293B"/>
                </a:solidFill>
                <a:latin typeface="Calibri" pitchFamily="34" charset="0"/>
                <a:ea typeface="Calibri" pitchFamily="34" charset="-122"/>
                <a:cs typeface="Calibri" pitchFamily="34" charset="-120"/>
              </a:rPr>
              <a:t>BEFORE Nat Bowditch was really good at math and helped a lot of sailors.</a:t>
            </a:r>
            <a:endParaRPr lang="en-US" sz="950" dirty="0"/>
          </a:p>
        </p:txBody>
      </p:sp>
      <p:sp>
        <p:nvSpPr>
          <p:cNvPr id="10" name="Shape 8"/>
          <p:cNvSpPr/>
          <p:nvPr/>
        </p:nvSpPr>
        <p:spPr>
          <a:xfrm>
            <a:off x="4663440" y="2029968"/>
            <a:ext cx="4114800" cy="1051560"/>
          </a:xfrm>
          <a:prstGeom prst="roundRect">
            <a:avLst>
              <a:gd name="adj" fmla="val 8696"/>
            </a:avLst>
          </a:prstGeom>
          <a:solidFill>
            <a:srgbClr val="EAF6FA"/>
          </a:solidFill>
          <a:ln/>
          <a:effectLst>
            <a:outerShdw sx="100000" sy="100000" kx="0" ky="0" algn="bl" rotWithShape="0" blurRad="101600" dist="38100" dir="2700000">
              <a:srgbClr val="000000">
                <a:alpha val="12000"/>
              </a:srgbClr>
            </a:outerShdw>
          </a:effectLst>
        </p:spPr>
      </p:sp>
      <p:sp>
        <p:nvSpPr>
          <p:cNvPr id="11" name="Text 9"/>
          <p:cNvSpPr/>
          <p:nvPr/>
        </p:nvSpPr>
        <p:spPr>
          <a:xfrm>
            <a:off x="4800600" y="2084832"/>
            <a:ext cx="3840480" cy="941832"/>
          </a:xfrm>
          <a:prstGeom prst="rect">
            <a:avLst/>
          </a:prstGeom>
          <a:noFill/>
          <a:ln/>
        </p:spPr>
        <p:txBody>
          <a:bodyPr wrap="square" lIns="0" tIns="0" rIns="0" bIns="0" rtlCol="0" anchor="t"/>
          <a:lstStyle/>
          <a:p>
            <a:pPr indent="0" marL="0">
              <a:buNone/>
            </a:pPr>
            <a:r>
              <a:rPr lang="en-US" sz="950" dirty="0">
                <a:solidFill>
                  <a:srgbClr val="1E293B"/>
                </a:solidFill>
                <a:latin typeface="Calibri" pitchFamily="34" charset="0"/>
                <a:ea typeface="Calibri" pitchFamily="34" charset="-122"/>
                <a:cs typeface="Calibri" pitchFamily="34" charset="-120"/>
              </a:rPr>
              <a:t>AFTER What made Nathaniel Bowditch extraordinary was not just his mathematical genius, but his belief that complex navigation could be learned by any ordinary sailor willing to try.</a:t>
            </a:r>
            <a:endParaRPr lang="en-US" sz="950" dirty="0"/>
          </a:p>
        </p:txBody>
      </p:sp>
      <p:sp>
        <p:nvSpPr>
          <p:cNvPr id="12" name="Text 10"/>
          <p:cNvSpPr/>
          <p:nvPr/>
        </p:nvSpPr>
        <p:spPr>
          <a:xfrm>
            <a:off x="365760" y="3127248"/>
            <a:ext cx="8412480" cy="457200"/>
          </a:xfrm>
          <a:prstGeom prst="rect">
            <a:avLst/>
          </a:prstGeom>
          <a:noFill/>
          <a:ln/>
        </p:spPr>
        <p:txBody>
          <a:bodyPr wrap="square" lIns="0" tIns="0" rIns="0" bIns="0" rtlCol="0" anchor="ctr"/>
          <a:lstStyle/>
          <a:p>
            <a:pPr indent="0" marL="0">
              <a:buNone/>
            </a:pPr>
            <a:r>
              <a:rPr lang="en-US" sz="950" i="1" dirty="0">
                <a:solidFill>
                  <a:srgbClr val="64748B"/>
                </a:solidFill>
                <a:latin typeface="Calibri" pitchFamily="34" charset="0"/>
                <a:ea typeface="Calibri" pitchFamily="34" charset="-122"/>
                <a:cs typeface="Calibri" pitchFamily="34" charset="-120"/>
              </a:rPr>
              <a:t>Notice: Alex’s “before” is a fact, not a claim. It’s vague (“really good”) and doesn’t say anything arguable. The “after” makes a real argument — someone could disagree and need evidence to be convinced.</a:t>
            </a:r>
            <a:endParaRPr lang="en-US" sz="950" dirty="0"/>
          </a:p>
        </p:txBody>
      </p:sp>
      <p:sp>
        <p:nvSpPr>
          <p:cNvPr id="13" name="Text 11"/>
          <p:cNvSpPr/>
          <p:nvPr/>
        </p:nvSpPr>
        <p:spPr>
          <a:xfrm>
            <a:off x="365760" y="3639312"/>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TODAY’S TOOL: CLAIM STRENGTH TEST</a:t>
            </a:r>
            <a:endParaRPr lang="en-US" sz="1100" dirty="0"/>
          </a:p>
        </p:txBody>
      </p:sp>
      <p:sp>
        <p:nvSpPr>
          <p:cNvPr id="14" name="Shape 12"/>
          <p:cNvSpPr/>
          <p:nvPr/>
        </p:nvSpPr>
        <p:spPr>
          <a:xfrm>
            <a:off x="365760" y="3877056"/>
            <a:ext cx="8412480" cy="502920"/>
          </a:xfrm>
          <a:prstGeom prst="roundRect">
            <a:avLst>
              <a:gd name="adj" fmla="val 18182"/>
            </a:avLst>
          </a:prstGeom>
          <a:solidFill>
            <a:srgbClr val="F0E8FF"/>
          </a:solidFill>
          <a:ln/>
          <a:effectLst>
            <a:outerShdw sx="100000" sy="100000" kx="0" ky="0" algn="bl" rotWithShape="0" blurRad="101600" dist="38100" dir="2700000">
              <a:srgbClr val="000000">
                <a:alpha val="12000"/>
              </a:srgbClr>
            </a:outerShdw>
          </a:effectLst>
        </p:spPr>
      </p:sp>
      <p:sp>
        <p:nvSpPr>
          <p:cNvPr id="15" name="Text 13"/>
          <p:cNvSpPr/>
          <p:nvPr/>
        </p:nvSpPr>
        <p:spPr>
          <a:xfrm>
            <a:off x="548640" y="3922776"/>
            <a:ext cx="8046720" cy="411480"/>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A strong research claim passes three tests. Check yours against each one.</a:t>
            </a:r>
            <a:endParaRPr lang="en-US" sz="1050" dirty="0"/>
          </a:p>
        </p:txBody>
      </p:sp>
      <p:sp>
        <p:nvSpPr>
          <p:cNvPr id="16" name="Text 14"/>
          <p:cNvSpPr/>
          <p:nvPr/>
        </p:nvSpPr>
        <p:spPr>
          <a:xfrm>
            <a:off x="365760" y="4462272"/>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NOW YOU TRY</a:t>
            </a:r>
            <a:endParaRPr lang="en-US" sz="1100" dirty="0"/>
          </a:p>
        </p:txBody>
      </p:sp>
      <p:sp>
        <p:nvSpPr>
          <p:cNvPr id="17" name="Shape 15"/>
          <p:cNvSpPr/>
          <p:nvPr/>
        </p:nvSpPr>
        <p:spPr>
          <a:xfrm>
            <a:off x="365760" y="4681728"/>
            <a:ext cx="8412480" cy="384048"/>
          </a:xfrm>
          <a:prstGeom prst="roundRect">
            <a:avLst>
              <a:gd name="adj" fmla="val 23810"/>
            </a:avLst>
          </a:prstGeom>
          <a:solidFill>
            <a:srgbClr val="FEF6E8"/>
          </a:solidFill>
          <a:ln/>
          <a:effectLst>
            <a:outerShdw sx="100000" sy="100000" kx="0" ky="0" algn="bl" rotWithShape="0" blurRad="101600" dist="38100" dir="2700000">
              <a:srgbClr val="000000">
                <a:alpha val="12000"/>
              </a:srgbClr>
            </a:outerShdw>
          </a:effectLst>
        </p:spPr>
      </p:sp>
      <p:sp>
        <p:nvSpPr>
          <p:cNvPr id="18" name="Text 16"/>
          <p:cNvSpPr/>
          <p:nvPr/>
        </p:nvSpPr>
        <p:spPr>
          <a:xfrm>
            <a:off x="548640" y="4700016"/>
            <a:ext cx="8046720" cy="347472"/>
          </a:xfrm>
          <a:prstGeom prst="rect">
            <a:avLst/>
          </a:prstGeom>
          <a:noFill/>
          <a:ln/>
        </p:spPr>
        <p:txBody>
          <a:bodyPr wrap="square" lIns="0" tIns="0" rIns="0" bIns="0" rtlCol="0" anchor="ctr"/>
          <a:lstStyle/>
          <a:p>
            <a:pPr indent="0" marL="0">
              <a:buNone/>
            </a:pPr>
            <a:r>
              <a:rPr lang="en-US" sz="1000" dirty="0">
                <a:solidFill>
                  <a:srgbClr val="1E293B"/>
                </a:solidFill>
                <a:latin typeface="Calibri" pitchFamily="34" charset="0"/>
                <a:ea typeface="Calibri" pitchFamily="34" charset="-122"/>
                <a:cs typeface="Calibri" pitchFamily="34" charset="-120"/>
              </a:rPr>
              <a:t>Write your first attempt at a research claim. It doesn’t have to be perfect — just get your best idea on paper today.</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2026-07-13T16:49:15Z</dcterms:created>
  <dcterms:modified xsi:type="dcterms:W3CDTF">2026-07-13T16:49:15Z</dcterms:modified>
</cp:coreProperties>
</file>