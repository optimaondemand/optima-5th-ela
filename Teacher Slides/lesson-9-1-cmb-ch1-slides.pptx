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9.1: Chapter 1, "The Good-Luck Spell". Banner quote: “I’ll think of something. Sure, I will. I’ll think of something.” (— Nat Bowditch, Carry On, Mr. Bowditch,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Today’s Wonder When everything goes wrong and there’s nothing you can do, what does a person do? What does it tell you about someone when they refuse to stop trying?
Objectives:
- 📖 Reading: I will define what makes a biography literary nonfiction by noticing where Latham tells Nat’s real life like a story.
- ✏️ Grammar: I will define appositives and the commas that set them off.
- 🔠 Spelling: I will discover where the accent falls in long nautical words, and which quiet syllables are hard to spell.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 watched the wind chase clouds over the stars the rain began to fall
Corrected: Nat watched the wind chase clouds over the stars. The rain began to fall.
Compare with the model: both sentences need a capital letter at the start and a period at the end. “Nat” is a person’s name, so it gets a capital N — and “The rain” starts a new sentence, so it needs its own capital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 watched the wind chase clouds over the stars the rain began to fall
Corrected: Nat watched the wind chase clouds over the stars. The rain began to fall.
Compare with the model: both sentences need a capital letter at the start and a period at the end. “Nat” is a person’s name, so it gets a capital N — and “The rain” starts a new sentence, so it needs its own capital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once. After today the routine runs on its own when you choose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naut / nav and port — Ships, sailors, and carrying.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to its meaning. Letters are scrambled.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navigator = one who guides a ship’s route and position
nautical = relating to ships, sailors, and the sea
transport = to carry something across from one place to another
portable = able to be carried or moved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ator  2. naut  3. port  4.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Decode &amp; Discover — Maritime words for this week.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Decode &amp; Discover — Maritime words for this week.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cards. Have students say each word, then use it in a sentence about the chapter.
expectation: A sailor’s share of future earnings; what someone hopes to earn or gain. Nat buys “ten per cent” of Tom Perry’s expectations — meaning he gets 10% of whatever Tom makes.
chandlery: A store that sells supplies for ships — ropes, tools, food, barrels, and all the equipment a ship needs for a voyage. Nat will spend nine years working in one.
cooperage: The craft of making barrels; also the workshop where barrels are made. After losing his ship, Captain Bowditch becomes a cooper — a barrel-maker — to support his family.
indenture: A legal contract that binds a person to work for someone else for a set number of years — with no pay and no freedom to leave. Nat must serve Ropes &amp; Hodges for nine years, starting at age twelve.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to its meaning. Letters are scrambled.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privateer = a privately owned ship authorized to attack enemy vessels
expectation = a sailor’s hoped-for share of future earnings
chandlery = a store selling all the supplies a ship needs for a voyage
cooperage = a barrel-making craft or workshop
indenture = a nine-year contract with no pay and no freedom to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Appositives &amp; Descriptive Phrases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Nathaniel Bowditch, a boy of twelve, was already keeping accounts at a ship chandlery. — spot1
2. Salem, a busy seaport, smelled of tar and salt. — spot2
3. Dr. Bentley, the pastor of East Church, gave Nat a Latin grammar and dictionary. — spot3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Accent &amp; Schwa in Nautical Words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Accent &amp; Schwa in Nautical Words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Accent &amp; Schwa in Nautical Words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Accent on syllable 1: almanac, compass, latitude, mariner
Accent on syllable 3: calculation, navigation
Accent on syllable 2: equator, horizon, meridian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Research Claim: Write a research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Research Claim: Write a research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9  ·  DAY 1  ·  LESSON 9.1</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1 — The Good-Luck Spell</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“I’ll think of something. Sure, I will. I’ll think of something.”</a:t>
            </a:r>
            <a:pPr indent="0" marL="0">
              <a:buNone/>
            </a:pPr>
            <a:r>
              <a:rPr lang="en-US" sz="1600" dirty="0">
                <a:solidFill>
                  <a:srgbClr val="55C8E8"/>
                </a:solidFill>
                <a:latin typeface="Calibri" pitchFamily="34" charset="0"/>
                <a:ea typeface="Calibri" pitchFamily="34" charset="-122"/>
                <a:cs typeface="Calibri" pitchFamily="34" charset="-120"/>
              </a:rPr>
              <a:t>  — — Nat Bowditch, Carry On, Mr. Bowditch, Chapter 1</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OBJECTIVES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BIG QUESTION</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Today’s Wonder</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When everything goes wrong and there’s nothing you can do, what does a person do? What does it tell you about someone when they refuse to stop trying?</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what makes a biography literary nonfiction by noticing where Latham tells Nat’s real life like a story.</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appositives and the commas that set them off.</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discover where the accent falls in long nautical words, and which quiet syllables are hard to spell.</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SET YOUR READING LENS BEFORE YOU OPEN THE BOOK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Good readers of biography read two things at once: a life that really happened, and an author’s decisions about how to tell it. Nathaniel Bowditch was a real boy in Salem, and Jean Lee Latham tells his story with scenes, dialogue and suspense borrowed from fiction. As you read Chapter 1, notice the record and the storytelling both.</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Remember it happened: This was a real life. Ask what Latham could actually have known, and where she must be filling in.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Watch for story shape: A biography still uses scenes, dialogue and suspense. Notice where Latham writes like a novelist.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Separate record from craft: Ask which details are the historical record, and which are the author’s choices about how to tell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is Nat trying to do at the very start of the story? What goal does he have?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SET YOUR READING LENS BEFORE YOU OPEN THE BOOK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obstacle or setback gets in his way?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does Nat’s response to that obstacle reveal about his character?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b="1" u="sng" dirty="0">
                <a:solidFill>
                  <a:srgbClr val="1E8E52"/>
                </a:solidFill>
                <a:latin typeface="Calibri" pitchFamily="34" charset="0"/>
                <a:ea typeface="Calibri" pitchFamily="34" charset="-122"/>
                <a:cs typeface="Calibri" pitchFamily="34" charset="-120"/>
              </a:rPr>
              <a:t>He</a:t>
            </a:r>
            <a:pPr indent="0" marL="0">
              <a:buNone/>
            </a:pPr>
            <a:r>
              <a:rPr lang="en-US" sz="2600" dirty="0">
                <a:solidFill>
                  <a:srgbClr val="1E293B"/>
                </a:solidFill>
                <a:latin typeface="Calibri" pitchFamily="34" charset="0"/>
                <a:ea typeface="Calibri" pitchFamily="34" charset="-122"/>
                <a:cs typeface="Calibri" pitchFamily="34" charset="-120"/>
              </a:rPr>
              <a:t> stared out the window and watched the </a:t>
            </a:r>
            <a:pPr indent="0" marL="0">
              <a:buNone/>
            </a:pPr>
            <a:r>
              <a:rPr lang="en-US" sz="2600" b="1" u="sng" dirty="0">
                <a:solidFill>
                  <a:srgbClr val="1E8E52"/>
                </a:solidFill>
                <a:latin typeface="Calibri" pitchFamily="34" charset="0"/>
                <a:ea typeface="Calibri" pitchFamily="34" charset="-122"/>
                <a:cs typeface="Calibri" pitchFamily="34" charset="-120"/>
              </a:rPr>
              <a:t>April</a:t>
            </a:r>
            <a:pPr indent="0" marL="0">
              <a:buNone/>
            </a:pPr>
            <a:r>
              <a:rPr lang="en-US" sz="2600" dirty="0">
                <a:solidFill>
                  <a:srgbClr val="1E293B"/>
                </a:solidFill>
                <a:latin typeface="Calibri" pitchFamily="34" charset="0"/>
                <a:ea typeface="Calibri" pitchFamily="34" charset="-122"/>
                <a:cs typeface="Calibri" pitchFamily="34" charset="-120"/>
              </a:rPr>
              <a:t> breeze chase clouds across the </a:t>
            </a:r>
            <a:pPr indent="0" marL="0">
              <a:buNone/>
            </a:pPr>
            <a:r>
              <a:rPr lang="en-US" sz="2600" b="1" u="sng" dirty="0">
                <a:solidFill>
                  <a:srgbClr val="1E8E52"/>
                </a:solidFill>
                <a:latin typeface="Calibri" pitchFamily="34" charset="0"/>
                <a:ea typeface="Calibri" pitchFamily="34" charset="-122"/>
                <a:cs typeface="Calibri" pitchFamily="34" charset="-120"/>
              </a:rPr>
              <a:t>stars.</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He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"He" is the first word of the sentence, so it starts with a capital letter.</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April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"April" is a proper noun — the name of a specific month — so it always starts with a capital letter.</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stars.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A period ends the sentence. Every complete sentence needs end punctuation.</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nat watched the wind chase clouds over the stars the rain began to fall</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nat watched the wind chase clouds over the stars the rain began to fall</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Nat watched the wind chase clouds over the stars. The rain began to fall.</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700" i="1" dirty="0">
                <a:solidFill>
                  <a:srgbClr val="475569"/>
                </a:solidFill>
                <a:latin typeface="Calibri" pitchFamily="34" charset="0"/>
                <a:ea typeface="Calibri" pitchFamily="34" charset="-122"/>
                <a:cs typeface="Calibri" pitchFamily="34" charset="-120"/>
              </a:rPr>
              <a:t>Compare with the model: both sentences need a capital letter at the start and a period at the end. “Nat” is a person’s name, so it gets a capital N — and “The rain” starts a new sentence, so it needs its own capital 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OPTIONAL ROUTINE · USE IT ON ANY DAY YOU HAVE TIME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 How It Works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FFFFF"/>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The Quick Write is optional. Use it when it helps; skip it when the lesson needs the time.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1 minute — read the prompt.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5 minutes — write without stopping. Pick a side and defend it.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1 minute — make ONE revision decision.</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3 minutes — share, and listen for someone who disagrees.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5th grade, a quick write is not "what happened?" It is "which mattered most — and how do you know?"</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300" dirty="0">
                <a:solidFill>
                  <a:srgbClr val="1E293B"/>
                </a:solidFill>
                <a:latin typeface="Calibri" pitchFamily="34" charset="0"/>
                <a:ea typeface="Calibri" pitchFamily="34" charset="-122"/>
                <a:cs typeface="Calibri" pitchFamily="34" charset="-120"/>
              </a:rPr>
              <a:t>Nat's good-luck spell fails because of a storm he can't control, and he tells Lizza, "I'll think of something." Which tells you more about Nat: trying the spell in the first place, or promising to think of something after it fails? Defend your answer with evidence from Chapter 1.</a:t>
            </a:r>
            <a:endParaRPr lang="en-US" sz="23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Nat's good-luck spell fails because of a storm he can't control, and he tells Lizza, "I'll think of something." Which tells you more about Nat: trying the spell in the first place, or promising to think of something after it fails? Defend your answer with evidence from Chapter 1.</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SHIPS, SAILORS, AND CARRYING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Nat Bowditch’s whole world is built around ships, the sea, and the work of carrying goods across the ocean. Two powerful Latin and Greek roots run through almost every word he knows: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The roots and what they mean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naut / nav — from Latin and Greek words meaning ship or sailor. You’ll find these in words about ships, the sea, and navigating.</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port — from the Latin word portare, meaning to carry. You’ll find this in words about moving things from one place to another.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navigator → nav (ship) + the person who guides it → one who guides a ship’s route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nautical → naut (sailor) + -ical (relating to) → relating to ships and the sea</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transport → trans (across) + port (carry) → to carry something from one place to another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portable → port (carry) + -able (able to be) → able to be carried or moved easily</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SHIPS, SAILORS, AND CARRYING</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MATCH EACH WORD TO ITS MEANING</a:t>
            </a:r>
            <a:endParaRPr lang="en-US" sz="1300" dirty="0"/>
          </a:p>
        </p:txBody>
      </p:sp>
      <p:sp>
        <p:nvSpPr>
          <p:cNvPr id="9" name="Shape 7"/>
          <p:cNvSpPr/>
          <p:nvPr/>
        </p:nvSpPr>
        <p:spPr>
          <a:xfrm>
            <a:off x="502920" y="1965960"/>
            <a:ext cx="3291840" cy="982980"/>
          </a:xfrm>
          <a:prstGeom prst="roundRect">
            <a:avLst>
              <a:gd name="adj" fmla="val 7442"/>
            </a:avLst>
          </a:prstGeom>
          <a:solidFill>
            <a:srgbClr val="F0E8FF"/>
          </a:solidFill>
          <a:ln w="15875">
            <a:solidFill>
              <a:srgbClr val="D6C8F0"/>
            </a:solidFill>
            <a:prstDash val="solid"/>
          </a:ln>
        </p:spPr>
      </p:sp>
      <p:sp>
        <p:nvSpPr>
          <p:cNvPr id="10" name="Text 8"/>
          <p:cNvSpPr/>
          <p:nvPr/>
        </p:nvSpPr>
        <p:spPr>
          <a:xfrm>
            <a:off x="685800" y="196596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1. navigator</a:t>
            </a:r>
            <a:endParaRPr lang="en-US" sz="2200" dirty="0"/>
          </a:p>
        </p:txBody>
      </p:sp>
      <p:sp>
        <p:nvSpPr>
          <p:cNvPr id="11" name="Shape 9"/>
          <p:cNvSpPr/>
          <p:nvPr/>
        </p:nvSpPr>
        <p:spPr>
          <a:xfrm>
            <a:off x="4069080" y="1965960"/>
            <a:ext cx="7619695" cy="982980"/>
          </a:xfrm>
          <a:prstGeom prst="roundRect">
            <a:avLst>
              <a:gd name="adj" fmla="val 7442"/>
            </a:avLst>
          </a:prstGeom>
          <a:solidFill>
            <a:srgbClr val="F8FAFC"/>
          </a:solidFill>
          <a:ln w="15875">
            <a:solidFill>
              <a:srgbClr val="CBD5E1"/>
            </a:solidFill>
            <a:prstDash val="solid"/>
          </a:ln>
        </p:spPr>
      </p:sp>
      <p:sp>
        <p:nvSpPr>
          <p:cNvPr id="12" name="Text 10"/>
          <p:cNvSpPr/>
          <p:nvPr/>
        </p:nvSpPr>
        <p:spPr>
          <a:xfrm>
            <a:off x="4251960" y="196596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A. to carry something across from one place to another</a:t>
            </a:r>
            <a:endParaRPr lang="en-US" sz="1900" dirty="0"/>
          </a:p>
        </p:txBody>
      </p:sp>
      <p:sp>
        <p:nvSpPr>
          <p:cNvPr id="13" name="Shape 11"/>
          <p:cNvSpPr/>
          <p:nvPr/>
        </p:nvSpPr>
        <p:spPr>
          <a:xfrm>
            <a:off x="502920" y="3086100"/>
            <a:ext cx="3291840" cy="982980"/>
          </a:xfrm>
          <a:prstGeom prst="roundRect">
            <a:avLst>
              <a:gd name="adj" fmla="val 7442"/>
            </a:avLst>
          </a:prstGeom>
          <a:solidFill>
            <a:srgbClr val="F0E8FF"/>
          </a:solidFill>
          <a:ln w="15875">
            <a:solidFill>
              <a:srgbClr val="D6C8F0"/>
            </a:solidFill>
            <a:prstDash val="solid"/>
          </a:ln>
        </p:spPr>
      </p:sp>
      <p:sp>
        <p:nvSpPr>
          <p:cNvPr id="14" name="Text 12"/>
          <p:cNvSpPr/>
          <p:nvPr/>
        </p:nvSpPr>
        <p:spPr>
          <a:xfrm>
            <a:off x="685800" y="308610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2. nautical</a:t>
            </a:r>
            <a:endParaRPr lang="en-US" sz="2200" dirty="0"/>
          </a:p>
        </p:txBody>
      </p:sp>
      <p:sp>
        <p:nvSpPr>
          <p:cNvPr id="15" name="Shape 13"/>
          <p:cNvSpPr/>
          <p:nvPr/>
        </p:nvSpPr>
        <p:spPr>
          <a:xfrm>
            <a:off x="4069080" y="3086100"/>
            <a:ext cx="7619695" cy="982980"/>
          </a:xfrm>
          <a:prstGeom prst="roundRect">
            <a:avLst>
              <a:gd name="adj" fmla="val 7442"/>
            </a:avLst>
          </a:prstGeom>
          <a:solidFill>
            <a:srgbClr val="F8FAFC"/>
          </a:solidFill>
          <a:ln w="15875">
            <a:solidFill>
              <a:srgbClr val="CBD5E1"/>
            </a:solidFill>
            <a:prstDash val="solid"/>
          </a:ln>
        </p:spPr>
      </p:sp>
      <p:sp>
        <p:nvSpPr>
          <p:cNvPr id="16" name="Text 14"/>
          <p:cNvSpPr/>
          <p:nvPr/>
        </p:nvSpPr>
        <p:spPr>
          <a:xfrm>
            <a:off x="4251960" y="308610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B. able to be carried or moved easily</a:t>
            </a:r>
            <a:endParaRPr lang="en-US" sz="1900" dirty="0"/>
          </a:p>
        </p:txBody>
      </p:sp>
      <p:sp>
        <p:nvSpPr>
          <p:cNvPr id="17" name="Shape 15"/>
          <p:cNvSpPr/>
          <p:nvPr/>
        </p:nvSpPr>
        <p:spPr>
          <a:xfrm>
            <a:off x="502920" y="4206240"/>
            <a:ext cx="3291840" cy="982980"/>
          </a:xfrm>
          <a:prstGeom prst="roundRect">
            <a:avLst>
              <a:gd name="adj" fmla="val 7442"/>
            </a:avLst>
          </a:prstGeom>
          <a:solidFill>
            <a:srgbClr val="F0E8FF"/>
          </a:solidFill>
          <a:ln w="15875">
            <a:solidFill>
              <a:srgbClr val="D6C8F0"/>
            </a:solidFill>
            <a:prstDash val="solid"/>
          </a:ln>
        </p:spPr>
      </p:sp>
      <p:sp>
        <p:nvSpPr>
          <p:cNvPr id="18" name="Text 16"/>
          <p:cNvSpPr/>
          <p:nvPr/>
        </p:nvSpPr>
        <p:spPr>
          <a:xfrm>
            <a:off x="685800" y="420624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3. transport</a:t>
            </a:r>
            <a:endParaRPr lang="en-US" sz="2200" dirty="0"/>
          </a:p>
        </p:txBody>
      </p:sp>
      <p:sp>
        <p:nvSpPr>
          <p:cNvPr id="19" name="Shape 17"/>
          <p:cNvSpPr/>
          <p:nvPr/>
        </p:nvSpPr>
        <p:spPr>
          <a:xfrm>
            <a:off x="4069080" y="4206240"/>
            <a:ext cx="7619695" cy="982980"/>
          </a:xfrm>
          <a:prstGeom prst="roundRect">
            <a:avLst>
              <a:gd name="adj" fmla="val 7442"/>
            </a:avLst>
          </a:prstGeom>
          <a:solidFill>
            <a:srgbClr val="F8FAFC"/>
          </a:solidFill>
          <a:ln w="15875">
            <a:solidFill>
              <a:srgbClr val="CBD5E1"/>
            </a:solidFill>
            <a:prstDash val="solid"/>
          </a:ln>
        </p:spPr>
      </p:sp>
      <p:sp>
        <p:nvSpPr>
          <p:cNvPr id="20" name="Text 18"/>
          <p:cNvSpPr/>
          <p:nvPr/>
        </p:nvSpPr>
        <p:spPr>
          <a:xfrm>
            <a:off x="4251960" y="420624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C. one who guides a ship’s route and position</a:t>
            </a:r>
            <a:endParaRPr lang="en-US" sz="1900" dirty="0"/>
          </a:p>
        </p:txBody>
      </p:sp>
      <p:sp>
        <p:nvSpPr>
          <p:cNvPr id="21" name="Shape 19"/>
          <p:cNvSpPr/>
          <p:nvPr/>
        </p:nvSpPr>
        <p:spPr>
          <a:xfrm>
            <a:off x="502920" y="5326380"/>
            <a:ext cx="3291840" cy="982980"/>
          </a:xfrm>
          <a:prstGeom prst="roundRect">
            <a:avLst>
              <a:gd name="adj" fmla="val 7442"/>
            </a:avLst>
          </a:prstGeom>
          <a:solidFill>
            <a:srgbClr val="F0E8FF"/>
          </a:solidFill>
          <a:ln w="15875">
            <a:solidFill>
              <a:srgbClr val="D6C8F0"/>
            </a:solidFill>
            <a:prstDash val="solid"/>
          </a:ln>
        </p:spPr>
      </p:sp>
      <p:sp>
        <p:nvSpPr>
          <p:cNvPr id="22" name="Text 20"/>
          <p:cNvSpPr/>
          <p:nvPr/>
        </p:nvSpPr>
        <p:spPr>
          <a:xfrm>
            <a:off x="685800" y="532638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4. portable</a:t>
            </a:r>
            <a:endParaRPr lang="en-US" sz="2200" dirty="0"/>
          </a:p>
        </p:txBody>
      </p:sp>
      <p:sp>
        <p:nvSpPr>
          <p:cNvPr id="23" name="Shape 21"/>
          <p:cNvSpPr/>
          <p:nvPr/>
        </p:nvSpPr>
        <p:spPr>
          <a:xfrm>
            <a:off x="4069080" y="5326380"/>
            <a:ext cx="7619695" cy="982980"/>
          </a:xfrm>
          <a:prstGeom prst="roundRect">
            <a:avLst>
              <a:gd name="adj" fmla="val 7442"/>
            </a:avLst>
          </a:prstGeom>
          <a:solidFill>
            <a:srgbClr val="F8FAFC"/>
          </a:solidFill>
          <a:ln w="15875">
            <a:solidFill>
              <a:srgbClr val="CBD5E1"/>
            </a:solidFill>
            <a:prstDash val="solid"/>
          </a:ln>
        </p:spPr>
      </p:sp>
      <p:sp>
        <p:nvSpPr>
          <p:cNvPr id="24" name="Text 22"/>
          <p:cNvSpPr/>
          <p:nvPr/>
        </p:nvSpPr>
        <p:spPr>
          <a:xfrm>
            <a:off x="4251960" y="532638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D. relating to ships, sailors, and the sea</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SHIPS, SAILORS, AND CARRYING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MATCHED</a:t>
            </a:r>
            <a:endParaRPr lang="en-US" sz="1300" dirty="0"/>
          </a:p>
        </p:txBody>
      </p:sp>
      <p:sp>
        <p:nvSpPr>
          <p:cNvPr id="9" name="Shape 7"/>
          <p:cNvSpPr/>
          <p:nvPr/>
        </p:nvSpPr>
        <p:spPr>
          <a:xfrm>
            <a:off x="502920" y="1965960"/>
            <a:ext cx="11185855" cy="982980"/>
          </a:xfrm>
          <a:prstGeom prst="roundRect">
            <a:avLst>
              <a:gd name="adj" fmla="val 7442"/>
            </a:avLst>
          </a:prstGeom>
          <a:solidFill>
            <a:srgbClr val="E8F8EF"/>
          </a:solidFill>
          <a:ln w="15875">
            <a:solidFill>
              <a:srgbClr val="9ED9B5"/>
            </a:solidFill>
            <a:prstDash val="solid"/>
          </a:ln>
        </p:spPr>
      </p:sp>
      <p:sp>
        <p:nvSpPr>
          <p:cNvPr id="10" name="Text 8"/>
          <p:cNvSpPr/>
          <p:nvPr/>
        </p:nvSpPr>
        <p:spPr>
          <a:xfrm>
            <a:off x="731520" y="196596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navigator  =  </a:t>
            </a:r>
            <a:pPr indent="0" marL="0">
              <a:buNone/>
            </a:pPr>
            <a:r>
              <a:rPr lang="en-US" sz="2000" dirty="0">
                <a:solidFill>
                  <a:srgbClr val="1E293B"/>
                </a:solidFill>
                <a:latin typeface="Calibri" pitchFamily="34" charset="0"/>
                <a:ea typeface="Calibri" pitchFamily="34" charset="-122"/>
                <a:cs typeface="Calibri" pitchFamily="34" charset="-120"/>
              </a:rPr>
              <a:t>one who guides a ship’s route and position</a:t>
            </a:r>
            <a:endParaRPr lang="en-US" sz="2200" dirty="0"/>
          </a:p>
        </p:txBody>
      </p:sp>
      <p:sp>
        <p:nvSpPr>
          <p:cNvPr id="11" name="Shape 9"/>
          <p:cNvSpPr/>
          <p:nvPr/>
        </p:nvSpPr>
        <p:spPr>
          <a:xfrm>
            <a:off x="502920" y="3086100"/>
            <a:ext cx="11185855" cy="982980"/>
          </a:xfrm>
          <a:prstGeom prst="roundRect">
            <a:avLst>
              <a:gd name="adj" fmla="val 7442"/>
            </a:avLst>
          </a:prstGeom>
          <a:solidFill>
            <a:srgbClr val="E8F8EF"/>
          </a:solidFill>
          <a:ln w="15875">
            <a:solidFill>
              <a:srgbClr val="9ED9B5"/>
            </a:solidFill>
            <a:prstDash val="solid"/>
          </a:ln>
        </p:spPr>
      </p:sp>
      <p:sp>
        <p:nvSpPr>
          <p:cNvPr id="12" name="Text 10"/>
          <p:cNvSpPr/>
          <p:nvPr/>
        </p:nvSpPr>
        <p:spPr>
          <a:xfrm>
            <a:off x="731520" y="308610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nautical  =  </a:t>
            </a:r>
            <a:pPr indent="0" marL="0">
              <a:buNone/>
            </a:pPr>
            <a:r>
              <a:rPr lang="en-US" sz="2000" dirty="0">
                <a:solidFill>
                  <a:srgbClr val="1E293B"/>
                </a:solidFill>
                <a:latin typeface="Calibri" pitchFamily="34" charset="0"/>
                <a:ea typeface="Calibri" pitchFamily="34" charset="-122"/>
                <a:cs typeface="Calibri" pitchFamily="34" charset="-120"/>
              </a:rPr>
              <a:t>relating to ships, sailors, and the sea</a:t>
            </a:r>
            <a:endParaRPr lang="en-US" sz="2200" dirty="0"/>
          </a:p>
        </p:txBody>
      </p:sp>
      <p:sp>
        <p:nvSpPr>
          <p:cNvPr id="13" name="Shape 11"/>
          <p:cNvSpPr/>
          <p:nvPr/>
        </p:nvSpPr>
        <p:spPr>
          <a:xfrm>
            <a:off x="502920" y="4206240"/>
            <a:ext cx="11185855" cy="982980"/>
          </a:xfrm>
          <a:prstGeom prst="roundRect">
            <a:avLst>
              <a:gd name="adj" fmla="val 7442"/>
            </a:avLst>
          </a:prstGeom>
          <a:solidFill>
            <a:srgbClr val="E8F8EF"/>
          </a:solidFill>
          <a:ln w="15875">
            <a:solidFill>
              <a:srgbClr val="9ED9B5"/>
            </a:solidFill>
            <a:prstDash val="solid"/>
          </a:ln>
        </p:spPr>
      </p:sp>
      <p:sp>
        <p:nvSpPr>
          <p:cNvPr id="14" name="Text 12"/>
          <p:cNvSpPr/>
          <p:nvPr/>
        </p:nvSpPr>
        <p:spPr>
          <a:xfrm>
            <a:off x="731520" y="420624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transport  =  </a:t>
            </a:r>
            <a:pPr indent="0" marL="0">
              <a:buNone/>
            </a:pPr>
            <a:r>
              <a:rPr lang="en-US" sz="2000" dirty="0">
                <a:solidFill>
                  <a:srgbClr val="1E293B"/>
                </a:solidFill>
                <a:latin typeface="Calibri" pitchFamily="34" charset="0"/>
                <a:ea typeface="Calibri" pitchFamily="34" charset="-122"/>
                <a:cs typeface="Calibri" pitchFamily="34" charset="-120"/>
              </a:rPr>
              <a:t>to carry something across from one place to another</a:t>
            </a:r>
            <a:endParaRPr lang="en-US" sz="2200" dirty="0"/>
          </a:p>
        </p:txBody>
      </p:sp>
      <p:sp>
        <p:nvSpPr>
          <p:cNvPr id="15" name="Shape 13"/>
          <p:cNvSpPr/>
          <p:nvPr/>
        </p:nvSpPr>
        <p:spPr>
          <a:xfrm>
            <a:off x="502920" y="5326380"/>
            <a:ext cx="11185855" cy="982980"/>
          </a:xfrm>
          <a:prstGeom prst="roundRect">
            <a:avLst>
              <a:gd name="adj" fmla="val 7442"/>
            </a:avLst>
          </a:prstGeom>
          <a:solidFill>
            <a:srgbClr val="E8F8EF"/>
          </a:solidFill>
          <a:ln w="15875">
            <a:solidFill>
              <a:srgbClr val="9ED9B5"/>
            </a:solidFill>
            <a:prstDash val="solid"/>
          </a:ln>
        </p:spPr>
      </p:sp>
      <p:sp>
        <p:nvSpPr>
          <p:cNvPr id="16" name="Text 14"/>
          <p:cNvSpPr/>
          <p:nvPr/>
        </p:nvSpPr>
        <p:spPr>
          <a:xfrm>
            <a:off x="731520" y="532638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portable  =  </a:t>
            </a:r>
            <a:pPr indent="0" marL="0">
              <a:buNone/>
            </a:pPr>
            <a:r>
              <a:rPr lang="en-US" sz="2000" dirty="0">
                <a:solidFill>
                  <a:srgbClr val="1E293B"/>
                </a:solidFill>
                <a:latin typeface="Calibri" pitchFamily="34" charset="0"/>
                <a:ea typeface="Calibri" pitchFamily="34" charset="-122"/>
                <a:cs typeface="Calibri" pitchFamily="34" charset="-120"/>
              </a:rPr>
              <a:t>able to be carried or moved easily</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SHIPS, SAILORS, AND CARRYING</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F8FAFC"/>
          </a:solidFill>
          <a:ln w="15875">
            <a:solidFill>
              <a:srgbClr val="CBD5E1"/>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navig</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 one who guides a ship’s course</a:t>
            </a:r>
            <a:endParaRPr lang="en-US" sz="2200" dirty="0"/>
          </a:p>
        </p:txBody>
      </p:sp>
      <p:sp>
        <p:nvSpPr>
          <p:cNvPr id="10" name="Shape 8"/>
          <p:cNvSpPr/>
          <p:nvPr/>
        </p:nvSpPr>
        <p:spPr>
          <a:xfrm>
            <a:off x="502920" y="2777490"/>
            <a:ext cx="11185855" cy="1085850"/>
          </a:xfrm>
          <a:prstGeom prst="roundRect">
            <a:avLst>
              <a:gd name="adj" fmla="val 6737"/>
            </a:avLst>
          </a:prstGeom>
          <a:solidFill>
            <a:srgbClr val="F8FAFC"/>
          </a:solidFill>
          <a:ln w="15875">
            <a:solidFill>
              <a:srgbClr val="CBD5E1"/>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ical — relating to ships and the sea</a:t>
            </a:r>
            <a:endParaRPr lang="en-US" sz="2200" dirty="0"/>
          </a:p>
        </p:txBody>
      </p:sp>
      <p:sp>
        <p:nvSpPr>
          <p:cNvPr id="12" name="Shape 10"/>
          <p:cNvSpPr/>
          <p:nvPr/>
        </p:nvSpPr>
        <p:spPr>
          <a:xfrm>
            <a:off x="502920" y="4000500"/>
            <a:ext cx="11185855" cy="1085850"/>
          </a:xfrm>
          <a:prstGeom prst="roundRect">
            <a:avLst>
              <a:gd name="adj" fmla="val 6737"/>
            </a:avLst>
          </a:prstGeom>
          <a:solidFill>
            <a:srgbClr val="F8FAFC"/>
          </a:solidFill>
          <a:ln w="15875">
            <a:solidFill>
              <a:srgbClr val="CBD5E1"/>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im</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 to bring goods into a country (carry them in)</a:t>
            </a:r>
            <a:endParaRPr lang="en-US" sz="2200" dirty="0"/>
          </a:p>
        </p:txBody>
      </p:sp>
      <p:sp>
        <p:nvSpPr>
          <p:cNvPr id="14" name="Shape 12"/>
          <p:cNvSpPr/>
          <p:nvPr/>
        </p:nvSpPr>
        <p:spPr>
          <a:xfrm>
            <a:off x="502920" y="5223510"/>
            <a:ext cx="11185855" cy="1085850"/>
          </a:xfrm>
          <a:prstGeom prst="roundRect">
            <a:avLst>
              <a:gd name="adj" fmla="val 6737"/>
            </a:avLst>
          </a:prstGeom>
          <a:solidFill>
            <a:srgbClr val="F8FAFC"/>
          </a:solidFill>
          <a:ln w="15875">
            <a:solidFill>
              <a:srgbClr val="CBD5E1"/>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trans</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 to carry something from one place to another</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SHIPS, SAILORS, AND CARRYING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E8F8EF"/>
          </a:solidFill>
          <a:ln w="15875">
            <a:solidFill>
              <a:srgbClr val="9ED9B5"/>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navig</a:t>
            </a:r>
            <a:pPr indent="0" marL="0">
              <a:buNone/>
            </a:pPr>
            <a:r>
              <a:rPr lang="en-US" sz="2200" b="1" dirty="0">
                <a:solidFill>
                  <a:srgbClr val="1E8E52"/>
                </a:solidFill>
                <a:latin typeface="Calibri" pitchFamily="34" charset="0"/>
                <a:ea typeface="Calibri" pitchFamily="34" charset="-122"/>
                <a:cs typeface="Calibri" pitchFamily="34" charset="-120"/>
              </a:rPr>
              <a:t>ator</a:t>
            </a:r>
            <a:pPr indent="0" marL="0">
              <a:buNone/>
            </a:pPr>
            <a:r>
              <a:rPr lang="en-US" sz="2200" dirty="0">
                <a:solidFill>
                  <a:srgbClr val="1E293B"/>
                </a:solidFill>
                <a:latin typeface="Calibri" pitchFamily="34" charset="0"/>
                <a:ea typeface="Calibri" pitchFamily="34" charset="-122"/>
                <a:cs typeface="Calibri" pitchFamily="34" charset="-120"/>
              </a:rPr>
              <a:t> — one who guides a ship’s course</a:t>
            </a:r>
            <a:endParaRPr lang="en-US" sz="2200" dirty="0"/>
          </a:p>
        </p:txBody>
      </p:sp>
      <p:sp>
        <p:nvSpPr>
          <p:cNvPr id="10" name="Shape 8"/>
          <p:cNvSpPr/>
          <p:nvPr/>
        </p:nvSpPr>
        <p:spPr>
          <a:xfrm>
            <a:off x="502920" y="2777490"/>
            <a:ext cx="11185855" cy="1085850"/>
          </a:xfrm>
          <a:prstGeom prst="roundRect">
            <a:avLst>
              <a:gd name="adj" fmla="val 6737"/>
            </a:avLst>
          </a:prstGeom>
          <a:solidFill>
            <a:srgbClr val="E8F8EF"/>
          </a:solidFill>
          <a:ln w="15875">
            <a:solidFill>
              <a:srgbClr val="9ED9B5"/>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pPr indent="0" marL="0">
              <a:buNone/>
            </a:pPr>
            <a:r>
              <a:rPr lang="en-US" sz="2200" b="1" dirty="0">
                <a:solidFill>
                  <a:srgbClr val="1E8E52"/>
                </a:solidFill>
                <a:latin typeface="Calibri" pitchFamily="34" charset="0"/>
                <a:ea typeface="Calibri" pitchFamily="34" charset="-122"/>
                <a:cs typeface="Calibri" pitchFamily="34" charset="-120"/>
              </a:rPr>
              <a:t>naut</a:t>
            </a:r>
            <a:pPr indent="0" marL="0">
              <a:buNone/>
            </a:pPr>
            <a:r>
              <a:rPr lang="en-US" sz="2200" dirty="0">
                <a:solidFill>
                  <a:srgbClr val="1E293B"/>
                </a:solidFill>
                <a:latin typeface="Calibri" pitchFamily="34" charset="0"/>
                <a:ea typeface="Calibri" pitchFamily="34" charset="-122"/>
                <a:cs typeface="Calibri" pitchFamily="34" charset="-120"/>
              </a:rPr>
              <a:t>ical — relating to ships and the sea</a:t>
            </a:r>
            <a:endParaRPr lang="en-US" sz="2200" dirty="0"/>
          </a:p>
        </p:txBody>
      </p:sp>
      <p:sp>
        <p:nvSpPr>
          <p:cNvPr id="12" name="Shape 10"/>
          <p:cNvSpPr/>
          <p:nvPr/>
        </p:nvSpPr>
        <p:spPr>
          <a:xfrm>
            <a:off x="502920" y="4000500"/>
            <a:ext cx="11185855" cy="1085850"/>
          </a:xfrm>
          <a:prstGeom prst="roundRect">
            <a:avLst>
              <a:gd name="adj" fmla="val 6737"/>
            </a:avLst>
          </a:prstGeom>
          <a:solidFill>
            <a:srgbClr val="E8F8EF"/>
          </a:solidFill>
          <a:ln w="15875">
            <a:solidFill>
              <a:srgbClr val="9ED9B5"/>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im</a:t>
            </a:r>
            <a:pPr indent="0" marL="0">
              <a:buNone/>
            </a:pPr>
            <a:r>
              <a:rPr lang="en-US" sz="2200" b="1" dirty="0">
                <a:solidFill>
                  <a:srgbClr val="1E8E52"/>
                </a:solidFill>
                <a:latin typeface="Calibri" pitchFamily="34" charset="0"/>
                <a:ea typeface="Calibri" pitchFamily="34" charset="-122"/>
                <a:cs typeface="Calibri" pitchFamily="34" charset="-120"/>
              </a:rPr>
              <a:t>port</a:t>
            </a:r>
            <a:pPr indent="0" marL="0">
              <a:buNone/>
            </a:pPr>
            <a:r>
              <a:rPr lang="en-US" sz="2200" dirty="0">
                <a:solidFill>
                  <a:srgbClr val="1E293B"/>
                </a:solidFill>
                <a:latin typeface="Calibri" pitchFamily="34" charset="0"/>
                <a:ea typeface="Calibri" pitchFamily="34" charset="-122"/>
                <a:cs typeface="Calibri" pitchFamily="34" charset="-120"/>
              </a:rPr>
              <a:t> — to bring goods into a country (carry them in)</a:t>
            </a:r>
            <a:endParaRPr lang="en-US" sz="2200" dirty="0"/>
          </a:p>
        </p:txBody>
      </p:sp>
      <p:sp>
        <p:nvSpPr>
          <p:cNvPr id="14" name="Shape 12"/>
          <p:cNvSpPr/>
          <p:nvPr/>
        </p:nvSpPr>
        <p:spPr>
          <a:xfrm>
            <a:off x="502920" y="5223510"/>
            <a:ext cx="11185855" cy="1085850"/>
          </a:xfrm>
          <a:prstGeom prst="roundRect">
            <a:avLst>
              <a:gd name="adj" fmla="val 6737"/>
            </a:avLst>
          </a:prstGeom>
          <a:solidFill>
            <a:srgbClr val="E8F8EF"/>
          </a:solidFill>
          <a:ln w="15875">
            <a:solidFill>
              <a:srgbClr val="9ED9B5"/>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trans</a:t>
            </a:r>
            <a:pPr indent="0" marL="0">
              <a:buNone/>
            </a:pPr>
            <a:r>
              <a:rPr lang="en-US" sz="2200" b="1" dirty="0">
                <a:solidFill>
                  <a:srgbClr val="1E8E52"/>
                </a:solidFill>
                <a:latin typeface="Calibri" pitchFamily="34" charset="0"/>
                <a:ea typeface="Calibri" pitchFamily="34" charset="-122"/>
                <a:cs typeface="Calibri" pitchFamily="34" charset="-120"/>
              </a:rPr>
              <a:t>port</a:t>
            </a:r>
            <a:pPr indent="0" marL="0">
              <a:buNone/>
            </a:pPr>
            <a:r>
              <a:rPr lang="en-US" sz="2200" dirty="0">
                <a:solidFill>
                  <a:srgbClr val="1E293B"/>
                </a:solidFill>
                <a:latin typeface="Calibri" pitchFamily="34" charset="0"/>
                <a:ea typeface="Calibri" pitchFamily="34" charset="-122"/>
                <a:cs typeface="Calibri" pitchFamily="34" charset="-120"/>
              </a:rPr>
              <a:t> — to carry something from one place to another</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Morphology</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Choose one word from today’s lesson — navigator, nautical, transport, or portable. Explain what the root tells you about its meaning. Then write a sentence using that word to describe something from Nat’s world in Chapter 1.</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Name the word you chose. Explain how knowing the root (naut, nav, or port) helps you understand it. Use the word in a sentence about Salem harbor, ships, or Nat’s family.</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MARITIME WORDS FOR THIS WEEK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Carry On, Mr. Bowditch is full of maritime and historical vocabulary — words connected to ships, the sea, and life in 1780s Salem. When you hit an unfamiliar word this week, use this three-step strategy to figure it out before checking a dictionary.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3-Step Decode: privateer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Step 1 — Context: “Father grinned. ‘They’re drumming up a crew for another privateer!’” Father says they’re finding a crew — the people who work a ship. A privateer needs a crew, so it must be some kind of ship.</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Step 2 — Word Parts: The base word is private, and the suffix -eer often names someone who does something (musket–eer, pioneer). So a “private-eer” is a ship that operates privately — not as part of the official navy.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Step 3 — Confirm: A privateer is a privately owned ship that the government authorizes to attack and capture enemy ships during wartime. The crew keeps some of what they capture.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MARITIME WORDS FOR THIS WEEK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Now try the remaining words on your own. Read the sentence from the novel. What do you think it means? Then tap the card to confirm.</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MARITIME WORDS FOR THIS WEEK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5501488" cy="2354580"/>
          </a:xfrm>
          <a:prstGeom prst="roundRect">
            <a:avLst>
              <a:gd name="adj" fmla="val 3107"/>
            </a:avLst>
          </a:prstGeom>
          <a:solidFill>
            <a:srgbClr val="E5F7FC"/>
          </a:solidFill>
          <a:ln w="15875">
            <a:solidFill>
              <a:srgbClr val="A6DDEE"/>
            </a:solidFill>
            <a:prstDash val="solid"/>
          </a:ln>
        </p:spPr>
      </p:sp>
      <p:sp>
        <p:nvSpPr>
          <p:cNvPr id="7" name="Text 5"/>
          <p:cNvSpPr/>
          <p:nvPr/>
        </p:nvSpPr>
        <p:spPr>
          <a:xfrm>
            <a:off x="685800" y="1627632"/>
            <a:ext cx="513572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expectation</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A sailor’s share of future earnings; what someone hopes to earn or gain. Nat buys “ten per cent” of Tom Perry’s expectations — meaning he gets 10% of whatever Tom makes.</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“An expectation is the money a sailor expects to make on the voyage of a privateer.” — Ch. 2</a:t>
            </a:r>
            <a:endParaRPr lang="en-US" sz="2400" dirty="0"/>
          </a:p>
        </p:txBody>
      </p:sp>
      <p:sp>
        <p:nvSpPr>
          <p:cNvPr id="8" name="Shape 6"/>
          <p:cNvSpPr/>
          <p:nvPr/>
        </p:nvSpPr>
        <p:spPr>
          <a:xfrm>
            <a:off x="6187288" y="1554480"/>
            <a:ext cx="5501488" cy="2354580"/>
          </a:xfrm>
          <a:prstGeom prst="roundRect">
            <a:avLst>
              <a:gd name="adj" fmla="val 3107"/>
            </a:avLst>
          </a:prstGeom>
          <a:solidFill>
            <a:srgbClr val="E5F7FC"/>
          </a:solidFill>
          <a:ln w="15875">
            <a:solidFill>
              <a:srgbClr val="A6DDEE"/>
            </a:solidFill>
            <a:prstDash val="solid"/>
          </a:ln>
        </p:spPr>
      </p:sp>
      <p:sp>
        <p:nvSpPr>
          <p:cNvPr id="9" name="Text 7"/>
          <p:cNvSpPr/>
          <p:nvPr/>
        </p:nvSpPr>
        <p:spPr>
          <a:xfrm>
            <a:off x="6370168" y="1627632"/>
            <a:ext cx="513572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chandlery</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A store that sells supplies for ships — ropes, tools, food, barrels, and all the equipment a ship needs for a voyage. Nat will spend nine years working in one.</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“The chandlery was crammed with everything for ships — everything from barrels of salt beef to cables and marlinespikes.” — Ch. 5</a:t>
            </a:r>
            <a:endParaRPr lang="en-US" sz="2400" dirty="0"/>
          </a:p>
        </p:txBody>
      </p:sp>
      <p:sp>
        <p:nvSpPr>
          <p:cNvPr id="10" name="Shape 8"/>
          <p:cNvSpPr/>
          <p:nvPr/>
        </p:nvSpPr>
        <p:spPr>
          <a:xfrm>
            <a:off x="502920" y="4091940"/>
            <a:ext cx="5501488" cy="2354580"/>
          </a:xfrm>
          <a:prstGeom prst="roundRect">
            <a:avLst>
              <a:gd name="adj" fmla="val 3107"/>
            </a:avLst>
          </a:prstGeom>
          <a:solidFill>
            <a:srgbClr val="E5F7FC"/>
          </a:solidFill>
          <a:ln w="15875">
            <a:solidFill>
              <a:srgbClr val="A6DDEE"/>
            </a:solidFill>
            <a:prstDash val="solid"/>
          </a:ln>
        </p:spPr>
      </p:sp>
      <p:sp>
        <p:nvSpPr>
          <p:cNvPr id="11" name="Text 9"/>
          <p:cNvSpPr/>
          <p:nvPr/>
        </p:nvSpPr>
        <p:spPr>
          <a:xfrm>
            <a:off x="685800" y="4165092"/>
            <a:ext cx="513572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cooperage</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The craft of making barrels; also the workshop where barrels are made. After losing his ship, Captain Bowditch becomes a cooper — a barrel-maker — to support his family.</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“Better to be a lucky cooper than an unlucky sailor?” “Yes, sir, Father! Lots better to be a cooper. Uh — what’s a cooper?” Father chuckled. “He makes barrels.” — Ch. 2</a:t>
            </a:r>
            <a:endParaRPr lang="en-US" sz="2400" dirty="0"/>
          </a:p>
        </p:txBody>
      </p:sp>
      <p:sp>
        <p:nvSpPr>
          <p:cNvPr id="12" name="Shape 10"/>
          <p:cNvSpPr/>
          <p:nvPr/>
        </p:nvSpPr>
        <p:spPr>
          <a:xfrm>
            <a:off x="6187288" y="4091940"/>
            <a:ext cx="5501488" cy="2354580"/>
          </a:xfrm>
          <a:prstGeom prst="roundRect">
            <a:avLst>
              <a:gd name="adj" fmla="val 3107"/>
            </a:avLst>
          </a:prstGeom>
          <a:solidFill>
            <a:srgbClr val="E5F7FC"/>
          </a:solidFill>
          <a:ln w="15875">
            <a:solidFill>
              <a:srgbClr val="A6DDEE"/>
            </a:solidFill>
            <a:prstDash val="solid"/>
          </a:ln>
        </p:spPr>
      </p:sp>
      <p:sp>
        <p:nvSpPr>
          <p:cNvPr id="13" name="Text 11"/>
          <p:cNvSpPr/>
          <p:nvPr/>
        </p:nvSpPr>
        <p:spPr>
          <a:xfrm>
            <a:off x="6370168" y="4165092"/>
            <a:ext cx="513572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indenture</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A legal contract that binds a person to work for someone else for a set number of years — with no pay and no freedom to leave. Nat must serve Ropes &amp; Hodges for nine years, starting at age twelve.</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“This indenture witnesseth that Nathaniel Bowditch hath put himself… apprentice to Ropes and Hodges… for and during a term of NINE YEARS.” — Ch. 5</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MARITIME WORDS FOR THIS WEEK</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MATCH EACH WORD TO ITS MEANING</a:t>
            </a:r>
            <a:endParaRPr lang="en-US" sz="1300" dirty="0"/>
          </a:p>
        </p:txBody>
      </p:sp>
      <p:sp>
        <p:nvSpPr>
          <p:cNvPr id="9" name="Shape 7"/>
          <p:cNvSpPr/>
          <p:nvPr/>
        </p:nvSpPr>
        <p:spPr>
          <a:xfrm>
            <a:off x="502920" y="1965960"/>
            <a:ext cx="3291840" cy="758952"/>
          </a:xfrm>
          <a:prstGeom prst="roundRect">
            <a:avLst>
              <a:gd name="adj" fmla="val 9639"/>
            </a:avLst>
          </a:prstGeom>
          <a:solidFill>
            <a:srgbClr val="F0E8FF"/>
          </a:solidFill>
          <a:ln w="15875">
            <a:solidFill>
              <a:srgbClr val="D6C8F0"/>
            </a:solidFill>
            <a:prstDash val="solid"/>
          </a:ln>
        </p:spPr>
      </p:sp>
      <p:sp>
        <p:nvSpPr>
          <p:cNvPr id="10" name="Text 8"/>
          <p:cNvSpPr/>
          <p:nvPr/>
        </p:nvSpPr>
        <p:spPr>
          <a:xfrm>
            <a:off x="685800" y="1965960"/>
            <a:ext cx="3017520" cy="758952"/>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1. privateer</a:t>
            </a:r>
            <a:endParaRPr lang="en-US" sz="2200" dirty="0"/>
          </a:p>
        </p:txBody>
      </p:sp>
      <p:sp>
        <p:nvSpPr>
          <p:cNvPr id="11" name="Shape 9"/>
          <p:cNvSpPr/>
          <p:nvPr/>
        </p:nvSpPr>
        <p:spPr>
          <a:xfrm>
            <a:off x="4069080" y="1965960"/>
            <a:ext cx="7619695" cy="758952"/>
          </a:xfrm>
          <a:prstGeom prst="roundRect">
            <a:avLst>
              <a:gd name="adj" fmla="val 9639"/>
            </a:avLst>
          </a:prstGeom>
          <a:solidFill>
            <a:srgbClr val="F8FAFC"/>
          </a:solidFill>
          <a:ln w="15875">
            <a:solidFill>
              <a:srgbClr val="CBD5E1"/>
            </a:solidFill>
            <a:prstDash val="solid"/>
          </a:ln>
        </p:spPr>
      </p:sp>
      <p:sp>
        <p:nvSpPr>
          <p:cNvPr id="12" name="Text 10"/>
          <p:cNvSpPr/>
          <p:nvPr/>
        </p:nvSpPr>
        <p:spPr>
          <a:xfrm>
            <a:off x="4251960" y="1965960"/>
            <a:ext cx="7253935" cy="758952"/>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A. a store selling all the supplies a ship needs for a voyage</a:t>
            </a:r>
            <a:endParaRPr lang="en-US" sz="1900" dirty="0"/>
          </a:p>
        </p:txBody>
      </p:sp>
      <p:sp>
        <p:nvSpPr>
          <p:cNvPr id="13" name="Shape 11"/>
          <p:cNvSpPr/>
          <p:nvPr/>
        </p:nvSpPr>
        <p:spPr>
          <a:xfrm>
            <a:off x="502920" y="2862072"/>
            <a:ext cx="3291840" cy="758952"/>
          </a:xfrm>
          <a:prstGeom prst="roundRect">
            <a:avLst>
              <a:gd name="adj" fmla="val 9639"/>
            </a:avLst>
          </a:prstGeom>
          <a:solidFill>
            <a:srgbClr val="F0E8FF"/>
          </a:solidFill>
          <a:ln w="15875">
            <a:solidFill>
              <a:srgbClr val="D6C8F0"/>
            </a:solidFill>
            <a:prstDash val="solid"/>
          </a:ln>
        </p:spPr>
      </p:sp>
      <p:sp>
        <p:nvSpPr>
          <p:cNvPr id="14" name="Text 12"/>
          <p:cNvSpPr/>
          <p:nvPr/>
        </p:nvSpPr>
        <p:spPr>
          <a:xfrm>
            <a:off x="685800" y="2862072"/>
            <a:ext cx="3017520" cy="758952"/>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2. expectation</a:t>
            </a:r>
            <a:endParaRPr lang="en-US" sz="2200" dirty="0"/>
          </a:p>
        </p:txBody>
      </p:sp>
      <p:sp>
        <p:nvSpPr>
          <p:cNvPr id="15" name="Shape 13"/>
          <p:cNvSpPr/>
          <p:nvPr/>
        </p:nvSpPr>
        <p:spPr>
          <a:xfrm>
            <a:off x="4069080" y="2862072"/>
            <a:ext cx="7619695" cy="758952"/>
          </a:xfrm>
          <a:prstGeom prst="roundRect">
            <a:avLst>
              <a:gd name="adj" fmla="val 9639"/>
            </a:avLst>
          </a:prstGeom>
          <a:solidFill>
            <a:srgbClr val="F8FAFC"/>
          </a:solidFill>
          <a:ln w="15875">
            <a:solidFill>
              <a:srgbClr val="CBD5E1"/>
            </a:solidFill>
            <a:prstDash val="solid"/>
          </a:ln>
        </p:spPr>
      </p:sp>
      <p:sp>
        <p:nvSpPr>
          <p:cNvPr id="16" name="Text 14"/>
          <p:cNvSpPr/>
          <p:nvPr/>
        </p:nvSpPr>
        <p:spPr>
          <a:xfrm>
            <a:off x="4251960" y="2862072"/>
            <a:ext cx="7253935" cy="758952"/>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B. a sailor’s hoped-for share of future earnings</a:t>
            </a:r>
            <a:endParaRPr lang="en-US" sz="1900" dirty="0"/>
          </a:p>
        </p:txBody>
      </p:sp>
      <p:sp>
        <p:nvSpPr>
          <p:cNvPr id="17" name="Shape 15"/>
          <p:cNvSpPr/>
          <p:nvPr/>
        </p:nvSpPr>
        <p:spPr>
          <a:xfrm>
            <a:off x="502920" y="3758184"/>
            <a:ext cx="3291840" cy="758952"/>
          </a:xfrm>
          <a:prstGeom prst="roundRect">
            <a:avLst>
              <a:gd name="adj" fmla="val 9639"/>
            </a:avLst>
          </a:prstGeom>
          <a:solidFill>
            <a:srgbClr val="F0E8FF"/>
          </a:solidFill>
          <a:ln w="15875">
            <a:solidFill>
              <a:srgbClr val="D6C8F0"/>
            </a:solidFill>
            <a:prstDash val="solid"/>
          </a:ln>
        </p:spPr>
      </p:sp>
      <p:sp>
        <p:nvSpPr>
          <p:cNvPr id="18" name="Text 16"/>
          <p:cNvSpPr/>
          <p:nvPr/>
        </p:nvSpPr>
        <p:spPr>
          <a:xfrm>
            <a:off x="685800" y="3758184"/>
            <a:ext cx="3017520" cy="758952"/>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3. chandlery</a:t>
            </a:r>
            <a:endParaRPr lang="en-US" sz="2200" dirty="0"/>
          </a:p>
        </p:txBody>
      </p:sp>
      <p:sp>
        <p:nvSpPr>
          <p:cNvPr id="19" name="Shape 17"/>
          <p:cNvSpPr/>
          <p:nvPr/>
        </p:nvSpPr>
        <p:spPr>
          <a:xfrm>
            <a:off x="4069080" y="3758184"/>
            <a:ext cx="7619695" cy="758952"/>
          </a:xfrm>
          <a:prstGeom prst="roundRect">
            <a:avLst>
              <a:gd name="adj" fmla="val 9639"/>
            </a:avLst>
          </a:prstGeom>
          <a:solidFill>
            <a:srgbClr val="F8FAFC"/>
          </a:solidFill>
          <a:ln w="15875">
            <a:solidFill>
              <a:srgbClr val="CBD5E1"/>
            </a:solidFill>
            <a:prstDash val="solid"/>
          </a:ln>
        </p:spPr>
      </p:sp>
      <p:sp>
        <p:nvSpPr>
          <p:cNvPr id="20" name="Text 18"/>
          <p:cNvSpPr/>
          <p:nvPr/>
        </p:nvSpPr>
        <p:spPr>
          <a:xfrm>
            <a:off x="4251960" y="3758184"/>
            <a:ext cx="7253935" cy="758952"/>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C. a barrel-making craft or workshop</a:t>
            </a:r>
            <a:endParaRPr lang="en-US" sz="1900" dirty="0"/>
          </a:p>
        </p:txBody>
      </p:sp>
      <p:sp>
        <p:nvSpPr>
          <p:cNvPr id="21" name="Shape 19"/>
          <p:cNvSpPr/>
          <p:nvPr/>
        </p:nvSpPr>
        <p:spPr>
          <a:xfrm>
            <a:off x="502920" y="4654296"/>
            <a:ext cx="3291840" cy="758952"/>
          </a:xfrm>
          <a:prstGeom prst="roundRect">
            <a:avLst>
              <a:gd name="adj" fmla="val 9639"/>
            </a:avLst>
          </a:prstGeom>
          <a:solidFill>
            <a:srgbClr val="F0E8FF"/>
          </a:solidFill>
          <a:ln w="15875">
            <a:solidFill>
              <a:srgbClr val="D6C8F0"/>
            </a:solidFill>
            <a:prstDash val="solid"/>
          </a:ln>
        </p:spPr>
      </p:sp>
      <p:sp>
        <p:nvSpPr>
          <p:cNvPr id="22" name="Text 20"/>
          <p:cNvSpPr/>
          <p:nvPr/>
        </p:nvSpPr>
        <p:spPr>
          <a:xfrm>
            <a:off x="685800" y="4654296"/>
            <a:ext cx="3017520" cy="758952"/>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4. cooperage</a:t>
            </a:r>
            <a:endParaRPr lang="en-US" sz="2200" dirty="0"/>
          </a:p>
        </p:txBody>
      </p:sp>
      <p:sp>
        <p:nvSpPr>
          <p:cNvPr id="23" name="Shape 21"/>
          <p:cNvSpPr/>
          <p:nvPr/>
        </p:nvSpPr>
        <p:spPr>
          <a:xfrm>
            <a:off x="4069080" y="4654296"/>
            <a:ext cx="7619695" cy="758952"/>
          </a:xfrm>
          <a:prstGeom prst="roundRect">
            <a:avLst>
              <a:gd name="adj" fmla="val 9639"/>
            </a:avLst>
          </a:prstGeom>
          <a:solidFill>
            <a:srgbClr val="F8FAFC"/>
          </a:solidFill>
          <a:ln w="15875">
            <a:solidFill>
              <a:srgbClr val="CBD5E1"/>
            </a:solidFill>
            <a:prstDash val="solid"/>
          </a:ln>
        </p:spPr>
      </p:sp>
      <p:sp>
        <p:nvSpPr>
          <p:cNvPr id="24" name="Text 22"/>
          <p:cNvSpPr/>
          <p:nvPr/>
        </p:nvSpPr>
        <p:spPr>
          <a:xfrm>
            <a:off x="4251960" y="4654296"/>
            <a:ext cx="7253935" cy="758952"/>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D. a privately owned ship authorized to attack enemy vessels</a:t>
            </a:r>
            <a:endParaRPr lang="en-US" sz="1900" dirty="0"/>
          </a:p>
        </p:txBody>
      </p:sp>
      <p:sp>
        <p:nvSpPr>
          <p:cNvPr id="25" name="Shape 23"/>
          <p:cNvSpPr/>
          <p:nvPr/>
        </p:nvSpPr>
        <p:spPr>
          <a:xfrm>
            <a:off x="502920" y="5550408"/>
            <a:ext cx="3291840" cy="758952"/>
          </a:xfrm>
          <a:prstGeom prst="roundRect">
            <a:avLst>
              <a:gd name="adj" fmla="val 9639"/>
            </a:avLst>
          </a:prstGeom>
          <a:solidFill>
            <a:srgbClr val="F0E8FF"/>
          </a:solidFill>
          <a:ln w="15875">
            <a:solidFill>
              <a:srgbClr val="D6C8F0"/>
            </a:solidFill>
            <a:prstDash val="solid"/>
          </a:ln>
        </p:spPr>
      </p:sp>
      <p:sp>
        <p:nvSpPr>
          <p:cNvPr id="26" name="Text 24"/>
          <p:cNvSpPr/>
          <p:nvPr/>
        </p:nvSpPr>
        <p:spPr>
          <a:xfrm>
            <a:off x="685800" y="5550408"/>
            <a:ext cx="3017520" cy="758952"/>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5. indenture</a:t>
            </a:r>
            <a:endParaRPr lang="en-US" sz="2200" dirty="0"/>
          </a:p>
        </p:txBody>
      </p:sp>
      <p:sp>
        <p:nvSpPr>
          <p:cNvPr id="27" name="Shape 25"/>
          <p:cNvSpPr/>
          <p:nvPr/>
        </p:nvSpPr>
        <p:spPr>
          <a:xfrm>
            <a:off x="4069080" y="5550408"/>
            <a:ext cx="7619695" cy="758952"/>
          </a:xfrm>
          <a:prstGeom prst="roundRect">
            <a:avLst>
              <a:gd name="adj" fmla="val 9639"/>
            </a:avLst>
          </a:prstGeom>
          <a:solidFill>
            <a:srgbClr val="F8FAFC"/>
          </a:solidFill>
          <a:ln w="15875">
            <a:solidFill>
              <a:srgbClr val="CBD5E1"/>
            </a:solidFill>
            <a:prstDash val="solid"/>
          </a:ln>
        </p:spPr>
      </p:sp>
      <p:sp>
        <p:nvSpPr>
          <p:cNvPr id="28" name="Text 26"/>
          <p:cNvSpPr/>
          <p:nvPr/>
        </p:nvSpPr>
        <p:spPr>
          <a:xfrm>
            <a:off x="4251960" y="5550408"/>
            <a:ext cx="7253935" cy="758952"/>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E. a nine-year contract with no pay and no freedom to leave</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MARITIME WORDS FOR THIS WEEK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MATCHED</a:t>
            </a:r>
            <a:endParaRPr lang="en-US" sz="1300" dirty="0"/>
          </a:p>
        </p:txBody>
      </p:sp>
      <p:sp>
        <p:nvSpPr>
          <p:cNvPr id="9" name="Shape 7"/>
          <p:cNvSpPr/>
          <p:nvPr/>
        </p:nvSpPr>
        <p:spPr>
          <a:xfrm>
            <a:off x="502920" y="1965960"/>
            <a:ext cx="11185855" cy="758952"/>
          </a:xfrm>
          <a:prstGeom prst="roundRect">
            <a:avLst>
              <a:gd name="adj" fmla="val 9639"/>
            </a:avLst>
          </a:prstGeom>
          <a:solidFill>
            <a:srgbClr val="E8F8EF"/>
          </a:solidFill>
          <a:ln w="15875">
            <a:solidFill>
              <a:srgbClr val="9ED9B5"/>
            </a:solidFill>
            <a:prstDash val="solid"/>
          </a:ln>
        </p:spPr>
      </p:sp>
      <p:sp>
        <p:nvSpPr>
          <p:cNvPr id="10" name="Text 8"/>
          <p:cNvSpPr/>
          <p:nvPr/>
        </p:nvSpPr>
        <p:spPr>
          <a:xfrm>
            <a:off x="731520" y="1965960"/>
            <a:ext cx="10728655" cy="758952"/>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privateer  =  </a:t>
            </a:r>
            <a:pPr indent="0" marL="0">
              <a:buNone/>
            </a:pPr>
            <a:r>
              <a:rPr lang="en-US" sz="2000" dirty="0">
                <a:solidFill>
                  <a:srgbClr val="1E293B"/>
                </a:solidFill>
                <a:latin typeface="Calibri" pitchFamily="34" charset="0"/>
                <a:ea typeface="Calibri" pitchFamily="34" charset="-122"/>
                <a:cs typeface="Calibri" pitchFamily="34" charset="-120"/>
              </a:rPr>
              <a:t>a privately owned ship authorized to attack enemy vessels</a:t>
            </a:r>
            <a:endParaRPr lang="en-US" sz="2200" dirty="0"/>
          </a:p>
        </p:txBody>
      </p:sp>
      <p:sp>
        <p:nvSpPr>
          <p:cNvPr id="11" name="Shape 9"/>
          <p:cNvSpPr/>
          <p:nvPr/>
        </p:nvSpPr>
        <p:spPr>
          <a:xfrm>
            <a:off x="502920" y="2862072"/>
            <a:ext cx="11185855" cy="758952"/>
          </a:xfrm>
          <a:prstGeom prst="roundRect">
            <a:avLst>
              <a:gd name="adj" fmla="val 9639"/>
            </a:avLst>
          </a:prstGeom>
          <a:solidFill>
            <a:srgbClr val="E8F8EF"/>
          </a:solidFill>
          <a:ln w="15875">
            <a:solidFill>
              <a:srgbClr val="9ED9B5"/>
            </a:solidFill>
            <a:prstDash val="solid"/>
          </a:ln>
        </p:spPr>
      </p:sp>
      <p:sp>
        <p:nvSpPr>
          <p:cNvPr id="12" name="Text 10"/>
          <p:cNvSpPr/>
          <p:nvPr/>
        </p:nvSpPr>
        <p:spPr>
          <a:xfrm>
            <a:off x="731520" y="2862072"/>
            <a:ext cx="10728655" cy="758952"/>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expectation  =  </a:t>
            </a:r>
            <a:pPr indent="0" marL="0">
              <a:buNone/>
            </a:pPr>
            <a:r>
              <a:rPr lang="en-US" sz="2000" dirty="0">
                <a:solidFill>
                  <a:srgbClr val="1E293B"/>
                </a:solidFill>
                <a:latin typeface="Calibri" pitchFamily="34" charset="0"/>
                <a:ea typeface="Calibri" pitchFamily="34" charset="-122"/>
                <a:cs typeface="Calibri" pitchFamily="34" charset="-120"/>
              </a:rPr>
              <a:t>a sailor’s hoped-for share of future earnings</a:t>
            </a:r>
            <a:endParaRPr lang="en-US" sz="2200" dirty="0"/>
          </a:p>
        </p:txBody>
      </p:sp>
      <p:sp>
        <p:nvSpPr>
          <p:cNvPr id="13" name="Shape 11"/>
          <p:cNvSpPr/>
          <p:nvPr/>
        </p:nvSpPr>
        <p:spPr>
          <a:xfrm>
            <a:off x="502920" y="3758184"/>
            <a:ext cx="11185855" cy="758952"/>
          </a:xfrm>
          <a:prstGeom prst="roundRect">
            <a:avLst>
              <a:gd name="adj" fmla="val 9639"/>
            </a:avLst>
          </a:prstGeom>
          <a:solidFill>
            <a:srgbClr val="E8F8EF"/>
          </a:solidFill>
          <a:ln w="15875">
            <a:solidFill>
              <a:srgbClr val="9ED9B5"/>
            </a:solidFill>
            <a:prstDash val="solid"/>
          </a:ln>
        </p:spPr>
      </p:sp>
      <p:sp>
        <p:nvSpPr>
          <p:cNvPr id="14" name="Text 12"/>
          <p:cNvSpPr/>
          <p:nvPr/>
        </p:nvSpPr>
        <p:spPr>
          <a:xfrm>
            <a:off x="731520" y="3758184"/>
            <a:ext cx="10728655" cy="758952"/>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chandlery  =  </a:t>
            </a:r>
            <a:pPr indent="0" marL="0">
              <a:buNone/>
            </a:pPr>
            <a:r>
              <a:rPr lang="en-US" sz="2000" dirty="0">
                <a:solidFill>
                  <a:srgbClr val="1E293B"/>
                </a:solidFill>
                <a:latin typeface="Calibri" pitchFamily="34" charset="0"/>
                <a:ea typeface="Calibri" pitchFamily="34" charset="-122"/>
                <a:cs typeface="Calibri" pitchFamily="34" charset="-120"/>
              </a:rPr>
              <a:t>a store selling all the supplies a ship needs for a voyage</a:t>
            </a:r>
            <a:endParaRPr lang="en-US" sz="2200" dirty="0"/>
          </a:p>
        </p:txBody>
      </p:sp>
      <p:sp>
        <p:nvSpPr>
          <p:cNvPr id="15" name="Shape 13"/>
          <p:cNvSpPr/>
          <p:nvPr/>
        </p:nvSpPr>
        <p:spPr>
          <a:xfrm>
            <a:off x="502920" y="4654296"/>
            <a:ext cx="11185855" cy="758952"/>
          </a:xfrm>
          <a:prstGeom prst="roundRect">
            <a:avLst>
              <a:gd name="adj" fmla="val 9639"/>
            </a:avLst>
          </a:prstGeom>
          <a:solidFill>
            <a:srgbClr val="E8F8EF"/>
          </a:solidFill>
          <a:ln w="15875">
            <a:solidFill>
              <a:srgbClr val="9ED9B5"/>
            </a:solidFill>
            <a:prstDash val="solid"/>
          </a:ln>
        </p:spPr>
      </p:sp>
      <p:sp>
        <p:nvSpPr>
          <p:cNvPr id="16" name="Text 14"/>
          <p:cNvSpPr/>
          <p:nvPr/>
        </p:nvSpPr>
        <p:spPr>
          <a:xfrm>
            <a:off x="731520" y="4654296"/>
            <a:ext cx="10728655" cy="758952"/>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cooperage  =  </a:t>
            </a:r>
            <a:pPr indent="0" marL="0">
              <a:buNone/>
            </a:pPr>
            <a:r>
              <a:rPr lang="en-US" sz="2000" dirty="0">
                <a:solidFill>
                  <a:srgbClr val="1E293B"/>
                </a:solidFill>
                <a:latin typeface="Calibri" pitchFamily="34" charset="0"/>
                <a:ea typeface="Calibri" pitchFamily="34" charset="-122"/>
                <a:cs typeface="Calibri" pitchFamily="34" charset="-120"/>
              </a:rPr>
              <a:t>a barrel-making craft or workshop</a:t>
            </a:r>
            <a:endParaRPr lang="en-US" sz="2200" dirty="0"/>
          </a:p>
        </p:txBody>
      </p:sp>
      <p:sp>
        <p:nvSpPr>
          <p:cNvPr id="17" name="Shape 15"/>
          <p:cNvSpPr/>
          <p:nvPr/>
        </p:nvSpPr>
        <p:spPr>
          <a:xfrm>
            <a:off x="502920" y="5550408"/>
            <a:ext cx="11185855" cy="758952"/>
          </a:xfrm>
          <a:prstGeom prst="roundRect">
            <a:avLst>
              <a:gd name="adj" fmla="val 9639"/>
            </a:avLst>
          </a:prstGeom>
          <a:solidFill>
            <a:srgbClr val="E8F8EF"/>
          </a:solidFill>
          <a:ln w="15875">
            <a:solidFill>
              <a:srgbClr val="9ED9B5"/>
            </a:solidFill>
            <a:prstDash val="solid"/>
          </a:ln>
        </p:spPr>
      </p:sp>
      <p:sp>
        <p:nvSpPr>
          <p:cNvPr id="18" name="Text 16"/>
          <p:cNvSpPr/>
          <p:nvPr/>
        </p:nvSpPr>
        <p:spPr>
          <a:xfrm>
            <a:off x="731520" y="5550408"/>
            <a:ext cx="10728655" cy="758952"/>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indenture  =  </a:t>
            </a:r>
            <a:pPr indent="0" marL="0">
              <a:buNone/>
            </a:pPr>
            <a:r>
              <a:rPr lang="en-US" sz="2000" dirty="0">
                <a:solidFill>
                  <a:srgbClr val="1E293B"/>
                </a:solidFill>
                <a:latin typeface="Calibri" pitchFamily="34" charset="0"/>
                <a:ea typeface="Calibri" pitchFamily="34" charset="-122"/>
                <a:cs typeface="Calibri" pitchFamily="34" charset="-120"/>
              </a:rPr>
              <a:t>a nine-year contract with no pay and no freedom to leave</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What do you notice?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Each sentence has an extra piece dropped into the middle of it.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Look at the words below, then think it through.</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is the extra piece telling you, and about which noun?</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punctuation holds it in place on both sides?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Lift the extra piece out. Is what is left still a complete sentence?</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sentence contains an appositive?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Nathaniel Bowditch, a boy of twelve, was already keeping accounts at a ship chandlery.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Nathaniel Bowditch was twelve years old and kept accounts at a ship chandlery.</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sentence contains an appositive?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Salem was a busy seaport in those years.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Salem, a busy seaport, smelled of tar and salt.</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sentence contains an appositive?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Dr. Bentley, the pastor of East Church, gave Nat a Latin grammar and dictionary.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Dr. Bentley was the pastor of East Church and gave Nat a Latin grammar and dictionary.</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sentence contains an appositive?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Nathaniel Bowditch, a boy of twelve, was already keeping accounts at a ship chandlery.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Nathaniel Bowditch was twelve years old and kept accounts at a ship chandlery.</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sentence contains an appositive?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Salem was a busy seaport in those years.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Salem, a busy seaport, smelled of tar and salt.</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sentence contains an appositive?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Dr. Bentley, the pastor of East Church, gave Nat a Latin grammar and dictionary.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Dr. Bentley was the pastor of East Church and gave Nat a Latin grammar and dictionary.</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  (1/3)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Say them out loud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Say these aloud and listen for the beat nobody stresses.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Where the Accent Falls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In a long word, one syllable takes the accent. The others go quiet.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MAR-i-ner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ho-RI-zon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nav-i-GA-tion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trick: say the word with the accent exaggerated. The syllables that flatten are the ones where spelling gets dangerous.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Group B</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  (2/3)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gale • brave • navigate • wave • fate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Now look at this group. Where does the accent fall in this group?</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In Group A the accent lands on the first syllable, in Group B on the second, in Group C on the third. Listen to what happens to every syllable that does not get the stress.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accent moves. Group A leans on the first syllable, Group B on the second, Group C on the third. Nothing about the spelling tells you where — you have to hear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unstressed syllables collapse. In mariner the i and the e both flatten to “uh.” That flattened sound is the schwa, and it can be spelled with any vowel letter.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That is why these words are hard to spell. Your ear gives you “uh” and leaves you to guess the letter. The fix: find a relative that stresses the syllable. Navigate reveals the i in navigation.</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  (3/3)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Work through these before you read on: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Which beat is said quickly and quietly?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What vowel sound do you actually hear there — or almost none?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Does the spelling match what you hear?</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almanac     ·     calculation     ·     compass     ·     equator     ·     horizon     ·     latitude     ·     mariner     ·     meridian     ·     navigation</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360669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Accent on syllable 1</a:t>
            </a:r>
            <a:endParaRPr lang="en-US" sz="2200" dirty="0"/>
          </a:p>
        </p:txBody>
      </p:sp>
      <p:sp>
        <p:nvSpPr>
          <p:cNvPr id="14" name="Shape 12"/>
          <p:cNvSpPr/>
          <p:nvPr/>
        </p:nvSpPr>
        <p:spPr>
          <a:xfrm>
            <a:off x="4292498" y="3977640"/>
            <a:ext cx="360669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4475378"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Accent on syllable 3</a:t>
            </a:r>
            <a:endParaRPr lang="en-US" sz="2200" dirty="0"/>
          </a:p>
        </p:txBody>
      </p:sp>
      <p:sp>
        <p:nvSpPr>
          <p:cNvPr id="16" name="Shape 14"/>
          <p:cNvSpPr/>
          <p:nvPr/>
        </p:nvSpPr>
        <p:spPr>
          <a:xfrm>
            <a:off x="8082077" y="3977640"/>
            <a:ext cx="3606698" cy="1097280"/>
          </a:xfrm>
          <a:prstGeom prst="roundRect">
            <a:avLst>
              <a:gd name="adj" fmla="val 6667"/>
            </a:avLst>
          </a:prstGeom>
          <a:solidFill>
            <a:srgbClr val="F8FAFC"/>
          </a:solidFill>
          <a:ln w="15875">
            <a:solidFill>
              <a:srgbClr val="CBD5E1"/>
            </a:solidFill>
            <a:prstDash val="solid"/>
          </a:ln>
        </p:spPr>
      </p:sp>
      <p:sp>
        <p:nvSpPr>
          <p:cNvPr id="17" name="Text 15"/>
          <p:cNvSpPr/>
          <p:nvPr/>
        </p:nvSpPr>
        <p:spPr>
          <a:xfrm>
            <a:off x="8264957"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Accent on syllable 2</a:t>
            </a:r>
            <a:endParaRPr lang="en-US" sz="2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3606698" cy="4892040"/>
          </a:xfrm>
          <a:prstGeom prst="roundRect">
            <a:avLst>
              <a:gd name="adj" fmla="val 2028"/>
            </a:avLst>
          </a:prstGeom>
          <a:solidFill>
            <a:srgbClr val="E8F8EF"/>
          </a:solidFill>
          <a:ln w="15875">
            <a:solidFill>
              <a:srgbClr val="9ED9B5"/>
            </a:solidFill>
            <a:prstDash val="solid"/>
          </a:ln>
        </p:spPr>
      </p:sp>
      <p:sp>
        <p:nvSpPr>
          <p:cNvPr id="9" name="Text 7"/>
          <p:cNvSpPr/>
          <p:nvPr/>
        </p:nvSpPr>
        <p:spPr>
          <a:xfrm>
            <a:off x="685800"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Accent on syllable 1</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almanac</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compass</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latitude</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mariner</a:t>
            </a:r>
            <a:endParaRPr lang="en-US" sz="2100" dirty="0"/>
          </a:p>
        </p:txBody>
      </p:sp>
      <p:sp>
        <p:nvSpPr>
          <p:cNvPr id="10" name="Shape 8"/>
          <p:cNvSpPr/>
          <p:nvPr/>
        </p:nvSpPr>
        <p:spPr>
          <a:xfrm>
            <a:off x="4292498" y="1554480"/>
            <a:ext cx="3606698" cy="4892040"/>
          </a:xfrm>
          <a:prstGeom prst="roundRect">
            <a:avLst>
              <a:gd name="adj" fmla="val 2028"/>
            </a:avLst>
          </a:prstGeom>
          <a:solidFill>
            <a:srgbClr val="E8F8EF"/>
          </a:solidFill>
          <a:ln w="15875">
            <a:solidFill>
              <a:srgbClr val="9ED9B5"/>
            </a:solidFill>
            <a:prstDash val="solid"/>
          </a:ln>
        </p:spPr>
      </p:sp>
      <p:sp>
        <p:nvSpPr>
          <p:cNvPr id="11" name="Text 9"/>
          <p:cNvSpPr/>
          <p:nvPr/>
        </p:nvSpPr>
        <p:spPr>
          <a:xfrm>
            <a:off x="4475378"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Accent on syllable 3</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calculation</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navigation</a:t>
            </a:r>
            <a:endParaRPr lang="en-US" sz="2100" dirty="0"/>
          </a:p>
        </p:txBody>
      </p:sp>
      <p:sp>
        <p:nvSpPr>
          <p:cNvPr id="12" name="Shape 10"/>
          <p:cNvSpPr/>
          <p:nvPr/>
        </p:nvSpPr>
        <p:spPr>
          <a:xfrm>
            <a:off x="8082077" y="1554480"/>
            <a:ext cx="3606698" cy="4892040"/>
          </a:xfrm>
          <a:prstGeom prst="roundRect">
            <a:avLst>
              <a:gd name="adj" fmla="val 2028"/>
            </a:avLst>
          </a:prstGeom>
          <a:solidFill>
            <a:srgbClr val="E8F8EF"/>
          </a:solidFill>
          <a:ln w="15875">
            <a:solidFill>
              <a:srgbClr val="9ED9B5"/>
            </a:solidFill>
            <a:prstDash val="solid"/>
          </a:ln>
        </p:spPr>
      </p:sp>
      <p:sp>
        <p:nvSpPr>
          <p:cNvPr id="13" name="Text 11"/>
          <p:cNvSpPr/>
          <p:nvPr/>
        </p:nvSpPr>
        <p:spPr>
          <a:xfrm>
            <a:off x="8264957"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Accent on syllable 2</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equator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horizon</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meridian</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1 — “THE GOOD-LUCK SPELL”</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Chapter 1 — The Good-Luck Spell</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Chapter 1, the Bowditch family moves back to Salem, four years after Father lost his ship and they had to leave. Nat is small, scared, and determined. Notice how Latham shows who Nat is not by telling you directly, but through what he does, what he thinks, and what he promises.</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1</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When the Nor’easter Arrives: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Nat’s good-luck spell fails because of the storm — he can’t fix the weather. But he tells Lizza, “I’ll think of something.” What does this moment reveal about how Nat responds to things he can’t control?</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on Moving Morning (early in Chapter 1):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Latham writes that Nat’s stomach “still felt scared” — not Nat himself, just his stomach. What feeling is Nat hiding? Why might he be hiding it?</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0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At the beginning of the story, the Bowditch family has had a lot of bad luck — Father lost his ship, the family had to leave Salem, and times are hard. What does Nat decide to do about their situation? What does this decision tell you about his character? Use a specific detail from Chapter 1.</a:t>
            </a:r>
            <a:endParaRPr lang="en-US" sz="2000" dirty="0"/>
          </a:p>
          <a:p>
            <a:pPr indent="0" marL="0">
              <a:spcAft>
                <a:spcPts val="900"/>
              </a:spcAft>
              <a:buNone/>
            </a:pPr>
            <a:r>
              <a:rPr lang="en-US" sz="20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When the nor’easter arrives and ruins his plan, Nat tells Lizza: “I’ll think of something. Sure, I will. I’ll think of something.” Why does he say it twice? What is Nat really doing when he repeats this promise? Use a detail from the chapter.</a:t>
            </a:r>
            <a:endParaRPr lang="en-US" sz="2000" dirty="0"/>
          </a:p>
          <a:p>
            <a:pPr indent="0" marL="0">
              <a:spcAft>
                <a:spcPts val="900"/>
              </a:spcAft>
              <a:buNone/>
            </a:pPr>
            <a:r>
              <a:rPr lang="en-US" sz="20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Jean Lee Latham writes “his stomach still felt scared” instead of simply writing “Nat was scared.” She puts the feeling in the body rather than naming the emotion directly. Why do you think a writer does this? What effect does it have on you as a reader?</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RESEARCH CLAIM · WRITE A RESEARCH CLAIM</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9 · RESEARCH CLAIM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A research claim is one sentence that answers the research question. It’s your whole essay in miniature — specific, arguable, and provable.</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is writing a research essay about Nat Bowditch. Alex reads Chapter 1 and writes a first attempt at a claim. BEFORE Nat Bowditch was really good at math and helped a lot of sailors. AFTER What made Nathaniel Bowditch extraordinary was not just his mathematical genius, but his belief that complex navigation could be learned by any ordinary sailor willing to try. Notice: Alex’s “before” is a fact, not a claim. It’s vague (“really good”) and doesn’t say anything arguable. The “after” makes a real argument — someone could disagree and need evidence to be convinced.</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RESEARCH CLAIM · WRITE A RESEARCH CLAIM</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9 · RESEARCH CLAIM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Claim Strength Test: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 strong research claim passes three tests. Check yours against each one. Alex’s example (filled): Specific? Names the quality or achievement, not just “Nat was great.” ✓ Alex names the specific belief (that knowledge belongs to everyone). Arguable? Someone could disagree and need evidence. ✓ You could argue Nat was extraordinary for other reasons. Provable? The book contains actual events that support it. ✓ Chapters 12–24 show Nat teaching sailors and simplifying navigation. Your turn — do the same in your reading journal: Write your own claim, then test it: Is it specific? Arguable? Provable? My claim: ____________________ Specific? _____ Arguable? _____ Provable? 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“What made Nathaniel Bowditch extraordinary was ___.” “The most important quality that defined ___ was his willingness to ___.” “___ stands apart from others because he ___ even when ___.”</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9.1 — Carry On, Mr. Bowditch, Chapter 1</dc:title>
  <dc:subject>PptxGenJS Presentation</dc:subject>
  <dc:creator>Optima Academy Online</dc:creator>
  <cp:lastModifiedBy>Optima Academy Online</cp:lastModifiedBy>
  <cp:revision>1</cp:revision>
  <dcterms:created xsi:type="dcterms:W3CDTF">2026-10-29T19:41:21Z</dcterms:created>
  <dcterms:modified xsi:type="dcterms:W3CDTF">2026-10-29T19:41:21Z</dcterms:modified>
</cp:coreProperties>
</file>