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Week 32 Day 1 — Portfolio Reflection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Big Q: Who were you as a reader in September? Who are you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Journal warm-up before diving into word study.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Tap-and-notice only, no answer required — discuss why each part is correct.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"in september i thought reading was about finishing pages. now i understand that reading is about asking questions — what does this character want why does the author make this choice what does this moment reveal that i couldn't see before"
Corrected: "In September, I thought reading was about finishing pages. Now I understand that reading is about asking questions — what does this character want? Why does the author make this choice? What does this moment reveal that I couldn't see before?"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"in september i thought reading was about finishing pages. now i understand that reading is about asking questions — what does this character want why does the author make this choice what does this moment reveal that i couldn't see before"
Corrected: "In September, I thought reading was about finishing pages. Now I understand that reading is about asking questions — what does this character want? Why does the author make this choice? What does this moment reveal that I couldn't see before?"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Graded SWYK strand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Short journal reflection — no formal grading.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Short journal reflection — no formal grading.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concept for today's reading/project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 journal prompt — students respond in 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 journal prompt — students respond in 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 journal prompt — students respond in 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Workshop progress: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Independent writing time — this is the day's graded writing product.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 checklist before students submit to Canvas.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C42"/>
        </a:solidFill>
      </p:bgPr>
    </p:bg>
    <p:spTree>
      <p:nvGrpSpPr>
        <p:cNvPr id="1" name=""/>
        <p:cNvGrpSpPr/>
        <p:nvPr/>
      </p:nvGrpSpPr>
      <p:grpSpPr>
        <a:xfrm>
          <a:off x="0" y="0"/>
          <a:ext cx="0" cy="0"/>
          <a:chOff x="0" y="0"/>
          <a:chExt cx="0" cy="0"/>
        </a:xfrm>
      </p:grpSpPr>
      <p:sp>
        <p:nvSpPr>
          <p:cNvPr id="2" name="Shape 0"/>
          <p:cNvSpPr/>
          <p:nvPr/>
        </p:nvSpPr>
        <p:spPr>
          <a:xfrm>
            <a:off x="0" y="4114800"/>
            <a:ext cx="9144000" cy="1028700"/>
          </a:xfrm>
          <a:prstGeom prst="rect">
            <a:avLst/>
          </a:prstGeom>
          <a:solidFill>
            <a:srgbClr val="34B76F">
              <a:alpha val="15000"/>
            </a:srgbClr>
          </a:solidFill>
          <a:ln/>
        </p:spPr>
      </p:sp>
      <p:sp>
        <p:nvSpPr>
          <p:cNvPr id="3" name="Text 1"/>
          <p:cNvSpPr/>
          <p:nvPr/>
        </p:nvSpPr>
        <p:spPr>
          <a:xfrm>
            <a:off x="457200" y="457200"/>
            <a:ext cx="8229600" cy="365760"/>
          </a:xfrm>
          <a:prstGeom prst="rect">
            <a:avLst/>
          </a:prstGeom>
          <a:noFill/>
          <a:ln/>
        </p:spPr>
        <p:txBody>
          <a:bodyPr wrap="square" lIns="0" tIns="0" rIns="0" bIns="0" rtlCol="0" anchor="ctr"/>
          <a:lstStyle/>
          <a:p>
            <a:pPr algn="l" indent="0" marL="0">
              <a:buNone/>
            </a:pPr>
            <a:r>
              <a:rPr lang="en-US" sz="1300" b="1" spc="400" kern="0" dirty="0">
                <a:solidFill>
                  <a:srgbClr val="34B76F"/>
                </a:solidFill>
                <a:latin typeface="Calibri" pitchFamily="34" charset="0"/>
                <a:ea typeface="Calibri" pitchFamily="34" charset="-122"/>
                <a:cs typeface="Calibri" pitchFamily="34" charset="-120"/>
              </a:rPr>
              <a:t>WEEK 32  ·  DAY 1</a:t>
            </a:r>
            <a:endParaRPr lang="en-US" sz="1300" dirty="0"/>
          </a:p>
        </p:txBody>
      </p:sp>
      <p:sp>
        <p:nvSpPr>
          <p:cNvPr id="4" name="Text 2"/>
          <p:cNvSpPr/>
          <p:nvPr/>
        </p:nvSpPr>
        <p:spPr>
          <a:xfrm>
            <a:off x="457200" y="822960"/>
            <a:ext cx="8229600" cy="365760"/>
          </a:xfrm>
          <a:prstGeom prst="rect">
            <a:avLst/>
          </a:prstGeom>
          <a:noFill/>
          <a:ln/>
        </p:spPr>
        <p:txBody>
          <a:bodyPr wrap="square" lIns="0" tIns="0" rIns="0" bIns="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Year-End Synthesis · 5th Grade ELA</a:t>
            </a:r>
            <a:endParaRPr lang="en-US" sz="1400" dirty="0"/>
          </a:p>
        </p:txBody>
      </p:sp>
      <p:sp>
        <p:nvSpPr>
          <p:cNvPr id="5" name="Text 3"/>
          <p:cNvSpPr/>
          <p:nvPr/>
        </p:nvSpPr>
        <p:spPr>
          <a:xfrm>
            <a:off x="457200" y="1234440"/>
            <a:ext cx="8229600" cy="1280160"/>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Portfolio Reflection</a:t>
            </a:r>
            <a:endParaRPr lang="en-US" sz="3000" dirty="0"/>
          </a:p>
        </p:txBody>
      </p:sp>
      <p:sp>
        <p:nvSpPr>
          <p:cNvPr id="6" name="Text 4"/>
          <p:cNvSpPr/>
          <p:nvPr/>
        </p:nvSpPr>
        <p:spPr>
          <a:xfrm>
            <a:off x="457200" y="2468880"/>
            <a:ext cx="8229600" cy="548640"/>
          </a:xfrm>
          <a:prstGeom prst="rect">
            <a:avLst/>
          </a:prstGeom>
          <a:noFill/>
          <a:ln/>
        </p:spPr>
        <p:txBody>
          <a:bodyPr wrap="square" lIns="0" tIns="0" rIns="0" bIns="0" rtlCol="0" anchor="ctr"/>
          <a:lstStyle/>
          <a:p>
            <a:pPr algn="l" indent="0" marL="0">
              <a:buNone/>
            </a:pPr>
            <a:r>
              <a:rPr lang="en-US" sz="1400" i="1" dirty="0">
                <a:solidFill>
                  <a:srgbClr val="34B76F"/>
                </a:solidFill>
                <a:latin typeface="Georgia" pitchFamily="34" charset="0"/>
                <a:ea typeface="Georgia" pitchFamily="34" charset="-122"/>
                <a:cs typeface="Georgia" pitchFamily="34" charset="-120"/>
              </a:rPr>
              <a:t>Growth as a Reader: September to Now</a:t>
            </a:r>
            <a:endParaRPr lang="en-US" sz="1400" dirty="0"/>
          </a:p>
        </p:txBody>
      </p:sp>
      <p:sp>
        <p:nvSpPr>
          <p:cNvPr id="7" name="Text 5"/>
          <p:cNvSpPr/>
          <p:nvPr/>
        </p:nvSpPr>
        <p:spPr>
          <a:xfrm>
            <a:off x="457200" y="4434840"/>
            <a:ext cx="8229600" cy="365760"/>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  Year-End Synthesis  ·  Portfolio &amp; Presentation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400" b="1" dirty="0">
                <a:solidFill>
                  <a:srgbClr val="0E1C42"/>
                </a:solidFill>
                <a:latin typeface="Calibri" pitchFamily="34" charset="0"/>
                <a:ea typeface="Calibri" pitchFamily="34" charset="-122"/>
                <a:cs typeface="Calibri" pitchFamily="34" charset="-120"/>
              </a:rPr>
              <a:t>Today's Big Question</a:t>
            </a:r>
            <a:endParaRPr lang="en-US" sz="24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Shape 2"/>
          <p:cNvSpPr/>
          <p:nvPr/>
        </p:nvSpPr>
        <p:spPr>
          <a:xfrm>
            <a:off x="365760" y="914400"/>
            <a:ext cx="8412480" cy="1188720"/>
          </a:xfrm>
          <a:prstGeom prst="roundRect">
            <a:avLst>
              <a:gd name="adj" fmla="val 7692"/>
            </a:avLst>
          </a:prstGeom>
          <a:solidFill>
            <a:srgbClr val="F0E8FF"/>
          </a:solidFill>
          <a:ln/>
          <a:effectLst>
            <a:outerShdw sx="100000" sy="100000" kx="0" ky="0" algn="bl" rotWithShape="0" blurRad="101600" dist="38100" dir="2700000">
              <a:srgbClr val="000000">
                <a:alpha val="12000"/>
              </a:srgbClr>
            </a:outerShdw>
          </a:effectLst>
        </p:spPr>
      </p:sp>
      <p:sp>
        <p:nvSpPr>
          <p:cNvPr id="5" name="Text 3"/>
          <p:cNvSpPr/>
          <p:nvPr/>
        </p:nvSpPr>
        <p:spPr>
          <a:xfrm>
            <a:off x="594360" y="1024128"/>
            <a:ext cx="7955280" cy="969264"/>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Who were you as a reader in September? Who are you now?</a:t>
            </a:r>
            <a:endParaRPr lang="en-US" sz="1600" dirty="0"/>
          </a:p>
        </p:txBody>
      </p:sp>
      <p:sp>
        <p:nvSpPr>
          <p:cNvPr id="6" name="Text 4"/>
          <p:cNvSpPr/>
          <p:nvPr/>
        </p:nvSpPr>
        <p:spPr>
          <a:xfrm>
            <a:off x="365760" y="228600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TODAY'S ARC</a:t>
            </a:r>
            <a:endParaRPr lang="en-US" sz="1100" dirty="0"/>
          </a:p>
        </p:txBody>
      </p:sp>
      <p:sp>
        <p:nvSpPr>
          <p:cNvPr id="7" name="Shape 5"/>
          <p:cNvSpPr/>
          <p:nvPr/>
        </p:nvSpPr>
        <p:spPr>
          <a:xfrm>
            <a:off x="365760" y="2578608"/>
            <a:ext cx="8412480" cy="621792"/>
          </a:xfrm>
          <a:prstGeom prst="roundRect">
            <a:avLst>
              <a:gd name="adj" fmla="val 14706"/>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48640" y="2633472"/>
            <a:ext cx="8046720" cy="512064"/>
          </a:xfrm>
          <a:prstGeom prst="rect">
            <a:avLst/>
          </a:prstGeom>
          <a:noFill/>
          <a:ln/>
        </p:spPr>
        <p:txBody>
          <a:bodyPr wrap="square" lIns="0" tIns="0" rIns="0" bIns="0" rtlCol="0" anchor="ctr"/>
          <a:lstStyle/>
          <a:p>
            <a:pPr indent="0" marL="0">
              <a:buNone/>
            </a:pPr>
            <a:r>
              <a:rPr lang="en-US" sz="1500" dirty="0">
                <a:solidFill>
                  <a:srgbClr val="000000"/>
                </a:solidFill>
              </a:rPr>
              <a:t>🔬  </a:t>
            </a:r>
            <a:pPr indent="0" marL="0">
              <a:buNone/>
            </a:pPr>
            <a:r>
              <a:rPr lang="en-US" sz="1300" b="1" dirty="0">
                <a:solidFill>
                  <a:srgbClr val="0E1C42"/>
                </a:solidFill>
                <a:latin typeface="Calibri" pitchFamily="34" charset="0"/>
                <a:ea typeface="Calibri" pitchFamily="34" charset="-122"/>
                <a:cs typeface="Calibri" pitchFamily="34" charset="-120"/>
              </a:rPr>
              <a:t>Morphology SWYK: </a:t>
            </a:r>
            <a:pPr indent="0" marL="0">
              <a:buNone/>
            </a:pPr>
            <a:r>
              <a:rPr lang="en-US" sz="1200" dirty="0">
                <a:solidFill>
                  <a:srgbClr val="1E293B"/>
                </a:solidFill>
                <a:latin typeface="Calibri" pitchFamily="34" charset="0"/>
                <a:ea typeface="Calibri" pitchFamily="34" charset="-122"/>
                <a:cs typeface="Calibri" pitchFamily="34" charset="-120"/>
              </a:rPr>
              <a:t>I will reflect on the year's root study and explain which root I found most useful.</a:t>
            </a:r>
            <a:endParaRPr lang="en-US" sz="1500" dirty="0"/>
          </a:p>
        </p:txBody>
      </p:sp>
      <p:sp>
        <p:nvSpPr>
          <p:cNvPr id="9" name="Shape 7"/>
          <p:cNvSpPr/>
          <p:nvPr/>
        </p:nvSpPr>
        <p:spPr>
          <a:xfrm>
            <a:off x="365760" y="3273552"/>
            <a:ext cx="8412480" cy="621792"/>
          </a:xfrm>
          <a:prstGeom prst="roundRect">
            <a:avLst>
              <a:gd name="adj" fmla="val 14706"/>
            </a:avLst>
          </a:prstGeom>
          <a:solidFill>
            <a:srgbClr val="F8FAFC"/>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3328416"/>
            <a:ext cx="8046720" cy="512064"/>
          </a:xfrm>
          <a:prstGeom prst="rect">
            <a:avLst/>
          </a:prstGeom>
          <a:noFill/>
          <a:ln/>
        </p:spPr>
        <p:txBody>
          <a:bodyPr wrap="square" lIns="0" tIns="0" rIns="0" bIns="0" rtlCol="0" anchor="ctr"/>
          <a:lstStyle/>
          <a:p>
            <a:pPr indent="0" marL="0">
              <a:buNone/>
            </a:pPr>
            <a:r>
              <a:rPr lang="en-US" sz="1500" dirty="0">
                <a:solidFill>
                  <a:srgbClr val="000000"/>
                </a:solidFill>
              </a:rPr>
              <a:t>📓  </a:t>
            </a:r>
            <a:pPr indent="0" marL="0">
              <a:buNone/>
            </a:pPr>
            <a:r>
              <a:rPr lang="en-US" sz="1300" b="1" dirty="0">
                <a:solidFill>
                  <a:srgbClr val="0E1C42"/>
                </a:solidFill>
                <a:latin typeface="Calibri" pitchFamily="34" charset="0"/>
                <a:ea typeface="Calibri" pitchFamily="34" charset="-122"/>
                <a:cs typeface="Calibri" pitchFamily="34" charset="-120"/>
              </a:rPr>
              <a:t>Portfolio: </a:t>
            </a:r>
            <a:pPr indent="0" marL="0">
              <a:buNone/>
            </a:pPr>
            <a:r>
              <a:rPr lang="en-US" sz="1200" dirty="0">
                <a:solidFill>
                  <a:srgbClr val="1E293B"/>
                </a:solidFill>
                <a:latin typeface="Calibri" pitchFamily="34" charset="0"/>
                <a:ea typeface="Calibri" pitchFamily="34" charset="-122"/>
                <a:cs typeface="Calibri" pitchFamily="34" charset="-120"/>
              </a:rPr>
              <a:t>I will plan all three parts of my year-end portfolio reflection.</a:t>
            </a:r>
            <a:endParaRPr lang="en-US" sz="1500" dirty="0"/>
          </a:p>
        </p:txBody>
      </p:sp>
      <p:sp>
        <p:nvSpPr>
          <p:cNvPr id="11" name="Shape 9"/>
          <p:cNvSpPr/>
          <p:nvPr/>
        </p:nvSpPr>
        <p:spPr>
          <a:xfrm>
            <a:off x="365760" y="3968496"/>
            <a:ext cx="8412480" cy="621792"/>
          </a:xfrm>
          <a:prstGeom prst="roundRect">
            <a:avLst>
              <a:gd name="adj" fmla="val 14706"/>
            </a:avLst>
          </a:prstGeom>
          <a:solidFill>
            <a:srgbClr val="F8FAFC"/>
          </a:solidFill>
          <a:ln/>
          <a:effectLst>
            <a:outerShdw sx="100000" sy="100000" kx="0" ky="0" algn="bl" rotWithShape="0" blurRad="101600" dist="38100" dir="2700000">
              <a:srgbClr val="000000">
                <a:alpha val="12000"/>
              </a:srgbClr>
            </a:outerShdw>
          </a:effectLst>
        </p:spPr>
      </p:sp>
      <p:sp>
        <p:nvSpPr>
          <p:cNvPr id="12" name="Text 10"/>
          <p:cNvSpPr/>
          <p:nvPr/>
        </p:nvSpPr>
        <p:spPr>
          <a:xfrm>
            <a:off x="548640" y="4023360"/>
            <a:ext cx="8046720" cy="512064"/>
          </a:xfrm>
          <a:prstGeom prst="rect">
            <a:avLst/>
          </a:prstGeom>
          <a:noFill/>
          <a:ln/>
        </p:spPr>
        <p:txBody>
          <a:bodyPr wrap="square" lIns="0" tIns="0" rIns="0" bIns="0" rtlCol="0" anchor="ctr"/>
          <a:lstStyle/>
          <a:p>
            <a:pPr indent="0" marL="0">
              <a:buNone/>
            </a:pPr>
            <a:r>
              <a:rPr lang="en-US" sz="1500" dirty="0">
                <a:solidFill>
                  <a:srgbClr val="000000"/>
                </a:solidFill>
              </a:rPr>
              <a:t>🎤  </a:t>
            </a:r>
            <a:pPr indent="0" marL="0">
              <a:buNone/>
            </a:pPr>
            <a:r>
              <a:rPr lang="en-US" sz="1300" b="1" dirty="0">
                <a:solidFill>
                  <a:srgbClr val="0E1C42"/>
                </a:solidFill>
                <a:latin typeface="Calibri" pitchFamily="34" charset="0"/>
                <a:ea typeface="Calibri" pitchFamily="34" charset="-122"/>
                <a:cs typeface="Calibri" pitchFamily="34" charset="-120"/>
              </a:rPr>
              <a:t>Speaking: </a:t>
            </a:r>
            <a:pPr indent="0" marL="0">
              <a:buNone/>
            </a:pPr>
            <a:r>
              <a:rPr lang="en-US" sz="1200" dirty="0">
                <a:solidFill>
                  <a:srgbClr val="1E293B"/>
                </a:solidFill>
                <a:latin typeface="Calibri" pitchFamily="34" charset="0"/>
                <a:ea typeface="Calibri" pitchFamily="34" charset="-122"/>
                <a:cs typeface="Calibri" pitchFamily="34" charset="-120"/>
              </a:rPr>
              <a:t>I will study what voice, tone, and pacing mean for a spoken presentation.</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400" b="1" dirty="0">
                <a:solidFill>
                  <a:srgbClr val="0E1C42"/>
                </a:solidFill>
                <a:latin typeface="Calibri" pitchFamily="34" charset="0"/>
                <a:ea typeface="Calibri" pitchFamily="34" charset="-122"/>
                <a:cs typeface="Calibri" pitchFamily="34" charset="-120"/>
              </a:rPr>
              <a:t>📓 Reading Journal — Before You Begin</a:t>
            </a:r>
            <a:endParaRPr lang="en-US" sz="24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REFLECT FIRST</a:t>
            </a:r>
            <a:endParaRPr lang="en-US" sz="1100" dirty="0"/>
          </a:p>
        </p:txBody>
      </p:sp>
      <p:sp>
        <p:nvSpPr>
          <p:cNvPr id="5" name="Shape 3"/>
          <p:cNvSpPr/>
          <p:nvPr/>
        </p:nvSpPr>
        <p:spPr>
          <a:xfrm>
            <a:off x="365760" y="1097280"/>
            <a:ext cx="8412480" cy="2194560"/>
          </a:xfrm>
          <a:prstGeom prst="roundRect">
            <a:avLst>
              <a:gd name="adj" fmla="val 4167"/>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234440"/>
            <a:ext cx="7955280" cy="1920240"/>
          </a:xfrm>
          <a:prstGeom prst="rect">
            <a:avLst/>
          </a:prstGeom>
          <a:noFill/>
          <a:ln/>
        </p:spPr>
        <p:txBody>
          <a:bodyPr wrap="square" lIns="0" tIns="0" rIns="0" bIns="0" rtlCol="0" anchor="t"/>
          <a:lstStyle/>
          <a:p>
            <a:pPr indent="0" marL="0">
              <a:buNone/>
            </a:pPr>
            <a:r>
              <a:rPr lang="en-US" sz="1600" i="1" dirty="0">
                <a:solidFill>
                  <a:srgbClr val="1E293B"/>
                </a:solidFill>
                <a:latin typeface="Georgia" pitchFamily="34" charset="0"/>
                <a:ea typeface="Georgia" pitchFamily="34" charset="-122"/>
                <a:cs typeface="Georgia" pitchFamily="34" charset="-120"/>
              </a:rPr>
              <a:t>Write 2–3 sentences describing who you were as a reader in September — your habits, your patience, your confidence. Be specific and honest. You'll compare this to who you are now.</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400" b="1" dirty="0">
                <a:solidFill>
                  <a:srgbClr val="0E1C42"/>
                </a:solidFill>
                <a:latin typeface="Calibri" pitchFamily="34" charset="0"/>
                <a:ea typeface="Calibri" pitchFamily="34" charset="-122"/>
                <a:cs typeface="Calibri" pitchFamily="34" charset="-120"/>
              </a:rPr>
              <a:t>📝 Daily Oral Language — Study What's Right</a:t>
            </a:r>
            <a:endParaRPr lang="en-US" sz="24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MODEL SENTENCE</a:t>
            </a:r>
            <a:endParaRPr lang="en-US" sz="1100" dirty="0"/>
          </a:p>
        </p:txBody>
      </p:sp>
      <p:sp>
        <p:nvSpPr>
          <p:cNvPr id="5" name="Shape 3"/>
          <p:cNvSpPr/>
          <p:nvPr/>
        </p:nvSpPr>
        <p:spPr>
          <a:xfrm>
            <a:off x="365760" y="1078992"/>
            <a:ext cx="8412480" cy="1051560"/>
          </a:xfrm>
          <a:prstGeom prst="roundRect">
            <a:avLst>
              <a:gd name="adj" fmla="val 8696"/>
            </a:avLst>
          </a:prstGeom>
          <a:solidFill>
            <a:srgbClr val="E8F8EF"/>
          </a:solidFill>
          <a:ln w="1270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48640" y="1188720"/>
            <a:ext cx="8046720" cy="822960"/>
          </a:xfrm>
          <a:prstGeom prst="rect">
            <a:avLst/>
          </a:prstGeom>
          <a:noFill/>
          <a:ln/>
        </p:spPr>
        <p:txBody>
          <a:bodyPr wrap="square" lIns="0" tIns="0" rIns="0" bIns="0" rtlCol="0" anchor="ctr"/>
          <a:lstStyle/>
          <a:p>
            <a:pPr indent="0" marL="0">
              <a:buNone/>
            </a:pPr>
            <a:r>
              <a:rPr lang="en-US" sz="1500" i="1" dirty="0">
                <a:solidFill>
                  <a:srgbClr val="1E293B"/>
                </a:solidFill>
                <a:latin typeface="Georgia" pitchFamily="34" charset="0"/>
                <a:ea typeface="Georgia" pitchFamily="34" charset="-122"/>
                <a:cs typeface="Georgia" pitchFamily="34" charset="-120"/>
              </a:rPr>
              <a:t>Looking back, I realize that the reader I became this year was shaped by every book I struggled with as much as every book I loved.</a:t>
            </a:r>
            <a:endParaRPr lang="en-US" sz="1500" dirty="0"/>
          </a:p>
        </p:txBody>
      </p:sp>
      <p:sp>
        <p:nvSpPr>
          <p:cNvPr id="7" name="Text 5"/>
          <p:cNvSpPr/>
          <p:nvPr/>
        </p:nvSpPr>
        <p:spPr>
          <a:xfrm>
            <a:off x="365760" y="228600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WHAT THIS TEACHES</a:t>
            </a:r>
            <a:endParaRPr lang="en-US" sz="1100" dirty="0"/>
          </a:p>
        </p:txBody>
      </p:sp>
      <p:sp>
        <p:nvSpPr>
          <p:cNvPr id="8" name="Shape 6"/>
          <p:cNvSpPr/>
          <p:nvPr/>
        </p:nvSpPr>
        <p:spPr>
          <a:xfrm>
            <a:off x="365760" y="2560320"/>
            <a:ext cx="8412480" cy="1737360"/>
          </a:xfrm>
          <a:prstGeom prst="roundRect">
            <a:avLst>
              <a:gd name="adj" fmla="val 5263"/>
            </a:avLst>
          </a:prstGeom>
          <a:solidFill>
            <a:srgbClr val="F8FAFC"/>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670048"/>
            <a:ext cx="8046720" cy="1517904"/>
          </a:xfrm>
          <a:prstGeom prst="rect">
            <a:avLst/>
          </a:prstGeom>
          <a:noFill/>
          <a:ln/>
        </p:spPr>
        <p:txBody>
          <a:bodyPr wrap="square" lIns="0" tIns="0" rIns="0" bIns="0" rtlCol="0" anchor="t"/>
          <a:lstStyle/>
          <a:p>
            <a:pPr indent="0" marL="0">
              <a:buNone/>
            </a:pPr>
            <a:r>
              <a:rPr lang="en-US" sz="1300" dirty="0">
                <a:solidFill>
                  <a:srgbClr val="1E293B"/>
                </a:solidFill>
                <a:latin typeface="Calibri" pitchFamily="34" charset="0"/>
                <a:ea typeface="Calibri" pitchFamily="34" charset="-122"/>
                <a:cs typeface="Calibri" pitchFamily="34" charset="-120"/>
              </a:rPr>
              <a:t>Participial phrase opener: "Looking back" sets up a reflective tone immediately. The comma after sets it off correctly — this is the sentence structure of portfolio writing: present moment + reflection on the past.</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400" b="1" dirty="0">
                <a:solidFill>
                  <a:srgbClr val="0E1C42"/>
                </a:solidFill>
                <a:latin typeface="Calibri" pitchFamily="34" charset="0"/>
                <a:ea typeface="Calibri" pitchFamily="34" charset="-122"/>
                <a:cs typeface="Calibri" pitchFamily="34" charset="-120"/>
              </a:rPr>
              <a:t>📝 Daily Oral Language — Fix It</a:t>
            </a:r>
            <a:endParaRPr lang="en-US" sz="24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Shape 2"/>
          <p:cNvSpPr/>
          <p:nvPr/>
        </p:nvSpPr>
        <p:spPr>
          <a:xfrm>
            <a:off x="6492240" y="173736"/>
            <a:ext cx="2286000" cy="502920"/>
          </a:xfrm>
          <a:prstGeom prst="roundRect">
            <a:avLst>
              <a:gd name="adj" fmla="val 21818"/>
            </a:avLst>
          </a:prstGeom>
          <a:solidFill>
            <a:srgbClr val="34B76F"/>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1051560"/>
          </a:xfrm>
          <a:prstGeom prst="roundRect">
            <a:avLst>
              <a:gd name="adj" fmla="val 8696"/>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822960"/>
          </a:xfrm>
          <a:prstGeom prst="rect">
            <a:avLst/>
          </a:prstGeom>
          <a:noFill/>
          <a:ln/>
        </p:spPr>
        <p:txBody>
          <a:bodyPr wrap="square" lIns="0" tIns="0" rIns="0" bIns="0" rtlCol="0" anchor="ctr"/>
          <a:lstStyle/>
          <a:p>
            <a:pPr indent="0" marL="0">
              <a:buNone/>
            </a:pPr>
            <a:r>
              <a:rPr lang="en-US" sz="1500" i="1" dirty="0">
                <a:solidFill>
                  <a:srgbClr val="1E293B"/>
                </a:solidFill>
                <a:latin typeface="Georgia" pitchFamily="34" charset="0"/>
                <a:ea typeface="Georgia" pitchFamily="34" charset="-122"/>
                <a:cs typeface="Georgia" pitchFamily="34" charset="-120"/>
              </a:rPr>
              <a:t>in september i thought reading was about finishing pages. now i understand that reading is about asking questions — what does this character want why does the author make this choice what does this moment reveal that i couldn't see before</a:t>
            </a:r>
            <a:endParaRPr lang="en-US" sz="1500" dirty="0"/>
          </a:p>
        </p:txBody>
      </p:sp>
      <p:sp>
        <p:nvSpPr>
          <p:cNvPr id="9" name="Text 7"/>
          <p:cNvSpPr/>
          <p:nvPr/>
        </p:nvSpPr>
        <p:spPr>
          <a:xfrm>
            <a:off x="457200" y="2240280"/>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400" b="1" dirty="0">
                <a:solidFill>
                  <a:srgbClr val="0E1C42"/>
                </a:solidFill>
                <a:latin typeface="Calibri" pitchFamily="34" charset="0"/>
                <a:ea typeface="Calibri" pitchFamily="34" charset="-122"/>
                <a:cs typeface="Calibri" pitchFamily="34" charset="-120"/>
              </a:rPr>
              <a:t>📝 Daily Oral Language — Fix It</a:t>
            </a:r>
            <a:endParaRPr lang="en-US" sz="24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Shape 2"/>
          <p:cNvSpPr/>
          <p:nvPr/>
        </p:nvSpPr>
        <p:spPr>
          <a:xfrm>
            <a:off x="6492240" y="173736"/>
            <a:ext cx="2286000" cy="502920"/>
          </a:xfrm>
          <a:prstGeom prst="roundRect">
            <a:avLst>
              <a:gd name="adj" fmla="val 21818"/>
            </a:avLst>
          </a:prstGeom>
          <a:solidFill>
            <a:srgbClr val="34B76F"/>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1051560"/>
          </a:xfrm>
          <a:prstGeom prst="roundRect">
            <a:avLst>
              <a:gd name="adj" fmla="val 8696"/>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822960"/>
          </a:xfrm>
          <a:prstGeom prst="rect">
            <a:avLst/>
          </a:prstGeom>
          <a:noFill/>
          <a:ln/>
        </p:spPr>
        <p:txBody>
          <a:bodyPr wrap="square" lIns="0" tIns="0" rIns="0" bIns="0" rtlCol="0" anchor="ctr"/>
          <a:lstStyle/>
          <a:p>
            <a:pPr indent="0" marL="0">
              <a:buNone/>
            </a:pPr>
            <a:r>
              <a:rPr lang="en-US" sz="1500" i="1" dirty="0">
                <a:solidFill>
                  <a:srgbClr val="1E293B"/>
                </a:solidFill>
                <a:latin typeface="Georgia" pitchFamily="34" charset="0"/>
                <a:ea typeface="Georgia" pitchFamily="34" charset="-122"/>
                <a:cs typeface="Georgia" pitchFamily="34" charset="-120"/>
              </a:rPr>
              <a:t>in september i thought reading was about finishing pages. now i understand that reading is about asking questions — what does this character want why does the author make this choice what does this moment reveal that i couldn't see before</a:t>
            </a:r>
            <a:endParaRPr lang="en-US" sz="1500" dirty="0"/>
          </a:p>
        </p:txBody>
      </p:sp>
      <p:sp>
        <p:nvSpPr>
          <p:cNvPr id="9" name="Text 7"/>
          <p:cNvSpPr/>
          <p:nvPr/>
        </p:nvSpPr>
        <p:spPr>
          <a:xfrm>
            <a:off x="457200" y="2240280"/>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
        <p:nvSpPr>
          <p:cNvPr id="10" name="Shape 8"/>
          <p:cNvSpPr/>
          <p:nvPr/>
        </p:nvSpPr>
        <p:spPr>
          <a:xfrm>
            <a:off x="365760" y="2743200"/>
            <a:ext cx="8412480" cy="1737360"/>
          </a:xfrm>
          <a:prstGeom prst="roundRect">
            <a:avLst>
              <a:gd name="adj" fmla="val 5263"/>
            </a:avLst>
          </a:prstGeom>
          <a:solidFill>
            <a:srgbClr val="E8F8EF"/>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83464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  CORRECTED</a:t>
            </a:r>
            <a:endParaRPr lang="en-US" sz="1100" dirty="0"/>
          </a:p>
        </p:txBody>
      </p:sp>
      <p:sp>
        <p:nvSpPr>
          <p:cNvPr id="12" name="Text 10"/>
          <p:cNvSpPr/>
          <p:nvPr/>
        </p:nvSpPr>
        <p:spPr>
          <a:xfrm>
            <a:off x="594360" y="3127248"/>
            <a:ext cx="7955280" cy="1234440"/>
          </a:xfrm>
          <a:prstGeom prst="rect">
            <a:avLst/>
          </a:prstGeom>
          <a:noFill/>
          <a:ln/>
        </p:spPr>
        <p:txBody>
          <a:bodyPr wrap="square" lIns="0" tIns="0" rIns="0" bIns="0" rtlCol="0" anchor="t"/>
          <a:lstStyle/>
          <a:p>
            <a:pPr indent="0" marL="0">
              <a:buNone/>
            </a:pPr>
            <a:r>
              <a:rPr lang="en-US" sz="1300" b="1" i="1" dirty="0">
                <a:solidFill>
                  <a:srgbClr val="1E293B"/>
                </a:solidFill>
                <a:latin typeface="Calibri" pitchFamily="34" charset="0"/>
                <a:ea typeface="Calibri" pitchFamily="34" charset="-122"/>
                <a:cs typeface="Calibri" pitchFamily="34" charset="-120"/>
              </a:rPr>
              <a:t>In September, I thought reading was about finishing pages. Now I understand that reading is about asking questions — what does this character want? Why does the author make this choice? What does this moment reveal that I couldn't see before?</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400" b="1" dirty="0">
                <a:solidFill>
                  <a:srgbClr val="0E1C42"/>
                </a:solidFill>
                <a:latin typeface="Calibri" pitchFamily="34" charset="0"/>
                <a:ea typeface="Calibri" pitchFamily="34" charset="-122"/>
                <a:cs typeface="Calibri" pitchFamily="34" charset="-120"/>
              </a:rPr>
              <a:t>🔬 Morphology: Reflection &amp; Application — SWYK</a:t>
            </a:r>
            <a:endParaRPr lang="en-US" sz="24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Text 2"/>
          <p:cNvSpPr/>
          <p:nvPr/>
        </p:nvSpPr>
        <p:spPr>
          <a:xfrm>
            <a:off x="365760" y="804672"/>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Which roots shaped your vocabulary this year?</a:t>
            </a:r>
            <a:endParaRPr lang="en-US" sz="1100" dirty="0"/>
          </a:p>
        </p:txBody>
      </p:sp>
      <p:sp>
        <p:nvSpPr>
          <p:cNvPr id="5" name="Shape 3"/>
          <p:cNvSpPr/>
          <p:nvPr/>
        </p:nvSpPr>
        <p:spPr>
          <a:xfrm>
            <a:off x="365760" y="1078992"/>
            <a:ext cx="8412480" cy="512064"/>
          </a:xfrm>
          <a:prstGeom prst="roundRect">
            <a:avLst>
              <a:gd name="adj" fmla="val 17857"/>
            </a:avLst>
          </a:prstGeom>
          <a:solidFill>
            <a:srgbClr val="F8FAFC"/>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24712"/>
            <a:ext cx="8046720" cy="420624"/>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You studied 20+ roots and suffixes across six units this year.</a:t>
            </a:r>
            <a:endParaRPr lang="en-US" sz="1150" dirty="0"/>
          </a:p>
        </p:txBody>
      </p:sp>
      <p:sp>
        <p:nvSpPr>
          <p:cNvPr id="7" name="Shape 5"/>
          <p:cNvSpPr/>
          <p:nvPr/>
        </p:nvSpPr>
        <p:spPr>
          <a:xfrm>
            <a:off x="365760" y="1645920"/>
            <a:ext cx="8412480" cy="512064"/>
          </a:xfrm>
          <a:prstGeom prst="roundRect">
            <a:avLst>
              <a:gd name="adj" fmla="val 17857"/>
            </a:avLst>
          </a:prstGeom>
          <a:solidFill>
            <a:srgbClr val="F8F4FF"/>
          </a:solidFill>
          <a:ln/>
          <a:effectLst>
            <a:outerShdw sx="100000" sy="100000" kx="0" ky="0" algn="bl" rotWithShape="0" blurRad="101600" dist="38100" dir="2700000">
              <a:srgbClr val="000000">
                <a:alpha val="12000"/>
              </a:srgbClr>
            </a:outerShdw>
          </a:effectLst>
        </p:spPr>
      </p:sp>
      <p:sp>
        <p:nvSpPr>
          <p:cNvPr id="8" name="Text 6"/>
          <p:cNvSpPr/>
          <p:nvPr/>
        </p:nvSpPr>
        <p:spPr>
          <a:xfrm>
            <a:off x="548640" y="1691640"/>
            <a:ext cx="8046720" cy="420624"/>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aud/or (hear/speak) · rid/ris + lud/lus (laugh/play) · curr/curs + tract (run/pull)</a:t>
            </a:r>
            <a:endParaRPr lang="en-US" sz="1150" dirty="0"/>
          </a:p>
        </p:txBody>
      </p:sp>
      <p:sp>
        <p:nvSpPr>
          <p:cNvPr id="9" name="Shape 7"/>
          <p:cNvSpPr/>
          <p:nvPr/>
        </p:nvSpPr>
        <p:spPr>
          <a:xfrm>
            <a:off x="365760" y="2212848"/>
            <a:ext cx="8412480" cy="512064"/>
          </a:xfrm>
          <a:prstGeom prst="roundRect">
            <a:avLst>
              <a:gd name="adj" fmla="val 17857"/>
            </a:avLst>
          </a:prstGeom>
          <a:solidFill>
            <a:srgbClr val="F8FAFC"/>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2258568"/>
            <a:ext cx="8046720" cy="420624"/>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fort + val/valid (strong/worth) · –ous / –ive / –ity (character/quality suffixes)</a:t>
            </a:r>
            <a:endParaRPr lang="en-US" sz="1150" dirty="0"/>
          </a:p>
        </p:txBody>
      </p:sp>
      <p:sp>
        <p:nvSpPr>
          <p:cNvPr id="11" name="Shape 9"/>
          <p:cNvSpPr/>
          <p:nvPr/>
        </p:nvSpPr>
        <p:spPr>
          <a:xfrm>
            <a:off x="365760" y="2779776"/>
            <a:ext cx="8412480" cy="512064"/>
          </a:xfrm>
          <a:prstGeom prst="roundRect">
            <a:avLst>
              <a:gd name="adj" fmla="val 17857"/>
            </a:avLst>
          </a:prstGeom>
          <a:solidFill>
            <a:srgbClr val="F8F4FF"/>
          </a:solidFill>
          <a:ln/>
          <a:effectLst>
            <a:outerShdw sx="100000" sy="100000" kx="0" ky="0" algn="bl" rotWithShape="0" blurRad="101600" dist="38100" dir="2700000">
              <a:srgbClr val="000000">
                <a:alpha val="12000"/>
              </a:srgbClr>
            </a:outerShdw>
          </a:effectLst>
        </p:spPr>
      </p:sp>
      <p:sp>
        <p:nvSpPr>
          <p:cNvPr id="12" name="Text 10"/>
          <p:cNvSpPr/>
          <p:nvPr/>
        </p:nvSpPr>
        <p:spPr>
          <a:xfrm>
            <a:off x="548640" y="2825496"/>
            <a:ext cx="8046720" cy="420624"/>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The most important skill: break the word apart, find the root, reconstruct the meaning.</a:t>
            </a:r>
            <a:endParaRPr lang="en-US" sz="1150" dirty="0"/>
          </a:p>
        </p:txBody>
      </p:sp>
      <p:sp>
        <p:nvSpPr>
          <p:cNvPr id="13" name="Shape 11"/>
          <p:cNvSpPr/>
          <p:nvPr/>
        </p:nvSpPr>
        <p:spPr>
          <a:xfrm>
            <a:off x="365760" y="3419856"/>
            <a:ext cx="8412480" cy="1371600"/>
          </a:xfrm>
          <a:prstGeom prst="roundRect">
            <a:avLst>
              <a:gd name="adj" fmla="val 6667"/>
            </a:avLst>
          </a:prstGeom>
          <a:solidFill>
            <a:srgbClr val="FEF6E8"/>
          </a:solidFill>
          <a:ln w="12700">
            <a:solidFill>
              <a:srgbClr val="C7922C"/>
            </a:solidFill>
            <a:prstDash val="solid"/>
          </a:ln>
        </p:spPr>
      </p:sp>
      <p:sp>
        <p:nvSpPr>
          <p:cNvPr id="14" name="Text 12"/>
          <p:cNvSpPr/>
          <p:nvPr/>
        </p:nvSpPr>
        <p:spPr>
          <a:xfrm>
            <a:off x="548640" y="3493008"/>
            <a:ext cx="8046720" cy="1225296"/>
          </a:xfrm>
          <a:prstGeom prst="rect">
            <a:avLst/>
          </a:prstGeom>
          <a:noFill/>
          <a:ln/>
        </p:spPr>
        <p:txBody>
          <a:bodyPr wrap="square" lIns="0" tIns="0" rIns="0" bIns="0" rtlCol="0" anchor="t"/>
          <a:lstStyle/>
          <a:p>
            <a:pPr indent="0" marL="0">
              <a:buNone/>
            </a:pPr>
            <a:r>
              <a:rPr lang="en-US" sz="1100" b="1" dirty="0">
                <a:solidFill>
                  <a:srgbClr val="C7922C"/>
                </a:solidFill>
                <a:latin typeface="Calibri" pitchFamily="34" charset="0"/>
                <a:ea typeface="Calibri" pitchFamily="34" charset="-122"/>
                <a:cs typeface="Calibri" pitchFamily="34" charset="-120"/>
              </a:rPr>
              <a:t>🫖 Show What You Know
</a:t>
            </a:r>
            <a:pPr indent="0" marL="0">
              <a:buNone/>
            </a:pPr>
            <a:r>
              <a:rPr lang="en-US" sz="1100" i="1" dirty="0">
                <a:solidFill>
                  <a:srgbClr val="1E293B"/>
                </a:solidFill>
                <a:latin typeface="Calibri" pitchFamily="34" charset="0"/>
                <a:ea typeface="Calibri" pitchFamily="34" charset="-122"/>
                <a:cs typeface="Calibri" pitchFamily="34" charset="-120"/>
              </a:rPr>
              <a:t>Choose the one root family from this year that you found most useful — and explain your choice. Then: (a) name the root and its meaning, (b) list five words built from it, (c) explain why these words matter for the reading and writing you'll do in 6th grade and beyond.</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400" b="1" dirty="0">
                <a:solidFill>
                  <a:srgbClr val="0E1C42"/>
                </a:solidFill>
                <a:latin typeface="Calibri" pitchFamily="34" charset="0"/>
                <a:ea typeface="Calibri" pitchFamily="34" charset="-122"/>
                <a:cs typeface="Calibri" pitchFamily="34" charset="-120"/>
              </a:rPr>
              <a:t>🎤 Speaking: Voice, Tone &amp; Pacing</a:t>
            </a:r>
            <a:endParaRPr lang="en-US" sz="24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Text 2"/>
          <p:cNvSpPr/>
          <p:nvPr/>
        </p:nvSpPr>
        <p:spPr>
          <a:xfrm>
            <a:off x="365760" y="804672"/>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The tools of a confident presenter</a:t>
            </a:r>
            <a:endParaRPr lang="en-US" sz="1100" dirty="0"/>
          </a:p>
        </p:txBody>
      </p:sp>
      <p:sp>
        <p:nvSpPr>
          <p:cNvPr id="5" name="Shape 3"/>
          <p:cNvSpPr/>
          <p:nvPr/>
        </p:nvSpPr>
        <p:spPr>
          <a:xfrm>
            <a:off x="365760" y="1078992"/>
            <a:ext cx="8412480" cy="512064"/>
          </a:xfrm>
          <a:prstGeom prst="roundRect">
            <a:avLst>
              <a:gd name="adj" fmla="val 17857"/>
            </a:avLst>
          </a:prstGeom>
          <a:solidFill>
            <a:srgbClr val="F8FAFC"/>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24712"/>
            <a:ext cx="8046720" cy="420624"/>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Voice: Not just volume — it's personality. Sound like YOU speaking about something you care about.</a:t>
            </a:r>
            <a:endParaRPr lang="en-US" sz="1150" dirty="0"/>
          </a:p>
        </p:txBody>
      </p:sp>
      <p:sp>
        <p:nvSpPr>
          <p:cNvPr id="7" name="Shape 5"/>
          <p:cNvSpPr/>
          <p:nvPr/>
        </p:nvSpPr>
        <p:spPr>
          <a:xfrm>
            <a:off x="365760" y="1645920"/>
            <a:ext cx="8412480" cy="512064"/>
          </a:xfrm>
          <a:prstGeom prst="roundRect">
            <a:avLst>
              <a:gd name="adj" fmla="val 17857"/>
            </a:avLst>
          </a:prstGeom>
          <a:solidFill>
            <a:srgbClr val="F8F4FF"/>
          </a:solidFill>
          <a:ln/>
          <a:effectLst>
            <a:outerShdw sx="100000" sy="100000" kx="0" ky="0" algn="bl" rotWithShape="0" blurRad="101600" dist="38100" dir="2700000">
              <a:srgbClr val="000000">
                <a:alpha val="12000"/>
              </a:srgbClr>
            </a:outerShdw>
          </a:effectLst>
        </p:spPr>
      </p:sp>
      <p:sp>
        <p:nvSpPr>
          <p:cNvPr id="8" name="Text 6"/>
          <p:cNvSpPr/>
          <p:nvPr/>
        </p:nvSpPr>
        <p:spPr>
          <a:xfrm>
            <a:off x="548640" y="1691640"/>
            <a:ext cx="8046720" cy="420624"/>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Tone: Match your tone to your content. A funny moment can be funny; a moving moment can move your listener.</a:t>
            </a:r>
            <a:endParaRPr lang="en-US" sz="1150" dirty="0"/>
          </a:p>
        </p:txBody>
      </p:sp>
      <p:sp>
        <p:nvSpPr>
          <p:cNvPr id="9" name="Shape 7"/>
          <p:cNvSpPr/>
          <p:nvPr/>
        </p:nvSpPr>
        <p:spPr>
          <a:xfrm>
            <a:off x="365760" y="2212848"/>
            <a:ext cx="8412480" cy="512064"/>
          </a:xfrm>
          <a:prstGeom prst="roundRect">
            <a:avLst>
              <a:gd name="adj" fmla="val 17857"/>
            </a:avLst>
          </a:prstGeom>
          <a:solidFill>
            <a:srgbClr val="F8FAFC"/>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2258568"/>
            <a:ext cx="8046720" cy="420624"/>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Pacing: Slow down at important moments. Speed up at exciting ones. Pause before a quotation.</a:t>
            </a:r>
            <a:endParaRPr lang="en-US" sz="1150" dirty="0"/>
          </a:p>
        </p:txBody>
      </p:sp>
      <p:sp>
        <p:nvSpPr>
          <p:cNvPr id="11" name="Shape 9"/>
          <p:cNvSpPr/>
          <p:nvPr/>
        </p:nvSpPr>
        <p:spPr>
          <a:xfrm>
            <a:off x="365760" y="2779776"/>
            <a:ext cx="8412480" cy="512064"/>
          </a:xfrm>
          <a:prstGeom prst="roundRect">
            <a:avLst>
              <a:gd name="adj" fmla="val 17857"/>
            </a:avLst>
          </a:prstGeom>
          <a:solidFill>
            <a:srgbClr val="F8F4FF"/>
          </a:solidFill>
          <a:ln/>
          <a:effectLst>
            <a:outerShdw sx="100000" sy="100000" kx="0" ky="0" algn="bl" rotWithShape="0" blurRad="101600" dist="38100" dir="2700000">
              <a:srgbClr val="000000">
                <a:alpha val="12000"/>
              </a:srgbClr>
            </a:outerShdw>
          </a:effectLst>
        </p:spPr>
      </p:sp>
      <p:sp>
        <p:nvSpPr>
          <p:cNvPr id="12" name="Text 10"/>
          <p:cNvSpPr/>
          <p:nvPr/>
        </p:nvSpPr>
        <p:spPr>
          <a:xfrm>
            <a:off x="548640" y="2825496"/>
            <a:ext cx="8046720" cy="420624"/>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Most important rule: Make eye contact (or talk to the camera).</a:t>
            </a:r>
            <a:endParaRPr lang="en-US" sz="1150" dirty="0"/>
          </a:p>
        </p:txBody>
      </p:sp>
      <p:sp>
        <p:nvSpPr>
          <p:cNvPr id="13" name="Shape 11"/>
          <p:cNvSpPr/>
          <p:nvPr/>
        </p:nvSpPr>
        <p:spPr>
          <a:xfrm>
            <a:off x="365760" y="3419856"/>
            <a:ext cx="8412480" cy="1005840"/>
          </a:xfrm>
          <a:prstGeom prst="roundRect">
            <a:avLst>
              <a:gd name="adj" fmla="val 9091"/>
            </a:avLst>
          </a:prstGeom>
          <a:solidFill>
            <a:srgbClr val="FEF6E8"/>
          </a:solidFill>
          <a:ln w="12700">
            <a:solidFill>
              <a:srgbClr val="C7922C"/>
            </a:solidFill>
            <a:prstDash val="solid"/>
          </a:ln>
        </p:spPr>
      </p:sp>
      <p:sp>
        <p:nvSpPr>
          <p:cNvPr id="14" name="Text 12"/>
          <p:cNvSpPr/>
          <p:nvPr/>
        </p:nvSpPr>
        <p:spPr>
          <a:xfrm>
            <a:off x="548640" y="3493008"/>
            <a:ext cx="8046720" cy="859536"/>
          </a:xfrm>
          <a:prstGeom prst="rect">
            <a:avLst/>
          </a:prstGeom>
          <a:noFill/>
          <a:ln/>
        </p:spPr>
        <p:txBody>
          <a:bodyPr wrap="square" lIns="0" tIns="0" rIns="0" bIns="0" rtlCol="0" anchor="t"/>
          <a:lstStyle/>
          <a:p>
            <a:pPr indent="0" marL="0">
              <a:buNone/>
            </a:pPr>
            <a:r>
              <a:rPr lang="en-US" sz="1100" b="1" dirty="0">
                <a:solidFill>
                  <a:srgbClr val="C7922C"/>
                </a:solidFill>
                <a:latin typeface="Calibri" pitchFamily="34" charset="0"/>
                <a:ea typeface="Calibri" pitchFamily="34" charset="-122"/>
                <a:cs typeface="Calibri" pitchFamily="34" charset="-120"/>
              </a:rPr>
              <a:t>✏️ In Your Journal
</a:t>
            </a:r>
            <a:pPr indent="0" marL="0">
              <a:buNone/>
            </a:pPr>
            <a:r>
              <a:rPr lang="en-US" sz="1100" i="1" dirty="0">
                <a:solidFill>
                  <a:srgbClr val="1E293B"/>
                </a:solidFill>
                <a:latin typeface="Calibri" pitchFamily="34" charset="0"/>
                <a:ea typeface="Calibri" pitchFamily="34" charset="-122"/>
                <a:cs typeface="Calibri" pitchFamily="34" charset="-120"/>
              </a:rPr>
              <a:t>Choose one moment from the year's reading that would be hard to present — the emotion is complex, the humor is subtle, or the language is beautiful. Write 2 sentences about how you would use voice, tone, and pacing to share that moment.</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400" b="1" dirty="0">
                <a:solidFill>
                  <a:srgbClr val="0E1C42"/>
                </a:solidFill>
                <a:latin typeface="Calibri" pitchFamily="34" charset="0"/>
                <a:ea typeface="Calibri" pitchFamily="34" charset="-122"/>
                <a:cs typeface="Calibri" pitchFamily="34" charset="-120"/>
              </a:rPr>
              <a:t>🔠 Spelling: Final Review</a:t>
            </a:r>
            <a:endParaRPr lang="en-US" sz="24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Text 2"/>
          <p:cNvSpPr/>
          <p:nvPr/>
        </p:nvSpPr>
        <p:spPr>
          <a:xfrm>
            <a:off x="365760" y="804672"/>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The vocabulary of a 5th-grade scholar — one last time</a:t>
            </a:r>
            <a:endParaRPr lang="en-US" sz="1100" dirty="0"/>
          </a:p>
        </p:txBody>
      </p:sp>
      <p:sp>
        <p:nvSpPr>
          <p:cNvPr id="5" name="Shape 3"/>
          <p:cNvSpPr/>
          <p:nvPr/>
        </p:nvSpPr>
        <p:spPr>
          <a:xfrm>
            <a:off x="365760" y="1078992"/>
            <a:ext cx="8412480" cy="512064"/>
          </a:xfrm>
          <a:prstGeom prst="roundRect">
            <a:avLst>
              <a:gd name="adj" fmla="val 17857"/>
            </a:avLst>
          </a:prstGeom>
          <a:solidFill>
            <a:srgbClr val="F8FAFC"/>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24712"/>
            <a:ext cx="8046720" cy="420624"/>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fortitude · tenacious · ludicrous · notoriety · exuberance · consequently · nevertheless · validity · persistence · extraction · descriptive · spirited · reconcile · reunion · reprieve · counsel · exasperation · beneficial · latitude · celestial · defiance · rebellion · apprentice · conviction · declaration</a:t>
            </a:r>
            <a:endParaRPr lang="en-US" sz="1150" dirty="0"/>
          </a:p>
        </p:txBody>
      </p:sp>
      <p:sp>
        <p:nvSpPr>
          <p:cNvPr id="7" name="Shape 5"/>
          <p:cNvSpPr/>
          <p:nvPr/>
        </p:nvSpPr>
        <p:spPr>
          <a:xfrm>
            <a:off x="365760" y="1719072"/>
            <a:ext cx="8412480" cy="1005840"/>
          </a:xfrm>
          <a:prstGeom prst="roundRect">
            <a:avLst>
              <a:gd name="adj" fmla="val 9091"/>
            </a:avLst>
          </a:prstGeom>
          <a:solidFill>
            <a:srgbClr val="FEF6E8"/>
          </a:solidFill>
          <a:ln w="12700">
            <a:solidFill>
              <a:srgbClr val="C7922C"/>
            </a:solidFill>
            <a:prstDash val="solid"/>
          </a:ln>
        </p:spPr>
      </p:sp>
      <p:sp>
        <p:nvSpPr>
          <p:cNvPr id="8" name="Text 6"/>
          <p:cNvSpPr/>
          <p:nvPr/>
        </p:nvSpPr>
        <p:spPr>
          <a:xfrm>
            <a:off x="548640" y="1792224"/>
            <a:ext cx="8046720" cy="859536"/>
          </a:xfrm>
          <a:prstGeom prst="rect">
            <a:avLst/>
          </a:prstGeom>
          <a:noFill/>
          <a:ln/>
        </p:spPr>
        <p:txBody>
          <a:bodyPr wrap="square" lIns="0" tIns="0" rIns="0" bIns="0" rtlCol="0" anchor="t"/>
          <a:lstStyle/>
          <a:p>
            <a:pPr indent="0" marL="0">
              <a:buNone/>
            </a:pPr>
            <a:r>
              <a:rPr lang="en-US" sz="1100" b="1" dirty="0">
                <a:solidFill>
                  <a:srgbClr val="C7922C"/>
                </a:solidFill>
                <a:latin typeface="Calibri" pitchFamily="34" charset="0"/>
                <a:ea typeface="Calibri" pitchFamily="34" charset="-122"/>
                <a:cs typeface="Calibri" pitchFamily="34" charset="-120"/>
              </a:rPr>
              <a:t>✏️ In Your Journal
</a:t>
            </a:r>
            <a:pPr indent="0" marL="0">
              <a:buNone/>
            </a:pPr>
            <a:r>
              <a:rPr lang="en-US" sz="1100" i="1" dirty="0">
                <a:solidFill>
                  <a:srgbClr val="1E293B"/>
                </a:solidFill>
                <a:latin typeface="Calibri" pitchFamily="34" charset="0"/>
                <a:ea typeface="Calibri" pitchFamily="34" charset="-122"/>
                <a:cs typeface="Calibri" pitchFamily="34" charset="-120"/>
              </a:rPr>
              <a:t>Choose the five unit words that gave you the most trouble this year. Write each one three times — correct spelling only. Then write a sentence using each one.</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400" b="1" dirty="0">
                <a:solidFill>
                  <a:srgbClr val="0E1C42"/>
                </a:solidFill>
                <a:latin typeface="Calibri" pitchFamily="34" charset="0"/>
                <a:ea typeface="Calibri" pitchFamily="34" charset="-122"/>
                <a:cs typeface="Calibri" pitchFamily="34" charset="-120"/>
              </a:rPr>
              <a:t>📖 Your Year-End Portfolio: Three Parts</a:t>
            </a:r>
            <a:endParaRPr lang="en-US" sz="24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Text 2"/>
          <p:cNvSpPr/>
          <p:nvPr/>
        </p:nvSpPr>
        <p:spPr>
          <a:xfrm>
            <a:off x="365760" y="804672"/>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What goes in it — and how to make each part matter</a:t>
            </a:r>
            <a:endParaRPr lang="en-US" sz="1100" dirty="0"/>
          </a:p>
        </p:txBody>
      </p:sp>
      <p:sp>
        <p:nvSpPr>
          <p:cNvPr id="5" name="Shape 3"/>
          <p:cNvSpPr/>
          <p:nvPr/>
        </p:nvSpPr>
        <p:spPr>
          <a:xfrm>
            <a:off x="365760" y="1051560"/>
            <a:ext cx="8412480" cy="512064"/>
          </a:xfrm>
          <a:prstGeom prst="roundRect">
            <a:avLst>
              <a:gd name="adj" fmla="val 17857"/>
            </a:avLst>
          </a:prstGeom>
          <a:solidFill>
            <a:srgbClr val="F8FAFC"/>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097280"/>
            <a:ext cx="8046720" cy="420624"/>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Part 1 — Reader's Portrait: Who were you as a reader in September? Who are you now? What changed — and what caused the change? (3–4 sentences, specific and honest)</a:t>
            </a:r>
            <a:endParaRPr lang="en-US" sz="1100" dirty="0"/>
          </a:p>
        </p:txBody>
      </p:sp>
      <p:sp>
        <p:nvSpPr>
          <p:cNvPr id="7" name="Shape 5"/>
          <p:cNvSpPr/>
          <p:nvPr/>
        </p:nvSpPr>
        <p:spPr>
          <a:xfrm>
            <a:off x="365760" y="1618488"/>
            <a:ext cx="8412480" cy="512064"/>
          </a:xfrm>
          <a:prstGeom prst="roundRect">
            <a:avLst>
              <a:gd name="adj" fmla="val 17857"/>
            </a:avLst>
          </a:prstGeom>
          <a:solidFill>
            <a:srgbClr val="F0F8F2"/>
          </a:solidFill>
          <a:ln/>
          <a:effectLst>
            <a:outerShdw sx="100000" sy="100000" kx="0" ky="0" algn="bl" rotWithShape="0" blurRad="101600" dist="38100" dir="2700000">
              <a:srgbClr val="000000">
                <a:alpha val="12000"/>
              </a:srgbClr>
            </a:outerShdw>
          </a:effectLst>
        </p:spPr>
      </p:sp>
      <p:sp>
        <p:nvSpPr>
          <p:cNvPr id="8" name="Text 6"/>
          <p:cNvSpPr/>
          <p:nvPr/>
        </p:nvSpPr>
        <p:spPr>
          <a:xfrm>
            <a:off x="548640" y="1664208"/>
            <a:ext cx="8046720" cy="420624"/>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Part 2 — Text Spotlight: The text that meant the most to you. Introduce it, read a short excerpt aloud, explain why it mattered. (2–3 sentence intro + excerpt + 2–3 sentence explanation)</a:t>
            </a:r>
            <a:endParaRPr lang="en-US" sz="1100" dirty="0"/>
          </a:p>
        </p:txBody>
      </p:sp>
      <p:sp>
        <p:nvSpPr>
          <p:cNvPr id="9" name="Shape 7"/>
          <p:cNvSpPr/>
          <p:nvPr/>
        </p:nvSpPr>
        <p:spPr>
          <a:xfrm>
            <a:off x="365760" y="2185416"/>
            <a:ext cx="8412480" cy="512064"/>
          </a:xfrm>
          <a:prstGeom prst="roundRect">
            <a:avLst>
              <a:gd name="adj" fmla="val 17857"/>
            </a:avLst>
          </a:prstGeom>
          <a:solidFill>
            <a:srgbClr val="F8FAFC"/>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2231136"/>
            <a:ext cx="8046720" cy="420624"/>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Part 3 — Writer's Statement: What did you discover about yourself as a writer this year? What one technique most changed your writing? How did you apply it? (3–4 sentences)</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400" b="1" dirty="0">
                <a:solidFill>
                  <a:srgbClr val="0E1C42"/>
                </a:solidFill>
                <a:latin typeface="Calibri" pitchFamily="34" charset="0"/>
                <a:ea typeface="Calibri" pitchFamily="34" charset="-122"/>
                <a:cs typeface="Calibri" pitchFamily="34" charset="-120"/>
              </a:rPr>
              <a:t>💬 Reflection Question 1</a:t>
            </a:r>
            <a:endParaRPr lang="en-US" sz="24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Shape 2"/>
          <p:cNvSpPr/>
          <p:nvPr/>
        </p:nvSpPr>
        <p:spPr>
          <a:xfrm>
            <a:off x="6492240" y="173736"/>
            <a:ext cx="2286000" cy="502920"/>
          </a:xfrm>
          <a:prstGeom prst="roundRect">
            <a:avLst>
              <a:gd name="adj" fmla="val 21818"/>
            </a:avLst>
          </a:prstGeom>
          <a:solidFill>
            <a:srgbClr val="34B76F"/>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CHAT PROMPT</a:t>
            </a:r>
            <a:endParaRPr lang="en-US" sz="1100" dirty="0"/>
          </a:p>
        </p:txBody>
      </p:sp>
      <p:sp>
        <p:nvSpPr>
          <p:cNvPr id="6" name="Shape 4"/>
          <p:cNvSpPr/>
          <p:nvPr/>
        </p:nvSpPr>
        <p:spPr>
          <a:xfrm>
            <a:off x="365760" y="914400"/>
            <a:ext cx="8412480" cy="3291840"/>
          </a:xfrm>
          <a:prstGeom prst="roundRect">
            <a:avLst>
              <a:gd name="adj" fmla="val 2778"/>
            </a:avLst>
          </a:prstGeom>
          <a:solidFill>
            <a:srgbClr val="FFFFFF"/>
          </a:solidFill>
          <a:ln/>
          <a:effectLst>
            <a:outerShdw sx="100000" sy="100000" kx="0" ky="0" algn="bl" rotWithShape="0" blurRad="101600" dist="38100" dir="2700000">
              <a:srgbClr val="000000">
                <a:alpha val="12000"/>
              </a:srgbClr>
            </a:outerShdw>
          </a:effectLst>
        </p:spPr>
      </p:sp>
      <p:sp>
        <p:nvSpPr>
          <p:cNvPr id="7" name="Text 5"/>
          <p:cNvSpPr/>
          <p:nvPr/>
        </p:nvSpPr>
        <p:spPr>
          <a:xfrm>
            <a:off x="594360" y="1051560"/>
            <a:ext cx="7955280" cy="3017520"/>
          </a:xfrm>
          <a:prstGeom prst="rect">
            <a:avLst/>
          </a:prstGeom>
          <a:noFill/>
          <a:ln/>
        </p:spPr>
        <p:txBody>
          <a:bodyPr wrap="square" lIns="0" tIns="0" rIns="0" bIns="0" rtlCol="0" anchor="t"/>
          <a:lstStyle/>
          <a:p>
            <a:pPr indent="0" marL="0">
              <a:buNone/>
            </a:pPr>
            <a:r>
              <a:rPr lang="en-US" sz="1500" dirty="0">
                <a:solidFill>
                  <a:srgbClr val="1E293B"/>
                </a:solidFill>
                <a:latin typeface="Calibri" pitchFamily="34" charset="0"/>
                <a:ea typeface="Calibri" pitchFamily="34" charset="-122"/>
                <a:cs typeface="Calibri" pitchFamily="34" charset="-120"/>
              </a:rPr>
              <a:t>Write your Reader's Portrait — Part 1 of your portfolio. Who were you as a reader in September? Who are you now? Name at least two specific things that changed — and trace at least one back to a specific book, scene, or assignment from this year.</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400" b="1" dirty="0">
                <a:solidFill>
                  <a:srgbClr val="0E1C42"/>
                </a:solidFill>
                <a:latin typeface="Calibri" pitchFamily="34" charset="0"/>
                <a:ea typeface="Calibri" pitchFamily="34" charset="-122"/>
                <a:cs typeface="Calibri" pitchFamily="34" charset="-120"/>
              </a:rPr>
              <a:t>💬 Reflection Question 2</a:t>
            </a:r>
            <a:endParaRPr lang="en-US" sz="24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Shape 2"/>
          <p:cNvSpPr/>
          <p:nvPr/>
        </p:nvSpPr>
        <p:spPr>
          <a:xfrm>
            <a:off x="6492240" y="173736"/>
            <a:ext cx="2286000" cy="502920"/>
          </a:xfrm>
          <a:prstGeom prst="roundRect">
            <a:avLst>
              <a:gd name="adj" fmla="val 21818"/>
            </a:avLst>
          </a:prstGeom>
          <a:solidFill>
            <a:srgbClr val="34B76F"/>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CHAT PROMPT</a:t>
            </a:r>
            <a:endParaRPr lang="en-US" sz="1100" dirty="0"/>
          </a:p>
        </p:txBody>
      </p:sp>
      <p:sp>
        <p:nvSpPr>
          <p:cNvPr id="6" name="Shape 4"/>
          <p:cNvSpPr/>
          <p:nvPr/>
        </p:nvSpPr>
        <p:spPr>
          <a:xfrm>
            <a:off x="365760" y="914400"/>
            <a:ext cx="8412480" cy="3291840"/>
          </a:xfrm>
          <a:prstGeom prst="roundRect">
            <a:avLst>
              <a:gd name="adj" fmla="val 2778"/>
            </a:avLst>
          </a:prstGeom>
          <a:solidFill>
            <a:srgbClr val="FFFFFF"/>
          </a:solidFill>
          <a:ln/>
          <a:effectLst>
            <a:outerShdw sx="100000" sy="100000" kx="0" ky="0" algn="bl" rotWithShape="0" blurRad="101600" dist="38100" dir="2700000">
              <a:srgbClr val="000000">
                <a:alpha val="12000"/>
              </a:srgbClr>
            </a:outerShdw>
          </a:effectLst>
        </p:spPr>
      </p:sp>
      <p:sp>
        <p:nvSpPr>
          <p:cNvPr id="7" name="Text 5"/>
          <p:cNvSpPr/>
          <p:nvPr/>
        </p:nvSpPr>
        <p:spPr>
          <a:xfrm>
            <a:off x="594360" y="1051560"/>
            <a:ext cx="7955280" cy="3017520"/>
          </a:xfrm>
          <a:prstGeom prst="rect">
            <a:avLst/>
          </a:prstGeom>
          <a:noFill/>
          <a:ln/>
        </p:spPr>
        <p:txBody>
          <a:bodyPr wrap="square" lIns="0" tIns="0" rIns="0" bIns="0" rtlCol="0" anchor="t"/>
          <a:lstStyle/>
          <a:p>
            <a:pPr indent="0" marL="0">
              <a:buNone/>
            </a:pPr>
            <a:r>
              <a:rPr lang="en-US" sz="1500" dirty="0">
                <a:solidFill>
                  <a:srgbClr val="1E293B"/>
                </a:solidFill>
                <a:latin typeface="Calibri" pitchFamily="34" charset="0"/>
                <a:ea typeface="Calibri" pitchFamily="34" charset="-122"/>
                <a:cs typeface="Calibri" pitchFamily="34" charset="-120"/>
              </a:rPr>
              <a:t>Plan your Text Spotlight — Part 2. Which text mattered most this year? Name it, write 2–3 sentences about why you chose it, and identify the specific passage you will read aloud. Copy out the first line of your chosen excerpt.</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400" b="1" dirty="0">
                <a:solidFill>
                  <a:srgbClr val="0E1C42"/>
                </a:solidFill>
                <a:latin typeface="Calibri" pitchFamily="34" charset="0"/>
                <a:ea typeface="Calibri" pitchFamily="34" charset="-122"/>
                <a:cs typeface="Calibri" pitchFamily="34" charset="-120"/>
              </a:rPr>
              <a:t>💬 Reflection Question 3</a:t>
            </a:r>
            <a:endParaRPr lang="en-US" sz="24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Shape 2"/>
          <p:cNvSpPr/>
          <p:nvPr/>
        </p:nvSpPr>
        <p:spPr>
          <a:xfrm>
            <a:off x="6492240" y="173736"/>
            <a:ext cx="2286000" cy="502920"/>
          </a:xfrm>
          <a:prstGeom prst="roundRect">
            <a:avLst>
              <a:gd name="adj" fmla="val 21818"/>
            </a:avLst>
          </a:prstGeom>
          <a:solidFill>
            <a:srgbClr val="34B76F"/>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CHAT PROMPT</a:t>
            </a:r>
            <a:endParaRPr lang="en-US" sz="1100" dirty="0"/>
          </a:p>
        </p:txBody>
      </p:sp>
      <p:sp>
        <p:nvSpPr>
          <p:cNvPr id="6" name="Shape 4"/>
          <p:cNvSpPr/>
          <p:nvPr/>
        </p:nvSpPr>
        <p:spPr>
          <a:xfrm>
            <a:off x="365760" y="914400"/>
            <a:ext cx="8412480" cy="3291840"/>
          </a:xfrm>
          <a:prstGeom prst="roundRect">
            <a:avLst>
              <a:gd name="adj" fmla="val 2778"/>
            </a:avLst>
          </a:prstGeom>
          <a:solidFill>
            <a:srgbClr val="FFFFFF"/>
          </a:solidFill>
          <a:ln/>
          <a:effectLst>
            <a:outerShdw sx="100000" sy="100000" kx="0" ky="0" algn="bl" rotWithShape="0" blurRad="101600" dist="38100" dir="2700000">
              <a:srgbClr val="000000">
                <a:alpha val="12000"/>
              </a:srgbClr>
            </a:outerShdw>
          </a:effectLst>
        </p:spPr>
      </p:sp>
      <p:sp>
        <p:nvSpPr>
          <p:cNvPr id="7" name="Text 5"/>
          <p:cNvSpPr/>
          <p:nvPr/>
        </p:nvSpPr>
        <p:spPr>
          <a:xfrm>
            <a:off x="594360" y="1051560"/>
            <a:ext cx="7955280" cy="3017520"/>
          </a:xfrm>
          <a:prstGeom prst="rect">
            <a:avLst/>
          </a:prstGeom>
          <a:noFill/>
          <a:ln/>
        </p:spPr>
        <p:txBody>
          <a:bodyPr wrap="square" lIns="0" tIns="0" rIns="0" bIns="0" rtlCol="0" anchor="t"/>
          <a:lstStyle/>
          <a:p>
            <a:pPr indent="0" marL="0">
              <a:buNone/>
            </a:pPr>
            <a:r>
              <a:rPr lang="en-US" sz="1500" dirty="0">
                <a:solidFill>
                  <a:srgbClr val="1E293B"/>
                </a:solidFill>
                <a:latin typeface="Calibri" pitchFamily="34" charset="0"/>
                <a:ea typeface="Calibri" pitchFamily="34" charset="-122"/>
                <a:cs typeface="Calibri" pitchFamily="34" charset="-120"/>
              </a:rPr>
              <a:t>Write your Writer's Statement — Part 3. What did you discover about yourself as a writer? Name the one technique that most changed your writing, and show how you applied it in at least one piece from this year.</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400" b="1" dirty="0">
                <a:solidFill>
                  <a:srgbClr val="0E1C42"/>
                </a:solidFill>
                <a:latin typeface="Calibri" pitchFamily="34" charset="0"/>
                <a:ea typeface="Calibri" pitchFamily="34" charset="-122"/>
                <a:cs typeface="Calibri" pitchFamily="34" charset="-120"/>
              </a:rPr>
              <a:t>✍️ Project Workshop</a:t>
            </a:r>
            <a:endParaRPr lang="en-US" sz="24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Shape 2"/>
          <p:cNvSpPr/>
          <p:nvPr/>
        </p:nvSpPr>
        <p:spPr>
          <a:xfrm>
            <a:off x="365760" y="822960"/>
            <a:ext cx="2029968" cy="384048"/>
          </a:xfrm>
          <a:prstGeom prst="roundRect">
            <a:avLst>
              <a:gd name="adj" fmla="val 47619"/>
            </a:avLst>
          </a:prstGeom>
          <a:solidFill>
            <a:srgbClr val="C7922C"/>
          </a:solidFill>
          <a:ln/>
        </p:spPr>
      </p:sp>
      <p:sp>
        <p:nvSpPr>
          <p:cNvPr id="5" name="Text 3"/>
          <p:cNvSpPr/>
          <p:nvPr/>
        </p:nvSpPr>
        <p:spPr>
          <a:xfrm>
            <a:off x="365760" y="822960"/>
            <a:ext cx="20299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 Plan</a:t>
            </a:r>
            <a:endParaRPr lang="en-US" sz="1100" dirty="0"/>
          </a:p>
        </p:txBody>
      </p:sp>
      <p:sp>
        <p:nvSpPr>
          <p:cNvPr id="6" name="Shape 4"/>
          <p:cNvSpPr/>
          <p:nvPr/>
        </p:nvSpPr>
        <p:spPr>
          <a:xfrm>
            <a:off x="2468880" y="822960"/>
            <a:ext cx="2029968" cy="384048"/>
          </a:xfrm>
          <a:prstGeom prst="roundRect">
            <a:avLst>
              <a:gd name="adj" fmla="val 47619"/>
            </a:avLst>
          </a:prstGeom>
          <a:solidFill>
            <a:srgbClr val="E2E8F4"/>
          </a:solidFill>
          <a:ln/>
        </p:spPr>
      </p:sp>
      <p:sp>
        <p:nvSpPr>
          <p:cNvPr id="7" name="Text 5"/>
          <p:cNvSpPr/>
          <p:nvPr/>
        </p:nvSpPr>
        <p:spPr>
          <a:xfrm>
            <a:off x="2468880" y="822960"/>
            <a:ext cx="2029968" cy="384048"/>
          </a:xfrm>
          <a:prstGeom prst="rect">
            <a:avLst/>
          </a:prstGeom>
          <a:noFill/>
          <a:ln/>
        </p:spPr>
        <p:txBody>
          <a:bodyPr wrap="square" lIns="0" tIns="0" rIns="0" bIns="0" rtlCol="0" anchor="ctr"/>
          <a:lstStyle/>
          <a:p>
            <a:pPr algn="ctr" indent="0" marL="0">
              <a:buNone/>
            </a:pPr>
            <a:r>
              <a:rPr lang="en-US" sz="1100" b="1" dirty="0">
                <a:solidFill>
                  <a:srgbClr val="64748B"/>
                </a:solidFill>
                <a:latin typeface="Calibri" pitchFamily="34" charset="0"/>
                <a:ea typeface="Calibri" pitchFamily="34" charset="-122"/>
                <a:cs typeface="Calibri" pitchFamily="34" charset="-120"/>
              </a:rPr>
              <a:t>Draft</a:t>
            </a:r>
            <a:endParaRPr lang="en-US" sz="1100" dirty="0"/>
          </a:p>
        </p:txBody>
      </p:sp>
      <p:sp>
        <p:nvSpPr>
          <p:cNvPr id="8" name="Shape 6"/>
          <p:cNvSpPr/>
          <p:nvPr/>
        </p:nvSpPr>
        <p:spPr>
          <a:xfrm>
            <a:off x="4572000" y="822960"/>
            <a:ext cx="2029968" cy="384048"/>
          </a:xfrm>
          <a:prstGeom prst="roundRect">
            <a:avLst>
              <a:gd name="adj" fmla="val 47619"/>
            </a:avLst>
          </a:prstGeom>
          <a:solidFill>
            <a:srgbClr val="E2E8F4"/>
          </a:solidFill>
          <a:ln/>
        </p:spPr>
      </p:sp>
      <p:sp>
        <p:nvSpPr>
          <p:cNvPr id="9" name="Text 7"/>
          <p:cNvSpPr/>
          <p:nvPr/>
        </p:nvSpPr>
        <p:spPr>
          <a:xfrm>
            <a:off x="4572000" y="822960"/>
            <a:ext cx="2029968" cy="384048"/>
          </a:xfrm>
          <a:prstGeom prst="rect">
            <a:avLst/>
          </a:prstGeom>
          <a:noFill/>
          <a:ln/>
        </p:spPr>
        <p:txBody>
          <a:bodyPr wrap="square" lIns="0" tIns="0" rIns="0" bIns="0" rtlCol="0" anchor="ctr"/>
          <a:lstStyle/>
          <a:p>
            <a:pPr algn="ctr" indent="0" marL="0">
              <a:buNone/>
            </a:pPr>
            <a:r>
              <a:rPr lang="en-US" sz="1100" b="1" dirty="0">
                <a:solidFill>
                  <a:srgbClr val="64748B"/>
                </a:solidFill>
                <a:latin typeface="Calibri" pitchFamily="34" charset="0"/>
                <a:ea typeface="Calibri" pitchFamily="34" charset="-122"/>
                <a:cs typeface="Calibri" pitchFamily="34" charset="-120"/>
              </a:rPr>
              <a:t>Revise</a:t>
            </a:r>
            <a:endParaRPr lang="en-US" sz="1100" dirty="0"/>
          </a:p>
        </p:txBody>
      </p:sp>
      <p:sp>
        <p:nvSpPr>
          <p:cNvPr id="10" name="Shape 8"/>
          <p:cNvSpPr/>
          <p:nvPr/>
        </p:nvSpPr>
        <p:spPr>
          <a:xfrm>
            <a:off x="6675120" y="822960"/>
            <a:ext cx="2029968" cy="384048"/>
          </a:xfrm>
          <a:prstGeom prst="roundRect">
            <a:avLst>
              <a:gd name="adj" fmla="val 47619"/>
            </a:avLst>
          </a:prstGeom>
          <a:solidFill>
            <a:srgbClr val="E2E8F4"/>
          </a:solidFill>
          <a:ln/>
        </p:spPr>
      </p:sp>
      <p:sp>
        <p:nvSpPr>
          <p:cNvPr id="11" name="Text 9"/>
          <p:cNvSpPr/>
          <p:nvPr/>
        </p:nvSpPr>
        <p:spPr>
          <a:xfrm>
            <a:off x="6675120" y="822960"/>
            <a:ext cx="2029968" cy="384048"/>
          </a:xfrm>
          <a:prstGeom prst="rect">
            <a:avLst/>
          </a:prstGeom>
          <a:noFill/>
          <a:ln/>
        </p:spPr>
        <p:txBody>
          <a:bodyPr wrap="square" lIns="0" tIns="0" rIns="0" bIns="0" rtlCol="0" anchor="ctr"/>
          <a:lstStyle/>
          <a:p>
            <a:pPr algn="ctr" indent="0" marL="0">
              <a:buNone/>
            </a:pPr>
            <a:r>
              <a:rPr lang="en-US" sz="1100" b="1" dirty="0">
                <a:solidFill>
                  <a:srgbClr val="64748B"/>
                </a:solidFill>
                <a:latin typeface="Calibri" pitchFamily="34" charset="0"/>
                <a:ea typeface="Calibri" pitchFamily="34" charset="-122"/>
                <a:cs typeface="Calibri" pitchFamily="34" charset="-120"/>
              </a:rPr>
              <a:t>Present</a:t>
            </a:r>
            <a:endParaRPr lang="en-US" sz="1100" dirty="0"/>
          </a:p>
        </p:txBody>
      </p:sp>
      <p:sp>
        <p:nvSpPr>
          <p:cNvPr id="12" name="Text 10"/>
          <p:cNvSpPr/>
          <p:nvPr/>
        </p:nvSpPr>
        <p:spPr>
          <a:xfrm>
            <a:off x="365760" y="137160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 YOUR PORTFOLIO PLAN</a:t>
            </a:r>
            <a:endParaRPr lang="en-US" sz="1100" dirty="0"/>
          </a:p>
        </p:txBody>
      </p:sp>
      <p:sp>
        <p:nvSpPr>
          <p:cNvPr id="13" name="Shape 11"/>
          <p:cNvSpPr/>
          <p:nvPr/>
        </p:nvSpPr>
        <p:spPr>
          <a:xfrm>
            <a:off x="365760" y="1664208"/>
            <a:ext cx="8412480" cy="457200"/>
          </a:xfrm>
          <a:prstGeom prst="roundRect">
            <a:avLst>
              <a:gd name="adj" fmla="val 20000"/>
            </a:avLst>
          </a:prstGeom>
          <a:solidFill>
            <a:srgbClr val="FEF6E8"/>
          </a:solidFill>
          <a:ln/>
          <a:effectLst>
            <a:outerShdw sx="100000" sy="100000" kx="0" ky="0" algn="bl" rotWithShape="0" blurRad="101600" dist="38100" dir="2700000">
              <a:srgbClr val="000000">
                <a:alpha val="12000"/>
              </a:srgbClr>
            </a:outerShdw>
          </a:effectLst>
        </p:spPr>
      </p:sp>
      <p:sp>
        <p:nvSpPr>
          <p:cNvPr id="14" name="Text 12"/>
          <p:cNvSpPr/>
          <p:nvPr/>
        </p:nvSpPr>
        <p:spPr>
          <a:xfrm>
            <a:off x="548640" y="1700784"/>
            <a:ext cx="8046720" cy="384048"/>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Part 1 — Reader's Portrait: September me vs. June me. Two specific changes. One traced to a text.</a:t>
            </a:r>
            <a:endParaRPr lang="en-US" sz="1050" dirty="0"/>
          </a:p>
        </p:txBody>
      </p:sp>
      <p:sp>
        <p:nvSpPr>
          <p:cNvPr id="15" name="Shape 13"/>
          <p:cNvSpPr/>
          <p:nvPr/>
        </p:nvSpPr>
        <p:spPr>
          <a:xfrm>
            <a:off x="365760" y="2176272"/>
            <a:ext cx="8412480" cy="457200"/>
          </a:xfrm>
          <a:prstGeom prst="roundRect">
            <a:avLst>
              <a:gd name="adj" fmla="val 20000"/>
            </a:avLst>
          </a:prstGeom>
          <a:solidFill>
            <a:srgbClr val="F8FAFC"/>
          </a:solidFill>
          <a:ln/>
          <a:effectLst>
            <a:outerShdw sx="100000" sy="100000" kx="0" ky="0" algn="bl" rotWithShape="0" blurRad="101600" dist="38100" dir="2700000">
              <a:srgbClr val="000000">
                <a:alpha val="12000"/>
              </a:srgbClr>
            </a:outerShdw>
          </a:effectLst>
        </p:spPr>
      </p:sp>
      <p:sp>
        <p:nvSpPr>
          <p:cNvPr id="16" name="Text 14"/>
          <p:cNvSpPr/>
          <p:nvPr/>
        </p:nvSpPr>
        <p:spPr>
          <a:xfrm>
            <a:off x="548640" y="2212848"/>
            <a:ext cx="8046720" cy="384048"/>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Part 2 — Text Spotlight: Chosen text. Chosen excerpt. 2–3 sentence intro. 2–3 sentence explanation.</a:t>
            </a:r>
            <a:endParaRPr lang="en-US" sz="1050" dirty="0"/>
          </a:p>
        </p:txBody>
      </p:sp>
      <p:sp>
        <p:nvSpPr>
          <p:cNvPr id="17" name="Shape 15"/>
          <p:cNvSpPr/>
          <p:nvPr/>
        </p:nvSpPr>
        <p:spPr>
          <a:xfrm>
            <a:off x="365760" y="2688336"/>
            <a:ext cx="8412480" cy="457200"/>
          </a:xfrm>
          <a:prstGeom prst="roundRect">
            <a:avLst>
              <a:gd name="adj" fmla="val 20000"/>
            </a:avLst>
          </a:prstGeom>
          <a:solidFill>
            <a:srgbClr val="FEF6E8"/>
          </a:solidFill>
          <a:ln/>
          <a:effectLst>
            <a:outerShdw sx="100000" sy="100000" kx="0" ky="0" algn="bl" rotWithShape="0" blurRad="101600" dist="38100" dir="2700000">
              <a:srgbClr val="000000">
                <a:alpha val="12000"/>
              </a:srgbClr>
            </a:outerShdw>
          </a:effectLst>
        </p:spPr>
      </p:sp>
      <p:sp>
        <p:nvSpPr>
          <p:cNvPr id="18" name="Text 16"/>
          <p:cNvSpPr/>
          <p:nvPr/>
        </p:nvSpPr>
        <p:spPr>
          <a:xfrm>
            <a:off x="548640" y="2724912"/>
            <a:ext cx="8046720" cy="384048"/>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Part 3 — Writer's Statement: One technique. One piece it changed. Specific evidence.</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400" b="1" dirty="0">
                <a:solidFill>
                  <a:srgbClr val="0E1C42"/>
                </a:solidFill>
                <a:latin typeface="Calibri" pitchFamily="34" charset="0"/>
                <a:ea typeface="Calibri" pitchFamily="34" charset="-122"/>
                <a:cs typeface="Calibri" pitchFamily="34" charset="-120"/>
              </a:rPr>
              <a:t>✍️ Today's Writing Task</a:t>
            </a:r>
            <a:endParaRPr lang="en-US" sz="24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WRITE NOW</a:t>
            </a:r>
            <a:endParaRPr lang="en-US" sz="1100" dirty="0"/>
          </a:p>
        </p:txBody>
      </p:sp>
      <p:sp>
        <p:nvSpPr>
          <p:cNvPr id="5" name="Shape 3"/>
          <p:cNvSpPr/>
          <p:nvPr/>
        </p:nvSpPr>
        <p:spPr>
          <a:xfrm>
            <a:off x="365760" y="1097280"/>
            <a:ext cx="8412480" cy="2651760"/>
          </a:xfrm>
          <a:prstGeom prst="roundRect">
            <a:avLst>
              <a:gd name="adj" fmla="val 3448"/>
            </a:avLst>
          </a:prstGeom>
          <a:solidFill>
            <a:srgbClr val="E8F8EF"/>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234440"/>
            <a:ext cx="7955280" cy="2377440"/>
          </a:xfrm>
          <a:prstGeom prst="rect">
            <a:avLst/>
          </a:prstGeom>
          <a:noFill/>
          <a:ln/>
        </p:spPr>
        <p:txBody>
          <a:bodyPr wrap="square" lIns="0" tIns="0" rIns="0" bIns="0" rtlCol="0" anchor="t"/>
          <a:lstStyle/>
          <a:p>
            <a:pPr indent="0" marL="0">
              <a:buNone/>
            </a:pPr>
            <a:r>
              <a:rPr lang="en-US" sz="1500" dirty="0">
                <a:solidFill>
                  <a:srgbClr val="1E293B"/>
                </a:solidFill>
                <a:latin typeface="Calibri" pitchFamily="34" charset="0"/>
                <a:ea typeface="Calibri" pitchFamily="34" charset="-122"/>
                <a:cs typeface="Calibri" pitchFamily="34" charset="-120"/>
              </a:rPr>
              <a:t>Write your full portfolio plan — all three parts outlined.</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400" b="1" dirty="0">
                <a:solidFill>
                  <a:srgbClr val="0E1C42"/>
                </a:solidFill>
                <a:latin typeface="Calibri" pitchFamily="34" charset="0"/>
                <a:ea typeface="Calibri" pitchFamily="34" charset="-122"/>
                <a:cs typeface="Calibri" pitchFamily="34" charset="-120"/>
              </a:rPr>
              <a:t>✅ Before You Finish</a:t>
            </a:r>
            <a:endParaRPr lang="en-US" sz="24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Shape 2"/>
          <p:cNvSpPr/>
          <p:nvPr/>
        </p:nvSpPr>
        <p:spPr>
          <a:xfrm>
            <a:off x="365760" y="868680"/>
            <a:ext cx="8412480" cy="658368"/>
          </a:xfrm>
          <a:prstGeom prst="roundRect">
            <a:avLst>
              <a:gd name="adj" fmla="val 13889"/>
            </a:avLst>
          </a:prstGeom>
          <a:solidFill>
            <a:srgbClr val="F8FAFC"/>
          </a:solidFill>
          <a:ln/>
          <a:effectLst>
            <a:outerShdw sx="100000" sy="100000" kx="0" ky="0" algn="bl" rotWithShape="0" blurRad="101600" dist="38100" dir="2700000">
              <a:srgbClr val="000000">
                <a:alpha val="12000"/>
              </a:srgbClr>
            </a:outerShdw>
          </a:effectLst>
        </p:spPr>
      </p:sp>
      <p:sp>
        <p:nvSpPr>
          <p:cNvPr id="5" name="Text 3"/>
          <p:cNvSpPr/>
          <p:nvPr/>
        </p:nvSpPr>
        <p:spPr>
          <a:xfrm>
            <a:off x="548640" y="923544"/>
            <a:ext cx="8046720" cy="548640"/>
          </a:xfrm>
          <a:prstGeom prst="rect">
            <a:avLst/>
          </a:prstGeom>
          <a:noFill/>
          <a:ln/>
        </p:spPr>
        <p:txBody>
          <a:bodyPr wrap="square" lIns="0" tIns="0" rIns="0" bIns="0" rtlCol="0" anchor="ctr"/>
          <a:lstStyle/>
          <a:p>
            <a:pPr indent="0" marL="0">
              <a:buNone/>
            </a:pPr>
            <a:r>
              <a:rPr lang="en-US" sz="1250" dirty="0">
                <a:solidFill>
                  <a:srgbClr val="1E293B"/>
                </a:solidFill>
                <a:latin typeface="Calibri" pitchFamily="34" charset="0"/>
                <a:ea typeface="Calibri" pitchFamily="34" charset="-122"/>
                <a:cs typeface="Calibri" pitchFamily="34" charset="-120"/>
              </a:rPr>
              <a:t>☐  I wrote all three parts of my portfolio plan — Reader's Portrait, Text Spotlight, Writer's Statement.</a:t>
            </a:r>
            <a:endParaRPr lang="en-US" sz="1250" dirty="0"/>
          </a:p>
        </p:txBody>
      </p:sp>
      <p:sp>
        <p:nvSpPr>
          <p:cNvPr id="6" name="Shape 4"/>
          <p:cNvSpPr/>
          <p:nvPr/>
        </p:nvSpPr>
        <p:spPr>
          <a:xfrm>
            <a:off x="365760" y="1618488"/>
            <a:ext cx="8412480" cy="658368"/>
          </a:xfrm>
          <a:prstGeom prst="roundRect">
            <a:avLst>
              <a:gd name="adj" fmla="val 13889"/>
            </a:avLst>
          </a:prstGeom>
          <a:solidFill>
            <a:srgbClr val="F4F7FC"/>
          </a:solidFill>
          <a:ln/>
          <a:effectLst>
            <a:outerShdw sx="100000" sy="100000" kx="0" ky="0" algn="bl" rotWithShape="0" blurRad="101600" dist="38100" dir="2700000">
              <a:srgbClr val="000000">
                <a:alpha val="12000"/>
              </a:srgbClr>
            </a:outerShdw>
          </a:effectLst>
        </p:spPr>
      </p:sp>
      <p:sp>
        <p:nvSpPr>
          <p:cNvPr id="7" name="Text 5"/>
          <p:cNvSpPr/>
          <p:nvPr/>
        </p:nvSpPr>
        <p:spPr>
          <a:xfrm>
            <a:off x="548640" y="1673352"/>
            <a:ext cx="8046720" cy="548640"/>
          </a:xfrm>
          <a:prstGeom prst="rect">
            <a:avLst/>
          </a:prstGeom>
          <a:noFill/>
          <a:ln/>
        </p:spPr>
        <p:txBody>
          <a:bodyPr wrap="square" lIns="0" tIns="0" rIns="0" bIns="0" rtlCol="0" anchor="ctr"/>
          <a:lstStyle/>
          <a:p>
            <a:pPr indent="0" marL="0">
              <a:buNone/>
            </a:pPr>
            <a:r>
              <a:rPr lang="en-US" sz="1250" dirty="0">
                <a:solidFill>
                  <a:srgbClr val="1E293B"/>
                </a:solidFill>
                <a:latin typeface="Calibri" pitchFamily="34" charset="0"/>
                <a:ea typeface="Calibri" pitchFamily="34" charset="-122"/>
                <a:cs typeface="Calibri" pitchFamily="34" charset="-120"/>
              </a:rPr>
              <a:t>☐  I completed my Morphology Reflection SWYK — most useful root, five words, two sentences on why it matters.</a:t>
            </a:r>
            <a:endParaRPr lang="en-US" sz="1250" dirty="0"/>
          </a:p>
        </p:txBody>
      </p:sp>
      <p:sp>
        <p:nvSpPr>
          <p:cNvPr id="8" name="Shape 6"/>
          <p:cNvSpPr/>
          <p:nvPr/>
        </p:nvSpPr>
        <p:spPr>
          <a:xfrm>
            <a:off x="365760" y="2368296"/>
            <a:ext cx="8412480" cy="658368"/>
          </a:xfrm>
          <a:prstGeom prst="roundRect">
            <a:avLst>
              <a:gd name="adj" fmla="val 13889"/>
            </a:avLst>
          </a:prstGeom>
          <a:solidFill>
            <a:srgbClr val="F8FAFC"/>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423160"/>
            <a:ext cx="8046720" cy="548640"/>
          </a:xfrm>
          <a:prstGeom prst="rect">
            <a:avLst/>
          </a:prstGeom>
          <a:noFill/>
          <a:ln/>
        </p:spPr>
        <p:txBody>
          <a:bodyPr wrap="square" lIns="0" tIns="0" rIns="0" bIns="0" rtlCol="0" anchor="ctr"/>
          <a:lstStyle/>
          <a:p>
            <a:pPr indent="0" marL="0">
              <a:buNone/>
            </a:pPr>
            <a:r>
              <a:rPr lang="en-US" sz="1250" dirty="0">
                <a:solidFill>
                  <a:srgbClr val="1E293B"/>
                </a:solidFill>
                <a:latin typeface="Calibri" pitchFamily="34" charset="0"/>
                <a:ea typeface="Calibri" pitchFamily="34" charset="-122"/>
                <a:cs typeface="Calibri" pitchFamily="34" charset="-120"/>
              </a:rPr>
              <a:t>☐  I identified my chosen text and chosen excerpt for the Text Spotlight.</a:t>
            </a:r>
            <a:endParaRPr lang="en-US" sz="1250" dirty="0"/>
          </a:p>
        </p:txBody>
      </p:sp>
      <p:sp>
        <p:nvSpPr>
          <p:cNvPr id="10" name="Shape 8"/>
          <p:cNvSpPr/>
          <p:nvPr/>
        </p:nvSpPr>
        <p:spPr>
          <a:xfrm>
            <a:off x="365760" y="3118104"/>
            <a:ext cx="8412480" cy="658368"/>
          </a:xfrm>
          <a:prstGeom prst="roundRect">
            <a:avLst>
              <a:gd name="adj" fmla="val 13889"/>
            </a:avLst>
          </a:prstGeom>
          <a:solidFill>
            <a:srgbClr val="F4F7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3172968"/>
            <a:ext cx="8046720" cy="548640"/>
          </a:xfrm>
          <a:prstGeom prst="rect">
            <a:avLst/>
          </a:prstGeom>
          <a:noFill/>
          <a:ln/>
        </p:spPr>
        <p:txBody>
          <a:bodyPr wrap="square" lIns="0" tIns="0" rIns="0" bIns="0" rtlCol="0" anchor="ctr"/>
          <a:lstStyle/>
          <a:p>
            <a:pPr indent="0" marL="0">
              <a:buNone/>
            </a:pPr>
            <a:r>
              <a:rPr lang="en-US" sz="1250" dirty="0">
                <a:solidFill>
                  <a:srgbClr val="1E293B"/>
                </a:solidFill>
                <a:latin typeface="Calibri" pitchFamily="34" charset="0"/>
                <a:ea typeface="Calibri" pitchFamily="34" charset="-122"/>
                <a:cs typeface="Calibri" pitchFamily="34" charset="-120"/>
              </a:rPr>
              <a:t>☐  I wrote my DOL edit and journal response in my reading journal.</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2026-07-13T17:55:36Z</dcterms:created>
  <dcterms:modified xsi:type="dcterms:W3CDTF">2026-07-13T17:55:36Z</dcterms:modified>
</cp:coreProperties>
</file>