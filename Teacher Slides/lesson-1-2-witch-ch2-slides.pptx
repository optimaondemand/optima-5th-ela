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 Day 2, Chapter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What happens when two people from completely different worlds try to understand each other? What gets lost in the gap?
Reading: I will make connections with Chapter 2 and answer comprehension questions.
Grammar: I will identify complete sentences, fragments, and run-ons.
Spelling: I will sort words by syllable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"late that afternoon a strong wind came blowing across the harbor"
Corrected: "Late that afternoon, a strong wind came blowing across the harbor."
Compare with the model: both sentences start with a capital letter, use a comma after the introductory time phrase, and end with a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"late that afternoon a strong wind came blowing across the harbor"
Corrected: "Late that afternoon, a strong wind came blowing across the harbor."
Compare with the model: both sentences start with a capital letter, use a comma after the introductory time phrase, and end with a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Does this detail support what I'm actually trying to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 Practice only today — not the graded strand.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Sort or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discuss and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labels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Syllable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sequence: Reader, Writer, Mimic. Reveal progressively if desired.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Kit's Path Through The Witch of Blackbird Pond — Chapter 2: Becalmed on the 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distinct from the Quick Write — it is graded reading-response writing tied directly to today's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4A90D9">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4A90D9"/>
                </a:solidFill>
                <a:latin typeface="Calibri" pitchFamily="34" charset="0"/>
                <a:ea typeface="Calibri" pitchFamily="34" charset="-122"/>
                <a:cs typeface="Calibri" pitchFamily="34" charset="-120"/>
              </a:rPr>
              <a:t>WEEK 1  ·  DAY 2</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Witch of Blackbird Pond</a:t>
            </a:r>
            <a:endParaRPr lang="en-US" sz="3000" dirty="0"/>
          </a:p>
          <a:p>
            <a:pPr algn="l" indent="0" marL="0">
              <a:buNone/>
            </a:pPr>
            <a:r>
              <a:rPr lang="en-US" sz="3000" b="1" dirty="0">
                <a:solidFill>
                  <a:srgbClr val="FFFFFF"/>
                </a:solidFill>
                <a:latin typeface="Calibri" pitchFamily="34" charset="0"/>
                <a:ea typeface="Calibri" pitchFamily="34" charset="-122"/>
                <a:cs typeface="Calibri" pitchFamily="34" charset="-120"/>
              </a:rPr>
              <a:t>Chapter 2 — Becalmed on the River</a:t>
            </a:r>
            <a:endParaRPr lang="en-US" sz="30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  ·  Virtue: Perseverance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What happens when two people from completely different worlds try to understand each other? What gets lost in the gap?</a:t>
            </a:r>
            <a:endParaRPr lang="en-US" sz="14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7744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Reading: </a:t>
            </a:r>
            <a:pPr indent="0" marL="0">
              <a:buNone/>
            </a:pPr>
            <a:r>
              <a:rPr lang="en-US" sz="1400" dirty="0">
                <a:solidFill>
                  <a:srgbClr val="1E293B"/>
                </a:solidFill>
                <a:latin typeface="Calibri" pitchFamily="34" charset="0"/>
                <a:ea typeface="Calibri" pitchFamily="34" charset="-122"/>
                <a:cs typeface="Calibri" pitchFamily="34" charset="-120"/>
              </a:rPr>
              <a:t>I will make connections with Chapter 2 and answer comprehension questions.</a:t>
            </a:r>
            <a:endParaRPr lang="en-US" sz="1600" dirty="0"/>
          </a:p>
        </p:txBody>
      </p:sp>
      <p:sp>
        <p:nvSpPr>
          <p:cNvPr id="10" name="Shape 8"/>
          <p:cNvSpPr/>
          <p:nvPr/>
        </p:nvSpPr>
        <p:spPr>
          <a:xfrm>
            <a:off x="365760" y="310896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20040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Grammar: </a:t>
            </a:r>
            <a:pPr indent="0" marL="0">
              <a:buNone/>
            </a:pPr>
            <a:r>
              <a:rPr lang="en-US" sz="1400" dirty="0">
                <a:solidFill>
                  <a:srgbClr val="1E293B"/>
                </a:solidFill>
                <a:latin typeface="Calibri" pitchFamily="34" charset="0"/>
                <a:ea typeface="Calibri" pitchFamily="34" charset="-122"/>
                <a:cs typeface="Calibri" pitchFamily="34" charset="-120"/>
              </a:rPr>
              <a:t>I will identify complete sentences, fragments, and run-ons.</a:t>
            </a:r>
            <a:endParaRPr lang="en-US" sz="1600" dirty="0"/>
          </a:p>
        </p:txBody>
      </p:sp>
      <p:sp>
        <p:nvSpPr>
          <p:cNvPr id="12" name="Shape 10"/>
          <p:cNvSpPr/>
          <p:nvPr/>
        </p:nvSpPr>
        <p:spPr>
          <a:xfrm>
            <a:off x="365760" y="393192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402336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Spelling: </a:t>
            </a:r>
            <a:pPr indent="0" marL="0">
              <a:buNone/>
            </a:pPr>
            <a:r>
              <a:rPr lang="en-US" sz="1400" dirty="0">
                <a:solidFill>
                  <a:srgbClr val="1E293B"/>
                </a:solidFill>
                <a:latin typeface="Calibri" pitchFamily="34" charset="0"/>
                <a:ea typeface="Calibri" pitchFamily="34" charset="-122"/>
                <a:cs typeface="Calibri" pitchFamily="34" charset="-120"/>
              </a:rPr>
              <a:t>I will sort words by syllable type.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8686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readers continue to notice how the author builds tension as Kit moves closer to her destination. Today, as you read, ask yourself: What new information does Kit learn about Connecticut? How does each conversation change what she expects?</a:t>
            </a:r>
            <a:endParaRPr lang="en-US" sz="1300" dirty="0"/>
          </a:p>
        </p:txBody>
      </p:sp>
      <p:sp>
        <p:nvSpPr>
          <p:cNvPr id="7" name="Text 5"/>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WATCH FOR THIS AS YOU READ</a:t>
            </a:r>
            <a:endParaRPr lang="en-US" sz="1100" dirty="0"/>
          </a:p>
        </p:txBody>
      </p:sp>
      <p:sp>
        <p:nvSpPr>
          <p:cNvPr id="8" name="Shape 6"/>
          <p:cNvSpPr/>
          <p:nvPr/>
        </p:nvSpPr>
        <p:spPr>
          <a:xfrm>
            <a:off x="365760" y="2606040"/>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679192"/>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What new information does Kit learn about Connecticut during her conversations on the ship?</a:t>
            </a:r>
            <a:endParaRPr lang="en-US" sz="1300" dirty="0"/>
          </a:p>
        </p:txBody>
      </p:sp>
      <p:sp>
        <p:nvSpPr>
          <p:cNvPr id="10" name="Shape 8"/>
          <p:cNvSpPr/>
          <p:nvPr/>
        </p:nvSpPr>
        <p:spPr>
          <a:xfrm>
            <a:off x="365760" y="331927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92424"/>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How does each conversation change what Kit expects about her new life?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“Early” the next morning“,” a contrary breeze came whistling along the river“.”</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32304"/>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Early  </a:t>
            </a:r>
            <a:pPr indent="0" marL="0">
              <a:buNone/>
            </a:pPr>
            <a:r>
              <a:rPr lang="en-US" sz="1200" dirty="0">
                <a:solidFill>
                  <a:srgbClr val="1E293B"/>
                </a:solidFill>
                <a:latin typeface="Calibri" pitchFamily="34" charset="0"/>
                <a:ea typeface="Calibri" pitchFamily="34" charset="-122"/>
                <a:cs typeface="Calibri" pitchFamily="34" charset="-120"/>
              </a:rPr>
              <a:t>The sentence begins with a capital letter.</a:t>
            </a:r>
            <a:endParaRPr lang="en-US" sz="1300" dirty="0"/>
          </a:p>
        </p:txBody>
      </p:sp>
      <p:sp>
        <p:nvSpPr>
          <p:cNvPr id="10" name="Shape 8"/>
          <p:cNvSpPr/>
          <p:nvPr/>
        </p:nvSpPr>
        <p:spPr>
          <a:xfrm>
            <a:off x="365760" y="295351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008376"/>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  </a:t>
            </a:r>
            <a:pPr indent="0" marL="0">
              <a:buNone/>
            </a:pPr>
            <a:r>
              <a:rPr lang="en-US" sz="1200" dirty="0">
                <a:solidFill>
                  <a:srgbClr val="1E293B"/>
                </a:solidFill>
                <a:latin typeface="Calibri" pitchFamily="34" charset="0"/>
                <a:ea typeface="Calibri" pitchFamily="34" charset="-122"/>
                <a:cs typeface="Calibri" pitchFamily="34" charset="-120"/>
              </a:rPr>
              <a:t>A comma separates the introductory phrase from the rest of the sentence.</a:t>
            </a:r>
            <a:endParaRPr lang="en-US" sz="1300" dirty="0"/>
          </a:p>
        </p:txBody>
      </p:sp>
      <p:sp>
        <p:nvSpPr>
          <p:cNvPr id="12" name="Shape 10"/>
          <p:cNvSpPr/>
          <p:nvPr/>
        </p:nvSpPr>
        <p:spPr>
          <a:xfrm>
            <a:off x="365760" y="3529584"/>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584448"/>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  </a:t>
            </a:r>
            <a:pPr indent="0" marL="0">
              <a:buNone/>
            </a:pPr>
            <a:r>
              <a:rPr lang="en-US" sz="1200" dirty="0">
                <a:solidFill>
                  <a:srgbClr val="1E293B"/>
                </a:solidFill>
                <a:latin typeface="Calibri" pitchFamily="34" charset="0"/>
                <a:ea typeface="Calibri" pitchFamily="34" charset="-122"/>
                <a:cs typeface="Calibri" pitchFamily="34" charset="-120"/>
              </a:rPr>
              <a:t>A period ends a complete statement.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late that afternoon a strong wind came blowing across the harbor</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late that afternoon a strong wind came blowing across the harbor</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Late that afternoon, a strong wind came blowing across the harbor.</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Compare with the model: both sentences start with a capital letter, use a comma after the introductory time phrase, and end with a period.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Poetry Corner</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68680"/>
            <a:ext cx="8412480" cy="2423160"/>
          </a:xfrm>
          <a:prstGeom prst="roundRect">
            <a:avLst>
              <a:gd name="adj" fmla="val 3774"/>
            </a:avLst>
          </a:prstGeom>
          <a:solidFill>
            <a:srgbClr val="FEF6E8"/>
          </a:solidFill>
          <a:ln/>
          <a:effectLst>
            <a:outerShdw sx="100000" sy="100000" kx="0" ky="0" algn="bl" rotWithShape="0" blurRad="101600" dist="38100" dir="2700000">
              <a:srgbClr val="000000">
                <a:alpha val="12000"/>
              </a:srgbClr>
            </a:outerShdw>
          </a:effectLst>
        </p:spPr>
      </p:sp>
      <p:sp>
        <p:nvSpPr>
          <p:cNvPr id="5" name="Text 3"/>
          <p:cNvSpPr/>
          <p:nvPr/>
        </p:nvSpPr>
        <p:spPr>
          <a:xfrm>
            <a:off x="594360" y="960120"/>
            <a:ext cx="7955280" cy="36576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Sea Fever</a:t>
            </a:r>
            <a:endParaRPr lang="en-US" sz="2000" dirty="0"/>
          </a:p>
        </p:txBody>
      </p:sp>
      <p:sp>
        <p:nvSpPr>
          <p:cNvPr id="6" name="Text 4"/>
          <p:cNvSpPr/>
          <p:nvPr/>
        </p:nvSpPr>
        <p:spPr>
          <a:xfrm>
            <a:off x="594360" y="1325880"/>
            <a:ext cx="79552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by John Masefield</a:t>
            </a:r>
            <a:endParaRPr lang="en-US" sz="1300" dirty="0"/>
          </a:p>
        </p:txBody>
      </p:sp>
      <p:sp>
        <p:nvSpPr>
          <p:cNvPr id="7" name="Text 5"/>
          <p:cNvSpPr/>
          <p:nvPr/>
        </p:nvSpPr>
        <p:spPr>
          <a:xfrm>
            <a:off x="594360" y="1645920"/>
            <a:ext cx="7955280" cy="1554480"/>
          </a:xfrm>
          <a:prstGeom prst="rect">
            <a:avLst/>
          </a:prstGeom>
          <a:noFill/>
          <a:ln/>
        </p:spPr>
        <p:txBody>
          <a:bodyPr wrap="square" lIns="0" tIns="0" rIns="0" bIns="0" rtlCol="0" anchor="t"/>
          <a:lstStyle/>
          <a:p>
            <a:pPr indent="0" marL="0">
              <a:buNone/>
            </a:pPr>
            <a:r>
              <a:rPr lang="en-US" sz="1600" i="1" dirty="0">
                <a:solidFill>
                  <a:srgbClr val="1E293B"/>
                </a:solidFill>
                <a:latin typeface="Georgia" pitchFamily="34" charset="0"/>
                <a:ea typeface="Georgia" pitchFamily="34" charset="-122"/>
                <a:cs typeface="Georgia" pitchFamily="34" charset="-120"/>
              </a:rPr>
              <a:t>I must go down to the seas again, to the lonely sea and the sky,</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And all I ask is a tall ship and a star to steer her by</a:t>
            </a:r>
            <a:endParaRPr lang="en-US" sz="1600" dirty="0"/>
          </a:p>
        </p:txBody>
      </p:sp>
      <p:sp>
        <p:nvSpPr>
          <p:cNvPr id="8" name="Text 6"/>
          <p:cNvSpPr/>
          <p:nvPr/>
        </p:nvSpPr>
        <p:spPr>
          <a:xfrm>
            <a:off x="365760" y="342900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THINK ABOUT THIS</a:t>
            </a:r>
            <a:endParaRPr lang="en-US" sz="1100" dirty="0"/>
          </a:p>
        </p:txBody>
      </p:sp>
      <p:sp>
        <p:nvSpPr>
          <p:cNvPr id="9" name="Shape 7"/>
          <p:cNvSpPr/>
          <p:nvPr/>
        </p:nvSpPr>
        <p:spPr>
          <a:xfrm>
            <a:off x="365760" y="3685032"/>
            <a:ext cx="84124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3776472"/>
            <a:ext cx="7955280" cy="73152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What do you notice? What feeling or image stands out to you?</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371600"/>
          </a:xfrm>
          <a:prstGeom prst="roundRect">
            <a:avLst>
              <a:gd name="adj" fmla="val 6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1430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Nat and Kit argue about the ship's smell. Which of them do you think has the stronger point? Defend your answer with evidence from the text.</a:t>
            </a:r>
            <a:endParaRPr lang="en-US" sz="1600" dirty="0"/>
          </a:p>
        </p:txBody>
      </p:sp>
      <p:sp>
        <p:nvSpPr>
          <p:cNvPr id="7" name="Text 5"/>
          <p:cNvSpPr/>
          <p:nvPr/>
        </p:nvSpPr>
        <p:spPr>
          <a:xfrm>
            <a:off x="457200" y="283464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127248"/>
            <a:ext cx="8229600" cy="822960"/>
          </a:xfrm>
          <a:prstGeom prst="rect">
            <a:avLst/>
          </a:prstGeom>
          <a:noFill/>
          <a:ln/>
        </p:spPr>
        <p:txBody>
          <a:bodyPr wrap="square" lIns="0" tIns="0" rIns="0" bIns="0"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I think...   →   because...   →   One piece of evidence is...   →   This matters because...   →   Someone might disagree, but...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Nat and Kit argue about the ship's smell. Which of them do you think has the stronger point? Defend your answer with evidence from the text.</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20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This matters 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Does this detail support what I'm actually trying to say?</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Morpheme Launch — English &amp; Latin origins</a:t>
            </a:r>
            <a:endParaRPr lang="en-US" sz="1100" dirty="0"/>
          </a:p>
        </p:txBody>
      </p:sp>
      <p:sp>
        <p:nvSpPr>
          <p:cNvPr id="5" name="Shape 3"/>
          <p:cNvSpPr/>
          <p:nvPr/>
        </p:nvSpPr>
        <p:spPr>
          <a:xfrm>
            <a:off x="365760" y="1097280"/>
            <a:ext cx="8412480" cy="502920"/>
          </a:xfrm>
          <a:prstGeom prst="roundRect">
            <a:avLst>
              <a:gd name="adj" fmla="val 181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3931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dis- + approv(e) + -al = disapproval — the prefix dis- means “not,” the base is approve, and -al makes it a noun</a:t>
            </a:r>
            <a:endParaRPr lang="en-US" sz="1200" dirty="0"/>
          </a:p>
        </p:txBody>
      </p:sp>
      <p:sp>
        <p:nvSpPr>
          <p:cNvPr id="7" name="Shape 5"/>
          <p:cNvSpPr/>
          <p:nvPr/>
        </p:nvSpPr>
        <p:spPr>
          <a:xfrm>
            <a:off x="365760" y="1664208"/>
            <a:ext cx="8412480" cy="502920"/>
          </a:xfrm>
          <a:prstGeom prst="roundRect">
            <a:avLst>
              <a:gd name="adj" fmla="val 18182"/>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19072"/>
            <a:ext cx="8046720" cy="3931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un- + comfort + -able = uncomfortable — the prefix un- means “not,” and -able means “can be”</a:t>
            </a:r>
            <a:endParaRPr lang="en-US" sz="1200" dirty="0"/>
          </a:p>
        </p:txBody>
      </p:sp>
      <p:sp>
        <p:nvSpPr>
          <p:cNvPr id="9" name="Shape 7"/>
          <p:cNvSpPr/>
          <p:nvPr/>
        </p:nvSpPr>
        <p:spPr>
          <a:xfrm>
            <a:off x="365760" y="2231136"/>
            <a:ext cx="8412480" cy="502920"/>
          </a:xfrm>
          <a:prstGeom prst="roundRect">
            <a:avLst>
              <a:gd name="adj" fmla="val 18182"/>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286000"/>
            <a:ext cx="8046720" cy="3931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im- + patient + -ly = impatiently — im- means “not,” and -ly makes it an adverb</a:t>
            </a:r>
            <a:endParaRPr lang="en-US" sz="1200" dirty="0"/>
          </a:p>
        </p:txBody>
      </p:sp>
      <p:sp>
        <p:nvSpPr>
          <p:cNvPr id="11" name="Shape 9"/>
          <p:cNvSpPr/>
          <p:nvPr/>
        </p:nvSpPr>
        <p:spPr>
          <a:xfrm>
            <a:off x="365760" y="2798064"/>
            <a:ext cx="8412480" cy="502920"/>
          </a:xfrm>
          <a:prstGeom prst="roundRect">
            <a:avLst>
              <a:gd name="adj" fmla="val 18182"/>
            </a:avLst>
          </a:prstGeom>
          <a:solidFill>
            <a:srgbClr val="F8F4FF"/>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852928"/>
            <a:ext cx="8046720" cy="3931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respect + -able + -ly = respectably — -able means “can be,” and -ly makes it an adverb</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 — Sort or Match</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Nautical and land words from Chapter 2</a:t>
            </a:r>
            <a:endParaRPr lang="en-US" sz="1100" dirty="0"/>
          </a:p>
        </p:txBody>
      </p:sp>
      <p:sp>
        <p:nvSpPr>
          <p:cNvPr id="5" name="Text 3"/>
          <p:cNvSpPr/>
          <p:nvPr/>
        </p:nvSpPr>
        <p:spPr>
          <a:xfrm>
            <a:off x="365760" y="109728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 Nautical Terms</a:t>
            </a:r>
            <a:endParaRPr lang="en-US" sz="1300" dirty="0"/>
          </a:p>
        </p:txBody>
      </p:sp>
      <p:sp>
        <p:nvSpPr>
          <p:cNvPr id="6" name="Text 4"/>
          <p:cNvSpPr/>
          <p:nvPr/>
        </p:nvSpPr>
        <p:spPr>
          <a:xfrm>
            <a:off x="365760" y="1463040"/>
            <a:ext cx="4023360" cy="13716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capstan  ·  rigging  ·  hawser  ·  bulkhead</a:t>
            </a:r>
            <a:endParaRPr lang="en-US" sz="1300" dirty="0"/>
          </a:p>
        </p:txBody>
      </p:sp>
      <p:sp>
        <p:nvSpPr>
          <p:cNvPr id="7" name="Text 5"/>
          <p:cNvSpPr/>
          <p:nvPr/>
        </p:nvSpPr>
        <p:spPr>
          <a:xfrm>
            <a:off x="4663440" y="109728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 Land Terms</a:t>
            </a:r>
            <a:endParaRPr lang="en-US" sz="1300" dirty="0"/>
          </a:p>
        </p:txBody>
      </p:sp>
      <p:sp>
        <p:nvSpPr>
          <p:cNvPr id="8" name="Text 6"/>
          <p:cNvSpPr/>
          <p:nvPr/>
        </p:nvSpPr>
        <p:spPr>
          <a:xfrm>
            <a:off x="4663440" y="1463040"/>
            <a:ext cx="4023360" cy="13716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meadow  ·  settlement  ·  wharf  ·  plantation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Sentences, Fragments, &amp; Run-Ons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them in sentences from the novel</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 complete sentence has a subject, a verb, and a complete thought. A fragment is missing one of those. A run-on jams two complete thoughts together without proper punctuation.</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“Kit watched the sailors from the deck.”
</a:t>
            </a:r>
            <a:pPr indent="0" marL="0">
              <a:buNone/>
            </a:pPr>
            <a:r>
              <a:rPr lang="en-US" sz="1100" dirty="0">
                <a:solidFill>
                  <a:srgbClr val="64748B"/>
                </a:solidFill>
                <a:latin typeface="Calibri" pitchFamily="34" charset="0"/>
                <a:ea typeface="Calibri" pitchFamily="34" charset="-122"/>
                <a:cs typeface="Calibri" pitchFamily="34" charset="-120"/>
              </a:rPr>
              <a:t>Complete   /   Fragment   /   Run-On</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“The long hot days on the river.”
</a:t>
            </a:r>
            <a:pPr indent="0" marL="0">
              <a:buNone/>
            </a:pPr>
            <a:r>
              <a:rPr lang="en-US" sz="1100" dirty="0">
                <a:solidFill>
                  <a:srgbClr val="64748B"/>
                </a:solidFill>
                <a:latin typeface="Calibri" pitchFamily="34" charset="0"/>
                <a:ea typeface="Calibri" pitchFamily="34" charset="-122"/>
                <a:cs typeface="Calibri" pitchFamily="34" charset="-120"/>
              </a:rPr>
              <a:t>Complete   /   Fragment   /   Run-On</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“Kit was frustrated she wanted to get to Wethersfield.”
</a:t>
            </a:r>
            <a:pPr indent="0" marL="0">
              <a:buNone/>
            </a:pPr>
            <a:r>
              <a:rPr lang="en-US" sz="1100" dirty="0">
                <a:solidFill>
                  <a:srgbClr val="64748B"/>
                </a:solidFill>
                <a:latin typeface="Calibri" pitchFamily="34" charset="0"/>
                <a:ea typeface="Calibri" pitchFamily="34" charset="-122"/>
                <a:cs typeface="Calibri" pitchFamily="34" charset="-120"/>
              </a:rPr>
              <a:t>Complete   /   Fragment   /   Run-On</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Sentences, Fragments, &amp; Run-Ons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them in sentences from the novel</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 complete sentence has a subject, a verb, and a complete thought. A fragment is missing one of those. A run-on jams two complete thoughts together without proper punctuation.</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“Kit watched the sailors from the deck.”
</a:t>
            </a:r>
            <a:pPr indent="0" marL="0">
              <a:buNone/>
            </a:pPr>
            <a:r>
              <a:rPr lang="en-US" sz="1200" b="1" dirty="0">
                <a:solidFill>
                  <a:srgbClr val="34B76F"/>
                </a:solidFill>
                <a:latin typeface="Calibri" pitchFamily="34" charset="0"/>
                <a:ea typeface="Calibri" pitchFamily="34" charset="-122"/>
                <a:cs typeface="Calibri" pitchFamily="34" charset="-120"/>
              </a:rPr>
              <a:t>✅ Complete</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“The long hot days on the river.”
</a:t>
            </a:r>
            <a:pPr indent="0" marL="0">
              <a:buNone/>
            </a:pPr>
            <a:r>
              <a:rPr lang="en-US" sz="1200" b="1" dirty="0">
                <a:solidFill>
                  <a:srgbClr val="34B76F"/>
                </a:solidFill>
                <a:latin typeface="Calibri" pitchFamily="34" charset="0"/>
                <a:ea typeface="Calibri" pitchFamily="34" charset="-122"/>
                <a:cs typeface="Calibri" pitchFamily="34" charset="-120"/>
              </a:rPr>
              <a:t>✅ Fragment</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“Kit was frustrated she wanted to get to Wethersfield.”
</a:t>
            </a:r>
            <a:pPr indent="0" marL="0">
              <a:buNone/>
            </a:pPr>
            <a:r>
              <a:rPr lang="en-US" sz="1200" b="1" dirty="0">
                <a:solidFill>
                  <a:srgbClr val="34B76F"/>
                </a:solidFill>
                <a:latin typeface="Calibri" pitchFamily="34" charset="0"/>
                <a:ea typeface="Calibri" pitchFamily="34" charset="-122"/>
                <a:cs typeface="Calibri" pitchFamily="34" charset="-120"/>
              </a:rPr>
              <a:t>✅ Run-On</a:t>
            </a:r>
            <a:endParaRPr lang="en-US" sz="1200" dirty="0"/>
          </a:p>
        </p:txBody>
      </p:sp>
      <p:sp>
        <p:nvSpPr>
          <p:cNvPr id="14" name="Shape 12"/>
          <p:cNvSpPr/>
          <p:nvPr/>
        </p:nvSpPr>
        <p:spPr>
          <a:xfrm>
            <a:off x="365760" y="3950208"/>
            <a:ext cx="8412480" cy="685800"/>
          </a:xfrm>
          <a:prstGeom prst="roundRect">
            <a:avLst>
              <a:gd name="adj" fmla="val 13333"/>
            </a:avLst>
          </a:prstGeom>
          <a:solidFill>
            <a:srgbClr val="FEF6E8"/>
          </a:solidFill>
          <a:ln w="12700">
            <a:solidFill>
              <a:srgbClr val="C7922C"/>
            </a:solidFill>
            <a:prstDash val="solid"/>
          </a:ln>
        </p:spPr>
      </p:sp>
      <p:sp>
        <p:nvSpPr>
          <p:cNvPr id="15" name="Text 13"/>
          <p:cNvSpPr/>
          <p:nvPr/>
        </p:nvSpPr>
        <p:spPr>
          <a:xfrm>
            <a:off x="548640" y="4005072"/>
            <a:ext cx="8046720" cy="548640"/>
          </a:xfrm>
          <a:prstGeom prst="rect">
            <a:avLst/>
          </a:prstGeom>
          <a:noFill/>
          <a:ln/>
        </p:spPr>
        <p:txBody>
          <a:bodyPr wrap="square" lIns="0" tIns="0" rIns="0" bIns="0" rtlCol="0" anchor="t"/>
          <a:lstStyle/>
          <a:p>
            <a:pPr indent="0" marL="0">
              <a:buNone/>
            </a:pPr>
            <a:r>
              <a:rPr lang="en-US" sz="1000" b="1" dirty="0">
                <a:solidFill>
                  <a:srgbClr val="C7922C"/>
                </a:solidFill>
                <a:latin typeface="Calibri" pitchFamily="34" charset="0"/>
                <a:ea typeface="Calibri" pitchFamily="34" charset="-122"/>
                <a:cs typeface="Calibri" pitchFamily="34" charset="-120"/>
              </a:rPr>
              <a:t>🫖 Show What You Know · Grammar
</a:t>
            </a:r>
            <a:pPr indent="0" marL="0">
              <a:buNone/>
            </a:pPr>
            <a:r>
              <a:rPr lang="en-US" sz="1000" i="1" dirty="0">
                <a:solidFill>
                  <a:srgbClr val="1E293B"/>
                </a:solidFill>
                <a:latin typeface="Calibri" pitchFamily="34" charset="0"/>
                <a:ea typeface="Calibri" pitchFamily="34" charset="-122"/>
                <a:cs typeface="Calibri" pitchFamily="34" charset="-120"/>
              </a:rPr>
              <a:t>“Kit stared at the bare muddy landing she could not believe this was Wethersfield.” — Decide whether it is a complete sentence, a fragment, or a run-on. Then explain how you know.</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Syllable Types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Sort words by syllable type</a:t>
            </a:r>
            <a:endParaRPr lang="en-US" sz="1100" dirty="0"/>
          </a:p>
        </p:txBody>
      </p:sp>
      <p:sp>
        <p:nvSpPr>
          <p:cNvPr id="7" name="Text 5"/>
          <p:cNvSpPr/>
          <p:nvPr/>
        </p:nvSpPr>
        <p:spPr>
          <a:xfrm>
            <a:off x="36576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Closed Syllable</a:t>
            </a:r>
            <a:endParaRPr lang="en-US" sz="1300" dirty="0"/>
          </a:p>
        </p:txBody>
      </p:sp>
      <p:sp>
        <p:nvSpPr>
          <p:cNvPr id="8" name="Text 6"/>
          <p:cNvSpPr/>
          <p:nvPr/>
        </p:nvSpPr>
        <p:spPr>
          <a:xfrm>
            <a:off x="36576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cap-stan  ·  can-dle  ·  bulk-head</a:t>
            </a:r>
            <a:endParaRPr lang="en-US" sz="1300" dirty="0"/>
          </a:p>
        </p:txBody>
      </p:sp>
      <p:sp>
        <p:nvSpPr>
          <p:cNvPr id="9" name="Text 7"/>
          <p:cNvSpPr/>
          <p:nvPr/>
        </p:nvSpPr>
        <p:spPr>
          <a:xfrm>
            <a:off x="466344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R-Controlled Syllable</a:t>
            </a:r>
            <a:endParaRPr lang="en-US" sz="1300" dirty="0"/>
          </a:p>
        </p:txBody>
      </p:sp>
      <p:sp>
        <p:nvSpPr>
          <p:cNvPr id="10" name="Text 8"/>
          <p:cNvSpPr/>
          <p:nvPr/>
        </p:nvSpPr>
        <p:spPr>
          <a:xfrm>
            <a:off x="466344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riv-er  ·  har-bor  ·  mur-mur</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RWM — Reader · Writer · Mimic</a:t>
            </a:r>
            <a:endParaRPr lang="en-US" sz="2600" dirty="0"/>
          </a:p>
        </p:txBody>
      </p:sp>
      <p:sp>
        <p:nvSpPr>
          <p:cNvPr id="3" name="Shape 1"/>
          <p:cNvSpPr/>
          <p:nvPr/>
        </p:nvSpPr>
        <p:spPr>
          <a:xfrm>
            <a:off x="365760" y="749808"/>
            <a:ext cx="8412480" cy="0"/>
          </a:xfrm>
          <a:prstGeom prst="line">
            <a:avLst/>
          </a:prstGeom>
          <a:noFill/>
          <a:ln w="19050">
            <a:solidFill>
              <a:srgbClr val="0E1C42"/>
            </a:solidFill>
            <a:prstDash val="solid"/>
          </a:ln>
        </p:spPr>
      </p:sp>
      <p:sp>
        <p:nvSpPr>
          <p:cNvPr id="4" name="Shape 2"/>
          <p:cNvSpPr/>
          <p:nvPr/>
        </p:nvSpPr>
        <p:spPr>
          <a:xfrm>
            <a:off x="365760" y="868680"/>
            <a:ext cx="8412480" cy="640080"/>
          </a:xfrm>
          <a:prstGeom prst="roundRect">
            <a:avLst>
              <a:gd name="adj" fmla="val 14286"/>
            </a:avLst>
          </a:prstGeom>
          <a:solidFill>
            <a:srgbClr val="F8FAFC"/>
          </a:solidFill>
          <a:ln w="12700">
            <a:solidFill>
              <a:srgbClr val="0E1C42"/>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48640" y="978408"/>
            <a:ext cx="8046720" cy="41148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“Sweat poured down their arms and shoulders.”</a:t>
            </a:r>
            <a:endParaRPr lang="en-US" sz="1600" dirty="0"/>
          </a:p>
        </p:txBody>
      </p:sp>
      <p:sp>
        <p:nvSpPr>
          <p:cNvPr id="6" name="Shape 4"/>
          <p:cNvSpPr/>
          <p:nvPr/>
        </p:nvSpPr>
        <p:spPr>
          <a:xfrm>
            <a:off x="365760" y="1600200"/>
            <a:ext cx="8412480" cy="777240"/>
          </a:xfrm>
          <a:prstGeom prst="roundRect">
            <a:avLst>
              <a:gd name="adj" fmla="val 11765"/>
            </a:avLst>
          </a:prstGeom>
          <a:solidFill>
            <a:srgbClr val="E5F7FC"/>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673352"/>
            <a:ext cx="8046720" cy="6400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Read like a Reader: </a:t>
            </a:r>
            <a:pPr indent="0" marL="0">
              <a:buNone/>
            </a:pPr>
            <a:r>
              <a:rPr lang="en-US" sz="1200" dirty="0">
                <a:solidFill>
                  <a:srgbClr val="1E293B"/>
                </a:solidFill>
                <a:latin typeface="Calibri" pitchFamily="34" charset="0"/>
                <a:ea typeface="Calibri" pitchFamily="34" charset="-122"/>
                <a:cs typeface="Calibri" pitchFamily="34" charset="-120"/>
              </a:rPr>
              <a:t>What is happening? The sailors are warping the ship through still water. What does this show about how hard the journey has become?</a:t>
            </a:r>
            <a:endParaRPr lang="en-US" sz="1200" dirty="0"/>
          </a:p>
        </p:txBody>
      </p:sp>
      <p:sp>
        <p:nvSpPr>
          <p:cNvPr id="8" name="Shape 6"/>
          <p:cNvSpPr/>
          <p:nvPr/>
        </p:nvSpPr>
        <p:spPr>
          <a:xfrm>
            <a:off x="365760" y="2450592"/>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523744"/>
            <a:ext cx="8046720" cy="6400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Read like a Writer: </a:t>
            </a:r>
            <a:pPr indent="0" marL="0">
              <a:buNone/>
            </a:pPr>
            <a:r>
              <a:rPr lang="en-US" sz="1200" dirty="0">
                <a:solidFill>
                  <a:srgbClr val="1E293B"/>
                </a:solidFill>
                <a:latin typeface="Calibri" pitchFamily="34" charset="0"/>
                <a:ea typeface="Calibri" pitchFamily="34" charset="-122"/>
                <a:cs typeface="Calibri" pitchFamily="34" charset="-120"/>
              </a:rPr>
              <a:t>Notice how short this sentence is — just seven words. The author uses a vivid, compact image instead of a long description. What makes this short sentence more powerful than a longer one would be?</a:t>
            </a:r>
            <a:endParaRPr lang="en-US" sz="1200" dirty="0"/>
          </a:p>
        </p:txBody>
      </p:sp>
      <p:sp>
        <p:nvSpPr>
          <p:cNvPr id="10" name="Shape 8"/>
          <p:cNvSpPr/>
          <p:nvPr/>
        </p:nvSpPr>
        <p:spPr>
          <a:xfrm>
            <a:off x="365760" y="3300984"/>
            <a:ext cx="8412480" cy="960120"/>
          </a:xfrm>
          <a:prstGeom prst="roundRect">
            <a:avLst>
              <a:gd name="adj" fmla="val 9524"/>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74136"/>
            <a:ext cx="8046720" cy="8229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Mimic: </a:t>
            </a:r>
            <a:pPr indent="0" marL="0">
              <a:buNone/>
            </a:pPr>
            <a:r>
              <a:rPr lang="en-US" sz="1200" dirty="0">
                <a:solidFill>
                  <a:srgbClr val="1E293B"/>
                </a:solidFill>
                <a:latin typeface="Calibri" pitchFamily="34" charset="0"/>
                <a:ea typeface="Calibri" pitchFamily="34" charset="-122"/>
                <a:cs typeface="Calibri" pitchFamily="34" charset="-120"/>
              </a:rPr>
              <a:t>Write your own short sentence showing physical effort. Use the frame below.</a:t>
            </a:r>
            <a:pPr indent="0" marL="0">
              <a:buNone/>
            </a:pPr>
            <a:endParaRPr lang="en-US" sz="1200" dirty="0"/>
          </a:p>
          <a:p>
            <a:pPr indent="0" marL="0">
              <a:buNone/>
            </a:pPr>
            <a:r>
              <a:rPr lang="en-US" sz="1200" b="1" i="1" dirty="0">
                <a:solidFill>
                  <a:srgbClr val="34B76F"/>
                </a:solidFill>
                <a:latin typeface="Calibri" pitchFamily="34" charset="0"/>
                <a:ea typeface="Calibri" pitchFamily="34" charset="-122"/>
                <a:cs typeface="Calibri" pitchFamily="34" charset="-120"/>
              </a:rPr>
              <a:t>Frame: [Person] ___ down/across/through ___.</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Kit's Path Through The Witch of Blackbird Pond — Chapter 2: Becalmed on the River</a:t>
            </a:r>
            <a:endParaRPr lang="en-US" sz="130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4A90D9"/>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2 — Becalmed on the River</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200" i="1" dirty="0">
                <a:solidFill>
                  <a:srgbClr val="1E293B"/>
                </a:solidFill>
                <a:latin typeface="Calibri" pitchFamily="34" charset="0"/>
                <a:ea typeface="Calibri" pitchFamily="34" charset="-122"/>
                <a:cs typeface="Calibri" pitchFamily="34" charset="-120"/>
              </a:rPr>
              <a:t>What new information does Kit learn about Connecticut during her conversations on the ship?</a:t>
            </a:r>
            <a:endParaRPr lang="en-US" sz="1200" dirty="0"/>
          </a:p>
          <a:p>
            <a:pPr indent="0" marL="0">
              <a:buNone/>
            </a:pPr>
            <a:endParaRPr lang="en-US" sz="1200" dirty="0"/>
          </a:p>
          <a:p>
            <a:pPr indent="0" marL="0">
              <a:buNone/>
            </a:pPr>
            <a:r>
              <a:rPr lang="en-US" sz="1200" i="1" dirty="0">
                <a:solidFill>
                  <a:srgbClr val="1E293B"/>
                </a:solidFill>
                <a:latin typeface="Calibri" pitchFamily="34" charset="0"/>
                <a:ea typeface="Calibri" pitchFamily="34" charset="-122"/>
                <a:cs typeface="Calibri" pitchFamily="34" charset="-120"/>
              </a:rPr>
              <a:t>How does each conversation change what Kit expects about her new life?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1.  </a:t>
            </a:r>
            <a:pPr indent="0" marL="0">
              <a:buNone/>
            </a:pPr>
            <a:r>
              <a:rPr lang="en-US" sz="1200" dirty="0">
                <a:solidFill>
                  <a:srgbClr val="1E293B"/>
                </a:solidFill>
                <a:latin typeface="Calibri" pitchFamily="34" charset="0"/>
                <a:ea typeface="Calibri" pitchFamily="34" charset="-122"/>
                <a:cs typeface="Calibri" pitchFamily="34" charset="-120"/>
              </a:rPr>
              <a:t>The nine-day delay on the river frustrates Kit, but John Holbrook doesn't seem to mind. What does each character's reaction to the delay reveal about who they are?</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2.  </a:t>
            </a:r>
            <a:pPr indent="0" marL="0">
              <a:buNone/>
            </a:pPr>
            <a:r>
              <a:rPr lang="en-US" sz="1200" dirty="0">
                <a:solidFill>
                  <a:srgbClr val="1E293B"/>
                </a:solidFill>
                <a:latin typeface="Calibri" pitchFamily="34" charset="0"/>
                <a:ea typeface="Calibri" pitchFamily="34" charset="-122"/>
                <a:cs typeface="Calibri" pitchFamily="34" charset="-120"/>
              </a:rPr>
              <a:t>Nat and Kit argue about the ship's smell. What does Nat's response about slave ships reveal about his family's values? Use a detail from the chapter.</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3.  </a:t>
            </a:r>
            <a:pPr indent="0" marL="0">
              <a:buNone/>
            </a:pPr>
            <a:r>
              <a:rPr lang="en-US" sz="1200" dirty="0">
                <a:solidFill>
                  <a:srgbClr val="1E293B"/>
                </a:solidFill>
                <a:latin typeface="Calibri" pitchFamily="34" charset="0"/>
                <a:ea typeface="Calibri" pitchFamily="34" charset="-122"/>
                <a:cs typeface="Calibri" pitchFamily="34" charset="-120"/>
              </a:rPr>
              <a:t>John Holbrook is shocked that Kit can read plays by Shakespeare. What does his reaction tell you about the differences between Kit's world and the world she is entering?</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 (Part C)</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SHORT CRAFT-FOCUSED RESPONSE</a:t>
            </a:r>
            <a:endParaRPr lang="en-US" sz="1100" dirty="0"/>
          </a:p>
        </p:txBody>
      </p:sp>
      <p:sp>
        <p:nvSpPr>
          <p:cNvPr id="5" name="Shape 3"/>
          <p:cNvSpPr/>
          <p:nvPr/>
        </p:nvSpPr>
        <p:spPr>
          <a:xfrm>
            <a:off x="365760" y="1097280"/>
            <a:ext cx="8412480" cy="2011680"/>
          </a:xfrm>
          <a:prstGeom prst="roundRect">
            <a:avLst>
              <a:gd name="adj" fmla="val 4545"/>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34440"/>
            <a:ext cx="7955280" cy="173736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Kit confesses to the captain that her aunt and uncle don't know she's coming. Write 2–3 sentences explaining why you think Kit kept this secret. What does this decision reveal about her character?</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2026-07-12T02:51:38Z</dcterms:created>
  <dcterms:modified xsi:type="dcterms:W3CDTF">2026-07-12T02:51:38Z</dcterms:modified>
</cp:coreProperties>
</file>