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5, Day 1, Chapter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take to stand up for someone you love — and what does it cost when the people around you see loyalty as proof of guilt?
Reading: I will analyze how the resolution of Chapter 18 reveals character growth and theme.
Grammar: I will define commas with introductory words and phrases.
Spelling: I will define cumulative suffix patterns in my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"after the long night kit lean against the settle and soaked in the warmth of the fire"
Corrected: "After the long night, Kit leaned against the settle and soaked in the warmth of the fire."
Compare with the model: “After the long night” is an introductory phrase — it needs a comma. “Kit” needs a capital K. “lean” should be “leaned” to match past tense. End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"after the long night kit lean against the settle and soaked in the warmth of the fire"
Corrected: "After the long night, Kit leaned against the settle and soaked in the warmth of the fire."
Compare with the model: “After the long night” is an introductory phrase — it needs a comma. “Kit” needs a capital K. “lean” should be “leaned” to match past tense. End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Cumulative Suffix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18 — Kit’s arrest and the witchcraft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5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18 — Kit’s arrest and the witchcraft charge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5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does it take to stand up for someone you love — and what does it cost when the people around you see loyalty as proof of guilt?</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analyze how the resolution of Chapter 18 reveals character growth and theme.</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define commas with introductory words and phrases.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define cumulative suffix patterns in my own writing.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how a story’s resolution reveals character growth. When a crisis arrives, the way characters respond shows how much they’ve changed — or haven’t. Today, Kit faces the most dangerous moment of her life. In Chapter 18, Kit wakes to gratitude and resolve, only to be arrested for witchcraft hours later. Watch how she responds to both:</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has Kit’s relationship with Matthew changed since the beginning of the novel? What does his praise reveal?</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Why does Kit refuse to explain Prudence’s copybook, even though the truth could save her?</a:t>
            </a:r>
            <a:endParaRPr lang="en-US" sz="1300" dirty="0"/>
          </a:p>
        </p:txBody>
      </p:sp>
      <p:sp>
        <p:nvSpPr>
          <p:cNvPr id="12" name="Shape 10"/>
          <p:cNvSpPr/>
          <p:nvPr/>
        </p:nvSpPr>
        <p:spPr>
          <a:xfrm>
            <a:off x="365760" y="403250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10565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does the locked shed represent for someone who has “never known the feeling of a locked door”?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After the long night, Kit leaned against the settle and soaked in the warmth of the fire.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After  </a:t>
            </a:r>
            <a:pPr indent="0" marL="0">
              <a:buNone/>
            </a:pP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long night,  </a:t>
            </a:r>
            <a:pPr indent="0" marL="0">
              <a:buNone/>
            </a:pP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Kit  </a:t>
            </a:r>
            <a:pPr indent="0" marL="0">
              <a:buNone/>
            </a:pP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leaned  </a:t>
            </a:r>
            <a:pPr indent="0" marL="0">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after the long night kit lean against the settle and soaked in the warmth of the fire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after the long night kit lean against the settle and soaked in the warmth of the fire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After the long night, Kit leaned against the settle and soaked in the warmth of the fire.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“After the long night” is an introductory phrase — it needs a comma. “Kit” needs a capital K. “lean” should be “leaned” to match past tense. End with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moment proves Kit's loyalty to Prudence more strongly — her silence about the copybook, or her reaction to being locked in the shed? Defend your choice with evidence from Chapter 18.</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moment proves Kit's loyalty to Prudence more strongly — her silence about the copybook, or her reaction to being locked in the shed? Defend your choice with evidence from Chapter 18.</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-ity / -ty</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author (noun) → authority (noun) — the power or right to give orders | real (adjective) → reality (noun) — the state of being real | cruel (adjective) → cruelty (noun) — the quality of being cruel | secure (adjective) → security (noun) — the state of being secure | curious (adjective) → curiosity (noun) — the quality of being curious</a:t>
            </a:r>
            <a:endParaRPr lang="en-US" sz="1200" dirty="0"/>
          </a:p>
        </p:txBody>
      </p:sp>
      <p:sp>
        <p:nvSpPr>
          <p:cNvPr id="7" name="Shape 5"/>
          <p:cNvSpPr/>
          <p:nvPr/>
        </p:nvSpPr>
        <p:spPr>
          <a:xfrm>
            <a:off x="365760" y="1709928"/>
            <a:ext cx="8412480" cy="777240"/>
          </a:xfrm>
          <a:prstGeom prst="roundRect">
            <a:avLst>
              <a:gd name="adj" fmla="val 11765"/>
            </a:avLst>
          </a:prstGeom>
          <a:solidFill>
            <a:srgbClr val="FEF6E8"/>
          </a:solidFill>
          <a:ln w="12700">
            <a:solidFill>
              <a:srgbClr val="C7922C"/>
            </a:solidFill>
            <a:prstDash val="solid"/>
          </a:ln>
        </p:spPr>
      </p:sp>
      <p:sp>
        <p:nvSpPr>
          <p:cNvPr id="8" name="Text 6"/>
          <p:cNvSpPr/>
          <p:nvPr/>
        </p:nvSpPr>
        <p:spPr>
          <a:xfrm>
            <a:off x="548640" y="1783080"/>
            <a:ext cx="8046720" cy="640080"/>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100" i="1" dirty="0">
                <a:solidFill>
                  <a:srgbClr val="1E293B"/>
                </a:solidFill>
                <a:latin typeface="Calibri" pitchFamily="34" charset="0"/>
                <a:ea typeface="Calibri" pitchFamily="34" charset="-122"/>
                <a:cs typeface="Calibri" pitchFamily="34" charset="-120"/>
              </a:rPr>
              <a:t>Choose two -ity or -ty words (authority, reality, cruelty, security, curiosity). For each, name the base word and explain how the suffix changes it to an abstract noun.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Decode &amp; Discover</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Decode &amp; Discover — words from Chapter 18</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laxness  </a:t>
            </a:r>
            <a:pPr indent="0" marL="0">
              <a:buNone/>
            </a:pPr>
            <a:r>
              <a:rPr lang="en-US" sz="1100" dirty="0">
                <a:solidFill>
                  <a:srgbClr val="1E293B"/>
                </a:solidFill>
                <a:latin typeface="Calibri" pitchFamily="34" charset="0"/>
                <a:ea typeface="Calibri" pitchFamily="34" charset="-122"/>
                <a:cs typeface="Calibri" pitchFamily="34" charset="-120"/>
              </a:rPr>
              <a:t>Lack of strictness or discipline. The townspeople accuse the leaders of laxness — being too relaxed about enforcing rules — which they blame for inviting evil.</a:t>
            </a: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inveigled  </a:t>
            </a:r>
            <a:pPr indent="0" marL="0">
              <a:buNone/>
            </a:pPr>
            <a:r>
              <a:rPr lang="en-US" sz="1100" dirty="0">
                <a:solidFill>
                  <a:srgbClr val="1E293B"/>
                </a:solidFill>
                <a:latin typeface="Calibri" pitchFamily="34" charset="0"/>
                <a:ea typeface="Calibri" pitchFamily="34" charset="-122"/>
                <a:cs typeface="Calibri" pitchFamily="34" charset="-120"/>
              </a:rPr>
              <a:t>Persuaded or lured someone through deception or flattery. Goodwife Cruff claims Kit inveigled — tricked — Prudence into visiting Hannah’s cottage.</a:t>
            </a: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preternatural  </a:t>
            </a:r>
            <a:pPr indent="0" marL="0">
              <a:buNone/>
            </a:pPr>
            <a:r>
              <a:rPr lang="en-US" sz="1100" dirty="0">
                <a:solidFill>
                  <a:srgbClr val="1E293B"/>
                </a:solidFill>
                <a:latin typeface="Calibri" pitchFamily="34" charset="0"/>
                <a:ea typeface="Calibri" pitchFamily="34" charset="-122"/>
                <a:cs typeface="Calibri" pitchFamily="34" charset="-120"/>
              </a:rPr>
              <a:t>Beyond what is normal or natural; seemingly supernatural. The townspeople see Prudence’s writing ability as preternatural — so unusual it must be the work of dark forces.</a:t>
            </a: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vengeance  </a:t>
            </a:r>
            <a:pPr indent="0" marL="0">
              <a:buNone/>
            </a:pPr>
            <a:r>
              <a:rPr lang="en-US" sz="1100" dirty="0">
                <a:solidFill>
                  <a:srgbClr val="1E293B"/>
                </a:solidFill>
                <a:latin typeface="Calibri" pitchFamily="34" charset="0"/>
                <a:ea typeface="Calibri" pitchFamily="34" charset="-122"/>
                <a:cs typeface="Calibri" pitchFamily="34" charset="-120"/>
              </a:rPr>
              <a:t>Punishment inflicted in return for a wrong. The crowd demands vengeance — fierce, retaliatory punishment — against anyone accused of witchcraft.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Commas with Introductory Words &amp; Phrases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 when do introductory elements need a comma?</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Pattern 1 — Introductory word: “ Suddenly, the constable appeared at the door.” A single word like suddenly, however, meanwhile, finally gets a comma. Pattern 2 — Introductory phrase: “ After the long night, Kit leaned against the settle.” A prepositional or participial phrase at the start gets a comma. Pattern 3 — Introductory clause: “ When the door opened, Kit saw the constable standing behind it.” A dependent clause before the main clause gets a comma.</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After the rescue Kit thanked her uncle quietly.
</a:t>
            </a:r>
            <a:pPr indent="0" marL="0">
              <a:buNone/>
            </a:pP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Suddenly the constable pounded on the door.
</a:t>
            </a:r>
            <a:pPr indent="0" marL="0">
              <a:buNone/>
            </a:pP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When they found the hornbook Goodwife Cruff cried out in triumph.
</a:t>
            </a:r>
            <a:pPr indent="0" marL="0">
              <a:buNone/>
            </a:pP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Commas with Introductory Words &amp; Phrases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 when do introductory elements need a comma?</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Pattern 1 — Introductory word: “ Suddenly, the constable appeared at the door.” A single word like suddenly, however, meanwhile, finally gets a comma. Pattern 2 — Introductory phrase: “ After the long night, Kit leaned against the settle.” A prepositional or participial phrase at the start gets a comma. Pattern 3 — Introductory clause: “ When the door opened, Kit saw the constable standing behind it.” A dependent clause before the main clause gets a comma.</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After the rescue Kit thanked her uncle quietly.
</a:t>
            </a:r>
            <a:pPr indent="0" marL="0">
              <a:buNone/>
            </a:pPr>
            <a:r>
              <a:rPr lang="en-US" sz="1200" b="1" dirty="0">
                <a:solidFill>
                  <a:srgbClr val="34B76F"/>
                </a:solidFill>
                <a:latin typeface="Calibri" pitchFamily="34" charset="0"/>
                <a:ea typeface="Calibri" pitchFamily="34" charset="-122"/>
                <a:cs typeface="Calibri" pitchFamily="34" charset="-120"/>
              </a:rPr>
              <a:t>✅ After the rescue, Kit thanked her uncle quietly.</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Suddenly the constable pounded on the door.
</a:t>
            </a:r>
            <a:pPr indent="0" marL="0">
              <a:buNone/>
            </a:pPr>
            <a:r>
              <a:rPr lang="en-US" sz="1200" b="1" dirty="0">
                <a:solidFill>
                  <a:srgbClr val="34B76F"/>
                </a:solidFill>
                <a:latin typeface="Calibri" pitchFamily="34" charset="0"/>
                <a:ea typeface="Calibri" pitchFamily="34" charset="-122"/>
                <a:cs typeface="Calibri" pitchFamily="34" charset="-120"/>
              </a:rPr>
              <a:t>✅ Suddenly, the constable pounded on the door.</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When they found the hornbook Goodwife Cruff cried out in triumph.
</a:t>
            </a:r>
            <a:pPr indent="0" marL="0">
              <a:buNone/>
            </a:pPr>
            <a:r>
              <a:rPr lang="en-US" sz="1200" b="1" dirty="0">
                <a:solidFill>
                  <a:srgbClr val="34B76F"/>
                </a:solidFill>
                <a:latin typeface="Calibri" pitchFamily="34" charset="0"/>
                <a:ea typeface="Calibri" pitchFamily="34" charset="-122"/>
                <a:cs typeface="Calibri" pitchFamily="34" charset="-120"/>
              </a:rPr>
              <a:t>✅ When they found the hornbook, Goodwife Cruff cried out in triumph.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Cumulative Suffix 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 Define — review all suffix spelling rules</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Drop silent 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creative  ·  security  ·  imaginative  ·  noticeable</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Change y to i</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cruelty  ·  curiosity  ·  beautiful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18 — Kit’s arrest and the witchcraft charge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18 — Kit’s arrest and the witchcraft charge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How has Kit’s relationship with Matthew changed since the beginning of the novel? What does his praise reveal?</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Why does Kit refuse to explain Prudence’s copybook, even though the truth could save her?</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does the locked shed represent for someone who has “never known the feeling of a locked door”?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How has Kit’s relationship with Matthew changed from the beginning of the novel to this chapter? Use Matthew’s words — “Our own daughter couldn’t have done more” — as evidence of that growth.</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Why does Kit refuse to explain Prudence’s copybook, even though the truth could help defend her against the witchcraft charge? What does her silence reveal about her values?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Kit has “never in all her life known the feeling of a locked door.” What does the locked shed represent beyond a physical space? How does it connect to the novel’s themes of freedom and belonging?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Kit has “never in all her life known the feeling of a locked door.” Write 2–3 sentences about what freedom has meant to Kit throughout the novel and what losing it means now. Use at least one specific example from earlier in the story.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