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31 Day 4 — Peer Review &amp;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a strong peer reviewer do — and what do you do with the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warm-up before diving into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"both novels demonstrate courage however the contexts are so different that they reveal entirely different things about what it means to be brave on the one hand kit must hide her compassion and on the other hand praiseworthy must display his competence in a world that will respect it"
Corrected: "Both novels demonstrate courage; however, the contexts are so different that they reveal entirely different things about what it means to be brave. On one hand, Kit must hide her compassion; on the other hand, Praiseworthy must display his competence in a world that will respect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"both novels demonstrate courage however the contexts are so different that they reveal entirely different things about what it means to be brave on the one hand kit must hide her compassion and on the other hand praiseworthy must display his competence in a world that will respect it"
Corrected: "Both novels demonstrate courage; however, the contexts are so different that they reveal entirely different things about what it means to be brave. On one hand, Kit must hide her compassion; on the other hand, Praiseworthy must display his competence in a world that will respect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today's reading/project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model example aloud before students write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progress: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checklist before students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34B76F">
              <a:alpha val="15000"/>
            </a:srgbClr>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algn="l" indent="0" marL="0">
              <a:buNone/>
            </a:pPr>
            <a:r>
              <a:rPr lang="en-US" sz="1300" b="1" spc="400" kern="0" dirty="0">
                <a:solidFill>
                  <a:srgbClr val="34B76F"/>
                </a:solidFill>
                <a:latin typeface="Calibri" pitchFamily="34" charset="0"/>
                <a:ea typeface="Calibri" pitchFamily="34" charset="-122"/>
                <a:cs typeface="Calibri" pitchFamily="34" charset="-120"/>
              </a:rPr>
              <a:t>WEEK 31  ·  DAY 4</a:t>
            </a:r>
            <a:endParaRPr lang="en-US" sz="13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Year-End Synthesis · 5th Grade ELA</a:t>
            </a:r>
            <a:endParaRPr lang="en-US" sz="1400" dirty="0"/>
          </a:p>
        </p:txBody>
      </p:sp>
      <p:sp>
        <p:nvSpPr>
          <p:cNvPr id="5" name="Text 3"/>
          <p:cNvSpPr/>
          <p:nvPr/>
        </p:nvSpPr>
        <p:spPr>
          <a:xfrm>
            <a:off x="457200" y="1234440"/>
            <a:ext cx="8229600" cy="12801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Peer Review &amp; Revision</a:t>
            </a:r>
            <a:endParaRPr lang="en-US" sz="3000" dirty="0"/>
          </a:p>
        </p:txBody>
      </p:sp>
      <p:sp>
        <p:nvSpPr>
          <p:cNvPr id="6" name="Text 4"/>
          <p:cNvSpPr/>
          <p:nvPr/>
        </p:nvSpPr>
        <p:spPr>
          <a:xfrm>
            <a:off x="457200" y="2468880"/>
            <a:ext cx="8229600" cy="548640"/>
          </a:xfrm>
          <a:prstGeom prst="rect">
            <a:avLst/>
          </a:prstGeom>
          <a:noFill/>
          <a:ln/>
        </p:spPr>
        <p:txBody>
          <a:bodyPr wrap="square" lIns="0" tIns="0" rIns="0" bIns="0" rtlCol="0" anchor="ctr"/>
          <a:lstStyle/>
          <a:p>
            <a:pPr algn="l" indent="0" marL="0">
              <a:buNone/>
            </a:pPr>
            <a:r>
              <a:rPr lang="en-US" sz="1400" i="1" dirty="0">
                <a:solidFill>
                  <a:srgbClr val="34B76F"/>
                </a:solidFill>
                <a:latin typeface="Georgia" pitchFamily="34" charset="0"/>
                <a:ea typeface="Georgia" pitchFamily="34" charset="-122"/>
                <a:cs typeface="Georgia" pitchFamily="34" charset="-120"/>
              </a:rPr>
              <a:t>Read like a reviewer — revise like a writer</a:t>
            </a:r>
            <a:endParaRPr lang="en-US" sz="14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Year-End Synthesis  ·  Portfolio &amp;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914400"/>
            <a:ext cx="8412480" cy="1188720"/>
          </a:xfrm>
          <a:prstGeom prst="roundRect">
            <a:avLst>
              <a:gd name="adj" fmla="val 7692"/>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24128"/>
            <a:ext cx="7955280" cy="969264"/>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What does a strong peer reviewer do — and what do you do with the feedback?</a:t>
            </a:r>
            <a:endParaRPr lang="en-US" sz="1600" dirty="0"/>
          </a:p>
        </p:txBody>
      </p:sp>
      <p:sp>
        <p:nvSpPr>
          <p:cNvPr id="6" name="Text 4"/>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TODAY'S ARC</a:t>
            </a:r>
            <a:endParaRPr lang="en-US" sz="1100" dirty="0"/>
          </a:p>
        </p:txBody>
      </p:sp>
      <p:sp>
        <p:nvSpPr>
          <p:cNvPr id="7" name="Shape 5"/>
          <p:cNvSpPr/>
          <p:nvPr/>
        </p:nvSpPr>
        <p:spPr>
          <a:xfrm>
            <a:off x="365760" y="257860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63347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 SWYK: </a:t>
            </a:r>
            <a:pPr indent="0" marL="0">
              <a:buNone/>
            </a:pPr>
            <a:r>
              <a:rPr lang="en-US" sz="1200" dirty="0">
                <a:solidFill>
                  <a:srgbClr val="1E293B"/>
                </a:solidFill>
                <a:latin typeface="Calibri" pitchFamily="34" charset="0"/>
                <a:ea typeface="Calibri" pitchFamily="34" charset="-122"/>
                <a:cs typeface="Calibri" pitchFamily="34" charset="-120"/>
              </a:rPr>
              <a:t>Year-long vocabulary review — identify words across all units.</a:t>
            </a:r>
            <a:endParaRPr lang="en-US" sz="1500" dirty="0"/>
          </a:p>
        </p:txBody>
      </p:sp>
      <p:sp>
        <p:nvSpPr>
          <p:cNvPr id="9" name="Shape 7"/>
          <p:cNvSpPr/>
          <p:nvPr/>
        </p:nvSpPr>
        <p:spPr>
          <a:xfrm>
            <a:off x="365760" y="327355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32841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Peer Review: </a:t>
            </a:r>
            <a:pPr indent="0" marL="0">
              <a:buNone/>
            </a:pPr>
            <a:r>
              <a:rPr lang="en-US" sz="1200" dirty="0">
                <a:solidFill>
                  <a:srgbClr val="1E293B"/>
                </a:solidFill>
                <a:latin typeface="Calibri" pitchFamily="34" charset="0"/>
                <a:ea typeface="Calibri" pitchFamily="34" charset="-122"/>
                <a:cs typeface="Calibri" pitchFamily="34" charset="-120"/>
              </a:rPr>
              <a:t>I will give specific, helpful feedback on a comparison essay (classmate's or own).</a:t>
            </a:r>
            <a:endParaRPr lang="en-US" sz="1500" dirty="0"/>
          </a:p>
        </p:txBody>
      </p:sp>
      <p:sp>
        <p:nvSpPr>
          <p:cNvPr id="11" name="Shape 9"/>
          <p:cNvSpPr/>
          <p:nvPr/>
        </p:nvSpPr>
        <p:spPr>
          <a:xfrm>
            <a:off x="365760" y="39684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02336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Revision: </a:t>
            </a:r>
            <a:pPr indent="0" marL="0">
              <a:buNone/>
            </a:pPr>
            <a:r>
              <a:rPr lang="en-US" sz="1200" dirty="0">
                <a:solidFill>
                  <a:srgbClr val="1E293B"/>
                </a:solidFill>
                <a:latin typeface="Calibri" pitchFamily="34" charset="0"/>
                <a:ea typeface="Calibri" pitchFamily="34" charset="-122"/>
                <a:cs typeface="Calibri" pitchFamily="34" charset="-120"/>
              </a:rPr>
              <a:t>I will make at least two targeted revisions and submit my final draft.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Reading Journal — Before You Begin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REFLECT FIRST</a:t>
            </a:r>
            <a:endParaRPr lang="en-US" sz="1100" dirty="0"/>
          </a:p>
        </p:txBody>
      </p:sp>
      <p:sp>
        <p:nvSpPr>
          <p:cNvPr id="5" name="Shape 3"/>
          <p:cNvSpPr/>
          <p:nvPr/>
        </p:nvSpPr>
        <p:spPr>
          <a:xfrm>
            <a:off x="365760" y="1097280"/>
            <a:ext cx="8412480" cy="2194560"/>
          </a:xfrm>
          <a:prstGeom prst="roundRect">
            <a:avLst>
              <a:gd name="adj" fmla="val 416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92024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Today you review your own essay (or a classmate's) as a careful reader. What is the ONE thing a comparison essay absolutely must do to be an argument rather than a description? Write 2 sentences.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a:t>
            </a:r>
            <a:endParaRPr lang="en-US" sz="1100" dirty="0"/>
          </a:p>
        </p:txBody>
      </p:sp>
      <p:sp>
        <p:nvSpPr>
          <p:cNvPr id="5" name="Shape 3"/>
          <p:cNvSpPr/>
          <p:nvPr/>
        </p:nvSpPr>
        <p:spPr>
          <a:xfrm>
            <a:off x="365760" y="1078992"/>
            <a:ext cx="8412480" cy="1051560"/>
          </a:xfrm>
          <a:prstGeom prst="roundRect">
            <a:avLst>
              <a:gd name="adj" fmla="val 869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most powerful comparison essays do not simply describe — they argue why the difference between two texts matters.</a:t>
            </a:r>
            <a:endParaRPr lang="en-US" sz="15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THIS TEACHES</a:t>
            </a:r>
            <a:endParaRPr lang="en-US" sz="1100" dirty="0"/>
          </a:p>
        </p:txBody>
      </p:sp>
      <p:sp>
        <p:nvSpPr>
          <p:cNvPr id="8" name="Shape 6"/>
          <p:cNvSpPr/>
          <p:nvPr/>
        </p:nvSpPr>
        <p:spPr>
          <a:xfrm>
            <a:off x="365760" y="2560320"/>
            <a:ext cx="8412480" cy="1737360"/>
          </a:xfrm>
          <a:prstGeom prst="roundRect">
            <a:avLst>
              <a:gd name="adj" fmla="val 5263"/>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0048"/>
            <a:ext cx="8046720" cy="1517904"/>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Em dash for emphasis before the main point. The essay that only describes is a report. The one that explains why the difference matters becomes an argument — the difference between 3rd grade and 5th grade writing is the analytical move, not the length.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both novels demonstrate courage however the contexts are so different that they reveal entirely different things about what it means to be brave on the one hand kit must hide her compassion and on the other hand praiseworthy must display his competence in a world that will respect it</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both novels demonstrate courage however the contexts are so different that they reveal entirely different things about what it means to be brave on the one hand kit must hide her compassion and on the other hand praiseworthy must display his competence in a world that will respect it</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743200"/>
            <a:ext cx="8412480" cy="1737360"/>
          </a:xfrm>
          <a:prstGeom prst="roundRect">
            <a:avLst>
              <a:gd name="adj" fmla="val 526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8346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3127248"/>
            <a:ext cx="7955280" cy="1234440"/>
          </a:xfrm>
          <a:prstGeom prst="rect">
            <a:avLst/>
          </a:prstGeom>
          <a:noFill/>
          <a:ln/>
        </p:spPr>
        <p:txBody>
          <a:bodyPr wrap="square" lIns="0" tIns="0" rIns="0" bIns="0" rtlCol="0" anchor="t"/>
          <a:lstStyle/>
          <a:p>
            <a:pPr indent="0" marL="0">
              <a:buNone/>
            </a:pPr>
            <a:r>
              <a:rPr lang="en-US" sz="1300" b="1" i="1" dirty="0">
                <a:solidFill>
                  <a:srgbClr val="1E293B"/>
                </a:solidFill>
                <a:latin typeface="Calibri" pitchFamily="34" charset="0"/>
                <a:ea typeface="Calibri" pitchFamily="34" charset="-122"/>
                <a:cs typeface="Calibri" pitchFamily="34" charset="-120"/>
              </a:rPr>
              <a:t>Both novels demonstrate courage; however, the contexts are so different that they reveal entirely different things about what it means to be brave. On one hand, Kit must hide her compassion; on the other hand, Praiseworthy must display his competence in a world that will respect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Year-Long Review — SWYK</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Historical fiction (WOBP, JT): defiance, covenant, rebellion, apprentice, tyranny, colonial, parliament, congregation</a:t>
            </a:r>
            <a:endParaRPr lang="en-US" sz="1150" dirty="0"/>
          </a:p>
        </p:txBody>
      </p:sp>
      <p:sp>
        <p:nvSpPr>
          <p:cNvPr id="6" name="Shape 4"/>
          <p:cNvSpPr/>
          <p:nvPr/>
        </p:nvSpPr>
        <p:spPr>
          <a:xfrm>
            <a:off x="365760" y="14356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48132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Navigation/science (CMB): celestial navigation, lunar observation, latitude, longitude, lunar tables, maritime</a:t>
            </a:r>
            <a:endParaRPr lang="en-US" sz="1150" dirty="0"/>
          </a:p>
        </p:txBody>
      </p:sp>
      <p:sp>
        <p:nvSpPr>
          <p:cNvPr id="8" name="Shape 6"/>
          <p:cNvSpPr/>
          <p:nvPr/>
        </p:nvSpPr>
        <p:spPr>
          <a:xfrm>
            <a:off x="365760" y="20025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04825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Gold Rush/adventure (BTGHS): fortitude, tenacious, notoriety, exuberance, ludicrous, extraction, prospector, reprieve</a:t>
            </a:r>
            <a:endParaRPr lang="en-US" sz="1150" dirty="0"/>
          </a:p>
        </p:txBody>
      </p:sp>
      <p:sp>
        <p:nvSpPr>
          <p:cNvPr id="10" name="Shape 8"/>
          <p:cNvSpPr/>
          <p:nvPr/>
        </p:nvSpPr>
        <p:spPr>
          <a:xfrm>
            <a:off x="365760" y="25694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15184"/>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Analysis vocabulary: however, consequently, furthermore, nevertheless, validity, persistence, descriptive, creativity</a:t>
            </a:r>
            <a:endParaRPr lang="en-US" sz="1150" dirty="0"/>
          </a:p>
        </p:txBody>
      </p:sp>
      <p:sp>
        <p:nvSpPr>
          <p:cNvPr id="12" name="Shape 10"/>
          <p:cNvSpPr/>
          <p:nvPr/>
        </p:nvSpPr>
        <p:spPr>
          <a:xfrm>
            <a:off x="365760" y="3209544"/>
            <a:ext cx="8412480" cy="1371600"/>
          </a:xfrm>
          <a:prstGeom prst="roundRect">
            <a:avLst>
              <a:gd name="adj" fmla="val 6667"/>
            </a:avLst>
          </a:prstGeom>
          <a:solidFill>
            <a:srgbClr val="FEF6E8"/>
          </a:solidFill>
          <a:ln w="12700">
            <a:solidFill>
              <a:srgbClr val="C7922C"/>
            </a:solidFill>
            <a:prstDash val="solid"/>
          </a:ln>
        </p:spPr>
      </p:sp>
      <p:sp>
        <p:nvSpPr>
          <p:cNvPr id="13" name="Text 11"/>
          <p:cNvSpPr/>
          <p:nvPr/>
        </p:nvSpPr>
        <p:spPr>
          <a:xfrm>
            <a:off x="548640" y="3282696"/>
            <a:ext cx="8046720" cy="122529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a:t>
            </a:r>
            <a:pPr indent="0" marL="0">
              <a:buNone/>
            </a:pPr>
            <a:r>
              <a:rPr lang="en-US" sz="1100" i="1" dirty="0">
                <a:solidFill>
                  <a:srgbClr val="1E293B"/>
                </a:solidFill>
                <a:latin typeface="Calibri" pitchFamily="34" charset="0"/>
                <a:ea typeface="Calibri" pitchFamily="34" charset="-122"/>
                <a:cs typeface="Calibri" pitchFamily="34" charset="-120"/>
              </a:rPr>
              <a:t>Choose five words from across the year — at least one from each of the three novel units. For each word: write it, identify which unit it's from, define it in your own words, and use it in a sentence that connects to your comparison essay theme.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Year-Long Review — Explain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941832"/>
            <a:ext cx="8412480" cy="1005840"/>
          </a:xfrm>
          <a:prstGeom prst="roundRect">
            <a:avLst>
              <a:gd name="adj" fmla="val 9091"/>
            </a:avLst>
          </a:prstGeom>
          <a:solidFill>
            <a:srgbClr val="FEF6E8"/>
          </a:solidFill>
          <a:ln w="12700">
            <a:solidFill>
              <a:srgbClr val="C7922C"/>
            </a:solidFill>
            <a:prstDash val="solid"/>
          </a:ln>
        </p:spPr>
      </p:sp>
      <p:sp>
        <p:nvSpPr>
          <p:cNvPr id="5" name="Text 3"/>
          <p:cNvSpPr/>
          <p:nvPr/>
        </p:nvSpPr>
        <p:spPr>
          <a:xfrm>
            <a:off x="548640" y="1014984"/>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Which root from the entire year do you think gives you the most useful vocabulary for academic writing? Explain in 3 sentences — name the root, give 3 example words, and explain why these words appear so often in essays and analysis.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Final Conventions Check</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Sentence types: compound (FANBOYS) · complex (subordinating conjunctions) · compound-complex</a:t>
            </a:r>
            <a:endParaRPr lang="en-US" sz="1150" dirty="0"/>
          </a:p>
        </p:txBody>
      </p:sp>
      <p:sp>
        <p:nvSpPr>
          <p:cNvPr id="6" name="Shape 4"/>
          <p:cNvSpPr/>
          <p:nvPr/>
        </p:nvSpPr>
        <p:spPr>
          <a:xfrm>
            <a:off x="365760" y="14356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48132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Openers: participial phrase · adverb · prepositional phrase · dependent clause</a:t>
            </a:r>
            <a:endParaRPr lang="en-US" sz="1150" dirty="0"/>
          </a:p>
        </p:txBody>
      </p:sp>
      <p:sp>
        <p:nvSpPr>
          <p:cNvPr id="8" name="Shape 6"/>
          <p:cNvSpPr/>
          <p:nvPr/>
        </p:nvSpPr>
        <p:spPr>
          <a:xfrm>
            <a:off x="365760" y="20025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04825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Punctuation: commas · dialogue · semicolon · em dash</a:t>
            </a:r>
            <a:endParaRPr lang="en-US" sz="1150" dirty="0"/>
          </a:p>
        </p:txBody>
      </p:sp>
      <p:sp>
        <p:nvSpPr>
          <p:cNvPr id="10" name="Shape 8"/>
          <p:cNvSpPr/>
          <p:nvPr/>
        </p:nvSpPr>
        <p:spPr>
          <a:xfrm>
            <a:off x="365760" y="25694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15184"/>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Transitions: however, therefore, furthermore, consequently</a:t>
            </a:r>
            <a:endParaRPr lang="en-US" sz="1150" dirty="0"/>
          </a:p>
        </p:txBody>
      </p:sp>
      <p:sp>
        <p:nvSpPr>
          <p:cNvPr id="12" name="Shape 10"/>
          <p:cNvSpPr/>
          <p:nvPr/>
        </p:nvSpPr>
        <p:spPr>
          <a:xfrm>
            <a:off x="365760" y="3209544"/>
            <a:ext cx="8412480" cy="1005840"/>
          </a:xfrm>
          <a:prstGeom prst="roundRect">
            <a:avLst>
              <a:gd name="adj" fmla="val 9091"/>
            </a:avLst>
          </a:prstGeom>
          <a:solidFill>
            <a:srgbClr val="FEF6E8"/>
          </a:solidFill>
          <a:ln w="12700">
            <a:solidFill>
              <a:srgbClr val="C7922C"/>
            </a:solidFill>
            <a:prstDash val="solid"/>
          </a:ln>
        </p:spPr>
      </p:sp>
      <p:sp>
        <p:nvSpPr>
          <p:cNvPr id="13" name="Text 11"/>
          <p:cNvSpPr/>
          <p:nvPr/>
        </p:nvSpPr>
        <p:spPr>
          <a:xfrm>
            <a:off x="548640" y="3282696"/>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Run the full grammar conventions checklist on your essay. Count: How many compound sentences? How many complex sentences? How many transition words? How many different sentence openers? Write your count and note one thing you'll fix.</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Peer Review: Read to Understand, Then Respond</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Specific feedback that helps — not just praise or nitpicking</a:t>
            </a:r>
            <a:endParaRPr lang="en-US" sz="1100" dirty="0"/>
          </a:p>
        </p:txBody>
      </p:sp>
      <p:sp>
        <p:nvSpPr>
          <p:cNvPr id="5" name="Shape 3"/>
          <p:cNvSpPr/>
          <p:nvPr/>
        </p:nvSpPr>
        <p:spPr>
          <a:xfrm>
            <a:off x="365760" y="105156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09728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1. What is the comparison claim? Can you state it in one sentence?</a:t>
            </a:r>
            <a:endParaRPr lang="en-US" sz="1100" dirty="0"/>
          </a:p>
        </p:txBody>
      </p:sp>
      <p:sp>
        <p:nvSpPr>
          <p:cNvPr id="7" name="Shape 5"/>
          <p:cNvSpPr/>
          <p:nvPr/>
        </p:nvSpPr>
        <p:spPr>
          <a:xfrm>
            <a:off x="365760" y="1618488"/>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2. Does the comparison paragraph show a meaningful difference? Not just "they're different" — WHY it matters.</a:t>
            </a:r>
            <a:endParaRPr lang="en-US" sz="1100" dirty="0"/>
          </a:p>
        </p:txBody>
      </p:sp>
      <p:sp>
        <p:nvSpPr>
          <p:cNvPr id="9" name="Shape 7"/>
          <p:cNvSpPr/>
          <p:nvPr/>
        </p:nvSpPr>
        <p:spPr>
          <a:xfrm>
            <a:off x="365760" y="218541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3113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3. Is the evidence specific? Does the writer name scenes, moments, or quotes — or just make general statements?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Model Example</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3566160"/>
          </a:xfrm>
          <a:prstGeom prst="roundRect">
            <a:avLst>
              <a:gd name="adj" fmla="val 2564"/>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05840"/>
            <a:ext cx="7955280" cy="3291840"/>
          </a:xfrm>
          <a:prstGeom prst="rect">
            <a:avLst/>
          </a:prstGeom>
          <a:noFill/>
          <a:ln/>
        </p:spPr>
        <p:txBody>
          <a:bodyPr wrap="square" lIns="0" tIns="0" rIns="0" bIns="0" rtlCol="0" anchor="t"/>
          <a:lstStyle/>
          <a:p>
            <a:pPr indent="0" marL="0">
              <a:buNone/>
            </a:pPr>
            <a:r>
              <a:rPr lang="en-US" sz="1300" i="1" dirty="0">
                <a:solidFill>
                  <a:srgbClr val="1E293B"/>
                </a:solidFill>
                <a:latin typeface="Georgia" pitchFamily="34" charset="0"/>
                <a:ea typeface="Georgia" pitchFamily="34" charset="-122"/>
                <a:cs typeface="Georgia" pitchFamily="34" charset="-120"/>
              </a:rPr>
              <a:t>How to write helpful feedback: Be specific and kind. Not: "Your essay is good." Instead: "Your comparison claim is clear. Your Body Paragraph 1 has strong evidence. In the comparison paragraph, I couldn't tell why the difference MATTERS. One more sentence explaining that would make your argument much stronger."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Peer Review Question 1</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Read the full draft (a classmate's, or your own with fresh eyes). Answer the three peer review questions: (1) State the comparison claim in your own words. (2) Is the comparison paragraph showing WHY the difference matters? (3) Are the evidence examples specific?</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Peer Review Question 2</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two pieces of specific feedback: (1) Name the strongest part of the essay and explain specifically why it works. (2) Name one part that could be stronger and give a specific suggestion for how to improve it.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Peer Review Question 3 — Week Synthesis</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Looking back at the week: What did you learn about comparison writing that you didn't know before? What was the hardest part — and what helped? Reflect on your process from Plan (Day 1) to this final review.</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Project Workshop</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22960"/>
            <a:ext cx="2029968" cy="384048"/>
          </a:xfrm>
          <a:prstGeom prst="roundRect">
            <a:avLst>
              <a:gd name="adj" fmla="val 47619"/>
            </a:avLst>
          </a:prstGeom>
          <a:solidFill>
            <a:srgbClr val="34B76F"/>
          </a:solidFill>
          <a:ln/>
        </p:spPr>
      </p:sp>
      <p:sp>
        <p:nvSpPr>
          <p:cNvPr id="5" name="Text 3"/>
          <p:cNvSpPr/>
          <p:nvPr/>
        </p:nvSpPr>
        <p:spPr>
          <a:xfrm>
            <a:off x="36576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Plan</a:t>
            </a:r>
            <a:endParaRPr lang="en-US" sz="1100" dirty="0"/>
          </a:p>
        </p:txBody>
      </p:sp>
      <p:sp>
        <p:nvSpPr>
          <p:cNvPr id="6" name="Shape 4"/>
          <p:cNvSpPr/>
          <p:nvPr/>
        </p:nvSpPr>
        <p:spPr>
          <a:xfrm>
            <a:off x="2468880" y="822960"/>
            <a:ext cx="2029968" cy="384048"/>
          </a:xfrm>
          <a:prstGeom prst="roundRect">
            <a:avLst>
              <a:gd name="adj" fmla="val 47619"/>
            </a:avLst>
          </a:prstGeom>
          <a:solidFill>
            <a:srgbClr val="34B76F"/>
          </a:solidFill>
          <a:ln/>
        </p:spPr>
      </p:sp>
      <p:sp>
        <p:nvSpPr>
          <p:cNvPr id="7" name="Text 5"/>
          <p:cNvSpPr/>
          <p:nvPr/>
        </p:nvSpPr>
        <p:spPr>
          <a:xfrm>
            <a:off x="246888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Draft</a:t>
            </a:r>
            <a:endParaRPr lang="en-US" sz="1100" dirty="0"/>
          </a:p>
        </p:txBody>
      </p:sp>
      <p:sp>
        <p:nvSpPr>
          <p:cNvPr id="8" name="Shape 6"/>
          <p:cNvSpPr/>
          <p:nvPr/>
        </p:nvSpPr>
        <p:spPr>
          <a:xfrm>
            <a:off x="4572000" y="822960"/>
            <a:ext cx="2029968" cy="384048"/>
          </a:xfrm>
          <a:prstGeom prst="roundRect">
            <a:avLst>
              <a:gd name="adj" fmla="val 47619"/>
            </a:avLst>
          </a:prstGeom>
          <a:solidFill>
            <a:srgbClr val="34B76F"/>
          </a:solidFill>
          <a:ln/>
        </p:spPr>
      </p:sp>
      <p:sp>
        <p:nvSpPr>
          <p:cNvPr id="9" name="Text 7"/>
          <p:cNvSpPr/>
          <p:nvPr/>
        </p:nvSpPr>
        <p:spPr>
          <a:xfrm>
            <a:off x="457200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Revise</a:t>
            </a:r>
            <a:endParaRPr lang="en-US" sz="1100" dirty="0"/>
          </a:p>
        </p:txBody>
      </p:sp>
      <p:sp>
        <p:nvSpPr>
          <p:cNvPr id="10" name="Shape 8"/>
          <p:cNvSpPr/>
          <p:nvPr/>
        </p:nvSpPr>
        <p:spPr>
          <a:xfrm>
            <a:off x="6675120" y="822960"/>
            <a:ext cx="2029968" cy="384048"/>
          </a:xfrm>
          <a:prstGeom prst="roundRect">
            <a:avLst>
              <a:gd name="adj" fmla="val 47619"/>
            </a:avLst>
          </a:prstGeom>
          <a:solidFill>
            <a:srgbClr val="C7922C"/>
          </a:solidFill>
          <a:ln/>
        </p:spPr>
      </p:sp>
      <p:sp>
        <p:nvSpPr>
          <p:cNvPr id="11" name="Text 9"/>
          <p:cNvSpPr/>
          <p:nvPr/>
        </p:nvSpPr>
        <p:spPr>
          <a:xfrm>
            <a:off x="667512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Publish</a:t>
            </a:r>
            <a:endParaRPr lang="en-US" sz="1100" dirty="0"/>
          </a:p>
        </p:txBody>
      </p:sp>
      <p:sp>
        <p:nvSpPr>
          <p:cNvPr id="12" name="Text 10"/>
          <p:cNvSpPr/>
          <p:nvPr/>
        </p:nvSpPr>
        <p:spPr>
          <a:xfrm>
            <a:off x="365760" y="13716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FINAL REVISION TARGETS (MAKE AT LEAST TWO)</a:t>
            </a:r>
            <a:endParaRPr lang="en-US" sz="1100" dirty="0"/>
          </a:p>
        </p:txBody>
      </p:sp>
      <p:sp>
        <p:nvSpPr>
          <p:cNvPr id="13" name="Shape 11"/>
          <p:cNvSpPr/>
          <p:nvPr/>
        </p:nvSpPr>
        <p:spPr>
          <a:xfrm>
            <a:off x="365760" y="1664208"/>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1700784"/>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Sharpen your comparison claim — does it name both the similarity AND the meaningful difference?</a:t>
            </a:r>
            <a:endParaRPr lang="en-US" sz="1050" dirty="0"/>
          </a:p>
        </p:txBody>
      </p:sp>
      <p:sp>
        <p:nvSpPr>
          <p:cNvPr id="15" name="Shape 13"/>
          <p:cNvSpPr/>
          <p:nvPr/>
        </p:nvSpPr>
        <p:spPr>
          <a:xfrm>
            <a:off x="365760" y="217627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2212848"/>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Add one specific detail to your weakest piece of evidence</a:t>
            </a:r>
            <a:endParaRPr lang="en-US" sz="1050" dirty="0"/>
          </a:p>
        </p:txBody>
      </p:sp>
      <p:sp>
        <p:nvSpPr>
          <p:cNvPr id="17" name="Shape 15"/>
          <p:cNvSpPr/>
          <p:nvPr/>
        </p:nvSpPr>
        <p:spPr>
          <a:xfrm>
            <a:off x="365760" y="2688336"/>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2724912"/>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Strengthen the comparison paragraph — add the sentence explaining WHY the difference matters</a:t>
            </a:r>
            <a:endParaRPr lang="en-US" sz="1050" dirty="0"/>
          </a:p>
        </p:txBody>
      </p:sp>
      <p:sp>
        <p:nvSpPr>
          <p:cNvPr id="19" name="Shape 17"/>
          <p:cNvSpPr/>
          <p:nvPr/>
        </p:nvSpPr>
        <p:spPr>
          <a:xfrm>
            <a:off x="365760" y="320040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20" name="Text 18"/>
          <p:cNvSpPr/>
          <p:nvPr/>
        </p:nvSpPr>
        <p:spPr>
          <a:xfrm>
            <a:off x="548640" y="3236976"/>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Check transitions — are they varied?</a:t>
            </a:r>
            <a:endParaRPr lang="en-US" sz="1050" dirty="0"/>
          </a:p>
        </p:txBody>
      </p:sp>
      <p:sp>
        <p:nvSpPr>
          <p:cNvPr id="21" name="Shape 19"/>
          <p:cNvSpPr/>
          <p:nvPr/>
        </p:nvSpPr>
        <p:spPr>
          <a:xfrm>
            <a:off x="365760" y="3712464"/>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22" name="Text 20"/>
          <p:cNvSpPr/>
          <p:nvPr/>
        </p:nvSpPr>
        <p:spPr>
          <a:xfrm>
            <a:off x="548640" y="3749040"/>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Run the spelling checklist — fortitude, tenacious, consequently, nevertheless, exuberance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Today's Writing Task</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WRITE NOW</a:t>
            </a:r>
            <a:endParaRPr lang="en-US" sz="1100" dirty="0"/>
          </a:p>
        </p:txBody>
      </p:sp>
      <p:sp>
        <p:nvSpPr>
          <p:cNvPr id="5" name="Shape 3"/>
          <p:cNvSpPr/>
          <p:nvPr/>
        </p:nvSpPr>
        <p:spPr>
          <a:xfrm>
            <a:off x="365760" y="1097280"/>
            <a:ext cx="8412480" cy="2651760"/>
          </a:xfrm>
          <a:prstGeom prst="roundRect">
            <a:avLst>
              <a:gd name="adj" fmla="val 3448"/>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23774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FINAL revised essay here. Note at the top which two revisions you made.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Before You Finish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23544"/>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answered all three peer review questions and provided specific feedback.</a:t>
            </a:r>
            <a:endParaRPr lang="en-US" sz="1250" dirty="0"/>
          </a:p>
        </p:txBody>
      </p:sp>
      <p:sp>
        <p:nvSpPr>
          <p:cNvPr id="6" name="Shape 4"/>
          <p:cNvSpPr/>
          <p:nvPr/>
        </p:nvSpPr>
        <p:spPr>
          <a:xfrm>
            <a:off x="365760" y="1618488"/>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my Vocabulary Year-Long Review SWYK — five words from three units.</a:t>
            </a:r>
            <a:endParaRPr lang="en-US" sz="1250" dirty="0"/>
          </a:p>
        </p:txBody>
      </p:sp>
      <p:sp>
        <p:nvSpPr>
          <p:cNvPr id="8" name="Shape 6"/>
          <p:cNvSpPr/>
          <p:nvPr/>
        </p:nvSpPr>
        <p:spPr>
          <a:xfrm>
            <a:off x="365760" y="2368296"/>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made at least two targeted revisions and submitted my final essay.</a:t>
            </a:r>
            <a:endParaRPr lang="en-US" sz="1250" dirty="0"/>
          </a:p>
        </p:txBody>
      </p:sp>
      <p:sp>
        <p:nvSpPr>
          <p:cNvPr id="10" name="Shape 8"/>
          <p:cNvSpPr/>
          <p:nvPr/>
        </p:nvSpPr>
        <p:spPr>
          <a:xfrm>
            <a:off x="365760" y="3118104"/>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72968"/>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am ready for Week 32 — Year-End Synthesis &amp; Portfolio.</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2026-07-13T17:55:36Z</dcterms:created>
  <dcterms:modified xsi:type="dcterms:W3CDTF">2026-07-13T17:55:36Z</dcterms:modified>
</cp:coreProperties>
</file>