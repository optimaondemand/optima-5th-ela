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13, Day 3, Chapter 19 — Strange Sailing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19 and continue revising your expository piece. Keep asking: How does figurative language contribute to meaning?
Morphology: Use trans-/inter-/sub- words in context.
Spelling SWYK: Show what you know about assimilated prefixes.
Grammar: Use relative clauses to expand and clarify expository sentences.
Reading: Chapter 19 — Strange Sailing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strange orders which nat received required him to sub mit to a course that intersected with the most hazardous waters on the chart"
Corrected: "The strange orders, which Nat received, required him to submit to a course that intersected with the most hazardous waters on the chart."
Fixes: capitalize “The”; commas around non-restrictive “which Nat received”; submit is one word (sub- + mit);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strange orders which nat received required him to sub mit to a course that intersected with the most hazardous waters on the chart"
Corrected: "The strange orders, which Nat received, required him to submit to a course that intersected with the most hazardous waters on the chart."
Fixes: capitalize “The”; commas around non-restrictive “which Nat received”; submit is one word (sub- + mit);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stronger, more specific word I could use here instead of a vague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SWYK: Use Assimilated Prefixes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13 — Chapter 19 — Strange Sailing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REVISE &amp; EDIT: Polish your sentences
Focus: Big-picture revision is done. Today you work at the sentence level: length, precision, and variety. One short sentence. One long one. One with a relative clause. Mix them.
Before: BEFORE Alex’s draft paragraph: Bowditch corrected many errors in the book. He worked carefully. He made navigation safer. This was important because sailors depended on the book.
After: AFTER Alex’s revised paragraph: Bowditch corrected over 8,000 errors in Moore’s Navigator — a book that sailors trusted with their lives. He did not complain about the errors; he fixed them. What he left behind was not just corrected tables but a fundamentally different standard for what navigational accuracy could look like.
Notice: Notice: Alex’s revision has sentence variety: long sentence with a relative clause, short declarative sentence (“He did not complain; he fixed them”), long complex sentence. Variety keeps readers engaged.
Tool: Today’s Tool: Sentence Variety Check — Find a paragraph that has 3–4 sentences all the same length. Rewrite it with at least one short sentence, one long sentence, and one sentence with a clause.
Frames: “He did not ___; he ___.” | “What he left behind was not just ___ but ___.” | “___, which ___, demonstrated that...”
Prompt: Find a paragraph in your draft that has repetitive sentence structure. Rewrite it with varied sentence length and at least one relative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13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19 — Strange Sailing Orders</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13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19 and continue revising your expository piece. Keep asking: How does figurative language contribute to meaning?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Use trans-/inter-/sub- words in context.</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SWYK: </a:t>
            </a:r>
            <a:pPr indent="0" marL="0">
              <a:buNone/>
            </a:pPr>
            <a:r>
              <a:rPr lang="en-US" sz="1250" dirty="0">
                <a:solidFill>
                  <a:srgbClr val="1E293B"/>
                </a:solidFill>
                <a:latin typeface="Calibri" pitchFamily="34" charset="0"/>
                <a:ea typeface="Calibri" pitchFamily="34" charset="-122"/>
                <a:cs typeface="Calibri" pitchFamily="34" charset="-120"/>
              </a:rPr>
              <a:t>Show what you know about assimilated prefixes.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Use relative clauses to expand and clarify expository sentences.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19 — Strange Sailing Orders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19 forces a tension that runs through the whole book: Nat operates within systems of command and authority, but his own mathematical certainty sometimes tells him something different. “Strange sailing orders” — unusual directives — create a conflict between following orders and trusting his own judgment. Latham uses figurative language to make this internal conflict palpable.</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are the “strange sailing orders” in Chapter 19? Why are they strange? What conflict do they create for Nat?</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Latham use figurative language to convey the feeling of navigating between duty and judgment?</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Nat’s response to the strange orders tell you about who he is at this stage of the story?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sailing orders, which contradicted everything Nat knew about the safest route , forced him to translate his private disagreement into a professional decision.</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which contradicted everything Nat knew about the safest route  </a:t>
            </a:r>
            <a:pPr indent="0" marL="0">
              <a:buNone/>
            </a:pPr>
            <a:r>
              <a:rPr lang="en-US" sz="1200" dirty="0">
                <a:solidFill>
                  <a:srgbClr val="1E293B"/>
                </a:solidFill>
                <a:latin typeface="Calibri" pitchFamily="34" charset="0"/>
                <a:ea typeface="Calibri" pitchFamily="34" charset="-122"/>
                <a:cs typeface="Calibri" pitchFamily="34" charset="-120"/>
              </a:rPr>
              <a:t>Non-restrictive relative clause — adds info about the orders. Comma + which.</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translate  </a:t>
            </a:r>
            <a:pPr indent="0" marL="0">
              <a:buNone/>
            </a:pPr>
            <a:r>
              <a:rPr lang="en-US" sz="1200" dirty="0">
                <a:solidFill>
                  <a:srgbClr val="1E293B"/>
                </a:solidFill>
                <a:latin typeface="Calibri" pitchFamily="34" charset="0"/>
                <a:ea typeface="Calibri" pitchFamily="34" charset="-122"/>
                <a:cs typeface="Calibri" pitchFamily="34" charset="-120"/>
              </a:rPr>
              <a:t>trans- = across. Translate: carry meaning across a barrier.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strange orders which nat received required him to sub mit to a course that intersected with the most hazardous waters on the chart</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strange orders which nat received required him to sub mit to a course that intersected with the most hazardous waters on the chart</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strange orders, which Nat received, required him to submit to a course that intersected with the most hazardous waters on the chart.</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commas around non-restrictive “which Nat received”; submit is one word (sub- + mit);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receives strange sailing orders in this chapter. Should he trust the orders, or trust his own judgment more? Defend your answer with evidence from Chapter 19.</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receives strange sailing orders in this chapter. Should he trust the orders, or trust his own judgment more? Defend your answer with evidence from Chapter 19.</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stronger, more specific word I could use here instead of a vague one?</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Use trans-/inter-/sub- in Context</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translate · intersect · submarine · interval · transfer · subscribe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Use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complete sentences with this week’s words</a:t>
            </a:r>
            <a:endParaRPr lang="en-US" sz="1100" dirty="0"/>
          </a:p>
        </p:txBody>
      </p:sp>
      <p:sp>
        <p:nvSpPr>
          <p:cNvPr id="5" name="Shape 3"/>
          <p:cNvSpPr/>
          <p:nvPr/>
        </p:nvSpPr>
        <p:spPr>
          <a:xfrm>
            <a:off x="365760" y="1097280"/>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When the lookout spotted a dangerous reef, Nat knew that the two lines of position would ___ dangerously close to the shoal.</a:t>
            </a:r>
            <a:endParaRPr lang="en-US" sz="1150" dirty="0"/>
          </a:p>
        </p:txBody>
      </p:sp>
      <p:sp>
        <p:nvSpPr>
          <p:cNvPr id="7" name="Shape 5"/>
          <p:cNvSpPr/>
          <p:nvPr/>
        </p:nvSpPr>
        <p:spPr>
          <a:xfrm>
            <a:off x="365760" y="1709928"/>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64792"/>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The ___ between lunar observations had to be measured to the second.</a:t>
            </a:r>
            <a:endParaRPr lang="en-US" sz="1150" dirty="0"/>
          </a:p>
        </p:txBody>
      </p:sp>
      <p:sp>
        <p:nvSpPr>
          <p:cNvPr id="9" name="Shape 7"/>
          <p:cNvSpPr/>
          <p:nvPr/>
        </p:nvSpPr>
        <p:spPr>
          <a:xfrm>
            <a:off x="365760" y="2322576"/>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377440"/>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A ___ ridge — a ridge beneath the surface of the sea — could tear open a ship’s hull without warning.</a:t>
            </a:r>
            <a:endParaRPr lang="en-US" sz="1150" dirty="0"/>
          </a:p>
        </p:txBody>
      </p:sp>
      <p:sp>
        <p:nvSpPr>
          <p:cNvPr id="11" name="Shape 9"/>
          <p:cNvSpPr/>
          <p:nvPr/>
        </p:nvSpPr>
        <p:spPr>
          <a:xfrm>
            <a:off x="365760" y="2935224"/>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990088"/>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Nat hoped to ___ the complex lunar-distance method into something any sailor could use.</a:t>
            </a:r>
            <a:endParaRPr lang="en-US" sz="1150" dirty="0"/>
          </a:p>
        </p:txBody>
      </p:sp>
      <p:sp>
        <p:nvSpPr>
          <p:cNvPr id="13" name="Shape 11"/>
          <p:cNvSpPr/>
          <p:nvPr/>
        </p:nvSpPr>
        <p:spPr>
          <a:xfrm>
            <a:off x="365760" y="3593592"/>
            <a:ext cx="8412480" cy="640080"/>
          </a:xfrm>
          <a:prstGeom prst="roundRect">
            <a:avLst>
              <a:gd name="adj" fmla="val 14286"/>
            </a:avLst>
          </a:prstGeom>
          <a:solidFill>
            <a:srgbClr val="FEF6E8"/>
          </a:solidFill>
          <a:ln w="12700">
            <a:solidFill>
              <a:srgbClr val="C7922C"/>
            </a:solidFill>
            <a:prstDash val="solid"/>
          </a:ln>
        </p:spPr>
      </p:sp>
      <p:sp>
        <p:nvSpPr>
          <p:cNvPr id="14" name="Text 12"/>
          <p:cNvSpPr/>
          <p:nvPr/>
        </p:nvSpPr>
        <p:spPr>
          <a:xfrm>
            <a:off x="548640" y="363931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Spelling
</a:t>
            </a:r>
            <a:pPr indent="0" marL="0">
              <a:buNone/>
            </a:pPr>
            <a:r>
              <a:rPr lang="en-US" sz="1000" i="1" dirty="0">
                <a:solidFill>
                  <a:srgbClr val="1E293B"/>
                </a:solidFill>
                <a:latin typeface="Calibri" pitchFamily="34" charset="0"/>
                <a:ea typeface="Calibri" pitchFamily="34" charset="-122"/>
                <a:cs typeface="Calibri" pitchFamily="34" charset="-120"/>
              </a:rPr>
              <a:t>Choose four words that contain assimilated prefixes (from our study or your own knowledge). For each: (1) write the word, (2) show the original prefix + root (e.g., sub- + port = support ), and (3) write a sentence using it correctly. At least two of your four should use trans- , inter- , or sub-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Use Relative Clauses in Expository Writing</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expand and clarify your expository sentences</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3. Moore’s Navigator, which sailors had trusted for decades, turned out to be riddled with erroneous figures.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SWYK: Use Assimilated Prefixes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Show What You Know</a:t>
            </a:r>
            <a:endParaRPr lang="en-US" sz="1100" dirty="0"/>
          </a:p>
        </p:txBody>
      </p:sp>
      <p:sp>
        <p:nvSpPr>
          <p:cNvPr id="7" name="Shape 5"/>
          <p:cNvSpPr/>
          <p:nvPr/>
        </p:nvSpPr>
        <p:spPr>
          <a:xfrm>
            <a:off x="365760" y="1143000"/>
            <a:ext cx="8412480" cy="1005840"/>
          </a:xfrm>
          <a:prstGeom prst="roundRect">
            <a:avLst>
              <a:gd name="adj" fmla="val 9091"/>
            </a:avLst>
          </a:prstGeom>
          <a:solidFill>
            <a:srgbClr val="FEF6E8"/>
          </a:solidFill>
          <a:ln w="12700">
            <a:solidFill>
              <a:srgbClr val="C7922C"/>
            </a:solidFill>
            <a:prstDash val="solid"/>
          </a:ln>
        </p:spPr>
      </p:sp>
      <p:sp>
        <p:nvSpPr>
          <p:cNvPr id="8" name="Text 6"/>
          <p:cNvSpPr/>
          <p:nvPr/>
        </p:nvSpPr>
        <p:spPr>
          <a:xfrm>
            <a:off x="548640" y="1234440"/>
            <a:ext cx="8046720" cy="841248"/>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Spelling
</a:t>
            </a:r>
            <a:pPr indent="0" marL="0">
              <a:buNone/>
            </a:pPr>
            <a:r>
              <a:rPr lang="en-US" sz="1100" i="1" dirty="0">
                <a:solidFill>
                  <a:srgbClr val="1E293B"/>
                </a:solidFill>
                <a:latin typeface="Calibri" pitchFamily="34" charset="0"/>
                <a:ea typeface="Calibri" pitchFamily="34" charset="-122"/>
                <a:cs typeface="Calibri" pitchFamily="34" charset="-120"/>
              </a:rPr>
              <a:t>Choose four words that contain assimilated prefixes (from our study or your own knowledge). For each: (1) write the word, (2) show the original prefix + root (e.g., sub- + port = support ), and (3) write a sentence using it correctly. At least two of your four should use trans- , inter- , or sub-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13 — Chapter 19 — Strange Sailing Orders</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19 — Strange Sailing Orders</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are the “strange sailing orders” in Chapter 19? Why are they strange? What conflict do they create for Nat?</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Latham use figurative language to convey the feeling of navigating between duty and judgment?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What are the “strange sailing orders” in Chapter 19? Explain the conflict they create for Nat. What does he have to choose between, and what does his choice reveal about his character?</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Choose one piece of figurative language from Chapter 19 and explain exactly what it contributes to the meaning of that moment. What would the text lose if Latham had used plain, literal language instead?</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Chapter 19 shows Nat navigating both a literal course and a figurative one — between duty and judgment. How does Latham use figurative language to make this internal navigation feel as real as actual sailing? Include a relative clause in your response.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REVISE &amp; EDIT  ·  Polish your sentences</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Big-picture revision is done. Today you work at the sentence level: length, precision, and variety. One short sentence. One long one. One with a relative clause. Mix them.</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draft paragraph: Bowditch corrected many errors in the book. He worked carefully. He made navigation safer. This was important because sailors depended on the book.</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revised paragraph: Bowditch corrected over 8,000 errors in Moore’s Navigator — a book that sailors trusted with their lives. He did not complain about the errors; he fixed them. What he left behind was not just corrected tables but a fundamentally different standard for what navigational accuracy could look like.</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revision has sentence variety: long sentence with a relative clause, short declarative sentence (“He did not complain; he fixed them”), long complex sentence. Variety keeps readers engaged.</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SENTENCE VARIETY CHECK</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Find a paragraph that has 3–4 sentences all the same length. Rewrite it with at least one short sentence, one long sentence, and one sentence with a clause.</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Find a paragraph in your draft that has repetitive sentence structure. Rewrite it with varied sentence length and at least one relative clause.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