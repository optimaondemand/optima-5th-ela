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13.3: Chapter 19, "Strange Sailing Orders". Banner quote: “Right now I’d sail on anything, to anywhere.” (Chapter 19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Why would a captain give orders that look mad? Today you read Chapter 19 and continue revising your expository piece. Keep asking: How does figurative language contribute to meaning?
Objectives:
- 🧭 Morphology: Use fer and duct/duce words in context.
- 🔤 Spelling SWYK: Show what you know about assimilated prefixes.
- ✏️ Grammar: I will write using compound and complex sentences correctly punctuated.
- 📖 Reading: I will analyze whose judgment the writing carries in Chapter 19, down to the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strange orders which captain prince gave required the new crew to sub mit to a voyage they had never planned to make
Corrected: The strange orders, which Captain Prince gave, required the new crew to submit to a voyage they had never planned to make.
Fixes: capitalize “The” and “Captain Prince”; commas around non-restrictive “which Captain Prince gave”; submit is one word (sub- + mit);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strange orders which captain prince gave required the new crew to sub mit to a voyage they had never planned to make
Corrected: The strange orders, which Captain Prince gave, required the new crew to submit to a voyage they had never planned to make.
Fixes: capitalize “The” and “Captain Prince”; commas around non-restrictive “which Captain Prince gave”; submit is one word (sub- + mit);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fer + duct/duce — Use — put the roots to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transfer  2. introduce  3. conduit  4. infer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deduce
2. transfers
3. introduces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intersect  2. interval  3. submarine  4. translate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Use — join the ideas yourself.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so  2. Because  3. but  4. Although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Polish your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Polish your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13  ·  DAY 3  ·  LESSON 13.3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19 — Strange Sailing Orders</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“Right now I’d sail on anything, to anywhere.”</a:t>
            </a:r>
            <a:pPr indent="0" marL="0">
              <a:buNone/>
            </a:pPr>
            <a:r>
              <a:rPr lang="en-US" sz="1600" dirty="0">
                <a:solidFill>
                  <a:srgbClr val="55C8E8"/>
                </a:solidFill>
                <a:latin typeface="Calibri" pitchFamily="34" charset="0"/>
                <a:ea typeface="Calibri" pitchFamily="34" charset="-122"/>
                <a:cs typeface="Calibri" pitchFamily="34" charset="-120"/>
              </a:rPr>
              <a:t>  — Chapter 19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USE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19</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Why would a captain give orders that look mad?</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19 and continue revising your expository piece. Keep asking: How does figurative language contribute to meaning?</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fer and duct/duce words in context.</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Show what you know about assimilated prefixes.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write using compound and complex sentences correctly punctuated.</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analyze whose judgment the writing carries in Chapter 19, down to the adjectives.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WHOSE JUDGMENT ARE YOU READING?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Today reread the passage in Chapter 19 where Captain Prince puts to sea without waiting for the tide. Reread it and ask whose side the writing is on. Notice the words that carry a verdict — an author’s perspective usually hides inside an adjective.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author in the sentence: Look for words that judge, admire or explain. Those are Latham, not the record.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she includes and leaves out: Perspective shows in what gets a whole chapter and what gets a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it against another telling: Ask how a different biographer — or Nat himself — might have written the same event.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are the “strange sailing orders” in Chapter 19? Why are they strange? Whose plan do they spoil?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WHOSE JUDGMENT ARE YOU READING?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Latham use figurative language to convey Nat’s grief, or his confusion when good news comes too late to share?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Nat’s wish to “sail on anything, to anywhere” tell you about who he is at this stage of the story?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sailing orders, </a:t>
            </a:r>
            <a:pPr indent="0" marL="0">
              <a:buNone/>
            </a:pPr>
            <a:r>
              <a:rPr lang="en-US" sz="2600" b="1" u="sng" dirty="0">
                <a:solidFill>
                  <a:srgbClr val="1E8E52"/>
                </a:solidFill>
                <a:latin typeface="Calibri" pitchFamily="34" charset="0"/>
                <a:ea typeface="Calibri" pitchFamily="34" charset="-122"/>
                <a:cs typeface="Calibri" pitchFamily="34" charset="-120"/>
              </a:rPr>
              <a:t>which Captain Prince gave without waiting for the tide</a:t>
            </a:r>
            <a:pPr indent="0" marL="0">
              <a:buNone/>
            </a:pPr>
            <a:r>
              <a:rPr lang="en-US" sz="2600" dirty="0">
                <a:solidFill>
                  <a:srgbClr val="1E293B"/>
                </a:solidFill>
                <a:latin typeface="Calibri" pitchFamily="34" charset="0"/>
                <a:ea typeface="Calibri" pitchFamily="34" charset="-122"/>
                <a:cs typeface="Calibri" pitchFamily="34" charset="-120"/>
              </a:rPr>
              <a:t>, forced Mr. Cheevers to </a:t>
            </a:r>
            <a:pPr indent="0" marL="0">
              <a:buNone/>
            </a:pPr>
            <a:r>
              <a:rPr lang="en-US" sz="2600" b="1" u="sng" dirty="0">
                <a:solidFill>
                  <a:srgbClr val="1E8E52"/>
                </a:solidFill>
                <a:latin typeface="Calibri" pitchFamily="34" charset="0"/>
                <a:ea typeface="Calibri" pitchFamily="34" charset="-122"/>
                <a:cs typeface="Calibri" pitchFamily="34" charset="-120"/>
              </a:rPr>
              <a:t>translate</a:t>
            </a:r>
            <a:pPr indent="0" marL="0">
              <a:buNone/>
            </a:pPr>
            <a:r>
              <a:rPr lang="en-US" sz="2600" dirty="0">
                <a:solidFill>
                  <a:srgbClr val="1E293B"/>
                </a:solidFill>
                <a:latin typeface="Calibri" pitchFamily="34" charset="0"/>
                <a:ea typeface="Calibri" pitchFamily="34" charset="-122"/>
                <a:cs typeface="Calibri" pitchFamily="34" charset="-120"/>
              </a:rPr>
              <a:t> the captain’s strange plan into commands for a bewildered crew.</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which Captain Prince gave without waiting for the tide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Non-restrictive relative clause — adds info about the orders. Comma + which.</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translate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trans- = across. Translate: carry meaning across a barrier.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strange orders which captain prince gave required the new crew to sub mit to a voyage they had never planned to make</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strange orders which captain prince gave required the new crew to sub mit to a voyage they had never planned to make</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strange orders, which Captain Prince gave, required the new crew to submit to a voyage they had never planned to make.</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and “Captain Prince”; commas around non-restrictive “which Captain Prince gave”; submit is one word (sub- + mit);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Captain Prince gives strange sailing orders to keep a crew of waterfront men from deserting. Was his trick fair to the crew? Defend your answer with evidence from Chapter 19.</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400" b="1" dirty="0">
                <a:solidFill>
                  <a:srgbClr val="C7922C"/>
                </a:solidFill>
                <a:latin typeface="Calibri" pitchFamily="34" charset="0"/>
                <a:ea typeface="Calibri" pitchFamily="34" charset="-122"/>
                <a:cs typeface="Calibri" pitchFamily="34" charset="-120"/>
              </a:rPr>
              <a:t>Prompt: </a:t>
            </a:r>
            <a:pPr indent="0" marL="0">
              <a:buNone/>
            </a:pPr>
            <a:r>
              <a:rPr lang="en-US" sz="2400" dirty="0">
                <a:solidFill>
                  <a:srgbClr val="1E293B"/>
                </a:solidFill>
                <a:latin typeface="Calibri" pitchFamily="34" charset="0"/>
                <a:ea typeface="Calibri" pitchFamily="34" charset="-122"/>
                <a:cs typeface="Calibri" pitchFamily="34" charset="-120"/>
              </a:rPr>
              <a:t>Captain Prince gives strange sailing orders to keep a crew of waterfront men from deserting. Was his trick fair to the crew? Defend your answer with evidence from Chapter 19.</a:t>
            </a:r>
            <a:endParaRPr lang="en-US" sz="24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Two Roots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fer = carry → transfer (carry across), refer (carry back), ferry (a carrier), conference (carrying ideas together)</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duct / duce = lead → conduct (lead together), produce (lead forward), reduce (lead back), introduce (lead into)</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An aqueduct leads water. A conductor leads an orchestra — or leads electricity.</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To deduce is to lead an answer out of the evidence. That is exactly what Nat does with a bad table.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Watch the prefixes: the same ones you have collected all year — trans-, re-, con-, in-, pro-.</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fer = carry, bear. duct / duce = lead.</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Put the roots to work.</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transfer · introduce · conduit · infer</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To carry something from one place to another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To lead someone into a group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pipe that leads water somewhere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To carry a conclusion from evidence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To carry something from one place to another is to </a:t>
            </a:r>
            <a:pPr indent="0" marL="0">
              <a:buNone/>
            </a:pPr>
            <a:r>
              <a:rPr lang="en-US" sz="2200" b="1" dirty="0">
                <a:solidFill>
                  <a:srgbClr val="1E8E52"/>
                </a:solidFill>
                <a:latin typeface="Calibri" pitchFamily="34" charset="0"/>
                <a:ea typeface="Calibri" pitchFamily="34" charset="-122"/>
                <a:cs typeface="Calibri" pitchFamily="34" charset="-120"/>
              </a:rPr>
              <a:t>transfer</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To lead someone into a group is to </a:t>
            </a:r>
            <a:pPr indent="0" marL="0">
              <a:buNone/>
            </a:pPr>
            <a:r>
              <a:rPr lang="en-US" sz="2200" b="1" dirty="0">
                <a:solidFill>
                  <a:srgbClr val="1E8E52"/>
                </a:solidFill>
                <a:latin typeface="Calibri" pitchFamily="34" charset="0"/>
                <a:ea typeface="Calibri" pitchFamily="34" charset="-122"/>
                <a:cs typeface="Calibri" pitchFamily="34" charset="-120"/>
              </a:rPr>
              <a:t>introduce</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pipe that leads water somewhere is a </a:t>
            </a:r>
            <a:pPr indent="0" marL="0">
              <a:buNone/>
            </a:pPr>
            <a:r>
              <a:rPr lang="en-US" sz="2200" b="1" dirty="0">
                <a:solidFill>
                  <a:srgbClr val="1E8E52"/>
                </a:solidFill>
                <a:latin typeface="Calibri" pitchFamily="34" charset="0"/>
                <a:ea typeface="Calibri" pitchFamily="34" charset="-122"/>
                <a:cs typeface="Calibri" pitchFamily="34" charset="-120"/>
              </a:rPr>
              <a:t>conduit</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To carry a conclusion from evidence is to </a:t>
            </a:r>
            <a:pPr indent="0" marL="0">
              <a:buNone/>
            </a:pPr>
            <a:r>
              <a:rPr lang="en-US" sz="2200" b="1" dirty="0">
                <a:solidFill>
                  <a:srgbClr val="1E8E52"/>
                </a:solidFill>
                <a:latin typeface="Calibri" pitchFamily="34" charset="0"/>
                <a:ea typeface="Calibri" pitchFamily="34" charset="-122"/>
                <a:cs typeface="Calibri" pitchFamily="34" charset="-120"/>
              </a:rPr>
              <a:t>infer</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Nat works the answer out from the evidence in front of him.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deduce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He carries a figure from one table across to another.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conduct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He leads a crew of unschooled sailors into a new method.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introduces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refers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Nat works the answer out from the evidence in front of him. Which word fits?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deduce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transfer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He carries a figure from one table across to another. Which word fits?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conduct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transfers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He leads a crew of unschooled sailors into a new method. Which word fits?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introduces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refers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COMPLETE SENTENCES WITH THIS WEEK’S WORDS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 In the 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On the harbor chart, the two channels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just past Baker’s Island.</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between lunar observations had to be measured to the second.</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ridge — a ridge beneath the surface of the sea — could tear open a ship’s hull without warning.</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Nat hoped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complex lunar-distance method into something any sailor could use.</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COMPLETE SENTENCES WITH THIS WEEK’S WORDS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 In the 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On the harbor chart, the two channels </a:t>
            </a:r>
            <a:pPr indent="0" marL="0">
              <a:buNone/>
            </a:pPr>
            <a:r>
              <a:rPr lang="en-US" sz="2200" b="1" dirty="0">
                <a:solidFill>
                  <a:srgbClr val="1E8E52"/>
                </a:solidFill>
                <a:latin typeface="Calibri" pitchFamily="34" charset="0"/>
                <a:ea typeface="Calibri" pitchFamily="34" charset="-122"/>
                <a:cs typeface="Calibri" pitchFamily="34" charset="-120"/>
              </a:rPr>
              <a:t>intersect</a:t>
            </a:r>
            <a:pPr indent="0" marL="0">
              <a:buNone/>
            </a:pPr>
            <a:r>
              <a:rPr lang="en-US" sz="2200" dirty="0">
                <a:solidFill>
                  <a:srgbClr val="1E293B"/>
                </a:solidFill>
                <a:latin typeface="Calibri" pitchFamily="34" charset="0"/>
                <a:ea typeface="Calibri" pitchFamily="34" charset="-122"/>
                <a:cs typeface="Calibri" pitchFamily="34" charset="-120"/>
              </a:rPr>
              <a:t> just past Baker’s Island.</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1E8E52"/>
                </a:solidFill>
                <a:latin typeface="Calibri" pitchFamily="34" charset="0"/>
                <a:ea typeface="Calibri" pitchFamily="34" charset="-122"/>
                <a:cs typeface="Calibri" pitchFamily="34" charset="-120"/>
              </a:rPr>
              <a:t>interval</a:t>
            </a:r>
            <a:pPr indent="0" marL="0">
              <a:buNone/>
            </a:pPr>
            <a:r>
              <a:rPr lang="en-US" sz="2200" dirty="0">
                <a:solidFill>
                  <a:srgbClr val="1E293B"/>
                </a:solidFill>
                <a:latin typeface="Calibri" pitchFamily="34" charset="0"/>
                <a:ea typeface="Calibri" pitchFamily="34" charset="-122"/>
                <a:cs typeface="Calibri" pitchFamily="34" charset="-120"/>
              </a:rPr>
              <a:t> between lunar observations had to be measured to the second.</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a:t>
            </a:r>
            <a:pPr indent="0" marL="0">
              <a:buNone/>
            </a:pPr>
            <a:r>
              <a:rPr lang="en-US" sz="2200" b="1" dirty="0">
                <a:solidFill>
                  <a:srgbClr val="1E8E52"/>
                </a:solidFill>
                <a:latin typeface="Calibri" pitchFamily="34" charset="0"/>
                <a:ea typeface="Calibri" pitchFamily="34" charset="-122"/>
                <a:cs typeface="Calibri" pitchFamily="34" charset="-120"/>
              </a:rPr>
              <a:t>submarine</a:t>
            </a:r>
            <a:pPr indent="0" marL="0">
              <a:buNone/>
            </a:pPr>
            <a:r>
              <a:rPr lang="en-US" sz="2200" dirty="0">
                <a:solidFill>
                  <a:srgbClr val="1E293B"/>
                </a:solidFill>
                <a:latin typeface="Calibri" pitchFamily="34" charset="0"/>
                <a:ea typeface="Calibri" pitchFamily="34" charset="-122"/>
                <a:cs typeface="Calibri" pitchFamily="34" charset="-120"/>
              </a:rPr>
              <a:t> ridge — a ridge beneath the surface of the sea — could tear open a ship’s hull without warning.</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Nat hoped to </a:t>
            </a:r>
            <a:pPr indent="0" marL="0">
              <a:buNone/>
            </a:pPr>
            <a:r>
              <a:rPr lang="en-US" sz="2200" b="1" dirty="0">
                <a:solidFill>
                  <a:srgbClr val="1E8E52"/>
                </a:solidFill>
                <a:latin typeface="Calibri" pitchFamily="34" charset="0"/>
                <a:ea typeface="Calibri" pitchFamily="34" charset="-122"/>
                <a:cs typeface="Calibri" pitchFamily="34" charset="-120"/>
              </a:rPr>
              <a:t>translate</a:t>
            </a:r>
            <a:pPr indent="0" marL="0">
              <a:buNone/>
            </a:pPr>
            <a:r>
              <a:rPr lang="en-US" sz="2200" dirty="0">
                <a:solidFill>
                  <a:srgbClr val="1E293B"/>
                </a:solidFill>
                <a:latin typeface="Calibri" pitchFamily="34" charset="0"/>
                <a:ea typeface="Calibri" pitchFamily="34" charset="-122"/>
                <a:cs typeface="Calibri" pitchFamily="34" charset="-120"/>
              </a:rPr>
              <a:t> the complex lunar-distance method into something any sailor could use.</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JOIN THE IDEAS YOURSELF</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Before you start: find the joint, then test each half on its own.</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Now use them. Chapter 19 is full of ideas that lean on each other — kindness that cannot fill an empty heart, a captain’s odd orders and the reason behind them — a situation that needs complex sentences to explain at all. Choose the correctly built version.</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Write your revised sentences in your reading journal.</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A compound sentence joins two complete halves. A complex one hangs an incomplete part off a complete one.</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Join the ideas. Type the joining word.</a:t>
            </a:r>
            <a:endParaRPr lang="en-US" sz="2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JOIN THE IDEAS YOURSELF</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so · but · Because · Although</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The tables were wrong,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ships ran aground.</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Nat checked every figure, his book could be trusted.</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Sailors could not read Latin,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they could read Nat’s tables.</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he had never gone to college, the American Academy made him a Fellow.</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JOIN THE IDEAS YOURSELF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The tables were wrong, </a:t>
            </a:r>
            <a:pPr indent="0" marL="0">
              <a:buNone/>
            </a:pPr>
            <a:r>
              <a:rPr lang="en-US" sz="2200" b="1" dirty="0">
                <a:solidFill>
                  <a:srgbClr val="1E8E52"/>
                </a:solidFill>
                <a:latin typeface="Calibri" pitchFamily="34" charset="0"/>
                <a:ea typeface="Calibri" pitchFamily="34" charset="-122"/>
                <a:cs typeface="Calibri" pitchFamily="34" charset="-120"/>
              </a:rPr>
              <a:t>so</a:t>
            </a:r>
            <a:pPr indent="0" marL="0">
              <a:buNone/>
            </a:pPr>
            <a:r>
              <a:rPr lang="en-US" sz="2200" dirty="0">
                <a:solidFill>
                  <a:srgbClr val="1E293B"/>
                </a:solidFill>
                <a:latin typeface="Calibri" pitchFamily="34" charset="0"/>
                <a:ea typeface="Calibri" pitchFamily="34" charset="-122"/>
                <a:cs typeface="Calibri" pitchFamily="34" charset="-120"/>
              </a:rPr>
              <a:t> ships ran aground.</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pPr indent="0" marL="0">
              <a:buNone/>
            </a:pPr>
            <a:r>
              <a:rPr lang="en-US" sz="2200" b="1" dirty="0">
                <a:solidFill>
                  <a:srgbClr val="1E8E52"/>
                </a:solidFill>
                <a:latin typeface="Calibri" pitchFamily="34" charset="0"/>
                <a:ea typeface="Calibri" pitchFamily="34" charset="-122"/>
                <a:cs typeface="Calibri" pitchFamily="34" charset="-120"/>
              </a:rPr>
              <a:t>Because</a:t>
            </a:r>
            <a:pPr indent="0" marL="0">
              <a:buNone/>
            </a:pPr>
            <a:r>
              <a:rPr lang="en-US" sz="2200" dirty="0">
                <a:solidFill>
                  <a:srgbClr val="1E293B"/>
                </a:solidFill>
                <a:latin typeface="Calibri" pitchFamily="34" charset="0"/>
                <a:ea typeface="Calibri" pitchFamily="34" charset="-122"/>
                <a:cs typeface="Calibri" pitchFamily="34" charset="-120"/>
              </a:rPr>
              <a:t> Nat checked every figure, his book could be trusted.</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Sailors could not read Latin, </a:t>
            </a:r>
            <a:pPr indent="0" marL="0">
              <a:buNone/>
            </a:pPr>
            <a:r>
              <a:rPr lang="en-US" sz="2200" b="1" dirty="0">
                <a:solidFill>
                  <a:srgbClr val="1E8E52"/>
                </a:solidFill>
                <a:latin typeface="Calibri" pitchFamily="34" charset="0"/>
                <a:ea typeface="Calibri" pitchFamily="34" charset="-122"/>
                <a:cs typeface="Calibri" pitchFamily="34" charset="-120"/>
              </a:rPr>
              <a:t>but</a:t>
            </a:r>
            <a:pPr indent="0" marL="0">
              <a:buNone/>
            </a:pPr>
            <a:r>
              <a:rPr lang="en-US" sz="2200" dirty="0">
                <a:solidFill>
                  <a:srgbClr val="1E293B"/>
                </a:solidFill>
                <a:latin typeface="Calibri" pitchFamily="34" charset="0"/>
                <a:ea typeface="Calibri" pitchFamily="34" charset="-122"/>
                <a:cs typeface="Calibri" pitchFamily="34" charset="-120"/>
              </a:rPr>
              <a:t> they could read Nat’s tables.</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1E8E52"/>
                </a:solidFill>
                <a:latin typeface="Calibri" pitchFamily="34" charset="0"/>
                <a:ea typeface="Calibri" pitchFamily="34" charset="-122"/>
                <a:cs typeface="Calibri" pitchFamily="34" charset="-120"/>
              </a:rPr>
              <a:t>Although</a:t>
            </a:r>
            <a:pPr indent="0" marL="0">
              <a:buNone/>
            </a:pPr>
            <a:r>
              <a:rPr lang="en-US" sz="2200" dirty="0">
                <a:solidFill>
                  <a:srgbClr val="1E293B"/>
                </a:solidFill>
                <a:latin typeface="Calibri" pitchFamily="34" charset="0"/>
                <a:ea typeface="Calibri" pitchFamily="34" charset="-122"/>
                <a:cs typeface="Calibri" pitchFamily="34" charset="-120"/>
              </a:rPr>
              <a:t> he had never gone to college, the American Academy made him a Fellow.</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Build a word with each prefix and explain the direction it adds: trans-, sub-, inter-. Then explain why these three never change their spelling the way in- does.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Give one word per prefix with its meaning, then explain the spelling difference from in-/im-/il-/ir-.</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19</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“She knew that friends and neighbors — even old friends and good neighbors — couldn’t fill the emptiness in his heart.”</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Nat has lost someone. The people around him are kind, and it is not enough. What is this sentence saying about the limits of kindness?</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The sentence would still work without its middle. Read it without even old friends and good neighbors and it makes sense, but it stops arguing. That interruption is there to close a door — it answers the reader who was about to think surely his old friends could help. A detail is often included to head off the objection you were just about to raise.</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Chapter 19 with an interrupting detail between dashes that answers an objection your reader might raise. Test it: read your sentence without the middle and see what it loses. No frame this time.</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19 — “STRANGE SAILING ORDERS”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13 — Chapter 19 — Strange Sailing Orders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19 creates a different kind of tension. Nat comes home to Salem grieving, and Polly tells him how Elizabeth died. Honors arrive — too late to share with her. Then the Astrea is sold, and in Boston her new crew is a lot of waterfront men who never meant to sail at all. Captain Prince’s sailing orders bewilder everyone until the reason dawns on them. Watch how Latham uses figurative language to make Nat’s grief and the crew’s surprise feel real.</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19</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Orders: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exactly are the “strange” sailing orders? Who gives them, and why? How do Mr. Cheevers and the crew react once they understand?</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Figurative Language: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Find one piece of figurative language Latham uses in Chapter 19. What does it describe? What does it contribute to the meaning of that moment?</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What are the “strange sailing orders” in Chapter 19, and why does Captain Prince give them? How do Mr. Cheevers and the crew react, and what does the scene reveal about Prince’s character?</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Choose one piece of figurative language from Chapter 19 and explain exactly what it contributes to the meaning of that moment. What would the text lose if Latham had used plain, literal language instead?</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Chapter 19 opens with Nat navigating both a literal course and a figurative one — steering into Salem Harbor while dreading what to say to Elizabeth’s mother. How does Latham use figurative language to make this inner journey feel as real as actual sailing? Include a relative clause in your response.</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POLISH YOUR SENTENCES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Big-picture revision is done. Today you work at the sentence level: length, precision, and variety. One short sentence. One long one. One with a relative clause. Mix them.</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notices every paragraph sounds the same: medium-length sentences strung together. BEFORE Alex’s draft paragraph: Bowditch corrected many errors in the book. He worked carefully. He made navigation safer. This was important because sailors depended on the book. AFTER Alex’s revised paragraph: Bowditch checked thousands of figures in Moore’s Navigator — a book that sailors trusted with their lives. He did not complain about the errors; he fixed them. What he left behind was not just corrected tables but a fundamentally different standard for what navigational accuracy could look like. Notice: Alex’s revision has sentence variety: long sentence with a relative clause, short declarative sentence (“He did not complain; he fixed them”), long complex sentence. Variety keeps readers engaged.</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POLISH YOUR SENTENCES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Sentence Variety Check: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Find a paragraph that has 3–4 sentences all the same length. Rewrite it with at least one short sentence, one long sentence, and one sentence with a clause. Alex’s example (filled): Before (all medium): Bowditch corrected many errors. He worked carefully. He made navigation safer. Sailors depended on the book. After (varied): Bowditch checked thousands of figures in Moore’s Navigator — a book that sailors trusted with their lives. He did not complain; he fixed them. What he left behind was not just corrected tables but a fundamentally different standard for navigational accuracy. Your turn — do the same in your reading journal: Original paragraph: ____________________ Short sentence I’ll add or create: ____________________ Long sentence with a clause: ____________________ My revised paragraph: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“He did not ___; he ___.” “What he left behind was not just ___ but ___.” “___, which ___, demonstrated that...”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13.3 — Carry On, Mr. Bowditch, Chapter 19</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