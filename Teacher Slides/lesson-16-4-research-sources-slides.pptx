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Week 16 Day 4 — Primary &amp; Secondary 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How can comparing a primary source and a secondary source deepen our understanding of history? Today we compare an original historical document with a historian’s description of it — and look ahead to where our writing journey goes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Tap-and-notice only, no answer required — discuss why each part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 modern historian's book about the treaty of dancing rabbit creek is a secondary source"
Corrected: "A modern historian's book about the Treaty of Dancing Rabbit Creek is a secondary source."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"a modern historian's book about the treaty of dancing rabbit creek is a secondary source"
Corrected: "A modern historian's book about the Treaty of Dancing Rabbit Creek is a secondary source."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poem aloud. Give students a moment to notice before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Choice Menu (Show What You Know)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answers yet — students discuss and guess.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revealed — correct labels in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The Prefix re-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passage aloud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lens before students dive into today's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no single right answer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after today's study, in the Assignment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writing time — this is the day's graded writing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4AF6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 · Research + Perspective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 Sources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AF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Passage: Primary &amp; Secondary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Writer's Bridge  ·  Voice &amp; Craft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Big Question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comparing a primary source and a secondary source deepen our understanding of history? Today we compare an original historical document with a historian’s description of it — and look ahead to where our writing journey goes next.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72491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compare and contrast a primary source and a secondary source using a real historical example.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4198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explain why writers vary sentence length and sentence openings in explanatory writing.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4059936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148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🔤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the prefix re- pattern to solve a historical vocabulary challenge.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SENTENCE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Treaty of Dancing Rabbit Creek is a primary source because it was written in 1830, the same year the event happened.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SPOT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"Treaty of Dancing Rabbit Creek" — official document name, capitalized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53512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0837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ends the statement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historian's book about the treaty of dancing rabbit creek is a secondary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modern historian's book about the treaty of dancing rabbit creek is a secondary source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historian's book about the Treaty of Dancing Rabbit Creek is a secondary source.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letter for the official treaty name, and a period at the 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Poetry Corner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2423160"/>
          </a:xfrm>
          <a:prstGeom prst="roundRect">
            <a:avLst>
              <a:gd name="adj" fmla="val 3774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Behind, the Road Ahead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reflection, written for this lesson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house you knew grows small and still,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point beyond the hill.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ahead is long and new,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part of home still travels too—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words remembered, songs half-sung,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stories carried, old and young.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mile can walk that feeling away: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shaped you stays, however far you stray.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WHAT DO YOU NOTICE?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850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7764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poet’s word choice — "a single point beyond the hill," "no mile can walk that feeling away" — create the feeling that home travels with you? What does this poem have in common with this week’s research about people who had to leave their homeland?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migr / mov / mot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why these roots matter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Historians and writers use words built from these roots constantly — immigrant, emotion, removal, promote. Knowing the root "to move" helps you figure out new words in any subject.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013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— to move to live in a new place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76856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225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— to move something away or take it out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— the act or process of moving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— the act of moving from place to place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Vocabulary — Choice Menu (Show What You Know)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92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Words: nation, territory, removal, homeland, treaty, ancestral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67335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format: Choose ONE: sentences / find in text / root connection / sort &amp; explain / teach it / use two words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Sentence Variety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why writers vary their sentences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"Both of these ideas are part of the historical record." (short, direct, makes the reader pause) vs. the long Indian Removal Act sentence (packed with detail, explains a complicated idea fully).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Sentence Variety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why writers vary their sentences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"Both of these ideas are part of the historical record." (short, direct, makes the reader pause) vs. the long Indian Removal Act sentence (packed with detail, explains a complicated idea fully).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9222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writer used only short sentences, the writing might feel choppy. If only long sentences, a reader might get lost. Varying sentence length lets a writer slow the reader down for an important idea, then speed back up to explain more.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Spelling — The Prefix re-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solve the word riddles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Riddles: "to force people to move away" (re-) → removal; "to move to a new place and settle" (re-) → relocate; "land set aside for a group of people" (re-) → reservation. Odd-one-out: territory (no re-) among reservation/removal/relocate; treaty (agreement, not land) among homeland/territory/ancestral.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Open the Source 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today is to notice what makes a primary source and a secondary source different, and what each can tell a historian.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35608"/>
            <a:ext cx="8046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primary source is a firsthand piece of evidence created at the actual time of an event — an original document, letter, photograph, or treaty. A secondary source is created later and describes/explains/interprets an event — like a history book or a historian’s summary.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actual treaty document signed at Dancing Rabbit Creek on September 27, 1830, is a primary source — nothing added, nothing explained, just the original record.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 is a secondary source, written by a historian today: "Historians describe the Treaty of Dancing Rabbit Creek, signed in 1830, as the first removal treaty carried out under the Indian Removal Act..."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Historians almost always use both kinds of sources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What Good Readers Do (Reflect across the week)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WATCH FOR THIS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435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 I understand now about this history that I didn’t understand on Monday?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568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has comparing different kinds of sources changed the way I think about studying history?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Notice &amp; Discuss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4AF6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7043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paragraph above is the primary source, and which is the secondary source? How can you tell?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39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does the secondary source add that the primary source alone doesn’t give you?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Looking Ahead: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week, you’ll begin building your own historical fiction story. And soon, you’ll meet a new narrator who will help you see this history from the inside.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Craft Questions — Preview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4AF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explain the difference between a primary source and a secondary source. Use today's treaty example.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2264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your understanding of this time period changed from Monday to today?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054096"/>
            <a:ext cx="80467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useful for a historian — or a student like you — to look at both a primary source and a secondary source?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WRITING TASK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oundRect">
            <a:avLst>
              <a:gd name="adj" fmla="val 454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Compare, in 2–3 sentences, what a primary source and a secondary source can each tell a historian.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2026-07-13T03:04:01Z</dcterms:created>
  <dcterms:modified xsi:type="dcterms:W3CDTF">2026-07-13T03:04:01Z</dcterms:modified>
</cp:coreProperties>
</file>