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12.4: Chapter 16, "A Simple Matter of Mathematics". Banner quote: “Not when you’re sure of your longitude. Just a simple matter of mathematics.” (Chapter 16 • Carry On, Mr. Bowditch).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What does it mean to call something “a simple matter of mathematics”? Today you read Chapter 16 and continue drafting your expository research piece. Keep asking: How do conflict and setting shape Nat’s decisions?
Objectives:
- 🌱 Morphology: Explain why English kept both breaking roots, fract/frag and rupt.
- 🔤 Vocab SWYK: Choice board — show what you know your way.
- ✏️ Grammar: I will explain the importance of the comma in preventing misreading.
- 📖 Reading: I will explain how technical vocabulary supports the meaning of Chapters 13–16.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mathematical work of a skilled navigator require precise measurements of celestial bodies at sea
Corrected: The mathematical work of a skilled navigator requires precise measurements of celestial bodies at sea.
Fixes: capitalize “The”; subject is “work” (singular) → “requires”; “of a skilled navigator” and “at sea” are prepositional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mathematical work of a skilled navigator require precise measurements of celestial bodies at sea
Corrected: The mathematical work of a skilled navigator requires precise measurements of celestial bodies at sea.
Fixes: capitalize “The”; subject is “work” (singular) → “requires”; “of a skilled navigator” and “at sea” are prepositional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
Walt Whitman wrote this poem in 1865 about walking out of a lecture hall and looking at the actual stars. It might seem to argue against Nat’s mathematical approach. But read it carefully — Whitman is not against science. He is saying: the numbers must serve the wonder, not replace it. Write your response in your reading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this detail actually support what I'm trying to say, or is it just filler?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Roots fract/frag + rupt — Explain — why English kept both.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They came from different Latin words and kept different shades. — g12d4ms1
2. rupt — burst apart — g12d4ms2
3. fract — break — g12d4ms3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erupt
2. fraction
3.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Vocabulary SWYK: Choice Board — Show What You Know — your way.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Choice board. Students pick one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Commas with Introductory Phrases — Explain the importance.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Commas with Introductory Phrases — Explain the importance.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Marking where the main sentence starts. — g12d4gs1
2. In the ship’s cabin, he worked by lamplight. — g12d4gs2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Suffixes -al and -ic — Explain — and the -ical problem.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sort the words into the groups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Sorted:
–al: coastal, practical
–ic: magnetic, heroic
–ical: nautical, historical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Add Craft: Add relative clauses for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Add Craft: Add relative clauses for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12  ·  DAY 4  ·  LESSON 12.4</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16 — A Simple Matter of Mathematics</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“Not when you’re sure of your longitude. Just a simple matter of mathematics.”</a:t>
            </a:r>
            <a:pPr indent="0" marL="0">
              <a:buNone/>
            </a:pPr>
            <a:r>
              <a:rPr lang="en-US" sz="1600" dirty="0">
                <a:solidFill>
                  <a:srgbClr val="55C8E8"/>
                </a:solidFill>
                <a:latin typeface="Calibri" pitchFamily="34" charset="0"/>
                <a:ea typeface="Calibri" pitchFamily="34" charset="-122"/>
                <a:cs typeface="Calibri" pitchFamily="34" charset="-120"/>
              </a:rPr>
              <a:t>  — Chapter 16 • Carry On, Mr. Bowditch</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ARC — EXPLAIN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CHAPTER 16</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1100"/>
              </a:spcAft>
              <a:buNone/>
            </a:pPr>
            <a:r>
              <a:rPr lang="en-US" sz="2400" b="1" dirty="0">
                <a:solidFill>
                  <a:srgbClr val="6B4FA8"/>
                </a:solidFill>
                <a:latin typeface="Calibri" pitchFamily="34" charset="0"/>
                <a:ea typeface="Calibri" pitchFamily="34" charset="-122"/>
                <a:cs typeface="Calibri" pitchFamily="34" charset="-120"/>
              </a:rPr>
              <a:t>What does it mean to call something “a simple matter of mathematics”?</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Today you read Chapter 16 and continue drafting your expository research piece. Keep asking: How do conflict and setting shape Nat’s decisions?</a:t>
            </a:r>
            <a:endParaRPr lang="en-US" sz="24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Morphology: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Explain why English kept both breaking roots, fract/frag and rupt.</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Vocab SWYK: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Choice board — show what you know your way.</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explain the importance of the comma in preventing misreading.</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explain how technical vocabulary supports the meaning of Chapters 13–16.</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SYNTHESIZE THE WEEK — TECHNICAL LANGUAGE AS AN ARGUMENT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Now put the week together. Chapter 16 gives the week its organizing phrase: “a simple matter of mathematics.” Nat first said it about fighting the Sunda Strait current, and the chapter keeps coming back to it — from navigation all the way to his feelings about Elizabeth. That phrase only lands if the navigation words around it are explained. Say how technical vocabulary carries the meaning of this whole week.</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Whole-book thinking: Nat’s whole project is making expert language usable by ordinary sailors. Pick two technical terms from Chapters 13–16 and explain each one the way Nat would — plainly enough that a reader who has never been to sea could use it.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Collect the terms: List the navigation and sailing words the chapter needs — longitude, lunars, masthead, bearing, tables.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Work out the meaning from the work it does: Ask what the word lets a sailor do. In this book a technical term is a tool, not decoration.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SYNTHESIZE THE WEEK — TECHNICAL LANGUAGE AS AN ARGUMENT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Test what the term unlocks: Reread the moment with the term defined and see how much the scene changes.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Who says “a simple matter of mathematics” in Chapter 16, and when? How does its meaning change — Nat’s confidence, Prince’s teasing, and Nat’s painful realization at the end?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The chapter title is “A Simple Matter of Mathematics.” Is this ironic? Was the fight through Sunda Strait — or the trip home past Bowditch Ledge — actually simple?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How does this chapter connect back to Chapters 13, 14, and 15? How does the arc of Chs. 13–16 tell one complete story?</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a:t>
            </a:r>
            <a:pPr indent="0" marL="0">
              <a:buNone/>
            </a:pPr>
            <a:r>
              <a:rPr lang="en-US" sz="2600" b="1" u="sng" dirty="0">
                <a:solidFill>
                  <a:srgbClr val="1E8E52"/>
                </a:solidFill>
                <a:latin typeface="Calibri" pitchFamily="34" charset="0"/>
                <a:ea typeface="Calibri" pitchFamily="34" charset="-122"/>
                <a:cs typeface="Calibri" pitchFamily="34" charset="-120"/>
              </a:rPr>
              <a:t>process</a:t>
            </a:r>
            <a:pPr indent="0" marL="0">
              <a:buNone/>
            </a:pPr>
            <a:r>
              <a:rPr lang="en-US" sz="2600" dirty="0">
                <a:solidFill>
                  <a:srgbClr val="1E293B"/>
                </a:solidFill>
                <a:latin typeface="Calibri" pitchFamily="34" charset="0"/>
                <a:ea typeface="Calibri" pitchFamily="34" charset="-122"/>
                <a:cs typeface="Calibri" pitchFamily="34" charset="-120"/>
              </a:rPr>
              <a:t> of working lunars </a:t>
            </a:r>
            <a:pPr indent="0" marL="0">
              <a:buNone/>
            </a:pPr>
            <a:r>
              <a:rPr lang="en-US" sz="2600" b="1" u="sng" dirty="0">
                <a:solidFill>
                  <a:srgbClr val="1E8E52"/>
                </a:solidFill>
                <a:latin typeface="Calibri" pitchFamily="34" charset="0"/>
                <a:ea typeface="Calibri" pitchFamily="34" charset="-122"/>
                <a:cs typeface="Calibri" pitchFamily="34" charset="-120"/>
              </a:rPr>
              <a:t>was</a:t>
            </a:r>
            <a:pPr indent="0" marL="0">
              <a:buNone/>
            </a:pPr>
            <a:r>
              <a:rPr lang="en-US" sz="2600" dirty="0">
                <a:solidFill>
                  <a:srgbClr val="1E293B"/>
                </a:solidFill>
                <a:latin typeface="Calibri" pitchFamily="34" charset="0"/>
                <a:ea typeface="Calibri" pitchFamily="34" charset="-122"/>
                <a:cs typeface="Calibri" pitchFamily="34" charset="-120"/>
              </a:rPr>
              <a:t> </a:t>
            </a:r>
            <a:pPr indent="0" marL="0">
              <a:buNone/>
            </a:pPr>
            <a:r>
              <a:rPr lang="en-US" sz="2600" b="1" u="sng" dirty="0">
                <a:solidFill>
                  <a:srgbClr val="1E8E52"/>
                </a:solidFill>
                <a:latin typeface="Calibri" pitchFamily="34" charset="0"/>
                <a:ea typeface="Calibri" pitchFamily="34" charset="-122"/>
                <a:cs typeface="Calibri" pitchFamily="34" charset="-120"/>
              </a:rPr>
              <a:t>considered too difficult by most sailors</a:t>
            </a:r>
            <a:pPr indent="0" marL="0">
              <a:buNone/>
            </a:pPr>
            <a:r>
              <a:rPr lang="en-US" sz="2600" dirty="0">
                <a:solidFill>
                  <a:srgbClr val="1E293B"/>
                </a:solidFill>
                <a:latin typeface="Calibri" pitchFamily="34" charset="0"/>
                <a:ea typeface="Calibri" pitchFamily="34" charset="-122"/>
                <a:cs typeface="Calibri" pitchFamily="34" charset="-120"/>
              </a:rPr>
              <a:t>, but Nat showed them it was a </a:t>
            </a:r>
            <a:pPr indent="0" marL="0">
              <a:buNone/>
            </a:pPr>
            <a:r>
              <a:rPr lang="en-US" sz="2600" b="1" u="sng" dirty="0">
                <a:solidFill>
                  <a:srgbClr val="1E8E52"/>
                </a:solidFill>
                <a:latin typeface="Calibri" pitchFamily="34" charset="0"/>
                <a:ea typeface="Calibri" pitchFamily="34" charset="-122"/>
                <a:cs typeface="Calibri" pitchFamily="34" charset="-120"/>
              </a:rPr>
              <a:t>mathematical</a:t>
            </a:r>
            <a:pPr indent="0" marL="0">
              <a:buNone/>
            </a:pPr>
            <a:r>
              <a:rPr lang="en-US" sz="2600" dirty="0">
                <a:solidFill>
                  <a:srgbClr val="1E293B"/>
                </a:solidFill>
                <a:latin typeface="Calibri" pitchFamily="34" charset="0"/>
                <a:ea typeface="Calibri" pitchFamily="34" charset="-122"/>
                <a:cs typeface="Calibri" pitchFamily="34" charset="-120"/>
              </a:rPr>
              <a:t> skill they could learn.</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1900" b="1" dirty="0">
                <a:solidFill>
                  <a:srgbClr val="1E8E52"/>
                </a:solidFill>
                <a:latin typeface="Calibri" pitchFamily="34" charset="0"/>
                <a:ea typeface="Calibri" pitchFamily="34" charset="-122"/>
                <a:cs typeface="Calibri" pitchFamily="34" charset="-120"/>
              </a:rPr>
              <a:t>process —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Subject: “process” (singular). Prepositional phrase “of working lunars” is between subject and verb.</a:t>
            </a:r>
            <a:endParaRPr lang="en-US" sz="1900" dirty="0"/>
          </a:p>
          <a:p>
            <a:pPr marL="342900" indent="-342900">
              <a:spcAft>
                <a:spcPts val="900"/>
              </a:spcAft>
              <a:buSzPct val="100000"/>
              <a:buChar char="●"/>
            </a:pPr>
            <a:r>
              <a:rPr lang="en-US" sz="1900" b="1" dirty="0">
                <a:solidFill>
                  <a:srgbClr val="1E8E52"/>
                </a:solidFill>
                <a:latin typeface="Calibri" pitchFamily="34" charset="0"/>
                <a:ea typeface="Calibri" pitchFamily="34" charset="-122"/>
                <a:cs typeface="Calibri" pitchFamily="34" charset="-120"/>
              </a:rPr>
              <a:t>was —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“was” agrees with “process” (singular).</a:t>
            </a:r>
            <a:endParaRPr lang="en-US" sz="1900" dirty="0"/>
          </a:p>
          <a:p>
            <a:pPr marL="342900" indent="-342900">
              <a:spcAft>
                <a:spcPts val="900"/>
              </a:spcAft>
              <a:buSzPct val="100000"/>
              <a:buChar char="●"/>
            </a:pPr>
            <a:r>
              <a:rPr lang="en-US" sz="1900" b="1" dirty="0">
                <a:solidFill>
                  <a:srgbClr val="1E8E52"/>
                </a:solidFill>
                <a:latin typeface="Calibri" pitchFamily="34" charset="0"/>
                <a:ea typeface="Calibri" pitchFamily="34" charset="-122"/>
                <a:cs typeface="Calibri" pitchFamily="34" charset="-120"/>
              </a:rPr>
              <a:t>considered too difficult by most sailors —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“considered too difficult by most sailors” is an adjective phrase — “by most sailors” is a prepositional phrase telling by whom.</a:t>
            </a:r>
            <a:endParaRPr lang="en-US" sz="1900" dirty="0"/>
          </a:p>
          <a:p>
            <a:pPr marL="342900" indent="-342900">
              <a:spcAft>
                <a:spcPts val="900"/>
              </a:spcAft>
              <a:buSzPct val="100000"/>
              <a:buChar char="●"/>
            </a:pPr>
            <a:r>
              <a:rPr lang="en-US" sz="1900" b="1" dirty="0">
                <a:solidFill>
                  <a:srgbClr val="1E8E52"/>
                </a:solidFill>
                <a:latin typeface="Calibri" pitchFamily="34" charset="0"/>
                <a:ea typeface="Calibri" pitchFamily="34" charset="-122"/>
                <a:cs typeface="Calibri" pitchFamily="34" charset="-120"/>
              </a:rPr>
              <a:t>mathematical —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“mathematical” uses the suffix -al, meaning “relating to mathematics.”</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mathematical work of a skilled navigator require precise measurements of celestial bodies at sea</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mathematical work of a skilled navigator require precise measurements of celestial bodies at sea</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The mathematical work of a skilled navigator requires precise measurements of celestial bodies at sea.</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Fixes: capitalize “The”; subject is “work” (singular) → “requires”; “of a skilled navigator” and “at sea” are prepositional phrases.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“WHEN I HEARD THE LEARN’D ASTRONOMER”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Poetry Corner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6035040"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691640"/>
            <a:ext cx="5577840" cy="365760"/>
          </a:xfrm>
          <a:prstGeom prst="rect">
            <a:avLst/>
          </a:prstGeom>
          <a:noFill/>
          <a:ln/>
        </p:spPr>
        <p:txBody>
          <a:bodyPr wrap="square" lIns="0" tIns="0" rIns="0" bIns="0"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Walt Whitman, 1865 — public domain</a:t>
            </a:r>
            <a:endParaRPr lang="en-US" sz="1500" dirty="0"/>
          </a:p>
        </p:txBody>
      </p:sp>
      <p:sp>
        <p:nvSpPr>
          <p:cNvPr id="8" name="Text 6"/>
          <p:cNvSpPr/>
          <p:nvPr/>
        </p:nvSpPr>
        <p:spPr>
          <a:xfrm>
            <a:off x="731520" y="2103120"/>
            <a:ext cx="5577840" cy="4206240"/>
          </a:xfrm>
          <a:prstGeom prst="rect">
            <a:avLst/>
          </a:prstGeom>
          <a:noFill/>
          <a:ln/>
        </p:spPr>
        <p:txBody>
          <a:bodyPr wrap="square" lIns="0" tIns="0" rIns="0" bIns="0" rtlCol="0" anchor="t">
            <a:normAutofit/>
          </a:bodyPr>
          <a:lstStyle/>
          <a:p>
            <a:pPr indent="0" marL="0">
              <a:buNone/>
            </a:pPr>
            <a:r>
              <a:rPr lang="en-US" sz="1700" i="1" dirty="0">
                <a:solidFill>
                  <a:srgbClr val="1E293B"/>
                </a:solidFill>
                <a:latin typeface="Georgia" pitchFamily="34" charset="0"/>
                <a:ea typeface="Georgia" pitchFamily="34" charset="-122"/>
                <a:cs typeface="Georgia" pitchFamily="34" charset="-120"/>
              </a:rPr>
              <a:t>When I heard the learn’d astronomer,</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When the proofs, the figures, were ranged in columns before me,</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When I was shown the charts and diagrams, to add, divide, and measure them,</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When I sitting heard the astronomer where he lectured with much applause in the lecture-room,</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How soon unaccountable I became tired and sick,</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Till rising and gliding out I wander’d off by myself,</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In the mystical moist night-air, and from time to time,</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Look’d up in perfect silence at the stars.</a:t>
            </a:r>
            <a:endParaRPr lang="en-US" sz="1700" dirty="0"/>
          </a:p>
        </p:txBody>
      </p:sp>
      <p:sp>
        <p:nvSpPr>
          <p:cNvPr id="9" name="Shape 7"/>
          <p:cNvSpPr/>
          <p:nvPr/>
        </p:nvSpPr>
        <p:spPr>
          <a:xfrm>
            <a:off x="6812280" y="1554480"/>
            <a:ext cx="4876495" cy="4892040"/>
          </a:xfrm>
          <a:prstGeom prst="roundRect">
            <a:avLst>
              <a:gd name="adj" fmla="val 1500"/>
            </a:avLst>
          </a:prstGeom>
          <a:solidFill>
            <a:srgbClr val="F0E8FF"/>
          </a:solidFill>
          <a:ln w="15875">
            <a:solidFill>
              <a:srgbClr val="D6C8F0"/>
            </a:solidFill>
            <a:prstDash val="solid"/>
          </a:ln>
        </p:spPr>
      </p:sp>
      <p:sp>
        <p:nvSpPr>
          <p:cNvPr id="10" name="Text 8"/>
          <p:cNvSpPr/>
          <p:nvPr/>
        </p:nvSpPr>
        <p:spPr>
          <a:xfrm>
            <a:off x="7040880" y="1737360"/>
            <a:ext cx="4419295"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 THINK ABOUT THIS</a:t>
            </a:r>
            <a:endParaRPr lang="en-US" sz="1300" dirty="0"/>
          </a:p>
        </p:txBody>
      </p:sp>
      <p:sp>
        <p:nvSpPr>
          <p:cNvPr id="11" name="Text 9"/>
          <p:cNvSpPr/>
          <p:nvPr/>
        </p:nvSpPr>
        <p:spPr>
          <a:xfrm>
            <a:off x="7040880" y="2103120"/>
            <a:ext cx="4419295" cy="4160520"/>
          </a:xfrm>
          <a:prstGeom prst="rect">
            <a:avLst/>
          </a:prstGeom>
          <a:noFill/>
          <a:ln/>
        </p:spPr>
        <p:txBody>
          <a:bodyPr wrap="square" lIns="0" tIns="0" rIns="0" bIns="0" rtlCol="0" anchor="t"/>
          <a:lstStyle/>
          <a:p>
            <a:pPr indent="0" marL="0">
              <a:spcAft>
                <a:spcPts val="700"/>
              </a:spcAft>
              <a:buNone/>
            </a:pPr>
            <a:r>
              <a:rPr lang="en-US" sz="1600" dirty="0">
                <a:solidFill>
                  <a:srgbClr val="1E293B"/>
                </a:solidFill>
                <a:latin typeface="Calibri" pitchFamily="34" charset="0"/>
                <a:ea typeface="Calibri" pitchFamily="34" charset="-122"/>
                <a:cs typeface="Calibri" pitchFamily="34" charset="-120"/>
              </a:rPr>
              <a:t>💡 Whitman uses anaphora — repeating “When” at the start of four lines in a row — to build a feeling of mounting exhaustion. Then the poem breaks open in the final three lines. Do you think Nat would agree with Whitman? Nat uses mathematics to protect sailors so they can “look up at the stars.” The math serves the wonder.</a:t>
            </a:r>
            <a:endParaRPr lang="en-US" sz="1600" dirty="0"/>
          </a:p>
          <a:p>
            <a:pPr indent="0" marL="0">
              <a:spcAft>
                <a:spcPts val="700"/>
              </a:spcAft>
              <a:buNone/>
            </a:pPr>
            <a:r>
              <a:rPr lang="en-US" sz="1600" dirty="0">
                <a:solidFill>
                  <a:srgbClr val="1E293B"/>
                </a:solidFill>
                <a:latin typeface="Calibri" pitchFamily="34" charset="0"/>
                <a:ea typeface="Calibri" pitchFamily="34" charset="-122"/>
                <a:cs typeface="Calibri" pitchFamily="34" charset="-120"/>
              </a:rPr>
              <a:t>Would Nat Bowditch agree or disagree with Whitman’s poem? Use evidence from Chapters 13–16 to support your answer. Is Nat’s mathematics at odds with wonder — or is it the thing that makes wonder possible?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600" dirty="0">
                <a:solidFill>
                  <a:srgbClr val="1E293B"/>
                </a:solidFill>
                <a:latin typeface="Calibri" pitchFamily="34" charset="0"/>
                <a:ea typeface="Calibri" pitchFamily="34" charset="-122"/>
                <a:cs typeface="Calibri" pitchFamily="34" charset="-120"/>
              </a:rPr>
              <a:t>"A simple matter of mathematics" means something different each time it is said in Chapter 16. Which use of the phrase matters most to understanding Nat: his confidence, Prince's teasing, or the moment it hurts? Defend your answer with evidence.</a:t>
            </a:r>
            <a:endParaRPr lang="en-US" sz="26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300" b="1" dirty="0">
                <a:solidFill>
                  <a:srgbClr val="C7922C"/>
                </a:solidFill>
                <a:latin typeface="Calibri" pitchFamily="34" charset="0"/>
                <a:ea typeface="Calibri" pitchFamily="34" charset="-122"/>
                <a:cs typeface="Calibri" pitchFamily="34" charset="-120"/>
              </a:rPr>
              <a:t>Prompt: </a:t>
            </a:r>
            <a:pPr indent="0" marL="0">
              <a:buNone/>
            </a:pPr>
            <a:r>
              <a:rPr lang="en-US" sz="2300" dirty="0">
                <a:solidFill>
                  <a:srgbClr val="1E293B"/>
                </a:solidFill>
                <a:latin typeface="Calibri" pitchFamily="34" charset="0"/>
                <a:ea typeface="Calibri" pitchFamily="34" charset="-122"/>
                <a:cs typeface="Calibri" pitchFamily="34" charset="-120"/>
              </a:rPr>
              <a:t>"A simple matter of mathematics" means something different each time it is said in Chapter 16. Which use of the phrase matters most to understanding Nat: his confidence, Prince's teasing, or the moment it hurts? Defend your answer with evidence.</a:t>
            </a:r>
            <a:endParaRPr lang="en-US" sz="23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Does this detail actually support what I'm trying to say, or is it just filler?</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WHY ENGLISH KEPT BOTH</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fract/frag + rupt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Odd One Out — three words share a pattern. One does not belong. Tap the one that does NOT fit the group.</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In your reading journal: explain to a classmate why English kept two roots that both mean break. Give one fract/frag word and one rupt word, say what each one breaks, and then say whether you think the two are truly interchangeable.</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WHY ENGLISH KEPT BOTH</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fract/frag + rupt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Why does English have two roots that both mean break?</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They came from different Latin words and kept different shades.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One is older than the other.</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root is in disrupt?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rupt — burst apart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frag — break</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root is in refraction?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fract — break</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rupt — burst</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WHY ENGLISH KEPT BOTH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fract/frag + rupt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Why does English have two roots that both mean break?</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They came from different Latin words and kept different shades.</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One is older than the other.</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root is in disrupt?</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rupt — burst apart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frag — break</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root is in refraction?</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fract — break</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rupt — burst</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WHY ENGLISH KEPT BOTH</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fract/frag + rupt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Root family: fract / frag</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fracture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fragment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erupt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fragile</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Root family: rupt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interrupt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abrupt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disrupt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fraction</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word does not mean something breaking?</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rupture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infraction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fragment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reference</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WHY ENGLISH KEPT BOTH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fract/frag + rupt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Root family: fract / frag</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fracture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fragment</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erupt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fragile</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Root family: rupt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interrupt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abrupt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disrupt</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fraction</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word does not mean something breaking?</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rupture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infraction</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fragment</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reference</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SHOW WHAT YOU KNOW — YOUR WAY</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SWYK: Choice Board</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Choose one activity to show what you know about: lunar · erroneous · nautical · hazardous · practical · mathematical</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CHOOSE ONE WAY TO SHOW WHAT YOU KNOW</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SWYK: Choice Board</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5501488" cy="2354580"/>
          </a:xfrm>
          <a:prstGeom prst="roundRect">
            <a:avLst>
              <a:gd name="adj" fmla="val 3107"/>
            </a:avLst>
          </a:prstGeom>
          <a:solidFill>
            <a:srgbClr val="F8FAFC"/>
          </a:solidFill>
          <a:ln w="15875">
            <a:solidFill>
              <a:srgbClr val="CBD5E1"/>
            </a:solidFill>
            <a:prstDash val="solid"/>
          </a:ln>
        </p:spPr>
      </p:sp>
      <p:sp>
        <p:nvSpPr>
          <p:cNvPr id="7" name="Text 5"/>
          <p:cNvSpPr/>
          <p:nvPr/>
        </p:nvSpPr>
        <p:spPr>
          <a:xfrm>
            <a:off x="685800" y="1627632"/>
            <a:ext cx="5135728" cy="220827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1: ✍️ Write a Letter</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Write a 5–7 sentence letter from Nat to the author of Moore’s Navigator, explaining the erroneous figure he found and why correcting it is a practical and mathematical necessity. Use at least four vocabulary words.</a:t>
            </a:r>
            <a:endParaRPr lang="en-US" sz="2100" dirty="0"/>
          </a:p>
        </p:txBody>
      </p:sp>
      <p:sp>
        <p:nvSpPr>
          <p:cNvPr id="8" name="Shape 6"/>
          <p:cNvSpPr/>
          <p:nvPr/>
        </p:nvSpPr>
        <p:spPr>
          <a:xfrm>
            <a:off x="6187288" y="1554480"/>
            <a:ext cx="5501488" cy="2354580"/>
          </a:xfrm>
          <a:prstGeom prst="roundRect">
            <a:avLst>
              <a:gd name="adj" fmla="val 3107"/>
            </a:avLst>
          </a:prstGeom>
          <a:solidFill>
            <a:srgbClr val="F8FAFC"/>
          </a:solidFill>
          <a:ln w="15875">
            <a:solidFill>
              <a:srgbClr val="CBD5E1"/>
            </a:solidFill>
            <a:prstDash val="solid"/>
          </a:ln>
        </p:spPr>
      </p:sp>
      <p:sp>
        <p:nvSpPr>
          <p:cNvPr id="9" name="Text 7"/>
          <p:cNvSpPr/>
          <p:nvPr/>
        </p:nvSpPr>
        <p:spPr>
          <a:xfrm>
            <a:off x="6370168" y="1627632"/>
            <a:ext cx="5135728" cy="220827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2: 📊 Adjective Analysis</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For all six words: write the word, its suffix (-al or -ous), the meaning the suffix adds, and a one-sentence definition in your own words. Use a chart format.</a:t>
            </a:r>
            <a:endParaRPr lang="en-US" sz="2100" dirty="0"/>
          </a:p>
        </p:txBody>
      </p:sp>
      <p:sp>
        <p:nvSpPr>
          <p:cNvPr id="10" name="Shape 8"/>
          <p:cNvSpPr/>
          <p:nvPr/>
        </p:nvSpPr>
        <p:spPr>
          <a:xfrm>
            <a:off x="502920" y="4091940"/>
            <a:ext cx="5501488" cy="2354580"/>
          </a:xfrm>
          <a:prstGeom prst="roundRect">
            <a:avLst>
              <a:gd name="adj" fmla="val 3107"/>
            </a:avLst>
          </a:prstGeom>
          <a:solidFill>
            <a:srgbClr val="F8FAFC"/>
          </a:solidFill>
          <a:ln w="15875">
            <a:solidFill>
              <a:srgbClr val="CBD5E1"/>
            </a:solidFill>
            <a:prstDash val="solid"/>
          </a:ln>
        </p:spPr>
      </p:sp>
      <p:sp>
        <p:nvSpPr>
          <p:cNvPr id="11" name="Text 9"/>
          <p:cNvSpPr/>
          <p:nvPr/>
        </p:nvSpPr>
        <p:spPr>
          <a:xfrm>
            <a:off x="685800" y="4165092"/>
            <a:ext cx="5135728" cy="220827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3: 🧠 The Logic Connection</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Explain: how are lunar, nautical, mathematical, and practical all connected in Nat’s system of navigation? How does each one lead to the next?</a:t>
            </a:r>
            <a:endParaRPr lang="en-US" sz="2100" dirty="0"/>
          </a:p>
        </p:txBody>
      </p:sp>
      <p:sp>
        <p:nvSpPr>
          <p:cNvPr id="12" name="Shape 10"/>
          <p:cNvSpPr/>
          <p:nvPr/>
        </p:nvSpPr>
        <p:spPr>
          <a:xfrm>
            <a:off x="6187288" y="4091940"/>
            <a:ext cx="5501488" cy="2354580"/>
          </a:xfrm>
          <a:prstGeom prst="roundRect">
            <a:avLst>
              <a:gd name="adj" fmla="val 3107"/>
            </a:avLst>
          </a:prstGeom>
          <a:solidFill>
            <a:srgbClr val="F8FAFC"/>
          </a:solidFill>
          <a:ln w="15875">
            <a:solidFill>
              <a:srgbClr val="CBD5E1"/>
            </a:solidFill>
            <a:prstDash val="solid"/>
          </a:ln>
        </p:spPr>
      </p:sp>
      <p:sp>
        <p:nvSpPr>
          <p:cNvPr id="13" name="Text 11"/>
          <p:cNvSpPr/>
          <p:nvPr/>
        </p:nvSpPr>
        <p:spPr>
          <a:xfrm>
            <a:off x="6370168" y="4165092"/>
            <a:ext cx="5135728" cy="220827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4: 📝 Sailor’s Dictionary</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Write a six-entry mini-dictionary of this week’s words, written for a 1790s sailor who has never heard these terms. Make each definition clear, practical, and true to the novel’s world.</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Vocabulary</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Complete your chosen option above.</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Identify which option you chose at the top. Then complete it.</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THE IMPORTANCE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Commas with Introductory Phrases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Before you start: find the comma and ask what the part in front of it is doing.</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Write in Your Reading Journal</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Last day. Now explain why the comma is not optional. After eating the crew rested. Without a comma a reader briefly thinks the crew was eaten. The comma is what stops the runway from swallowing the sentence.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Write your explanation in your reading journal.</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Before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After three years at sea Nat came home with a notebook full of corrections.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After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After three years at sea, Nat came home with a notebook full of corrections.</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THE IMPORTANCE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Commas with Introductory Phrases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One comma. Without it the reader runs sea Nat together and has to go back. The comma is a road sign saying the introduction is over.</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THE IMPORTANCE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Commas with Introductory Phrases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What is the comma actually doing?</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Marking where the main sentence starts.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Showing where to take a breath.</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is punctuated correctly?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 the ship’s cabin, he worked by lamplight.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 the ship’s, cabin he worked by lamplight.</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THE IMPORTANCE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Commas with Introductory Phrases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What is the comma actually doing?</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Marking where the main sentence starts.</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Showing where to take a breath.</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is punctuated correctly?</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In the ship’s cabin, he worked by lamplight.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In the ship’s, cabin he worked by lamplight.</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AND THE -ICAL PROBLEM</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Suffixes -al and -ic</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In your reading journal: write a short explanation of when a noun takes -al and when it takes -ic, with an example of each. Then explain the difference between historic and historical, and give a sentence where swapping them would change the meaning.</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Then there is –ical, which is both endings stacked — and it is where most of the mistakes happen.</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Sort each word by its ending.</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AND THE -ICAL PROBLEM</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Suffixes -al and -ic</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SORT THESE WORDS</a:t>
            </a:r>
            <a:endParaRPr lang="en-US" sz="1300" dirty="0"/>
          </a:p>
        </p:txBody>
      </p:sp>
      <p:sp>
        <p:nvSpPr>
          <p:cNvPr id="9" name="Shape 7"/>
          <p:cNvSpPr/>
          <p:nvPr/>
        </p:nvSpPr>
        <p:spPr>
          <a:xfrm>
            <a:off x="502920" y="1920240"/>
            <a:ext cx="11185855" cy="1463040"/>
          </a:xfrm>
          <a:prstGeom prst="roundRect">
            <a:avLst>
              <a:gd name="adj" fmla="val 5000"/>
            </a:avLst>
          </a:prstGeom>
          <a:solidFill>
            <a:srgbClr val="E5F7FC"/>
          </a:solidFill>
          <a:ln w="15875">
            <a:solidFill>
              <a:srgbClr val="A6DDEE"/>
            </a:solidFill>
            <a:prstDash val="solid"/>
          </a:ln>
        </p:spPr>
      </p:sp>
      <p:sp>
        <p:nvSpPr>
          <p:cNvPr id="10" name="Text 8"/>
          <p:cNvSpPr/>
          <p:nvPr/>
        </p:nvSpPr>
        <p:spPr>
          <a:xfrm>
            <a:off x="777240" y="1965960"/>
            <a:ext cx="10637215" cy="1371600"/>
          </a:xfrm>
          <a:prstGeom prst="rect">
            <a:avLst/>
          </a:prstGeom>
          <a:noFill/>
          <a:ln/>
        </p:spPr>
        <p:txBody>
          <a:bodyPr wrap="square" lIns="0" tIns="0" rIns="0" bIns="0" rtlCol="0" anchor="ctr"/>
          <a:lstStyle/>
          <a:p>
            <a:pPr algn="ctr" indent="0" marL="0">
              <a:buNone/>
            </a:pPr>
            <a:r>
              <a:rPr lang="en-US" sz="2600" b="1" dirty="0">
                <a:solidFill>
                  <a:srgbClr val="0E1C42"/>
                </a:solidFill>
                <a:latin typeface="Calibri" pitchFamily="34" charset="0"/>
                <a:ea typeface="Calibri" pitchFamily="34" charset="-122"/>
                <a:cs typeface="Calibri" pitchFamily="34" charset="-120"/>
              </a:rPr>
              <a:t>coastal     ·     practical     ·     magnetic     ·     heroic     ·     nautical     ·     historical</a:t>
            </a:r>
            <a:endParaRPr lang="en-US" sz="2600" dirty="0"/>
          </a:p>
        </p:txBody>
      </p:sp>
      <p:sp>
        <p:nvSpPr>
          <p:cNvPr id="11" name="Text 9"/>
          <p:cNvSpPr/>
          <p:nvPr/>
        </p:nvSpPr>
        <p:spPr>
          <a:xfrm>
            <a:off x="502920" y="36118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INTO THESE GROUPS</a:t>
            </a:r>
            <a:endParaRPr lang="en-US" sz="1300" dirty="0"/>
          </a:p>
        </p:txBody>
      </p:sp>
      <p:sp>
        <p:nvSpPr>
          <p:cNvPr id="12" name="Shape 10"/>
          <p:cNvSpPr/>
          <p:nvPr/>
        </p:nvSpPr>
        <p:spPr>
          <a:xfrm>
            <a:off x="502920" y="3977640"/>
            <a:ext cx="3606698" cy="1097280"/>
          </a:xfrm>
          <a:prstGeom prst="roundRect">
            <a:avLst>
              <a:gd name="adj" fmla="val 6667"/>
            </a:avLst>
          </a:prstGeom>
          <a:solidFill>
            <a:srgbClr val="F8FAFC"/>
          </a:solidFill>
          <a:ln w="15875">
            <a:solidFill>
              <a:srgbClr val="CBD5E1"/>
            </a:solidFill>
            <a:prstDash val="solid"/>
          </a:ln>
        </p:spPr>
      </p:sp>
      <p:sp>
        <p:nvSpPr>
          <p:cNvPr id="13" name="Text 11"/>
          <p:cNvSpPr/>
          <p:nvPr/>
        </p:nvSpPr>
        <p:spPr>
          <a:xfrm>
            <a:off x="685800" y="4050792"/>
            <a:ext cx="324093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–al</a:t>
            </a:r>
            <a:endParaRPr lang="en-US" sz="2200" dirty="0"/>
          </a:p>
        </p:txBody>
      </p:sp>
      <p:sp>
        <p:nvSpPr>
          <p:cNvPr id="14" name="Shape 12"/>
          <p:cNvSpPr/>
          <p:nvPr/>
        </p:nvSpPr>
        <p:spPr>
          <a:xfrm>
            <a:off x="4292498" y="3977640"/>
            <a:ext cx="3606698" cy="1097280"/>
          </a:xfrm>
          <a:prstGeom prst="roundRect">
            <a:avLst>
              <a:gd name="adj" fmla="val 6667"/>
            </a:avLst>
          </a:prstGeom>
          <a:solidFill>
            <a:srgbClr val="F8FAFC"/>
          </a:solidFill>
          <a:ln w="15875">
            <a:solidFill>
              <a:srgbClr val="CBD5E1"/>
            </a:solidFill>
            <a:prstDash val="solid"/>
          </a:ln>
        </p:spPr>
      </p:sp>
      <p:sp>
        <p:nvSpPr>
          <p:cNvPr id="15" name="Text 13"/>
          <p:cNvSpPr/>
          <p:nvPr/>
        </p:nvSpPr>
        <p:spPr>
          <a:xfrm>
            <a:off x="4475378" y="4050792"/>
            <a:ext cx="324093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–ic</a:t>
            </a:r>
            <a:endParaRPr lang="en-US" sz="2200" dirty="0"/>
          </a:p>
        </p:txBody>
      </p:sp>
      <p:sp>
        <p:nvSpPr>
          <p:cNvPr id="16" name="Shape 14"/>
          <p:cNvSpPr/>
          <p:nvPr/>
        </p:nvSpPr>
        <p:spPr>
          <a:xfrm>
            <a:off x="8082077" y="3977640"/>
            <a:ext cx="3606698" cy="1097280"/>
          </a:xfrm>
          <a:prstGeom prst="roundRect">
            <a:avLst>
              <a:gd name="adj" fmla="val 6667"/>
            </a:avLst>
          </a:prstGeom>
          <a:solidFill>
            <a:srgbClr val="F8FAFC"/>
          </a:solidFill>
          <a:ln w="15875">
            <a:solidFill>
              <a:srgbClr val="CBD5E1"/>
            </a:solidFill>
            <a:prstDash val="solid"/>
          </a:ln>
        </p:spPr>
      </p:sp>
      <p:sp>
        <p:nvSpPr>
          <p:cNvPr id="17" name="Text 15"/>
          <p:cNvSpPr/>
          <p:nvPr/>
        </p:nvSpPr>
        <p:spPr>
          <a:xfrm>
            <a:off x="8264957" y="4050792"/>
            <a:ext cx="324093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–ical</a:t>
            </a:r>
            <a:endParaRPr lang="en-US" sz="2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AND THE -ICAL PROBLEM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Suffixes -al and -ic</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3606698" cy="4892040"/>
          </a:xfrm>
          <a:prstGeom prst="roundRect">
            <a:avLst>
              <a:gd name="adj" fmla="val 2028"/>
            </a:avLst>
          </a:prstGeom>
          <a:solidFill>
            <a:srgbClr val="E8F8EF"/>
          </a:solidFill>
          <a:ln w="15875">
            <a:solidFill>
              <a:srgbClr val="9ED9B5"/>
            </a:solidFill>
            <a:prstDash val="solid"/>
          </a:ln>
        </p:spPr>
      </p:sp>
      <p:sp>
        <p:nvSpPr>
          <p:cNvPr id="9" name="Text 7"/>
          <p:cNvSpPr/>
          <p:nvPr/>
        </p:nvSpPr>
        <p:spPr>
          <a:xfrm>
            <a:off x="685800" y="1691640"/>
            <a:ext cx="324093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–al</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coastal</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practical</a:t>
            </a:r>
            <a:endParaRPr lang="en-US" sz="2100" dirty="0"/>
          </a:p>
        </p:txBody>
      </p:sp>
      <p:sp>
        <p:nvSpPr>
          <p:cNvPr id="10" name="Shape 8"/>
          <p:cNvSpPr/>
          <p:nvPr/>
        </p:nvSpPr>
        <p:spPr>
          <a:xfrm>
            <a:off x="4292498" y="1554480"/>
            <a:ext cx="3606698" cy="4892040"/>
          </a:xfrm>
          <a:prstGeom prst="roundRect">
            <a:avLst>
              <a:gd name="adj" fmla="val 2028"/>
            </a:avLst>
          </a:prstGeom>
          <a:solidFill>
            <a:srgbClr val="E8F8EF"/>
          </a:solidFill>
          <a:ln w="15875">
            <a:solidFill>
              <a:srgbClr val="9ED9B5"/>
            </a:solidFill>
            <a:prstDash val="solid"/>
          </a:ln>
        </p:spPr>
      </p:sp>
      <p:sp>
        <p:nvSpPr>
          <p:cNvPr id="11" name="Text 9"/>
          <p:cNvSpPr/>
          <p:nvPr/>
        </p:nvSpPr>
        <p:spPr>
          <a:xfrm>
            <a:off x="4475378" y="1691640"/>
            <a:ext cx="324093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–ic</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magnetic</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heroic</a:t>
            </a:r>
            <a:endParaRPr lang="en-US" sz="2100" dirty="0"/>
          </a:p>
        </p:txBody>
      </p:sp>
      <p:sp>
        <p:nvSpPr>
          <p:cNvPr id="12" name="Shape 10"/>
          <p:cNvSpPr/>
          <p:nvPr/>
        </p:nvSpPr>
        <p:spPr>
          <a:xfrm>
            <a:off x="8082077" y="1554480"/>
            <a:ext cx="3606698" cy="4892040"/>
          </a:xfrm>
          <a:prstGeom prst="roundRect">
            <a:avLst>
              <a:gd name="adj" fmla="val 2028"/>
            </a:avLst>
          </a:prstGeom>
          <a:solidFill>
            <a:srgbClr val="E8F8EF"/>
          </a:solidFill>
          <a:ln w="15875">
            <a:solidFill>
              <a:srgbClr val="9ED9B5"/>
            </a:solidFill>
            <a:prstDash val="solid"/>
          </a:ln>
        </p:spPr>
      </p:sp>
      <p:sp>
        <p:nvSpPr>
          <p:cNvPr id="13" name="Text 11"/>
          <p:cNvSpPr/>
          <p:nvPr/>
        </p:nvSpPr>
        <p:spPr>
          <a:xfrm>
            <a:off x="8264957" y="1691640"/>
            <a:ext cx="324093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–ical</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nautical</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historical</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16 — “A SIMPLE MATTER OF MATHEMATICS”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 You are here: Week 12 — Chapter 16 — A Simple Matter of Mathematics</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Chapter 16 closes the week. Nat found an error in Moore’s tables (Ch. 13), sailed on the Astrea with her nineteen guns (Ch. 14), and met a strange sail and taught the crew (Ch. 15). Now the Astrea fights for ten days through Sunda Strait, becomes the first Salem ship ever to enter Manila Harbor, hears grim news of war with France, springs a leak, and threads the dangerous channel home past Bowditch Ledge. Watch the title phrase. Nat first said “a simple matter of mathematics” in Chapter 15, about sailing against the Sunda Strait current. In Chapter 16 it becomes a running joke — Prince threatens to “brain” Nat if he says it again, then uses it himself — and in the last lines Nat turns it on himself in a painful way.</a:t>
            </a:r>
            <a:endParaRPr lang="en-US" sz="2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16</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The Title Phrase: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“A Simple Matter of Mathematics.” Find two places in Chapter 16 where someone uses this phrase. Who says it each time, and what does it mean in that moment? Is the speaker being proud, teasing, or something else?</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Reflective Pause — Chs. 13–16: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Look back at the arc: Discovery → Nineteen Guns → Sail Ho! → A Simple Matter of Mathematics. What is the single most important event in this arc for understanding what made Nat extraordinary? Use evidence from two chapters.</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1900" b="1" dirty="0">
                <a:solidFill>
                  <a:srgbClr val="C7922C"/>
                </a:solidFill>
                <a:latin typeface="Calibri" pitchFamily="34" charset="0"/>
                <a:ea typeface="Calibri" pitchFamily="34" charset="-122"/>
                <a:cs typeface="Calibri" pitchFamily="34" charset="-120"/>
              </a:rPr>
              <a:t>1.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Latham uses the title phrase “A Simple Matter of Mathematics” three ways in Chapter 16: Nat’s confidence, Prince’s teasing, and Nat’s painful realization at the end. Explain what the phrase means each time. Why does it hurt when Nat uses it on himself in the last lines?</a:t>
            </a:r>
            <a:endParaRPr lang="en-US" sz="1900" dirty="0"/>
          </a:p>
          <a:p>
            <a:pPr indent="0" marL="0">
              <a:spcAft>
                <a:spcPts val="900"/>
              </a:spcAft>
              <a:buNone/>
            </a:pPr>
            <a:r>
              <a:rPr lang="en-US" sz="1900" b="1" dirty="0">
                <a:solidFill>
                  <a:srgbClr val="C7922C"/>
                </a:solidFill>
                <a:latin typeface="Calibri" pitchFamily="34" charset="0"/>
                <a:ea typeface="Calibri" pitchFamily="34" charset="-122"/>
                <a:cs typeface="Calibri" pitchFamily="34" charset="-120"/>
              </a:rPr>
              <a:t>2.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In Chapter 16, how does the setting (at sea, aboard a working vessel far from home) and the conflicts (the Sunda Strait current, the threat from France, the leak, and Nat’s feelings about Elizabeth) work together? Choose one conflict and explain how the setting makes it harder.</a:t>
            </a:r>
            <a:endParaRPr lang="en-US" sz="1900" dirty="0"/>
          </a:p>
          <a:p>
            <a:pPr indent="0" marL="0">
              <a:spcAft>
                <a:spcPts val="900"/>
              </a:spcAft>
              <a:buNone/>
            </a:pPr>
            <a:r>
              <a:rPr lang="en-US" sz="1900" b="1" dirty="0">
                <a:solidFill>
                  <a:srgbClr val="C7922C"/>
                </a:solidFill>
                <a:latin typeface="Calibri" pitchFamily="34" charset="0"/>
                <a:ea typeface="Calibri" pitchFamily="34" charset="-122"/>
                <a:cs typeface="Calibri" pitchFamily="34" charset="-120"/>
              </a:rPr>
              <a:t>3.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 Week Reflective Question (Chs. 13–16): The chapter titles tell a story: Discovery → Nineteen Guns → Sail Ho! → A Simple Matter of Mathematics. Explain how these four events, in sequence, show Nat moving toward his life’s defining purpose. Use evidence from at least two chapters. Connect to your expository claim.</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ADD CRAFT · ADD RELATIVE CLAUSES FOR PRECISION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12 · ADD CRAFT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Today’s craft focus is relative clauses — using who, which, and that to add specific information to your sentences without starting new ones.</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Meet Alex, our example writer: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adds relative clauses to three sentences to make them more precise. BEFORE Alex’s plain sentences: Bowditch corrected the Navigator. He taught sailors math. He published his work. AFTER Alex’s expanded sentences: Bowditch corrected Moore’s Navigator, which, research shows, held about 8,000 errors that endangered sailors worldwide. He taught sailors logarithm-based navigation, which most experts considered too complex for ordinary seamen. He published his work as the American Practical Navigator, which is still used by the United States Navy today. Notice: Each relative clause adds a piece of information that makes the sentence more convincing. The which clauses tell the reader WHY the fact matters — they do the work of the explanation sentence.</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ADD CRAFT · ADD RELATIVE CLAUSES FOR PRECISION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12 · ADD CRAFT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Relative Clause Upgrade: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Find two plain sentences in your draft. Add a relative clause to each one. Alex’s example (filled): Original: Bowditch corrected Moore’s Navigator. Upgraded: Bowditch corrected Moore’s Navigator, which, research shows, held about 8,000 errors that endangered sailors worldwide. Original: He published his work. Upgraded: He published the American Practical Navigator, which is still used by the United States Navy today. Your turn — do the same in your reading journal: Original sentence 1: ____________________ Upgraded (add who/which/that): ____________________ Original sentence 2: ____________________ Upgraded: ____________________</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“Bowditch corrected ___, which ___.” “He taught sailors ___, which most experts considered ___.” “This achievement, which ___, demonstrated that...”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Borrow a sentence frame if you want.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12.4 — Carry On, Mr. Bowditch, Chapter 16</dc:title>
  <dc:subject>PptxGenJS Presentation</dc:subject>
  <dc:creator>Optima Academy Online</dc:creator>
  <cp:lastModifiedBy>Optima Academy Online</cp:lastModifiedBy>
  <cp:revision>1</cp:revision>
  <dcterms:created xsi:type="dcterms:W3CDTF">2026-10-29T19:41:22Z</dcterms:created>
  <dcterms:modified xsi:type="dcterms:W3CDTF">2026-10-29T19:41:22Z</dcterms:modified>
</cp:coreProperties>
</file>