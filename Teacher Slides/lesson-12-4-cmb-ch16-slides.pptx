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12, Day 4, Chapter 16 — A Simple Matter of Mathematics.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16 and continue drafting your expository research piece. Keep asking: How do conflict and setting shape Nat’s decisions?
Morphology: Explain -al and -ous — Odd One Out + teach the rule.
Vocab SWYK: Choice board — show what you know your way.
Grammar: Explain how prepositional phrases strengthen expository writing.
Reading: Chapter 16 + week reflective question (Chs. 13–16)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mathematical work of a skilled navigator require precise measurements of celestial bodies at sea"
Corrected: "The mathematical work of a skilled navigator requires precise measurements of celestial bodies at sea."
Fixes: capitalize “The”; subject is “work” (singular) → “requires”; “of a skilled navigator” and “at sea” are prepositional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mathematical work of a skilled navigator require precise measurements of celestial bodies at sea"
Corrected: "The mathematical work of a skilled navigator requires precise measurements of celestial bodies at sea."
Fixes: capitalize “The”; subject is “work” (singular) → “requires”; “of a skilled navigator” and “at sea” are prepositional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Does this detail actually support what I'm trying to say, or is it just filler?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Choice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Reflection/journal-based grammar task today — no quiz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Explain the -ous/-ious/-eous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12 — Chapter 16 — A Simple Matter of Mathematics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ADD CRAFT: Add relative clauses for precision
Focus: Today’s craft focus is relative clauses — using who, which, and that to add specific information to your sentences without starting new ones.
Before: BEFORE Alex’s plain sentences: Bowditch corrected the Navigator. He taught sailors math. He published his work.
After: AFTER Alex’s expanded sentences: Bowditch corrected Moore’s Navigator, which contained over 8,000 erroneous calculations that endangered sailors worldwide . He taught sailors logarithm-based navigation, which most experts considered too complex for ordinary seamen . He published his work as the American Practical Navigator, which is still used by the United States Navy today .
Notice: Notice: Each relative clause adds a piece of information that makes the sentence more convincing. The which clauses tell the reader WHY the fact matters — they do the work of the explanation sentence.
Tool: Today’s Tool: Relative Clause Upgrade — Find two plain sentences in your draft. Add a relative clause to each one.
Frames: “Bowditch corrected ___, which ___.” | “He taught sailors ___, which most experts considered ___.” | “This achievement, which ___, demonstrated that...”
Prompt: Find one sentence in your draft and upgrade it with a relative clause (who/which/that). Write the original and the upgraded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12  ·  DAY 4</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16 — A Simple Matter of Mathematics</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12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16 and continue drafting your expository research piece. Keep asking: How do conflict and setting shape Nat’s decisions?</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Explain -al and -ous — Odd One Out + teach the rule.</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Vocab SWYK: </a:t>
            </a:r>
            <a:pPr indent="0" marL="0">
              <a:buNone/>
            </a:pPr>
            <a:r>
              <a:rPr lang="en-US" sz="1250" dirty="0">
                <a:solidFill>
                  <a:srgbClr val="1E293B"/>
                </a:solidFill>
                <a:latin typeface="Calibri" pitchFamily="34" charset="0"/>
                <a:ea typeface="Calibri" pitchFamily="34" charset="-122"/>
                <a:cs typeface="Calibri" pitchFamily="34" charset="-120"/>
              </a:rPr>
              <a:t>Choice board — show what you know your way.</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Explain how prepositional phrases strengthen expository writing.</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16 + week reflective question (Chs. 13–16)</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Chapter 16 gives this whole week its organizing idea. Nat believes that the most complex navigation calculations — the ones experts say ordinary sailors can’t do — are actually “a simple matter of mathematics.” This is his great insight: not that the math is easy, but that it can be made accessible to anyone willing to learn it. Good readers hear this as the thesis of his life.</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specifically does Nat do in Chapter 16 that makes navigation more accessible? Who does he teach and how?</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The chapter title is “A Simple Matter of Mathematics.” Is this ironic? Is navigation actually simple? What does Nat mean by calling it simple?</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this chapter connect back to Chapters 13, 14, and 15? How does the arc of Chs. 13–16 tell one complete story?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process of calculating lunar distances was considered hazardous by most sailors , but Nat showed them it was simply mathematical .</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process  </a:t>
            </a:r>
            <a:pPr indent="0" marL="0">
              <a:buNone/>
            </a:pPr>
            <a:r>
              <a:rPr lang="en-US" sz="1200" dirty="0">
                <a:solidFill>
                  <a:srgbClr val="1E293B"/>
                </a:solidFill>
                <a:latin typeface="Calibri" pitchFamily="34" charset="0"/>
                <a:ea typeface="Calibri" pitchFamily="34" charset="-122"/>
                <a:cs typeface="Calibri" pitchFamily="34" charset="-120"/>
              </a:rPr>
              <a:t>Subject: “process” (singular). Prepositional phrase “of calculating lunar distances” is between subject and verb.</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was  </a:t>
            </a:r>
            <a:pPr indent="0" marL="0">
              <a:buNone/>
            </a:pPr>
            <a:r>
              <a:rPr lang="en-US" sz="1200" dirty="0">
                <a:solidFill>
                  <a:srgbClr val="1E293B"/>
                </a:solidFill>
                <a:latin typeface="Calibri" pitchFamily="34" charset="0"/>
                <a:ea typeface="Calibri" pitchFamily="34" charset="-122"/>
                <a:cs typeface="Calibri" pitchFamily="34" charset="-120"/>
              </a:rPr>
              <a:t>“was” agrees with “process” (singular).</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considered hazardous by most sailors  </a:t>
            </a:r>
            <a:pPr indent="0" marL="0">
              <a:buNone/>
            </a:pPr>
            <a:r>
              <a:rPr lang="en-US" sz="1200" dirty="0">
                <a:solidFill>
                  <a:srgbClr val="1E293B"/>
                </a:solidFill>
                <a:latin typeface="Calibri" pitchFamily="34" charset="0"/>
                <a:ea typeface="Calibri" pitchFamily="34" charset="-122"/>
                <a:cs typeface="Calibri" pitchFamily="34" charset="-120"/>
              </a:rPr>
              <a:t>“considered hazardous by most sailors” is an adjective phrase — “by most sailors” is a prepositional phrase telling by whom.</a:t>
            </a:r>
            <a:endParaRPr lang="en-US" sz="1300" dirty="0"/>
          </a:p>
        </p:txBody>
      </p:sp>
      <p:sp>
        <p:nvSpPr>
          <p:cNvPr id="14" name="Shape 12"/>
          <p:cNvSpPr/>
          <p:nvPr/>
        </p:nvSpPr>
        <p:spPr>
          <a:xfrm>
            <a:off x="365760" y="4105656"/>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160520"/>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mathematical  </a:t>
            </a:r>
            <a:pPr indent="0" marL="0">
              <a:buNone/>
            </a:pPr>
            <a:r>
              <a:rPr lang="en-US" sz="1200" dirty="0">
                <a:solidFill>
                  <a:srgbClr val="1E293B"/>
                </a:solidFill>
                <a:latin typeface="Calibri" pitchFamily="34" charset="0"/>
                <a:ea typeface="Calibri" pitchFamily="34" charset="-122"/>
                <a:cs typeface="Calibri" pitchFamily="34" charset="-120"/>
              </a:rPr>
              <a:t>“mathematical” uses the suffix -al, meaning “relating to mathematics.”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mathematical work of a skilled navigator require precise measurements of celestial bodies at sea</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mathematical work of a skilled navigator require precise measurements of celestial bodies at sea</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The mathematical work of a skilled navigator requires precise measurements of celestial bodies at sea.</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“The”; subject is “work” (singular) → “requires”; “of a skilled navigator” and “at sea” are prepositional phrases.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“When I Heard the Learn’d Astronomer”</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Walt Whitman, 1865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When I heard the learn’d astronomer,</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When the proofs, the figures, were ranged in columns before me,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When I was shown the charts and diagrams, to add, divide, and measure them,</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When I sitting heard the astronomer where he lectured with much applause in the lecture-room,</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How soon unaccountable I became tired and sick,</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Till rising and gliding out I wander’d off by myself,</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In the mystical moist night-air, and from time to time,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Look’d up in perfect silence at the stars.</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Would Nat Bowditch agree or disagree with Whitman’s poem? Use evidence from Chapters 13–16 to support your answer. Is Nat’s mathematics at odds with wonder — or is it the thing that makes wonder possible?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chapter title calls navigation "a simple matter of mathematics." Is that title being completely honest, or a little bit ironic? Defend your answer with evidence from Chapter 16.</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The chapter title calls navigation "a simple matter of mathematics." Is that title being completely honest, or a little bit ironic? Defend your answer with evidence from Chapter 16.</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Does this detail actually support what I'm trying to say, or is it just filler?</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Choice Menu</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Show What You Know — your way</a:t>
            </a:r>
            <a:endParaRPr lang="en-US" sz="1100" dirty="0"/>
          </a:p>
        </p:txBody>
      </p:sp>
      <p:sp>
        <p:nvSpPr>
          <p:cNvPr id="5" name="Text 3"/>
          <p:cNvSpPr/>
          <p:nvPr/>
        </p:nvSpPr>
        <p:spPr>
          <a:xfrm>
            <a:off x="365760" y="1097280"/>
            <a:ext cx="8412480" cy="365760"/>
          </a:xfrm>
          <a:prstGeom prst="rect">
            <a:avLst/>
          </a:prstGeom>
          <a:noFill/>
          <a:ln/>
        </p:spPr>
        <p:txBody>
          <a:bodyPr wrap="square" lIns="0" tIns="0" rIns="0" bIns="0" rtlCol="0" anchor="ctr"/>
          <a:lstStyle/>
          <a:p>
            <a:pPr indent="0" marL="0">
              <a:buNone/>
            </a:pPr>
            <a:r>
              <a:rPr lang="en-US" sz="1200" b="1" dirty="0">
                <a:solidFill>
                  <a:srgbClr val="0E1C42"/>
                </a:solidFill>
                <a:latin typeface="Calibri" pitchFamily="34" charset="0"/>
                <a:ea typeface="Calibri" pitchFamily="34" charset="-122"/>
                <a:cs typeface="Calibri" pitchFamily="34" charset="-120"/>
              </a:rPr>
              <a:t>Words: lunar · erroneous · nautical · hazardous · practical · mathematical</a:t>
            </a:r>
            <a:endParaRPr lang="en-US" sz="1200" dirty="0"/>
          </a:p>
        </p:txBody>
      </p:sp>
      <p:sp>
        <p:nvSpPr>
          <p:cNvPr id="6" name="Shape 4"/>
          <p:cNvSpPr/>
          <p:nvPr/>
        </p:nvSpPr>
        <p:spPr>
          <a:xfrm>
            <a:off x="365760" y="1554480"/>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600200"/>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A: ✍️ Write a Letter — Write a 5–7 sentence letter from Nat to the author of Moore’s Navigator, explaining the erroneous calculations he found and why correcting them is a practical and mathematical necessity. Use at least four vocabulary words.</a:t>
            </a:r>
            <a:endParaRPr lang="en-US" sz="1050" dirty="0"/>
          </a:p>
        </p:txBody>
      </p:sp>
      <p:sp>
        <p:nvSpPr>
          <p:cNvPr id="8" name="Shape 6"/>
          <p:cNvSpPr/>
          <p:nvPr/>
        </p:nvSpPr>
        <p:spPr>
          <a:xfrm>
            <a:off x="365760" y="2112264"/>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157984"/>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B: 📊 Adjective Analysis — For all six words: write the word, its suffix (-al or -ous), the meaning the suffix adds, and a one-sentence definition in your own words. Use a chart format.</a:t>
            </a:r>
            <a:endParaRPr lang="en-US" sz="1050" dirty="0"/>
          </a:p>
        </p:txBody>
      </p:sp>
      <p:sp>
        <p:nvSpPr>
          <p:cNvPr id="10" name="Shape 8"/>
          <p:cNvSpPr/>
          <p:nvPr/>
        </p:nvSpPr>
        <p:spPr>
          <a:xfrm>
            <a:off x="365760" y="2670048"/>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715768"/>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C: 🧠 The Logic Connection — Explain: how are lunar , nautical , mathematical , and practical all connected in Nat’s system of navigation? How does each one lead to the next?</a:t>
            </a:r>
            <a:endParaRPr lang="en-US" sz="1050" dirty="0"/>
          </a:p>
        </p:txBody>
      </p:sp>
      <p:sp>
        <p:nvSpPr>
          <p:cNvPr id="12" name="Shape 10"/>
          <p:cNvSpPr/>
          <p:nvPr/>
        </p:nvSpPr>
        <p:spPr>
          <a:xfrm>
            <a:off x="365760" y="3227832"/>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73552"/>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D: 📝 Sailor’s Dictionary — Write a six-entry mini-dictionary of this week’s words, written for a 1790s sailor who has never heard these terms. Make each definition clear, practical, and true to the novel’s world.</a:t>
            </a:r>
            <a:endParaRPr lang="en-US" sz="1050" dirty="0"/>
          </a:p>
        </p:txBody>
      </p:sp>
      <p:sp>
        <p:nvSpPr>
          <p:cNvPr id="14" name="Shape 12"/>
          <p:cNvSpPr/>
          <p:nvPr/>
        </p:nvSpPr>
        <p:spPr>
          <a:xfrm>
            <a:off x="365760" y="3831336"/>
            <a:ext cx="8412480" cy="640080"/>
          </a:xfrm>
          <a:prstGeom prst="roundRect">
            <a:avLst>
              <a:gd name="adj" fmla="val 14286"/>
            </a:avLst>
          </a:prstGeom>
          <a:solidFill>
            <a:srgbClr val="FEF6E8"/>
          </a:solidFill>
          <a:ln w="12700">
            <a:solidFill>
              <a:srgbClr val="C7922C"/>
            </a:solidFill>
            <a:prstDash val="solid"/>
          </a:ln>
        </p:spPr>
      </p:sp>
      <p:sp>
        <p:nvSpPr>
          <p:cNvPr id="15" name="Text 13"/>
          <p:cNvSpPr/>
          <p:nvPr/>
        </p:nvSpPr>
        <p:spPr>
          <a:xfrm>
            <a:off x="548640" y="3877056"/>
            <a:ext cx="8046720" cy="548640"/>
          </a:xfrm>
          <a:prstGeom prst="rect">
            <a:avLst/>
          </a:prstGeom>
          <a:noFill/>
          <a:ln/>
        </p:spPr>
        <p:txBody>
          <a:bodyPr wrap="square" lIns="0" tIns="0" rIns="0" bIns="0" rtlCol="0" anchor="t"/>
          <a:lstStyle/>
          <a:p>
            <a:pPr indent="0" marL="0">
              <a:buNone/>
            </a:pPr>
            <a:r>
              <a:rPr lang="en-US" sz="1000" b="1" dirty="0">
                <a:solidFill>
                  <a:srgbClr val="C7922C"/>
                </a:solidFill>
                <a:latin typeface="Calibri" pitchFamily="34" charset="0"/>
                <a:ea typeface="Calibri" pitchFamily="34" charset="-122"/>
                <a:cs typeface="Calibri" pitchFamily="34" charset="-120"/>
              </a:rPr>
              <a:t>🫖 Show What You Know · Vocabulary
</a:t>
            </a:r>
            <a:pPr indent="0" marL="0">
              <a:buNone/>
            </a:pPr>
            <a:r>
              <a:rPr lang="en-US" sz="1000" i="1" dirty="0">
                <a:solidFill>
                  <a:srgbClr val="1E293B"/>
                </a:solidFill>
                <a:latin typeface="Calibri" pitchFamily="34" charset="0"/>
                <a:ea typeface="Calibri" pitchFamily="34" charset="-122"/>
                <a:cs typeface="Calibri" pitchFamily="34" charset="-120"/>
              </a:rPr>
              <a:t>Complete your chosen option above.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Explain Prepositional Phrases</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Explain — teach how they strengthen expository writing</a:t>
            </a:r>
            <a:endParaRPr lang="en-US" sz="1100" dirty="0"/>
          </a:p>
        </p:txBody>
      </p:sp>
      <p:sp>
        <p:nvSpPr>
          <p:cNvPr id="5" name="Text 3"/>
          <p:cNvSpPr/>
          <p:nvPr/>
        </p:nvSpPr>
        <p:spPr>
          <a:xfrm>
            <a:off x="365760" y="10972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6" name="Shape 4"/>
          <p:cNvSpPr/>
          <p:nvPr/>
        </p:nvSpPr>
        <p:spPr>
          <a:xfrm>
            <a:off x="365760" y="1371600"/>
            <a:ext cx="8412480" cy="1463040"/>
          </a:xfrm>
          <a:prstGeom prst="roundRect">
            <a:avLst>
              <a:gd name="adj" fmla="val 625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463040"/>
            <a:ext cx="8046720" cy="1280160"/>
          </a:xfrm>
          <a:prstGeom prst="rect">
            <a:avLst/>
          </a:prstGeom>
          <a:noFill/>
          <a:ln/>
        </p:spPr>
        <p:txBody>
          <a:bodyPr wrap="square" lIns="0" tIns="0" rIns="0" bIns="0" rtlCol="0" anchor="t"/>
          <a:lstStyle/>
          <a:p>
            <a:pPr indent="0" marL="0">
              <a:buNone/>
            </a:pPr>
            <a:r>
              <a:rPr lang="en-US" sz="1250" i="1" dirty="0">
                <a:solidFill>
                  <a:srgbClr val="1E293B"/>
                </a:solidFill>
                <a:latin typeface="Calibri" pitchFamily="34" charset="0"/>
                <a:ea typeface="Calibri" pitchFamily="34" charset="-122"/>
                <a:cs typeface="Calibri" pitchFamily="34" charset="-120"/>
              </a:rPr>
              <a:t>A classmate says: “My teacher keeps saying my expository writing is vague. What can prepositional phrases do to fix that?” Write a 3–4 sentence explanation. Include: what a prepositional phrase is, what questions it answers, and one before/after example from this week’s novel content.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Explain the -ous/-ious/-eous Patterns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Explain — when to use each spelling</a:t>
            </a:r>
            <a:endParaRPr lang="en-US" sz="1100" dirty="0"/>
          </a:p>
        </p:txBody>
      </p:sp>
      <p:sp>
        <p:nvSpPr>
          <p:cNvPr id="7" name="Text 5"/>
          <p:cNvSpPr/>
          <p:nvPr/>
        </p:nvSpPr>
        <p:spPr>
          <a:xfrm>
            <a:off x="365760" y="1143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8" name="Shape 6"/>
          <p:cNvSpPr/>
          <p:nvPr/>
        </p:nvSpPr>
        <p:spPr>
          <a:xfrm>
            <a:off x="365760" y="1417320"/>
            <a:ext cx="8412480" cy="1188720"/>
          </a:xfrm>
          <a:prstGeom prst="roundRect">
            <a:avLst>
              <a:gd name="adj" fmla="val 7692"/>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508760"/>
            <a:ext cx="8046720" cy="1042416"/>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In your reading journal: write a brief explanation of when to use -ous , when to use -ious , and when to use -eous . Include at least one example of each. Then explain the rule for keeping the e before -ous (as in courageous ).</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12 — Chapter 16 — A Simple Matter of Mathematics</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16 — A Simple Matter of Mathematics</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What specifically does Nat do in Chapter 16 that makes navigation more accessible? Who does he teach and how?</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The chapter title is “A Simple Matter of Mathematics.” Is this ironic? Is navigation actually simple? What does Nat mean by calling it simple?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The title “A Simple Matter of Mathematics” is Nat’s thesis about navigation. Explain: what does he mean? Why does he call it “simple” when others considered it impossibly complex? How does this belief shape his decisions in Chapter 16?</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In Chapter 16, how does the setting (at sea, aboard a working vessel) and the conflict (making complex navigation accessible to ordinary sailors) work together to shape Nat’s most important decision in this chapter?</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 Week Reflective Question (Chs. 13–16): The chapter titles tell a story: Discovery → Nineteen Guns → Sail Ho! → A Simple Matter of Mathematics. Explain how these four events, in sequence, show Nat moving toward his life’s defining purpose. Use evidence from at least two chapters. Connect to your expository claim.</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ADD CRAFT  ·  Add relative clauses for precision</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Today’s craft focus is relative clauses — using who, which, and that to add specific information to your sentences without starting new ones.</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plain sentences: Bowditch corrected the Navigator. He taught sailors math. He published his work.</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expanded sentences: Bowditch corrected Moore’s Navigator, which contained over 8,000 erroneous calculations that endangered sailors worldwide . He taught sailors logarithm-based navigation, which most experts considered too complex for ordinary seamen . He published his work as the American Practical Navigator, which is still used by the United States Navy today .</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Each relative clause adds a piece of information that makes the sentence more convincing. The which clauses tell the reader WHY the fact matters — they do the work of the explanation sentence.</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RELATIVE CLAUSE UPGRADE</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Find two plain sentences in your draft. Add a relative clause to each one.</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Find one sentence in your draft and upgrade it with a relative clause (who/which/that). Write the original and the upgraded version.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