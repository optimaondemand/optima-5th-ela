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30, Day 3, Week 30 — Chapter 18: Arrival at the Long Wharf.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Jack and Praiseworthy were supposed to go back to Boston. Instead, Aunt Arabella comes to California. “Certainly not,” she says when asked if she’ll return to Boston. That changes everything. California is home now. The adventure doesn’t end — it expands.
Spelling SWYK: I will edit two passages for all misspellings, correcting each one.
Vocabulary: I will match final chapter words to definitions.
Reading: I will analyze the ending — cat auction, reunion, proposal, and what home means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"praiseworthy and Jack were not the only miners heading for home they met passengers who had abandoned the diggings in disgust as poor as when they arrived some standing for months in the chill streams had picked up nothing but the rheumatism"
Corrected: "Praiseworthy and Jack were not the only miners heading for home. They met passengers who had abandoned the diggings in disgust, as poor as when they arrived. Some, standing for months in the chill streams, had picked up nothing but the rheumatism."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"praiseworthy and Jack were not the only miners heading for home they met passengers who had abandoned the diggings in disgust as poor as when they arrived some standing for months in the chill streams had picked up nothing but the rheumatism"
Corrected: "Praiseworthy and Jack were not the only miners heading for home. They met passengers who had abandoned the diggings in disgust, as poor as when they arrived. Some, standing for months in the chill streams, had picked up nothing but the rheumatism."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match_game.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Grade-Level Editing — SWYK.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30 — Chapter 18: Arrival at the Long Wharf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PUBLISH
Focus: Final editing pass — your published story is almost ready
Task: Write the final published version of your adventure story. Give it a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30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30 — Chapter 18: Arrival at the Long Wharf</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30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Jack and Praiseworthy were supposed to go back to Boston. Instead, Aunt Arabella comes to California. “Certainly not,” she says when asked if she’ll return to Boston. That changes everything. California is home now. The adventure doesn’t end — it expands.</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SWYK: </a:t>
            </a:r>
            <a:pPr indent="0" marL="0">
              <a:buNone/>
            </a:pPr>
            <a:r>
              <a:rPr lang="en-US" sz="1250" dirty="0">
                <a:solidFill>
                  <a:srgbClr val="1E293B"/>
                </a:solidFill>
                <a:latin typeface="Calibri" pitchFamily="34" charset="0"/>
                <a:ea typeface="Calibri" pitchFamily="34" charset="-122"/>
                <a:cs typeface="Calibri" pitchFamily="34" charset="-120"/>
              </a:rPr>
              <a:t>I will edit two passages for all misspellings, correcting each one.</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match final chapter words to definitions.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the ending — cat auction, reunion, proposal, and what home means now.</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sensed how much his partner hated to leave this rough, untamed territory. No one in Boston would think of referring to Praiseworthy as Bullwhip, and Aunt Arabella would put a stop to Jack’s coffee drinking. But Boston was where they belonged.</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No one in Boston would think of referring to Praiseworthy as Bullwhip, and Aunt Arabella would put a stop to Jack’s coffee drinking. But Boston was where they belonged.  </a:t>
            </a:r>
            <a:pPr indent="0" marL="0">
              <a:buNone/>
            </a:pPr>
            <a:r>
              <a:rPr lang="en-US" sz="1150" dirty="0">
                <a:solidFill>
                  <a:srgbClr val="1E293B"/>
                </a:solidFill>
                <a:latin typeface="Calibri" pitchFamily="34" charset="0"/>
                <a:ea typeface="Calibri" pitchFamily="34" charset="-122"/>
                <a:cs typeface="Calibri" pitchFamily="34" charset="-120"/>
              </a:rPr>
              <a:t>The contrast: No one in Boston would call him Bullwhip. Aunt Arabella would stop the coffee. But Boston is where they belong — except now the story is about to flip this entirely.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and Jack were not the only miners heading for home they met passengers who had abandoned the diggings in disgust as poor as when they arrived some standing for months in the chill streams had picked up nothing but the rheumatism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praiseworthy and Jack were not the only miners heading for home they met passengers who had abandoned the diggings in disgust as poor as when they arrived some standing for months in the chill streams had picked up nothing but the rheumatism</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Praiseworthy and Jack were not the only miners heading for home. They met passengers who had abandoned the diggings in disgust, as poor as when they arrived. Some, standing for months in the chill streams, had picked up nothing but the rheumatism.</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Aunt Arabella arrives instead of Jack and Praiseworthy returning to Boston. Which is the better ending: the characters going home, or home coming to them? Defend your answer with evidence from Chapter 18.</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Aunt Arabella arrives instead of Jack and Praiseworthy returning to Boston. Which is the better ending: the characters going home, or home coming to them? Defend your answer with evidence from Chapter 18.</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Unit Root Review — Use</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Write a 4-sentence summary of Praiseworthy’s character arc from Chapter 1 to Chapter 18. Use at least one word from four different root families in the unit. Underline each root word.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exuberance  </a:t>
            </a:r>
            <a:pPr indent="0" marL="0">
              <a:buNone/>
            </a:pPr>
            <a:r>
              <a:rPr lang="en-US" sz="1150" dirty="0">
                <a:solidFill>
                  <a:srgbClr val="1E293B"/>
                </a:solidFill>
                <a:latin typeface="Calibri" pitchFamily="34" charset="0"/>
                <a:ea typeface="Calibri" pitchFamily="34" charset="-122"/>
                <a:cs typeface="Calibri" pitchFamily="34" charset="-120"/>
              </a:rPr>
              <a:t>Joyful overflowing energy and enthusiasm</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reprieve  </a:t>
            </a:r>
            <a:pPr indent="0" marL="0">
              <a:buNone/>
            </a:pPr>
            <a:r>
              <a:rPr lang="en-US" sz="1150" dirty="0">
                <a:solidFill>
                  <a:srgbClr val="1E293B"/>
                </a:solidFill>
                <a:latin typeface="Calibri" pitchFamily="34" charset="0"/>
                <a:ea typeface="Calibri" pitchFamily="34" charset="-122"/>
                <a:cs typeface="Calibri" pitchFamily="34" charset="-120"/>
              </a:rPr>
              <a:t>A cancellation or postponement of punishment</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spirited  </a:t>
            </a:r>
            <a:pPr indent="0" marL="0">
              <a:buNone/>
            </a:pPr>
            <a:r>
              <a:rPr lang="en-US" sz="1150" dirty="0">
                <a:solidFill>
                  <a:srgbClr val="1E293B"/>
                </a:solidFill>
                <a:latin typeface="Calibri" pitchFamily="34" charset="0"/>
                <a:ea typeface="Calibri" pitchFamily="34" charset="-122"/>
                <a:cs typeface="Calibri" pitchFamily="34" charset="-120"/>
              </a:rPr>
              <a:t>Lively, energetic, and full of determination</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counsel  </a:t>
            </a:r>
            <a:pPr indent="0" marL="0">
              <a:buNone/>
            </a:pPr>
            <a:r>
              <a:rPr lang="en-US" sz="1150" dirty="0">
                <a:solidFill>
                  <a:srgbClr val="1E293B"/>
                </a:solidFill>
                <a:latin typeface="Calibri" pitchFamily="34" charset="0"/>
                <a:ea typeface="Calibri" pitchFamily="34" charset="-122"/>
                <a:cs typeface="Calibri" pitchFamily="34" charset="-120"/>
              </a:rPr>
              <a:t>A legal advisor; advice or guidance</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reunion  </a:t>
            </a:r>
            <a:pPr indent="0" marL="0">
              <a:buNone/>
            </a:pPr>
            <a:r>
              <a:rPr lang="en-US" sz="1150" dirty="0">
                <a:solidFill>
                  <a:srgbClr val="1E293B"/>
                </a:solidFill>
                <a:latin typeface="Calibri" pitchFamily="34" charset="0"/>
                <a:ea typeface="Calibri" pitchFamily="34" charset="-122"/>
                <a:cs typeface="Calibri" pitchFamily="34" charset="-120"/>
              </a:rPr>
              <a:t>A gathering of people who have been separated</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Editing — Use on Your Own Writing</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Run the full editing checklist on one paragraph of your published adventure story. Mark every correction you make. Write the corrected paragraph version below the original.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Grade-Level Editing — SWYK</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These are the words 5th graders most often misspell. Know them cold:</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receive, believe, achieve, their/there/they’re, your/you’re, its/it’s, separate, necessary, definitely, occurred, immediately, beginning, persistence, resistance, exuberance, courage, whether, equipment, knowledge, conscience</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Unit words to check: fortitude, tenacious, ludicrous, extraction, notoriety, validity, consequently, nevertheless — make sure you can spell every word from this unit.</a:t>
            </a:r>
            <a:endParaRPr lang="en-US" sz="1150" dirty="0"/>
          </a:p>
        </p:txBody>
      </p:sp>
      <p:sp>
        <p:nvSpPr>
          <p:cNvPr id="11" name="Shape 9"/>
          <p:cNvSpPr/>
          <p:nvPr/>
        </p:nvSpPr>
        <p:spPr>
          <a:xfrm>
            <a:off x="365760" y="3026664"/>
            <a:ext cx="8412480" cy="777240"/>
          </a:xfrm>
          <a:prstGeom prst="roundRect">
            <a:avLst>
              <a:gd name="adj" fmla="val 11765"/>
            </a:avLst>
          </a:prstGeom>
          <a:solidFill>
            <a:srgbClr val="FEF6E8"/>
          </a:solidFill>
          <a:ln w="12700">
            <a:solidFill>
              <a:srgbClr val="C7922C"/>
            </a:solidFill>
            <a:prstDash val="solid"/>
          </a:ln>
        </p:spPr>
      </p:sp>
      <p:sp>
        <p:nvSpPr>
          <p:cNvPr id="12" name="Text 10"/>
          <p:cNvSpPr/>
          <p:nvPr/>
        </p:nvSpPr>
        <p:spPr>
          <a:xfrm>
            <a:off x="548640" y="3099816"/>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Spelling  Editing
</a:t>
            </a:r>
            <a:pPr indent="0" marL="0">
              <a:buNone/>
            </a:pPr>
            <a:r>
              <a:rPr lang="en-US" sz="1050" i="1" dirty="0">
                <a:solidFill>
                  <a:srgbClr val="1E293B"/>
                </a:solidFill>
                <a:latin typeface="Calibri" pitchFamily="34" charset="0"/>
                <a:ea typeface="Calibri" pitchFamily="34" charset="-122"/>
                <a:cs typeface="Calibri" pitchFamily="34" charset="-120"/>
              </a:rPr>
              <a:t>Below are two passages: one from a student’s adventure story, one from a student’s literary response. Find and correct every misspelling in both passages. Write the corrected versions, and after each correction, write the correctly spelled word in brackets.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30 — Chapter 18: Arrival at the Long Wharf</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30 — Chapter 18: Arrival at the Long Wharf</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18 is the ending Fleischman has been building toward from the first page — and it surprises us by not being the ending we expected. Jack and Praiseworthy came to California to save Aunt Arabella’s house. But Arabella sold the house. She sold it to come to California. The place they were trying to leave has become the place everyone wants to be. The adventure doesn’t end. It expands.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18 — “Arrival at the Long Wharf”</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The final scene of the novel is Praiseworthy proposing to Aunt Arabella on the Long Wharf. He says: “When a man strikes gold he doesn’t lose any time staking a claim.” How does this line bring together the two threads of the novel — the literal gold rush and the emotional story of Praiseworthy and Arabella?</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Chapter 18 contains a reunion that was completely unexpected — Aunt Arabella and the girls came to California. They sold the house. The mission of the voyage is no longer necessary. But instead of this being a disappointment, it feels like a perfect ending. Explain why.</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Looking at the full novel: Jack came to California a proper Boston boy, reluctantly following Praiseworthy. Praiseworthy came as a butler following his duty. At the end, Jack is Jamoka Jack and Praiseworthy is Bullwhip — and California is home. How did Fleischman use the voyage, the gold fields, and the people they met to transform both characters? Use at least two specific examples.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PUBLISH</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Final editing pass — your published story is almost ready</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the final published version of your adventure story. Give it a title.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