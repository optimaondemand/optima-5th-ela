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28, Day 2, Week 28 — Chapter 11: Jamoka Jack.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Jack finally reaches the diggings — and discovers it is backbreaking, icy, muddy work. Praiseworthy’s umbrella gets used as a gold pan. A thimbleful of gold is the reward for a full afternoon’s work. And Fleischman somehow makes this feel like exactly the right outcome.
Grammar SWYK: I will write five sentences using abstract nouns with –ity, –ment, and –ness.
Vocabulary: I will practice this week’s words with flip cards.
Reading: I will analyze how Fleischman handles the moment Jack finally reaches the diggings.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"Jack's excitement (–ment) at reaching hangtown was enormous but praiseworthy's calmness (–ness) and his insistence on eating lunch first turned that excitement into pure exasperation"
Corrected: "Jack’s excitement at reaching Hangtown was enormous; but Praiseworthy’s calmness and his insistence on eating lunch first turned that excitement into pure exasperation."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"Jack's excitement (–ment) at reaching hangtown was enormous but praiseworthy's calmness (–ness) and his insistence on eating lunch first turned that excitement into pure exasperation"
Corrected: "Jack’s excitement at reaching Hangtown was enormous; but Praiseworthy’s calmness and his insistence on eating lunch first turned that excitement into pure exasperation."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Transitions — Identify Stressed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28 — Chapter 11: Jamoka Jack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LITERARY RESPONSE
Focus: Add a second piece of evidence to your literary response
Task: Draft your literary response. Make a clear theme claim and support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28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28 — Chapter 11: Jamoka Jack</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28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Jack finally reaches the diggings — and discovers it is backbreaking, icy, muddy work. Praiseworthy’s umbrella gets used as a gold pan. A thimbleful of gold is the reward for a full afternoon’s work. And Fleischman somehow makes this feel like exactly the right outcome.</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50" dirty="0">
                <a:solidFill>
                  <a:srgbClr val="1E293B"/>
                </a:solidFill>
                <a:latin typeface="Calibri" pitchFamily="34" charset="0"/>
                <a:ea typeface="Calibri" pitchFamily="34" charset="-122"/>
                <a:cs typeface="Calibri" pitchFamily="34" charset="-120"/>
              </a:rPr>
              <a:t>I will write five sentences using abstract nouns with –ity, –ment, and –ness.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practice this week’s words with flip cards.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how Fleischman handles the moment Jack finally reaches the diggings.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Praiseworthy’s patience was a marvel — and an exasperation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patience  </a:t>
            </a:r>
            <a:pPr indent="0" marL="0">
              <a:buNone/>
            </a:pPr>
            <a:r>
              <a:rPr lang="en-US" sz="1150" dirty="0">
                <a:solidFill>
                  <a:srgbClr val="1E293B"/>
                </a:solidFill>
                <a:latin typeface="Calibri" pitchFamily="34" charset="0"/>
                <a:ea typeface="Calibri" pitchFamily="34" charset="-122"/>
                <a:cs typeface="Calibri" pitchFamily="34" charset="-120"/>
              </a:rPr>
              <a:t>Patience is an abstract noun (-ence, related to –ness). Exasperation is an abstract noun derived from a verb. Both name states that cannot be seen — only experienced and inferred.</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exasperation  </a:t>
            </a:r>
            <a:pPr indent="0" marL="0">
              <a:buNone/>
            </a:pPr>
            <a:r>
              <a:rPr lang="en-US" sz="1150" dirty="0">
                <a:solidFill>
                  <a:srgbClr val="1E293B"/>
                </a:solidFill>
                <a:latin typeface="Calibri" pitchFamily="34" charset="0"/>
                <a:ea typeface="Calibri" pitchFamily="34" charset="-122"/>
                <a:cs typeface="Calibri" pitchFamily="34" charset="-120"/>
              </a:rPr>
              <a:t>Exasperation = the state of being driven beyond patience. It's an abstract noun formed from the verb 'exasperate'. This is exactly the kind of word –tion, –ment, –ness, –ity, –ence suffixes create.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Jack's excitement (–ment) at reaching hangtown was enormous but praiseworthy's calmness (–ness) and his insistence on eating lunch first turned that excitement into pure exasperation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Jack's excitement (–ment) at reaching hangtown was enormous but praiseworthy's calmness (–ness) and his insistence on eating lunch first turned that excitement into pure exasperation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Jack’s excitement at reaching Hangtown was enormous; but Praiseworthy’s calmness and his insistence on eating lunch first turned that excitement into pure exasperation.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finally reaches the diggings and discovers mining is backbreaking, icy, muddy work. Was the dream of gold worth the reality of the labor? Defend your answer with evidence from Chapter 11.</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Jack finally reaches the diggings and discovers mining is backbreaking, icy, muddy work. Was the dream of gold worth the reality of the labor? Defend your answer with evidence from Chapter 11.</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fort + val/valid — Identify</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___ ress — a strong, heavily protected place</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 ___ ent — equal in worth or value</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 ___ — to make strong again; to ease pain or sorrow</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___ ity — the quality of being sound, true, and defensible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fortitude  </a:t>
            </a:r>
            <a:pPr indent="0" marL="0">
              <a:buNone/>
            </a:pPr>
            <a:r>
              <a:rPr lang="en-US" sz="1150" dirty="0">
                <a:solidFill>
                  <a:srgbClr val="1E293B"/>
                </a:solidFill>
                <a:latin typeface="Calibri" pitchFamily="34" charset="0"/>
                <a:ea typeface="Calibri" pitchFamily="34" charset="-122"/>
                <a:cs typeface="Calibri" pitchFamily="34" charset="-120"/>
              </a:rPr>
              <a:t>Strength and courage in bearing difficulty or pain. From Latin fortis (strong). Praiseworthy shows fortitude at every stage of the voyage.</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valor  </a:t>
            </a:r>
            <a:pPr indent="0" marL="0">
              <a:buNone/>
            </a:pPr>
            <a:r>
              <a:rPr lang="en-US" sz="1150" dirty="0">
                <a:solidFill>
                  <a:srgbClr val="1E293B"/>
                </a:solidFill>
                <a:latin typeface="Calibri" pitchFamily="34" charset="0"/>
                <a:ea typeface="Calibri" pitchFamily="34" charset="-122"/>
                <a:cs typeface="Calibri" pitchFamily="34" charset="-120"/>
              </a:rPr>
              <a:t>Great bravery, especially in the face of danger. From Latin valere (to be strong/worth). Praiseworthy's punch in Chapter 10 is an act of valor.</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validity  </a:t>
            </a:r>
            <a:pPr indent="0" marL="0">
              <a:buNone/>
            </a:pPr>
            <a:r>
              <a:rPr lang="en-US" sz="1150" dirty="0">
                <a:solidFill>
                  <a:srgbClr val="1E293B"/>
                </a:solidFill>
                <a:latin typeface="Calibri" pitchFamily="34" charset="0"/>
                <a:ea typeface="Calibri" pitchFamily="34" charset="-122"/>
                <a:cs typeface="Calibri" pitchFamily="34" charset="-120"/>
              </a:rPr>
              <a:t>The quality of being sound, true, and defensible. From Latin validus . The town’s story about Bullwhip has creative validity — it's exaggerated, but captures something true.</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highwayman  </a:t>
            </a:r>
            <a:pPr indent="0" marL="0">
              <a:buNone/>
            </a:pPr>
            <a:r>
              <a:rPr lang="en-US" sz="1150" dirty="0">
                <a:solidFill>
                  <a:srgbClr val="1E293B"/>
                </a:solidFill>
                <a:latin typeface="Calibri" pitchFamily="34" charset="0"/>
                <a:ea typeface="Calibri" pitchFamily="34" charset="-122"/>
                <a:cs typeface="Calibri" pitchFamily="34" charset="-120"/>
              </a:rPr>
              <a:t>An armed robber who attacks travelers on public roads. The ruffians who stop the stage in Chapter 10.</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exasperation  </a:t>
            </a:r>
            <a:pPr indent="0" marL="0">
              <a:buNone/>
            </a:pPr>
            <a:r>
              <a:rPr lang="en-US" sz="1150" dirty="0">
                <a:solidFill>
                  <a:srgbClr val="1E293B"/>
                </a:solidFill>
                <a:latin typeface="Calibri" pitchFamily="34" charset="0"/>
                <a:ea typeface="Calibri" pitchFamily="34" charset="-122"/>
                <a:cs typeface="Calibri" pitchFamily="34" charset="-120"/>
              </a:rPr>
              <a:t>Extreme annoyance or frustration; the feeling of being driven almost beyond patience. Jack’s emotion as Praiseworthy insists on eating lunch before visiting the diggings.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Abstract Noun Endings — Identify &amp; SWYK</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These three suffixes turn adjectives (or sometimes verbs) into abstract nouns — nouns naming a quality , state , or result rather than a thing you can see or touch.</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–ity : transforms adjectives into nouns of quality or degree. valid → valid ity · brave → brav ity · curious → curiosi ty</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–ment : transforms verbs into nouns of result or process. amaze → amaze ment · achieve → achieve ment · establish → establish ment</a:t>
            </a:r>
            <a:endParaRPr lang="en-US" sz="1150" dirty="0"/>
          </a:p>
        </p:txBody>
      </p:sp>
      <p:sp>
        <p:nvSpPr>
          <p:cNvPr id="11" name="Shape 9"/>
          <p:cNvSpPr/>
          <p:nvPr/>
        </p:nvSpPr>
        <p:spPr>
          <a:xfrm>
            <a:off x="365760" y="3026664"/>
            <a:ext cx="8412480" cy="777240"/>
          </a:xfrm>
          <a:prstGeom prst="roundRect">
            <a:avLst>
              <a:gd name="adj" fmla="val 11765"/>
            </a:avLst>
          </a:prstGeom>
          <a:solidFill>
            <a:srgbClr val="FEF6E8"/>
          </a:solidFill>
          <a:ln w="12700">
            <a:solidFill>
              <a:srgbClr val="C7922C"/>
            </a:solidFill>
            <a:prstDash val="solid"/>
          </a:ln>
        </p:spPr>
      </p:sp>
      <p:sp>
        <p:nvSpPr>
          <p:cNvPr id="12" name="Text 10"/>
          <p:cNvSpPr/>
          <p:nvPr/>
        </p:nvSpPr>
        <p:spPr>
          <a:xfrm>
            <a:off x="548640" y="3099816"/>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50" i="1" dirty="0">
                <a:solidFill>
                  <a:srgbClr val="1E293B"/>
                </a:solidFill>
                <a:latin typeface="Calibri" pitchFamily="34" charset="0"/>
                <a:ea typeface="Calibri" pitchFamily="34" charset="-122"/>
                <a:cs typeface="Calibri" pitchFamily="34" charset="-120"/>
              </a:rPr>
              <a:t>Write five sentences about Chapters 10–12. Each sentence must include an abstract noun formed with one of the three suffixes. Use –ity at least twice, –ment at least once, and –ness at least once. Underline the abstract noun in each sentence and note the suffix in parentheses.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Transitions — Identify Stressed Syllables</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HOW·ev·er · THERE·fore · fur·THER·more · MEAN·while</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nev·er·THE·less · con·SE·quent·ly · in CON·trast · as a re·SULT</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Notice that multi-word phrases ( in contrast , as a result ) are two or three separate words — but function as one transition unit.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28 — Chapter 11: Jamoka Jack</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28 — Chapter 11: Jamoka Jack</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11 is the arrival chapter — 15,000 miles and they finally stand in the diggings. Fleischman deliberately makes this a scene of muddy, icy, hard work rather than instant triumph. Watch how he makes a thimbleful of gold feel like a victory. Notice also how Pitch-pine Billy’s use of Praiseworthy’s umbrella as a gold pan captures something important about how the old world and the new collide throughout the novel.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11 — “Jamoka Jack”</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Hangtown is described with vivid specific detail — the dogs, the store shacks on wood pilings, the men who come-and-go. How does Fleischman’s Hangtown compare to what Jack imagined? What is the gap between the dream and the reality?</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Pitch-pine Billy uses Praiseworthy’s umbrella as a gold pan. Praiseworthy watches “with a kind of quiet horror.” What has the umbrella represented throughout the story — and what does its ruin-as-gold-pan say about who Praiseworthy has become?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By the end of Chapter 11, Jack and Praiseworthy have a thimbleful of gold. Given what we know — two months left, Aunt Arabella’s house at stake — how does Fleischman keep this from feeling like a failure? What narrative technique does he use?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LITERARY RESPONSE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Add a second piece of evidence to your literary response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Draft your literary response. Make a clear theme claim and support it with evidence.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