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Week 32 Day 2 — Fluency Excerpt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Why does reading something aloud change how you understand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Journal warm-up before diving into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no answer required — discuss why each part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"i chose this passage because it captures something I couldn't explain any other way when praiseworthy says the words i feel them differently than when i read them and I think that's what fluency means"
Corrected: "I chose this passage because it captures something I couldn't explain any other way. When Praiseworthy says the words, I feel them differently than when I read them — and I think that's what fluency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"i chose this passage because it captures something I couldn't explain any other way when praiseworthy says the words i feel them differently than when i read them and I think that's what fluency means"
Corrected: "I chose this passage because it captures something I couldn't explain any other way. When Praiseworthy says the words, I feel them differently than when I read them — and I think that's what fluency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Graded SWYK strand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journal reflection — no formal grading.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journal reflection — no formal grading.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concept for today's reading/project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journal prompt — students respond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journal prompt — students respond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journal prompt — students respond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progress: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writing time — this is the day's graded writing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checklist before students submit to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34B76F">
              <a:alpha val="15000"/>
            </a:srgbClr>
          </a:solidFill>
          <a:ln/>
        </p:spPr>
      </p:sp>
      <p:sp>
        <p:nvSpPr>
          <p:cNvPr id="3" name="Text 1"/>
          <p:cNvSpPr/>
          <p:nvPr/>
        </p:nvSpPr>
        <p:spPr>
          <a:xfrm>
            <a:off x="457200" y="457200"/>
            <a:ext cx="8229600" cy="365760"/>
          </a:xfrm>
          <a:prstGeom prst="rect">
            <a:avLst/>
          </a:prstGeom>
          <a:noFill/>
          <a:ln/>
        </p:spPr>
        <p:txBody>
          <a:bodyPr wrap="square" lIns="0" tIns="0" rIns="0" bIns="0" rtlCol="0" anchor="ctr"/>
          <a:lstStyle/>
          <a:p>
            <a:pPr algn="l" indent="0" marL="0">
              <a:buNone/>
            </a:pPr>
            <a:r>
              <a:rPr lang="en-US" sz="1300" b="1" spc="400" kern="0" dirty="0">
                <a:solidFill>
                  <a:srgbClr val="34B76F"/>
                </a:solidFill>
                <a:latin typeface="Calibri" pitchFamily="34" charset="0"/>
                <a:ea typeface="Calibri" pitchFamily="34" charset="-122"/>
                <a:cs typeface="Calibri" pitchFamily="34" charset="-120"/>
              </a:rPr>
              <a:t>WEEK 32  ·  DAY 2</a:t>
            </a:r>
            <a:endParaRPr lang="en-US" sz="1300" dirty="0"/>
          </a:p>
        </p:txBody>
      </p:sp>
      <p:sp>
        <p:nvSpPr>
          <p:cNvPr id="4" name="Text 2"/>
          <p:cNvSpPr/>
          <p:nvPr/>
        </p:nvSpPr>
        <p:spPr>
          <a:xfrm>
            <a:off x="457200" y="822960"/>
            <a:ext cx="8229600" cy="36576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Year-End Synthesis · 5th Grade ELA</a:t>
            </a:r>
            <a:endParaRPr lang="en-US" sz="1400" dirty="0"/>
          </a:p>
        </p:txBody>
      </p:sp>
      <p:sp>
        <p:nvSpPr>
          <p:cNvPr id="5" name="Text 3"/>
          <p:cNvSpPr/>
          <p:nvPr/>
        </p:nvSpPr>
        <p:spPr>
          <a:xfrm>
            <a:off x="457200" y="1234440"/>
            <a:ext cx="8229600" cy="128016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Fluency Excerpt Performance</a:t>
            </a:r>
            <a:endParaRPr lang="en-US" sz="3000" dirty="0"/>
          </a:p>
        </p:txBody>
      </p:sp>
      <p:sp>
        <p:nvSpPr>
          <p:cNvPr id="6" name="Text 4"/>
          <p:cNvSpPr/>
          <p:nvPr/>
        </p:nvSpPr>
        <p:spPr>
          <a:xfrm>
            <a:off x="457200" y="2468880"/>
            <a:ext cx="8229600" cy="548640"/>
          </a:xfrm>
          <a:prstGeom prst="rect">
            <a:avLst/>
          </a:prstGeom>
          <a:noFill/>
          <a:ln/>
        </p:spPr>
        <p:txBody>
          <a:bodyPr wrap="square" lIns="0" tIns="0" rIns="0" bIns="0" rtlCol="0" anchor="ctr"/>
          <a:lstStyle/>
          <a:p>
            <a:pPr algn="l" indent="0" marL="0">
              <a:buNone/>
            </a:pPr>
            <a:r>
              <a:rPr lang="en-US" sz="1400" i="1" dirty="0">
                <a:solidFill>
                  <a:srgbClr val="34B76F"/>
                </a:solidFill>
                <a:latin typeface="Georgia" pitchFamily="34" charset="0"/>
                <a:ea typeface="Georgia" pitchFamily="34" charset="-122"/>
                <a:cs typeface="Georgia" pitchFamily="34" charset="-120"/>
              </a:rPr>
              <a:t>Read your favorite passage — and draft your portfolio</a:t>
            </a:r>
            <a:endParaRPr lang="en-US" sz="1400" dirty="0"/>
          </a:p>
        </p:txBody>
      </p:sp>
      <p:sp>
        <p:nvSpPr>
          <p:cNvPr id="7" name="Text 5"/>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Year-End Synthesis  ·  Portfolio &amp; Presentation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Today's Big Question</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365760" y="914400"/>
            <a:ext cx="8412480" cy="1188720"/>
          </a:xfrm>
          <a:prstGeom prst="roundRect">
            <a:avLst>
              <a:gd name="adj" fmla="val 7692"/>
            </a:avLst>
          </a:prstGeom>
          <a:solidFill>
            <a:srgbClr val="F0E8FF"/>
          </a:solidFill>
          <a:ln/>
          <a:effectLst>
            <a:outerShdw sx="100000" sy="100000" kx="0" ky="0" algn="bl" rotWithShape="0" blurRad="101600" dist="38100" dir="2700000">
              <a:srgbClr val="000000">
                <a:alpha val="12000"/>
              </a:srgbClr>
            </a:outerShdw>
          </a:effectLst>
        </p:spPr>
      </p:sp>
      <p:sp>
        <p:nvSpPr>
          <p:cNvPr id="5" name="Text 3"/>
          <p:cNvSpPr/>
          <p:nvPr/>
        </p:nvSpPr>
        <p:spPr>
          <a:xfrm>
            <a:off x="594360" y="1024128"/>
            <a:ext cx="7955280" cy="969264"/>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Why does reading something aloud change how you understand it?</a:t>
            </a:r>
            <a:endParaRPr lang="en-US" sz="1600" dirty="0"/>
          </a:p>
        </p:txBody>
      </p:sp>
      <p:sp>
        <p:nvSpPr>
          <p:cNvPr id="6" name="Text 4"/>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TODAY'S ARC</a:t>
            </a:r>
            <a:endParaRPr lang="en-US" sz="1100" dirty="0"/>
          </a:p>
        </p:txBody>
      </p:sp>
      <p:sp>
        <p:nvSpPr>
          <p:cNvPr id="7" name="Shape 5"/>
          <p:cNvSpPr/>
          <p:nvPr/>
        </p:nvSpPr>
        <p:spPr>
          <a:xfrm>
            <a:off x="365760" y="2578608"/>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633472"/>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SWYK: </a:t>
            </a:r>
            <a:pPr indent="0" marL="0">
              <a:buNone/>
            </a:pPr>
            <a:r>
              <a:rPr lang="en-US" sz="1200" dirty="0">
                <a:solidFill>
                  <a:srgbClr val="1E293B"/>
                </a:solidFill>
                <a:latin typeface="Calibri" pitchFamily="34" charset="0"/>
                <a:ea typeface="Calibri" pitchFamily="34" charset="-122"/>
                <a:cs typeface="Calibri" pitchFamily="34" charset="-120"/>
              </a:rPr>
              <a:t>I will edit my Reader's Portrait for all conventions.</a:t>
            </a:r>
            <a:endParaRPr lang="en-US" sz="1500" dirty="0"/>
          </a:p>
        </p:txBody>
      </p:sp>
      <p:sp>
        <p:nvSpPr>
          <p:cNvPr id="9" name="Shape 7"/>
          <p:cNvSpPr/>
          <p:nvPr/>
        </p:nvSpPr>
        <p:spPr>
          <a:xfrm>
            <a:off x="365760" y="327355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328416"/>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Fluency: </a:t>
            </a:r>
            <a:pPr indent="0" marL="0">
              <a:buNone/>
            </a:pPr>
            <a:r>
              <a:rPr lang="en-US" sz="1200" dirty="0">
                <a:solidFill>
                  <a:srgbClr val="1E293B"/>
                </a:solidFill>
                <a:latin typeface="Calibri" pitchFamily="34" charset="0"/>
                <a:ea typeface="Calibri" pitchFamily="34" charset="-122"/>
                <a:cs typeface="Calibri" pitchFamily="34" charset="-120"/>
              </a:rPr>
              <a:t>I will practice and record my favorite excerpt from the year.</a:t>
            </a:r>
            <a:endParaRPr lang="en-US" sz="1500" dirty="0"/>
          </a:p>
        </p:txBody>
      </p:sp>
      <p:sp>
        <p:nvSpPr>
          <p:cNvPr id="11" name="Shape 9"/>
          <p:cNvSpPr/>
          <p:nvPr/>
        </p:nvSpPr>
        <p:spPr>
          <a:xfrm>
            <a:off x="365760" y="3968496"/>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4023360"/>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Portfolio: </a:t>
            </a:r>
            <a:pPr indent="0" marL="0">
              <a:buNone/>
            </a:pPr>
            <a:r>
              <a:rPr lang="en-US" sz="1200" dirty="0">
                <a:solidFill>
                  <a:srgbClr val="1E293B"/>
                </a:solidFill>
                <a:latin typeface="Calibri" pitchFamily="34" charset="0"/>
                <a:ea typeface="Calibri" pitchFamily="34" charset="-122"/>
                <a:cs typeface="Calibri" pitchFamily="34" charset="-120"/>
              </a:rPr>
              <a:t>I will draft all three parts of my year-end portfolio.</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Reading Journal — Before You Begin</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REFLECT FIRST</a:t>
            </a:r>
            <a:endParaRPr lang="en-US" sz="1100" dirty="0"/>
          </a:p>
        </p:txBody>
      </p:sp>
      <p:sp>
        <p:nvSpPr>
          <p:cNvPr id="5" name="Shape 3"/>
          <p:cNvSpPr/>
          <p:nvPr/>
        </p:nvSpPr>
        <p:spPr>
          <a:xfrm>
            <a:off x="365760" y="1097280"/>
            <a:ext cx="8412480" cy="2194560"/>
          </a:xfrm>
          <a:prstGeom prst="roundRect">
            <a:avLst>
              <a:gd name="adj" fmla="val 4167"/>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920240"/>
          </a:xfrm>
          <a:prstGeom prst="rect">
            <a:avLst/>
          </a:prstGeom>
          <a:noFill/>
          <a:ln/>
        </p:spPr>
        <p:txBody>
          <a:bodyPr wrap="square" lIns="0" tIns="0" rIns="0" bIns="0" rtlCol="0" anchor="t"/>
          <a:lstStyle/>
          <a:p>
            <a:pPr indent="0" marL="0">
              <a:buNone/>
            </a:pPr>
            <a:r>
              <a:rPr lang="en-US" sz="1600" i="1" dirty="0">
                <a:solidFill>
                  <a:srgbClr val="1E293B"/>
                </a:solidFill>
                <a:latin typeface="Georgia" pitchFamily="34" charset="0"/>
                <a:ea typeface="Georgia" pitchFamily="34" charset="-122"/>
                <a:cs typeface="Georgia" pitchFamily="34" charset="-120"/>
              </a:rPr>
              <a:t>Think about your chosen passage from the year. What will make this excerpt land for a listener who hasn't read the book? What do they need to know first — and what should you let the words do on their own?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Study What's Right</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MODEL SENTENCE</a:t>
            </a:r>
            <a:endParaRPr lang="en-US" sz="1100" dirty="0"/>
          </a:p>
        </p:txBody>
      </p:sp>
      <p:sp>
        <p:nvSpPr>
          <p:cNvPr id="5" name="Shape 3"/>
          <p:cNvSpPr/>
          <p:nvPr/>
        </p:nvSpPr>
        <p:spPr>
          <a:xfrm>
            <a:off x="365760" y="1078992"/>
            <a:ext cx="8412480" cy="1051560"/>
          </a:xfrm>
          <a:prstGeom prst="roundRect">
            <a:avLst>
              <a:gd name="adj" fmla="val 8696"/>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82296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When a reader performs a passage well, the listener does not hear words — they hear the character, the moment, the weight of everything that came before it.</a:t>
            </a:r>
            <a:endParaRPr lang="en-US" sz="15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THIS TEACHES</a:t>
            </a:r>
            <a:endParaRPr lang="en-US" sz="1100" dirty="0"/>
          </a:p>
        </p:txBody>
      </p:sp>
      <p:sp>
        <p:nvSpPr>
          <p:cNvPr id="8" name="Shape 6"/>
          <p:cNvSpPr/>
          <p:nvPr/>
        </p:nvSpPr>
        <p:spPr>
          <a:xfrm>
            <a:off x="365760" y="2560320"/>
            <a:ext cx="8412480" cy="1737360"/>
          </a:xfrm>
          <a:prstGeom prst="roundRect">
            <a:avLst>
              <a:gd name="adj" fmla="val 5263"/>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0048"/>
            <a:ext cx="8046720" cy="1517904"/>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Dependent clause opener using "when" — complex sentence, cause-and-effect structure. The comma after the dependent clause is essential. The grammar of persuasion and explanation.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Fix It</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1051560"/>
          </a:xfrm>
          <a:prstGeom prst="roundRect">
            <a:avLst>
              <a:gd name="adj" fmla="val 8696"/>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82296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i chose this passage because it captures something I couldn't explain any other way when praiseworthy says the words i feel them differently than when i read them and I think that's what fluency means</a:t>
            </a:r>
            <a:endParaRPr lang="en-US" sz="1500" dirty="0"/>
          </a:p>
        </p:txBody>
      </p:sp>
      <p:sp>
        <p:nvSpPr>
          <p:cNvPr id="9" name="Text 7"/>
          <p:cNvSpPr/>
          <p:nvPr/>
        </p:nvSpPr>
        <p:spPr>
          <a:xfrm>
            <a:off x="457200" y="224028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Fix It</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1051560"/>
          </a:xfrm>
          <a:prstGeom prst="roundRect">
            <a:avLst>
              <a:gd name="adj" fmla="val 8696"/>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82296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i chose this passage because it captures something I couldn't explain any other way when praiseworthy says the words i feel them differently than when i read them and I think that's what fluency means</a:t>
            </a:r>
            <a:endParaRPr lang="en-US" sz="1500" dirty="0"/>
          </a:p>
        </p:txBody>
      </p:sp>
      <p:sp>
        <p:nvSpPr>
          <p:cNvPr id="9" name="Text 7"/>
          <p:cNvSpPr/>
          <p:nvPr/>
        </p:nvSpPr>
        <p:spPr>
          <a:xfrm>
            <a:off x="457200" y="224028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743200"/>
            <a:ext cx="8412480" cy="1737360"/>
          </a:xfrm>
          <a:prstGeom prst="roundRect">
            <a:avLst>
              <a:gd name="adj" fmla="val 526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8346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3127248"/>
            <a:ext cx="7955280" cy="1234440"/>
          </a:xfrm>
          <a:prstGeom prst="rect">
            <a:avLst/>
          </a:prstGeom>
          <a:noFill/>
          <a:ln/>
        </p:spPr>
        <p:txBody>
          <a:bodyPr wrap="square" lIns="0" tIns="0" rIns="0" bIns="0" rtlCol="0" anchor="t"/>
          <a:lstStyle/>
          <a:p>
            <a:pPr indent="0" marL="0">
              <a:buNone/>
            </a:pPr>
            <a:r>
              <a:rPr lang="en-US" sz="1300" b="1" i="1" dirty="0">
                <a:solidFill>
                  <a:srgbClr val="1E293B"/>
                </a:solidFill>
                <a:latin typeface="Calibri" pitchFamily="34" charset="0"/>
                <a:ea typeface="Calibri" pitchFamily="34" charset="-122"/>
                <a:cs typeface="Calibri" pitchFamily="34" charset="-120"/>
              </a:rPr>
              <a:t>I chose this passage because it captures something I couldn't explain any other way. When Praiseworthy says the words, I feel them differently than when I read them — and I think that's what fluency means.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Grammar: Final Editing Review — SWYK</a:t>
            </a:r>
            <a:endParaRPr lang="en-US" sz="24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0467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Edit your own writing before submitting it</a:t>
            </a:r>
            <a:endParaRPr lang="en-US" sz="1100" dirty="0"/>
          </a:p>
        </p:txBody>
      </p:sp>
      <p:sp>
        <p:nvSpPr>
          <p:cNvPr id="5" name="Shape 3"/>
          <p:cNvSpPr/>
          <p:nvPr/>
        </p:nvSpPr>
        <p:spPr>
          <a:xfrm>
            <a:off x="365760" y="107899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24712"/>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 Punctuation: commas in compound/complex sentences · dialogue · apostrophes · semicolons · em dashes</a:t>
            </a:r>
            <a:endParaRPr lang="en-US" sz="1150" dirty="0"/>
          </a:p>
        </p:txBody>
      </p:sp>
      <p:sp>
        <p:nvSpPr>
          <p:cNvPr id="7" name="Shape 5"/>
          <p:cNvSpPr/>
          <p:nvPr/>
        </p:nvSpPr>
        <p:spPr>
          <a:xfrm>
            <a:off x="365760" y="1645920"/>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691640"/>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 Capitalization: proper nouns · titles · first words of sentences and quotations</a:t>
            </a:r>
            <a:endParaRPr lang="en-US" sz="1150" dirty="0"/>
          </a:p>
        </p:txBody>
      </p:sp>
      <p:sp>
        <p:nvSpPr>
          <p:cNvPr id="9" name="Shape 7"/>
          <p:cNvSpPr/>
          <p:nvPr/>
        </p:nvSpPr>
        <p:spPr>
          <a:xfrm>
            <a:off x="365760" y="2212848"/>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58568"/>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 Clarity: no run-ons · no dangling modifiers · consistent verb tense</a:t>
            </a:r>
            <a:endParaRPr lang="en-US" sz="1150" dirty="0"/>
          </a:p>
        </p:txBody>
      </p:sp>
      <p:sp>
        <p:nvSpPr>
          <p:cNvPr id="11" name="Shape 9"/>
          <p:cNvSpPr/>
          <p:nvPr/>
        </p:nvSpPr>
        <p:spPr>
          <a:xfrm>
            <a:off x="365760" y="2779776"/>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25496"/>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 Sentence variety: mix of short and long · different openers</a:t>
            </a:r>
            <a:endParaRPr lang="en-US" sz="1150" dirty="0"/>
          </a:p>
        </p:txBody>
      </p:sp>
      <p:sp>
        <p:nvSpPr>
          <p:cNvPr id="13" name="Shape 11"/>
          <p:cNvSpPr/>
          <p:nvPr/>
        </p:nvSpPr>
        <p:spPr>
          <a:xfrm>
            <a:off x="365760" y="3419856"/>
            <a:ext cx="8412480" cy="1371600"/>
          </a:xfrm>
          <a:prstGeom prst="roundRect">
            <a:avLst>
              <a:gd name="adj" fmla="val 6667"/>
            </a:avLst>
          </a:prstGeom>
          <a:solidFill>
            <a:srgbClr val="FEF6E8"/>
          </a:solidFill>
          <a:ln w="12700">
            <a:solidFill>
              <a:srgbClr val="C7922C"/>
            </a:solidFill>
            <a:prstDash val="solid"/>
          </a:ln>
        </p:spPr>
      </p:sp>
      <p:sp>
        <p:nvSpPr>
          <p:cNvPr id="14" name="Text 12"/>
          <p:cNvSpPr/>
          <p:nvPr/>
        </p:nvSpPr>
        <p:spPr>
          <a:xfrm>
            <a:off x="548640" y="3493008"/>
            <a:ext cx="8046720" cy="1225296"/>
          </a:xfrm>
          <a:prstGeom prst="rect">
            <a:avLst/>
          </a:prstGeom>
          <a:noFill/>
          <a:ln/>
        </p:spPr>
        <p:txBody>
          <a:bodyPr wrap="square" lIns="0" tIns="0" rIns="0" bIns="0" rtlCol="0" anchor="t"/>
          <a:lstStyle/>
          <a:p>
            <a:pPr indent="0" marL="0">
              <a:buNone/>
            </a:pPr>
            <a:r>
              <a:rPr lang="en-US" sz="1100" b="1" dirty="0">
                <a:solidFill>
                  <a:srgbClr val="C7922C"/>
                </a:solidFill>
                <a:latin typeface="Calibri" pitchFamily="34" charset="0"/>
                <a:ea typeface="Calibri" pitchFamily="34" charset="-122"/>
                <a:cs typeface="Calibri" pitchFamily="34" charset="-120"/>
              </a:rPr>
              <a:t>🫖 Show What You Know
</a:t>
            </a:r>
            <a:pPr indent="0" marL="0">
              <a:buNone/>
            </a:pPr>
            <a:r>
              <a:rPr lang="en-US" sz="1100" i="1" dirty="0">
                <a:solidFill>
                  <a:srgbClr val="1E293B"/>
                </a:solidFill>
                <a:latin typeface="Calibri" pitchFamily="34" charset="0"/>
                <a:ea typeface="Calibri" pitchFamily="34" charset="-122"/>
                <a:cs typeface="Calibri" pitchFamily="34" charset="-120"/>
              </a:rPr>
              <a:t>Take your Reader's Portrait from Day 1 (Part 1 of your portfolio). Edit it carefully using the full checklist above. Then write the final corrected version — every sentence polished. Note in parentheses which corrections you made.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Morphology: Reflection &amp; Application</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365760" y="941832"/>
            <a:ext cx="8412480" cy="1005840"/>
          </a:xfrm>
          <a:prstGeom prst="roundRect">
            <a:avLst>
              <a:gd name="adj" fmla="val 9091"/>
            </a:avLst>
          </a:prstGeom>
          <a:solidFill>
            <a:srgbClr val="FEF6E8"/>
          </a:solidFill>
          <a:ln w="12700">
            <a:solidFill>
              <a:srgbClr val="C7922C"/>
            </a:solidFill>
            <a:prstDash val="solid"/>
          </a:ln>
        </p:spPr>
      </p:sp>
      <p:sp>
        <p:nvSpPr>
          <p:cNvPr id="5" name="Text 3"/>
          <p:cNvSpPr/>
          <p:nvPr/>
        </p:nvSpPr>
        <p:spPr>
          <a:xfrm>
            <a:off x="548640" y="1014984"/>
            <a:ext cx="8046720" cy="859536"/>
          </a:xfrm>
          <a:prstGeom prst="rect">
            <a:avLst/>
          </a:prstGeom>
          <a:noFill/>
          <a:ln/>
        </p:spPr>
        <p:txBody>
          <a:bodyPr wrap="square" lIns="0" tIns="0" rIns="0" bIns="0" rtlCol="0" anchor="t"/>
          <a:lstStyle/>
          <a:p>
            <a:pPr indent="0" marL="0">
              <a:buNone/>
            </a:pPr>
            <a:r>
              <a:rPr lang="en-US" sz="1100" b="1" dirty="0">
                <a:solidFill>
                  <a:srgbClr val="C7922C"/>
                </a:solidFill>
                <a:latin typeface="Calibri" pitchFamily="34" charset="0"/>
                <a:ea typeface="Calibri" pitchFamily="34" charset="-122"/>
                <a:cs typeface="Calibri" pitchFamily="34" charset="-120"/>
              </a:rPr>
              <a:t>✏️ In Your Journal
</a:t>
            </a:r>
            <a:pPr indent="0" marL="0">
              <a:buNone/>
            </a:pPr>
            <a:r>
              <a:rPr lang="en-US" sz="1100" i="1" dirty="0">
                <a:solidFill>
                  <a:srgbClr val="1E293B"/>
                </a:solidFill>
                <a:latin typeface="Calibri" pitchFamily="34" charset="0"/>
                <a:ea typeface="Calibri" pitchFamily="34" charset="-122"/>
                <a:cs typeface="Calibri" pitchFamily="34" charset="-120"/>
              </a:rPr>
              <a:t>Find one word with a unit root in your portfolio draft (any part). Underline the root, name the root family it's from (with week number), and explain in one sentence how the root gives you the word's meaning.</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Spelling: Final Review — Words in Your Draft</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365760" y="86868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5" name="Text 3"/>
          <p:cNvSpPr/>
          <p:nvPr/>
        </p:nvSpPr>
        <p:spPr>
          <a:xfrm>
            <a:off x="548640" y="914400"/>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fortitude · tenacious · ludicrous · notoriety · exuberance · consequently · nevertheless · validity · persistence · extraction · descriptive · spirited · reconcile · reunion · reprieve · counsel · exasperation · beneficial · latitude · celestial · defiance · rebellion · apprentice · conviction · declaration</a:t>
            </a:r>
            <a:endParaRPr lang="en-US" sz="1150" dirty="0"/>
          </a:p>
        </p:txBody>
      </p:sp>
      <p:sp>
        <p:nvSpPr>
          <p:cNvPr id="6" name="Shape 4"/>
          <p:cNvSpPr/>
          <p:nvPr/>
        </p:nvSpPr>
        <p:spPr>
          <a:xfrm>
            <a:off x="365760" y="1508760"/>
            <a:ext cx="8412480" cy="1005840"/>
          </a:xfrm>
          <a:prstGeom prst="roundRect">
            <a:avLst>
              <a:gd name="adj" fmla="val 9091"/>
            </a:avLst>
          </a:prstGeom>
          <a:solidFill>
            <a:srgbClr val="FEF6E8"/>
          </a:solidFill>
          <a:ln w="12700">
            <a:solidFill>
              <a:srgbClr val="C7922C"/>
            </a:solidFill>
            <a:prstDash val="solid"/>
          </a:ln>
        </p:spPr>
      </p:sp>
      <p:sp>
        <p:nvSpPr>
          <p:cNvPr id="7" name="Text 5"/>
          <p:cNvSpPr/>
          <p:nvPr/>
        </p:nvSpPr>
        <p:spPr>
          <a:xfrm>
            <a:off x="548640" y="1581912"/>
            <a:ext cx="8046720" cy="859536"/>
          </a:xfrm>
          <a:prstGeom prst="rect">
            <a:avLst/>
          </a:prstGeom>
          <a:noFill/>
          <a:ln/>
        </p:spPr>
        <p:txBody>
          <a:bodyPr wrap="square" lIns="0" tIns="0" rIns="0" bIns="0" rtlCol="0" anchor="t"/>
          <a:lstStyle/>
          <a:p>
            <a:pPr indent="0" marL="0">
              <a:buNone/>
            </a:pPr>
            <a:r>
              <a:rPr lang="en-US" sz="1100" b="1" dirty="0">
                <a:solidFill>
                  <a:srgbClr val="C7922C"/>
                </a:solidFill>
                <a:latin typeface="Calibri" pitchFamily="34" charset="0"/>
                <a:ea typeface="Calibri" pitchFamily="34" charset="-122"/>
                <a:cs typeface="Calibri" pitchFamily="34" charset="-120"/>
              </a:rPr>
              <a:t>✏️ In Your Journal
</a:t>
            </a:r>
            <a:pPr indent="0" marL="0">
              <a:buNone/>
            </a:pPr>
            <a:r>
              <a:rPr lang="en-US" sz="1100" i="1" dirty="0">
                <a:solidFill>
                  <a:srgbClr val="1E293B"/>
                </a:solidFill>
                <a:latin typeface="Calibri" pitchFamily="34" charset="0"/>
                <a:ea typeface="Calibri" pitchFamily="34" charset="-122"/>
                <a:cs typeface="Calibri" pitchFamily="34" charset="-120"/>
              </a:rPr>
              <a:t>Scan your portfolio draft for any word from the final spelling list. Check its spelling. If you find a misspelling, correct it. Write a list of every unit word you used in your portfolio — correctly spelled.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Your Favorite Fluency Excerpt: The Performance</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0467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Introduce it, read it, explain it — in your own voice</a:t>
            </a:r>
            <a:endParaRPr lang="en-US" sz="1100" dirty="0"/>
          </a:p>
        </p:txBody>
      </p:sp>
      <p:sp>
        <p:nvSpPr>
          <p:cNvPr id="5" name="Shape 3"/>
          <p:cNvSpPr/>
          <p:nvPr/>
        </p:nvSpPr>
        <p:spPr>
          <a:xfrm>
            <a:off x="365760" y="105156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097280"/>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Part A — Introduction (30 sec): "I chose this passage from [title] by [author]. It's from [chapter/moment]. Before I read, I want you to know: [one sentence of context]."</a:t>
            </a:r>
            <a:endParaRPr lang="en-US" sz="1100" dirty="0"/>
          </a:p>
        </p:txBody>
      </p:sp>
      <p:sp>
        <p:nvSpPr>
          <p:cNvPr id="7" name="Shape 5"/>
          <p:cNvSpPr/>
          <p:nvPr/>
        </p:nvSpPr>
        <p:spPr>
          <a:xfrm>
            <a:off x="365760" y="1618488"/>
            <a:ext cx="8412480" cy="512064"/>
          </a:xfrm>
          <a:prstGeom prst="roundRect">
            <a:avLst>
              <a:gd name="adj" fmla="val 17857"/>
            </a:avLst>
          </a:prstGeom>
          <a:solidFill>
            <a:srgbClr val="F0F8F2"/>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664208"/>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Part B — The Reading (60–90 sec): Read your chosen excerpt aloud with full accuracy, smoothness, and expression. Let characters sound like themselves. Pause before important lines.</a:t>
            </a:r>
            <a:endParaRPr lang="en-US" sz="1100" dirty="0"/>
          </a:p>
        </p:txBody>
      </p:sp>
      <p:sp>
        <p:nvSpPr>
          <p:cNvPr id="9" name="Shape 7"/>
          <p:cNvSpPr/>
          <p:nvPr/>
        </p:nvSpPr>
        <p:spPr>
          <a:xfrm>
            <a:off x="365760" y="218541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31136"/>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Part C — The Reflection (30 sec): "What this passage shows is [one thing]. I'm glad I read this book because [one sentence only YOU could say]."</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Fluency Question 1</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Shape 4"/>
          <p:cNvSpPr/>
          <p:nvPr/>
        </p:nvSpPr>
        <p:spPr>
          <a:xfrm>
            <a:off x="365760" y="914400"/>
            <a:ext cx="8412480" cy="3291840"/>
          </a:xfrm>
          <a:prstGeom prst="roundRect">
            <a:avLst>
              <a:gd name="adj" fmla="val 2778"/>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594360" y="1051560"/>
            <a:ext cx="7955280" cy="301752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Write your spoken introduction for your excerpt — the 2–3 sentences you'll say before you read. It should name the book, give exactly enough context, and end with a reason that makes the listener want to hear the passage.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Fluency Question 2</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Shape 4"/>
          <p:cNvSpPr/>
          <p:nvPr/>
        </p:nvSpPr>
        <p:spPr>
          <a:xfrm>
            <a:off x="365760" y="914400"/>
            <a:ext cx="8412480" cy="3291840"/>
          </a:xfrm>
          <a:prstGeom prst="roundRect">
            <a:avLst>
              <a:gd name="adj" fmla="val 2778"/>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594360" y="1051560"/>
            <a:ext cx="7955280" cy="301752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Write your spoken reflection — the 1–2 sentences you'll say after you read. Not a summary. Not generic praise. Something specific about what this passage showed you.</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Fluency Question 3</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Shape 4"/>
          <p:cNvSpPr/>
          <p:nvPr/>
        </p:nvSpPr>
        <p:spPr>
          <a:xfrm>
            <a:off x="365760" y="914400"/>
            <a:ext cx="8412480" cy="3291840"/>
          </a:xfrm>
          <a:prstGeom prst="roundRect">
            <a:avLst>
              <a:gd name="adj" fmla="val 2778"/>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594360" y="1051560"/>
            <a:ext cx="7955280" cy="301752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Write a self-assessment of your oral reading practice today. What went well? What was hard? What will you do differently in tomorrow's final recording?</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Project Workshop</a:t>
            </a:r>
            <a:endParaRPr lang="en-US" sz="24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22960"/>
            <a:ext cx="2029968" cy="384048"/>
          </a:xfrm>
          <a:prstGeom prst="roundRect">
            <a:avLst>
              <a:gd name="adj" fmla="val 47619"/>
            </a:avLst>
          </a:prstGeom>
          <a:solidFill>
            <a:srgbClr val="34B76F"/>
          </a:solidFill>
          <a:ln/>
        </p:spPr>
      </p:sp>
      <p:sp>
        <p:nvSpPr>
          <p:cNvPr id="5" name="Text 3"/>
          <p:cNvSpPr/>
          <p:nvPr/>
        </p:nvSpPr>
        <p:spPr>
          <a:xfrm>
            <a:off x="365760" y="822960"/>
            <a:ext cx="2029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Plan</a:t>
            </a:r>
            <a:endParaRPr lang="en-US" sz="1100" dirty="0"/>
          </a:p>
        </p:txBody>
      </p:sp>
      <p:sp>
        <p:nvSpPr>
          <p:cNvPr id="6" name="Shape 4"/>
          <p:cNvSpPr/>
          <p:nvPr/>
        </p:nvSpPr>
        <p:spPr>
          <a:xfrm>
            <a:off x="2468880" y="822960"/>
            <a:ext cx="2029968" cy="384048"/>
          </a:xfrm>
          <a:prstGeom prst="roundRect">
            <a:avLst>
              <a:gd name="adj" fmla="val 47619"/>
            </a:avLst>
          </a:prstGeom>
          <a:solidFill>
            <a:srgbClr val="C7922C"/>
          </a:solidFill>
          <a:ln/>
        </p:spPr>
      </p:sp>
      <p:sp>
        <p:nvSpPr>
          <p:cNvPr id="7" name="Text 5"/>
          <p:cNvSpPr/>
          <p:nvPr/>
        </p:nvSpPr>
        <p:spPr>
          <a:xfrm>
            <a:off x="2468880" y="822960"/>
            <a:ext cx="2029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Draft</a:t>
            </a:r>
            <a:endParaRPr lang="en-US" sz="1100" dirty="0"/>
          </a:p>
        </p:txBody>
      </p:sp>
      <p:sp>
        <p:nvSpPr>
          <p:cNvPr id="8" name="Shape 6"/>
          <p:cNvSpPr/>
          <p:nvPr/>
        </p:nvSpPr>
        <p:spPr>
          <a:xfrm>
            <a:off x="4572000" y="822960"/>
            <a:ext cx="2029968" cy="384048"/>
          </a:xfrm>
          <a:prstGeom prst="roundRect">
            <a:avLst>
              <a:gd name="adj" fmla="val 47619"/>
            </a:avLst>
          </a:prstGeom>
          <a:solidFill>
            <a:srgbClr val="E2E8F4"/>
          </a:solidFill>
          <a:ln/>
        </p:spPr>
      </p:sp>
      <p:sp>
        <p:nvSpPr>
          <p:cNvPr id="9" name="Text 7"/>
          <p:cNvSpPr/>
          <p:nvPr/>
        </p:nvSpPr>
        <p:spPr>
          <a:xfrm>
            <a:off x="4572000" y="822960"/>
            <a:ext cx="2029968" cy="384048"/>
          </a:xfrm>
          <a:prstGeom prst="rect">
            <a:avLst/>
          </a:prstGeom>
          <a:noFill/>
          <a:ln/>
        </p:spPr>
        <p:txBody>
          <a:bodyPr wrap="square" lIns="0" tIns="0" rIns="0" bIns="0" rtlCol="0" anchor="ctr"/>
          <a:lstStyle/>
          <a:p>
            <a:pPr algn="ctr" indent="0" marL="0">
              <a:buNone/>
            </a:pPr>
            <a:r>
              <a:rPr lang="en-US" sz="1100" b="1" dirty="0">
                <a:solidFill>
                  <a:srgbClr val="64748B"/>
                </a:solidFill>
                <a:latin typeface="Calibri" pitchFamily="34" charset="0"/>
                <a:ea typeface="Calibri" pitchFamily="34" charset="-122"/>
                <a:cs typeface="Calibri" pitchFamily="34" charset="-120"/>
              </a:rPr>
              <a:t>Revise</a:t>
            </a:r>
            <a:endParaRPr lang="en-US" sz="1100" dirty="0"/>
          </a:p>
        </p:txBody>
      </p:sp>
      <p:sp>
        <p:nvSpPr>
          <p:cNvPr id="10" name="Shape 8"/>
          <p:cNvSpPr/>
          <p:nvPr/>
        </p:nvSpPr>
        <p:spPr>
          <a:xfrm>
            <a:off x="6675120" y="822960"/>
            <a:ext cx="2029968" cy="384048"/>
          </a:xfrm>
          <a:prstGeom prst="roundRect">
            <a:avLst>
              <a:gd name="adj" fmla="val 47619"/>
            </a:avLst>
          </a:prstGeom>
          <a:solidFill>
            <a:srgbClr val="E2E8F4"/>
          </a:solidFill>
          <a:ln/>
        </p:spPr>
      </p:sp>
      <p:sp>
        <p:nvSpPr>
          <p:cNvPr id="11" name="Text 9"/>
          <p:cNvSpPr/>
          <p:nvPr/>
        </p:nvSpPr>
        <p:spPr>
          <a:xfrm>
            <a:off x="6675120" y="822960"/>
            <a:ext cx="2029968" cy="384048"/>
          </a:xfrm>
          <a:prstGeom prst="rect">
            <a:avLst/>
          </a:prstGeom>
          <a:noFill/>
          <a:ln/>
        </p:spPr>
        <p:txBody>
          <a:bodyPr wrap="square" lIns="0" tIns="0" rIns="0" bIns="0" rtlCol="0" anchor="ctr"/>
          <a:lstStyle/>
          <a:p>
            <a:pPr algn="ctr" indent="0" marL="0">
              <a:buNone/>
            </a:pPr>
            <a:r>
              <a:rPr lang="en-US" sz="1100" b="1" dirty="0">
                <a:solidFill>
                  <a:srgbClr val="64748B"/>
                </a:solidFill>
                <a:latin typeface="Calibri" pitchFamily="34" charset="0"/>
                <a:ea typeface="Calibri" pitchFamily="34" charset="-122"/>
                <a:cs typeface="Calibri" pitchFamily="34" charset="-120"/>
              </a:rPr>
              <a:t>Present</a:t>
            </a:r>
            <a:endParaRPr lang="en-US" sz="1100" dirty="0"/>
          </a:p>
        </p:txBody>
      </p:sp>
      <p:sp>
        <p:nvSpPr>
          <p:cNvPr id="12" name="Shape 10"/>
          <p:cNvSpPr/>
          <p:nvPr/>
        </p:nvSpPr>
        <p:spPr>
          <a:xfrm>
            <a:off x="365760" y="1371600"/>
            <a:ext cx="8412480" cy="868680"/>
          </a:xfrm>
          <a:prstGeom prst="roundRect">
            <a:avLst>
              <a:gd name="adj" fmla="val 10526"/>
            </a:avLst>
          </a:prstGeom>
          <a:solidFill>
            <a:srgbClr val="F0E8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1444752"/>
            <a:ext cx="8046720" cy="722376"/>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The whole portfolio should take about 3 minutes to present aloud. Write it as if you're speaking to someone who hasn't read your books — but give them a reason to care.</a:t>
            </a:r>
            <a:endParaRPr lang="en-US" sz="1150" dirty="0"/>
          </a:p>
        </p:txBody>
      </p:sp>
      <p:sp>
        <p:nvSpPr>
          <p:cNvPr id="14" name="Text 12"/>
          <p:cNvSpPr/>
          <p:nvPr/>
        </p:nvSpPr>
        <p:spPr>
          <a:xfrm>
            <a:off x="365760" y="23774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DRAFT ALL THREE PARTS TODAY</a:t>
            </a:r>
            <a:endParaRPr lang="en-US" sz="1100" dirty="0"/>
          </a:p>
        </p:txBody>
      </p:sp>
      <p:sp>
        <p:nvSpPr>
          <p:cNvPr id="15" name="Shape 13"/>
          <p:cNvSpPr/>
          <p:nvPr/>
        </p:nvSpPr>
        <p:spPr>
          <a:xfrm>
            <a:off x="365760" y="2670048"/>
            <a:ext cx="8412480" cy="457200"/>
          </a:xfrm>
          <a:prstGeom prst="roundRect">
            <a:avLst>
              <a:gd name="adj" fmla="val 20000"/>
            </a:avLst>
          </a:prstGeom>
          <a:solidFill>
            <a:srgbClr val="FEF6E8"/>
          </a:solidFill>
          <a:ln/>
          <a:effectLst>
            <a:outerShdw sx="100000" sy="100000" kx="0" ky="0" algn="bl" rotWithShape="0" blurRad="101600" dist="38100" dir="2700000">
              <a:srgbClr val="000000">
                <a:alpha val="12000"/>
              </a:srgbClr>
            </a:outerShdw>
          </a:effectLst>
        </p:spPr>
      </p:sp>
      <p:sp>
        <p:nvSpPr>
          <p:cNvPr id="16" name="Text 14"/>
          <p:cNvSpPr/>
          <p:nvPr/>
        </p:nvSpPr>
        <p:spPr>
          <a:xfrm>
            <a:off x="548640" y="2706624"/>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Part 1 (Reader's Portrait): Use your edited version from the Grammar SWYK — that's your draft for Part 1.</a:t>
            </a:r>
            <a:endParaRPr lang="en-US" sz="1050" dirty="0"/>
          </a:p>
        </p:txBody>
      </p:sp>
      <p:sp>
        <p:nvSpPr>
          <p:cNvPr id="17" name="Shape 15"/>
          <p:cNvSpPr/>
          <p:nvPr/>
        </p:nvSpPr>
        <p:spPr>
          <a:xfrm>
            <a:off x="365760" y="3182112"/>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8" name="Text 16"/>
          <p:cNvSpPr/>
          <p:nvPr/>
        </p:nvSpPr>
        <p:spPr>
          <a:xfrm>
            <a:off x="548640" y="3218688"/>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Part 2 (Text Spotlight): Written intro + your chosen excerpt copied out + written reflection.</a:t>
            </a:r>
            <a:endParaRPr lang="en-US" sz="1050" dirty="0"/>
          </a:p>
        </p:txBody>
      </p:sp>
      <p:sp>
        <p:nvSpPr>
          <p:cNvPr id="19" name="Shape 17"/>
          <p:cNvSpPr/>
          <p:nvPr/>
        </p:nvSpPr>
        <p:spPr>
          <a:xfrm>
            <a:off x="365760" y="3694176"/>
            <a:ext cx="8412480" cy="457200"/>
          </a:xfrm>
          <a:prstGeom prst="roundRect">
            <a:avLst>
              <a:gd name="adj" fmla="val 20000"/>
            </a:avLst>
          </a:prstGeom>
          <a:solidFill>
            <a:srgbClr val="FEF6E8"/>
          </a:solidFill>
          <a:ln/>
          <a:effectLst>
            <a:outerShdw sx="100000" sy="100000" kx="0" ky="0" algn="bl" rotWithShape="0" blurRad="101600" dist="38100" dir="2700000">
              <a:srgbClr val="000000">
                <a:alpha val="12000"/>
              </a:srgbClr>
            </a:outerShdw>
          </a:effectLst>
        </p:spPr>
      </p:sp>
      <p:sp>
        <p:nvSpPr>
          <p:cNvPr id="20" name="Text 18"/>
          <p:cNvSpPr/>
          <p:nvPr/>
        </p:nvSpPr>
        <p:spPr>
          <a:xfrm>
            <a:off x="548640" y="3730752"/>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Part 3 (Writer's Statement): One technique + how you applied it + what changed.</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Today's Writing Task</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WRITE NOW</a:t>
            </a:r>
            <a:endParaRPr lang="en-US" sz="1100" dirty="0"/>
          </a:p>
        </p:txBody>
      </p:sp>
      <p:sp>
        <p:nvSpPr>
          <p:cNvPr id="5" name="Shape 3"/>
          <p:cNvSpPr/>
          <p:nvPr/>
        </p:nvSpPr>
        <p:spPr>
          <a:xfrm>
            <a:off x="365760" y="1097280"/>
            <a:ext cx="8412480" cy="2651760"/>
          </a:xfrm>
          <a:prstGeom prst="roundRect">
            <a:avLst>
              <a:gd name="adj" fmla="val 3448"/>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237744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Draft all three parts here. Write in the order: Part 1 → Part 2 intro → Part 2 reflection → Part 3.</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Before You Finish</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365760" y="868680"/>
            <a:ext cx="8412480" cy="658368"/>
          </a:xfrm>
          <a:prstGeom prst="roundRect">
            <a:avLst>
              <a:gd name="adj" fmla="val 13889"/>
            </a:avLst>
          </a:prstGeom>
          <a:solidFill>
            <a:srgbClr val="F8FAFC"/>
          </a:solidFill>
          <a:ln/>
          <a:effectLst>
            <a:outerShdw sx="100000" sy="100000" kx="0" ky="0" algn="bl" rotWithShape="0" blurRad="101600" dist="38100" dir="2700000">
              <a:srgbClr val="000000">
                <a:alpha val="12000"/>
              </a:srgbClr>
            </a:outerShdw>
          </a:effectLst>
        </p:spPr>
      </p:sp>
      <p:sp>
        <p:nvSpPr>
          <p:cNvPr id="5" name="Text 3"/>
          <p:cNvSpPr/>
          <p:nvPr/>
        </p:nvSpPr>
        <p:spPr>
          <a:xfrm>
            <a:off x="548640" y="923544"/>
            <a:ext cx="8046720" cy="5486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  I answered all three fluency questions — introduction, reflection, self-assessment.</a:t>
            </a:r>
            <a:endParaRPr lang="en-US" sz="1250" dirty="0"/>
          </a:p>
        </p:txBody>
      </p:sp>
      <p:sp>
        <p:nvSpPr>
          <p:cNvPr id="6" name="Shape 4"/>
          <p:cNvSpPr/>
          <p:nvPr/>
        </p:nvSpPr>
        <p:spPr>
          <a:xfrm>
            <a:off x="365760" y="1618488"/>
            <a:ext cx="8412480" cy="658368"/>
          </a:xfrm>
          <a:prstGeom prst="roundRect">
            <a:avLst>
              <a:gd name="adj" fmla="val 13889"/>
            </a:avLst>
          </a:prstGeom>
          <a:solidFill>
            <a:srgbClr val="F4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73352"/>
            <a:ext cx="8046720" cy="5486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  I completed my Grammar SWYK: edited Reader's Portrait with all corrections noted.</a:t>
            </a:r>
            <a:endParaRPr lang="en-US" sz="1250" dirty="0"/>
          </a:p>
        </p:txBody>
      </p:sp>
      <p:sp>
        <p:nvSpPr>
          <p:cNvPr id="8" name="Shape 6"/>
          <p:cNvSpPr/>
          <p:nvPr/>
        </p:nvSpPr>
        <p:spPr>
          <a:xfrm>
            <a:off x="365760" y="2368296"/>
            <a:ext cx="8412480" cy="658368"/>
          </a:xfrm>
          <a:prstGeom prst="roundRect">
            <a:avLst>
              <a:gd name="adj" fmla="val 13889"/>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5486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  I drafted all three parts of my year-end portfolio.</a:t>
            </a:r>
            <a:endParaRPr lang="en-US" sz="1250" dirty="0"/>
          </a:p>
        </p:txBody>
      </p:sp>
      <p:sp>
        <p:nvSpPr>
          <p:cNvPr id="10" name="Shape 8"/>
          <p:cNvSpPr/>
          <p:nvPr/>
        </p:nvSpPr>
        <p:spPr>
          <a:xfrm>
            <a:off x="365760" y="3118104"/>
            <a:ext cx="8412480" cy="658368"/>
          </a:xfrm>
          <a:prstGeom prst="roundRect">
            <a:avLst>
              <a:gd name="adj" fmla="val 13889"/>
            </a:avLst>
          </a:prstGeom>
          <a:solidFill>
            <a:srgbClr val="F4F7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72968"/>
            <a:ext cx="8046720" cy="5486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  I practiced my fluency excerpt at least three times today.</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2026-07-13T17:55:36Z</dcterms:created>
  <dcterms:modified xsi:type="dcterms:W3CDTF">2026-07-13T17:55:36Z</dcterms:modified>
</cp:coreProperties>
</file>