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17 Day 2 — Draft: Conflict &amp;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Yesterday you introduced your character and setting. Today: what stands in your character’s way — and what will they say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"nathaniel's stomach dropped because if the soldier searched his coat he said only running an errand for my master sir"
Corrected: "Nathaniel's stomach dropped because if the soldier searched his coat, the letter would be found. “Only running an errand for my master, sir,” he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"nathaniel's stomach dropped because if the soldier searched his coat he said only running an errand for my master sir"
Corrected: "Nathaniel's stomach dropped because if the soldier searched his coat, the letter would be found. “Only running an errand for my master, sir,” he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Suffix Changes in Narrative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jot notes for each box before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17  ·  DAY 2</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17 · Historical Fiction Short Story</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Draft: Conflict &amp; Dialogue</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Ms. Birchum's Example (teacher-written mentor model, continued)</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Yesterday you introduced your character and setting. Today: what stands in your character’s way — and what will they say out loud?</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Writing: </a:t>
            </a:r>
            <a:pPr indent="0" marL="0">
              <a:buNone/>
            </a:pPr>
            <a:r>
              <a:rPr lang="en-US" sz="1300" dirty="0">
                <a:solidFill>
                  <a:srgbClr val="1E293B"/>
                </a:solidFill>
                <a:latin typeface="Calibri" pitchFamily="34" charset="0"/>
                <a:ea typeface="Calibri" pitchFamily="34" charset="-122"/>
                <a:cs typeface="Calibri" pitchFamily="34" charset="-120"/>
              </a:rPr>
              <a:t>I will draft the conflict and dialogue section of my historical fiction story.</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identify complex sentences that show cause and effect in sentences from the mentor model.</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sort narrative verbs by their -ed/-ing spelling change.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historical fiction writers make sure their character wants something badly, and that something real gets in the way — both outside the character and inside them.</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outside force is working against my character right now?</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is my character afraid of, on the inside?</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would my character actually say out loud in this moment?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A lantern swung around the corner before Nathaniel could move, “Where are you bound, boy, at this hour?” the soldier demanded.</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 — capital letter starts the new sentence</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comma before the closing quotation mark</a:t>
            </a:r>
            <a:endParaRPr lang="en-US" sz="12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quotation marks show the soldier’s exact spoken words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nathaniel's stomach dropped because if the soldier searched his coat he said only running an errand for my master sir</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nathaniel's stomach dropped because if the soldier searched his coat he said only running an errand for my master sir</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Nathaniel's stomach dropped because if the soldier searched his coat, the letter would be found. “Only running an errand for my master, sir,” he said.</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 letter on the character’s name; quotation marks + comma for spoken words; a run-on split into two sentences.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Poetry Corner</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Courage</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 A teacher-original poem, written for this unit</a:t>
            </a:r>
            <a:endParaRPr lang="en-US" sz="12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Courage is not the absence of shaking hands,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it is the choice to move them anyway.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It is a held breath let out slowly,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promise kept when keeping it costs something.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It is small, most days—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step taken toward the very thing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you would rather run from.</a:t>
            </a:r>
            <a:endParaRPr lang="en-US" sz="14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WHAT DO YOU NOTICE?</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What do you notice about how the poet defines courage? What feeling or image stands out to you?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narr / fic</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Practice: match words to meanings</a:t>
            </a:r>
            <a:endParaRPr lang="en-US" sz="1100" dirty="0"/>
          </a:p>
        </p:txBody>
      </p:sp>
      <p:sp>
        <p:nvSpPr>
          <p:cNvPr id="5" name="Shape 3"/>
          <p:cNvSpPr/>
          <p:nvPr/>
        </p:nvSpPr>
        <p:spPr>
          <a:xfrm>
            <a:off x="365760" y="109728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narrate — to tell a story or give an account</a:t>
            </a:r>
            <a:endParaRPr lang="en-US" sz="1200" dirty="0"/>
          </a:p>
        </p:txBody>
      </p:sp>
      <p:sp>
        <p:nvSpPr>
          <p:cNvPr id="7" name="Shape 5"/>
          <p:cNvSpPr/>
          <p:nvPr/>
        </p:nvSpPr>
        <p:spPr>
          <a:xfrm>
            <a:off x="365760" y="1618488"/>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narrator — the person telling the story</a:t>
            </a:r>
            <a:endParaRPr lang="en-US" sz="1200" dirty="0"/>
          </a:p>
        </p:txBody>
      </p:sp>
      <p:sp>
        <p:nvSpPr>
          <p:cNvPr id="9" name="Shape 7"/>
          <p:cNvSpPr/>
          <p:nvPr/>
        </p:nvSpPr>
        <p:spPr>
          <a:xfrm>
            <a:off x="365760" y="2139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85416"/>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fictional — made up, not real</a:t>
            </a:r>
            <a:endParaRPr lang="en-US" sz="1200" dirty="0"/>
          </a:p>
        </p:txBody>
      </p:sp>
      <p:sp>
        <p:nvSpPr>
          <p:cNvPr id="11" name="Shape 9"/>
          <p:cNvSpPr/>
          <p:nvPr/>
        </p:nvSpPr>
        <p:spPr>
          <a:xfrm>
            <a:off x="365760" y="2660904"/>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06624"/>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fiction — writing about imagined events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Sort or Match</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94360"/>
          </a:xfrm>
          <a:prstGeom prst="roundRect">
            <a:avLst>
              <a:gd name="adj" fmla="val 15385"/>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9264"/>
            <a:ext cx="8046720" cy="48463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setting, conflict, historical, dialogue
</a:t>
            </a:r>
            <a:pPr indent="0" marL="0">
              <a:buNone/>
            </a:pPr>
            <a:r>
              <a:rPr lang="en-US" sz="1100" i="1" dirty="0">
                <a:solidFill>
                  <a:srgbClr val="1E293B"/>
                </a:solidFill>
                <a:latin typeface="Calibri" pitchFamily="34" charset="0"/>
                <a:ea typeface="Calibri" pitchFamily="34" charset="-122"/>
                <a:cs typeface="Calibri" pitchFamily="34" charset="-120"/>
              </a:rPr>
              <a:t>The Story World</a:t>
            </a:r>
            <a:endParaRPr lang="en-US" sz="1300" dirty="0"/>
          </a:p>
        </p:txBody>
      </p:sp>
      <p:sp>
        <p:nvSpPr>
          <p:cNvPr id="6" name="Shape 4"/>
          <p:cNvSpPr/>
          <p:nvPr/>
        </p:nvSpPr>
        <p:spPr>
          <a:xfrm>
            <a:off x="365760" y="1572768"/>
            <a:ext cx="8412480" cy="594360"/>
          </a:xfrm>
          <a:prstGeom prst="roundRect">
            <a:avLst>
              <a:gd name="adj" fmla="val 15385"/>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27632"/>
            <a:ext cx="8046720" cy="48463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draft
</a:t>
            </a:r>
            <a:pPr indent="0" marL="0">
              <a:buNone/>
            </a:pPr>
            <a:r>
              <a:rPr lang="en-US" sz="1100" i="1" dirty="0">
                <a:solidFill>
                  <a:srgbClr val="1E293B"/>
                </a:solidFill>
                <a:latin typeface="Calibri" pitchFamily="34" charset="0"/>
                <a:ea typeface="Calibri" pitchFamily="34" charset="-122"/>
                <a:cs typeface="Calibri" pitchFamily="34" charset="-120"/>
              </a:rPr>
              <a:t>The Act of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Complex Sentences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spot cause-and-effect complex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Identify the subordinating conjunction in each sentence below — all pulled from Ms. Birchum’s mentor model.</a:t>
            </a:r>
            <a:endParaRPr lang="en-US" sz="1100" dirty="0"/>
          </a:p>
        </p:txBody>
      </p:sp>
      <p:sp>
        <p:nvSpPr>
          <p:cNvPr id="8" name="Text 6"/>
          <p:cNvSpPr/>
          <p:nvPr/>
        </p:nvSpPr>
        <p:spPr>
          <a:xfrm>
            <a:off x="365760" y="1737360"/>
            <a:ext cx="8412480" cy="320040"/>
          </a:xfrm>
          <a:prstGeom prst="rect">
            <a:avLst/>
          </a:prstGeom>
          <a:noFill/>
          <a:ln/>
        </p:spPr>
        <p:txBody>
          <a:bodyPr wrap="square" lIns="0" tIns="0" rIns="0" bIns="0" rtlCol="0" anchor="ctr"/>
          <a:lstStyle/>
          <a:p>
            <a:pPr indent="0" marL="0">
              <a:buNone/>
            </a:pPr>
            <a:r>
              <a:rPr lang="en-US" sz="1100" b="1" i="1" dirty="0">
                <a:solidFill>
                  <a:srgbClr val="64748B"/>
                </a:solidFill>
                <a:latin typeface="Calibri" pitchFamily="34" charset="0"/>
                <a:ea typeface="Calibri" pitchFamily="34" charset="-122"/>
                <a:cs typeface="Calibri" pitchFamily="34" charset="-120"/>
              </a:rPr>
              <a:t>Tap the word that joins the two ideas and shows cause and effect.</a:t>
            </a:r>
            <a:endParaRPr lang="en-US" sz="1100" dirty="0"/>
          </a:p>
        </p:txBody>
      </p:sp>
      <p:sp>
        <p:nvSpPr>
          <p:cNvPr id="9" name="Shape 7"/>
          <p:cNvSpPr/>
          <p:nvPr/>
        </p:nvSpPr>
        <p:spPr>
          <a:xfrm>
            <a:off x="365760" y="212140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7627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Nathaniel's stomach dropped [because] if the soldier searched his coat, the letter would be found.</a:t>
            </a:r>
            <a:endParaRPr lang="en-US" sz="1200" dirty="0"/>
          </a:p>
        </p:txBody>
      </p:sp>
      <p:sp>
        <p:nvSpPr>
          <p:cNvPr id="11" name="Shape 9"/>
          <p:cNvSpPr/>
          <p:nvPr/>
        </p:nvSpPr>
        <p:spPr>
          <a:xfrm>
            <a:off x="365760" y="2816352"/>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71216"/>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kept his voice steady [even though] his knees had gone weak.</a:t>
            </a:r>
            <a:endParaRPr lang="en-US" sz="1200" dirty="0"/>
          </a:p>
        </p:txBody>
      </p:sp>
      <p:sp>
        <p:nvSpPr>
          <p:cNvPr id="13" name="Shape 11"/>
          <p:cNvSpPr/>
          <p:nvPr/>
        </p:nvSpPr>
        <p:spPr>
          <a:xfrm>
            <a:off x="365760" y="3511296"/>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66160"/>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 waved him on [after] he studied Nathaniel's face for a long moment.</a:t>
            </a:r>
            <a:endParaRPr lang="en-US" sz="1200" dirty="0"/>
          </a:p>
        </p:txBody>
      </p:sp>
      <p:sp>
        <p:nvSpPr>
          <p:cNvPr id="15" name="Shape 13"/>
          <p:cNvSpPr/>
          <p:nvPr/>
        </p:nvSpPr>
        <p:spPr>
          <a:xfrm>
            <a:off x="365760" y="4206240"/>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4261104"/>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forced himself to walk, not run, [until] he had turned the corner.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Complex Sentences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spot cause-and-effect complex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Identify the subordinating conjunction in each sentence below — all pulled from Ms. Birchum’s mentor model.</a:t>
            </a:r>
            <a:endParaRPr lang="en-US" sz="1100" dirty="0"/>
          </a:p>
        </p:txBody>
      </p:sp>
      <p:sp>
        <p:nvSpPr>
          <p:cNvPr id="8" name="Shape 6"/>
          <p:cNvSpPr/>
          <p:nvPr/>
        </p:nvSpPr>
        <p:spPr>
          <a:xfrm>
            <a:off x="365760" y="1737360"/>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Nathaniel's stomach dropped because if the soldier searched his coat, the letter would be found.
</a:t>
            </a:r>
            <a:pPr indent="0" marL="0">
              <a:buNone/>
            </a:pPr>
            <a:r>
              <a:rPr lang="en-US" sz="1200" b="1" dirty="0">
                <a:solidFill>
                  <a:srgbClr val="34B76F"/>
                </a:solidFill>
                <a:latin typeface="Calibri" pitchFamily="34" charset="0"/>
                <a:ea typeface="Calibri" pitchFamily="34" charset="-122"/>
                <a:cs typeface="Calibri" pitchFamily="34" charset="-120"/>
              </a:rPr>
              <a:t>✅ because</a:t>
            </a:r>
            <a:endParaRPr lang="en-US" sz="1200" dirty="0"/>
          </a:p>
        </p:txBody>
      </p:sp>
      <p:sp>
        <p:nvSpPr>
          <p:cNvPr id="10" name="Shape 8"/>
          <p:cNvSpPr/>
          <p:nvPr/>
        </p:nvSpPr>
        <p:spPr>
          <a:xfrm>
            <a:off x="365760" y="2432304"/>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487168"/>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kept his voice steady even though his knees had gone weak.
</a:t>
            </a:r>
            <a:pPr indent="0" marL="0">
              <a:buNone/>
            </a:pPr>
            <a:r>
              <a:rPr lang="en-US" sz="1200" b="1" dirty="0">
                <a:solidFill>
                  <a:srgbClr val="34B76F"/>
                </a:solidFill>
                <a:latin typeface="Calibri" pitchFamily="34" charset="0"/>
                <a:ea typeface="Calibri" pitchFamily="34" charset="-122"/>
                <a:cs typeface="Calibri" pitchFamily="34" charset="-120"/>
              </a:rPr>
              <a:t>✅ even though</a:t>
            </a:r>
            <a:endParaRPr lang="en-US" sz="1200" dirty="0"/>
          </a:p>
        </p:txBody>
      </p:sp>
      <p:sp>
        <p:nvSpPr>
          <p:cNvPr id="12" name="Shape 10"/>
          <p:cNvSpPr/>
          <p:nvPr/>
        </p:nvSpPr>
        <p:spPr>
          <a:xfrm>
            <a:off x="365760" y="312724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8211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soldier waved him on after he studied Nathaniel's face for a long moment.
</a:t>
            </a:r>
            <a:pPr indent="0" marL="0">
              <a:buNone/>
            </a:pPr>
            <a:r>
              <a:rPr lang="en-US" sz="1200" b="1" dirty="0">
                <a:solidFill>
                  <a:srgbClr val="34B76F"/>
                </a:solidFill>
                <a:latin typeface="Calibri" pitchFamily="34" charset="0"/>
                <a:ea typeface="Calibri" pitchFamily="34" charset="-122"/>
                <a:cs typeface="Calibri" pitchFamily="34" charset="-120"/>
              </a:rPr>
              <a:t>✅ after</a:t>
            </a:r>
            <a:endParaRPr lang="en-US" sz="1200" dirty="0"/>
          </a:p>
        </p:txBody>
      </p:sp>
      <p:sp>
        <p:nvSpPr>
          <p:cNvPr id="14" name="Shape 12"/>
          <p:cNvSpPr/>
          <p:nvPr/>
        </p:nvSpPr>
        <p:spPr>
          <a:xfrm>
            <a:off x="365760" y="3822192"/>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877056"/>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Nathaniel forced himself to walk, not run, until he had turned the corner.
</a:t>
            </a:r>
            <a:pPr indent="0" marL="0">
              <a:buNone/>
            </a:pPr>
            <a:r>
              <a:rPr lang="en-US" sz="1200" b="1" dirty="0">
                <a:solidFill>
                  <a:srgbClr val="34B76F"/>
                </a:solidFill>
                <a:latin typeface="Calibri" pitchFamily="34" charset="0"/>
                <a:ea typeface="Calibri" pitchFamily="34" charset="-122"/>
                <a:cs typeface="Calibri" pitchFamily="34" charset="-120"/>
              </a:rPr>
              <a:t>✅ until</a:t>
            </a:r>
            <a:endParaRPr lang="en-US" sz="1200" dirty="0"/>
          </a:p>
        </p:txBody>
      </p:sp>
      <p:sp>
        <p:nvSpPr>
          <p:cNvPr id="16" name="Shape 14"/>
          <p:cNvSpPr/>
          <p:nvPr/>
        </p:nvSpPr>
        <p:spPr>
          <a:xfrm>
            <a:off x="365760" y="4517136"/>
            <a:ext cx="8412480" cy="640080"/>
          </a:xfrm>
          <a:prstGeom prst="roundRect">
            <a:avLst>
              <a:gd name="adj" fmla="val 14286"/>
            </a:avLst>
          </a:prstGeom>
          <a:solidFill>
            <a:srgbClr val="FEF6E8"/>
          </a:solidFill>
          <a:ln w="12700">
            <a:solidFill>
              <a:srgbClr val="C7922C"/>
            </a:solidFill>
            <a:prstDash val="solid"/>
          </a:ln>
        </p:spPr>
      </p:sp>
      <p:sp>
        <p:nvSpPr>
          <p:cNvPr id="17" name="Text 15"/>
          <p:cNvSpPr/>
          <p:nvPr/>
        </p:nvSpPr>
        <p:spPr>
          <a:xfrm>
            <a:off x="548640" y="4590288"/>
            <a:ext cx="8046720" cy="50292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Choose one of the complex sentences above and explain the cause and the effect it shows.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Suffix Changes in Narrative Verbs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-ed and -ing spelling changes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Double the consonant</a:t>
            </a:r>
            <a:endParaRPr lang="en-US" sz="1300" dirty="0"/>
          </a:p>
        </p:txBody>
      </p:sp>
      <p:sp>
        <p:nvSpPr>
          <p:cNvPr id="8" name="Text 6"/>
          <p:cNvSpPr/>
          <p:nvPr/>
        </p:nvSpPr>
        <p:spPr>
          <a:xfrm>
            <a:off x="36576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gripping, dropping, stopping, running</a:t>
            </a:r>
            <a:endParaRPr lang="en-US" sz="12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the silent e</a:t>
            </a:r>
            <a:endParaRPr lang="en-US" sz="1300" dirty="0"/>
          </a:p>
        </p:txBody>
      </p:sp>
      <p:sp>
        <p:nvSpPr>
          <p:cNvPr id="10" name="Text 8"/>
          <p:cNvSpPr/>
          <p:nvPr/>
        </p:nvSpPr>
        <p:spPr>
          <a:xfrm>
            <a:off x="466344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promising, hoping, deciding, writing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RWM — Reader · Writer · Mimic</a:t>
            </a:r>
            <a:endParaRPr lang="en-US" sz="24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Nathaniel's stomach dropped, because if the soldier searched his coat, the letter—and everyone whose name was written inside it—would be in danger.</a:t>
            </a:r>
            <a:endParaRPr lang="en-US" sz="15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Nathaniel afraid of in this moment? What does his fear reveal about how much this letter matters?</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the word "because" — it joins the cause (the soldier might search his coat) to the effect (Nathaniel’s fear). Notice, too, how the dash sets off an extra detail without breaking the sentence’s flow.</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[Character]'s ___ dropped, because if ___, ___ would be in danger.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Open the Mentor Model — See How Conflict &amp; Dialogue Build on the Opening</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Yesterday you read the opening — Nathaniel gripping a letter, waiting for sunrise. Today’s excerpt shows what happens next: a real obstacle appears, and Nathaniel has to speak.</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"A lantern swung around the corner before Nathaniel could move. ‘Where are you bound, boy, at this hour?’ the soldier demanded, stepping close enough that Nathaniel could smell the wool of his uniform. Nathaniel’s stomach dropped, because if the soldier searched his coat, the letter—and everyone whose name was written inside it—would be in danger. ‘Only running an errand for my master, sir,’ Nathaniel said, keeping his voice steady even though his knees had gone weak. The soldier studied him a moment, then waved him on, and Nathaniel forced himself to walk, not run, until he had turned the corner."</a:t>
            </a:r>
            <a:endParaRPr lang="en-US" sz="1200" dirty="0"/>
          </a:p>
        </p:txBody>
      </p:sp>
      <p:sp>
        <p:nvSpPr>
          <p:cNvPr id="7" name="Text 5"/>
          <p:cNvSpPr/>
          <p:nvPr/>
        </p:nvSpPr>
        <p:spPr>
          <a:xfrm>
            <a:off x="365760" y="3566160"/>
            <a:ext cx="8412480" cy="457200"/>
          </a:xfrm>
          <a:prstGeom prst="rect">
            <a:avLst/>
          </a:prstGeom>
          <a:noFill/>
          <a:ln/>
        </p:spPr>
        <p:txBody>
          <a:bodyPr wrap="square" lIns="0" tIns="0" rIns="0" bIns="0" rtlCol="0" anchor="ctr"/>
          <a:lstStyle/>
          <a:p>
            <a:pPr indent="0" marL="0">
              <a:buNone/>
            </a:pPr>
            <a:r>
              <a:rPr lang="en-US" sz="1100" i="1" dirty="0">
                <a:solidFill>
                  <a:srgbClr val="8B6FC0"/>
                </a:solidFill>
                <a:latin typeface="Calibri" pitchFamily="34" charset="0"/>
                <a:ea typeface="Calibri" pitchFamily="34" charset="-122"/>
                <a:cs typeface="Calibri" pitchFamily="34" charset="-120"/>
              </a:rPr>
              <a:t>Notice the external conflict (the soldier), the internal conflict (his fear, described but not shouted), and the dialogue (each character speaks once, and neither line explains itself — the reader has to feel the tension).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Your Story Map</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777240"/>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4183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External Conflict
</a:t>
            </a:r>
            <a:pPr indent="0" marL="0">
              <a:buNone/>
            </a:pPr>
            <a:r>
              <a:rPr lang="en-US" sz="1150" dirty="0">
                <a:solidFill>
                  <a:srgbClr val="1E293B"/>
                </a:solidFill>
                <a:latin typeface="Calibri" pitchFamily="34" charset="0"/>
                <a:ea typeface="Calibri" pitchFamily="34" charset="-122"/>
                <a:cs typeface="Calibri" pitchFamily="34" charset="-120"/>
              </a:rPr>
              <a:t>What real obstacle, danger, or person stands in your character’s way right now?</a:t>
            </a:r>
            <a:endParaRPr lang="en-US" sz="1300" dirty="0"/>
          </a:p>
        </p:txBody>
      </p:sp>
      <p:sp>
        <p:nvSpPr>
          <p:cNvPr id="6" name="Shape 4"/>
          <p:cNvSpPr/>
          <p:nvPr/>
        </p:nvSpPr>
        <p:spPr>
          <a:xfrm>
            <a:off x="365760" y="1737360"/>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81051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Internal Conflict
</a:t>
            </a:r>
            <a:pPr indent="0" marL="0">
              <a:buNone/>
            </a:pPr>
            <a:r>
              <a:rPr lang="en-US" sz="1150" dirty="0">
                <a:solidFill>
                  <a:srgbClr val="1E293B"/>
                </a:solidFill>
                <a:latin typeface="Calibri" pitchFamily="34" charset="0"/>
                <a:ea typeface="Calibri" pitchFamily="34" charset="-122"/>
                <a:cs typeface="Calibri" pitchFamily="34" charset="-120"/>
              </a:rPr>
              <a:t>What is your character afraid of, torn about, or unsure of on the inside?</a:t>
            </a:r>
            <a:endParaRPr lang="en-US" sz="1300" dirty="0"/>
          </a:p>
        </p:txBody>
      </p:sp>
      <p:sp>
        <p:nvSpPr>
          <p:cNvPr id="8" name="Shape 6"/>
          <p:cNvSpPr/>
          <p:nvPr/>
        </p:nvSpPr>
        <p:spPr>
          <a:xfrm>
            <a:off x="365760" y="2606040"/>
            <a:ext cx="8412480" cy="777240"/>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Dialogue
</a:t>
            </a:r>
            <a:pPr indent="0" marL="0">
              <a:buNone/>
            </a:pPr>
            <a:r>
              <a:rPr lang="en-US" sz="1150" dirty="0">
                <a:solidFill>
                  <a:srgbClr val="1E293B"/>
                </a:solidFill>
                <a:latin typeface="Calibri" pitchFamily="34" charset="0"/>
                <a:ea typeface="Calibri" pitchFamily="34" charset="-122"/>
                <a:cs typeface="Calibri" pitchFamily="34" charset="-120"/>
              </a:rPr>
              <a:t>What will one or two characters actually say out loud in this moment?</a:t>
            </a:r>
            <a:endParaRPr lang="en-US" sz="1300" dirty="0"/>
          </a:p>
        </p:txBody>
      </p:sp>
      <p:sp>
        <p:nvSpPr>
          <p:cNvPr id="10" name="Shape 8"/>
          <p:cNvSpPr/>
          <p:nvPr/>
        </p:nvSpPr>
        <p:spPr>
          <a:xfrm>
            <a:off x="365760" y="3474720"/>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547872"/>
            <a:ext cx="8046720" cy="630936"/>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Complex Sentence
</a:t>
            </a:r>
            <a:pPr indent="0" marL="0">
              <a:buNone/>
            </a:pPr>
            <a:r>
              <a:rPr lang="en-US" sz="1150" dirty="0">
                <a:solidFill>
                  <a:srgbClr val="1E293B"/>
                </a:solidFill>
                <a:latin typeface="Calibri" pitchFamily="34" charset="0"/>
                <a:ea typeface="Calibri" pitchFamily="34" charset="-122"/>
                <a:cs typeface="Calibri" pitchFamily="34" charset="-120"/>
              </a:rPr>
              <a:t>Where can you use because, since, until, or although to connect a cause to its effect?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Jot your external conflict, internal conflict, and one line of dialogue in your journal.</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Read your dialogue line aloud — does it sound like something your character would really say?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is the external conflict — something outside your character — in your story?</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What is the internal conflict — something inside your character — in your story?</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What will your dialogue reveal about your character?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Draft the Conflict &amp; Dialogue</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Draft the next section of your story (6-10 sentences). Build the conflict and include at least one line of dialogue, the way Ms. Birchum’s mentor model does.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2026-07-13T03:04:01Z</dcterms:created>
  <dcterms:modified xsi:type="dcterms:W3CDTF">2026-07-13T03:04:01Z</dcterms:modified>
</cp:coreProperties>
</file>