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slide: Week 14, Day 3, Chapter 23 — Captain Bowditch Commanding.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Big Q: Today you read Chapter 23. Ask: How does theme develop across the whole book?
Morphology: Explain word families — odd one out + teach the system.
Spelling SWYK: Cumulative four-pattern review.
Grammar: Find and fix title formatting in your own essay draft.
Reading: Chapter 23 — Captain Bowditch Commanding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this lens aloud before students open their books.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answer needed — tap-and-notice only. Discuss why each highlighted word/punctuation mark is correct.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Fix-it: "in chapter 23 captain bowditch commanding nat bowditch proves that a person who combines mathematical knowledge with integrity can navigate any situation at sea or on land"
Corrected: "In Chapter 23, “Captain Bowditch Commanding,” Nat Bowditch proves that a person who combines mathematical knowledge with integrity can navigate any situation — at sea or on land."
Fixes: capitalize “In” and “Nat Bowditch”; chapter title in quotes; em dash (or comma) before “at sea or on land”; period.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Fix-it: "in chapter 23 captain bowditch commanding nat bowditch proves that a person who combines mathematical knowledge with integrity can navigate any situation at sea or on land"
Corrected: "In Chapter 23, “Captain Bowditch Commanding,” Nat Bowditch proves that a person who combines mathematical knowledge with integrity can navigate any situation — at sea or on land."
Fixes: capitalize “In” and “Nat Bowditch”; chapter title in quotes; em dash (or comma) before “at sea or on land”; period.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 routine — use if time allows. Read the prompt aloud. Remind students: pick a side, defend with evidence, anticipate disagreement.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Remind: choose a side, defend with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Focus: Is there a stronger, more specific word I could use here instead of a vague one?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3-4 students. Encourage respectful disagreement about their choice/defense.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Vocabulary mode: Use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Reflection/journal-based grammar task today — no quiz reveal.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focus: 🔤 Spelling SWYK: Cumulative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Tracker: Six Weeks with Carry On, Mr. Bowditch — 📍 You are here: Week 14 — Chapter 23 — Captain Bowditch Commanding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Preview only — students answer these after reading, in the Assignment tab.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Writing Connection — PUBLISH: Assemble your final draft
Focus: Today is final assembly day. You bring all your sections together, do one last read-through, and submit using the Writing Workshop page.
Before: BEFORE Alex's checklist result before the final read: Hook ✓. Claim ✓. Body 1 ✓. Body 2 ✓. Transitions ✓. Technical terms defined ✓. Conclusion synthesizes ✓. Citation ✓.
After: AFTER Alex's one final fix: the word 'also' appeared twice in Body 2. Alex replaced the second one with 'What made this even more significant was' — a stronger, more meaningful transition.
Notice: Notice: Alex's essay was 95% ready. The final read-through caught one weak transition — the kind of thing you only see when reading the whole essay as one piece. Always do a final read-through.
Tool: Today’s Tool: Final Assembly Checklist — Read your entire essay from beginning to end. Check each item. Note anything that still needs a fix.
Frames: “My essay argues that ___.” | “The part I revised in my final read-through was ___ because ___.” | “After this final fix, my essay is ready because...”
Prompt: Describe in 2–3 sentences: what did you fix in your final read-through? Then go to the Writing Workshop page to compile and submit your complete essay.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55C8E8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14  ·  DAY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On, Mr. Bowditch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23 — Captain Bowditch Commanding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🧭  Week 14  ·  Virtue: Perseverance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Objectives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686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you read Chapter 23. Ask: How does theme develop across the whole book?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0116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LESSON...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286000"/>
            <a:ext cx="8412480" cy="713232"/>
          </a:xfrm>
          <a:prstGeom prst="roundRect">
            <a:avLst>
              <a:gd name="adj" fmla="val 12821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8640" y="235915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🌱  </a:t>
            </a:r>
            <a:pPr indent="0" marL="0"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Morphology: </a:t>
            </a:r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word families — odd one out + teach the system.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3090672"/>
            <a:ext cx="8412480" cy="713232"/>
          </a:xfrm>
          <a:prstGeom prst="roundRect">
            <a:avLst>
              <a:gd name="adj" fmla="val 12821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48640" y="3163824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🔤  </a:t>
            </a:r>
            <a:pPr indent="0" marL="0"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SWYK: </a:t>
            </a:r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four-pattern review.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65760" y="3895344"/>
            <a:ext cx="8412480" cy="713232"/>
          </a:xfrm>
          <a:prstGeom prst="roundRect">
            <a:avLst>
              <a:gd name="adj" fmla="val 12821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" y="39684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✏️  </a:t>
            </a:r>
            <a:pPr indent="0" marL="0"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Grammar: </a:t>
            </a:r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and fix title formatting in your own essay draft.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65760" y="4700016"/>
            <a:ext cx="8412480" cy="713232"/>
          </a:xfrm>
          <a:prstGeom prst="roundRect">
            <a:avLst>
              <a:gd name="adj" fmla="val 12821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8640" y="477316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📖  </a:t>
            </a:r>
            <a:pPr indent="0" marL="0"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</a:t>
            </a:r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23 — Captain Bowditch Commanding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What Good Readers 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YOUR READING LENS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1051560"/>
          </a:xfrm>
          <a:prstGeom prst="roundRect">
            <a:avLst>
              <a:gd name="adj" fmla="val 869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23 is the culmination of Nat’s outward transformation: the indentured boy from Chapters 1–4 is now Captain Bowditch. As you read, hold the whole arc in your mind. The change from Chapter 1 to Chapter 23 is not just a change in title or position — it is a change in what Nat can do, what he knows, and what he means to the world of navigation. Good readers at this stage synthesize the arc, not just the chapter.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286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WATCH FOR THIS AS YOU READ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60604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8640" y="2679192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In Chapter 1, Nat was an indentured boy with no prospects. In Chapter 23, he is a captain commanding his own ship. What are the two or three most significant turning points that made this transformation possible? Name specific chapters.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331927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48640" y="3392424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does the title “Captain Bowditch Commanding” function as a theme statement? What does the word “commanding” suggest beyond the literal meaning of leading a ship?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Daily Oral Language — Study What's Right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MODEL — TAP TO NOTICE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1887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23, “Captain Bowditch Commanding,” shows the transformation that was impossible to predict in Chapter 1: the indentured boy has become the navigator in full command.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210312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TAPPED WORD TEACHES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377440"/>
            <a:ext cx="8412480" cy="512064"/>
          </a:xfrm>
          <a:prstGeom prst="roundRect">
            <a:avLst>
              <a:gd name="adj" fmla="val 1785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8640" y="2432304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“Captain Bowditch Commanding,” 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titles use quotation marks.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2953512"/>
            <a:ext cx="8412480" cy="512064"/>
          </a:xfrm>
          <a:prstGeom prst="roundRect">
            <a:avLst>
              <a:gd name="adj" fmla="val 1785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48640" y="3008376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navigator 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Navigator: noun, the person who guides the ship. From navig- (sail) + -ator (one who).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Daily Oral Language — Fix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1887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chapter 23 captain bowditch commanding nat bowditch proves that a person who combines mathematical knowledge with integrity can navigate any situation at sea or on land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196596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Daily Oral Language — Fix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1887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chapter 23 captain bowditch commanding nat bowditch proves that a person who combines mathematical knowledge with integrity can navigate any situation at sea or on land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196596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2468880"/>
            <a:ext cx="8412480" cy="1371600"/>
          </a:xfrm>
          <a:prstGeom prst="roundRect">
            <a:avLst>
              <a:gd name="adj" fmla="val 6667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56032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283464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Chapter 23, “Captain Bowditch Commanding,” Nat Bowditch proves that a person who combines mathematical knowledge with integrity can navigate any situation — at sea or on land.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94360" y="331012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Fixes: capitalize “In” and “Nat Bowditch”; chapter title in quotes; em dash (or comma) before “at sea or on land”; period.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Quick Write (Optional)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8229600" cy="1463040"/>
          </a:xfrm>
          <a:prstGeom prst="roundRect">
            <a:avLst>
              <a:gd name="adj" fmla="val 625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389888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is now "Captain Bowditch, Commanding." Has the boy who once traded his shilling for a chance become a completely different person, or is he still the same Nat underneath the title? Defend your answer with evidence from Chapter 23.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SCAFFOLD (USE WHAT HELPS)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3218688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think...   →   because...   →   One piece of evidence is...   →   This matters because...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804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37160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is now "Captain Bowditch, Commanding." Has the boy who once traded his shilling for a chance become a completely different person, or is he still the same Nat underneath the title? Defend your answer with evidence from Chapter 23.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554480" y="2743200"/>
            <a:ext cx="6035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737360" y="2834640"/>
            <a:ext cx="5669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Scaffold, if you need it:
</a:t>
            </a:r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think...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because...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piece of evidence is...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matters because...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200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🔍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one deliberate decision, not a full edit pass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188720" y="2011680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371600" y="2084832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revision check: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stronger, more specific word I could use here instead of a vague one?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88720" y="30175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 = improving ideas. Editing = fixing conventions. Pick ONE thing.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🗣️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10058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15544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thinking!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828800" y="2194560"/>
            <a:ext cx="54864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011680" y="228600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share, or paste your writing in the chat.
</a:t>
            </a:r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disagree with a classmate's choice, say so respectfully — that's part of the thinking.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 — Use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six words in one passage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Words: navigate, navigation, navigator, inform, information, informative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554480"/>
            <a:ext cx="8412480" cy="1188720"/>
          </a:xfrm>
          <a:prstGeom prst="roundRect">
            <a:avLst>
              <a:gd name="adj" fmla="val 7692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627632"/>
            <a:ext cx="804672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your reading journal: write a 5–6 sentence summary of Chapter 23 “Captain Bowditch Commanding” using all six vocabulary words naturally: navigate, navigation, navigator, inform, information, informative . Each word should appear once. It should read like a real summary, not like a vocabulary exercise.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 — ✏️ Grammar: Title Formatting in Your Essay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and fix title formatting in your own draft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📓 REFLECT IN YOUR READING JOURNAL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8412480" cy="1463040"/>
          </a:xfrm>
          <a:prstGeom prst="roundRect">
            <a:avLst>
              <a:gd name="adj" fmla="val 625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46304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your expository essay draft. Find every place where you mention Carry On, Mr. Bowditch or any chapter title. Check: are book titles italicized (or underlined)? Are chapter titles in quotation marks? Fix any errors you find. Write your count in your reading journal: “I checked ___ title mentions and corrected ___ errors.”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Spelling — 🔤 Spelling SWYK: Cumulative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What You Know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14300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234440"/>
            <a:ext cx="8046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🫖 Show What You Know · Spelling
</a:t>
            </a:r>
            <a:pPr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5 words from across the CMB unit — one from each major spelling pattern studied. For each word: (1) write the correct spelling, (2) name the pattern it uses, (3) explain the rule, (4) write a sentence using the word in the context of Nat’s story.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Reading Focus + Story Journey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STORY JOURNEY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Weeks with Carry On, Mr. Bowditch — 📍 You are here: Week 14 — Chapter 23 — Captain Bowditch Commanding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65760" y="197510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YOU ARE READING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231136"/>
            <a:ext cx="8412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304288"/>
            <a:ext cx="7955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23 — Captain Bowditch Commanding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5760" y="299923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KEEP YOUR READING LENS IN MIND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3255264"/>
            <a:ext cx="8412480" cy="1280160"/>
          </a:xfrm>
          <a:prstGeom prst="roundRect">
            <a:avLst>
              <a:gd name="adj" fmla="val 7143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3346704"/>
            <a:ext cx="7955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Chapter 1, Nat was an indentured boy with no prospects. In Chapter 23, he is a captain commanding his own ship. What are the two or three most significant turning points that made this transformation possible? Name specific chapters.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the title “Captain Bowditch Commanding” function as a theme statement? What does the word “commanding” suggest beyond the literal meaning of leading a ship?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Comprehension Questions — Preview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ANSWER (PART A)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170432"/>
            <a:ext cx="80467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Nat command his ship differently from how a traditional captain might? What does his style of command reveal about his core values — and how does it connect to what he was doing in the chandlery during those nine years?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2084832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4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2157984"/>
            <a:ext cx="80467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title “Captain Bowditch Commanding” places “Commanding” as the final word. What does “commanding” mean beyond its literal definition (in charge of a ship)? What else does Nat “command” by Chapter 23?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3072384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3145536"/>
            <a:ext cx="80467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 the arc: trace the single most important change in Nat Bowditch from Chapter 1 to Chapter 23. What specific moment or chapter marks the turning point of that change? Use evidence from at least two chapters.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Writing Connection — Research Essay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4124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STAGE: PUBLISH  ·  Assemble your final draft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152144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is final assembly day. You bring all your sections together, do one last read-through, and submit using the Writing Workshop page.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65760" y="17830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👀 WATCH HOW ALEX DOES 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029968"/>
            <a:ext cx="4114800" cy="1051560"/>
          </a:xfrm>
          <a:prstGeom prst="roundRect">
            <a:avLst>
              <a:gd name="adj" fmla="val 869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2084832"/>
            <a:ext cx="384048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Alex's checklist result before the final read: Hook ✓. Claim ✓. Body 1 ✓. Body 2 ✓. Transitions ✓. Technical terms defined ✓. Conclusion synthesizes ✓. Citation ✓.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63440" y="2029968"/>
            <a:ext cx="4114800" cy="1051560"/>
          </a:xfrm>
          <a:prstGeom prst="roundRect">
            <a:avLst>
              <a:gd name="adj" fmla="val 8696"/>
            </a:avLst>
          </a:prstGeom>
          <a:solidFill>
            <a:srgbClr val="EAF6FA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00600" y="2084832"/>
            <a:ext cx="384048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Alex's one final fix: the word 'also' appeared twice in Body 2. Alex replaced the second one with 'What made this even more significant was' — a stronger, more meaningful transition.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65760" y="312724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 Alex's essay was 95% ready. The final read-through caught one weak transition — the kind of thing you only see when reading the whole essay as one piece. Always do a final read-through.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65760" y="363931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🛠️ TODAY’S TOOL: FINAL ASSEMBLY CHECKLIST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877056"/>
            <a:ext cx="8412480" cy="502920"/>
          </a:xfrm>
          <a:prstGeom prst="roundRect">
            <a:avLst>
              <a:gd name="adj" fmla="val 18182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8640" y="3922776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your entire essay from beginning to end. Check each item. Note anything that still needs a fix.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65760" y="446227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NOW YOU TRY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4681728"/>
            <a:ext cx="8412480" cy="384048"/>
          </a:xfrm>
          <a:prstGeom prst="roundRect">
            <a:avLst>
              <a:gd name="adj" fmla="val 2381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8640" y="4700016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in 2–3 sentences: what did you fix in your final read-through? Then go to the Writing Workshop page to compile and submit your complete essay.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2026-07-13T16:49:17Z</dcterms:created>
  <dcterms:modified xsi:type="dcterms:W3CDTF">2026-07-13T16:49:17Z</dcterms:modified>
</cp:coreProperties>
</file>