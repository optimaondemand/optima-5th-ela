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14.3: Chapter 23, "Captain Bowditch Commanding". Banner quote: “Captain Bowditch commanding. Nat looked about his ship and whispered those words to himself.” (Chapter 23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it mean to truly command something? Today you read Chapter 23. Ask: How does theme develop across the whole book?
Objectives:
- 🧭 Morphology: Explain word families — odd one out + teach the system.
- 🔤 Spelling SWYK: Cumulative four-pattern review.
- ✏️ Grammar: I will write using the editing checklist on my own expository essay.
- 📖 Reading: I will synthesize the arc from indentured boy to Captain Bowditch across the whole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chapter 23 captain bowditch commanding nat bowditch proves that a person who combines mathematical knowledge with integrity can navigate any situation at sea or on land
Corrected: In Chapter 23, “Captain Bowditch Commanding,” Nat Bowditch proves that a person who combines mathematical knowledge with integrity can navigate any situation — at sea or on land.
Fixes: capitalize “In” and “Nat Bowditch”; chapter title in quotes; em dash (or comma) before “at sea or on land”;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chapter 23 captain bowditch commanding nat bowditch proves that a person who combines mathematical knowledge with integrity can navigate any situation at sea or on land
Corrected: In Chapter 23, “Captain Bowditch Commanding,” Nat Bowditch proves that a person who combines mathematical knowledge with integrity can navigate any situation — at sea or on land.
Fixes: capitalize “In” and “Nat Bowditch”; chapter title in quotes; em dash (or comma) before “at sea or on land”;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Explain Word Families — Teach the system to a classmate.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navigator, nautical = Root: nav / naut — ship
telescope, inspect = Root: scope / spect — look
fracture, fragment = Root: fract / frag — break
transfer, infer = Root: fer —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information
2.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Use in Writing — All six words in one passage.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apprentice  2. almanac  3. reckoning  4. navigator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Editing for Conventions — Use — edit your own expository essay.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 words to tap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to tap: nathaniel (g14d3gs1); latin (g14d3gs1); french. (g14d3gs1); were (g14d3gs1); american (g14d3gs1)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SWYK: Cumulative — Show What You Know.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Assemble your final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Assemble your final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14  ·  DAY 3  ·  LESSON 14.3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23 — Captain Bowditch Commanding</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“Captain Bowditch commanding. Nat looked about his ship and whispered those words to himself.”</a:t>
            </a:r>
            <a:pPr indent="0" marL="0">
              <a:buNone/>
            </a:pPr>
            <a:r>
              <a:rPr lang="en-US" sz="1600" dirty="0">
                <a:solidFill>
                  <a:srgbClr val="55C8E8"/>
                </a:solidFill>
                <a:latin typeface="Calibri" pitchFamily="34" charset="0"/>
                <a:ea typeface="Calibri" pitchFamily="34" charset="-122"/>
                <a:cs typeface="Calibri" pitchFamily="34" charset="-120"/>
              </a:rPr>
              <a:t>  — Chapter 23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PUBLISH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23</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it mean to truly command something?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23. Ask: How does theme develop across the whole book?</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word families — odd one out + teach the system.</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Cumulative four-pattern review.</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write using the editing checklist on my own expository essay.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synthesize the arc from indentured boy to Captain Bowditch across the whole book.</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ARC OF A LIFE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Chapter 23 is the culmination of Nat’s outward transformation: the boy who was indentured to a ship chandlery at the end of Chapter 5 is now Captain Bowditch. As you read, hold the whole arc in your mind. The change from Chapter 1 to Chapter 23 is not just a change in title or position — it is a change in what Nat can do, what he knows, and what he means to the world of navigation. Good readers at this stage synthesize the arc, not just the chapter.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Put the threads together: Hold the events, the problem-solving, the perseverance and the technical work in one view.</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State the significance: Say why this life mattered beyond itself. That is what expository writing about a person has to do.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Support every claim: For each thing you say about the whole book, name the chapter you would send a reader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ARC OF A LIFE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In Chapter 3, Nat was a poor boy dreaming of Harvard; by the end of Chapter 5, he was indentured for nine years. In Chapter 23, he is a captain commanding his own ship. What are the two or three most significant turning points that made this transformation possible? Name specific chapters.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the title “Captain Bowditch Commanding” function as a theme statement? What does the word “commanding” suggest beyond the literal meaning of leading a ship?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Chapter 23, </a:t>
            </a:r>
            <a:pPr indent="0" marL="0">
              <a:buNone/>
            </a:pPr>
            <a:r>
              <a:rPr lang="en-US" sz="2600" b="1" u="sng" dirty="0">
                <a:solidFill>
                  <a:srgbClr val="1E8E52"/>
                </a:solidFill>
                <a:latin typeface="Calibri" pitchFamily="34" charset="0"/>
                <a:ea typeface="Calibri" pitchFamily="34" charset="-122"/>
                <a:cs typeface="Calibri" pitchFamily="34" charset="-120"/>
              </a:rPr>
              <a:t>“Captain Bowditch Commanding,”</a:t>
            </a:r>
            <a:pPr indent="0" marL="0">
              <a:buNone/>
            </a:pPr>
            <a:r>
              <a:rPr lang="en-US" sz="2600" dirty="0">
                <a:solidFill>
                  <a:srgbClr val="1E293B"/>
                </a:solidFill>
                <a:latin typeface="Calibri" pitchFamily="34" charset="0"/>
                <a:ea typeface="Calibri" pitchFamily="34" charset="-122"/>
                <a:cs typeface="Calibri" pitchFamily="34" charset="-120"/>
              </a:rPr>
              <a:t> shows the transformation that was impossible to predict in Chapter 1: the once-indentured boy has become the </a:t>
            </a:r>
            <a:pPr indent="0" marL="0">
              <a:buNone/>
            </a:pPr>
            <a:r>
              <a:rPr lang="en-US" sz="2600" b="1" u="sng" dirty="0">
                <a:solidFill>
                  <a:srgbClr val="1E8E52"/>
                </a:solidFill>
                <a:latin typeface="Calibri" pitchFamily="34" charset="0"/>
                <a:ea typeface="Calibri" pitchFamily="34" charset="-122"/>
                <a:cs typeface="Calibri" pitchFamily="34" charset="-120"/>
              </a:rPr>
              <a:t>navigator</a:t>
            </a:r>
            <a:pPr indent="0" marL="0">
              <a:buNone/>
            </a:pPr>
            <a:r>
              <a:rPr lang="en-US" sz="2600" dirty="0">
                <a:solidFill>
                  <a:srgbClr val="1E293B"/>
                </a:solidFill>
                <a:latin typeface="Calibri" pitchFamily="34" charset="0"/>
                <a:ea typeface="Calibri" pitchFamily="34" charset="-122"/>
                <a:cs typeface="Calibri" pitchFamily="34" charset="-120"/>
              </a:rPr>
              <a:t> in full command.</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“Captain Bowditch Commanding,”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Chapter titles use quotation marks.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navigator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Navigator: noun, the person who guides the ship. From navig- (sail) + -ator (one who).</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chapter 23 captain bowditch commanding nat bowditch proves that a person who combines mathematical knowledge with integrity can navigate any situation at sea or on land</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chapter 23 captain bowditch commanding nat bowditch proves that a person who combines mathematical knowledge with integrity can navigate any situation at sea or on land</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In Chapter 23, “Captain Bowditch Commanding,” Nat Bowditch proves that a person who combines mathematical knowledge with integrity can navigate any situation — at sea or on land.</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“In” and “Nat Bowditch”; chapter title in quotes; em dash (or comma) before “at sea or on land”; period.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As Captain Bowditch, Nat commands quietly, alone with every decision. Is he the same Nat who copied books by candlelight in the chandlery, or has he become someone new? Defend your answer with evidence from Chapter 23 and one earlier chapter.</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As Captain Bowditch, Nat commands quietly, alone with every decision. Is he the same Nat who copied books by candlelight in the chandlery, or has he become someone new? Defend your answer with evidence from Chapter 23 and one earlier chapter.</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TEACH THE SYSTEM TO A CLASSMATE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Word Families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family resemblance.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explain the word family system to a classmate. How does changing the suffix change the part of speech? Give two examples from our unit’s families.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Match each root to a word family it built this unit.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TEACH THE SYSTEM TO A CLASSMATE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Word Families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navigator, nautical</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Root: fract / frag — break</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telescope, inspect</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Root: fer — carry</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fracture, fragment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Root: nav / naut — ship</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transfer, infer</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Root: scope / spect — look</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TEACH THE SYSTEM TO A CLASSMATE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Word Families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navigator, nautical  =  </a:t>
            </a:r>
            <a:pPr indent="0" marL="0">
              <a:buNone/>
            </a:pPr>
            <a:r>
              <a:rPr lang="en-US" sz="2000" dirty="0">
                <a:solidFill>
                  <a:srgbClr val="1E293B"/>
                </a:solidFill>
                <a:latin typeface="Calibri" pitchFamily="34" charset="0"/>
                <a:ea typeface="Calibri" pitchFamily="34" charset="-122"/>
                <a:cs typeface="Calibri" pitchFamily="34" charset="-120"/>
              </a:rPr>
              <a:t>Root: nav / naut — ship</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telescope, inspect  =  </a:t>
            </a:r>
            <a:pPr indent="0" marL="0">
              <a:buNone/>
            </a:pPr>
            <a:r>
              <a:rPr lang="en-US" sz="2000" dirty="0">
                <a:solidFill>
                  <a:srgbClr val="1E293B"/>
                </a:solidFill>
                <a:latin typeface="Calibri" pitchFamily="34" charset="0"/>
                <a:ea typeface="Calibri" pitchFamily="34" charset="-122"/>
                <a:cs typeface="Calibri" pitchFamily="34" charset="-120"/>
              </a:rPr>
              <a:t>Root: scope / spect — look</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fracture, fragment  =  </a:t>
            </a:r>
            <a:pPr indent="0" marL="0">
              <a:buNone/>
            </a:pPr>
            <a:r>
              <a:rPr lang="en-US" sz="2000" dirty="0">
                <a:solidFill>
                  <a:srgbClr val="1E293B"/>
                </a:solidFill>
                <a:latin typeface="Calibri" pitchFamily="34" charset="0"/>
                <a:ea typeface="Calibri" pitchFamily="34" charset="-122"/>
                <a:cs typeface="Calibri" pitchFamily="34" charset="-120"/>
              </a:rPr>
              <a:t>Root: fract / frag — break</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transfer, infer  =  </a:t>
            </a:r>
            <a:pPr indent="0" marL="0">
              <a:buNone/>
            </a:pPr>
            <a:r>
              <a:rPr lang="en-US" sz="2000" dirty="0">
                <a:solidFill>
                  <a:srgbClr val="1E293B"/>
                </a:solidFill>
                <a:latin typeface="Calibri" pitchFamily="34" charset="0"/>
                <a:ea typeface="Calibri" pitchFamily="34" charset="-122"/>
                <a:cs typeface="Calibri" pitchFamily="34" charset="-120"/>
              </a:rPr>
              <a:t>Root: fer — carry</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TEACH THE SYSTEM TO A CLASSMATE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Word Families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All use the root navig- (sail) except one. Find the odd one.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information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navigation</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All are adjectives except one.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informative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courageous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hazardous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TEACH THE SYSTEM TO A CLASSMATE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Explain Word Families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All use the root navig- (sail) except one. Find the odd one.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information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navigation</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All are adjectives except one.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informative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courageous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hazardous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ALL SIX WORDS IN ONE PASSAGE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in Writing</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write a 5–6 sentence summary of Chapter 23 “Captain Bowditch Commanding” using all six vocabulary words naturally: navigate, navigation, navigator, inform, information, informative. Each word should appear once. It should read like a real summary, not like a vocabulary exercise.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Use all six. Type the word that fits each gap.</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ALL SIX WORDS IN ONE PASSAGE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in Writing</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apprentice · almanac · reckoning · navigator</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young person bound to learn a trade is an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yearly book of tables and tides is an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Working out position from speed and time is dead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person who guides a ship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ALL SIX WORDS IN ONE PASSAGE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in Writing</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young person bound to learn a trade is an </a:t>
            </a:r>
            <a:pPr indent="0" marL="0">
              <a:buNone/>
            </a:pPr>
            <a:r>
              <a:rPr lang="en-US" sz="2200" b="1" dirty="0">
                <a:solidFill>
                  <a:srgbClr val="1E8E52"/>
                </a:solidFill>
                <a:latin typeface="Calibri" pitchFamily="34" charset="0"/>
                <a:ea typeface="Calibri" pitchFamily="34" charset="-122"/>
                <a:cs typeface="Calibri" pitchFamily="34" charset="-120"/>
              </a:rPr>
              <a:t>apprentice</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yearly book of tables and tides is an </a:t>
            </a:r>
            <a:pPr indent="0" marL="0">
              <a:buNone/>
            </a:pPr>
            <a:r>
              <a:rPr lang="en-US" sz="2200" b="1" dirty="0">
                <a:solidFill>
                  <a:srgbClr val="1E8E52"/>
                </a:solidFill>
                <a:latin typeface="Calibri" pitchFamily="34" charset="0"/>
                <a:ea typeface="Calibri" pitchFamily="34" charset="-122"/>
                <a:cs typeface="Calibri" pitchFamily="34" charset="-120"/>
              </a:rPr>
              <a:t>almanac</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Working out position from speed and time is dead </a:t>
            </a:r>
            <a:pPr indent="0" marL="0">
              <a:buNone/>
            </a:pPr>
            <a:r>
              <a:rPr lang="en-US" sz="2200" b="1" dirty="0">
                <a:solidFill>
                  <a:srgbClr val="1E8E52"/>
                </a:solidFill>
                <a:latin typeface="Calibri" pitchFamily="34" charset="0"/>
                <a:ea typeface="Calibri" pitchFamily="34" charset="-122"/>
                <a:cs typeface="Calibri" pitchFamily="34" charset="-120"/>
              </a:rPr>
              <a:t>reckoning</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person who guides a ship is a </a:t>
            </a:r>
            <a:pPr indent="0" marL="0">
              <a:buNone/>
            </a:pPr>
            <a:r>
              <a:rPr lang="en-US" sz="2200" b="1" dirty="0">
                <a:solidFill>
                  <a:srgbClr val="1E8E52"/>
                </a:solidFill>
                <a:latin typeface="Calibri" pitchFamily="34" charset="0"/>
                <a:ea typeface="Calibri" pitchFamily="34" charset="-122"/>
                <a:cs typeface="Calibri" pitchFamily="34" charset="-120"/>
              </a:rPr>
              <a:t>navigator</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EDIT YOUR OWN EXPOSITORY ESSAY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read as a hunter, not as a reader.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Scan your expository essay draft. Find every place where you mention Carry On, Mr. Bowditch or any chapter title. Check: are book titles italicized (or underlined)? Are chapter titles in quotation marks? Fix any errors you find. Write your count in your reading journal: “I checked ___ title mentions and corrected ___ errors.”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Editing is not rereading. It is one kind of error at a time, from the top of the page down.</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EDIT YOUR OWN EXPOSITORY ESSAY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822960"/>
          </a:xfrm>
          <a:prstGeom prst="roundRect">
            <a:avLst>
              <a:gd name="adj" fmla="val 8889"/>
            </a:avLst>
          </a:prstGeom>
          <a:solidFill>
            <a:srgbClr val="E5F7FC"/>
          </a:solidFill>
          <a:ln w="15875">
            <a:solidFill>
              <a:srgbClr val="A6DDEE"/>
            </a:solidFill>
            <a:prstDash val="solid"/>
          </a:ln>
        </p:spPr>
      </p:sp>
      <p:sp>
        <p:nvSpPr>
          <p:cNvPr id="9" name="Text 7"/>
          <p:cNvSpPr/>
          <p:nvPr/>
        </p:nvSpPr>
        <p:spPr>
          <a:xfrm>
            <a:off x="731520" y="1600200"/>
            <a:ext cx="10728655" cy="731520"/>
          </a:xfrm>
          <a:prstGeom prst="rect">
            <a:avLst/>
          </a:prstGeom>
          <a:noFill/>
          <a:ln/>
        </p:spPr>
        <p:txBody>
          <a:bodyPr wrap="square" lIns="0" tIns="0" rIns="0" bIns="0" rtlCol="0" anchor="ctr">
            <a:normAutofit/>
          </a:bodyPr>
          <a:lstStyle/>
          <a:p>
            <a:pPr indent="0" marL="0">
              <a:buNone/>
            </a:pPr>
            <a:r>
              <a:rPr lang="en-US" sz="2000" b="1" dirty="0">
                <a:solidFill>
                  <a:srgbClr val="0E1C42"/>
                </a:solidFill>
                <a:latin typeface="Calibri" pitchFamily="34" charset="0"/>
                <a:ea typeface="Calibri" pitchFamily="34" charset="-122"/>
                <a:cs typeface="Calibri" pitchFamily="34" charset="-120"/>
              </a:rPr>
              <a:t>Proofread the paragraph. Not everything is wrong.</a:t>
            </a:r>
            <a:endParaRPr lang="en-US" sz="2000" dirty="0"/>
          </a:p>
        </p:txBody>
      </p:sp>
      <p:sp>
        <p:nvSpPr>
          <p:cNvPr id="10" name="Shape 8"/>
          <p:cNvSpPr/>
          <p:nvPr/>
        </p:nvSpPr>
        <p:spPr>
          <a:xfrm>
            <a:off x="502920" y="2560320"/>
            <a:ext cx="11185855" cy="3886200"/>
          </a:xfrm>
          <a:prstGeom prst="roundRect">
            <a:avLst>
              <a:gd name="adj" fmla="val 1882"/>
            </a:avLst>
          </a:prstGeom>
          <a:solidFill>
            <a:srgbClr val="F8FAFC"/>
          </a:solidFill>
          <a:ln w="15875">
            <a:solidFill>
              <a:srgbClr val="CBD5E1"/>
            </a:solidFill>
            <a:prstDash val="solid"/>
          </a:ln>
        </p:spPr>
      </p:sp>
      <p:sp>
        <p:nvSpPr>
          <p:cNvPr id="11" name="Text 9"/>
          <p:cNvSpPr/>
          <p:nvPr/>
        </p:nvSpPr>
        <p:spPr>
          <a:xfrm>
            <a:off x="822960" y="2697480"/>
            <a:ext cx="10545775" cy="3611880"/>
          </a:xfrm>
          <a:prstGeom prst="rect">
            <a:avLst/>
          </a:prstGeom>
          <a:noFill/>
          <a:ln/>
        </p:spPr>
        <p:txBody>
          <a:bodyPr wrap="square" lIns="0" tIns="0" rIns="0" bIns="0" rtlCol="0" anchor="t">
            <a:normAutofit/>
          </a:bodyPr>
          <a:lstStyle/>
          <a:p>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nathaniel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Bowditch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taught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himself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latin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french.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corrected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over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eight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thousand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errors,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book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were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carried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every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american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ship.</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EDIT YOUR OWN EXPOSITORY ESSAY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822960"/>
          </a:xfrm>
          <a:prstGeom prst="roundRect">
            <a:avLst>
              <a:gd name="adj" fmla="val 8889"/>
            </a:avLst>
          </a:prstGeom>
          <a:solidFill>
            <a:srgbClr val="E5F7FC"/>
          </a:solidFill>
          <a:ln w="15875">
            <a:solidFill>
              <a:srgbClr val="A6DDEE"/>
            </a:solidFill>
            <a:prstDash val="solid"/>
          </a:ln>
        </p:spPr>
      </p:sp>
      <p:sp>
        <p:nvSpPr>
          <p:cNvPr id="9" name="Text 7"/>
          <p:cNvSpPr/>
          <p:nvPr/>
        </p:nvSpPr>
        <p:spPr>
          <a:xfrm>
            <a:off x="731520" y="1600200"/>
            <a:ext cx="10728655" cy="731520"/>
          </a:xfrm>
          <a:prstGeom prst="rect">
            <a:avLst/>
          </a:prstGeom>
          <a:noFill/>
          <a:ln/>
        </p:spPr>
        <p:txBody>
          <a:bodyPr wrap="square" lIns="0" tIns="0" rIns="0" bIns="0" rtlCol="0" anchor="ctr">
            <a:normAutofit/>
          </a:bodyPr>
          <a:lstStyle/>
          <a:p>
            <a:pPr indent="0" marL="0">
              <a:buNone/>
            </a:pPr>
            <a:r>
              <a:rPr lang="en-US" sz="2000" b="1" dirty="0">
                <a:solidFill>
                  <a:srgbClr val="0E1C42"/>
                </a:solidFill>
                <a:latin typeface="Calibri" pitchFamily="34" charset="0"/>
                <a:ea typeface="Calibri" pitchFamily="34" charset="-122"/>
                <a:cs typeface="Calibri" pitchFamily="34" charset="-120"/>
              </a:rPr>
              <a:t>Proofread the paragraph. Not everything is wrong.</a:t>
            </a:r>
            <a:endParaRPr lang="en-US" sz="2000" dirty="0"/>
          </a:p>
        </p:txBody>
      </p:sp>
      <p:sp>
        <p:nvSpPr>
          <p:cNvPr id="10" name="Shape 8"/>
          <p:cNvSpPr/>
          <p:nvPr/>
        </p:nvSpPr>
        <p:spPr>
          <a:xfrm>
            <a:off x="502920" y="2560320"/>
            <a:ext cx="11185855" cy="3886200"/>
          </a:xfrm>
          <a:prstGeom prst="roundRect">
            <a:avLst>
              <a:gd name="adj" fmla="val 1882"/>
            </a:avLst>
          </a:prstGeom>
          <a:solidFill>
            <a:srgbClr val="F8FAFC"/>
          </a:solidFill>
          <a:ln w="15875">
            <a:solidFill>
              <a:srgbClr val="CBD5E1"/>
            </a:solidFill>
            <a:prstDash val="solid"/>
          </a:ln>
        </p:spPr>
      </p:sp>
      <p:sp>
        <p:nvSpPr>
          <p:cNvPr id="11" name="Text 9"/>
          <p:cNvSpPr/>
          <p:nvPr/>
        </p:nvSpPr>
        <p:spPr>
          <a:xfrm>
            <a:off x="822960" y="2697480"/>
            <a:ext cx="10545775" cy="3611880"/>
          </a:xfrm>
          <a:prstGeom prst="rect">
            <a:avLst/>
          </a:prstGeom>
          <a:noFill/>
          <a:ln/>
        </p:spPr>
        <p:txBody>
          <a:bodyPr wrap="square" lIns="0" tIns="0" rIns="0" bIns="0" rtlCol="0" anchor="t">
            <a:normAutofit/>
          </a:bodyPr>
          <a:lstStyle/>
          <a:p>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nathaniel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Bowditch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taught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himself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latin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french.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corrected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over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eight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thousand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errors,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book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were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carried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every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american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ship.</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SWYK: Cumulative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look for the pattern before you are told it.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5 words from across the CMB unit — one from each major spelling pattern studied. For each word: (1) write the correct spelling, (2) name the pattern it uses, (3) explain the rule, (4) write a sentence using the word in the context of Nat’s story.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Word 1 (schwa): ___ — pattern: schwa vowel — rule:... — sentence:... Word 2 (-ous/-ious/-eous): ___ — pattern:... — sentence:... Word 3 (assimilation): ___ — pattern:... — sentence:... Word 4 (word family): ___ — pattern:... — sentence:... Word 5 (your choice):...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23</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“He knew now why Prince always seemed to shed about ten years when they made their landfall.”</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Nat has watched Captain Prince do this for years without understanding it. Now Nat is the one taking a ship out, responsible for every man aboard. What has changed — in Prince, or in Nat?</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The whole sentence turns on two words: knew now. Latham never explains the insight. She reports the moment of getting it and lets you supply the meaning out of everything you have already read. That is how a conclusion earns its significance — it points back at the book instead of summarising it.</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He knew now why … sentence about something Nat finally understands by the end of the book. Do not explain the insight — let the sentence point back at what your reader already knows. No frame this time.</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23 — “CAPTAIN BOWDITCH COMMANDING”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14 — Chapter 23 — Captain Bowditch Commanding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23 is the outward completion of Nat’s arc. The boy who had to borrow and copy books by candlelight in the chandlery years is now in command of a ship. But notice: the deeper completion is not the rank. It’s how Nat commands — quietly, alone with every decision, through a typhoon, a lookout asleep on watch, and a polite dato bargaining hard over the price of pepper. (The biggest test of whether his crew will trust the mathematics is still to come, in Chapter 24.) As you read, ask: how does Captain Bowditch command in a way that reflects everything the book has been building?</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23</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Transformation: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Nat’s style of command in Chapter 23 reflect his character? What does he do — or refuse to do — that distinguishes him from other captains? Connect to at least one earlier chapter.</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Think Ahead to Chapter 24: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23 is the second-to-last chapter. Based on what you know of Nat’s arc and the novel’s theme, what do you predict will happen in Chapter 24? What kind of moment would appropriately end this story?</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1.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How does Nat command his ship differently from how a traditional captain might? What does his style of command reveal about his core values — and how does it connect to what he was doing in the chandlery during those nine years?</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2.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The title “Captain Bowditch Commanding” places “Commanding” as the final word. What does “commanding” mean beyond its literal definition (in charge of a ship)? What else does Nat “command” by Chapter 23?</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3.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Synthesize the arc: trace the single most important change in Nat Bowditch from Chapter 1 to Chapter 23. What specific moment or chapter marks the turning point of that change? Use evidence from at least two chapters.</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ASSEMBLE YOUR FINAL DRAFT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Today is final assembly day. You bring all your sections together, do one last read-through, and submit using the Writing Workshop page.</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Alex finishes the essay: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does a final read-through of the complete essay before submitting. BEFORE Alex's checklist result before the final read: Hook ✓. Claim ✓. Body 1 ✓. Body 2 ✓. Transitions ✓. Technical terms defined ✓. Conclusion synthesizes ✓. Citation ✓. AFTER Alex's one final fix: the word 'also' appeared twice in Body 2. Alex replaced the second one with 'What made this even more significant was' — a stronger, more meaningful transition. Notice: Alex's essay was 95% ready. The final read-through caught one weak transition — the kind of thing you only see when reading the whole essay as one piece. Always do a final read-through.</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ASSEMBLE YOUR FINAL DRAFT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Final Assembly Checklist: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your entire essay from beginning to end. Check each item. Note anything that still needs a fix. Alex’s example (filled): ✓ Hook pulls reader in before introducing Nat ✓ Claim specific, arguable, at the end of the introduction ✓ Body 1 has topic sentence + F+E+S + closing ✓ Body 2 has varied transition + F+E+S + closing ✓ Transitions no “also,” “then,” “another reason” ✓ Conclusion synthesizes (larger insight + return to hook + why it matters) ✓ Works Cited correctly formatted Your turn — do the same in your reading journal: Items that pass: ___ One final fix I made: ____________________ I am ready to compile and submit: YES / NOT YET — because: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“My essay argues that ___.” “The part I revised in my final read-through was ___ because ___.” “After this final fix, my essay is ready because...”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14.3 — Carry On, Mr. Bowditch, Chapter 23</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