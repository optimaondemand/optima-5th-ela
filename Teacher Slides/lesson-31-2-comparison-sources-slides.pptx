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31 Day 2 — Primary &amp; Secondary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a primary source add that a novel can't — and vice 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
Corrected: "The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
Corrected: "The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source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source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31  ·  DAY 2</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Primary &amp; Secondary Sources</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Literary text + historical source — what each adds to the comparison</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does a primary source add that a novel can't — and vice versa?</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SWYK: </a:t>
            </a:r>
            <a:pPr indent="0" marL="0">
              <a:buNone/>
            </a:pPr>
            <a:r>
              <a:rPr lang="en-US" sz="1200" dirty="0">
                <a:solidFill>
                  <a:srgbClr val="1E293B"/>
                </a:solidFill>
                <a:latin typeface="Calibri" pitchFamily="34" charset="0"/>
                <a:ea typeface="Calibri" pitchFamily="34" charset="-122"/>
                <a:cs typeface="Calibri" pitchFamily="34" charset="-120"/>
              </a:rPr>
              <a:t>I will write four comparison sentences using the grammar tools from Day 1.</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Sources: </a:t>
            </a:r>
            <a:pPr indent="0" marL="0">
              <a:buNone/>
            </a:pPr>
            <a:r>
              <a:rPr lang="en-US" sz="1200" dirty="0">
                <a:solidFill>
                  <a:srgbClr val="1E293B"/>
                </a:solidFill>
                <a:latin typeface="Calibri" pitchFamily="34" charset="0"/>
                <a:ea typeface="Calibri" pitchFamily="34" charset="-122"/>
                <a:cs typeface="Calibri" pitchFamily="34" charset="-120"/>
              </a:rPr>
              <a:t>I will read a primary and secondary source and identify evidence relevant to my theme.</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Project: </a:t>
            </a:r>
            <a:pPr indent="0" marL="0">
              <a:buNone/>
            </a:pPr>
            <a:r>
              <a:rPr lang="en-US" sz="1200" dirty="0">
                <a:solidFill>
                  <a:srgbClr val="1E293B"/>
                </a:solidFill>
                <a:latin typeface="Calibri" pitchFamily="34" charset="0"/>
                <a:ea typeface="Calibri" pitchFamily="34" charset="-122"/>
                <a:cs typeface="Calibri" pitchFamily="34" charset="-120"/>
              </a:rPr>
              <a:t>I will draft the opening and body paragraphs of my comparison essay.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Today you read two short source texts — a diary excerpt (primary) and a historical analysis (secondary). What is the difference between a primary and secondary source? Write 2 sentences defining each before you read.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While Kit Tyler endures social exile in Puritan Connecticut, Johnny Tremain actively fights against the very society that shaped him.</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Complex sentence using "while" — two simultaneous situations are contrasted. "Endures" vs "fights" signals the type of courage each character demonstrates without stating it directly. The grammar of sophisticated comparison.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The primary source diary shows that historical courage often looked like persistence, not heroism. Consequently, we see in the secondary source that the definition of courage changed across the colonial and revolutionary periods. However, all four novels suggest that the bravest act is to keep going.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Comparison Sentences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Sentence types: compound (FANBOYS) · complex (subordinating conjunctions) · compound-complex</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Openers: participial phrase · adverb · prepositional phrase · dependent clause</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Punctuation: commas in compound/complex/introductory clauses · dialogue · semicolon · em dash</a:t>
            </a:r>
            <a:endParaRPr lang="en-US" sz="1150" dirty="0"/>
          </a:p>
        </p:txBody>
      </p:sp>
      <p:sp>
        <p:nvSpPr>
          <p:cNvPr id="10" name="Shape 8"/>
          <p:cNvSpPr/>
          <p:nvPr/>
        </p:nvSpPr>
        <p:spPr>
          <a:xfrm>
            <a:off x="365760" y="25694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15184"/>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Abstract nouns: –ity, –ment, –ness · transitions: however, therefore, furthermore, consequently</a:t>
            </a:r>
            <a:endParaRPr lang="en-US" sz="1150" dirty="0"/>
          </a:p>
        </p:txBody>
      </p:sp>
      <p:sp>
        <p:nvSpPr>
          <p:cNvPr id="12" name="Shape 10"/>
          <p:cNvSpPr/>
          <p:nvPr/>
        </p:nvSpPr>
        <p:spPr>
          <a:xfrm>
            <a:off x="365760" y="3209544"/>
            <a:ext cx="8412480" cy="1371600"/>
          </a:xfrm>
          <a:prstGeom prst="roundRect">
            <a:avLst>
              <a:gd name="adj" fmla="val 6667"/>
            </a:avLst>
          </a:prstGeom>
          <a:solidFill>
            <a:srgbClr val="FEF6E8"/>
          </a:solidFill>
          <a:ln w="12700">
            <a:solidFill>
              <a:srgbClr val="C7922C"/>
            </a:solidFill>
            <a:prstDash val="solid"/>
          </a:ln>
        </p:spPr>
      </p:sp>
      <p:sp>
        <p:nvSpPr>
          <p:cNvPr id="13" name="Text 11"/>
          <p:cNvSpPr/>
          <p:nvPr/>
        </p:nvSpPr>
        <p:spPr>
          <a:xfrm>
            <a:off x="548640" y="3282696"/>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Write four sentences about your chosen theme and your two novels: (1) a sentence using although showing contrast, (2) a sentence using both...and showing similarity, (3) a sentence using however or in contrast after a semicolon, (4) a concluding sentence using consequently or therefore. Label each in parentheses.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Year-Long Review — Identify</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aud/or (hear/speak) · scrib/script (write) · dict (say) · spec/spect (look/see)</a:t>
            </a:r>
            <a:endParaRPr lang="en-US" sz="1150" dirty="0"/>
          </a:p>
        </p:txBody>
      </p:sp>
      <p:sp>
        <p:nvSpPr>
          <p:cNvPr id="6" name="Shape 4"/>
          <p:cNvSpPr/>
          <p:nvPr/>
        </p:nvSpPr>
        <p:spPr>
          <a:xfrm>
            <a:off x="365760" y="14356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481328"/>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rid/ris + lud/lus (laugh/play) · curr/curs + tract (run/pull)</a:t>
            </a:r>
            <a:endParaRPr lang="en-US" sz="1150" dirty="0"/>
          </a:p>
        </p:txBody>
      </p:sp>
      <p:sp>
        <p:nvSpPr>
          <p:cNvPr id="8" name="Shape 6"/>
          <p:cNvSpPr/>
          <p:nvPr/>
        </p:nvSpPr>
        <p:spPr>
          <a:xfrm>
            <a:off x="365760" y="20025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048256"/>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 + val/valid (strong/worth) · nav (ship) · port (carry) · voc/vox (voice/call)</a:t>
            </a:r>
            <a:endParaRPr lang="en-US" sz="1150" dirty="0"/>
          </a:p>
        </p:txBody>
      </p:sp>
      <p:sp>
        <p:nvSpPr>
          <p:cNvPr id="10" name="Shape 8"/>
          <p:cNvSpPr/>
          <p:nvPr/>
        </p:nvSpPr>
        <p:spPr>
          <a:xfrm>
            <a:off x="365760" y="2642616"/>
            <a:ext cx="8412480" cy="1005840"/>
          </a:xfrm>
          <a:prstGeom prst="roundRect">
            <a:avLst>
              <a:gd name="adj" fmla="val 9091"/>
            </a:avLst>
          </a:prstGeom>
          <a:solidFill>
            <a:srgbClr val="FEF6E8"/>
          </a:solidFill>
          <a:ln w="12700">
            <a:solidFill>
              <a:srgbClr val="C7922C"/>
            </a:solidFill>
            <a:prstDash val="solid"/>
          </a:ln>
        </p:spPr>
      </p:sp>
      <p:sp>
        <p:nvSpPr>
          <p:cNvPr id="11" name="Text 9"/>
          <p:cNvSpPr/>
          <p:nvPr/>
        </p:nvSpPr>
        <p:spPr>
          <a:xfrm>
            <a:off x="548640" y="2715768"/>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Find one word in either of today's source passages that contains a unit root. Name the root, its meaning, and explain how the root unlocks the word's meaning in context.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Cumulative Review — Identify Errors</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fortitude · tenacious · ludicrous · extraction · notoriety · consequently · nevertheless · validity · furthermore · persistence · descriptive · exuberance · however · therefore · creativity · prosperous · defiance · colonial · rebellion · maritime · navigation · celestial · latitude · longitude</a:t>
            </a:r>
            <a:endParaRPr lang="en-US" sz="1150" dirty="0"/>
          </a:p>
        </p:txBody>
      </p:sp>
      <p:sp>
        <p:nvSpPr>
          <p:cNvPr id="6" name="Shape 4"/>
          <p:cNvSpPr/>
          <p:nvPr/>
        </p:nvSpPr>
        <p:spPr>
          <a:xfrm>
            <a:off x="365760" y="1508760"/>
            <a:ext cx="8412480" cy="1005840"/>
          </a:xfrm>
          <a:prstGeom prst="roundRect">
            <a:avLst>
              <a:gd name="adj" fmla="val 9091"/>
            </a:avLst>
          </a:prstGeom>
          <a:solidFill>
            <a:srgbClr val="FEF6E8"/>
          </a:solidFill>
          <a:ln w="12700">
            <a:solidFill>
              <a:srgbClr val="C7922C"/>
            </a:solidFill>
            <a:prstDash val="solid"/>
          </a:ln>
        </p:spPr>
      </p:sp>
      <p:sp>
        <p:nvSpPr>
          <p:cNvPr id="7" name="Text 5"/>
          <p:cNvSpPr/>
          <p:nvPr/>
        </p:nvSpPr>
        <p:spPr>
          <a:xfrm>
            <a:off x="548640" y="1581912"/>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Find and correct every misspelling: persistance, exuberence, ludicrus, fortitued, consequentley, notoreity, desciptive, nevertheles. Write each corrected word and identify the rule that fixes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Primary Source — Diary of a Forty-Niner (1849)</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3291840"/>
          </a:xfrm>
          <a:prstGeom prst="roundRect">
            <a:avLst>
              <a:gd name="adj" fmla="val 2778"/>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87552"/>
            <a:ext cx="8046720" cy="2880360"/>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April 14, 1849. Somewhere in the Pacific Ocean.</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I have now been at sea for eleven weeks and the sight of land would restore my courage more than any medicine. We have lost three men to fever. The rations grow shorter each week.</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The captain is a hard man. He speaks to no one except to give orders. But yesterday, when a boy of perhaps twelve was found in the cargo hold, the captain fed him from his own plate. He said nothing. He simply did it.</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"Courage is not the roaring lion. It is the quiet thing a man does when no one is watching and no one will know."</a:t>
            </a:r>
            <a:endParaRPr lang="en-US" sz="1200" dirty="0"/>
          </a:p>
        </p:txBody>
      </p:sp>
      <p:sp>
        <p:nvSpPr>
          <p:cNvPr id="6" name="Text 4"/>
          <p:cNvSpPr/>
          <p:nvPr/>
        </p:nvSpPr>
        <p:spPr>
          <a:xfrm>
            <a:off x="548640" y="4206240"/>
            <a:ext cx="804672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Original passage written for educational use. Based on historical diaries from the Gold Rush era, 1848–1850.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Secondary Source — Historical Context: Courage in the Age of Revolution</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3291840"/>
          </a:xfrm>
          <a:prstGeom prst="roundRect">
            <a:avLst>
              <a:gd name="adj" fmla="val 2778"/>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87552"/>
            <a:ext cx="8046720" cy="2880360"/>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Between 1688 and 1776, the American colonies experienced a dramatic shift in what it meant to be courageous. In the Puritan era, courage was often defined as endurance — Kit Tyler in The Witch of Blackbird Pond demonstrates this: she endures suspicion and community pressure while staying true to herself.</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By the Revolutionary era, courage had taken on a political dimension. Johnny Tremain and his fellow apprentices choose to resist. Courage becomes an active, public, even dangerous choice.</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By the 1840s Gold Rush, a third definition emerged: courage as persistence — the courage Nat Bowditch demonstrated through self-education, and the courage Jack Flagg and Praiseworthy showed crossing 15,000 miles of ocean.</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All three kinds of courage — endurance, resistance, and persistence — appear across the year's reading.</a:t>
            </a:r>
            <a:endParaRPr lang="en-US" sz="1200" dirty="0"/>
          </a:p>
        </p:txBody>
      </p:sp>
      <p:sp>
        <p:nvSpPr>
          <p:cNvPr id="6" name="Text 4"/>
          <p:cNvSpPr/>
          <p:nvPr/>
        </p:nvSpPr>
        <p:spPr>
          <a:xfrm>
            <a:off x="548640" y="4206240"/>
            <a:ext cx="804672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 Educational background passage. Written for Optima Academy Online, 5th Grade ELA.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 Primary &amp; Secondary Sources on Courage</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does historical evidence add to a literary argument?</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1. Connect: Does this source support, complicate, or add to what the novel shows?</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 Quote precisely: Find one phrase that could strengthen your argument. Copy it exactly.</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 Explain the connection: Don't just quote — explain WHY this evidence matters for your theme.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Source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primary source diary defines courage as "the quiet thing a man does when no one is watching." Which of the year's novel characters best fits this definition? Give one specific example from the novel.</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Source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The secondary source identifies three kinds of courage: endurance (Puritan era), resistance (Revolutionary era), and persistence (Gold Rush era). Match each of the year's four novels to one of these three kinds. Explain your choices in 2–3 sentences.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Source Question 3</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Using both a literary source and one of today's informational sources, write a 3-sentence argument about your chosen theme: (1) make a claim, (2) include evidence from the novel, (3) include evidence from the informational source.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C7922C"/>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E2E8F4"/>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E2E8F4"/>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Publish</a:t>
            </a:r>
            <a:endParaRPr lang="en-US" sz="1100" dirty="0"/>
          </a:p>
        </p:txBody>
      </p:sp>
      <p:sp>
        <p:nvSpPr>
          <p:cNvPr id="12" name="Text 10"/>
          <p:cNvSpPr/>
          <p:nvPr/>
        </p:nvSpPr>
        <p:spPr>
          <a:xfrm>
            <a:off x="365760" y="13716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YOUR ESSAY STRUCTURE</a:t>
            </a:r>
            <a:endParaRPr lang="en-US" sz="1100" dirty="0"/>
          </a:p>
        </p:txBody>
      </p:sp>
      <p:sp>
        <p:nvSpPr>
          <p:cNvPr id="13" name="Shape 11"/>
          <p:cNvSpPr/>
          <p:nvPr/>
        </p:nvSpPr>
        <p:spPr>
          <a:xfrm>
            <a:off x="365760" y="166420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170078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Opening paragraph: Hook + both novels named + your comparison claim (from Day 1)</a:t>
            </a:r>
            <a:endParaRPr lang="en-US" sz="1050" dirty="0"/>
          </a:p>
        </p:txBody>
      </p:sp>
      <p:sp>
        <p:nvSpPr>
          <p:cNvPr id="15" name="Shape 13"/>
          <p:cNvSpPr/>
          <p:nvPr/>
        </p:nvSpPr>
        <p:spPr>
          <a:xfrm>
            <a:off x="365760" y="217627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21284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Body paragraph 1: Novel 1 — claim + Evidence A + Evidence B + explain connection to theme</a:t>
            </a:r>
            <a:endParaRPr lang="en-US" sz="1050" dirty="0"/>
          </a:p>
        </p:txBody>
      </p:sp>
      <p:sp>
        <p:nvSpPr>
          <p:cNvPr id="17" name="Shape 15"/>
          <p:cNvSpPr/>
          <p:nvPr/>
        </p:nvSpPr>
        <p:spPr>
          <a:xfrm>
            <a:off x="365760" y="268833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272491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Body paragraph 2: Novel 2 — claim + Evidence A + Evidence B + explain connection to theme</a:t>
            </a:r>
            <a:endParaRPr lang="en-US" sz="1050" dirty="0"/>
          </a:p>
        </p:txBody>
      </p:sp>
      <p:sp>
        <p:nvSpPr>
          <p:cNvPr id="19" name="Shape 17"/>
          <p:cNvSpPr/>
          <p:nvPr/>
        </p:nvSpPr>
        <p:spPr>
          <a:xfrm>
            <a:off x="365760" y="320040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236976"/>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Comparison paragraph: similarities, differences, what the difference REVEALS</a:t>
            </a:r>
            <a:endParaRPr lang="en-US" sz="1050" dirty="0"/>
          </a:p>
        </p:txBody>
      </p:sp>
      <p:sp>
        <p:nvSpPr>
          <p:cNvPr id="21" name="Shape 19"/>
          <p:cNvSpPr/>
          <p:nvPr/>
        </p:nvSpPr>
        <p:spPr>
          <a:xfrm>
            <a:off x="365760" y="3712464"/>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2" name="Text 20"/>
          <p:cNvSpPr/>
          <p:nvPr/>
        </p:nvSpPr>
        <p:spPr>
          <a:xfrm>
            <a:off x="548640" y="3749040"/>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Closing: restate what both novels say together — and why it matters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Draft your opening paragraph and at least one body paragraph today. Use your comparison claim from Day 1.</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answered all three source questions, including the three-sentence argument.</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Grammar SWYK: four labeled comparison sentences.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drafted my opening paragraph and at least one body paragraph.</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wrote my DOL edit and RWM journal in my reading journal.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