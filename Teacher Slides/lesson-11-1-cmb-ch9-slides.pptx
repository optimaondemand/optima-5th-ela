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11.1: Chapter 9, "Anchor to Windward". Banner quote: “It sounds like a good anchor to windward. People that can use their brains are lucky.” (David Martin, Chapter 9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knowledge anchor you against? Today you read Chapter 9 and continue drafting your expository research piece. Keep asking: How do events in this chapter develop Nat’s character?
Objectives:
- 🌱 Morphology: Define roots meter/metr (measure) and scope/spect (look).
- ✏️ Grammar: I will define relative pronouns and the clauses they introduce.
- 🔤 Spelling: I will define how to divide a long word at its meaning-parts.
- 📖 Reading: I will define perseverance in this book by naming what Nat has held onto through his years at the chandlery.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measurements of a ship's longitude requires a precise clock and careful mathematical calculations
Corrected: The measurements of a ship's longitude require a precise clock and careful mathematical calculations.
Fixes: capitalize “The” at the start; “measurements” is the subject (plural) → “require” (not “requires”); apostrophe in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measurements of a ship's longitude requires a precise clock and careful mathematical calculations
Corrected: The measurements of a ship's longitude require a precise clock and careful mathematical calculations.
Fixes: capitalize “The” at the start; “measurements” is the subject (plural) → “require” (not “requires”); apostrophe in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meter/metr + scope/spect — Define · measure and look.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chronometer  2. telescope  3. inspected  4. barometer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Six words for this week.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supercargo: The ship’s officer responsible for the commercial cargo — buying, selling, and managing the goods being traded. A supercargo’s job required mathematical precision and trustworthiness.
terrestrial: Relating to the earth or dry land (as opposed to the sea or the sky). The root terr (land) + estrial creates a formal adjective meaning “of the earth.”
observation: The precise measurement of the angle between a celestial body (sun, moon, or star) and the horizon, used to calculate a ship’s position. Also: the act of carefully watching and recording.
navigate: To plan and direct a route, especially at sea; to find one’s position and determine the best course. From Latin navis (ship) + agere (to drive/steer).
prospect: The possibility or expectation of something happening in the future; a likely outcome. As a noun: a view or outlook. As a verb: to search for something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sailor who could not read still learned to navigate. — spot1
2. Nat checked the tables that every navigator trusted. — spot2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The chronometer, which cost more than the ship’s cargo, kept perfect time. — spot3
4. The sailor who could not read still learned to navigate. — spot4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Dividing Long Words by Their Parts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Dividing Long Words by Their Parts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Two parts: barometer, telescope, inspect
Three parts: inspection, unhelpful, rediscovered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Write your hook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Write your hook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11  ·  DAY 1  ·  LESSON 11.1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9 — Anchor to Windward</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“It sounds like a good anchor to windward. People that can use their brains are lucky.”</a:t>
            </a:r>
            <a:pPr indent="0" marL="0">
              <a:buNone/>
            </a:pPr>
            <a:r>
              <a:rPr lang="en-US" sz="1600" dirty="0">
                <a:solidFill>
                  <a:srgbClr val="55C8E8"/>
                </a:solidFill>
                <a:latin typeface="Calibri" pitchFamily="34" charset="0"/>
                <a:ea typeface="Calibri" pitchFamily="34" charset="-122"/>
                <a:cs typeface="Calibri" pitchFamily="34" charset="-120"/>
              </a:rPr>
              <a:t>  — David Martin, Chapter 9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DEFINE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9</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knowledge anchor you against?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9 and continue drafting your expository research piece. Keep asking: How do events in this chapter develop Nat’s character?</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Define roots meter/metr (measure) and scope/spect (look).</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relative pronouns and the clauses they introduce.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how to divide a long word at its meaning-parts.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perseverance in this book by naming what Nat has held onto through his years at the chandlery.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Good readers watch perseverance become a theme. An “anchor to windward” is a real safety measure: in a storm a sailor heaves an anchor out on the side the wind comes from, so the ship cannot drift. By Chapter 9 Nat has built one in his mind. Ask what he has been holding onto through his years at the chandlery, and what this book is beginning to say about people who keep going.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moment quitting was an option: Perseverance only shows where giving up was genuinely available.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keeps him going: Look for the reason the text gives, not the one you would supply yourself.</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theme as a sentence: Say what the book argues about people who keep going. “Perseverance” is a topic; a theme is a full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is Nat’s “anchor to windward” in Chapter 9? How has his knowledge become a safety line?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relationships are developing for Nat during this chapter? How does he treat the people around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the author show that Nat’s reputation is growing — without just saying “people admired him”?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Knowledge</a:t>
            </a:r>
            <a:pPr indent="0" marL="0">
              <a:buNone/>
            </a:pPr>
            <a:r>
              <a:rPr lang="en-US" sz="2600" dirty="0">
                <a:solidFill>
                  <a:srgbClr val="1E293B"/>
                </a:solidFill>
                <a:latin typeface="Calibri" pitchFamily="34" charset="0"/>
                <a:ea typeface="Calibri" pitchFamily="34" charset="-122"/>
                <a:cs typeface="Calibri" pitchFamily="34" charset="-120"/>
              </a:rPr>
              <a:t> of the earth's oceans </a:t>
            </a:r>
            <a:pPr indent="0" marL="0">
              <a:buNone/>
            </a:pPr>
            <a:r>
              <a:rPr lang="en-US" sz="2600" b="1" u="sng" dirty="0">
                <a:solidFill>
                  <a:srgbClr val="1E8E52"/>
                </a:solidFill>
                <a:latin typeface="Calibri" pitchFamily="34" charset="0"/>
                <a:ea typeface="Calibri" pitchFamily="34" charset="-122"/>
                <a:cs typeface="Calibri" pitchFamily="34" charset="-120"/>
              </a:rPr>
              <a:t>gives</a:t>
            </a:r>
            <a:pPr indent="0" marL="0">
              <a:buNone/>
            </a:pPr>
            <a:r>
              <a:rPr lang="en-US" sz="2600" dirty="0">
                <a:solidFill>
                  <a:srgbClr val="1E293B"/>
                </a:solidFill>
                <a:latin typeface="Calibri" pitchFamily="34" charset="0"/>
                <a:ea typeface="Calibri" pitchFamily="34" charset="-122"/>
                <a:cs typeface="Calibri" pitchFamily="34" charset="-120"/>
              </a:rPr>
              <a:t> a navigator the power to </a:t>
            </a:r>
            <a:pPr indent="0" marL="0">
              <a:buNone/>
            </a:pPr>
            <a:r>
              <a:rPr lang="en-US" sz="2600" b="1" u="sng" dirty="0">
                <a:solidFill>
                  <a:srgbClr val="1E8E52"/>
                </a:solidFill>
                <a:latin typeface="Calibri" pitchFamily="34" charset="0"/>
                <a:ea typeface="Calibri" pitchFamily="34" charset="-122"/>
                <a:cs typeface="Calibri" pitchFamily="34" charset="-120"/>
              </a:rPr>
              <a:t>cross them safely.</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Knowledge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The subject is “knowledge,” singular. The intervening phrase “of the earth’s oceans” does not change that.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gives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“gives” agrees with the singular subject “knowledge” — not with the plural “oceans.”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cross them safely.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 period ends this declarative sentence.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measurements of a ship's longitude requires a precise clock and careful mathematical calculations</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measurements of a ship's longitude requires a precise clock and careful mathematical calculations</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measurements of a ship's longitude require a precise clock and careful mathematical calculations.</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at the start; “measurements” is the subject (plural) → “require” (not “requires”); apostrophe in “ship's.”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An anchor to windward keeps a ship safe in a storm. What is Nat's anchor to windward in Chapter 9: his mathematics, or the people around him? Pick one and defend it with evidence. Then answer someone who picks the other.</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An anchor to windward keeps a ship safe in a storm. What is Nat's anchor to windward in Chapter 9: his mathematics, or the people around him? Pick one and defend it with evidence. Then answer someone who picks the other.</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MEASURE AND LOOK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Nat’s world is now made of instruments. A chronometer to measure time, a sextant to look at the sun, a telescope to look far. Two Greek and Latin roots run through all of it: meter/metr = measure, and scope/spect = look. Between them they name almost every tool a navigator owns.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Two Roots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meter / metr = measure → thermometer, barometer, chronometer, perimeter, diameter</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scope = look, watch → telescope, microscope, periscope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spect = look → inspect, spectator, perspective — you met this one in the Witch unit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The test: if the word gives you a number, suspect meter. If it gives you a view, suspect scope or spect.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Fill in the root: complete each word with meter or scope. Use the sentence to decide whether the instrument measures or looks.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MEASURE AND LOOK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ship’s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had to keep time accurately for months at sea.</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Nat used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to bring the horizon close enough to measure.</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Every figure in the tables had to be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twice before he would trust it.</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falling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warned the crew that weather was coming.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MEASURE AND LOOK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ship’s </a:t>
            </a:r>
            <a:pPr indent="0" marL="0">
              <a:buNone/>
            </a:pPr>
            <a:r>
              <a:rPr lang="en-US" sz="2200" b="1" dirty="0">
                <a:solidFill>
                  <a:srgbClr val="1E8E52"/>
                </a:solidFill>
                <a:latin typeface="Calibri" pitchFamily="34" charset="0"/>
                <a:ea typeface="Calibri" pitchFamily="34" charset="-122"/>
                <a:cs typeface="Calibri" pitchFamily="34" charset="-120"/>
              </a:rPr>
              <a:t>chronometer</a:t>
            </a:r>
            <a:pPr indent="0" marL="0">
              <a:buNone/>
            </a:pPr>
            <a:r>
              <a:rPr lang="en-US" sz="2200" dirty="0">
                <a:solidFill>
                  <a:srgbClr val="1E293B"/>
                </a:solidFill>
                <a:latin typeface="Calibri" pitchFamily="34" charset="0"/>
                <a:ea typeface="Calibri" pitchFamily="34" charset="-122"/>
                <a:cs typeface="Calibri" pitchFamily="34" charset="-120"/>
              </a:rPr>
              <a:t> had to keep time accurately for months at sea.</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Nat used a </a:t>
            </a:r>
            <a:pPr indent="0" marL="0">
              <a:buNone/>
            </a:pPr>
            <a:r>
              <a:rPr lang="en-US" sz="2200" b="1" dirty="0">
                <a:solidFill>
                  <a:srgbClr val="1E8E52"/>
                </a:solidFill>
                <a:latin typeface="Calibri" pitchFamily="34" charset="0"/>
                <a:ea typeface="Calibri" pitchFamily="34" charset="-122"/>
                <a:cs typeface="Calibri" pitchFamily="34" charset="-120"/>
              </a:rPr>
              <a:t>telescope</a:t>
            </a:r>
            <a:pPr indent="0" marL="0">
              <a:buNone/>
            </a:pPr>
            <a:r>
              <a:rPr lang="en-US" sz="2200" dirty="0">
                <a:solidFill>
                  <a:srgbClr val="1E293B"/>
                </a:solidFill>
                <a:latin typeface="Calibri" pitchFamily="34" charset="0"/>
                <a:ea typeface="Calibri" pitchFamily="34" charset="-122"/>
                <a:cs typeface="Calibri" pitchFamily="34" charset="-120"/>
              </a:rPr>
              <a:t> to bring the horizon close enough to measure.</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Every figure in the tables had to be </a:t>
            </a:r>
            <a:pPr indent="0" marL="0">
              <a:buNone/>
            </a:pPr>
            <a:r>
              <a:rPr lang="en-US" sz="2200" b="1" dirty="0">
                <a:solidFill>
                  <a:srgbClr val="1E8E52"/>
                </a:solidFill>
                <a:latin typeface="Calibri" pitchFamily="34" charset="0"/>
                <a:ea typeface="Calibri" pitchFamily="34" charset="-122"/>
                <a:cs typeface="Calibri" pitchFamily="34" charset="-120"/>
              </a:rPr>
              <a:t>inspected</a:t>
            </a:r>
            <a:pPr indent="0" marL="0">
              <a:buNone/>
            </a:pPr>
            <a:r>
              <a:rPr lang="en-US" sz="2200" dirty="0">
                <a:solidFill>
                  <a:srgbClr val="1E293B"/>
                </a:solidFill>
                <a:latin typeface="Calibri" pitchFamily="34" charset="0"/>
                <a:ea typeface="Calibri" pitchFamily="34" charset="-122"/>
                <a:cs typeface="Calibri" pitchFamily="34" charset="-120"/>
              </a:rPr>
              <a:t> twice before he would trust it.</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falling </a:t>
            </a:r>
            <a:pPr indent="0" marL="0">
              <a:buNone/>
            </a:pPr>
            <a:r>
              <a:rPr lang="en-US" sz="2200" b="1" dirty="0">
                <a:solidFill>
                  <a:srgbClr val="1E8E52"/>
                </a:solidFill>
                <a:latin typeface="Calibri" pitchFamily="34" charset="0"/>
                <a:ea typeface="Calibri" pitchFamily="34" charset="-122"/>
                <a:cs typeface="Calibri" pitchFamily="34" charset="-120"/>
              </a:rPr>
              <a:t>barometer</a:t>
            </a:r>
            <a:pPr indent="0" marL="0">
              <a:buNone/>
            </a:pPr>
            <a:r>
              <a:rPr lang="en-US" sz="2200" dirty="0">
                <a:solidFill>
                  <a:srgbClr val="1E293B"/>
                </a:solidFill>
                <a:latin typeface="Calibri" pitchFamily="34" charset="0"/>
                <a:ea typeface="Calibri" pitchFamily="34" charset="-122"/>
                <a:cs typeface="Calibri" pitchFamily="34" charset="-120"/>
              </a:rPr>
              <a:t> warned the crew that weather was coming.</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Explain the difference between meter and scope/spect, then sort these four words by root and say what each one does: barometer, periscope, perimeter, inspect.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Name what each root means, then give the root and the job for all four words.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This week’s six words come from the world Nat is stepping into as he completes his indenture and prepares for life at sea. Use the 3-step Decode &amp; Discover strategy on each one.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3-Step Decode: longitude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1 — Context: A navigator must know both latitude (north-south position) and longitude (east-west position) to find a ship’s exact location. Without longitude, you know what “row” you’re on but not what “column.”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2 — Word Parts: Longi- means long. -tude turns it into a noun. Longitude measures how far you’ve traveled along the long way around the earth (east or west).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3 — Confirm: Longitude is the east-west measurement of position on the earth, expressed in degrees from 0° (Prime Meridian) to 180°. Sailors in Nat’s day struggled to find longitude at sea because it required knowing the exact time.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360669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supercargo</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The ship’s officer responsible for the commercial cargo — buying, selling, and managing the goods being traded. A supercargo’s job required mathematical precision and trustworthiness.</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“But you’d do all right as ship’s clerk. You might work up to supercargo.” — Ch. 11</a:t>
            </a:r>
            <a:endParaRPr lang="en-US" sz="2400" dirty="0"/>
          </a:p>
        </p:txBody>
      </p:sp>
      <p:sp>
        <p:nvSpPr>
          <p:cNvPr id="8" name="Shape 6"/>
          <p:cNvSpPr/>
          <p:nvPr/>
        </p:nvSpPr>
        <p:spPr>
          <a:xfrm>
            <a:off x="4292498" y="1554480"/>
            <a:ext cx="360669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4475378"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terrestrial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Relating to the earth or dry land (as opposed to the sea or the sky). The root terr (land) + estrial creates a formal adjective meaning “of the earth.”</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 terrestrial globe shows the land masses of the earth; a celestial globe shows the positions of the stars.</a:t>
            </a:r>
            <a:endParaRPr lang="en-US" sz="2400" dirty="0"/>
          </a:p>
        </p:txBody>
      </p:sp>
      <p:sp>
        <p:nvSpPr>
          <p:cNvPr id="10" name="Shape 8"/>
          <p:cNvSpPr/>
          <p:nvPr/>
        </p:nvSpPr>
        <p:spPr>
          <a:xfrm>
            <a:off x="8082077" y="1554480"/>
            <a:ext cx="360669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8264957"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observation</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The precise measurement of the angle between a celestial body (sun, moon, or star) and the horizon, used to calculate a ship’s position. Also: the act of carefully watching and recording.</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 navigator takes a careful observation of the sun at noon — measuring its angle above the horizon with a sextant — to calculate latitude. — Chs. 9–12</a:t>
            </a:r>
            <a:endParaRPr lang="en-US" sz="2400" dirty="0"/>
          </a:p>
        </p:txBody>
      </p:sp>
      <p:sp>
        <p:nvSpPr>
          <p:cNvPr id="12" name="Shape 10"/>
          <p:cNvSpPr/>
          <p:nvPr/>
        </p:nvSpPr>
        <p:spPr>
          <a:xfrm>
            <a:off x="502920" y="4091940"/>
            <a:ext cx="360669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85800"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navigate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To plan and direct a route, especially at sea; to find one’s position and determine the best course. From Latin navis (ship) + agere (to drive/steer).</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 ship’s captain must know how to navigate — plan the safest and most efficient route across open ocean, adjusting for wind, current, and position.</a:t>
            </a:r>
            <a:endParaRPr lang="en-US" sz="2400" dirty="0"/>
          </a:p>
        </p:txBody>
      </p:sp>
      <p:sp>
        <p:nvSpPr>
          <p:cNvPr id="14" name="Shape 12"/>
          <p:cNvSpPr/>
          <p:nvPr/>
        </p:nvSpPr>
        <p:spPr>
          <a:xfrm>
            <a:off x="4292498" y="4091940"/>
            <a:ext cx="3606698" cy="2354580"/>
          </a:xfrm>
          <a:prstGeom prst="roundRect">
            <a:avLst>
              <a:gd name="adj" fmla="val 3107"/>
            </a:avLst>
          </a:prstGeom>
          <a:solidFill>
            <a:srgbClr val="E5F7FC"/>
          </a:solidFill>
          <a:ln w="15875">
            <a:solidFill>
              <a:srgbClr val="A6DDEE"/>
            </a:solidFill>
            <a:prstDash val="solid"/>
          </a:ln>
        </p:spPr>
      </p:sp>
      <p:sp>
        <p:nvSpPr>
          <p:cNvPr id="15" name="Text 13"/>
          <p:cNvSpPr/>
          <p:nvPr/>
        </p:nvSpPr>
        <p:spPr>
          <a:xfrm>
            <a:off x="4475378"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prospect</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The possibility or expectation of something happening in the future; a likely outcome. As a noun: a view or outlook. As a verb: to search for something valuable.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“Why did Ben come around this morning? To shake his head over your prospects?” — Ch. 11</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 you notice?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Each bold word is a pronoun standing in for a noun. Find the noun it points back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was a boy who loved numbers.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book that he carried everywhere was written in Latin.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Principia, which was written in Latin, took him years.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Dr. Bentley, whose Latin books Nat borrowed, helped him get started.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sailors who learned from Nat could find their position at sea.</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look at the commas. Which sentences fence the clause off with commas, and which do not?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Think it through.</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noun does each pronoun replace?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How do you know for sure — what is the clue?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Why do sentences 3 and 4 have commas, but sentences 2 and 5 do not?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Spot the clause: In each pair, tap the sentence where who, which, or that adds information about a noun.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contains a relative clause?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sailor who could not read still learned to navigate.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sailor could not read, but he learned to navigate.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contains a relative clause?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checked the tables and found the errors.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checked the tables that every navigator trusted.</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contains a relative clause?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sailor who could not read still learned to navigate.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sailor could not read, but he learned to navigate.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contains a relative clause?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 checked the tables and found the errors.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 checked the tables that every navigator trusted.</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contains a relative clause?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chronometer, which cost more than the ship’s cargo, kept perfect time.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chronometer cost more than the ship’s cargo and kept perfect time.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Take the clause out. Which clause is essential — the sentence stops making sense without it?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sailor who could not read still learned to navigate.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chronometer, which cost more than the ship’s cargo, kept perfect time.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contains a relative clause?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chronometer, which cost more than the ship’s cargo, kept perfect time.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chronometer cost more than the ship’s cargo and kept perfect time.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Take the clause out. Which clause is essential — the sentence stops making sense without it?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sailor who could not read still learned to navigate.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chronometer, which cost more than the ship’s cargo, kept perfect time.</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Sort them yourself first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Clap these words into beats before you read them.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Cut at the Seams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chron/o/meter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tele/scope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peri/meter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bio/graph/y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manu/script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order: find the root first, then the prefix, then the ending. Whatever is left over is usually a connecting vowel like the o in chronometer.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your reading journal, split these four words at their meaning-seams and translate every part. Say each one aloud afterwards to hear how much easier it is once you can see the pieces: chronometer · terrestrial · navigation · telescope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Work through these before you read 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How many beats does each word have?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Where would you put the split?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is the vowel doing in each beat — short, or saying its name?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long word breaks at its parts before it breaks anywhere else. Find the prefix, find the root, and the rest follows.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Sort each word by how many parts it is built from.</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barometer     ·     telescope     ·     inspect     ·     inspection     ·     unhelpful     ·     rediscovered</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Two parts</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Three parts</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Two parts</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barometer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telescope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inspect</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Three parts</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inspection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unhelpful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rediscovered</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9 — “ANCHOR TO WINDWARD”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11 — Chapter 9 — Anchor to Windward</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9 shows Nat deep in his nine-year indenture, his reputation for mathematical precision growing. The title gives away the theme: an anchor to windward is safety in a storm. Nat’s knowledge has become his.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9</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What Is Nat’s Anchor?: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nautical terms, an anchor to windward holds a ship safe in a storm. What is Nat’s ‘anchor to windward’ by Chapter 9 — what keeps him stable and secure despite the hardships of his indenture?</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Nat and the People Around Him: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Nat treat the people around him in Chapter 9 — Lizza, Mary and David, Elizabeth Boardman, Dr. Prince? What do these interactions reveal about who he is becoming as a person?</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The title of Chapter 9 is “Anchor to Windward.” Explain the nautical meaning of this phrase. Then explain how it applies to Nat — what is his ‘anchor to windward,’ and how has he built it?</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Events in Chapter 9 continue to develop Nat’s character. Choose one specific event from the chapter and explain: (a) what happened, (b) how it connects to something earlier in the book, and (c) what it reveals about Nat’s character.</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Nat still has years left on his indenture. Think ahead: based on everything you know about Nat by Chapter 9, what do you predict he will do with his freedom when it comes? Use evidence from Chapters 5–9 to support your prediction.</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WRITE YOUR HOOK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Drafting begins today. Start with the hook — the very first thing your reader will see. A strong hook pulls them in before they know anything about Nat Bowditch.</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has three options for the hook and has to choose the strongest one. BEFORE Option 1: Nathaniel Bowditch was born in Salem in 1773. Option 2: Have you ever wondered what it takes to become a great mathematician? Option 3: A ship navigated blind into Salem Harbor in December fog — no landmarks, no visibility — guided only by one man’s calculations. AFTER Alex chooses Option 3: the fog scene. It starts in the middle of action, raises a question (how?), and puts the reader on the ship before introducing Nat. Notice: Option 1 is a fact, not a hook. Option 2 is a question that sounds like homework. Option 3 drops the reader into a moment of tension. The best hooks are scenes, not facts or questions.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WRITE YOUR HOOK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Three Hook Types: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Try all three hook types. Then choose the one that best fits your claim. Alex’s example (filled): Type 1: Scene (drop the reader in a moment) A ship navigated blind into Salem Harbor in December fog — no landmarks, no visibility — guided only by one man’s calculations. ← Alex chooses this one. Type 2: Surprising Fact Nathaniel Bowditch found over 8,000 errors in the navigation book sailors trusted with their lives. Type 3: Question that your essay answers What does it take to change the way an entire profession works? Your turn — do the same in your reading journal: My Type 1 (scene) attempt: ____________________ My Type 2 (fact) attempt: ____________________ My Type 3 (question) attempt: ____________________ I will use Type ___ because: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ship ___ in ___ fog — guided only by ___.” “In 1803, Nathaniel Bowditch did something no one thought was possible: ___.” “What does it take to change how ___ works?”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11.1 — Carry On, Mr. Bowditch, Chapter 9</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