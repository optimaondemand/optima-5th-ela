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11, Day 1, Chapter 9 — Anchor to Windward.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9 and continue drafting your expository research piece. Keep asking: How do events in this chapter develop Nat’s character?
Morphology: Define roots geo (earth) and terr (land).
Grammar: Define subject-verb agreement and intervening phrases.
Spelling: Discover the schwa — the unstressed vowel in academic words.
Reading: Chapter 9 — Anchor to Windward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measurements of a ship's longitude requires a precise clock and careful mathematical calculations"
Corrected: "The measurements of a ship's longitude require a precise clock and careful mathematical calculations."
Fixes: capitalize “The” at the start; “measurements” is the subject (plural) → “require” (not “requires”); apostrophe in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measurements of a ship's longitude requires a precise clock and careful mathematical calculations"
Corrected: "The measurements of a ship's longitude require a precise clock and careful mathematical calculations."
Fixes: capitalize “The” at the start; “measurements” is the subject (plural) → “require” (not “requires”); apostrophe in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Is there a detail here I could cut because it doesn't support my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Graded SWYK strand today: Morphology.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Decode &amp; Discover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answers yet — students discuss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revealed — correct labels in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The Schwa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11 — Chapter 9 — Anchor to Windward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DRAFT: Write your hook sentence
Focus: Drafting begins today. Start with the hook — the very first thing your reader will see. A strong hook pulls them in before they know anything about Nat Bowditch.
Before: BEFORE Option 1: Nathaniel Bowditch was born in Salem in 1773. Option 2: Have you ever wondered what it takes to become a great mathematician? Option 3: A ship navigated blind into Salem Harbor in December fog — no landmarks, no visibility — guided only by one man’s calculations.
After: AFTER Alex chooses Option 3: the fog scene. It starts in the middle of action, raises a question (how?), and puts the reader on the ship before introducing Nat.
Notice: Notice: Option 1 is a fact, not a hook. Option 2 is a question that sounds like homework. Option 3 drops the reader into a moment of tension. The best hooks are scenes , not facts or questions.
Tool: Today’s Tool: Three Hook Types — Try all three hook types. Then choose the one that best fits your claim.
Frames: “A ship ___ in ___ fog — guided only by ___.” | “In 1803, Nathaniel Bowditch did something no one thought was possible: ___.” | “What does it take to change how ___ works?”
Prompt: Try all three hook types in your reading journal, then choose one and type your best version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11  ·  DAY 1</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9 — Anchor to Windward</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11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9 and continue drafting your expository research piece. Keep asking: How do events in this chapter develop Nat’s character?</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Define roots geo (earth) and terr (land).</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Define subject-verb agreement and intervening phrases.</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a:t>
            </a:r>
            <a:pPr indent="0" marL="0">
              <a:buNone/>
            </a:pPr>
            <a:r>
              <a:rPr lang="en-US" sz="1250" dirty="0">
                <a:solidFill>
                  <a:srgbClr val="1E293B"/>
                </a:solidFill>
                <a:latin typeface="Calibri" pitchFamily="34" charset="0"/>
                <a:ea typeface="Calibri" pitchFamily="34" charset="-122"/>
                <a:cs typeface="Calibri" pitchFamily="34" charset="-120"/>
              </a:rPr>
              <a:t>Discover the schwa — the unstressed vowel in academic words.</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9 — Anchor to Windward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An “anchor to windward” is a nautical safety measure: in a storm, a sailor heaves an anchor out on the side the wind is coming from, so if the ship starts to drift it will be held fast. By Chapter 9, Nat has built his own anchor to windward — not in the sea, but in his mind. As you read today, ask yourself:</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is Nat’s “anchor to windward” in Chapter 9? How has his knowledge become a safety line?</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relationships are developing for Nat during this chapter? How does he treat the people around him?</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the author show that Nat’s reputation is growing — without just saying “people admired him”?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Knowledge of the earth's oceans gives a navigator the power to cross them safely.</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Knowledge  </a:t>
            </a:r>
            <a:pPr indent="0" marL="0">
              <a:buNone/>
            </a:pPr>
            <a:r>
              <a:rPr lang="en-US" sz="1200" dirty="0">
                <a:solidFill>
                  <a:srgbClr val="1E293B"/>
                </a:solidFill>
                <a:latin typeface="Calibri" pitchFamily="34" charset="0"/>
                <a:ea typeface="Calibri" pitchFamily="34" charset="-122"/>
                <a:cs typeface="Calibri" pitchFamily="34" charset="-120"/>
              </a:rPr>
              <a:t>The subject is “knowledge,” singular. The intervening phrase “of the earth’s oceans” does not change that.</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gives  </a:t>
            </a:r>
            <a:pPr indent="0" marL="0">
              <a:buNone/>
            </a:pPr>
            <a:r>
              <a:rPr lang="en-US" sz="1200" dirty="0">
                <a:solidFill>
                  <a:srgbClr val="1E293B"/>
                </a:solidFill>
                <a:latin typeface="Calibri" pitchFamily="34" charset="0"/>
                <a:ea typeface="Calibri" pitchFamily="34" charset="-122"/>
                <a:cs typeface="Calibri" pitchFamily="34" charset="-120"/>
              </a:rPr>
              <a:t>“gives” agrees with the singular subject “knowledge” — not with the plural “oceans.”</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cross them safely.  </a:t>
            </a:r>
            <a:pPr indent="0" marL="0">
              <a:buNone/>
            </a:pPr>
            <a:r>
              <a:rPr lang="en-US" sz="1200" dirty="0">
                <a:solidFill>
                  <a:srgbClr val="1E293B"/>
                </a:solidFill>
                <a:latin typeface="Calibri" pitchFamily="34" charset="0"/>
                <a:ea typeface="Calibri" pitchFamily="34" charset="-122"/>
                <a:cs typeface="Calibri" pitchFamily="34" charset="-120"/>
              </a:rPr>
              <a:t>A period ends this declarative sentence.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measurements of a ship's longitude requires a precise clock and careful mathematical calculations</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measurements of a ship's longitude requires a precise clock and careful mathematical calculations</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The measurements of a ship's longitude require a precise clock and careful mathematical calculations.</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capitalize “The” at the start; “measurements” is the subject (plural) → “require” (not “requires”); apostrophe in “ship's.”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Nat calls the sea his "anchor to windward." Is the sea more of a safety net for Nat, or more of a challenge he has to keep proving himself against? Defend your answer with evidence from Chapter 9.</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This matters because...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Nat calls the sea his "anchor to windward." Is the sea more of a safety net for Nat, or more of a challenge he has to keep proving himself against? Defend your answer with evidence from Chapter 9.</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This matters because...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Is there a detail here I could cut because it doesn't support my point?</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Roots geo and terr</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geo — from Greek, meaning earth . You find this in words about the planet, its structure, and its study. | terr — from Latin, meaning earth or land . You find this in words about land, territory, and the ground beneath your feet. | geography → geo + graph (write/record) → the written study of the earth | geology → geo + logy (study of) → the study of the earth’s structure and history | geometry → geo + meter (measure) → the measurement of the earth (later: shapes and space) | terrain → terr + ain → the physical features of a stretch of land | territory → terr + ory (place) → an area of land belonging to someone | terrestrial → terr + estri + al → of or relating to the earth; earthly | terra firma → terr + firma (firm/solid) → solid ground (as opposed to the sea)</a:t>
            </a:r>
            <a:endParaRPr lang="en-US" sz="1150" dirty="0"/>
          </a:p>
        </p:txBody>
      </p:sp>
      <p:sp>
        <p:nvSpPr>
          <p:cNvPr id="7" name="Shape 5"/>
          <p:cNvSpPr/>
          <p:nvPr/>
        </p:nvSpPr>
        <p:spPr>
          <a:xfrm>
            <a:off x="365760" y="1664208"/>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19072"/>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___ logy — the science that studies the earth’s rocks and history → geo</a:t>
            </a:r>
            <a:endParaRPr lang="en-US" sz="1150" dirty="0"/>
          </a:p>
        </p:txBody>
      </p:sp>
      <p:sp>
        <p:nvSpPr>
          <p:cNvPr id="9" name="Shape 7"/>
          <p:cNvSpPr/>
          <p:nvPr/>
        </p:nvSpPr>
        <p:spPr>
          <a:xfrm>
            <a:off x="365760" y="223113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286000"/>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___ ain — the physical features of the land (hills, valleys, cliffs) → terr</a:t>
            </a:r>
            <a:endParaRPr lang="en-US" sz="1150" dirty="0"/>
          </a:p>
        </p:txBody>
      </p:sp>
      <p:sp>
        <p:nvSpPr>
          <p:cNvPr id="11" name="Shape 9"/>
          <p:cNvSpPr/>
          <p:nvPr/>
        </p:nvSpPr>
        <p:spPr>
          <a:xfrm>
            <a:off x="365760" y="2798064"/>
            <a:ext cx="8412480" cy="502920"/>
          </a:xfrm>
          <a:prstGeom prst="roundRect">
            <a:avLst>
              <a:gd name="adj" fmla="val 18182"/>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852928"/>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___ metry — the mathematics of shapes and measurement of space → geo</a:t>
            </a:r>
            <a:endParaRPr lang="en-US" sz="1150" dirty="0"/>
          </a:p>
        </p:txBody>
      </p:sp>
      <p:sp>
        <p:nvSpPr>
          <p:cNvPr id="13" name="Shape 11"/>
          <p:cNvSpPr/>
          <p:nvPr/>
        </p:nvSpPr>
        <p:spPr>
          <a:xfrm>
            <a:off x="365760" y="3410712"/>
            <a:ext cx="8412480" cy="777240"/>
          </a:xfrm>
          <a:prstGeom prst="roundRect">
            <a:avLst>
              <a:gd name="adj" fmla="val 11765"/>
            </a:avLst>
          </a:prstGeom>
          <a:solidFill>
            <a:srgbClr val="FEF6E8"/>
          </a:solidFill>
          <a:ln w="12700">
            <a:solidFill>
              <a:srgbClr val="C7922C"/>
            </a:solidFill>
            <a:prstDash val="solid"/>
          </a:ln>
        </p:spPr>
      </p:sp>
      <p:sp>
        <p:nvSpPr>
          <p:cNvPr id="14" name="Text 12"/>
          <p:cNvSpPr/>
          <p:nvPr/>
        </p:nvSpPr>
        <p:spPr>
          <a:xfrm>
            <a:off x="548640" y="3483864"/>
            <a:ext cx="8046720" cy="640080"/>
          </a:xfrm>
          <a:prstGeom prst="rect">
            <a:avLst/>
          </a:prstGeom>
          <a:noFill/>
          <a:ln/>
        </p:spPr>
        <p:txBody>
          <a:bodyPr wrap="square" lIns="0" tIns="0" rIns="0" bIns="0" rtlCol="0" anchor="t"/>
          <a:lstStyle/>
          <a:p>
            <a:pPr indent="0" marL="0">
              <a:buNone/>
            </a:pPr>
            <a:r>
              <a:rPr lang="en-US" sz="1100" b="1" dirty="0">
                <a:solidFill>
                  <a:srgbClr val="C7922C"/>
                </a:solidFill>
                <a:latin typeface="Calibri" pitchFamily="34" charset="0"/>
                <a:ea typeface="Calibri" pitchFamily="34" charset="-122"/>
                <a:cs typeface="Calibri" pitchFamily="34" charset="-120"/>
              </a:rPr>
              <a:t>🫖 Show What You Know · Morphology
</a:t>
            </a:r>
            <a:pPr indent="0" marL="0">
              <a:buNone/>
            </a:pPr>
            <a:r>
              <a:rPr lang="en-US" sz="1100" i="1" dirty="0">
                <a:solidFill>
                  <a:srgbClr val="1E293B"/>
                </a:solidFill>
                <a:latin typeface="Calibri" pitchFamily="34" charset="0"/>
                <a:ea typeface="Calibri" pitchFamily="34" charset="-122"/>
                <a:cs typeface="Calibri" pitchFamily="34" charset="-120"/>
              </a:rPr>
              <a:t>Choose one word: terrestrial , terrain , geology , or geometry . Break it into its parts (root + other parts) and explain what those parts contribute to its meaning. Then write a sentence connecting that word to Nat’s world as a navigator.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Decode &amp; Discover</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Six words from Chapters 9–12</a:t>
            </a:r>
            <a:endParaRPr lang="en-US" sz="1100" dirty="0"/>
          </a:p>
        </p:txBody>
      </p:sp>
      <p:sp>
        <p:nvSpPr>
          <p:cNvPr id="5" name="Shape 3"/>
          <p:cNvSpPr/>
          <p:nvPr/>
        </p:nvSpPr>
        <p:spPr>
          <a:xfrm>
            <a:off x="365760" y="1097280"/>
            <a:ext cx="8412480" cy="621792"/>
          </a:xfrm>
          <a:prstGeom prst="roundRect">
            <a:avLst>
              <a:gd name="adj" fmla="val 14706"/>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supercargo  </a:t>
            </a:r>
            <a:pPr indent="0" marL="0">
              <a:buNone/>
            </a:pPr>
            <a:r>
              <a:rPr lang="en-US" sz="1100" dirty="0">
                <a:solidFill>
                  <a:srgbClr val="1E293B"/>
                </a:solidFill>
                <a:latin typeface="Calibri" pitchFamily="34" charset="0"/>
                <a:ea typeface="Calibri" pitchFamily="34" charset="-122"/>
                <a:cs typeface="Calibri" pitchFamily="34" charset="-120"/>
              </a:rPr>
              <a:t>The ship’s officer responsible for the commercial cargo — buying, selling, and managing the goods being traded. A supercargo’s job required mathematical precision and trustworthiness.</a:t>
            </a:r>
            <a:endParaRPr lang="en-US" sz="1300" dirty="0"/>
          </a:p>
        </p:txBody>
      </p:sp>
      <p:sp>
        <p:nvSpPr>
          <p:cNvPr id="7" name="Shape 5"/>
          <p:cNvSpPr/>
          <p:nvPr/>
        </p:nvSpPr>
        <p:spPr>
          <a:xfrm>
            <a:off x="365760" y="1783080"/>
            <a:ext cx="8412480" cy="621792"/>
          </a:xfrm>
          <a:prstGeom prst="roundRect">
            <a:avLst>
              <a:gd name="adj" fmla="val 14706"/>
            </a:avLst>
          </a:prstGeom>
          <a:solidFill>
            <a:srgbClr val="EAF6FA"/>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8379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terrestrial  </a:t>
            </a:r>
            <a:pPr indent="0" marL="0">
              <a:buNone/>
            </a:pPr>
            <a:r>
              <a:rPr lang="en-US" sz="1100" dirty="0">
                <a:solidFill>
                  <a:srgbClr val="1E293B"/>
                </a:solidFill>
                <a:latin typeface="Calibri" pitchFamily="34" charset="0"/>
                <a:ea typeface="Calibri" pitchFamily="34" charset="-122"/>
                <a:cs typeface="Calibri" pitchFamily="34" charset="-120"/>
              </a:rPr>
              <a:t>Relating to the earth or dry land (as opposed to the sea or the sky). The root terr (land) + estrial creates a formal adjective meaning “of the earth.”</a:t>
            </a:r>
            <a:endParaRPr lang="en-US" sz="1300" dirty="0"/>
          </a:p>
        </p:txBody>
      </p:sp>
      <p:sp>
        <p:nvSpPr>
          <p:cNvPr id="9" name="Shape 7"/>
          <p:cNvSpPr/>
          <p:nvPr/>
        </p:nvSpPr>
        <p:spPr>
          <a:xfrm>
            <a:off x="365760" y="2468880"/>
            <a:ext cx="8412480" cy="621792"/>
          </a:xfrm>
          <a:prstGeom prst="roundRect">
            <a:avLst>
              <a:gd name="adj" fmla="val 14706"/>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237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observation  </a:t>
            </a:r>
            <a:pPr indent="0" marL="0">
              <a:buNone/>
            </a:pPr>
            <a:r>
              <a:rPr lang="en-US" sz="1100" dirty="0">
                <a:solidFill>
                  <a:srgbClr val="1E293B"/>
                </a:solidFill>
                <a:latin typeface="Calibri" pitchFamily="34" charset="0"/>
                <a:ea typeface="Calibri" pitchFamily="34" charset="-122"/>
                <a:cs typeface="Calibri" pitchFamily="34" charset="-120"/>
              </a:rPr>
              <a:t>The precise measurement of the angle between a celestial body (sun, moon, or star) and the horizon, used to calculate a ship’s position. Also: the act of carefully watching and recording.</a:t>
            </a:r>
            <a:endParaRPr lang="en-US" sz="1300" dirty="0"/>
          </a:p>
        </p:txBody>
      </p:sp>
      <p:sp>
        <p:nvSpPr>
          <p:cNvPr id="11" name="Shape 9"/>
          <p:cNvSpPr/>
          <p:nvPr/>
        </p:nvSpPr>
        <p:spPr>
          <a:xfrm>
            <a:off x="365760" y="3154680"/>
            <a:ext cx="8412480" cy="621792"/>
          </a:xfrm>
          <a:prstGeom prst="roundRect">
            <a:avLst>
              <a:gd name="adj" fmla="val 14706"/>
            </a:avLst>
          </a:prstGeom>
          <a:solidFill>
            <a:srgbClr val="EAF6FA"/>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3209544"/>
            <a:ext cx="8046720" cy="512064"/>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navigate  </a:t>
            </a:r>
            <a:pPr indent="0" marL="0">
              <a:buNone/>
            </a:pPr>
            <a:r>
              <a:rPr lang="en-US" sz="1100" dirty="0">
                <a:solidFill>
                  <a:srgbClr val="1E293B"/>
                </a:solidFill>
                <a:latin typeface="Calibri" pitchFamily="34" charset="0"/>
                <a:ea typeface="Calibri" pitchFamily="34" charset="-122"/>
                <a:cs typeface="Calibri" pitchFamily="34" charset="-120"/>
              </a:rPr>
              <a:t>To plan and direct a route, especially at sea; to find one’s position and determine the best course. From Latin navis (ship) + agere (to drive/steer).</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Subject-Verb Agreement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Define — what is an intervening phrase?</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The rule: The verb must agree with the subject of the sentence — not with any noun that appears between them. Correct: “The pages of Moore’s Almanac contain hundreds of errors.” — Subject = pages (plural) → plural verb contain Wrong: “The pages of Moore’s Almanac contains hundreds of errors.” — The writer matched the verb to Almanac (singular), not to the subject pages . How to check: Find the verb, ask “who or what [verbs]?” That’s the subject. Cross out the intervening phrase and see if the verb still sounds right.</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sailors on Nat’s ship [learn / learns] to use logarithms.”</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learn — subject is “sailors” (plural)   /   learns — matching “ship” by mistake</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“Nat, along with all the sailors, [study / studies] the stars each night.”</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study — “along with all the sailors” changes the number   /   studies — “along with” is a phrase; the subject is still just “Nat”</a:t>
            </a:r>
            <a:endParaRPr lang="en-US" sz="1200" dirty="0"/>
          </a:p>
        </p:txBody>
      </p:sp>
      <p:sp>
        <p:nvSpPr>
          <p:cNvPr id="12" name="Shape 10"/>
          <p:cNvSpPr/>
          <p:nvPr/>
        </p:nvSpPr>
        <p:spPr>
          <a:xfrm>
            <a:off x="365760" y="32004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552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calculation of a ship’s longitude [require / requires] a precise chronometer.”</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require — matching “longitude” (plural-sounding) by mistake   /   requires — subject is “calculation” (singular)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Subject-Verb Agreement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Define — what is an intervening phrase?</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The rule: The verb must agree with the subject of the sentence — not with any noun that appears between them. Correct: “The pages of Moore’s Almanac contain hundreds of errors.” — Subject = pages (plural) → plural verb contain Wrong: “The pages of Moore’s Almanac contains hundreds of errors.” — The writer matched the verb to Almanac (singular), not to the subject pages . How to check: Find the verb, ask “who or what [verbs]?” That’s the subject. Cross out the intervening phrase and see if the verb still sounds right.</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sailors on Nat’s ship [learn / learns] to use logarithms.”
</a:t>
            </a:r>
            <a:pPr indent="0" marL="0">
              <a:buNone/>
            </a:pPr>
            <a:r>
              <a:rPr lang="en-US" sz="1200" b="1" dirty="0">
                <a:solidFill>
                  <a:srgbClr val="34B76F"/>
                </a:solidFill>
                <a:latin typeface="Calibri" pitchFamily="34" charset="0"/>
                <a:ea typeface="Calibri" pitchFamily="34" charset="-122"/>
                <a:cs typeface="Calibri" pitchFamily="34" charset="-120"/>
              </a:rPr>
              <a:t>✅ learn — subject is “sailors” (plural)</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“Nat, along with all the sailors, [study / studies] the stars each night.”
</a:t>
            </a:r>
            <a:pPr indent="0" marL="0">
              <a:buNone/>
            </a:pPr>
            <a:r>
              <a:rPr lang="en-US" sz="1200" b="1" dirty="0">
                <a:solidFill>
                  <a:srgbClr val="34B76F"/>
                </a:solidFill>
                <a:latin typeface="Calibri" pitchFamily="34" charset="0"/>
                <a:ea typeface="Calibri" pitchFamily="34" charset="-122"/>
                <a:cs typeface="Calibri" pitchFamily="34" charset="-120"/>
              </a:rPr>
              <a:t>✅ studies — “along with” is a phrase; the subject is still just “Nat”</a:t>
            </a:r>
            <a:endParaRPr lang="en-US" sz="1200" dirty="0"/>
          </a:p>
        </p:txBody>
      </p:sp>
      <p:sp>
        <p:nvSpPr>
          <p:cNvPr id="12" name="Shape 10"/>
          <p:cNvSpPr/>
          <p:nvPr/>
        </p:nvSpPr>
        <p:spPr>
          <a:xfrm>
            <a:off x="365760" y="32004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552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calculation of a ship’s longitude [require / requires] a precise chronometer.”
</a:t>
            </a:r>
            <a:pPr indent="0" marL="0">
              <a:buNone/>
            </a:pPr>
            <a:r>
              <a:rPr lang="en-US" sz="1200" b="1" dirty="0">
                <a:solidFill>
                  <a:srgbClr val="34B76F"/>
                </a:solidFill>
                <a:latin typeface="Calibri" pitchFamily="34" charset="0"/>
                <a:ea typeface="Calibri" pitchFamily="34" charset="-122"/>
                <a:cs typeface="Calibri" pitchFamily="34" charset="-120"/>
              </a:rPr>
              <a:t>✅ requires — subject is “calculation” (singular)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The Schwa Sound</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Discover — what is the schwa and where does it hide?</a:t>
            </a:r>
            <a:endParaRPr lang="en-US" sz="1100" dirty="0"/>
          </a:p>
        </p:txBody>
      </p:sp>
      <p:sp>
        <p:nvSpPr>
          <p:cNvPr id="7" name="Shape 5"/>
          <p:cNvSpPr/>
          <p:nvPr/>
        </p:nvSpPr>
        <p:spPr>
          <a:xfrm>
            <a:off x="365760" y="1143000"/>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207008"/>
            <a:ext cx="8046720" cy="649224"/>
          </a:xfrm>
          <a:prstGeom prst="rect">
            <a:avLst/>
          </a:prstGeom>
          <a:noFill/>
          <a:ln/>
        </p:spPr>
        <p:txBody>
          <a:bodyPr wrap="square" lIns="0" tIns="0" rIns="0" bIns="0" rtlCol="0" anchor="ctr"/>
          <a:lstStyle/>
          <a:p>
            <a:pPr indent="0" marL="0">
              <a:buNone/>
            </a:pPr>
            <a:r>
              <a:rPr lang="en-US" sz="1150" b="1" dirty="0">
                <a:solidFill>
                  <a:srgbClr val="0E1C42"/>
                </a:solidFill>
                <a:latin typeface="Calibri" pitchFamily="34" charset="0"/>
                <a:ea typeface="Calibri" pitchFamily="34" charset="-122"/>
                <a:cs typeface="Calibri" pitchFamily="34" charset="-120"/>
              </a:rPr>
              <a:t>🔍 Discover the schwa
</a:t>
            </a:r>
            <a:pPr indent="0" marL="0">
              <a:buNone/>
            </a:pPr>
            <a:r>
              <a:rPr lang="en-US" sz="1100" dirty="0">
                <a:solidFill>
                  <a:srgbClr val="1E293B"/>
                </a:solidFill>
                <a:latin typeface="Calibri" pitchFamily="34" charset="0"/>
                <a:ea typeface="Calibri" pitchFamily="34" charset="-122"/>
                <a:cs typeface="Calibri" pitchFamily="34" charset="-120"/>
              </a:rPr>
              <a:t>What is the schwa? Say the word observation aloud: ob-SER-VA-tion. The first syllable “ob” has an unstressed /ə/ sound — that’s a schwa! It’s spelled with an o , but it sounds like “uh.” Why it matters: The schwa is the most common vowel sound in English, but it’s spelled differently almost every time: a, e, i, o, u can all make the schwa. You have to memorize the spelling — you can’t sound it out reliably. nav i gation → the “i” in the third syllable is a schwa: nav-i-GA-tion (/ə/) ter ri tory → the second “i” is a schwa: TER-ri-tor-y a stronomy → the “a” is a schwa: a-STRON-o-my (/ə/)</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11 — Chapter 9 — Anchor to Windward</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9 — Anchor to Windward</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What is Nat’s “anchor to windward” in Chapter 9? How has his knowledge become a safety line?</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What relationships are developing for Nat during this chapter? How does he treat the people around him?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The title of Chapter 9 is “Anchor to Windward.” Explain the nautical meaning of this phrase. Then explain how it applies to Nat — what is his ‘anchor to windward,’ and how has he built it?</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Events in Chapter 9 continue to develop Nat’s character. Choose one specific event from the chapter and explain: (a) what happened, (b) how it connects to something earlier in the book, and (c) what it reveals about Nat’s character.</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Nat’s indenture is drawing toward its end. Think ahead: based on everything you know about Nat by Chapter 9, what do you predict he will do with his freedom when it comes? Use evidence from Chapters 5–9 to support your prediction.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DRAFT  ·  Write your hook sentence</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Drafting begins today. Start with the hook — the very first thing your reader will see. A strong hook pulls them in before they know anything about Nat Bowditch.</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Option 1: Nathaniel Bowditch was born in Salem in 1773. Option 2: Have you ever wondered what it takes to become a great mathematician? Option 3: A ship navigated blind into Salem Harbor in December fog — no landmarks, no visibility — guided only by one man’s calculations.</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 chooses Option 3: the fog scene. It starts in the middle of action, raises a question (how?), and puts the reader on the ship before introducing Nat.</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Option 1 is a fact, not a hook. Option 2 is a question that sounds like homework. Option 3 drops the reader into a moment of tension. The best hooks are scenes , not facts or questions.</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THREE HOOK TYPES</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Try all three hook types. Then choose the one that best fits your claim.</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Try all three hook types in your reading journal, then choose one and type your best version here.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2026-07-13T16:49:16Z</dcterms:created>
  <dcterms:modified xsi:type="dcterms:W3CDTF">2026-07-13T16:49:16Z</dcterms:modified>
</cp:coreProperties>
</file>