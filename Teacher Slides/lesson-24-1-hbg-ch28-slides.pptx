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Lst>
  <p:notesMasterIdLst>
    <p:notesMasterId r:id="rId20"/>
  </p:notesMasterIdLst>
  <p:sldSz cx="9144000" cy="5143500"/>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notesMaster" Target="notesMasters/notesMaster1.xml"/><Relationship Id="rId21" Type="http://schemas.openxmlformats.org/officeDocument/2006/relationships/presProps" Target="presProps.xml"/><Relationship Id="rId22" Type="http://schemas.openxmlformats.org/officeDocument/2006/relationships/viewProps" Target="viewProps.xml"/><Relationship Id="rId23" Type="http://schemas.openxmlformats.org/officeDocument/2006/relationships/theme" Target="theme/theme1.xml"/><Relationship Id="rId24"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Title slide: Week 24, Day 1, Chapter 28 — Panther and the Wolf. Historical content note: this novel is narrated by a Choctaw boy during the Trail of Tears / removal era — handle with the same care as the source material.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Big Q: Isaac tells you on the first page that he is already a ghost. How does knowing the ending change how you feel as you read the beginning?
Reading: I will analyze Isaac's first-person narrative voice in Chapter 1.
Grammar: I will identify appositives in sentences from Chapter 1.
Spelling: I will sort historical vocabulary words by syllable count.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Read this lens aloud before students open their books.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 answer needed — tap-and-notice only. Discuss why each highlighted word/punctuation mark is correct.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Fix-it: "tingle's story shows that the choctaw people were treated really bad and the removal wasn't fair to them"
Corrected: "According to Tingle’s novel, the Choctaw people endured systematic injustice during the forced removal of 1830."
Formal: source transition (“According to”), precise term (“systematic injustice”, “forced removal”), specific date. Remove “really bad” and “wasn’t fair” (too vague and informal).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Fix-it: "tingle's story shows that the choctaw people were treated really bad and the removal wasn't fair to them"
Corrected: "According to Tingle’s novel, the Choctaw people endured systematic injustice during the forced removal of 1830."
Formal: source transition (“According to”), precise term (“systematic injustice”, “forced removal”), specific date. Remove “really bad” and “wasn’t fair” (too vague and informal).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Optional routine — use if time allows. Read the prompt aloud. Remind students: pick a side, defend with evidence, anticipate disagreement.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Set a 5-minute timer. Remind: choose a side, defend with evidence.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Focus: Is there a detail here I could cut because it doesn't support my point?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Call on 3-4 students. Encourage respectful disagreement about their choice/defense.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Morphology practice for the day.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Vocabulary review — same word set practiced across the week (match/identify game).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 answers yet — students tap/discuss and guess the appositive.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Answers revealed — correct word in green.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Spelling focus: 🔠 Spelling: Open &amp; Closed Syllables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Tracker: Isaac’s Path — 📍 Chapter 28 — Panther and the Wolf</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Preview only — students answer these after reading, in the Assignment tab.</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Writing Connection — Stage: PLAN
Focus: Source Comparison with Claim, Evidence &amp; Reasoning
Task: Today is the Plan stage for your source comparison paragraph. You will compare what Tim Tingle’s novel says about the Trail of Tears with what an informational or primary source says. In your reading journal: write your claim + one detail from the novel + one detail from a historical source + your reasoning.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2A0A4A"/>
        </a:solidFill>
      </p:bgPr>
    </p:bg>
    <p:spTree>
      <p:nvGrpSpPr>
        <p:cNvPr id="1" name=""/>
        <p:cNvGrpSpPr/>
        <p:nvPr/>
      </p:nvGrpSpPr>
      <p:grpSpPr>
        <a:xfrm>
          <a:off x="0" y="0"/>
          <a:ext cx="0" cy="0"/>
          <a:chOff x="0" y="0"/>
          <a:chExt cx="0" cy="0"/>
        </a:xfrm>
      </p:grpSpPr>
      <p:sp>
        <p:nvSpPr>
          <p:cNvPr id="2" name="Shape 0"/>
          <p:cNvSpPr/>
          <p:nvPr/>
        </p:nvSpPr>
        <p:spPr>
          <a:xfrm>
            <a:off x="0" y="4114800"/>
            <a:ext cx="9144000" cy="1028700"/>
          </a:xfrm>
          <a:prstGeom prst="rect">
            <a:avLst/>
          </a:prstGeom>
          <a:solidFill>
            <a:srgbClr val="8B6FC0">
              <a:alpha val="15000"/>
            </a:srgbClr>
          </a:solidFill>
          <a:ln/>
        </p:spPr>
      </p:sp>
      <p:sp>
        <p:nvSpPr>
          <p:cNvPr id="3" name="Text 1"/>
          <p:cNvSpPr/>
          <p:nvPr/>
        </p:nvSpPr>
        <p:spPr>
          <a:xfrm>
            <a:off x="457200" y="640080"/>
            <a:ext cx="8229600" cy="365760"/>
          </a:xfrm>
          <a:prstGeom prst="rect">
            <a:avLst/>
          </a:prstGeom>
          <a:noFill/>
          <a:ln/>
        </p:spPr>
        <p:txBody>
          <a:bodyPr wrap="square" lIns="0" tIns="0" rIns="0" bIns="0" rtlCol="0" anchor="ctr"/>
          <a:lstStyle/>
          <a:p>
            <a:pPr algn="l" indent="0" marL="0">
              <a:buNone/>
            </a:pPr>
            <a:r>
              <a:rPr lang="en-US" sz="1300" b="1" spc="400" kern="0" dirty="0">
                <a:solidFill>
                  <a:srgbClr val="8B6FC0"/>
                </a:solidFill>
                <a:latin typeface="Calibri" pitchFamily="34" charset="0"/>
                <a:ea typeface="Calibri" pitchFamily="34" charset="-122"/>
                <a:cs typeface="Calibri" pitchFamily="34" charset="-120"/>
              </a:rPr>
              <a:t>WEEK 24  ·  DAY 1</a:t>
            </a:r>
            <a:endParaRPr lang="en-US" sz="1300" dirty="0"/>
          </a:p>
        </p:txBody>
      </p:sp>
      <p:sp>
        <p:nvSpPr>
          <p:cNvPr id="4" name="Text 2"/>
          <p:cNvSpPr/>
          <p:nvPr/>
        </p:nvSpPr>
        <p:spPr>
          <a:xfrm>
            <a:off x="457200" y="1097280"/>
            <a:ext cx="8229600" cy="1645920"/>
          </a:xfrm>
          <a:prstGeom prst="rect">
            <a:avLst/>
          </a:prstGeom>
          <a:noFill/>
          <a:ln/>
        </p:spPr>
        <p:txBody>
          <a:bodyPr wrap="square" lIns="0" tIns="0" rIns="0" bIns="0" rtlCol="0" anchor="ctr"/>
          <a:lstStyle/>
          <a:p>
            <a:pPr algn="l" indent="0" marL="0">
              <a:buNone/>
            </a:pPr>
            <a:r>
              <a:rPr lang="en-US" sz="2800" b="1" dirty="0">
                <a:solidFill>
                  <a:srgbClr val="FFFFFF"/>
                </a:solidFill>
                <a:latin typeface="Calibri" pitchFamily="34" charset="0"/>
                <a:ea typeface="Calibri" pitchFamily="34" charset="-122"/>
                <a:cs typeface="Calibri" pitchFamily="34" charset="-120"/>
              </a:rPr>
              <a:t>How I Became a Ghost</a:t>
            </a:r>
            <a:endParaRPr lang="en-US" sz="2800" dirty="0"/>
          </a:p>
          <a:p>
            <a:pPr algn="l" indent="0" marL="0">
              <a:buNone/>
            </a:pPr>
            <a:r>
              <a:rPr lang="en-US" sz="2800" b="1" dirty="0">
                <a:solidFill>
                  <a:srgbClr val="FFFFFF"/>
                </a:solidFill>
                <a:latin typeface="Calibri" pitchFamily="34" charset="0"/>
                <a:ea typeface="Calibri" pitchFamily="34" charset="-122"/>
                <a:cs typeface="Calibri" pitchFamily="34" charset="-120"/>
              </a:rPr>
              <a:t>Chapter 28 — Panther and the Wolf</a:t>
            </a:r>
            <a:endParaRPr lang="en-US" sz="2800" dirty="0"/>
          </a:p>
        </p:txBody>
      </p:sp>
      <p:sp>
        <p:nvSpPr>
          <p:cNvPr id="5" name="Text 3"/>
          <p:cNvSpPr/>
          <p:nvPr/>
        </p:nvSpPr>
        <p:spPr>
          <a:xfrm>
            <a:off x="457200" y="4434840"/>
            <a:ext cx="8229600" cy="365760"/>
          </a:xfrm>
          <a:prstGeom prst="rect">
            <a:avLst/>
          </a:prstGeom>
          <a:noFill/>
          <a:ln/>
        </p:spPr>
        <p:txBody>
          <a:bodyPr wrap="square" lIns="0" tIns="0" rIns="0" bIns="0" rtlCol="0" anchor="ctr"/>
          <a:lstStyle/>
          <a:p>
            <a:pPr algn="l" indent="0" marL="0">
              <a:buNone/>
            </a:pPr>
            <a:r>
              <a:rPr lang="en-US" sz="1200" dirty="0">
                <a:solidFill>
                  <a:srgbClr val="FFFFFF"/>
                </a:solidFill>
                <a:latin typeface="Calibri" pitchFamily="34" charset="0"/>
                <a:ea typeface="Calibri" pitchFamily="34" charset="-122"/>
                <a:cs typeface="Calibri" pitchFamily="34" charset="-120"/>
              </a:rPr>
              <a:t>👻  Week 24  ·  Courage &amp; Remembrance</a:t>
            </a:r>
            <a:endParaRPr lang="en-US" sz="12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365760" y="164592"/>
            <a:ext cx="8412480" cy="566928"/>
          </a:xfrm>
          <a:prstGeom prst="rect">
            <a:avLst/>
          </a:prstGeom>
          <a:noFill/>
          <a:ln/>
        </p:spPr>
        <p:txBody>
          <a:bodyPr wrap="square" lIns="0" tIns="0" rIns="0" bIns="0" rtlCol="0" anchor="ctr"/>
          <a:lstStyle/>
          <a:p>
            <a:pPr algn="l" indent="0" marL="0">
              <a:buNone/>
            </a:pPr>
            <a:r>
              <a:rPr lang="en-US" sz="2600" b="1" dirty="0">
                <a:solidFill>
                  <a:srgbClr val="0E1C42"/>
                </a:solidFill>
                <a:latin typeface="Calibri" pitchFamily="34" charset="0"/>
                <a:ea typeface="Calibri" pitchFamily="34" charset="-122"/>
                <a:cs typeface="Calibri" pitchFamily="34" charset="-120"/>
              </a:rPr>
              <a:t>Today's Objectives</a:t>
            </a:r>
            <a:endParaRPr lang="en-US" sz="2600" dirty="0"/>
          </a:p>
        </p:txBody>
      </p:sp>
      <p:sp>
        <p:nvSpPr>
          <p:cNvPr id="3" name="Shape 1"/>
          <p:cNvSpPr/>
          <p:nvPr/>
        </p:nvSpPr>
        <p:spPr>
          <a:xfrm>
            <a:off x="365760" y="749808"/>
            <a:ext cx="8412480" cy="0"/>
          </a:xfrm>
          <a:prstGeom prst="line">
            <a:avLst/>
          </a:prstGeom>
          <a:noFill/>
          <a:ln w="19050">
            <a:solidFill>
              <a:srgbClr val="8B6FC0"/>
            </a:solidFill>
            <a:prstDash val="solid"/>
          </a:ln>
        </p:spPr>
      </p:sp>
      <p:sp>
        <p:nvSpPr>
          <p:cNvPr id="4" name="Text 2"/>
          <p:cNvSpPr/>
          <p:nvPr/>
        </p:nvSpPr>
        <p:spPr>
          <a:xfrm>
            <a:off x="365760" y="868680"/>
            <a:ext cx="8046720" cy="292608"/>
          </a:xfrm>
          <a:prstGeom prst="rect">
            <a:avLst/>
          </a:prstGeom>
          <a:noFill/>
          <a:ln/>
        </p:spPr>
        <p:txBody>
          <a:bodyPr wrap="square" lIns="0" tIns="0" rIns="0" bIns="0" rtlCol="0" anchor="ctr"/>
          <a:lstStyle/>
          <a:p>
            <a:pPr indent="0" marL="0">
              <a:buNone/>
            </a:pPr>
            <a:r>
              <a:rPr lang="en-US" sz="1100" b="1" spc="200" kern="0" dirty="0">
                <a:solidFill>
                  <a:srgbClr val="8B6FC0"/>
                </a:solidFill>
                <a:latin typeface="Calibri" pitchFamily="34" charset="0"/>
                <a:ea typeface="Calibri" pitchFamily="34" charset="-122"/>
                <a:cs typeface="Calibri" pitchFamily="34" charset="-120"/>
              </a:rPr>
              <a:t>BIG QUESTION</a:t>
            </a:r>
            <a:endParaRPr lang="en-US" sz="1100" dirty="0"/>
          </a:p>
        </p:txBody>
      </p:sp>
      <p:sp>
        <p:nvSpPr>
          <p:cNvPr id="5" name="Shape 3"/>
          <p:cNvSpPr/>
          <p:nvPr/>
        </p:nvSpPr>
        <p:spPr>
          <a:xfrm>
            <a:off x="365760" y="1115568"/>
            <a:ext cx="8412480" cy="777240"/>
          </a:xfrm>
          <a:prstGeom prst="roundRect">
            <a:avLst>
              <a:gd name="adj" fmla="val 11765"/>
            </a:avLst>
          </a:prstGeom>
          <a:solidFill>
            <a:srgbClr val="F0E8FF"/>
          </a:solidFill>
          <a:ln/>
          <a:effectLst>
            <a:outerShdw sx="100000" sy="100000" kx="0" ky="0" algn="bl" rotWithShape="0" blurRad="101600" dist="38100" dir="2700000">
              <a:srgbClr val="000000">
                <a:alpha val="12000"/>
              </a:srgbClr>
            </a:outerShdw>
          </a:effectLst>
        </p:spPr>
      </p:sp>
      <p:sp>
        <p:nvSpPr>
          <p:cNvPr id="6" name="Text 4"/>
          <p:cNvSpPr/>
          <p:nvPr/>
        </p:nvSpPr>
        <p:spPr>
          <a:xfrm>
            <a:off x="594360" y="1207008"/>
            <a:ext cx="7955280" cy="594360"/>
          </a:xfrm>
          <a:prstGeom prst="rect">
            <a:avLst/>
          </a:prstGeom>
          <a:noFill/>
          <a:ln/>
        </p:spPr>
        <p:txBody>
          <a:bodyPr wrap="square" lIns="0" tIns="0" rIns="0" bIns="0" rtlCol="0" anchor="ctr"/>
          <a:lstStyle/>
          <a:p>
            <a:pPr indent="0" marL="0">
              <a:buNone/>
            </a:pPr>
            <a:r>
              <a:rPr lang="en-US" sz="1300" i="1" dirty="0">
                <a:solidFill>
                  <a:srgbClr val="1E293B"/>
                </a:solidFill>
                <a:latin typeface="Calibri" pitchFamily="34" charset="0"/>
                <a:ea typeface="Calibri" pitchFamily="34" charset="-122"/>
                <a:cs typeface="Calibri" pitchFamily="34" charset="-120"/>
              </a:rPr>
              <a:t>Isaac tells you on the first page that he is already a ghost. How does knowing the ending change how you feel as you read the beginning?</a:t>
            </a:r>
            <a:endParaRPr lang="en-US" sz="1300" dirty="0"/>
          </a:p>
        </p:txBody>
      </p:sp>
      <p:sp>
        <p:nvSpPr>
          <p:cNvPr id="7" name="Text 5"/>
          <p:cNvSpPr/>
          <p:nvPr/>
        </p:nvSpPr>
        <p:spPr>
          <a:xfrm>
            <a:off x="365760" y="2011680"/>
            <a:ext cx="8046720" cy="292608"/>
          </a:xfrm>
          <a:prstGeom prst="rect">
            <a:avLst/>
          </a:prstGeom>
          <a:noFill/>
          <a:ln/>
        </p:spPr>
        <p:txBody>
          <a:bodyPr wrap="square" lIns="0" tIns="0" rIns="0" bIns="0" rtlCol="0" anchor="ctr"/>
          <a:lstStyle/>
          <a:p>
            <a:pPr indent="0" marL="0">
              <a:buNone/>
            </a:pPr>
            <a:r>
              <a:rPr lang="en-US" sz="1100" b="1" spc="200" kern="0" dirty="0">
                <a:solidFill>
                  <a:srgbClr val="64748B"/>
                </a:solidFill>
                <a:latin typeface="Calibri" pitchFamily="34" charset="0"/>
                <a:ea typeface="Calibri" pitchFamily="34" charset="-122"/>
                <a:cs typeface="Calibri" pitchFamily="34" charset="-120"/>
              </a:rPr>
              <a:t>BY THE END OF THIS LESSON...</a:t>
            </a:r>
            <a:endParaRPr lang="en-US" sz="1100" dirty="0"/>
          </a:p>
        </p:txBody>
      </p:sp>
      <p:sp>
        <p:nvSpPr>
          <p:cNvPr id="8" name="Shape 6"/>
          <p:cNvSpPr/>
          <p:nvPr/>
        </p:nvSpPr>
        <p:spPr>
          <a:xfrm>
            <a:off x="365760" y="2286000"/>
            <a:ext cx="8412480" cy="713232"/>
          </a:xfrm>
          <a:prstGeom prst="roundRect">
            <a:avLst>
              <a:gd name="adj" fmla="val 12821"/>
            </a:avLst>
          </a:prstGeom>
          <a:solidFill>
            <a:srgbClr val="F8FAFC"/>
          </a:solidFill>
          <a:ln/>
          <a:effectLst>
            <a:outerShdw sx="100000" sy="100000" kx="0" ky="0" algn="bl" rotWithShape="0" blurRad="101600" dist="38100" dir="2700000">
              <a:srgbClr val="000000">
                <a:alpha val="12000"/>
              </a:srgbClr>
            </a:outerShdw>
          </a:effectLst>
        </p:spPr>
      </p:sp>
      <p:sp>
        <p:nvSpPr>
          <p:cNvPr id="9" name="Text 7"/>
          <p:cNvSpPr/>
          <p:nvPr/>
        </p:nvSpPr>
        <p:spPr>
          <a:xfrm>
            <a:off x="548640" y="2359152"/>
            <a:ext cx="8046720" cy="566928"/>
          </a:xfrm>
          <a:prstGeom prst="rect">
            <a:avLst/>
          </a:prstGeom>
          <a:noFill/>
          <a:ln/>
        </p:spPr>
        <p:txBody>
          <a:bodyPr wrap="square" lIns="0" tIns="0" rIns="0" bIns="0" rtlCol="0" anchor="ctr"/>
          <a:lstStyle/>
          <a:p>
            <a:pPr indent="0" marL="0">
              <a:buNone/>
            </a:pPr>
            <a:r>
              <a:rPr lang="en-US" sz="1500" dirty="0">
                <a:solidFill>
                  <a:srgbClr val="000000"/>
                </a:solidFill>
              </a:rPr>
              <a:t>📖  </a:t>
            </a:r>
            <a:pPr indent="0" marL="0">
              <a:buNone/>
            </a:pPr>
            <a:r>
              <a:rPr lang="en-US" sz="1300" b="1" dirty="0">
                <a:solidFill>
                  <a:srgbClr val="0E1C42"/>
                </a:solidFill>
                <a:latin typeface="Calibri" pitchFamily="34" charset="0"/>
                <a:ea typeface="Calibri" pitchFamily="34" charset="-122"/>
                <a:cs typeface="Calibri" pitchFamily="34" charset="-120"/>
              </a:rPr>
              <a:t>Reading: </a:t>
            </a:r>
            <a:pPr indent="0" marL="0">
              <a:buNone/>
            </a:pPr>
            <a:r>
              <a:rPr lang="en-US" sz="1250" dirty="0">
                <a:solidFill>
                  <a:srgbClr val="1E293B"/>
                </a:solidFill>
                <a:latin typeface="Calibri" pitchFamily="34" charset="0"/>
                <a:ea typeface="Calibri" pitchFamily="34" charset="-122"/>
                <a:cs typeface="Calibri" pitchFamily="34" charset="-120"/>
              </a:rPr>
              <a:t>I will analyze Isaac's first-person narrative voice in Chapter 1.</a:t>
            </a:r>
            <a:endParaRPr lang="en-US" sz="1500" dirty="0"/>
          </a:p>
        </p:txBody>
      </p:sp>
      <p:sp>
        <p:nvSpPr>
          <p:cNvPr id="10" name="Shape 8"/>
          <p:cNvSpPr/>
          <p:nvPr/>
        </p:nvSpPr>
        <p:spPr>
          <a:xfrm>
            <a:off x="365760" y="3090672"/>
            <a:ext cx="8412480" cy="713232"/>
          </a:xfrm>
          <a:prstGeom prst="roundRect">
            <a:avLst>
              <a:gd name="adj" fmla="val 12821"/>
            </a:avLst>
          </a:prstGeom>
          <a:solidFill>
            <a:srgbClr val="F8FAFC"/>
          </a:solidFill>
          <a:ln/>
          <a:effectLst>
            <a:outerShdw sx="100000" sy="100000" kx="0" ky="0" algn="bl" rotWithShape="0" blurRad="101600" dist="38100" dir="2700000">
              <a:srgbClr val="000000">
                <a:alpha val="12000"/>
              </a:srgbClr>
            </a:outerShdw>
          </a:effectLst>
        </p:spPr>
      </p:sp>
      <p:sp>
        <p:nvSpPr>
          <p:cNvPr id="11" name="Text 9"/>
          <p:cNvSpPr/>
          <p:nvPr/>
        </p:nvSpPr>
        <p:spPr>
          <a:xfrm>
            <a:off x="548640" y="3163824"/>
            <a:ext cx="8046720" cy="566928"/>
          </a:xfrm>
          <a:prstGeom prst="rect">
            <a:avLst/>
          </a:prstGeom>
          <a:noFill/>
          <a:ln/>
        </p:spPr>
        <p:txBody>
          <a:bodyPr wrap="square" lIns="0" tIns="0" rIns="0" bIns="0" rtlCol="0" anchor="ctr"/>
          <a:lstStyle/>
          <a:p>
            <a:pPr indent="0" marL="0">
              <a:buNone/>
            </a:pPr>
            <a:r>
              <a:rPr lang="en-US" sz="1500" dirty="0">
                <a:solidFill>
                  <a:srgbClr val="000000"/>
                </a:solidFill>
              </a:rPr>
              <a:t>✏️  </a:t>
            </a:r>
            <a:pPr indent="0" marL="0">
              <a:buNone/>
            </a:pPr>
            <a:r>
              <a:rPr lang="en-US" sz="1300" b="1" dirty="0">
                <a:solidFill>
                  <a:srgbClr val="0E1C42"/>
                </a:solidFill>
                <a:latin typeface="Calibri" pitchFamily="34" charset="0"/>
                <a:ea typeface="Calibri" pitchFamily="34" charset="-122"/>
                <a:cs typeface="Calibri" pitchFamily="34" charset="-120"/>
              </a:rPr>
              <a:t>Grammar: </a:t>
            </a:r>
            <a:pPr indent="0" marL="0">
              <a:buNone/>
            </a:pPr>
            <a:r>
              <a:rPr lang="en-US" sz="1250" dirty="0">
                <a:solidFill>
                  <a:srgbClr val="1E293B"/>
                </a:solidFill>
                <a:latin typeface="Calibri" pitchFamily="34" charset="0"/>
                <a:ea typeface="Calibri" pitchFamily="34" charset="-122"/>
                <a:cs typeface="Calibri" pitchFamily="34" charset="-120"/>
              </a:rPr>
              <a:t>I will identify appositives in sentences from Chapter 1.</a:t>
            </a:r>
            <a:endParaRPr lang="en-US" sz="1500" dirty="0"/>
          </a:p>
        </p:txBody>
      </p:sp>
      <p:sp>
        <p:nvSpPr>
          <p:cNvPr id="12" name="Shape 10"/>
          <p:cNvSpPr/>
          <p:nvPr/>
        </p:nvSpPr>
        <p:spPr>
          <a:xfrm>
            <a:off x="365760" y="3895344"/>
            <a:ext cx="8412480" cy="713232"/>
          </a:xfrm>
          <a:prstGeom prst="roundRect">
            <a:avLst>
              <a:gd name="adj" fmla="val 12821"/>
            </a:avLst>
          </a:prstGeom>
          <a:solidFill>
            <a:srgbClr val="F8FAFC"/>
          </a:solidFill>
          <a:ln/>
          <a:effectLst>
            <a:outerShdw sx="100000" sy="100000" kx="0" ky="0" algn="bl" rotWithShape="0" blurRad="101600" dist="38100" dir="2700000">
              <a:srgbClr val="000000">
                <a:alpha val="12000"/>
              </a:srgbClr>
            </a:outerShdw>
          </a:effectLst>
        </p:spPr>
      </p:sp>
      <p:sp>
        <p:nvSpPr>
          <p:cNvPr id="13" name="Text 11"/>
          <p:cNvSpPr/>
          <p:nvPr/>
        </p:nvSpPr>
        <p:spPr>
          <a:xfrm>
            <a:off x="548640" y="3968496"/>
            <a:ext cx="8046720" cy="566928"/>
          </a:xfrm>
          <a:prstGeom prst="rect">
            <a:avLst/>
          </a:prstGeom>
          <a:noFill/>
          <a:ln/>
        </p:spPr>
        <p:txBody>
          <a:bodyPr wrap="square" lIns="0" tIns="0" rIns="0" bIns="0" rtlCol="0" anchor="ctr"/>
          <a:lstStyle/>
          <a:p>
            <a:pPr indent="0" marL="0">
              <a:buNone/>
            </a:pPr>
            <a:r>
              <a:rPr lang="en-US" sz="1500" dirty="0">
                <a:solidFill>
                  <a:srgbClr val="000000"/>
                </a:solidFill>
              </a:rPr>
              <a:t>🔤  </a:t>
            </a:r>
            <a:pPr indent="0" marL="0">
              <a:buNone/>
            </a:pPr>
            <a:r>
              <a:rPr lang="en-US" sz="1300" b="1" dirty="0">
                <a:solidFill>
                  <a:srgbClr val="0E1C42"/>
                </a:solidFill>
                <a:latin typeface="Calibri" pitchFamily="34" charset="0"/>
                <a:ea typeface="Calibri" pitchFamily="34" charset="-122"/>
                <a:cs typeface="Calibri" pitchFamily="34" charset="-120"/>
              </a:rPr>
              <a:t>Spelling: </a:t>
            </a:r>
            <a:pPr indent="0" marL="0">
              <a:buNone/>
            </a:pPr>
            <a:r>
              <a:rPr lang="en-US" sz="1250" dirty="0">
                <a:solidFill>
                  <a:srgbClr val="1E293B"/>
                </a:solidFill>
                <a:latin typeface="Calibri" pitchFamily="34" charset="0"/>
                <a:ea typeface="Calibri" pitchFamily="34" charset="-122"/>
                <a:cs typeface="Calibri" pitchFamily="34" charset="-120"/>
              </a:rPr>
              <a:t>I will sort historical vocabulary words by syllable count.</a:t>
            </a:r>
            <a:endParaRPr lang="en-US" sz="15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365760" y="164592"/>
            <a:ext cx="8412480" cy="566928"/>
          </a:xfrm>
          <a:prstGeom prst="rect">
            <a:avLst/>
          </a:prstGeom>
          <a:noFill/>
          <a:ln/>
        </p:spPr>
        <p:txBody>
          <a:bodyPr wrap="square" lIns="0" tIns="0" rIns="0" bIns="0" rtlCol="0" anchor="ctr"/>
          <a:lstStyle/>
          <a:p>
            <a:pPr algn="l" indent="0" marL="0">
              <a:buNone/>
            </a:pPr>
            <a:r>
              <a:rPr lang="en-US" sz="2600" b="1" dirty="0">
                <a:solidFill>
                  <a:srgbClr val="0E1C42"/>
                </a:solidFill>
                <a:latin typeface="Calibri" pitchFamily="34" charset="0"/>
                <a:ea typeface="Calibri" pitchFamily="34" charset="-122"/>
                <a:cs typeface="Calibri" pitchFamily="34" charset="-120"/>
              </a:rPr>
              <a:t>📚 What Good Readers Do</a:t>
            </a:r>
            <a:endParaRPr lang="en-US" sz="2600" dirty="0"/>
          </a:p>
        </p:txBody>
      </p:sp>
      <p:sp>
        <p:nvSpPr>
          <p:cNvPr id="3" name="Shape 1"/>
          <p:cNvSpPr/>
          <p:nvPr/>
        </p:nvSpPr>
        <p:spPr>
          <a:xfrm>
            <a:off x="365760" y="749808"/>
            <a:ext cx="8412480" cy="0"/>
          </a:xfrm>
          <a:prstGeom prst="line">
            <a:avLst/>
          </a:prstGeom>
          <a:noFill/>
          <a:ln w="19050">
            <a:solidFill>
              <a:srgbClr val="8B6FC0"/>
            </a:solidFill>
            <a:prstDash val="solid"/>
          </a:ln>
        </p:spPr>
      </p:sp>
      <p:sp>
        <p:nvSpPr>
          <p:cNvPr id="4" name="Text 2"/>
          <p:cNvSpPr/>
          <p:nvPr/>
        </p:nvSpPr>
        <p:spPr>
          <a:xfrm>
            <a:off x="365760" y="822960"/>
            <a:ext cx="8046720" cy="292608"/>
          </a:xfrm>
          <a:prstGeom prst="rect">
            <a:avLst/>
          </a:prstGeom>
          <a:noFill/>
          <a:ln/>
        </p:spPr>
        <p:txBody>
          <a:bodyPr wrap="square" lIns="0" tIns="0" rIns="0" bIns="0" rtlCol="0" anchor="ctr"/>
          <a:lstStyle/>
          <a:p>
            <a:pPr indent="0" marL="0">
              <a:buNone/>
            </a:pPr>
            <a:r>
              <a:rPr lang="en-US" sz="1100" b="1" spc="200" kern="0" dirty="0">
                <a:solidFill>
                  <a:srgbClr val="8B6FC0"/>
                </a:solidFill>
                <a:latin typeface="Calibri" pitchFamily="34" charset="0"/>
                <a:ea typeface="Calibri" pitchFamily="34" charset="-122"/>
                <a:cs typeface="Calibri" pitchFamily="34" charset="-120"/>
              </a:rPr>
              <a:t>SET YOUR READING LENS</a:t>
            </a:r>
            <a:endParaRPr lang="en-US" sz="1100" dirty="0"/>
          </a:p>
        </p:txBody>
      </p:sp>
      <p:sp>
        <p:nvSpPr>
          <p:cNvPr id="5" name="Shape 3"/>
          <p:cNvSpPr/>
          <p:nvPr/>
        </p:nvSpPr>
        <p:spPr>
          <a:xfrm>
            <a:off x="365760" y="1078992"/>
            <a:ext cx="8412480" cy="1554480"/>
          </a:xfrm>
          <a:prstGeom prst="roundRect">
            <a:avLst>
              <a:gd name="adj" fmla="val 5882"/>
            </a:avLst>
          </a:prstGeom>
          <a:solidFill>
            <a:srgbClr val="F0E8FF"/>
          </a:solidFill>
          <a:ln/>
          <a:effectLst>
            <a:outerShdw sx="100000" sy="100000" kx="0" ky="0" algn="bl" rotWithShape="0" blurRad="101600" dist="38100" dir="2700000">
              <a:srgbClr val="000000">
                <a:alpha val="12000"/>
              </a:srgbClr>
            </a:outerShdw>
          </a:effectLst>
        </p:spPr>
      </p:sp>
      <p:sp>
        <p:nvSpPr>
          <p:cNvPr id="6" name="Text 4"/>
          <p:cNvSpPr/>
          <p:nvPr/>
        </p:nvSpPr>
        <p:spPr>
          <a:xfrm>
            <a:off x="594360" y="1170432"/>
            <a:ext cx="7955280" cy="1371600"/>
          </a:xfrm>
          <a:prstGeom prst="rect">
            <a:avLst/>
          </a:prstGeom>
          <a:noFill/>
          <a:ln/>
        </p:spPr>
        <p:txBody>
          <a:bodyPr wrap="square" lIns="0" tIns="0" rIns="0" bIns="0" rtlCol="0" anchor="ctr"/>
          <a:lstStyle/>
          <a:p>
            <a:pPr indent="0" marL="0">
              <a:buNone/>
            </a:pPr>
            <a:r>
              <a:rPr lang="en-US" sz="1300" dirty="0">
                <a:solidFill>
                  <a:srgbClr val="1E293B"/>
                </a:solidFill>
                <a:latin typeface="Calibri" pitchFamily="34" charset="0"/>
                <a:ea typeface="Calibri" pitchFamily="34" charset="-122"/>
                <a:cs typeface="Calibri" pitchFamily="34" charset="-120"/>
              </a:rPr>
              <a:t>Good readers notice when an author returns to symbols. The panther has appeared before. Now the wolf appears. As you read Chapter 28: what is each animal doing? What power does each one represent? And how does the outcome change the balance?</a:t>
            </a:r>
            <a:endParaRPr lang="en-US" sz="13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365760" y="164592"/>
            <a:ext cx="8412480" cy="566928"/>
          </a:xfrm>
          <a:prstGeom prst="rect">
            <a:avLst/>
          </a:prstGeom>
          <a:noFill/>
          <a:ln/>
        </p:spPr>
        <p:txBody>
          <a:bodyPr wrap="square" lIns="0" tIns="0" rIns="0" bIns="0" rtlCol="0" anchor="ctr"/>
          <a:lstStyle/>
          <a:p>
            <a:pPr algn="l" indent="0" marL="0">
              <a:buNone/>
            </a:pPr>
            <a:r>
              <a:rPr lang="en-US" sz="2600" b="1" dirty="0">
                <a:solidFill>
                  <a:srgbClr val="0E1C42"/>
                </a:solidFill>
                <a:latin typeface="Calibri" pitchFamily="34" charset="0"/>
                <a:ea typeface="Calibri" pitchFamily="34" charset="-122"/>
                <a:cs typeface="Calibri" pitchFamily="34" charset="-120"/>
              </a:rPr>
              <a:t>📝 Daily Oral Language — Study What's Right</a:t>
            </a:r>
            <a:endParaRPr lang="en-US" sz="2600" dirty="0"/>
          </a:p>
        </p:txBody>
      </p:sp>
      <p:sp>
        <p:nvSpPr>
          <p:cNvPr id="3" name="Shape 1"/>
          <p:cNvSpPr/>
          <p:nvPr/>
        </p:nvSpPr>
        <p:spPr>
          <a:xfrm>
            <a:off x="365760" y="749808"/>
            <a:ext cx="8412480" cy="0"/>
          </a:xfrm>
          <a:prstGeom prst="line">
            <a:avLst/>
          </a:prstGeom>
          <a:noFill/>
          <a:ln w="19050">
            <a:solidFill>
              <a:srgbClr val="34B76F"/>
            </a:solidFill>
            <a:prstDash val="solid"/>
          </a:ln>
        </p:spPr>
      </p:sp>
      <p:sp>
        <p:nvSpPr>
          <p:cNvPr id="4" name="Text 2"/>
          <p:cNvSpPr/>
          <p:nvPr/>
        </p:nvSpPr>
        <p:spPr>
          <a:xfrm>
            <a:off x="365760" y="822960"/>
            <a:ext cx="8046720" cy="292608"/>
          </a:xfrm>
          <a:prstGeom prst="rect">
            <a:avLst/>
          </a:prstGeom>
          <a:noFill/>
          <a:ln/>
        </p:spPr>
        <p:txBody>
          <a:bodyPr wrap="square" lIns="0" tIns="0" rIns="0" bIns="0" rtlCol="0" anchor="ctr"/>
          <a:lstStyle/>
          <a:p>
            <a:pPr indent="0" marL="0">
              <a:buNone/>
            </a:pPr>
            <a:r>
              <a:rPr lang="en-US" sz="1100" b="1" spc="200" kern="0" dirty="0">
                <a:solidFill>
                  <a:srgbClr val="34B76F"/>
                </a:solidFill>
                <a:latin typeface="Calibri" pitchFamily="34" charset="0"/>
                <a:ea typeface="Calibri" pitchFamily="34" charset="-122"/>
                <a:cs typeface="Calibri" pitchFamily="34" charset="-120"/>
              </a:rPr>
              <a:t>CORRECT MODEL — TAP TO NOTICE</a:t>
            </a:r>
            <a:endParaRPr lang="en-US" sz="1100" dirty="0"/>
          </a:p>
        </p:txBody>
      </p:sp>
      <p:sp>
        <p:nvSpPr>
          <p:cNvPr id="5" name="Shape 3"/>
          <p:cNvSpPr/>
          <p:nvPr/>
        </p:nvSpPr>
        <p:spPr>
          <a:xfrm>
            <a:off x="365760" y="1078992"/>
            <a:ext cx="8412480" cy="914400"/>
          </a:xfrm>
          <a:prstGeom prst="roundRect">
            <a:avLst>
              <a:gd name="adj" fmla="val 10000"/>
            </a:avLst>
          </a:prstGeom>
          <a:solidFill>
            <a:srgbClr val="E8F8EF"/>
          </a:solidFill>
          <a:ln w="12700">
            <a:solidFill>
              <a:srgbClr val="34B76F"/>
            </a:solidFill>
            <a:prstDash val="solid"/>
          </a:ln>
          <a:effectLst>
            <a:outerShdw sx="100000" sy="100000" kx="0" ky="0" algn="bl" rotWithShape="0" blurRad="101600" dist="38100" dir="2700000">
              <a:srgbClr val="000000">
                <a:alpha val="12000"/>
              </a:srgbClr>
            </a:outerShdw>
          </a:effectLst>
        </p:spPr>
      </p:sp>
      <p:sp>
        <p:nvSpPr>
          <p:cNvPr id="6" name="Text 4"/>
          <p:cNvSpPr/>
          <p:nvPr/>
        </p:nvSpPr>
        <p:spPr>
          <a:xfrm>
            <a:off x="548640" y="1188720"/>
            <a:ext cx="8046720" cy="685800"/>
          </a:xfrm>
          <a:prstGeom prst="rect">
            <a:avLst/>
          </a:prstGeom>
          <a:noFill/>
          <a:ln/>
        </p:spPr>
        <p:txBody>
          <a:bodyPr wrap="square" lIns="0" tIns="0" rIns="0" bIns="0" rtlCol="0" anchor="ctr"/>
          <a:lstStyle/>
          <a:p>
            <a:pPr indent="0" marL="0">
              <a:buNone/>
            </a:pPr>
            <a:r>
              <a:rPr lang="en-US" sz="1600" i="1" dirty="0">
                <a:solidFill>
                  <a:srgbClr val="1E293B"/>
                </a:solidFill>
                <a:latin typeface="Calibri" pitchFamily="34" charset="0"/>
                <a:ea typeface="Calibri" pitchFamily="34" charset="-122"/>
                <a:cs typeface="Calibri" pitchFamily="34" charset="-120"/>
              </a:rPr>
              <a:t>According to Tingle, Isaac’s family was displaced during the forced removal of 1830.</a:t>
            </a:r>
            <a:endParaRPr lang="en-US" sz="1600" dirty="0"/>
          </a:p>
        </p:txBody>
      </p:sp>
      <p:sp>
        <p:nvSpPr>
          <p:cNvPr id="7" name="Text 5"/>
          <p:cNvSpPr/>
          <p:nvPr/>
        </p:nvSpPr>
        <p:spPr>
          <a:xfrm>
            <a:off x="365760" y="2103120"/>
            <a:ext cx="8046720" cy="292608"/>
          </a:xfrm>
          <a:prstGeom prst="rect">
            <a:avLst/>
          </a:prstGeom>
          <a:noFill/>
          <a:ln/>
        </p:spPr>
        <p:txBody>
          <a:bodyPr wrap="square" lIns="0" tIns="0" rIns="0" bIns="0" rtlCol="0" anchor="ctr"/>
          <a:lstStyle/>
          <a:p>
            <a:pPr indent="0" marL="0">
              <a:buNone/>
            </a:pPr>
            <a:r>
              <a:rPr lang="en-US" sz="1100" b="1" spc="200" kern="0" dirty="0">
                <a:solidFill>
                  <a:srgbClr val="64748B"/>
                </a:solidFill>
                <a:latin typeface="Calibri" pitchFamily="34" charset="0"/>
                <a:ea typeface="Calibri" pitchFamily="34" charset="-122"/>
                <a:cs typeface="Calibri" pitchFamily="34" charset="-120"/>
              </a:rPr>
              <a:t>WHAT EACH TAPPED WORD TEACHES</a:t>
            </a:r>
            <a:endParaRPr lang="en-US" sz="1100" dirty="0"/>
          </a:p>
        </p:txBody>
      </p:sp>
      <p:sp>
        <p:nvSpPr>
          <p:cNvPr id="8" name="Shape 6"/>
          <p:cNvSpPr/>
          <p:nvPr/>
        </p:nvSpPr>
        <p:spPr>
          <a:xfrm>
            <a:off x="365760" y="2377440"/>
            <a:ext cx="8412480" cy="457200"/>
          </a:xfrm>
          <a:prstGeom prst="roundRect">
            <a:avLst>
              <a:gd name="adj" fmla="val 20000"/>
            </a:avLst>
          </a:prstGeom>
          <a:solidFill>
            <a:srgbClr val="F8FAFC"/>
          </a:solidFill>
          <a:ln/>
          <a:effectLst>
            <a:outerShdw sx="100000" sy="100000" kx="0" ky="0" algn="bl" rotWithShape="0" blurRad="101600" dist="38100" dir="2700000">
              <a:srgbClr val="000000">
                <a:alpha val="12000"/>
              </a:srgbClr>
            </a:outerShdw>
          </a:effectLst>
        </p:spPr>
      </p:sp>
      <p:sp>
        <p:nvSpPr>
          <p:cNvPr id="9" name="Text 7"/>
          <p:cNvSpPr/>
          <p:nvPr/>
        </p:nvSpPr>
        <p:spPr>
          <a:xfrm>
            <a:off x="548640" y="2423160"/>
            <a:ext cx="8046720" cy="365760"/>
          </a:xfrm>
          <a:prstGeom prst="rect">
            <a:avLst/>
          </a:prstGeom>
          <a:noFill/>
          <a:ln/>
        </p:spPr>
        <p:txBody>
          <a:bodyPr wrap="square" lIns="0" tIns="0" rIns="0" bIns="0" rtlCol="0" anchor="ctr"/>
          <a:lstStyle/>
          <a:p>
            <a:pPr indent="0" marL="0">
              <a:buNone/>
            </a:pPr>
            <a:r>
              <a:rPr lang="en-US" sz="1250" b="1" dirty="0">
                <a:solidFill>
                  <a:srgbClr val="34B76F"/>
                </a:solidFill>
                <a:latin typeface="Calibri" pitchFamily="34" charset="0"/>
                <a:ea typeface="Calibri" pitchFamily="34" charset="-122"/>
                <a:cs typeface="Calibri" pitchFamily="34" charset="-120"/>
              </a:rPr>
              <a:t>According  </a:t>
            </a:r>
            <a:pPr indent="0" marL="0">
              <a:buNone/>
            </a:pPr>
            <a:r>
              <a:rPr lang="en-US" sz="1150" dirty="0">
                <a:solidFill>
                  <a:srgbClr val="1E293B"/>
                </a:solidFill>
                <a:latin typeface="Calibri" pitchFamily="34" charset="0"/>
                <a:ea typeface="Calibri" pitchFamily="34" charset="-122"/>
                <a:cs typeface="Calibri" pitchFamily="34" charset="-120"/>
              </a:rPr>
              <a:t>Source-based transition.</a:t>
            </a:r>
            <a:endParaRPr lang="en-US" sz="1250" dirty="0"/>
          </a:p>
        </p:txBody>
      </p:sp>
      <p:sp>
        <p:nvSpPr>
          <p:cNvPr id="10" name="Shape 8"/>
          <p:cNvSpPr/>
          <p:nvPr/>
        </p:nvSpPr>
        <p:spPr>
          <a:xfrm>
            <a:off x="365760" y="2889504"/>
            <a:ext cx="8412480" cy="457200"/>
          </a:xfrm>
          <a:prstGeom prst="roundRect">
            <a:avLst>
              <a:gd name="adj" fmla="val 20000"/>
            </a:avLst>
          </a:prstGeom>
          <a:solidFill>
            <a:srgbClr val="F8FAFC"/>
          </a:solidFill>
          <a:ln/>
          <a:effectLst>
            <a:outerShdw sx="100000" sy="100000" kx="0" ky="0" algn="bl" rotWithShape="0" blurRad="101600" dist="38100" dir="2700000">
              <a:srgbClr val="000000">
                <a:alpha val="12000"/>
              </a:srgbClr>
            </a:outerShdw>
          </a:effectLst>
        </p:spPr>
      </p:sp>
      <p:sp>
        <p:nvSpPr>
          <p:cNvPr id="11" name="Text 9"/>
          <p:cNvSpPr/>
          <p:nvPr/>
        </p:nvSpPr>
        <p:spPr>
          <a:xfrm>
            <a:off x="548640" y="2935224"/>
            <a:ext cx="8046720" cy="365760"/>
          </a:xfrm>
          <a:prstGeom prst="rect">
            <a:avLst/>
          </a:prstGeom>
          <a:noFill/>
          <a:ln/>
        </p:spPr>
        <p:txBody>
          <a:bodyPr wrap="square" lIns="0" tIns="0" rIns="0" bIns="0" rtlCol="0" anchor="ctr"/>
          <a:lstStyle/>
          <a:p>
            <a:pPr indent="0" marL="0">
              <a:buNone/>
            </a:pPr>
            <a:r>
              <a:rPr lang="en-US" sz="1250" b="1" dirty="0">
                <a:solidFill>
                  <a:srgbClr val="34B76F"/>
                </a:solidFill>
                <a:latin typeface="Calibri" pitchFamily="34" charset="0"/>
                <a:ea typeface="Calibri" pitchFamily="34" charset="-122"/>
                <a:cs typeface="Calibri" pitchFamily="34" charset="-120"/>
              </a:rPr>
              <a:t>Tingle,  </a:t>
            </a:r>
            <a:pPr indent="0" marL="0">
              <a:buNone/>
            </a:pPr>
            <a:r>
              <a:rPr lang="en-US" sz="1150" dirty="0">
                <a:solidFill>
                  <a:srgbClr val="1E293B"/>
                </a:solidFill>
                <a:latin typeface="Calibri" pitchFamily="34" charset="0"/>
                <a:ea typeface="Calibri" pitchFamily="34" charset="-122"/>
                <a:cs typeface="Calibri" pitchFamily="34" charset="-120"/>
              </a:rPr>
              <a:t>Comma after attribution.</a:t>
            </a:r>
            <a:endParaRPr lang="en-US" sz="1250" dirty="0"/>
          </a:p>
        </p:txBody>
      </p:sp>
      <p:sp>
        <p:nvSpPr>
          <p:cNvPr id="12" name="Shape 10"/>
          <p:cNvSpPr/>
          <p:nvPr/>
        </p:nvSpPr>
        <p:spPr>
          <a:xfrm>
            <a:off x="365760" y="3401568"/>
            <a:ext cx="8412480" cy="457200"/>
          </a:xfrm>
          <a:prstGeom prst="roundRect">
            <a:avLst>
              <a:gd name="adj" fmla="val 20000"/>
            </a:avLst>
          </a:prstGeom>
          <a:solidFill>
            <a:srgbClr val="F8FAFC"/>
          </a:solidFill>
          <a:ln/>
          <a:effectLst>
            <a:outerShdw sx="100000" sy="100000" kx="0" ky="0" algn="bl" rotWithShape="0" blurRad="101600" dist="38100" dir="2700000">
              <a:srgbClr val="000000">
                <a:alpha val="12000"/>
              </a:srgbClr>
            </a:outerShdw>
          </a:effectLst>
        </p:spPr>
      </p:sp>
      <p:sp>
        <p:nvSpPr>
          <p:cNvPr id="13" name="Text 11"/>
          <p:cNvSpPr/>
          <p:nvPr/>
        </p:nvSpPr>
        <p:spPr>
          <a:xfrm>
            <a:off x="548640" y="3447288"/>
            <a:ext cx="8046720" cy="365760"/>
          </a:xfrm>
          <a:prstGeom prst="rect">
            <a:avLst/>
          </a:prstGeom>
          <a:noFill/>
          <a:ln/>
        </p:spPr>
        <p:txBody>
          <a:bodyPr wrap="square" lIns="0" tIns="0" rIns="0" bIns="0" rtlCol="0" anchor="ctr"/>
          <a:lstStyle/>
          <a:p>
            <a:pPr indent="0" marL="0">
              <a:buNone/>
            </a:pPr>
            <a:r>
              <a:rPr lang="en-US" sz="1250" b="1" dirty="0">
                <a:solidFill>
                  <a:srgbClr val="34B76F"/>
                </a:solidFill>
                <a:latin typeface="Calibri" pitchFamily="34" charset="0"/>
                <a:ea typeface="Calibri" pitchFamily="34" charset="-122"/>
                <a:cs typeface="Calibri" pitchFamily="34" charset="-120"/>
              </a:rPr>
              <a:t>Isaac’s  </a:t>
            </a:r>
            <a:pPr indent="0" marL="0">
              <a:buNone/>
            </a:pPr>
            <a:r>
              <a:rPr lang="en-US" sz="1150" dirty="0">
                <a:solidFill>
                  <a:srgbClr val="1E293B"/>
                </a:solidFill>
                <a:latin typeface="Calibri" pitchFamily="34" charset="0"/>
                <a:ea typeface="Calibri" pitchFamily="34" charset="-122"/>
                <a:cs typeface="Calibri" pitchFamily="34" charset="-120"/>
              </a:rPr>
              <a:t>Possessive.</a:t>
            </a:r>
            <a:endParaRPr lang="en-US" sz="1250" dirty="0"/>
          </a:p>
        </p:txBody>
      </p:sp>
      <p:sp>
        <p:nvSpPr>
          <p:cNvPr id="14" name="Shape 12"/>
          <p:cNvSpPr/>
          <p:nvPr/>
        </p:nvSpPr>
        <p:spPr>
          <a:xfrm>
            <a:off x="365760" y="3913632"/>
            <a:ext cx="8412480" cy="457200"/>
          </a:xfrm>
          <a:prstGeom prst="roundRect">
            <a:avLst>
              <a:gd name="adj" fmla="val 20000"/>
            </a:avLst>
          </a:prstGeom>
          <a:solidFill>
            <a:srgbClr val="F8FAFC"/>
          </a:solidFill>
          <a:ln/>
          <a:effectLst>
            <a:outerShdw sx="100000" sy="100000" kx="0" ky="0" algn="bl" rotWithShape="0" blurRad="101600" dist="38100" dir="2700000">
              <a:srgbClr val="000000">
                <a:alpha val="12000"/>
              </a:srgbClr>
            </a:outerShdw>
          </a:effectLst>
        </p:spPr>
      </p:sp>
      <p:sp>
        <p:nvSpPr>
          <p:cNvPr id="15" name="Text 13"/>
          <p:cNvSpPr/>
          <p:nvPr/>
        </p:nvSpPr>
        <p:spPr>
          <a:xfrm>
            <a:off x="548640" y="3959352"/>
            <a:ext cx="8046720" cy="365760"/>
          </a:xfrm>
          <a:prstGeom prst="rect">
            <a:avLst/>
          </a:prstGeom>
          <a:noFill/>
          <a:ln/>
        </p:spPr>
        <p:txBody>
          <a:bodyPr wrap="square" lIns="0" tIns="0" rIns="0" bIns="0" rtlCol="0" anchor="ctr"/>
          <a:lstStyle/>
          <a:p>
            <a:pPr indent="0" marL="0">
              <a:buNone/>
            </a:pPr>
            <a:r>
              <a:rPr lang="en-US" sz="1250" b="1" dirty="0">
                <a:solidFill>
                  <a:srgbClr val="34B76F"/>
                </a:solidFill>
                <a:latin typeface="Calibri" pitchFamily="34" charset="0"/>
                <a:ea typeface="Calibri" pitchFamily="34" charset="-122"/>
                <a:cs typeface="Calibri" pitchFamily="34" charset="-120"/>
              </a:rPr>
              <a:t>family  </a:t>
            </a:r>
            <a:pPr indent="0" marL="0">
              <a:buNone/>
            </a:pPr>
            <a:r>
              <a:rPr lang="en-US" sz="1150" dirty="0">
                <a:solidFill>
                  <a:srgbClr val="1E293B"/>
                </a:solidFill>
                <a:latin typeface="Calibri" pitchFamily="34" charset="0"/>
                <a:ea typeface="Calibri" pitchFamily="34" charset="-122"/>
                <a:cs typeface="Calibri" pitchFamily="34" charset="-120"/>
              </a:rPr>
              <a:t>Subject.</a:t>
            </a:r>
            <a:endParaRPr lang="en-US" sz="1250" dirty="0"/>
          </a:p>
        </p:txBody>
      </p:sp>
      <p:sp>
        <p:nvSpPr>
          <p:cNvPr id="16" name="Shape 14"/>
          <p:cNvSpPr/>
          <p:nvPr/>
        </p:nvSpPr>
        <p:spPr>
          <a:xfrm>
            <a:off x="365760" y="4425696"/>
            <a:ext cx="8412480" cy="457200"/>
          </a:xfrm>
          <a:prstGeom prst="roundRect">
            <a:avLst>
              <a:gd name="adj" fmla="val 20000"/>
            </a:avLst>
          </a:prstGeom>
          <a:solidFill>
            <a:srgbClr val="F8FAFC"/>
          </a:solidFill>
          <a:ln/>
          <a:effectLst>
            <a:outerShdw sx="100000" sy="100000" kx="0" ky="0" algn="bl" rotWithShape="0" blurRad="101600" dist="38100" dir="2700000">
              <a:srgbClr val="000000">
                <a:alpha val="12000"/>
              </a:srgbClr>
            </a:outerShdw>
          </a:effectLst>
        </p:spPr>
      </p:sp>
      <p:sp>
        <p:nvSpPr>
          <p:cNvPr id="17" name="Text 15"/>
          <p:cNvSpPr/>
          <p:nvPr/>
        </p:nvSpPr>
        <p:spPr>
          <a:xfrm>
            <a:off x="548640" y="4471416"/>
            <a:ext cx="8046720" cy="365760"/>
          </a:xfrm>
          <a:prstGeom prst="rect">
            <a:avLst/>
          </a:prstGeom>
          <a:noFill/>
          <a:ln/>
        </p:spPr>
        <p:txBody>
          <a:bodyPr wrap="square" lIns="0" tIns="0" rIns="0" bIns="0" rtlCol="0" anchor="ctr"/>
          <a:lstStyle/>
          <a:p>
            <a:pPr indent="0" marL="0">
              <a:buNone/>
            </a:pPr>
            <a:r>
              <a:rPr lang="en-US" sz="1250" b="1" dirty="0">
                <a:solidFill>
                  <a:srgbClr val="34B76F"/>
                </a:solidFill>
                <a:latin typeface="Calibri" pitchFamily="34" charset="0"/>
                <a:ea typeface="Calibri" pitchFamily="34" charset="-122"/>
                <a:cs typeface="Calibri" pitchFamily="34" charset="-120"/>
              </a:rPr>
              <a:t>displaced  </a:t>
            </a:r>
            <a:pPr indent="0" marL="0">
              <a:buNone/>
            </a:pPr>
            <a:r>
              <a:rPr lang="en-US" sz="1150" dirty="0">
                <a:solidFill>
                  <a:srgbClr val="1E293B"/>
                </a:solidFill>
                <a:latin typeface="Calibri" pitchFamily="34" charset="0"/>
                <a:ea typeface="Calibri" pitchFamily="34" charset="-122"/>
                <a:cs typeface="Calibri" pitchFamily="34" charset="-120"/>
              </a:rPr>
              <a:t>Formal: not “kicked out.”</a:t>
            </a:r>
            <a:endParaRPr lang="en-US" sz="125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E5F7FC"/>
        </a:solidFill>
      </p:bgPr>
    </p:bg>
    <p:spTree>
      <p:nvGrpSpPr>
        <p:cNvPr id="1" name=""/>
        <p:cNvGrpSpPr/>
        <p:nvPr/>
      </p:nvGrpSpPr>
      <p:grpSpPr>
        <a:xfrm>
          <a:off x="0" y="0"/>
          <a:ext cx="0" cy="0"/>
          <a:chOff x="0" y="0"/>
          <a:chExt cx="0" cy="0"/>
        </a:xfrm>
      </p:grpSpPr>
      <p:sp>
        <p:nvSpPr>
          <p:cNvPr id="2" name="Text 0"/>
          <p:cNvSpPr/>
          <p:nvPr/>
        </p:nvSpPr>
        <p:spPr>
          <a:xfrm>
            <a:off x="365760" y="164592"/>
            <a:ext cx="5943600" cy="566928"/>
          </a:xfrm>
          <a:prstGeom prst="rect">
            <a:avLst/>
          </a:prstGeom>
          <a:noFill/>
          <a:ln/>
        </p:spPr>
        <p:txBody>
          <a:bodyPr wrap="square" lIns="0" tIns="0" rIns="0" bIns="0" rtlCol="0" anchor="ctr"/>
          <a:lstStyle/>
          <a:p>
            <a:pPr algn="l" indent="0" marL="0">
              <a:buNone/>
            </a:pPr>
            <a:r>
              <a:rPr lang="en-US" sz="2600" b="1" dirty="0">
                <a:solidFill>
                  <a:srgbClr val="0E1C42"/>
                </a:solidFill>
                <a:latin typeface="Calibri" pitchFamily="34" charset="0"/>
                <a:ea typeface="Calibri" pitchFamily="34" charset="-122"/>
                <a:cs typeface="Calibri" pitchFamily="34" charset="-120"/>
              </a:rPr>
              <a:t>📝 Daily Oral Language — Fix It</a:t>
            </a:r>
            <a:endParaRPr lang="en-US" sz="2600" dirty="0"/>
          </a:p>
        </p:txBody>
      </p:sp>
      <p:sp>
        <p:nvSpPr>
          <p:cNvPr id="3" name="Shape 1"/>
          <p:cNvSpPr/>
          <p:nvPr/>
        </p:nvSpPr>
        <p:spPr>
          <a:xfrm>
            <a:off x="365760" y="749808"/>
            <a:ext cx="8412480" cy="0"/>
          </a:xfrm>
          <a:prstGeom prst="line">
            <a:avLst/>
          </a:prstGeom>
          <a:noFill/>
          <a:ln w="19050">
            <a:solidFill>
              <a:srgbClr val="8B6FC0"/>
            </a:solidFill>
            <a:prstDash val="solid"/>
          </a:ln>
        </p:spPr>
      </p:sp>
      <p:sp>
        <p:nvSpPr>
          <p:cNvPr id="4" name="Shape 2"/>
          <p:cNvSpPr/>
          <p:nvPr/>
        </p:nvSpPr>
        <p:spPr>
          <a:xfrm>
            <a:off x="6492240" y="173736"/>
            <a:ext cx="2286000" cy="502920"/>
          </a:xfrm>
          <a:prstGeom prst="roundRect">
            <a:avLst>
              <a:gd name="adj" fmla="val 21818"/>
            </a:avLst>
          </a:prstGeom>
          <a:solidFill>
            <a:srgbClr val="8B6FC0"/>
          </a:solidFill>
          <a:ln/>
        </p:spPr>
      </p:sp>
      <p:sp>
        <p:nvSpPr>
          <p:cNvPr id="5" name="Text 3"/>
          <p:cNvSpPr/>
          <p:nvPr/>
        </p:nvSpPr>
        <p:spPr>
          <a:xfrm>
            <a:off x="6492240" y="173736"/>
            <a:ext cx="2286000" cy="502920"/>
          </a:xfrm>
          <a:prstGeom prst="rect">
            <a:avLst/>
          </a:prstGeom>
          <a:noFill/>
          <a:ln/>
        </p:spPr>
        <p:txBody>
          <a:bodyPr wrap="square" lIns="0" tIns="0" rIns="0" bIns="0" rtlCol="0" anchor="ctr"/>
          <a:lstStyle/>
          <a:p>
            <a:pPr algn="ctr" indent="0" marL="0">
              <a:buNone/>
            </a:pPr>
            <a:r>
              <a:rPr lang="en-US" sz="1100" b="1" dirty="0">
                <a:solidFill>
                  <a:srgbClr val="0E1C42"/>
                </a:solidFill>
                <a:latin typeface="Calibri" pitchFamily="34" charset="0"/>
                <a:ea typeface="Calibri" pitchFamily="34" charset="-122"/>
                <a:cs typeface="Calibri" pitchFamily="34" charset="-120"/>
              </a:rPr>
              <a:t>CHAT PROMPT</a:t>
            </a:r>
            <a:endParaRPr lang="en-US" sz="1100" dirty="0"/>
          </a:p>
        </p:txBody>
      </p:sp>
      <p:sp>
        <p:nvSpPr>
          <p:cNvPr id="6" name="Text 4"/>
          <p:cNvSpPr/>
          <p:nvPr/>
        </p:nvSpPr>
        <p:spPr>
          <a:xfrm>
            <a:off x="365760" y="822960"/>
            <a:ext cx="8046720" cy="292608"/>
          </a:xfrm>
          <a:prstGeom prst="rect">
            <a:avLst/>
          </a:prstGeom>
          <a:noFill/>
          <a:ln/>
        </p:spPr>
        <p:txBody>
          <a:bodyPr wrap="square" lIns="0" tIns="0" rIns="0" bIns="0" rtlCol="0" anchor="ctr"/>
          <a:lstStyle/>
          <a:p>
            <a:pPr indent="0" marL="0">
              <a:buNone/>
            </a:pPr>
            <a:r>
              <a:rPr lang="en-US" sz="1100" b="1" spc="200" kern="0" dirty="0">
                <a:solidFill>
                  <a:srgbClr val="C7922C"/>
                </a:solidFill>
                <a:latin typeface="Calibri" pitchFamily="34" charset="0"/>
                <a:ea typeface="Calibri" pitchFamily="34" charset="-122"/>
                <a:cs typeface="Calibri" pitchFamily="34" charset="-120"/>
              </a:rPr>
              <a:t>NEEDS FIXING</a:t>
            </a:r>
            <a:endParaRPr lang="en-US" sz="1100" dirty="0"/>
          </a:p>
        </p:txBody>
      </p:sp>
      <p:sp>
        <p:nvSpPr>
          <p:cNvPr id="7" name="Shape 5"/>
          <p:cNvSpPr/>
          <p:nvPr/>
        </p:nvSpPr>
        <p:spPr>
          <a:xfrm>
            <a:off x="365760" y="1078992"/>
            <a:ext cx="8412480" cy="777240"/>
          </a:xfrm>
          <a:prstGeom prst="roundRect">
            <a:avLst>
              <a:gd name="adj" fmla="val 11765"/>
            </a:avLst>
          </a:prstGeom>
          <a:solidFill>
            <a:srgbClr val="FEF6E8"/>
          </a:solidFill>
          <a:ln w="12700">
            <a:solidFill>
              <a:srgbClr val="C7922C"/>
            </a:solidFill>
            <a:prstDash val="solid"/>
          </a:ln>
          <a:effectLst>
            <a:outerShdw sx="100000" sy="100000" kx="0" ky="0" algn="bl" rotWithShape="0" blurRad="101600" dist="38100" dir="2700000">
              <a:srgbClr val="000000">
                <a:alpha val="12000"/>
              </a:srgbClr>
            </a:outerShdw>
          </a:effectLst>
        </p:spPr>
      </p:sp>
      <p:sp>
        <p:nvSpPr>
          <p:cNvPr id="8" name="Text 6"/>
          <p:cNvSpPr/>
          <p:nvPr/>
        </p:nvSpPr>
        <p:spPr>
          <a:xfrm>
            <a:off x="548640" y="1188720"/>
            <a:ext cx="8046720" cy="548640"/>
          </a:xfrm>
          <a:prstGeom prst="rect">
            <a:avLst/>
          </a:prstGeom>
          <a:noFill/>
          <a:ln/>
        </p:spPr>
        <p:txBody>
          <a:bodyPr wrap="square" lIns="0" tIns="0" rIns="0" bIns="0" rtlCol="0" anchor="ctr"/>
          <a:lstStyle/>
          <a:p>
            <a:pPr indent="0" marL="0">
              <a:buNone/>
            </a:pPr>
            <a:r>
              <a:rPr lang="en-US" sz="1600" i="1" dirty="0">
                <a:solidFill>
                  <a:srgbClr val="1E293B"/>
                </a:solidFill>
                <a:latin typeface="Calibri" pitchFamily="34" charset="0"/>
                <a:ea typeface="Calibri" pitchFamily="34" charset="-122"/>
                <a:cs typeface="Calibri" pitchFamily="34" charset="-120"/>
              </a:rPr>
              <a:t>tingle's story shows that the choctaw people were treated really bad and the removal wasn't fair to them</a:t>
            </a:r>
            <a:endParaRPr lang="en-US" sz="1600" dirty="0"/>
          </a:p>
        </p:txBody>
      </p:sp>
      <p:sp>
        <p:nvSpPr>
          <p:cNvPr id="9" name="Text 7"/>
          <p:cNvSpPr/>
          <p:nvPr/>
        </p:nvSpPr>
        <p:spPr>
          <a:xfrm>
            <a:off x="457200" y="1965960"/>
            <a:ext cx="8229600" cy="384048"/>
          </a:xfrm>
          <a:prstGeom prst="rect">
            <a:avLst/>
          </a:prstGeom>
          <a:noFill/>
          <a:ln/>
        </p:spPr>
        <p:txBody>
          <a:bodyPr wrap="square" lIns="0" tIns="0" rIns="0" bIns="0" rtlCol="0" anchor="ctr"/>
          <a:lstStyle/>
          <a:p>
            <a:pPr indent="0" marL="0">
              <a:buNone/>
            </a:pPr>
            <a:r>
              <a:rPr lang="en-US" sz="1500" b="1" dirty="0">
                <a:solidFill>
                  <a:srgbClr val="0E1C42"/>
                </a:solidFill>
                <a:latin typeface="Calibri" pitchFamily="34" charset="0"/>
                <a:ea typeface="Calibri" pitchFamily="34" charset="-122"/>
                <a:cs typeface="Calibri" pitchFamily="34" charset="-120"/>
              </a:rPr>
              <a:t>Rewrite the corrected sentence in your notebook.</a:t>
            </a:r>
            <a:endParaRPr lang="en-US" sz="15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E5F7FC"/>
        </a:solidFill>
      </p:bgPr>
    </p:bg>
    <p:spTree>
      <p:nvGrpSpPr>
        <p:cNvPr id="1" name=""/>
        <p:cNvGrpSpPr/>
        <p:nvPr/>
      </p:nvGrpSpPr>
      <p:grpSpPr>
        <a:xfrm>
          <a:off x="0" y="0"/>
          <a:ext cx="0" cy="0"/>
          <a:chOff x="0" y="0"/>
          <a:chExt cx="0" cy="0"/>
        </a:xfrm>
      </p:grpSpPr>
      <p:sp>
        <p:nvSpPr>
          <p:cNvPr id="2" name="Text 0"/>
          <p:cNvSpPr/>
          <p:nvPr/>
        </p:nvSpPr>
        <p:spPr>
          <a:xfrm>
            <a:off x="365760" y="164592"/>
            <a:ext cx="5943600" cy="566928"/>
          </a:xfrm>
          <a:prstGeom prst="rect">
            <a:avLst/>
          </a:prstGeom>
          <a:noFill/>
          <a:ln/>
        </p:spPr>
        <p:txBody>
          <a:bodyPr wrap="square" lIns="0" tIns="0" rIns="0" bIns="0" rtlCol="0" anchor="ctr"/>
          <a:lstStyle/>
          <a:p>
            <a:pPr algn="l" indent="0" marL="0">
              <a:buNone/>
            </a:pPr>
            <a:r>
              <a:rPr lang="en-US" sz="2600" b="1" dirty="0">
                <a:solidFill>
                  <a:srgbClr val="0E1C42"/>
                </a:solidFill>
                <a:latin typeface="Calibri" pitchFamily="34" charset="0"/>
                <a:ea typeface="Calibri" pitchFamily="34" charset="-122"/>
                <a:cs typeface="Calibri" pitchFamily="34" charset="-120"/>
              </a:rPr>
              <a:t>📝 Daily Oral Language — Fix It</a:t>
            </a:r>
            <a:endParaRPr lang="en-US" sz="2600" dirty="0"/>
          </a:p>
        </p:txBody>
      </p:sp>
      <p:sp>
        <p:nvSpPr>
          <p:cNvPr id="3" name="Shape 1"/>
          <p:cNvSpPr/>
          <p:nvPr/>
        </p:nvSpPr>
        <p:spPr>
          <a:xfrm>
            <a:off x="365760" y="749808"/>
            <a:ext cx="8412480" cy="0"/>
          </a:xfrm>
          <a:prstGeom prst="line">
            <a:avLst/>
          </a:prstGeom>
          <a:noFill/>
          <a:ln w="19050">
            <a:solidFill>
              <a:srgbClr val="8B6FC0"/>
            </a:solidFill>
            <a:prstDash val="solid"/>
          </a:ln>
        </p:spPr>
      </p:sp>
      <p:sp>
        <p:nvSpPr>
          <p:cNvPr id="4" name="Shape 2"/>
          <p:cNvSpPr/>
          <p:nvPr/>
        </p:nvSpPr>
        <p:spPr>
          <a:xfrm>
            <a:off x="6492240" y="173736"/>
            <a:ext cx="2286000" cy="502920"/>
          </a:xfrm>
          <a:prstGeom prst="roundRect">
            <a:avLst>
              <a:gd name="adj" fmla="val 21818"/>
            </a:avLst>
          </a:prstGeom>
          <a:solidFill>
            <a:srgbClr val="8B6FC0"/>
          </a:solidFill>
          <a:ln/>
        </p:spPr>
      </p:sp>
      <p:sp>
        <p:nvSpPr>
          <p:cNvPr id="5" name="Text 3"/>
          <p:cNvSpPr/>
          <p:nvPr/>
        </p:nvSpPr>
        <p:spPr>
          <a:xfrm>
            <a:off x="6492240" y="173736"/>
            <a:ext cx="2286000" cy="502920"/>
          </a:xfrm>
          <a:prstGeom prst="rect">
            <a:avLst/>
          </a:prstGeom>
          <a:noFill/>
          <a:ln/>
        </p:spPr>
        <p:txBody>
          <a:bodyPr wrap="square" lIns="0" tIns="0" rIns="0" bIns="0" rtlCol="0" anchor="ctr"/>
          <a:lstStyle/>
          <a:p>
            <a:pPr algn="ctr" indent="0" marL="0">
              <a:buNone/>
            </a:pPr>
            <a:r>
              <a:rPr lang="en-US" sz="1100" b="1" dirty="0">
                <a:solidFill>
                  <a:srgbClr val="0E1C42"/>
                </a:solidFill>
                <a:latin typeface="Calibri" pitchFamily="34" charset="0"/>
                <a:ea typeface="Calibri" pitchFamily="34" charset="-122"/>
                <a:cs typeface="Calibri" pitchFamily="34" charset="-120"/>
              </a:rPr>
              <a:t>CHAT PROMPT</a:t>
            </a:r>
            <a:endParaRPr lang="en-US" sz="1100" dirty="0"/>
          </a:p>
        </p:txBody>
      </p:sp>
      <p:sp>
        <p:nvSpPr>
          <p:cNvPr id="6" name="Text 4"/>
          <p:cNvSpPr/>
          <p:nvPr/>
        </p:nvSpPr>
        <p:spPr>
          <a:xfrm>
            <a:off x="365760" y="822960"/>
            <a:ext cx="8046720" cy="292608"/>
          </a:xfrm>
          <a:prstGeom prst="rect">
            <a:avLst/>
          </a:prstGeom>
          <a:noFill/>
          <a:ln/>
        </p:spPr>
        <p:txBody>
          <a:bodyPr wrap="square" lIns="0" tIns="0" rIns="0" bIns="0" rtlCol="0" anchor="ctr"/>
          <a:lstStyle/>
          <a:p>
            <a:pPr indent="0" marL="0">
              <a:buNone/>
            </a:pPr>
            <a:r>
              <a:rPr lang="en-US" sz="1100" b="1" spc="200" kern="0" dirty="0">
                <a:solidFill>
                  <a:srgbClr val="C7922C"/>
                </a:solidFill>
                <a:latin typeface="Calibri" pitchFamily="34" charset="0"/>
                <a:ea typeface="Calibri" pitchFamily="34" charset="-122"/>
                <a:cs typeface="Calibri" pitchFamily="34" charset="-120"/>
              </a:rPr>
              <a:t>NEEDS FIXING</a:t>
            </a:r>
            <a:endParaRPr lang="en-US" sz="1100" dirty="0"/>
          </a:p>
        </p:txBody>
      </p:sp>
      <p:sp>
        <p:nvSpPr>
          <p:cNvPr id="7" name="Shape 5"/>
          <p:cNvSpPr/>
          <p:nvPr/>
        </p:nvSpPr>
        <p:spPr>
          <a:xfrm>
            <a:off x="365760" y="1078992"/>
            <a:ext cx="8412480" cy="777240"/>
          </a:xfrm>
          <a:prstGeom prst="roundRect">
            <a:avLst>
              <a:gd name="adj" fmla="val 11765"/>
            </a:avLst>
          </a:prstGeom>
          <a:solidFill>
            <a:srgbClr val="FEF6E8"/>
          </a:solidFill>
          <a:ln w="12700">
            <a:solidFill>
              <a:srgbClr val="C7922C"/>
            </a:solidFill>
            <a:prstDash val="solid"/>
          </a:ln>
          <a:effectLst>
            <a:outerShdw sx="100000" sy="100000" kx="0" ky="0" algn="bl" rotWithShape="0" blurRad="101600" dist="38100" dir="2700000">
              <a:srgbClr val="000000">
                <a:alpha val="12000"/>
              </a:srgbClr>
            </a:outerShdw>
          </a:effectLst>
        </p:spPr>
      </p:sp>
      <p:sp>
        <p:nvSpPr>
          <p:cNvPr id="8" name="Text 6"/>
          <p:cNvSpPr/>
          <p:nvPr/>
        </p:nvSpPr>
        <p:spPr>
          <a:xfrm>
            <a:off x="548640" y="1188720"/>
            <a:ext cx="8046720" cy="548640"/>
          </a:xfrm>
          <a:prstGeom prst="rect">
            <a:avLst/>
          </a:prstGeom>
          <a:noFill/>
          <a:ln/>
        </p:spPr>
        <p:txBody>
          <a:bodyPr wrap="square" lIns="0" tIns="0" rIns="0" bIns="0" rtlCol="0" anchor="ctr"/>
          <a:lstStyle/>
          <a:p>
            <a:pPr indent="0" marL="0">
              <a:buNone/>
            </a:pPr>
            <a:r>
              <a:rPr lang="en-US" sz="1600" i="1" dirty="0">
                <a:solidFill>
                  <a:srgbClr val="1E293B"/>
                </a:solidFill>
                <a:latin typeface="Calibri" pitchFamily="34" charset="0"/>
                <a:ea typeface="Calibri" pitchFamily="34" charset="-122"/>
                <a:cs typeface="Calibri" pitchFamily="34" charset="-120"/>
              </a:rPr>
              <a:t>tingle's story shows that the choctaw people were treated really bad and the removal wasn't fair to them</a:t>
            </a:r>
            <a:endParaRPr lang="en-US" sz="1600" dirty="0"/>
          </a:p>
        </p:txBody>
      </p:sp>
      <p:sp>
        <p:nvSpPr>
          <p:cNvPr id="9" name="Text 7"/>
          <p:cNvSpPr/>
          <p:nvPr/>
        </p:nvSpPr>
        <p:spPr>
          <a:xfrm>
            <a:off x="457200" y="1965960"/>
            <a:ext cx="8229600" cy="384048"/>
          </a:xfrm>
          <a:prstGeom prst="rect">
            <a:avLst/>
          </a:prstGeom>
          <a:noFill/>
          <a:ln/>
        </p:spPr>
        <p:txBody>
          <a:bodyPr wrap="square" lIns="0" tIns="0" rIns="0" bIns="0" rtlCol="0" anchor="ctr"/>
          <a:lstStyle/>
          <a:p>
            <a:pPr indent="0" marL="0">
              <a:buNone/>
            </a:pPr>
            <a:r>
              <a:rPr lang="en-US" sz="1500" b="1" dirty="0">
                <a:solidFill>
                  <a:srgbClr val="0E1C42"/>
                </a:solidFill>
                <a:latin typeface="Calibri" pitchFamily="34" charset="0"/>
                <a:ea typeface="Calibri" pitchFamily="34" charset="-122"/>
                <a:cs typeface="Calibri" pitchFamily="34" charset="-120"/>
              </a:rPr>
              <a:t>Rewrite the corrected sentence in your notebook.</a:t>
            </a:r>
            <a:endParaRPr lang="en-US" sz="1500" dirty="0"/>
          </a:p>
        </p:txBody>
      </p:sp>
      <p:sp>
        <p:nvSpPr>
          <p:cNvPr id="10" name="Shape 8"/>
          <p:cNvSpPr/>
          <p:nvPr/>
        </p:nvSpPr>
        <p:spPr>
          <a:xfrm>
            <a:off x="365760" y="2468880"/>
            <a:ext cx="8412480" cy="1371600"/>
          </a:xfrm>
          <a:prstGeom prst="roundRect">
            <a:avLst>
              <a:gd name="adj" fmla="val 6667"/>
            </a:avLst>
          </a:prstGeom>
          <a:solidFill>
            <a:srgbClr val="E8F8EF"/>
          </a:solidFill>
          <a:ln/>
          <a:effectLst>
            <a:outerShdw sx="100000" sy="100000" kx="0" ky="0" algn="bl" rotWithShape="0" blurRad="101600" dist="38100" dir="2700000">
              <a:srgbClr val="000000">
                <a:alpha val="12000"/>
              </a:srgbClr>
            </a:outerShdw>
          </a:effectLst>
        </p:spPr>
      </p:sp>
      <p:sp>
        <p:nvSpPr>
          <p:cNvPr id="11" name="Text 9"/>
          <p:cNvSpPr/>
          <p:nvPr/>
        </p:nvSpPr>
        <p:spPr>
          <a:xfrm>
            <a:off x="594360" y="2560320"/>
            <a:ext cx="8046720" cy="292608"/>
          </a:xfrm>
          <a:prstGeom prst="rect">
            <a:avLst/>
          </a:prstGeom>
          <a:noFill/>
          <a:ln/>
        </p:spPr>
        <p:txBody>
          <a:bodyPr wrap="square" lIns="0" tIns="0" rIns="0" bIns="0" rtlCol="0" anchor="ctr"/>
          <a:lstStyle/>
          <a:p>
            <a:pPr indent="0" marL="0">
              <a:buNone/>
            </a:pPr>
            <a:r>
              <a:rPr lang="en-US" sz="1100" b="1" spc="200" kern="0" dirty="0">
                <a:solidFill>
                  <a:srgbClr val="34B76F"/>
                </a:solidFill>
                <a:latin typeface="Calibri" pitchFamily="34" charset="0"/>
                <a:ea typeface="Calibri" pitchFamily="34" charset="-122"/>
                <a:cs typeface="Calibri" pitchFamily="34" charset="-120"/>
              </a:rPr>
              <a:t>✅  CORRECTED</a:t>
            </a:r>
            <a:endParaRPr lang="en-US" sz="1100" dirty="0"/>
          </a:p>
        </p:txBody>
      </p:sp>
      <p:sp>
        <p:nvSpPr>
          <p:cNvPr id="12" name="Text 10"/>
          <p:cNvSpPr/>
          <p:nvPr/>
        </p:nvSpPr>
        <p:spPr>
          <a:xfrm>
            <a:off x="594360" y="2834640"/>
            <a:ext cx="7955280" cy="457200"/>
          </a:xfrm>
          <a:prstGeom prst="rect">
            <a:avLst/>
          </a:prstGeom>
          <a:noFill/>
          <a:ln/>
        </p:spPr>
        <p:txBody>
          <a:bodyPr wrap="square" lIns="0" tIns="0" rIns="0" bIns="0" rtlCol="0" anchor="ctr"/>
          <a:lstStyle/>
          <a:p>
            <a:pPr indent="0" marL="0">
              <a:buNone/>
            </a:pPr>
            <a:r>
              <a:rPr lang="en-US" sz="1500" b="1" i="1" dirty="0">
                <a:solidFill>
                  <a:srgbClr val="1E293B"/>
                </a:solidFill>
                <a:latin typeface="Calibri" pitchFamily="34" charset="0"/>
                <a:ea typeface="Calibri" pitchFamily="34" charset="-122"/>
                <a:cs typeface="Calibri" pitchFamily="34" charset="-120"/>
              </a:rPr>
              <a:t>According to Tingle’s novel, the Choctaw people endured systematic injustice during the forced removal of 1830.</a:t>
            </a:r>
            <a:endParaRPr lang="en-US" sz="1500" dirty="0"/>
          </a:p>
        </p:txBody>
      </p:sp>
      <p:sp>
        <p:nvSpPr>
          <p:cNvPr id="13" name="Text 11"/>
          <p:cNvSpPr/>
          <p:nvPr/>
        </p:nvSpPr>
        <p:spPr>
          <a:xfrm>
            <a:off x="594360" y="3310128"/>
            <a:ext cx="7955280" cy="457200"/>
          </a:xfrm>
          <a:prstGeom prst="rect">
            <a:avLst/>
          </a:prstGeom>
          <a:noFill/>
          <a:ln/>
        </p:spPr>
        <p:txBody>
          <a:bodyPr wrap="square" lIns="0" tIns="0" rIns="0" bIns="0" rtlCol="0" anchor="ctr"/>
          <a:lstStyle/>
          <a:p>
            <a:pPr indent="0" marL="0">
              <a:buNone/>
            </a:pPr>
            <a:r>
              <a:rPr lang="en-US" sz="1100" i="1" dirty="0">
                <a:solidFill>
                  <a:srgbClr val="64748B"/>
                </a:solidFill>
                <a:latin typeface="Calibri" pitchFamily="34" charset="0"/>
                <a:ea typeface="Calibri" pitchFamily="34" charset="-122"/>
                <a:cs typeface="Calibri" pitchFamily="34" charset="-120"/>
              </a:rPr>
              <a:t>Formal: source transition (“According to”), precise term (“systematic injustice”, “forced removal”), specific date. Remove “really bad” and “wasn’t fair” (too vague and informal).</a:t>
            </a:r>
            <a:endParaRPr lang="en-US" sz="11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365760" y="164592"/>
            <a:ext cx="8412480" cy="566928"/>
          </a:xfrm>
          <a:prstGeom prst="rect">
            <a:avLst/>
          </a:prstGeom>
          <a:noFill/>
          <a:ln/>
        </p:spPr>
        <p:txBody>
          <a:bodyPr wrap="square" lIns="0" tIns="0" rIns="0" bIns="0" rtlCol="0" anchor="ctr"/>
          <a:lstStyle/>
          <a:p>
            <a:pPr algn="l" indent="0" marL="0">
              <a:buNone/>
            </a:pPr>
            <a:r>
              <a:rPr lang="en-US" sz="2600" b="1" dirty="0">
                <a:solidFill>
                  <a:srgbClr val="0E1C42"/>
                </a:solidFill>
                <a:latin typeface="Calibri" pitchFamily="34" charset="0"/>
                <a:ea typeface="Calibri" pitchFamily="34" charset="-122"/>
                <a:cs typeface="Calibri" pitchFamily="34" charset="-120"/>
              </a:rPr>
              <a:t>✏️ Quick Write (Optional)</a:t>
            </a:r>
            <a:endParaRPr lang="en-US" sz="2600" dirty="0"/>
          </a:p>
        </p:txBody>
      </p:sp>
      <p:sp>
        <p:nvSpPr>
          <p:cNvPr id="3" name="Shape 1"/>
          <p:cNvSpPr/>
          <p:nvPr/>
        </p:nvSpPr>
        <p:spPr>
          <a:xfrm>
            <a:off x="365760" y="749808"/>
            <a:ext cx="8412480" cy="0"/>
          </a:xfrm>
          <a:prstGeom prst="line">
            <a:avLst/>
          </a:prstGeom>
          <a:noFill/>
          <a:ln w="19050">
            <a:solidFill>
              <a:srgbClr val="C7922C"/>
            </a:solidFill>
            <a:prstDash val="solid"/>
          </a:ln>
        </p:spPr>
      </p:sp>
      <p:sp>
        <p:nvSpPr>
          <p:cNvPr id="4" name="Text 2"/>
          <p:cNvSpPr/>
          <p:nvPr/>
        </p:nvSpPr>
        <p:spPr>
          <a:xfrm>
            <a:off x="457200" y="914400"/>
            <a:ext cx="8046720" cy="292608"/>
          </a:xfrm>
          <a:prstGeom prst="rect">
            <a:avLst/>
          </a:prstGeom>
          <a:noFill/>
          <a:ln/>
        </p:spPr>
        <p:txBody>
          <a:bodyPr wrap="square" lIns="0" tIns="0" rIns="0" bIns="0" rtlCol="0" anchor="ctr"/>
          <a:lstStyle/>
          <a:p>
            <a:pPr indent="0" marL="0">
              <a:buNone/>
            </a:pPr>
            <a:r>
              <a:rPr lang="en-US" sz="1100" b="1" spc="200" kern="0" dirty="0">
                <a:solidFill>
                  <a:srgbClr val="C7922C"/>
                </a:solidFill>
                <a:latin typeface="Calibri" pitchFamily="34" charset="0"/>
                <a:ea typeface="Calibri" pitchFamily="34" charset="-122"/>
                <a:cs typeface="Calibri" pitchFamily="34" charset="-120"/>
              </a:rPr>
              <a:t>📖 READ THE PROMPT — 1 MINUTE</a:t>
            </a:r>
            <a:endParaRPr lang="en-US" sz="1100" dirty="0"/>
          </a:p>
        </p:txBody>
      </p:sp>
      <p:sp>
        <p:nvSpPr>
          <p:cNvPr id="5" name="Shape 3"/>
          <p:cNvSpPr/>
          <p:nvPr/>
        </p:nvSpPr>
        <p:spPr>
          <a:xfrm>
            <a:off x="457200" y="1280160"/>
            <a:ext cx="8229600" cy="1463040"/>
          </a:xfrm>
          <a:prstGeom prst="roundRect">
            <a:avLst>
              <a:gd name="adj" fmla="val 6250"/>
            </a:avLst>
          </a:prstGeom>
          <a:solidFill>
            <a:srgbClr val="FEF6E8"/>
          </a:solidFill>
          <a:ln w="12700">
            <a:solidFill>
              <a:srgbClr val="C7922C"/>
            </a:solidFill>
            <a:prstDash val="solid"/>
          </a:ln>
          <a:effectLst>
            <a:outerShdw sx="100000" sy="100000" kx="0" ky="0" algn="bl" rotWithShape="0" blurRad="101600" dist="38100" dir="2700000">
              <a:srgbClr val="000000">
                <a:alpha val="12000"/>
              </a:srgbClr>
            </a:outerShdw>
          </a:effectLst>
        </p:spPr>
      </p:sp>
      <p:sp>
        <p:nvSpPr>
          <p:cNvPr id="6" name="Text 4"/>
          <p:cNvSpPr/>
          <p:nvPr/>
        </p:nvSpPr>
        <p:spPr>
          <a:xfrm>
            <a:off x="640080" y="1389888"/>
            <a:ext cx="7863840" cy="1234440"/>
          </a:xfrm>
          <a:prstGeom prst="rect">
            <a:avLst/>
          </a:prstGeom>
          <a:noFill/>
          <a:ln/>
        </p:spPr>
        <p:txBody>
          <a:bodyPr wrap="square" lIns="0" tIns="0" rIns="0" bIns="0" rtlCol="0" anchor="ctr"/>
          <a:lstStyle/>
          <a:p>
            <a:pPr indent="0" marL="0">
              <a:buNone/>
            </a:pPr>
            <a:r>
              <a:rPr lang="en-US" sz="1600" i="1" dirty="0">
                <a:solidFill>
                  <a:srgbClr val="1E293B"/>
                </a:solidFill>
                <a:latin typeface="Calibri" pitchFamily="34" charset="0"/>
                <a:ea typeface="Calibri" pitchFamily="34" charset="-122"/>
                <a:cs typeface="Calibri" pitchFamily="34" charset="-120"/>
              </a:rPr>
              <a:t>The panther and the wolf both appear in this chapter's title. Which animal better represents Isaac's own journey so far: the panther or the wolf? Defend your answer with evidence from Chapter 28.</a:t>
            </a:r>
            <a:endParaRPr lang="en-US" sz="1600" dirty="0"/>
          </a:p>
        </p:txBody>
      </p:sp>
      <p:sp>
        <p:nvSpPr>
          <p:cNvPr id="7" name="Text 5"/>
          <p:cNvSpPr/>
          <p:nvPr/>
        </p:nvSpPr>
        <p:spPr>
          <a:xfrm>
            <a:off x="457200" y="2926080"/>
            <a:ext cx="8046720" cy="292608"/>
          </a:xfrm>
          <a:prstGeom prst="rect">
            <a:avLst/>
          </a:prstGeom>
          <a:noFill/>
          <a:ln/>
        </p:spPr>
        <p:txBody>
          <a:bodyPr wrap="square" lIns="0" tIns="0" rIns="0" bIns="0" rtlCol="0" anchor="ctr"/>
          <a:lstStyle/>
          <a:p>
            <a:pPr indent="0" marL="0">
              <a:buNone/>
            </a:pPr>
            <a:r>
              <a:rPr lang="en-US" sz="1100" b="1" spc="200" kern="0" dirty="0">
                <a:solidFill>
                  <a:srgbClr val="64748B"/>
                </a:solidFill>
                <a:latin typeface="Calibri" pitchFamily="34" charset="0"/>
                <a:ea typeface="Calibri" pitchFamily="34" charset="-122"/>
                <a:cs typeface="Calibri" pitchFamily="34" charset="-120"/>
              </a:rPr>
              <a:t>SENTENCE SCAFFOLD (USE WHAT HELPS)</a:t>
            </a:r>
            <a:endParaRPr lang="en-US" sz="1100" dirty="0"/>
          </a:p>
        </p:txBody>
      </p:sp>
      <p:sp>
        <p:nvSpPr>
          <p:cNvPr id="8" name="Text 6"/>
          <p:cNvSpPr/>
          <p:nvPr/>
        </p:nvSpPr>
        <p:spPr>
          <a:xfrm>
            <a:off x="457200" y="3218688"/>
            <a:ext cx="8229600" cy="822960"/>
          </a:xfrm>
          <a:prstGeom prst="rect">
            <a:avLst/>
          </a:prstGeom>
          <a:noFill/>
          <a:ln/>
        </p:spPr>
        <p:txBody>
          <a:bodyPr wrap="square" lIns="0" tIns="0" rIns="0" bIns="0" rtlCol="0" anchor="ctr"/>
          <a:lstStyle/>
          <a:p>
            <a:pPr indent="0" marL="0">
              <a:buNone/>
            </a:pPr>
            <a:r>
              <a:rPr lang="en-US" sz="1150" i="1" dirty="0">
                <a:solidFill>
                  <a:srgbClr val="0E1C42"/>
                </a:solidFill>
                <a:latin typeface="Calibri" pitchFamily="34" charset="0"/>
                <a:ea typeface="Calibri" pitchFamily="34" charset="-122"/>
                <a:cs typeface="Calibri" pitchFamily="34" charset="-120"/>
              </a:rPr>
              <a:t>I think...   →   because...   →   One piece of evidence is...   →   This matters because...</a:t>
            </a:r>
            <a:endParaRPr lang="en-US" sz="115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EF6E8"/>
        </a:solidFill>
      </p:bgPr>
    </p:bg>
    <p:spTree>
      <p:nvGrpSpPr>
        <p:cNvPr id="1" name=""/>
        <p:cNvGrpSpPr/>
        <p:nvPr/>
      </p:nvGrpSpPr>
      <p:grpSpPr>
        <a:xfrm>
          <a:off x="0" y="0"/>
          <a:ext cx="0" cy="0"/>
          <a:chOff x="0" y="0"/>
          <a:chExt cx="0" cy="0"/>
        </a:xfrm>
      </p:grpSpPr>
      <p:sp>
        <p:nvSpPr>
          <p:cNvPr id="2" name="Text 0"/>
          <p:cNvSpPr/>
          <p:nvPr/>
        </p:nvSpPr>
        <p:spPr>
          <a:xfrm>
            <a:off x="457200" y="228600"/>
            <a:ext cx="8229600" cy="640080"/>
          </a:xfrm>
          <a:prstGeom prst="rect">
            <a:avLst/>
          </a:prstGeom>
          <a:noFill/>
          <a:ln/>
        </p:spPr>
        <p:txBody>
          <a:bodyPr wrap="square" lIns="0" tIns="0" rIns="0" bIns="0" rtlCol="0" anchor="ctr"/>
          <a:lstStyle/>
          <a:p>
            <a:pPr algn="ctr" indent="0" marL="0">
              <a:buNone/>
            </a:pPr>
            <a:r>
              <a:rPr lang="en-US" sz="3000" b="1" dirty="0">
                <a:solidFill>
                  <a:srgbClr val="0E1C42"/>
                </a:solidFill>
                <a:latin typeface="Calibri" pitchFamily="34" charset="0"/>
                <a:ea typeface="Calibri" pitchFamily="34" charset="-122"/>
                <a:cs typeface="Calibri" pitchFamily="34" charset="-120"/>
              </a:rPr>
              <a:t>✏️  Writing Time</a:t>
            </a:r>
            <a:endParaRPr lang="en-US" sz="3000" dirty="0"/>
          </a:p>
        </p:txBody>
      </p:sp>
      <p:sp>
        <p:nvSpPr>
          <p:cNvPr id="3" name="Text 1"/>
          <p:cNvSpPr/>
          <p:nvPr/>
        </p:nvSpPr>
        <p:spPr>
          <a:xfrm>
            <a:off x="914400" y="804672"/>
            <a:ext cx="7315200" cy="365760"/>
          </a:xfrm>
          <a:prstGeom prst="rect">
            <a:avLst/>
          </a:prstGeom>
          <a:noFill/>
          <a:ln/>
        </p:spPr>
        <p:txBody>
          <a:bodyPr wrap="square" lIns="0" tIns="0" rIns="0" bIns="0" rtlCol="0" anchor="ctr"/>
          <a:lstStyle/>
          <a:p>
            <a:pPr algn="ctr" indent="0" marL="0">
              <a:buNone/>
            </a:pPr>
            <a:r>
              <a:rPr lang="en-US" sz="1500" dirty="0">
                <a:solidFill>
                  <a:srgbClr val="C7922C"/>
                </a:solidFill>
                <a:latin typeface="Calibri" pitchFamily="34" charset="0"/>
                <a:ea typeface="Calibri" pitchFamily="34" charset="-122"/>
                <a:cs typeface="Calibri" pitchFamily="34" charset="-120"/>
              </a:rPr>
              <a:t>5 minutes — keep your pencil moving!</a:t>
            </a:r>
            <a:endParaRPr lang="en-US" sz="1500" dirty="0"/>
          </a:p>
        </p:txBody>
      </p:sp>
      <p:sp>
        <p:nvSpPr>
          <p:cNvPr id="4" name="Shape 2"/>
          <p:cNvSpPr/>
          <p:nvPr/>
        </p:nvSpPr>
        <p:spPr>
          <a:xfrm>
            <a:off x="457200" y="1325880"/>
            <a:ext cx="8229600" cy="1188720"/>
          </a:xfrm>
          <a:prstGeom prst="roundRect">
            <a:avLst>
              <a:gd name="adj" fmla="val 7692"/>
            </a:avLst>
          </a:prstGeom>
          <a:solidFill>
            <a:srgbClr val="FFFFFF"/>
          </a:solidFill>
          <a:ln w="12700">
            <a:solidFill>
              <a:srgbClr val="C7922C"/>
            </a:solidFill>
            <a:prstDash val="solid"/>
          </a:ln>
          <a:effectLst>
            <a:outerShdw sx="100000" sy="100000" kx="0" ky="0" algn="bl" rotWithShape="0" blurRad="101600" dist="38100" dir="2700000">
              <a:srgbClr val="000000">
                <a:alpha val="12000"/>
              </a:srgbClr>
            </a:outerShdw>
          </a:effectLst>
        </p:spPr>
      </p:sp>
      <p:sp>
        <p:nvSpPr>
          <p:cNvPr id="5" name="Text 3"/>
          <p:cNvSpPr/>
          <p:nvPr/>
        </p:nvSpPr>
        <p:spPr>
          <a:xfrm>
            <a:off x="640080" y="1371600"/>
            <a:ext cx="7863840" cy="1097280"/>
          </a:xfrm>
          <a:prstGeom prst="rect">
            <a:avLst/>
          </a:prstGeom>
          <a:noFill/>
          <a:ln/>
        </p:spPr>
        <p:txBody>
          <a:bodyPr wrap="square" lIns="0" tIns="0" rIns="0" bIns="0" rtlCol="0" anchor="t"/>
          <a:lstStyle/>
          <a:p>
            <a:pPr indent="0" marL="0">
              <a:buNone/>
            </a:pPr>
            <a:r>
              <a:rPr lang="en-US" sz="1200" b="1" dirty="0">
                <a:solidFill>
                  <a:srgbClr val="C7922C"/>
                </a:solidFill>
                <a:latin typeface="Calibri" pitchFamily="34" charset="0"/>
                <a:ea typeface="Calibri" pitchFamily="34" charset="-122"/>
                <a:cs typeface="Calibri" pitchFamily="34" charset="-120"/>
              </a:rPr>
              <a:t>📖 Prompt: </a:t>
            </a:r>
            <a:pPr indent="0" marL="0">
              <a:buNone/>
            </a:pPr>
            <a:r>
              <a:rPr lang="en-US" sz="1200" i="1" dirty="0">
                <a:solidFill>
                  <a:srgbClr val="1E293B"/>
                </a:solidFill>
                <a:latin typeface="Calibri" pitchFamily="34" charset="0"/>
                <a:ea typeface="Calibri" pitchFamily="34" charset="-122"/>
                <a:cs typeface="Calibri" pitchFamily="34" charset="-120"/>
              </a:rPr>
              <a:t>The panther and the wolf both appear in this chapter's title. Which animal better represents Isaac's own journey so far: the panther or the wolf? Defend your answer with evidence from Chapter 28.</a:t>
            </a:r>
            <a:endParaRPr lang="en-US" sz="1200" dirty="0"/>
          </a:p>
        </p:txBody>
      </p:sp>
      <p:sp>
        <p:nvSpPr>
          <p:cNvPr id="6" name="Shape 4"/>
          <p:cNvSpPr/>
          <p:nvPr/>
        </p:nvSpPr>
        <p:spPr>
          <a:xfrm>
            <a:off x="1554480" y="2743200"/>
            <a:ext cx="6035040" cy="1600200"/>
          </a:xfrm>
          <a:prstGeom prst="roundRect">
            <a:avLst>
              <a:gd name="adj" fmla="val 6857"/>
            </a:avLst>
          </a:prstGeom>
          <a:solidFill>
            <a:srgbClr val="FFFFFF"/>
          </a:solidFill>
          <a:ln/>
          <a:effectLst>
            <a:outerShdw sx="100000" sy="100000" kx="0" ky="0" algn="bl" rotWithShape="0" blurRad="101600" dist="38100" dir="2700000">
              <a:srgbClr val="000000">
                <a:alpha val="12000"/>
              </a:srgbClr>
            </a:outerShdw>
          </a:effectLst>
        </p:spPr>
      </p:sp>
      <p:sp>
        <p:nvSpPr>
          <p:cNvPr id="7" name="Text 5"/>
          <p:cNvSpPr/>
          <p:nvPr/>
        </p:nvSpPr>
        <p:spPr>
          <a:xfrm>
            <a:off x="1737360" y="2834640"/>
            <a:ext cx="5669280" cy="1417320"/>
          </a:xfrm>
          <a:prstGeom prst="rect">
            <a:avLst/>
          </a:prstGeom>
          <a:noFill/>
          <a:ln/>
        </p:spPr>
        <p:txBody>
          <a:bodyPr wrap="square" lIns="0" tIns="0" rIns="0" bIns="0" rtlCol="0" anchor="t"/>
          <a:lstStyle/>
          <a:p>
            <a:pPr indent="0" marL="0">
              <a:buNone/>
            </a:pPr>
            <a:r>
              <a:rPr lang="en-US" sz="1300" b="1" dirty="0">
                <a:solidFill>
                  <a:srgbClr val="0E1C42"/>
                </a:solidFill>
                <a:latin typeface="Calibri" pitchFamily="34" charset="0"/>
                <a:ea typeface="Calibri" pitchFamily="34" charset="-122"/>
                <a:cs typeface="Calibri" pitchFamily="34" charset="-120"/>
              </a:rPr>
              <a:t>Scaffold, if you need it:
</a:t>
            </a:r>
            <a:pPr indent="0" marL="0">
              <a:buNone/>
            </a:pPr>
            <a:r>
              <a:rPr lang="en-US" sz="1150" dirty="0">
                <a:solidFill>
                  <a:srgbClr val="1E293B"/>
                </a:solidFill>
                <a:latin typeface="Calibri" pitchFamily="34" charset="0"/>
                <a:ea typeface="Calibri" pitchFamily="34" charset="-122"/>
                <a:cs typeface="Calibri" pitchFamily="34" charset="-120"/>
              </a:rPr>
              <a:t>I think...</a:t>
            </a:r>
            <a:endParaRPr lang="en-US" sz="1300" dirty="0"/>
          </a:p>
          <a:p>
            <a:pPr indent="0" marL="0">
              <a:buNone/>
            </a:pPr>
            <a:r>
              <a:rPr lang="en-US" sz="1150" dirty="0">
                <a:solidFill>
                  <a:srgbClr val="1E293B"/>
                </a:solidFill>
                <a:latin typeface="Calibri" pitchFamily="34" charset="0"/>
                <a:ea typeface="Calibri" pitchFamily="34" charset="-122"/>
                <a:cs typeface="Calibri" pitchFamily="34" charset="-120"/>
              </a:rPr>
              <a:t>because...</a:t>
            </a:r>
            <a:endParaRPr lang="en-US" sz="1300" dirty="0"/>
          </a:p>
          <a:p>
            <a:pPr indent="0" marL="0">
              <a:buNone/>
            </a:pPr>
            <a:r>
              <a:rPr lang="en-US" sz="1150" dirty="0">
                <a:solidFill>
                  <a:srgbClr val="1E293B"/>
                </a:solidFill>
                <a:latin typeface="Calibri" pitchFamily="34" charset="0"/>
                <a:ea typeface="Calibri" pitchFamily="34" charset="-122"/>
                <a:cs typeface="Calibri" pitchFamily="34" charset="-120"/>
              </a:rPr>
              <a:t>One piece of evidence is...</a:t>
            </a:r>
            <a:endParaRPr lang="en-US" sz="1300" dirty="0"/>
          </a:p>
          <a:p>
            <a:pPr indent="0" marL="0">
              <a:buNone/>
            </a:pPr>
            <a:r>
              <a:rPr lang="en-US" sz="1150" dirty="0">
                <a:solidFill>
                  <a:srgbClr val="1E293B"/>
                </a:solidFill>
                <a:latin typeface="Calibri" pitchFamily="34" charset="0"/>
                <a:ea typeface="Calibri" pitchFamily="34" charset="-122"/>
                <a:cs typeface="Calibri" pitchFamily="34" charset="-120"/>
              </a:rPr>
              <a:t>This matters because...</a:t>
            </a:r>
            <a:endParaRPr lang="en-US" sz="13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E8F8EF"/>
        </a:solidFill>
      </p:bgPr>
    </p:bg>
    <p:spTree>
      <p:nvGrpSpPr>
        <p:cNvPr id="1" name=""/>
        <p:cNvGrpSpPr/>
        <p:nvPr/>
      </p:nvGrpSpPr>
      <p:grpSpPr>
        <a:xfrm>
          <a:off x="0" y="0"/>
          <a:ext cx="0" cy="0"/>
          <a:chOff x="0" y="0"/>
          <a:chExt cx="0" cy="0"/>
        </a:xfrm>
      </p:grpSpPr>
      <p:sp>
        <p:nvSpPr>
          <p:cNvPr id="2" name="Text 0"/>
          <p:cNvSpPr/>
          <p:nvPr/>
        </p:nvSpPr>
        <p:spPr>
          <a:xfrm>
            <a:off x="3657600" y="320040"/>
            <a:ext cx="1828800" cy="548640"/>
          </a:xfrm>
          <a:prstGeom prst="rect">
            <a:avLst/>
          </a:prstGeom>
          <a:noFill/>
          <a:ln/>
        </p:spPr>
        <p:txBody>
          <a:bodyPr wrap="square" lIns="0" tIns="0" rIns="0" bIns="0" rtlCol="0" anchor="ctr"/>
          <a:lstStyle/>
          <a:p>
            <a:pPr algn="ctr" indent="0" marL="0">
              <a:buNone/>
            </a:pPr>
            <a:r>
              <a:rPr lang="en-US" sz="3600" dirty="0">
                <a:solidFill>
                  <a:srgbClr val="000000"/>
                </a:solidFill>
              </a:rPr>
              <a:t>🔍</a:t>
            </a:r>
            <a:endParaRPr lang="en-US" sz="3600" dirty="0"/>
          </a:p>
        </p:txBody>
      </p:sp>
      <p:sp>
        <p:nvSpPr>
          <p:cNvPr id="3" name="Text 1"/>
          <p:cNvSpPr/>
          <p:nvPr/>
        </p:nvSpPr>
        <p:spPr>
          <a:xfrm>
            <a:off x="914400" y="822960"/>
            <a:ext cx="7315200" cy="594360"/>
          </a:xfrm>
          <a:prstGeom prst="rect">
            <a:avLst/>
          </a:prstGeom>
          <a:noFill/>
          <a:ln/>
        </p:spPr>
        <p:txBody>
          <a:bodyPr wrap="square" lIns="0" tIns="0" rIns="0" bIns="0" rtlCol="0" anchor="ctr"/>
          <a:lstStyle/>
          <a:p>
            <a:pPr algn="ctr" indent="0" marL="0">
              <a:buNone/>
            </a:pPr>
            <a:r>
              <a:rPr lang="en-US" sz="2800" b="1" dirty="0">
                <a:solidFill>
                  <a:srgbClr val="0E1C42"/>
                </a:solidFill>
                <a:latin typeface="Calibri" pitchFamily="34" charset="0"/>
                <a:ea typeface="Calibri" pitchFamily="34" charset="-122"/>
                <a:cs typeface="Calibri" pitchFamily="34" charset="-120"/>
              </a:rPr>
              <a:t>Edit &amp; Revise</a:t>
            </a:r>
            <a:endParaRPr lang="en-US" sz="2800" dirty="0"/>
          </a:p>
        </p:txBody>
      </p:sp>
      <p:sp>
        <p:nvSpPr>
          <p:cNvPr id="4" name="Text 2"/>
          <p:cNvSpPr/>
          <p:nvPr/>
        </p:nvSpPr>
        <p:spPr>
          <a:xfrm>
            <a:off x="914400" y="1371600"/>
            <a:ext cx="7315200" cy="411480"/>
          </a:xfrm>
          <a:prstGeom prst="rect">
            <a:avLst/>
          </a:prstGeom>
          <a:noFill/>
          <a:ln/>
        </p:spPr>
        <p:txBody>
          <a:bodyPr wrap="square" lIns="0" tIns="0" rIns="0" bIns="0" rtlCol="0" anchor="ctr"/>
          <a:lstStyle/>
          <a:p>
            <a:pPr algn="ctr" indent="0" marL="0">
              <a:buNone/>
            </a:pPr>
            <a:r>
              <a:rPr lang="en-US" sz="1400" dirty="0">
                <a:solidFill>
                  <a:srgbClr val="34B76F"/>
                </a:solidFill>
                <a:latin typeface="Calibri" pitchFamily="34" charset="0"/>
                <a:ea typeface="Calibri" pitchFamily="34" charset="-122"/>
                <a:cs typeface="Calibri" pitchFamily="34" charset="-120"/>
              </a:rPr>
              <a:t>1 minute — one deliberate decision, not a full edit pass</a:t>
            </a:r>
            <a:endParaRPr lang="en-US" sz="1400" dirty="0"/>
          </a:p>
        </p:txBody>
      </p:sp>
      <p:sp>
        <p:nvSpPr>
          <p:cNvPr id="5" name="Shape 3"/>
          <p:cNvSpPr/>
          <p:nvPr/>
        </p:nvSpPr>
        <p:spPr>
          <a:xfrm>
            <a:off x="1188720" y="2011680"/>
            <a:ext cx="6766560" cy="777240"/>
          </a:xfrm>
          <a:prstGeom prst="roundRect">
            <a:avLst>
              <a:gd name="adj" fmla="val 11765"/>
            </a:avLst>
          </a:prstGeom>
          <a:solidFill>
            <a:srgbClr val="FFFFFF"/>
          </a:solidFill>
          <a:ln w="19050">
            <a:solidFill>
              <a:srgbClr val="34B76F"/>
            </a:solidFill>
            <a:prstDash val="solid"/>
          </a:ln>
          <a:effectLst>
            <a:outerShdw sx="100000" sy="100000" kx="0" ky="0" algn="bl" rotWithShape="0" blurRad="101600" dist="38100" dir="2700000">
              <a:srgbClr val="000000">
                <a:alpha val="12000"/>
              </a:srgbClr>
            </a:outerShdw>
          </a:effectLst>
        </p:spPr>
      </p:sp>
      <p:sp>
        <p:nvSpPr>
          <p:cNvPr id="6" name="Text 4"/>
          <p:cNvSpPr/>
          <p:nvPr/>
        </p:nvSpPr>
        <p:spPr>
          <a:xfrm>
            <a:off x="1371600" y="2084832"/>
            <a:ext cx="6400800" cy="640080"/>
          </a:xfrm>
          <a:prstGeom prst="rect">
            <a:avLst/>
          </a:prstGeom>
          <a:noFill/>
          <a:ln/>
        </p:spPr>
        <p:txBody>
          <a:bodyPr wrap="square" lIns="0" tIns="0" rIns="0" bIns="0" rtlCol="0" anchor="ctr"/>
          <a:lstStyle/>
          <a:p>
            <a:pPr indent="0" marL="0">
              <a:buNone/>
            </a:pPr>
            <a:r>
              <a:rPr lang="en-US" sz="1300" b="1" dirty="0">
                <a:solidFill>
                  <a:srgbClr val="34B76F"/>
                </a:solidFill>
                <a:latin typeface="Calibri" pitchFamily="34" charset="0"/>
                <a:ea typeface="Calibri" pitchFamily="34" charset="-122"/>
                <a:cs typeface="Calibri" pitchFamily="34" charset="-120"/>
              </a:rPr>
              <a:t>Today's revision check: </a:t>
            </a:r>
            <a:pPr indent="0" marL="0">
              <a:buNone/>
            </a:pPr>
            <a:r>
              <a:rPr lang="en-US" sz="1300" dirty="0">
                <a:solidFill>
                  <a:srgbClr val="1E293B"/>
                </a:solidFill>
                <a:latin typeface="Calibri" pitchFamily="34" charset="0"/>
                <a:ea typeface="Calibri" pitchFamily="34" charset="-122"/>
                <a:cs typeface="Calibri" pitchFamily="34" charset="-120"/>
              </a:rPr>
              <a:t>Is there a detail here I could cut because it doesn't support my point?</a:t>
            </a:r>
            <a:endParaRPr lang="en-US" sz="1300" dirty="0"/>
          </a:p>
        </p:txBody>
      </p:sp>
      <p:sp>
        <p:nvSpPr>
          <p:cNvPr id="7" name="Text 5"/>
          <p:cNvSpPr/>
          <p:nvPr/>
        </p:nvSpPr>
        <p:spPr>
          <a:xfrm>
            <a:off x="1188720" y="3017520"/>
            <a:ext cx="6766560" cy="457200"/>
          </a:xfrm>
          <a:prstGeom prst="rect">
            <a:avLst/>
          </a:prstGeom>
          <a:noFill/>
          <a:ln/>
        </p:spPr>
        <p:txBody>
          <a:bodyPr wrap="square" lIns="0" tIns="0" rIns="0" bIns="0" rtlCol="0" anchor="ctr"/>
          <a:lstStyle/>
          <a:p>
            <a:pPr algn="ctr" indent="0" marL="0">
              <a:buNone/>
            </a:pPr>
            <a:r>
              <a:rPr lang="en-US" sz="1200" i="1" dirty="0">
                <a:solidFill>
                  <a:srgbClr val="64748B"/>
                </a:solidFill>
                <a:latin typeface="Calibri" pitchFamily="34" charset="0"/>
                <a:ea typeface="Calibri" pitchFamily="34" charset="-122"/>
                <a:cs typeface="Calibri" pitchFamily="34" charset="-120"/>
              </a:rPr>
              <a:t>Revision = improving ideas. Editing = fixing conventions. Pick ONE thing.</a:t>
            </a:r>
            <a:endParaRPr lang="en-US" sz="12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E5F7FC"/>
        </a:solidFill>
      </p:bgPr>
    </p:bg>
    <p:spTree>
      <p:nvGrpSpPr>
        <p:cNvPr id="1" name=""/>
        <p:cNvGrpSpPr/>
        <p:nvPr/>
      </p:nvGrpSpPr>
      <p:grpSpPr>
        <a:xfrm>
          <a:off x="0" y="0"/>
          <a:ext cx="0" cy="0"/>
          <a:chOff x="0" y="0"/>
          <a:chExt cx="0" cy="0"/>
        </a:xfrm>
      </p:grpSpPr>
      <p:sp>
        <p:nvSpPr>
          <p:cNvPr id="2" name="Text 0"/>
          <p:cNvSpPr/>
          <p:nvPr/>
        </p:nvSpPr>
        <p:spPr>
          <a:xfrm>
            <a:off x="3657600" y="457200"/>
            <a:ext cx="1828800" cy="640080"/>
          </a:xfrm>
          <a:prstGeom prst="rect">
            <a:avLst/>
          </a:prstGeom>
          <a:noFill/>
          <a:ln/>
        </p:spPr>
        <p:txBody>
          <a:bodyPr wrap="square" lIns="0" tIns="0" rIns="0" bIns="0" rtlCol="0" anchor="ctr"/>
          <a:lstStyle/>
          <a:p>
            <a:pPr algn="ctr" indent="0" marL="0">
              <a:buNone/>
            </a:pPr>
            <a:r>
              <a:rPr lang="en-US" sz="4000" dirty="0">
                <a:solidFill>
                  <a:srgbClr val="000000"/>
                </a:solidFill>
              </a:rPr>
              <a:t>🗣️</a:t>
            </a:r>
            <a:endParaRPr lang="en-US" sz="4000" dirty="0"/>
          </a:p>
        </p:txBody>
      </p:sp>
      <p:sp>
        <p:nvSpPr>
          <p:cNvPr id="3" name="Text 1"/>
          <p:cNvSpPr/>
          <p:nvPr/>
        </p:nvSpPr>
        <p:spPr>
          <a:xfrm>
            <a:off x="914400" y="1005840"/>
            <a:ext cx="7315200" cy="594360"/>
          </a:xfrm>
          <a:prstGeom prst="rect">
            <a:avLst/>
          </a:prstGeom>
          <a:noFill/>
          <a:ln/>
        </p:spPr>
        <p:txBody>
          <a:bodyPr wrap="square" lIns="0" tIns="0" rIns="0" bIns="0" rtlCol="0" anchor="ctr"/>
          <a:lstStyle/>
          <a:p>
            <a:pPr algn="ctr" indent="0" marL="0">
              <a:buNone/>
            </a:pPr>
            <a:r>
              <a:rPr lang="en-US" sz="3000" b="1" dirty="0">
                <a:solidFill>
                  <a:srgbClr val="0E1C42"/>
                </a:solidFill>
                <a:latin typeface="Calibri" pitchFamily="34" charset="0"/>
                <a:ea typeface="Calibri" pitchFamily="34" charset="-122"/>
                <a:cs typeface="Calibri" pitchFamily="34" charset="-120"/>
              </a:rPr>
              <a:t>Share Time</a:t>
            </a:r>
            <a:endParaRPr lang="en-US" sz="3000" dirty="0"/>
          </a:p>
        </p:txBody>
      </p:sp>
      <p:sp>
        <p:nvSpPr>
          <p:cNvPr id="4" name="Text 2"/>
          <p:cNvSpPr/>
          <p:nvPr/>
        </p:nvSpPr>
        <p:spPr>
          <a:xfrm>
            <a:off x="914400" y="1554480"/>
            <a:ext cx="7315200" cy="411480"/>
          </a:xfrm>
          <a:prstGeom prst="rect">
            <a:avLst/>
          </a:prstGeom>
          <a:noFill/>
          <a:ln/>
        </p:spPr>
        <p:txBody>
          <a:bodyPr wrap="square" lIns="0" tIns="0" rIns="0" bIns="0" rtlCol="0" anchor="ctr"/>
          <a:lstStyle/>
          <a:p>
            <a:pPr algn="ctr" indent="0" marL="0">
              <a:buNone/>
            </a:pPr>
            <a:r>
              <a:rPr lang="en-US" sz="1500" dirty="0">
                <a:solidFill>
                  <a:srgbClr val="55C8E8"/>
                </a:solidFill>
                <a:latin typeface="Calibri" pitchFamily="34" charset="0"/>
                <a:ea typeface="Calibri" pitchFamily="34" charset="-122"/>
                <a:cs typeface="Calibri" pitchFamily="34" charset="-120"/>
              </a:rPr>
              <a:t>3 minutes — let's hear your thinking!</a:t>
            </a:r>
            <a:endParaRPr lang="en-US" sz="1500" dirty="0"/>
          </a:p>
        </p:txBody>
      </p:sp>
      <p:sp>
        <p:nvSpPr>
          <p:cNvPr id="5" name="Shape 3"/>
          <p:cNvSpPr/>
          <p:nvPr/>
        </p:nvSpPr>
        <p:spPr>
          <a:xfrm>
            <a:off x="1828800" y="2194560"/>
            <a:ext cx="5486400" cy="1371600"/>
          </a:xfrm>
          <a:prstGeom prst="roundRect">
            <a:avLst>
              <a:gd name="adj" fmla="val 8000"/>
            </a:avLst>
          </a:prstGeom>
          <a:solidFill>
            <a:srgbClr val="FFFFFF"/>
          </a:solidFill>
          <a:ln/>
          <a:effectLst>
            <a:outerShdw sx="100000" sy="100000" kx="0" ky="0" algn="bl" rotWithShape="0" blurRad="101600" dist="38100" dir="2700000">
              <a:srgbClr val="000000">
                <a:alpha val="12000"/>
              </a:srgbClr>
            </a:outerShdw>
          </a:effectLst>
        </p:spPr>
      </p:sp>
      <p:sp>
        <p:nvSpPr>
          <p:cNvPr id="6" name="Text 4"/>
          <p:cNvSpPr/>
          <p:nvPr/>
        </p:nvSpPr>
        <p:spPr>
          <a:xfrm>
            <a:off x="2011680" y="2286000"/>
            <a:ext cx="5120640" cy="1188720"/>
          </a:xfrm>
          <a:prstGeom prst="rect">
            <a:avLst/>
          </a:prstGeom>
          <a:noFill/>
          <a:ln/>
        </p:spPr>
        <p:txBody>
          <a:bodyPr wrap="square" lIns="0" tIns="0" rIns="0" bIns="0" rtlCol="0" anchor="t"/>
          <a:lstStyle/>
          <a:p>
            <a:pPr indent="0" marL="0">
              <a:buNone/>
            </a:pPr>
            <a:r>
              <a:rPr lang="en-US" sz="1300" b="1" dirty="0">
                <a:solidFill>
                  <a:srgbClr val="0E1C42"/>
                </a:solidFill>
                <a:latin typeface="Calibri" pitchFamily="34" charset="0"/>
                <a:ea typeface="Calibri" pitchFamily="34" charset="-122"/>
                <a:cs typeface="Calibri" pitchFamily="34" charset="-120"/>
              </a:rPr>
              <a:t>Raise your hand </a:t>
            </a:r>
            <a:pPr indent="0" marL="0">
              <a:buNone/>
            </a:pPr>
            <a:r>
              <a:rPr lang="en-US" sz="1300" dirty="0">
                <a:solidFill>
                  <a:srgbClr val="1E293B"/>
                </a:solidFill>
                <a:latin typeface="Calibri" pitchFamily="34" charset="0"/>
                <a:ea typeface="Calibri" pitchFamily="34" charset="-122"/>
                <a:cs typeface="Calibri" pitchFamily="34" charset="-120"/>
              </a:rPr>
              <a:t>to share, or paste your writing in the chat.
</a:t>
            </a:r>
            <a:pPr indent="0" marL="0">
              <a:buNone/>
            </a:pPr>
            <a:r>
              <a:rPr lang="en-US" sz="1200" i="1" dirty="0">
                <a:solidFill>
                  <a:srgbClr val="64748B"/>
                </a:solidFill>
                <a:latin typeface="Calibri" pitchFamily="34" charset="0"/>
                <a:ea typeface="Calibri" pitchFamily="34" charset="-122"/>
                <a:cs typeface="Calibri" pitchFamily="34" charset="-120"/>
              </a:rPr>
              <a:t>If you disagree with a classmate's choice, say so respectfully — that's part of the thinking.</a:t>
            </a:r>
            <a:endParaRPr lang="en-US" sz="13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365760" y="164592"/>
            <a:ext cx="8412480" cy="566928"/>
          </a:xfrm>
          <a:prstGeom prst="rect">
            <a:avLst/>
          </a:prstGeom>
          <a:noFill/>
          <a:ln/>
        </p:spPr>
        <p:txBody>
          <a:bodyPr wrap="square" lIns="0" tIns="0" rIns="0" bIns="0" rtlCol="0" anchor="ctr"/>
          <a:lstStyle/>
          <a:p>
            <a:pPr algn="l" indent="0" marL="0">
              <a:buNone/>
            </a:pPr>
            <a:r>
              <a:rPr lang="en-US" sz="2600" b="1" dirty="0">
                <a:solidFill>
                  <a:srgbClr val="0E1C42"/>
                </a:solidFill>
                <a:latin typeface="Calibri" pitchFamily="34" charset="0"/>
                <a:ea typeface="Calibri" pitchFamily="34" charset="-122"/>
                <a:cs typeface="Calibri" pitchFamily="34" charset="-120"/>
              </a:rPr>
              <a:t>🌱 Morphology</a:t>
            </a:r>
            <a:endParaRPr lang="en-US" sz="2600" dirty="0"/>
          </a:p>
        </p:txBody>
      </p:sp>
      <p:sp>
        <p:nvSpPr>
          <p:cNvPr id="3" name="Shape 1"/>
          <p:cNvSpPr/>
          <p:nvPr/>
        </p:nvSpPr>
        <p:spPr>
          <a:xfrm>
            <a:off x="365760" y="749808"/>
            <a:ext cx="8412480" cy="0"/>
          </a:xfrm>
          <a:prstGeom prst="line">
            <a:avLst/>
          </a:prstGeom>
          <a:noFill/>
          <a:ln w="19050">
            <a:solidFill>
              <a:srgbClr val="8B6FC0"/>
            </a:solidFill>
            <a:prstDash val="solid"/>
          </a:ln>
        </p:spPr>
      </p:sp>
      <p:sp>
        <p:nvSpPr>
          <p:cNvPr id="4" name="Text 2"/>
          <p:cNvSpPr/>
          <p:nvPr/>
        </p:nvSpPr>
        <p:spPr>
          <a:xfrm>
            <a:off x="365760" y="822960"/>
            <a:ext cx="8046720" cy="292608"/>
          </a:xfrm>
          <a:prstGeom prst="rect">
            <a:avLst/>
          </a:prstGeom>
          <a:noFill/>
          <a:ln/>
        </p:spPr>
        <p:txBody>
          <a:bodyPr wrap="square" lIns="0" tIns="0" rIns="0" bIns="0" rtlCol="0" anchor="ctr"/>
          <a:lstStyle/>
          <a:p>
            <a:pPr indent="0" marL="0">
              <a:buNone/>
            </a:pPr>
            <a:r>
              <a:rPr lang="en-US" sz="1100" b="1" spc="200" kern="0" dirty="0">
                <a:solidFill>
                  <a:srgbClr val="8B6FC0"/>
                </a:solidFill>
                <a:latin typeface="Calibri" pitchFamily="34" charset="0"/>
                <a:ea typeface="Calibri" pitchFamily="34" charset="-122"/>
                <a:cs typeface="Calibri" pitchFamily="34" charset="-120"/>
              </a:rPr>
              <a:t>🌱 Morphology: Roots mem/memor + script</a:t>
            </a:r>
            <a:endParaRPr lang="en-US" sz="1100" dirty="0"/>
          </a:p>
        </p:txBody>
      </p:sp>
      <p:sp>
        <p:nvSpPr>
          <p:cNvPr id="5" name="Shape 3"/>
          <p:cNvSpPr/>
          <p:nvPr/>
        </p:nvSpPr>
        <p:spPr>
          <a:xfrm>
            <a:off x="365760" y="1097280"/>
            <a:ext cx="8412480" cy="566928"/>
          </a:xfrm>
          <a:prstGeom prst="roundRect">
            <a:avLst>
              <a:gd name="adj" fmla="val 16129"/>
            </a:avLst>
          </a:prstGeom>
          <a:solidFill>
            <a:srgbClr val="F0E8FF"/>
          </a:solidFill>
          <a:ln/>
          <a:effectLst>
            <a:outerShdw sx="100000" sy="100000" kx="0" ky="0" algn="bl" rotWithShape="0" blurRad="101600" dist="38100" dir="2700000">
              <a:srgbClr val="000000">
                <a:alpha val="12000"/>
              </a:srgbClr>
            </a:outerShdw>
          </a:effectLst>
        </p:spPr>
      </p:sp>
      <p:sp>
        <p:nvSpPr>
          <p:cNvPr id="6" name="Text 4"/>
          <p:cNvSpPr/>
          <p:nvPr/>
        </p:nvSpPr>
        <p:spPr>
          <a:xfrm>
            <a:off x="548640" y="1152144"/>
            <a:ext cx="8046720" cy="457200"/>
          </a:xfrm>
          <a:prstGeom prst="rect">
            <a:avLst/>
          </a:prstGeom>
          <a:noFill/>
          <a:ln/>
        </p:spPr>
        <p:txBody>
          <a:bodyPr wrap="square" lIns="0" tIns="0" rIns="0" bIns="0" rtlCol="0" anchor="ctr"/>
          <a:lstStyle/>
          <a:p>
            <a:pPr indent="0" marL="0">
              <a:buNone/>
            </a:pPr>
            <a:r>
              <a:rPr lang="en-US" sz="1150" dirty="0">
                <a:solidFill>
                  <a:srgbClr val="1E293B"/>
                </a:solidFill>
                <a:latin typeface="Calibri" pitchFamily="34" charset="0"/>
                <a:ea typeface="Calibri" pitchFamily="34" charset="-122"/>
                <a:cs typeface="Calibri" pitchFamily="34" charset="-120"/>
              </a:rPr>
              <a:t>mem / memor = memory → memoir, memorial, memorize, commemorate script = write → script, inscription, description, manuscript, prescribe</a:t>
            </a:r>
            <a:endParaRPr lang="en-US" sz="1150" dirty="0"/>
          </a:p>
        </p:txBody>
      </p:sp>
      <p:sp>
        <p:nvSpPr>
          <p:cNvPr id="7" name="Shape 5"/>
          <p:cNvSpPr/>
          <p:nvPr/>
        </p:nvSpPr>
        <p:spPr>
          <a:xfrm>
            <a:off x="365760" y="1737360"/>
            <a:ext cx="8412480" cy="566928"/>
          </a:xfrm>
          <a:prstGeom prst="roundRect">
            <a:avLst>
              <a:gd name="adj" fmla="val 16129"/>
            </a:avLst>
          </a:prstGeom>
          <a:solidFill>
            <a:srgbClr val="F8F4FF"/>
          </a:solidFill>
          <a:ln/>
          <a:effectLst>
            <a:outerShdw sx="100000" sy="100000" kx="0" ky="0" algn="bl" rotWithShape="0" blurRad="101600" dist="38100" dir="2700000">
              <a:srgbClr val="000000">
                <a:alpha val="12000"/>
              </a:srgbClr>
            </a:outerShdw>
          </a:effectLst>
        </p:spPr>
      </p:sp>
      <p:sp>
        <p:nvSpPr>
          <p:cNvPr id="8" name="Text 6"/>
          <p:cNvSpPr/>
          <p:nvPr/>
        </p:nvSpPr>
        <p:spPr>
          <a:xfrm>
            <a:off x="548640" y="1792224"/>
            <a:ext cx="8046720" cy="457200"/>
          </a:xfrm>
          <a:prstGeom prst="rect">
            <a:avLst/>
          </a:prstGeom>
          <a:noFill/>
          <a:ln/>
        </p:spPr>
        <p:txBody>
          <a:bodyPr wrap="square" lIns="0" tIns="0" rIns="0" bIns="0" rtlCol="0" anchor="ctr"/>
          <a:lstStyle/>
          <a:p>
            <a:pPr indent="0" marL="0">
              <a:buNone/>
            </a:pPr>
            <a:r>
              <a:rPr lang="en-US" sz="1150" dirty="0">
                <a:solidFill>
                  <a:srgbClr val="1E293B"/>
                </a:solidFill>
                <a:latin typeface="Calibri" pitchFamily="34" charset="0"/>
                <a:ea typeface="Calibri" pitchFamily="34" charset="-122"/>
                <a:cs typeface="Calibri" pitchFamily="34" charset="-120"/>
              </a:rPr>
              <a:t>commemorate → Root: mem/memor (memory)</a:t>
            </a:r>
            <a:endParaRPr lang="en-US" sz="1150" dirty="0"/>
          </a:p>
        </p:txBody>
      </p:sp>
      <p:sp>
        <p:nvSpPr>
          <p:cNvPr id="9" name="Shape 7"/>
          <p:cNvSpPr/>
          <p:nvPr/>
        </p:nvSpPr>
        <p:spPr>
          <a:xfrm>
            <a:off x="365760" y="2377440"/>
            <a:ext cx="8412480" cy="566928"/>
          </a:xfrm>
          <a:prstGeom prst="roundRect">
            <a:avLst>
              <a:gd name="adj" fmla="val 16129"/>
            </a:avLst>
          </a:prstGeom>
          <a:solidFill>
            <a:srgbClr val="F0E8FF"/>
          </a:solidFill>
          <a:ln/>
          <a:effectLst>
            <a:outerShdw sx="100000" sy="100000" kx="0" ky="0" algn="bl" rotWithShape="0" blurRad="101600" dist="38100" dir="2700000">
              <a:srgbClr val="000000">
                <a:alpha val="12000"/>
              </a:srgbClr>
            </a:outerShdw>
          </a:effectLst>
        </p:spPr>
      </p:sp>
      <p:sp>
        <p:nvSpPr>
          <p:cNvPr id="10" name="Text 8"/>
          <p:cNvSpPr/>
          <p:nvPr/>
        </p:nvSpPr>
        <p:spPr>
          <a:xfrm>
            <a:off x="548640" y="2432304"/>
            <a:ext cx="8046720" cy="457200"/>
          </a:xfrm>
          <a:prstGeom prst="rect">
            <a:avLst/>
          </a:prstGeom>
          <a:noFill/>
          <a:ln/>
        </p:spPr>
        <p:txBody>
          <a:bodyPr wrap="square" lIns="0" tIns="0" rIns="0" bIns="0" rtlCol="0" anchor="ctr"/>
          <a:lstStyle/>
          <a:p>
            <a:pPr indent="0" marL="0">
              <a:buNone/>
            </a:pPr>
            <a:r>
              <a:rPr lang="en-US" sz="1150" dirty="0">
                <a:solidFill>
                  <a:srgbClr val="1E293B"/>
                </a:solidFill>
                <a:latin typeface="Calibri" pitchFamily="34" charset="0"/>
                <a:ea typeface="Calibri" pitchFamily="34" charset="-122"/>
                <a:cs typeface="Calibri" pitchFamily="34" charset="-120"/>
              </a:rPr>
              <a:t>manuscript → Root: script (write)</a:t>
            </a:r>
            <a:endParaRPr lang="en-US" sz="115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365760" y="164592"/>
            <a:ext cx="8412480" cy="566928"/>
          </a:xfrm>
          <a:prstGeom prst="rect">
            <a:avLst/>
          </a:prstGeom>
          <a:noFill/>
          <a:ln/>
        </p:spPr>
        <p:txBody>
          <a:bodyPr wrap="square" lIns="0" tIns="0" rIns="0" bIns="0" rtlCol="0" anchor="ctr"/>
          <a:lstStyle/>
          <a:p>
            <a:pPr algn="l" indent="0" marL="0">
              <a:buNone/>
            </a:pPr>
            <a:r>
              <a:rPr lang="en-US" sz="2600" b="1" dirty="0">
                <a:solidFill>
                  <a:srgbClr val="0E1C42"/>
                </a:solidFill>
                <a:latin typeface="Calibri" pitchFamily="34" charset="0"/>
                <a:ea typeface="Calibri" pitchFamily="34" charset="-122"/>
                <a:cs typeface="Calibri" pitchFamily="34" charset="-120"/>
              </a:rPr>
              <a:t>🔤 Vocabulary</a:t>
            </a:r>
            <a:endParaRPr lang="en-US" sz="2600" dirty="0"/>
          </a:p>
        </p:txBody>
      </p:sp>
      <p:sp>
        <p:nvSpPr>
          <p:cNvPr id="3" name="Shape 1"/>
          <p:cNvSpPr/>
          <p:nvPr/>
        </p:nvSpPr>
        <p:spPr>
          <a:xfrm>
            <a:off x="365760" y="749808"/>
            <a:ext cx="8412480" cy="0"/>
          </a:xfrm>
          <a:prstGeom prst="line">
            <a:avLst/>
          </a:prstGeom>
          <a:noFill/>
          <a:ln w="19050">
            <a:solidFill>
              <a:srgbClr val="55C8E8"/>
            </a:solidFill>
            <a:prstDash val="solid"/>
          </a:ln>
        </p:spPr>
      </p:sp>
      <p:sp>
        <p:nvSpPr>
          <p:cNvPr id="4" name="Text 2"/>
          <p:cNvSpPr/>
          <p:nvPr/>
        </p:nvSpPr>
        <p:spPr>
          <a:xfrm>
            <a:off x="365760" y="822960"/>
            <a:ext cx="8046720" cy="292608"/>
          </a:xfrm>
          <a:prstGeom prst="rect">
            <a:avLst/>
          </a:prstGeom>
          <a:noFill/>
          <a:ln/>
        </p:spPr>
        <p:txBody>
          <a:bodyPr wrap="square" lIns="0" tIns="0" rIns="0" bIns="0" rtlCol="0" anchor="ctr"/>
          <a:lstStyle/>
          <a:p>
            <a:pPr indent="0" marL="0">
              <a:buNone/>
            </a:pPr>
            <a:r>
              <a:rPr lang="en-US" sz="1100" b="1" spc="200" kern="0" dirty="0">
                <a:solidFill>
                  <a:srgbClr val="64748B"/>
                </a:solidFill>
                <a:latin typeface="Calibri" pitchFamily="34" charset="0"/>
                <a:ea typeface="Calibri" pitchFamily="34" charset="-122"/>
                <a:cs typeface="Calibri" pitchFamily="34" charset="-120"/>
              </a:rPr>
              <a:t>Words from this week's chapters.</a:t>
            </a:r>
            <a:endParaRPr lang="en-US" sz="1100" dirty="0"/>
          </a:p>
        </p:txBody>
      </p:sp>
      <p:sp>
        <p:nvSpPr>
          <p:cNvPr id="5" name="Shape 3"/>
          <p:cNvSpPr/>
          <p:nvPr/>
        </p:nvSpPr>
        <p:spPr>
          <a:xfrm>
            <a:off x="365760" y="1097280"/>
            <a:ext cx="8412480" cy="530352"/>
          </a:xfrm>
          <a:prstGeom prst="roundRect">
            <a:avLst>
              <a:gd name="adj" fmla="val 17241"/>
            </a:avLst>
          </a:prstGeom>
          <a:solidFill>
            <a:srgbClr val="E5F7FC"/>
          </a:solidFill>
          <a:ln/>
          <a:effectLst>
            <a:outerShdw sx="100000" sy="100000" kx="0" ky="0" algn="bl" rotWithShape="0" blurRad="101600" dist="38100" dir="2700000">
              <a:srgbClr val="000000">
                <a:alpha val="12000"/>
              </a:srgbClr>
            </a:outerShdw>
          </a:effectLst>
        </p:spPr>
      </p:sp>
      <p:sp>
        <p:nvSpPr>
          <p:cNvPr id="6" name="Text 4"/>
          <p:cNvSpPr/>
          <p:nvPr/>
        </p:nvSpPr>
        <p:spPr>
          <a:xfrm>
            <a:off x="548640" y="1143000"/>
            <a:ext cx="8046720" cy="438912"/>
          </a:xfrm>
          <a:prstGeom prst="rect">
            <a:avLst/>
          </a:prstGeom>
          <a:noFill/>
          <a:ln/>
        </p:spPr>
        <p:txBody>
          <a:bodyPr wrap="square" lIns="0" tIns="0" rIns="0" bIns="0" rtlCol="0" anchor="ctr"/>
          <a:lstStyle/>
          <a:p>
            <a:pPr indent="0" marL="0">
              <a:buNone/>
            </a:pPr>
            <a:r>
              <a:rPr lang="en-US" sz="1300" b="1" dirty="0">
                <a:solidFill>
                  <a:srgbClr val="0E1C42"/>
                </a:solidFill>
                <a:latin typeface="Calibri" pitchFamily="34" charset="0"/>
                <a:ea typeface="Calibri" pitchFamily="34" charset="-122"/>
                <a:cs typeface="Calibri" pitchFamily="34" charset="-120"/>
              </a:rPr>
              <a:t>narrator  </a:t>
            </a:r>
            <a:pPr indent="0" marL="0">
              <a:buNone/>
            </a:pPr>
            <a:r>
              <a:rPr lang="en-US" sz="1150" dirty="0">
                <a:solidFill>
                  <a:srgbClr val="1E293B"/>
                </a:solidFill>
                <a:latin typeface="Calibri" pitchFamily="34" charset="0"/>
                <a:ea typeface="Calibri" pitchFamily="34" charset="-122"/>
                <a:cs typeface="Calibri" pitchFamily="34" charset="-120"/>
              </a:rPr>
              <a:t>The person telling the story in their own words.</a:t>
            </a:r>
            <a:endParaRPr lang="en-US" sz="1300" dirty="0"/>
          </a:p>
        </p:txBody>
      </p:sp>
      <p:sp>
        <p:nvSpPr>
          <p:cNvPr id="7" name="Shape 5"/>
          <p:cNvSpPr/>
          <p:nvPr/>
        </p:nvSpPr>
        <p:spPr>
          <a:xfrm>
            <a:off x="365760" y="1691640"/>
            <a:ext cx="8412480" cy="530352"/>
          </a:xfrm>
          <a:prstGeom prst="roundRect">
            <a:avLst>
              <a:gd name="adj" fmla="val 17241"/>
            </a:avLst>
          </a:prstGeom>
          <a:solidFill>
            <a:srgbClr val="EAF6FA"/>
          </a:solidFill>
          <a:ln/>
          <a:effectLst>
            <a:outerShdw sx="100000" sy="100000" kx="0" ky="0" algn="bl" rotWithShape="0" blurRad="101600" dist="38100" dir="2700000">
              <a:srgbClr val="000000">
                <a:alpha val="12000"/>
              </a:srgbClr>
            </a:outerShdw>
          </a:effectLst>
        </p:spPr>
      </p:sp>
      <p:sp>
        <p:nvSpPr>
          <p:cNvPr id="8" name="Text 6"/>
          <p:cNvSpPr/>
          <p:nvPr/>
        </p:nvSpPr>
        <p:spPr>
          <a:xfrm>
            <a:off x="548640" y="1737360"/>
            <a:ext cx="8046720" cy="438912"/>
          </a:xfrm>
          <a:prstGeom prst="rect">
            <a:avLst/>
          </a:prstGeom>
          <a:noFill/>
          <a:ln/>
        </p:spPr>
        <p:txBody>
          <a:bodyPr wrap="square" lIns="0" tIns="0" rIns="0" bIns="0" rtlCol="0" anchor="ctr"/>
          <a:lstStyle/>
          <a:p>
            <a:pPr indent="0" marL="0">
              <a:buNone/>
            </a:pPr>
            <a:r>
              <a:rPr lang="en-US" sz="1300" b="1" dirty="0">
                <a:solidFill>
                  <a:srgbClr val="0E1C42"/>
                </a:solidFill>
                <a:latin typeface="Calibri" pitchFamily="34" charset="0"/>
                <a:ea typeface="Calibri" pitchFamily="34" charset="-122"/>
                <a:cs typeface="Calibri" pitchFamily="34" charset="-120"/>
              </a:rPr>
              <a:t>treaty  </a:t>
            </a:r>
            <a:pPr indent="0" marL="0">
              <a:buNone/>
            </a:pPr>
            <a:r>
              <a:rPr lang="en-US" sz="1150" dirty="0">
                <a:solidFill>
                  <a:srgbClr val="1E293B"/>
                </a:solidFill>
                <a:latin typeface="Calibri" pitchFamily="34" charset="0"/>
                <a:ea typeface="Calibri" pitchFamily="34" charset="-122"/>
                <a:cs typeface="Calibri" pitchFamily="34" charset="-120"/>
              </a:rPr>
              <a:t>A formal agreement between governments.</a:t>
            </a:r>
            <a:endParaRPr lang="en-US" sz="1300" dirty="0"/>
          </a:p>
        </p:txBody>
      </p:sp>
      <p:sp>
        <p:nvSpPr>
          <p:cNvPr id="9" name="Shape 7"/>
          <p:cNvSpPr/>
          <p:nvPr/>
        </p:nvSpPr>
        <p:spPr>
          <a:xfrm>
            <a:off x="365760" y="2286000"/>
            <a:ext cx="8412480" cy="530352"/>
          </a:xfrm>
          <a:prstGeom prst="roundRect">
            <a:avLst>
              <a:gd name="adj" fmla="val 17241"/>
            </a:avLst>
          </a:prstGeom>
          <a:solidFill>
            <a:srgbClr val="E5F7FC"/>
          </a:solidFill>
          <a:ln/>
          <a:effectLst>
            <a:outerShdw sx="100000" sy="100000" kx="0" ky="0" algn="bl" rotWithShape="0" blurRad="101600" dist="38100" dir="2700000">
              <a:srgbClr val="000000">
                <a:alpha val="12000"/>
              </a:srgbClr>
            </a:outerShdw>
          </a:effectLst>
        </p:spPr>
      </p:sp>
      <p:sp>
        <p:nvSpPr>
          <p:cNvPr id="10" name="Text 8"/>
          <p:cNvSpPr/>
          <p:nvPr/>
        </p:nvSpPr>
        <p:spPr>
          <a:xfrm>
            <a:off x="548640" y="2331720"/>
            <a:ext cx="8046720" cy="438912"/>
          </a:xfrm>
          <a:prstGeom prst="rect">
            <a:avLst/>
          </a:prstGeom>
          <a:noFill/>
          <a:ln/>
        </p:spPr>
        <p:txBody>
          <a:bodyPr wrap="square" lIns="0" tIns="0" rIns="0" bIns="0" rtlCol="0" anchor="ctr"/>
          <a:lstStyle/>
          <a:p>
            <a:pPr indent="0" marL="0">
              <a:buNone/>
            </a:pPr>
            <a:r>
              <a:rPr lang="en-US" sz="1300" b="1" dirty="0">
                <a:solidFill>
                  <a:srgbClr val="0E1C42"/>
                </a:solidFill>
                <a:latin typeface="Calibri" pitchFamily="34" charset="0"/>
                <a:ea typeface="Calibri" pitchFamily="34" charset="-122"/>
                <a:cs typeface="Calibri" pitchFamily="34" charset="-120"/>
              </a:rPr>
              <a:t>memoir  </a:t>
            </a:r>
            <a:pPr indent="0" marL="0">
              <a:buNone/>
            </a:pPr>
            <a:r>
              <a:rPr lang="en-US" sz="1150" dirty="0">
                <a:solidFill>
                  <a:srgbClr val="1E293B"/>
                </a:solidFill>
                <a:latin typeface="Calibri" pitchFamily="34" charset="0"/>
                <a:ea typeface="Calibri" pitchFamily="34" charset="-122"/>
                <a:cs typeface="Calibri" pitchFamily="34" charset="-120"/>
              </a:rPr>
              <a:t>A written account of events a person lived through.</a:t>
            </a:r>
            <a:endParaRPr lang="en-US" sz="1300" dirty="0"/>
          </a:p>
        </p:txBody>
      </p:sp>
      <p:sp>
        <p:nvSpPr>
          <p:cNvPr id="11" name="Shape 9"/>
          <p:cNvSpPr/>
          <p:nvPr/>
        </p:nvSpPr>
        <p:spPr>
          <a:xfrm>
            <a:off x="365760" y="2880360"/>
            <a:ext cx="8412480" cy="530352"/>
          </a:xfrm>
          <a:prstGeom prst="roundRect">
            <a:avLst>
              <a:gd name="adj" fmla="val 17241"/>
            </a:avLst>
          </a:prstGeom>
          <a:solidFill>
            <a:srgbClr val="EAF6FA"/>
          </a:solidFill>
          <a:ln/>
          <a:effectLst>
            <a:outerShdw sx="100000" sy="100000" kx="0" ky="0" algn="bl" rotWithShape="0" blurRad="101600" dist="38100" dir="2700000">
              <a:srgbClr val="000000">
                <a:alpha val="12000"/>
              </a:srgbClr>
            </a:outerShdw>
          </a:effectLst>
        </p:spPr>
      </p:sp>
      <p:sp>
        <p:nvSpPr>
          <p:cNvPr id="12" name="Text 10"/>
          <p:cNvSpPr/>
          <p:nvPr/>
        </p:nvSpPr>
        <p:spPr>
          <a:xfrm>
            <a:off x="548640" y="2926080"/>
            <a:ext cx="8046720" cy="438912"/>
          </a:xfrm>
          <a:prstGeom prst="rect">
            <a:avLst/>
          </a:prstGeom>
          <a:noFill/>
          <a:ln/>
        </p:spPr>
        <p:txBody>
          <a:bodyPr wrap="square" lIns="0" tIns="0" rIns="0" bIns="0" rtlCol="0" anchor="ctr"/>
          <a:lstStyle/>
          <a:p>
            <a:pPr indent="0" marL="0">
              <a:buNone/>
            </a:pPr>
            <a:r>
              <a:rPr lang="en-US" sz="1300" b="1" dirty="0">
                <a:solidFill>
                  <a:srgbClr val="0E1C42"/>
                </a:solidFill>
                <a:latin typeface="Calibri" pitchFamily="34" charset="0"/>
                <a:ea typeface="Calibri" pitchFamily="34" charset="-122"/>
                <a:cs typeface="Calibri" pitchFamily="34" charset="-120"/>
              </a:rPr>
              <a:t>removal  </a:t>
            </a:r>
            <a:pPr indent="0" marL="0">
              <a:buNone/>
            </a:pPr>
            <a:r>
              <a:rPr lang="en-US" sz="1150" dirty="0">
                <a:solidFill>
                  <a:srgbClr val="1E293B"/>
                </a:solidFill>
                <a:latin typeface="Calibri" pitchFamily="34" charset="0"/>
                <a:ea typeface="Calibri" pitchFamily="34" charset="-122"/>
                <a:cs typeface="Calibri" pitchFamily="34" charset="-120"/>
              </a:rPr>
              <a:t>Being forced from your homeland.</a:t>
            </a:r>
            <a:endParaRPr lang="en-US" sz="1300" dirty="0"/>
          </a:p>
        </p:txBody>
      </p:sp>
      <p:sp>
        <p:nvSpPr>
          <p:cNvPr id="13" name="Shape 11"/>
          <p:cNvSpPr/>
          <p:nvPr/>
        </p:nvSpPr>
        <p:spPr>
          <a:xfrm>
            <a:off x="365760" y="3474720"/>
            <a:ext cx="8412480" cy="530352"/>
          </a:xfrm>
          <a:prstGeom prst="roundRect">
            <a:avLst>
              <a:gd name="adj" fmla="val 17241"/>
            </a:avLst>
          </a:prstGeom>
          <a:solidFill>
            <a:srgbClr val="E5F7FC"/>
          </a:solidFill>
          <a:ln/>
          <a:effectLst>
            <a:outerShdw sx="100000" sy="100000" kx="0" ky="0" algn="bl" rotWithShape="0" blurRad="101600" dist="38100" dir="2700000">
              <a:srgbClr val="000000">
                <a:alpha val="12000"/>
              </a:srgbClr>
            </a:outerShdw>
          </a:effectLst>
        </p:spPr>
      </p:sp>
      <p:sp>
        <p:nvSpPr>
          <p:cNvPr id="14" name="Text 12"/>
          <p:cNvSpPr/>
          <p:nvPr/>
        </p:nvSpPr>
        <p:spPr>
          <a:xfrm>
            <a:off x="548640" y="3520440"/>
            <a:ext cx="8046720" cy="438912"/>
          </a:xfrm>
          <a:prstGeom prst="rect">
            <a:avLst/>
          </a:prstGeom>
          <a:noFill/>
          <a:ln/>
        </p:spPr>
        <p:txBody>
          <a:bodyPr wrap="square" lIns="0" tIns="0" rIns="0" bIns="0" rtlCol="0" anchor="ctr"/>
          <a:lstStyle/>
          <a:p>
            <a:pPr indent="0" marL="0">
              <a:buNone/>
            </a:pPr>
            <a:r>
              <a:rPr lang="en-US" sz="1300" b="1" dirty="0">
                <a:solidFill>
                  <a:srgbClr val="0E1C42"/>
                </a:solidFill>
                <a:latin typeface="Calibri" pitchFamily="34" charset="0"/>
                <a:ea typeface="Calibri" pitchFamily="34" charset="-122"/>
                <a:cs typeface="Calibri" pitchFamily="34" charset="-120"/>
              </a:rPr>
              <a:t>prophecy  </a:t>
            </a:r>
            <a:pPr indent="0" marL="0">
              <a:buNone/>
            </a:pPr>
            <a:r>
              <a:rPr lang="en-US" sz="1150" dirty="0">
                <a:solidFill>
                  <a:srgbClr val="1E293B"/>
                </a:solidFill>
                <a:latin typeface="Calibri" pitchFamily="34" charset="0"/>
                <a:ea typeface="Calibri" pitchFamily="34" charset="-122"/>
                <a:cs typeface="Calibri" pitchFamily="34" charset="-120"/>
              </a:rPr>
              <a:t>A prediction of what will happen in the future.</a:t>
            </a:r>
            <a:endParaRPr lang="en-US" sz="13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E5F7FC"/>
        </a:solidFill>
      </p:bgPr>
    </p:bg>
    <p:spTree>
      <p:nvGrpSpPr>
        <p:cNvPr id="1" name=""/>
        <p:cNvGrpSpPr/>
        <p:nvPr/>
      </p:nvGrpSpPr>
      <p:grpSpPr>
        <a:xfrm>
          <a:off x="0" y="0"/>
          <a:ext cx="0" cy="0"/>
          <a:chOff x="0" y="0"/>
          <a:chExt cx="0" cy="0"/>
        </a:xfrm>
      </p:grpSpPr>
      <p:sp>
        <p:nvSpPr>
          <p:cNvPr id="2" name="Text 0"/>
          <p:cNvSpPr/>
          <p:nvPr/>
        </p:nvSpPr>
        <p:spPr>
          <a:xfrm>
            <a:off x="365760" y="164592"/>
            <a:ext cx="5943600" cy="566928"/>
          </a:xfrm>
          <a:prstGeom prst="rect">
            <a:avLst/>
          </a:prstGeom>
          <a:noFill/>
          <a:ln/>
        </p:spPr>
        <p:txBody>
          <a:bodyPr wrap="square" lIns="0" tIns="0" rIns="0" bIns="0" rtlCol="0" anchor="ctr"/>
          <a:lstStyle/>
          <a:p>
            <a:pPr algn="l" indent="0" marL="0">
              <a:buNone/>
            </a:pPr>
            <a:r>
              <a:rPr lang="en-US" sz="2600" b="1" dirty="0">
                <a:solidFill>
                  <a:srgbClr val="0E1C42"/>
                </a:solidFill>
                <a:latin typeface="Calibri" pitchFamily="34" charset="0"/>
                <a:ea typeface="Calibri" pitchFamily="34" charset="-122"/>
                <a:cs typeface="Calibri" pitchFamily="34" charset="-120"/>
              </a:rPr>
              <a:t>✏️ Grammar — Grammar: Appositives</a:t>
            </a:r>
            <a:endParaRPr lang="en-US" sz="2600" dirty="0"/>
          </a:p>
        </p:txBody>
      </p:sp>
      <p:sp>
        <p:nvSpPr>
          <p:cNvPr id="3" name="Shape 1"/>
          <p:cNvSpPr/>
          <p:nvPr/>
        </p:nvSpPr>
        <p:spPr>
          <a:xfrm>
            <a:off x="365760" y="749808"/>
            <a:ext cx="8412480" cy="0"/>
          </a:xfrm>
          <a:prstGeom prst="line">
            <a:avLst/>
          </a:prstGeom>
          <a:noFill/>
          <a:ln w="19050">
            <a:solidFill>
              <a:srgbClr val="8B6FC0"/>
            </a:solidFill>
            <a:prstDash val="solid"/>
          </a:ln>
        </p:spPr>
      </p:sp>
      <p:sp>
        <p:nvSpPr>
          <p:cNvPr id="4" name="Shape 2"/>
          <p:cNvSpPr/>
          <p:nvPr/>
        </p:nvSpPr>
        <p:spPr>
          <a:xfrm>
            <a:off x="6492240" y="173736"/>
            <a:ext cx="2286000" cy="502920"/>
          </a:xfrm>
          <a:prstGeom prst="roundRect">
            <a:avLst>
              <a:gd name="adj" fmla="val 21818"/>
            </a:avLst>
          </a:prstGeom>
          <a:solidFill>
            <a:srgbClr val="8B6FC0"/>
          </a:solidFill>
          <a:ln/>
        </p:spPr>
      </p:sp>
      <p:sp>
        <p:nvSpPr>
          <p:cNvPr id="5" name="Text 3"/>
          <p:cNvSpPr/>
          <p:nvPr/>
        </p:nvSpPr>
        <p:spPr>
          <a:xfrm>
            <a:off x="6492240" y="173736"/>
            <a:ext cx="2286000" cy="502920"/>
          </a:xfrm>
          <a:prstGeom prst="rect">
            <a:avLst/>
          </a:prstGeom>
          <a:noFill/>
          <a:ln/>
        </p:spPr>
        <p:txBody>
          <a:bodyPr wrap="square" lIns="0" tIns="0" rIns="0" bIns="0" rtlCol="0" anchor="ctr"/>
          <a:lstStyle/>
          <a:p>
            <a:pPr algn="ctr" indent="0" marL="0">
              <a:buNone/>
            </a:pPr>
            <a:r>
              <a:rPr lang="en-US" sz="1100" b="1" dirty="0">
                <a:solidFill>
                  <a:srgbClr val="0E1C42"/>
                </a:solidFill>
                <a:latin typeface="Calibri" pitchFamily="34" charset="0"/>
                <a:ea typeface="Calibri" pitchFamily="34" charset="-122"/>
                <a:cs typeface="Calibri" pitchFamily="34" charset="-120"/>
              </a:rPr>
              <a:t>CHAT PROMPT</a:t>
            </a:r>
            <a:endParaRPr lang="en-US" sz="1100" dirty="0"/>
          </a:p>
        </p:txBody>
      </p:sp>
      <p:sp>
        <p:nvSpPr>
          <p:cNvPr id="6" name="Text 4"/>
          <p:cNvSpPr/>
          <p:nvPr/>
        </p:nvSpPr>
        <p:spPr>
          <a:xfrm>
            <a:off x="365760" y="822960"/>
            <a:ext cx="8046720" cy="292608"/>
          </a:xfrm>
          <a:prstGeom prst="rect">
            <a:avLst/>
          </a:prstGeom>
          <a:noFill/>
          <a:ln/>
        </p:spPr>
        <p:txBody>
          <a:bodyPr wrap="square" lIns="0" tIns="0" rIns="0" bIns="0" rtlCol="0" anchor="ctr"/>
          <a:lstStyle/>
          <a:p>
            <a:pPr indent="0" marL="0">
              <a:buNone/>
            </a:pPr>
            <a:r>
              <a:rPr lang="en-US" sz="1100" b="1" spc="200" kern="0" dirty="0">
                <a:solidFill>
                  <a:srgbClr val="C7922C"/>
                </a:solidFill>
                <a:latin typeface="Calibri" pitchFamily="34" charset="0"/>
                <a:ea typeface="Calibri" pitchFamily="34" charset="-122"/>
                <a:cs typeface="Calibri" pitchFamily="34" charset="-120"/>
              </a:rPr>
              <a:t>Day 2: Identify — tap the appositive in each sentence.</a:t>
            </a:r>
            <a:endParaRPr lang="en-US" sz="1100" dirty="0"/>
          </a:p>
        </p:txBody>
      </p:sp>
      <p:sp>
        <p:nvSpPr>
          <p:cNvPr id="7" name="Text 5"/>
          <p:cNvSpPr/>
          <p:nvPr/>
        </p:nvSpPr>
        <p:spPr>
          <a:xfrm>
            <a:off x="365760" y="1097280"/>
            <a:ext cx="8412480" cy="457200"/>
          </a:xfrm>
          <a:prstGeom prst="rect">
            <a:avLst/>
          </a:prstGeom>
          <a:noFill/>
          <a:ln/>
        </p:spPr>
        <p:txBody>
          <a:bodyPr wrap="square" lIns="0" tIns="0" rIns="0" bIns="0" rtlCol="0" anchor="ctr"/>
          <a:lstStyle/>
          <a:p>
            <a:pPr indent="0" marL="0">
              <a:buNone/>
            </a:pPr>
            <a:r>
              <a:rPr lang="en-US" sz="1150" dirty="0">
                <a:solidFill>
                  <a:srgbClr val="1E293B"/>
                </a:solidFill>
                <a:latin typeface="Calibri" pitchFamily="34" charset="0"/>
                <a:ea typeface="Calibri" pitchFamily="34" charset="-122"/>
                <a:cs typeface="Calibri" pitchFamily="34" charset="-120"/>
              </a:rPr>
              <a:t>An appositive renames or describes the noun right before it. It is set off with commas on both sides.</a:t>
            </a:r>
            <a:endParaRPr lang="en-US" sz="1150" dirty="0"/>
          </a:p>
        </p:txBody>
      </p:sp>
      <p:sp>
        <p:nvSpPr>
          <p:cNvPr id="8" name="Shape 6"/>
          <p:cNvSpPr/>
          <p:nvPr/>
        </p:nvSpPr>
        <p:spPr>
          <a:xfrm>
            <a:off x="365760" y="1600200"/>
            <a:ext cx="8412480" cy="457200"/>
          </a:xfrm>
          <a:prstGeom prst="roundRect">
            <a:avLst>
              <a:gd name="adj" fmla="val 20000"/>
            </a:avLst>
          </a:prstGeom>
          <a:solidFill>
            <a:srgbClr val="FFFFFF"/>
          </a:solidFill>
          <a:ln/>
          <a:effectLst>
            <a:outerShdw sx="100000" sy="100000" kx="0" ky="0" algn="bl" rotWithShape="0" blurRad="101600" dist="38100" dir="2700000">
              <a:srgbClr val="000000">
                <a:alpha val="12000"/>
              </a:srgbClr>
            </a:outerShdw>
          </a:effectLst>
        </p:spPr>
      </p:sp>
      <p:sp>
        <p:nvSpPr>
          <p:cNvPr id="9" name="Text 7"/>
          <p:cNvSpPr/>
          <p:nvPr/>
        </p:nvSpPr>
        <p:spPr>
          <a:xfrm>
            <a:off x="548640" y="1645920"/>
            <a:ext cx="8046720" cy="365760"/>
          </a:xfrm>
          <a:prstGeom prst="rect">
            <a:avLst/>
          </a:prstGeom>
          <a:noFill/>
          <a:ln/>
        </p:spPr>
        <p:txBody>
          <a:bodyPr wrap="square" lIns="0" tIns="0" rIns="0" bIns="0" rtlCol="0" anchor="ctr"/>
          <a:lstStyle/>
          <a:p>
            <a:pPr indent="0" marL="0">
              <a:buNone/>
            </a:pPr>
            <a:r>
              <a:rPr lang="en-US" sz="1100" b="1" dirty="0">
                <a:solidFill>
                  <a:srgbClr val="34B76F"/>
                </a:solidFill>
                <a:latin typeface="Calibri" pitchFamily="34" charset="0"/>
                <a:ea typeface="Calibri" pitchFamily="34" charset="-122"/>
                <a:cs typeface="Calibri" pitchFamily="34" charset="-120"/>
              </a:rPr>
              <a:t>Model: </a:t>
            </a:r>
            <a:pPr indent="0" marL="0">
              <a:buNone/>
            </a:pPr>
            <a:r>
              <a:rPr lang="en-US" sz="1100" i="1" dirty="0">
                <a:solidFill>
                  <a:srgbClr val="1E293B"/>
                </a:solidFill>
                <a:latin typeface="Calibri" pitchFamily="34" charset="0"/>
                <a:ea typeface="Calibri" pitchFamily="34" charset="-122"/>
                <a:cs typeface="Calibri" pitchFamily="34" charset="-120"/>
              </a:rPr>
              <a:t>Isaac, a ten-year-old Choctaw boy, lived in Mississippi.</a:t>
            </a:r>
            <a:endParaRPr lang="en-US" sz="1100" dirty="0"/>
          </a:p>
        </p:txBody>
      </p:sp>
      <p:sp>
        <p:nvSpPr>
          <p:cNvPr id="10" name="Shape 8"/>
          <p:cNvSpPr/>
          <p:nvPr/>
        </p:nvSpPr>
        <p:spPr>
          <a:xfrm>
            <a:off x="365760" y="2130552"/>
            <a:ext cx="8412480" cy="566928"/>
          </a:xfrm>
          <a:prstGeom prst="roundRect">
            <a:avLst>
              <a:gd name="adj" fmla="val 16129"/>
            </a:avLst>
          </a:prstGeom>
          <a:solidFill>
            <a:srgbClr val="F8FAFC"/>
          </a:solidFill>
          <a:ln/>
          <a:effectLst>
            <a:outerShdw sx="100000" sy="100000" kx="0" ky="0" algn="bl" rotWithShape="0" blurRad="101600" dist="38100" dir="2700000">
              <a:srgbClr val="000000">
                <a:alpha val="12000"/>
              </a:srgbClr>
            </a:outerShdw>
          </a:effectLst>
        </p:spPr>
      </p:sp>
      <p:sp>
        <p:nvSpPr>
          <p:cNvPr id="11" name="Text 9"/>
          <p:cNvSpPr/>
          <p:nvPr/>
        </p:nvSpPr>
        <p:spPr>
          <a:xfrm>
            <a:off x="548640" y="2176272"/>
            <a:ext cx="8046720" cy="475488"/>
          </a:xfrm>
          <a:prstGeom prst="rect">
            <a:avLst/>
          </a:prstGeom>
          <a:noFill/>
          <a:ln/>
        </p:spPr>
        <p:txBody>
          <a:bodyPr wrap="square" lIns="0" tIns="0" rIns="0" bIns="0" rtlCol="0" anchor="ctr"/>
          <a:lstStyle/>
          <a:p>
            <a:pPr indent="0" marL="0">
              <a:buNone/>
            </a:pPr>
            <a:r>
              <a:rPr lang="en-US" sz="1150" i="1" dirty="0">
                <a:solidFill>
                  <a:srgbClr val="1E293B"/>
                </a:solidFill>
                <a:latin typeface="Calibri" pitchFamily="34" charset="0"/>
                <a:ea typeface="Calibri" pitchFamily="34" charset="-122"/>
                <a:cs typeface="Calibri" pitchFamily="34" charset="-120"/>
              </a:rPr>
              <a:t>Jumper, my dog, was always by my side.</a:t>
            </a:r>
            <a:endParaRPr lang="en-US" sz="1150" dirty="0"/>
          </a:p>
        </p:txBody>
      </p:sp>
      <p:sp>
        <p:nvSpPr>
          <p:cNvPr id="12" name="Shape 10"/>
          <p:cNvSpPr/>
          <p:nvPr/>
        </p:nvSpPr>
        <p:spPr>
          <a:xfrm>
            <a:off x="365760" y="2752344"/>
            <a:ext cx="8412480" cy="566928"/>
          </a:xfrm>
          <a:prstGeom prst="roundRect">
            <a:avLst>
              <a:gd name="adj" fmla="val 16129"/>
            </a:avLst>
          </a:prstGeom>
          <a:solidFill>
            <a:srgbClr val="F8FAFC"/>
          </a:solidFill>
          <a:ln/>
          <a:effectLst>
            <a:outerShdw sx="100000" sy="100000" kx="0" ky="0" algn="bl" rotWithShape="0" blurRad="101600" dist="38100" dir="2700000">
              <a:srgbClr val="000000">
                <a:alpha val="12000"/>
              </a:srgbClr>
            </a:outerShdw>
          </a:effectLst>
        </p:spPr>
      </p:sp>
      <p:sp>
        <p:nvSpPr>
          <p:cNvPr id="13" name="Text 11"/>
          <p:cNvSpPr/>
          <p:nvPr/>
        </p:nvSpPr>
        <p:spPr>
          <a:xfrm>
            <a:off x="548640" y="2798064"/>
            <a:ext cx="8046720" cy="475488"/>
          </a:xfrm>
          <a:prstGeom prst="rect">
            <a:avLst/>
          </a:prstGeom>
          <a:noFill/>
          <a:ln/>
        </p:spPr>
        <p:txBody>
          <a:bodyPr wrap="square" lIns="0" tIns="0" rIns="0" bIns="0" rtlCol="0" anchor="ctr"/>
          <a:lstStyle/>
          <a:p>
            <a:pPr indent="0" marL="0">
              <a:buNone/>
            </a:pPr>
            <a:r>
              <a:rPr lang="en-US" sz="1150" i="1" dirty="0">
                <a:solidFill>
                  <a:srgbClr val="1E293B"/>
                </a:solidFill>
                <a:latin typeface="Calibri" pitchFamily="34" charset="0"/>
                <a:ea typeface="Calibri" pitchFamily="34" charset="-122"/>
                <a:cs typeface="Calibri" pitchFamily="34" charset="-120"/>
              </a:rPr>
              <a:t>Luke, my big brother, left to play stickball.</a:t>
            </a:r>
            <a:endParaRPr lang="en-US" sz="1150" dirty="0"/>
          </a:p>
        </p:txBody>
      </p:sp>
      <p:sp>
        <p:nvSpPr>
          <p:cNvPr id="14" name="Shape 12"/>
          <p:cNvSpPr/>
          <p:nvPr/>
        </p:nvSpPr>
        <p:spPr>
          <a:xfrm>
            <a:off x="365760" y="3374136"/>
            <a:ext cx="8412480" cy="566928"/>
          </a:xfrm>
          <a:prstGeom prst="roundRect">
            <a:avLst>
              <a:gd name="adj" fmla="val 16129"/>
            </a:avLst>
          </a:prstGeom>
          <a:solidFill>
            <a:srgbClr val="F8FAFC"/>
          </a:solidFill>
          <a:ln/>
          <a:effectLst>
            <a:outerShdw sx="100000" sy="100000" kx="0" ky="0" algn="bl" rotWithShape="0" blurRad="101600" dist="38100" dir="2700000">
              <a:srgbClr val="000000">
                <a:alpha val="12000"/>
              </a:srgbClr>
            </a:outerShdw>
          </a:effectLst>
        </p:spPr>
      </p:sp>
      <p:sp>
        <p:nvSpPr>
          <p:cNvPr id="15" name="Text 13"/>
          <p:cNvSpPr/>
          <p:nvPr/>
        </p:nvSpPr>
        <p:spPr>
          <a:xfrm>
            <a:off x="548640" y="3419856"/>
            <a:ext cx="8046720" cy="475488"/>
          </a:xfrm>
          <a:prstGeom prst="rect">
            <a:avLst/>
          </a:prstGeom>
          <a:noFill/>
          <a:ln/>
        </p:spPr>
        <p:txBody>
          <a:bodyPr wrap="square" lIns="0" tIns="0" rIns="0" bIns="0" rtlCol="0" anchor="ctr"/>
          <a:lstStyle/>
          <a:p>
            <a:pPr indent="0" marL="0">
              <a:buNone/>
            </a:pPr>
            <a:r>
              <a:rPr lang="en-US" sz="1150" i="1" dirty="0">
                <a:solidFill>
                  <a:srgbClr val="1E293B"/>
                </a:solidFill>
                <a:latin typeface="Calibri" pitchFamily="34" charset="0"/>
                <a:ea typeface="Calibri" pitchFamily="34" charset="-122"/>
                <a:cs typeface="Calibri" pitchFamily="34" charset="-120"/>
              </a:rPr>
              <a:t>Treaty Talk, news from the Nahullos, had come to town.</a:t>
            </a:r>
            <a:endParaRPr lang="en-US" sz="115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E5F7FC"/>
        </a:solidFill>
      </p:bgPr>
    </p:bg>
    <p:spTree>
      <p:nvGrpSpPr>
        <p:cNvPr id="1" name=""/>
        <p:cNvGrpSpPr/>
        <p:nvPr/>
      </p:nvGrpSpPr>
      <p:grpSpPr>
        <a:xfrm>
          <a:off x="0" y="0"/>
          <a:ext cx="0" cy="0"/>
          <a:chOff x="0" y="0"/>
          <a:chExt cx="0" cy="0"/>
        </a:xfrm>
      </p:grpSpPr>
      <p:sp>
        <p:nvSpPr>
          <p:cNvPr id="2" name="Text 0"/>
          <p:cNvSpPr/>
          <p:nvPr/>
        </p:nvSpPr>
        <p:spPr>
          <a:xfrm>
            <a:off x="365760" y="164592"/>
            <a:ext cx="5943600" cy="566928"/>
          </a:xfrm>
          <a:prstGeom prst="rect">
            <a:avLst/>
          </a:prstGeom>
          <a:noFill/>
          <a:ln/>
        </p:spPr>
        <p:txBody>
          <a:bodyPr wrap="square" lIns="0" tIns="0" rIns="0" bIns="0" rtlCol="0" anchor="ctr"/>
          <a:lstStyle/>
          <a:p>
            <a:pPr algn="l" indent="0" marL="0">
              <a:buNone/>
            </a:pPr>
            <a:r>
              <a:rPr lang="en-US" sz="2600" b="1" dirty="0">
                <a:solidFill>
                  <a:srgbClr val="0E1C42"/>
                </a:solidFill>
                <a:latin typeface="Calibri" pitchFamily="34" charset="0"/>
                <a:ea typeface="Calibri" pitchFamily="34" charset="-122"/>
                <a:cs typeface="Calibri" pitchFamily="34" charset="-120"/>
              </a:rPr>
              <a:t>✏️ Grammar — Grammar: Appositives</a:t>
            </a:r>
            <a:endParaRPr lang="en-US" sz="2600" dirty="0"/>
          </a:p>
        </p:txBody>
      </p:sp>
      <p:sp>
        <p:nvSpPr>
          <p:cNvPr id="3" name="Shape 1"/>
          <p:cNvSpPr/>
          <p:nvPr/>
        </p:nvSpPr>
        <p:spPr>
          <a:xfrm>
            <a:off x="365760" y="749808"/>
            <a:ext cx="8412480" cy="0"/>
          </a:xfrm>
          <a:prstGeom prst="line">
            <a:avLst/>
          </a:prstGeom>
          <a:noFill/>
          <a:ln w="19050">
            <a:solidFill>
              <a:srgbClr val="8B6FC0"/>
            </a:solidFill>
            <a:prstDash val="solid"/>
          </a:ln>
        </p:spPr>
      </p:sp>
      <p:sp>
        <p:nvSpPr>
          <p:cNvPr id="4" name="Shape 2"/>
          <p:cNvSpPr/>
          <p:nvPr/>
        </p:nvSpPr>
        <p:spPr>
          <a:xfrm>
            <a:off x="6492240" y="173736"/>
            <a:ext cx="2286000" cy="502920"/>
          </a:xfrm>
          <a:prstGeom prst="roundRect">
            <a:avLst>
              <a:gd name="adj" fmla="val 21818"/>
            </a:avLst>
          </a:prstGeom>
          <a:solidFill>
            <a:srgbClr val="8B6FC0"/>
          </a:solidFill>
          <a:ln/>
        </p:spPr>
      </p:sp>
      <p:sp>
        <p:nvSpPr>
          <p:cNvPr id="5" name="Text 3"/>
          <p:cNvSpPr/>
          <p:nvPr/>
        </p:nvSpPr>
        <p:spPr>
          <a:xfrm>
            <a:off x="6492240" y="173736"/>
            <a:ext cx="2286000" cy="502920"/>
          </a:xfrm>
          <a:prstGeom prst="rect">
            <a:avLst/>
          </a:prstGeom>
          <a:noFill/>
          <a:ln/>
        </p:spPr>
        <p:txBody>
          <a:bodyPr wrap="square" lIns="0" tIns="0" rIns="0" bIns="0" rtlCol="0" anchor="ctr"/>
          <a:lstStyle/>
          <a:p>
            <a:pPr algn="ctr" indent="0" marL="0">
              <a:buNone/>
            </a:pPr>
            <a:r>
              <a:rPr lang="en-US" sz="1100" b="1" dirty="0">
                <a:solidFill>
                  <a:srgbClr val="0E1C42"/>
                </a:solidFill>
                <a:latin typeface="Calibri" pitchFamily="34" charset="0"/>
                <a:ea typeface="Calibri" pitchFamily="34" charset="-122"/>
                <a:cs typeface="Calibri" pitchFamily="34" charset="-120"/>
              </a:rPr>
              <a:t>CHAT PROMPT</a:t>
            </a:r>
            <a:endParaRPr lang="en-US" sz="1100" dirty="0"/>
          </a:p>
        </p:txBody>
      </p:sp>
      <p:sp>
        <p:nvSpPr>
          <p:cNvPr id="6" name="Text 4"/>
          <p:cNvSpPr/>
          <p:nvPr/>
        </p:nvSpPr>
        <p:spPr>
          <a:xfrm>
            <a:off x="365760" y="822960"/>
            <a:ext cx="8046720" cy="292608"/>
          </a:xfrm>
          <a:prstGeom prst="rect">
            <a:avLst/>
          </a:prstGeom>
          <a:noFill/>
          <a:ln/>
        </p:spPr>
        <p:txBody>
          <a:bodyPr wrap="square" lIns="0" tIns="0" rIns="0" bIns="0" rtlCol="0" anchor="ctr"/>
          <a:lstStyle/>
          <a:p>
            <a:pPr indent="0" marL="0">
              <a:buNone/>
            </a:pPr>
            <a:r>
              <a:rPr lang="en-US" sz="1100" b="1" spc="200" kern="0" dirty="0">
                <a:solidFill>
                  <a:srgbClr val="C7922C"/>
                </a:solidFill>
                <a:latin typeface="Calibri" pitchFamily="34" charset="0"/>
                <a:ea typeface="Calibri" pitchFamily="34" charset="-122"/>
                <a:cs typeface="Calibri" pitchFamily="34" charset="-120"/>
              </a:rPr>
              <a:t>Day 2: Identify — tap the appositive in each sentence.</a:t>
            </a:r>
            <a:endParaRPr lang="en-US" sz="1100" dirty="0"/>
          </a:p>
        </p:txBody>
      </p:sp>
      <p:sp>
        <p:nvSpPr>
          <p:cNvPr id="7" name="Text 5"/>
          <p:cNvSpPr/>
          <p:nvPr/>
        </p:nvSpPr>
        <p:spPr>
          <a:xfrm>
            <a:off x="365760" y="1097280"/>
            <a:ext cx="8412480" cy="457200"/>
          </a:xfrm>
          <a:prstGeom prst="rect">
            <a:avLst/>
          </a:prstGeom>
          <a:noFill/>
          <a:ln/>
        </p:spPr>
        <p:txBody>
          <a:bodyPr wrap="square" lIns="0" tIns="0" rIns="0" bIns="0" rtlCol="0" anchor="ctr"/>
          <a:lstStyle/>
          <a:p>
            <a:pPr indent="0" marL="0">
              <a:buNone/>
            </a:pPr>
            <a:r>
              <a:rPr lang="en-US" sz="1150" dirty="0">
                <a:solidFill>
                  <a:srgbClr val="1E293B"/>
                </a:solidFill>
                <a:latin typeface="Calibri" pitchFamily="34" charset="0"/>
                <a:ea typeface="Calibri" pitchFamily="34" charset="-122"/>
                <a:cs typeface="Calibri" pitchFamily="34" charset="-120"/>
              </a:rPr>
              <a:t>An appositive renames or describes the noun right before it. It is set off with commas on both sides.</a:t>
            </a:r>
            <a:endParaRPr lang="en-US" sz="1150" dirty="0"/>
          </a:p>
        </p:txBody>
      </p:sp>
      <p:sp>
        <p:nvSpPr>
          <p:cNvPr id="8" name="Shape 6"/>
          <p:cNvSpPr/>
          <p:nvPr/>
        </p:nvSpPr>
        <p:spPr>
          <a:xfrm>
            <a:off x="365760" y="1600200"/>
            <a:ext cx="8412480" cy="457200"/>
          </a:xfrm>
          <a:prstGeom prst="roundRect">
            <a:avLst>
              <a:gd name="adj" fmla="val 20000"/>
            </a:avLst>
          </a:prstGeom>
          <a:solidFill>
            <a:srgbClr val="FFFFFF"/>
          </a:solidFill>
          <a:ln/>
          <a:effectLst>
            <a:outerShdw sx="100000" sy="100000" kx="0" ky="0" algn="bl" rotWithShape="0" blurRad="101600" dist="38100" dir="2700000">
              <a:srgbClr val="000000">
                <a:alpha val="12000"/>
              </a:srgbClr>
            </a:outerShdw>
          </a:effectLst>
        </p:spPr>
      </p:sp>
      <p:sp>
        <p:nvSpPr>
          <p:cNvPr id="9" name="Text 7"/>
          <p:cNvSpPr/>
          <p:nvPr/>
        </p:nvSpPr>
        <p:spPr>
          <a:xfrm>
            <a:off x="548640" y="1645920"/>
            <a:ext cx="8046720" cy="365760"/>
          </a:xfrm>
          <a:prstGeom prst="rect">
            <a:avLst/>
          </a:prstGeom>
          <a:noFill/>
          <a:ln/>
        </p:spPr>
        <p:txBody>
          <a:bodyPr wrap="square" lIns="0" tIns="0" rIns="0" bIns="0" rtlCol="0" anchor="ctr"/>
          <a:lstStyle/>
          <a:p>
            <a:pPr indent="0" marL="0">
              <a:buNone/>
            </a:pPr>
            <a:r>
              <a:rPr lang="en-US" sz="1100" b="1" dirty="0">
                <a:solidFill>
                  <a:srgbClr val="34B76F"/>
                </a:solidFill>
                <a:latin typeface="Calibri" pitchFamily="34" charset="0"/>
                <a:ea typeface="Calibri" pitchFamily="34" charset="-122"/>
                <a:cs typeface="Calibri" pitchFamily="34" charset="-120"/>
              </a:rPr>
              <a:t>Model: </a:t>
            </a:r>
            <a:pPr indent="0" marL="0">
              <a:buNone/>
            </a:pPr>
            <a:r>
              <a:rPr lang="en-US" sz="1100" i="1" dirty="0">
                <a:solidFill>
                  <a:srgbClr val="1E293B"/>
                </a:solidFill>
                <a:latin typeface="Calibri" pitchFamily="34" charset="0"/>
                <a:ea typeface="Calibri" pitchFamily="34" charset="-122"/>
                <a:cs typeface="Calibri" pitchFamily="34" charset="-120"/>
              </a:rPr>
              <a:t>Isaac, a ten-year-old Choctaw boy, lived in Mississippi.</a:t>
            </a:r>
            <a:endParaRPr lang="en-US" sz="1100" dirty="0"/>
          </a:p>
        </p:txBody>
      </p:sp>
      <p:sp>
        <p:nvSpPr>
          <p:cNvPr id="10" name="Shape 8"/>
          <p:cNvSpPr/>
          <p:nvPr/>
        </p:nvSpPr>
        <p:spPr>
          <a:xfrm>
            <a:off x="365760" y="2130552"/>
            <a:ext cx="8412480" cy="566928"/>
          </a:xfrm>
          <a:prstGeom prst="roundRect">
            <a:avLst>
              <a:gd name="adj" fmla="val 16129"/>
            </a:avLst>
          </a:prstGeom>
          <a:solidFill>
            <a:srgbClr val="F8FAFC"/>
          </a:solidFill>
          <a:ln/>
          <a:effectLst>
            <a:outerShdw sx="100000" sy="100000" kx="0" ky="0" algn="bl" rotWithShape="0" blurRad="101600" dist="38100" dir="2700000">
              <a:srgbClr val="000000">
                <a:alpha val="12000"/>
              </a:srgbClr>
            </a:outerShdw>
          </a:effectLst>
        </p:spPr>
      </p:sp>
      <p:sp>
        <p:nvSpPr>
          <p:cNvPr id="11" name="Text 9"/>
          <p:cNvSpPr/>
          <p:nvPr/>
        </p:nvSpPr>
        <p:spPr>
          <a:xfrm>
            <a:off x="548640" y="2176272"/>
            <a:ext cx="8046720" cy="475488"/>
          </a:xfrm>
          <a:prstGeom prst="rect">
            <a:avLst/>
          </a:prstGeom>
          <a:noFill/>
          <a:ln/>
        </p:spPr>
        <p:txBody>
          <a:bodyPr wrap="square" lIns="0" tIns="0" rIns="0" bIns="0" rtlCol="0" anchor="ctr"/>
          <a:lstStyle/>
          <a:p>
            <a:pPr indent="0" marL="0">
              <a:buNone/>
            </a:pPr>
            <a:r>
              <a:rPr lang="en-US" sz="1150" i="1" dirty="0">
                <a:solidFill>
                  <a:srgbClr val="1E293B"/>
                </a:solidFill>
                <a:latin typeface="Calibri" pitchFamily="34" charset="0"/>
                <a:ea typeface="Calibri" pitchFamily="34" charset="-122"/>
                <a:cs typeface="Calibri" pitchFamily="34" charset="-120"/>
              </a:rPr>
              <a:t>Jumper, my dog, was always by my side.
</a:t>
            </a:r>
            <a:pPr indent="0" marL="0">
              <a:buNone/>
            </a:pPr>
            <a:r>
              <a:rPr lang="en-US" sz="1200" b="1" dirty="0">
                <a:solidFill>
                  <a:srgbClr val="34B76F"/>
                </a:solidFill>
                <a:latin typeface="Calibri" pitchFamily="34" charset="0"/>
                <a:ea typeface="Calibri" pitchFamily="34" charset="-122"/>
                <a:cs typeface="Calibri" pitchFamily="34" charset="-120"/>
              </a:rPr>
              <a:t>✅ my</a:t>
            </a:r>
            <a:endParaRPr lang="en-US" sz="1150" dirty="0"/>
          </a:p>
        </p:txBody>
      </p:sp>
      <p:sp>
        <p:nvSpPr>
          <p:cNvPr id="12" name="Shape 10"/>
          <p:cNvSpPr/>
          <p:nvPr/>
        </p:nvSpPr>
        <p:spPr>
          <a:xfrm>
            <a:off x="365760" y="2752344"/>
            <a:ext cx="8412480" cy="566928"/>
          </a:xfrm>
          <a:prstGeom prst="roundRect">
            <a:avLst>
              <a:gd name="adj" fmla="val 16129"/>
            </a:avLst>
          </a:prstGeom>
          <a:solidFill>
            <a:srgbClr val="F8FAFC"/>
          </a:solidFill>
          <a:ln/>
          <a:effectLst>
            <a:outerShdw sx="100000" sy="100000" kx="0" ky="0" algn="bl" rotWithShape="0" blurRad="101600" dist="38100" dir="2700000">
              <a:srgbClr val="000000">
                <a:alpha val="12000"/>
              </a:srgbClr>
            </a:outerShdw>
          </a:effectLst>
        </p:spPr>
      </p:sp>
      <p:sp>
        <p:nvSpPr>
          <p:cNvPr id="13" name="Text 11"/>
          <p:cNvSpPr/>
          <p:nvPr/>
        </p:nvSpPr>
        <p:spPr>
          <a:xfrm>
            <a:off x="548640" y="2798064"/>
            <a:ext cx="8046720" cy="475488"/>
          </a:xfrm>
          <a:prstGeom prst="rect">
            <a:avLst/>
          </a:prstGeom>
          <a:noFill/>
          <a:ln/>
        </p:spPr>
        <p:txBody>
          <a:bodyPr wrap="square" lIns="0" tIns="0" rIns="0" bIns="0" rtlCol="0" anchor="ctr"/>
          <a:lstStyle/>
          <a:p>
            <a:pPr indent="0" marL="0">
              <a:buNone/>
            </a:pPr>
            <a:r>
              <a:rPr lang="en-US" sz="1150" i="1" dirty="0">
                <a:solidFill>
                  <a:srgbClr val="1E293B"/>
                </a:solidFill>
                <a:latin typeface="Calibri" pitchFamily="34" charset="0"/>
                <a:ea typeface="Calibri" pitchFamily="34" charset="-122"/>
                <a:cs typeface="Calibri" pitchFamily="34" charset="-120"/>
              </a:rPr>
              <a:t>Luke, my big brother, left to play stickball.
</a:t>
            </a:r>
            <a:pPr indent="0" marL="0">
              <a:buNone/>
            </a:pPr>
            <a:r>
              <a:rPr lang="en-US" sz="1200" b="1" dirty="0">
                <a:solidFill>
                  <a:srgbClr val="34B76F"/>
                </a:solidFill>
                <a:latin typeface="Calibri" pitchFamily="34" charset="0"/>
                <a:ea typeface="Calibri" pitchFamily="34" charset="-122"/>
                <a:cs typeface="Calibri" pitchFamily="34" charset="-120"/>
              </a:rPr>
              <a:t>✅ my</a:t>
            </a:r>
            <a:endParaRPr lang="en-US" sz="1150" dirty="0"/>
          </a:p>
        </p:txBody>
      </p:sp>
      <p:sp>
        <p:nvSpPr>
          <p:cNvPr id="14" name="Shape 12"/>
          <p:cNvSpPr/>
          <p:nvPr/>
        </p:nvSpPr>
        <p:spPr>
          <a:xfrm>
            <a:off x="365760" y="3374136"/>
            <a:ext cx="8412480" cy="566928"/>
          </a:xfrm>
          <a:prstGeom prst="roundRect">
            <a:avLst>
              <a:gd name="adj" fmla="val 16129"/>
            </a:avLst>
          </a:prstGeom>
          <a:solidFill>
            <a:srgbClr val="F8FAFC"/>
          </a:solidFill>
          <a:ln/>
          <a:effectLst>
            <a:outerShdw sx="100000" sy="100000" kx="0" ky="0" algn="bl" rotWithShape="0" blurRad="101600" dist="38100" dir="2700000">
              <a:srgbClr val="000000">
                <a:alpha val="12000"/>
              </a:srgbClr>
            </a:outerShdw>
          </a:effectLst>
        </p:spPr>
      </p:sp>
      <p:sp>
        <p:nvSpPr>
          <p:cNvPr id="15" name="Text 13"/>
          <p:cNvSpPr/>
          <p:nvPr/>
        </p:nvSpPr>
        <p:spPr>
          <a:xfrm>
            <a:off x="548640" y="3419856"/>
            <a:ext cx="8046720" cy="475488"/>
          </a:xfrm>
          <a:prstGeom prst="rect">
            <a:avLst/>
          </a:prstGeom>
          <a:noFill/>
          <a:ln/>
        </p:spPr>
        <p:txBody>
          <a:bodyPr wrap="square" lIns="0" tIns="0" rIns="0" bIns="0" rtlCol="0" anchor="ctr"/>
          <a:lstStyle/>
          <a:p>
            <a:pPr indent="0" marL="0">
              <a:buNone/>
            </a:pPr>
            <a:r>
              <a:rPr lang="en-US" sz="1150" i="1" dirty="0">
                <a:solidFill>
                  <a:srgbClr val="1E293B"/>
                </a:solidFill>
                <a:latin typeface="Calibri" pitchFamily="34" charset="0"/>
                <a:ea typeface="Calibri" pitchFamily="34" charset="-122"/>
                <a:cs typeface="Calibri" pitchFamily="34" charset="-120"/>
              </a:rPr>
              <a:t>Treaty Talk, news from the Nahullos, had come to town.
</a:t>
            </a:r>
            <a:pPr indent="0" marL="0">
              <a:buNone/>
            </a:pPr>
            <a:r>
              <a:rPr lang="en-US" sz="1200" b="1" dirty="0">
                <a:solidFill>
                  <a:srgbClr val="34B76F"/>
                </a:solidFill>
                <a:latin typeface="Calibri" pitchFamily="34" charset="0"/>
                <a:ea typeface="Calibri" pitchFamily="34" charset="-122"/>
                <a:cs typeface="Calibri" pitchFamily="34" charset="-120"/>
              </a:rPr>
              <a:t>✅ news</a:t>
            </a:r>
            <a:endParaRPr lang="en-US" sz="1150" dirty="0"/>
          </a:p>
        </p:txBody>
      </p:sp>
      <p:sp>
        <p:nvSpPr>
          <p:cNvPr id="16" name="Shape 14"/>
          <p:cNvSpPr/>
          <p:nvPr/>
        </p:nvSpPr>
        <p:spPr>
          <a:xfrm>
            <a:off x="365760" y="4014216"/>
            <a:ext cx="8412480" cy="777240"/>
          </a:xfrm>
          <a:prstGeom prst="roundRect">
            <a:avLst>
              <a:gd name="adj" fmla="val 11765"/>
            </a:avLst>
          </a:prstGeom>
          <a:solidFill>
            <a:srgbClr val="FEF6E8"/>
          </a:solidFill>
          <a:ln w="12700">
            <a:solidFill>
              <a:srgbClr val="C7922C"/>
            </a:solidFill>
            <a:prstDash val="solid"/>
          </a:ln>
        </p:spPr>
      </p:sp>
      <p:sp>
        <p:nvSpPr>
          <p:cNvPr id="17" name="Text 15"/>
          <p:cNvSpPr/>
          <p:nvPr/>
        </p:nvSpPr>
        <p:spPr>
          <a:xfrm>
            <a:off x="548640" y="4087368"/>
            <a:ext cx="8046720" cy="640080"/>
          </a:xfrm>
          <a:prstGeom prst="rect">
            <a:avLst/>
          </a:prstGeom>
          <a:noFill/>
          <a:ln/>
        </p:spPr>
        <p:txBody>
          <a:bodyPr wrap="square" lIns="0" tIns="0" rIns="0" bIns="0" rtlCol="0" anchor="t"/>
          <a:lstStyle/>
          <a:p>
            <a:pPr indent="0" marL="0">
              <a:buNone/>
            </a:pPr>
            <a:r>
              <a:rPr lang="en-US" sz="1050" b="1" dirty="0">
                <a:solidFill>
                  <a:srgbClr val="C7922C"/>
                </a:solidFill>
                <a:latin typeface="Calibri" pitchFamily="34" charset="0"/>
                <a:ea typeface="Calibri" pitchFamily="34" charset="-122"/>
                <a:cs typeface="Calibri" pitchFamily="34" charset="-120"/>
              </a:rPr>
              <a:t>🫖 Show What You Know · Show What You Know
</a:t>
            </a:r>
            <a:pPr indent="0" marL="0">
              <a:buNone/>
            </a:pPr>
            <a:r>
              <a:rPr lang="en-US" sz="1050" i="1" dirty="0">
                <a:solidFill>
                  <a:srgbClr val="1E293B"/>
                </a:solidFill>
                <a:latin typeface="Calibri" pitchFamily="34" charset="0"/>
                <a:ea typeface="Calibri" pitchFamily="34" charset="-122"/>
                <a:cs typeface="Calibri" pitchFamily="34" charset="-120"/>
              </a:rPr>
              <a:t>Read this sentence: “Isaac’s father, a quiet and dignified man, held Mother’s hand.” What is the appositive? What does it tell you about Isaac’s father?</a:t>
            </a:r>
            <a:endParaRPr lang="en-US" sz="105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E5F7FC"/>
        </a:solidFill>
      </p:bgPr>
    </p:bg>
    <p:spTree>
      <p:nvGrpSpPr>
        <p:cNvPr id="1" name=""/>
        <p:cNvGrpSpPr/>
        <p:nvPr/>
      </p:nvGrpSpPr>
      <p:grpSpPr>
        <a:xfrm>
          <a:off x="0" y="0"/>
          <a:ext cx="0" cy="0"/>
          <a:chOff x="0" y="0"/>
          <a:chExt cx="0" cy="0"/>
        </a:xfrm>
      </p:grpSpPr>
      <p:sp>
        <p:nvSpPr>
          <p:cNvPr id="2" name="Text 0"/>
          <p:cNvSpPr/>
          <p:nvPr/>
        </p:nvSpPr>
        <p:spPr>
          <a:xfrm>
            <a:off x="365760" y="164592"/>
            <a:ext cx="5943600" cy="566928"/>
          </a:xfrm>
          <a:prstGeom prst="rect">
            <a:avLst/>
          </a:prstGeom>
          <a:noFill/>
          <a:ln/>
        </p:spPr>
        <p:txBody>
          <a:bodyPr wrap="square" lIns="0" tIns="0" rIns="0" bIns="0" rtlCol="0" anchor="ctr"/>
          <a:lstStyle/>
          <a:p>
            <a:pPr algn="l" indent="0" marL="0">
              <a:buNone/>
            </a:pPr>
            <a:r>
              <a:rPr lang="en-US" sz="2600" b="1" dirty="0">
                <a:solidFill>
                  <a:srgbClr val="0E1C42"/>
                </a:solidFill>
                <a:latin typeface="Calibri" pitchFamily="34" charset="0"/>
                <a:ea typeface="Calibri" pitchFamily="34" charset="-122"/>
                <a:cs typeface="Calibri" pitchFamily="34" charset="-120"/>
              </a:rPr>
              <a:t>🔤 Spelling — Spelling: Open &amp; Closed Syllables</a:t>
            </a:r>
            <a:endParaRPr lang="en-US" sz="2600" dirty="0"/>
          </a:p>
        </p:txBody>
      </p:sp>
      <p:sp>
        <p:nvSpPr>
          <p:cNvPr id="3" name="Shape 1"/>
          <p:cNvSpPr/>
          <p:nvPr/>
        </p:nvSpPr>
        <p:spPr>
          <a:xfrm>
            <a:off x="365760" y="749808"/>
            <a:ext cx="8412480" cy="0"/>
          </a:xfrm>
          <a:prstGeom prst="line">
            <a:avLst/>
          </a:prstGeom>
          <a:noFill/>
          <a:ln w="19050">
            <a:solidFill>
              <a:srgbClr val="8B6FC0"/>
            </a:solidFill>
            <a:prstDash val="solid"/>
          </a:ln>
        </p:spPr>
      </p:sp>
      <p:sp>
        <p:nvSpPr>
          <p:cNvPr id="4" name="Shape 2"/>
          <p:cNvSpPr/>
          <p:nvPr/>
        </p:nvSpPr>
        <p:spPr>
          <a:xfrm>
            <a:off x="6492240" y="173736"/>
            <a:ext cx="2286000" cy="502920"/>
          </a:xfrm>
          <a:prstGeom prst="roundRect">
            <a:avLst>
              <a:gd name="adj" fmla="val 21818"/>
            </a:avLst>
          </a:prstGeom>
          <a:solidFill>
            <a:srgbClr val="8B6FC0"/>
          </a:solidFill>
          <a:ln/>
        </p:spPr>
      </p:sp>
      <p:sp>
        <p:nvSpPr>
          <p:cNvPr id="5" name="Text 3"/>
          <p:cNvSpPr/>
          <p:nvPr/>
        </p:nvSpPr>
        <p:spPr>
          <a:xfrm>
            <a:off x="6492240" y="173736"/>
            <a:ext cx="2286000" cy="502920"/>
          </a:xfrm>
          <a:prstGeom prst="rect">
            <a:avLst/>
          </a:prstGeom>
          <a:noFill/>
          <a:ln/>
        </p:spPr>
        <p:txBody>
          <a:bodyPr wrap="square" lIns="0" tIns="0" rIns="0" bIns="0" rtlCol="0" anchor="ctr"/>
          <a:lstStyle/>
          <a:p>
            <a:pPr algn="ctr" indent="0" marL="0">
              <a:buNone/>
            </a:pPr>
            <a:r>
              <a:rPr lang="en-US" sz="1100" b="1" dirty="0">
                <a:solidFill>
                  <a:srgbClr val="0E1C42"/>
                </a:solidFill>
                <a:latin typeface="Calibri" pitchFamily="34" charset="0"/>
                <a:ea typeface="Calibri" pitchFamily="34" charset="-122"/>
                <a:cs typeface="Calibri" pitchFamily="34" charset="-120"/>
              </a:rPr>
              <a:t>CHAT PROMPT</a:t>
            </a:r>
            <a:endParaRPr lang="en-US" sz="1100" dirty="0"/>
          </a:p>
        </p:txBody>
      </p:sp>
      <p:sp>
        <p:nvSpPr>
          <p:cNvPr id="6" name="Text 4"/>
          <p:cNvSpPr/>
          <p:nvPr/>
        </p:nvSpPr>
        <p:spPr>
          <a:xfrm>
            <a:off x="365760" y="822960"/>
            <a:ext cx="8046720" cy="292608"/>
          </a:xfrm>
          <a:prstGeom prst="rect">
            <a:avLst/>
          </a:prstGeom>
          <a:noFill/>
          <a:ln/>
        </p:spPr>
        <p:txBody>
          <a:bodyPr wrap="square" lIns="0" tIns="0" rIns="0" bIns="0" rtlCol="0" anchor="ctr"/>
          <a:lstStyle/>
          <a:p>
            <a:pPr indent="0" marL="0">
              <a:buNone/>
            </a:pPr>
            <a:r>
              <a:rPr lang="en-US" sz="1100" b="1" spc="200" kern="0" dirty="0">
                <a:solidFill>
                  <a:srgbClr val="0E1C42"/>
                </a:solidFill>
                <a:latin typeface="Calibri" pitchFamily="34" charset="0"/>
                <a:ea typeface="Calibri" pitchFamily="34" charset="-122"/>
                <a:cs typeface="Calibri" pitchFamily="34" charset="-120"/>
              </a:rPr>
              <a:t>Sort the words by their first syllable.</a:t>
            </a:r>
            <a:endParaRPr lang="en-US" sz="1100" dirty="0"/>
          </a:p>
        </p:txBody>
      </p:sp>
      <p:sp>
        <p:nvSpPr>
          <p:cNvPr id="7" name="Text 5"/>
          <p:cNvSpPr/>
          <p:nvPr/>
        </p:nvSpPr>
        <p:spPr>
          <a:xfrm>
            <a:off x="365760" y="1143000"/>
            <a:ext cx="2712720" cy="320040"/>
          </a:xfrm>
          <a:prstGeom prst="rect">
            <a:avLst/>
          </a:prstGeom>
          <a:noFill/>
          <a:ln/>
        </p:spPr>
        <p:txBody>
          <a:bodyPr wrap="square" lIns="0" tIns="0" rIns="0" bIns="0" rtlCol="0" anchor="ctr"/>
          <a:lstStyle/>
          <a:p>
            <a:pPr indent="0" marL="0">
              <a:buNone/>
            </a:pPr>
            <a:r>
              <a:rPr lang="en-US" sz="1300" b="1" dirty="0">
                <a:solidFill>
                  <a:srgbClr val="0E1C42"/>
                </a:solidFill>
                <a:latin typeface="Calibri" pitchFamily="34" charset="0"/>
                <a:ea typeface="Calibri" pitchFamily="34" charset="-122"/>
                <a:cs typeface="Calibri" pitchFamily="34" charset="-120"/>
              </a:rPr>
              <a:t>2 syllables</a:t>
            </a:r>
            <a:endParaRPr lang="en-US" sz="1300" dirty="0"/>
          </a:p>
        </p:txBody>
      </p:sp>
      <p:sp>
        <p:nvSpPr>
          <p:cNvPr id="8" name="Text 6"/>
          <p:cNvSpPr/>
          <p:nvPr/>
        </p:nvSpPr>
        <p:spPr>
          <a:xfrm>
            <a:off x="365760" y="1527048"/>
            <a:ext cx="2712720" cy="1828800"/>
          </a:xfrm>
          <a:prstGeom prst="rect">
            <a:avLst/>
          </a:prstGeom>
          <a:noFill/>
          <a:ln/>
        </p:spPr>
        <p:txBody>
          <a:bodyPr wrap="square" lIns="0" tIns="0" rIns="0" bIns="0" rtlCol="0" anchor="ctr"/>
          <a:lstStyle/>
          <a:p>
            <a:pPr indent="0" marL="0">
              <a:buNone/>
            </a:pPr>
            <a:r>
              <a:rPr lang="en-US" sz="1300" dirty="0">
                <a:solidFill>
                  <a:srgbClr val="1E293B"/>
                </a:solidFill>
                <a:latin typeface="Calibri" pitchFamily="34" charset="0"/>
                <a:ea typeface="Calibri" pitchFamily="34" charset="-122"/>
                <a:cs typeface="Calibri" pitchFamily="34" charset="-120"/>
              </a:rPr>
              <a:t>Choctaw</a:t>
            </a:r>
            <a:endParaRPr lang="en-US" sz="1300" dirty="0"/>
          </a:p>
          <a:p>
            <a:pPr indent="0" marL="0">
              <a:buNone/>
            </a:pPr>
            <a:r>
              <a:rPr lang="en-US" sz="1300" dirty="0">
                <a:solidFill>
                  <a:srgbClr val="1E293B"/>
                </a:solidFill>
                <a:latin typeface="Calibri" pitchFamily="34" charset="0"/>
                <a:ea typeface="Calibri" pitchFamily="34" charset="-122"/>
                <a:cs typeface="Calibri" pitchFamily="34" charset="-120"/>
              </a:rPr>
              <a:t>treaty</a:t>
            </a:r>
            <a:endParaRPr lang="en-US" sz="1300" dirty="0"/>
          </a:p>
        </p:txBody>
      </p:sp>
      <p:sp>
        <p:nvSpPr>
          <p:cNvPr id="9" name="Text 7"/>
          <p:cNvSpPr/>
          <p:nvPr/>
        </p:nvSpPr>
        <p:spPr>
          <a:xfrm>
            <a:off x="3169920" y="1143000"/>
            <a:ext cx="2712720" cy="320040"/>
          </a:xfrm>
          <a:prstGeom prst="rect">
            <a:avLst/>
          </a:prstGeom>
          <a:noFill/>
          <a:ln/>
        </p:spPr>
        <p:txBody>
          <a:bodyPr wrap="square" lIns="0" tIns="0" rIns="0" bIns="0" rtlCol="0" anchor="ctr"/>
          <a:lstStyle/>
          <a:p>
            <a:pPr indent="0" marL="0">
              <a:buNone/>
            </a:pPr>
            <a:r>
              <a:rPr lang="en-US" sz="1300" b="1" dirty="0">
                <a:solidFill>
                  <a:srgbClr val="0E1C42"/>
                </a:solidFill>
                <a:latin typeface="Calibri" pitchFamily="34" charset="0"/>
                <a:ea typeface="Calibri" pitchFamily="34" charset="-122"/>
                <a:cs typeface="Calibri" pitchFamily="34" charset="-120"/>
              </a:rPr>
              <a:t>4 syllables</a:t>
            </a:r>
            <a:endParaRPr lang="en-US" sz="1300" dirty="0"/>
          </a:p>
        </p:txBody>
      </p:sp>
      <p:sp>
        <p:nvSpPr>
          <p:cNvPr id="10" name="Text 8"/>
          <p:cNvSpPr/>
          <p:nvPr/>
        </p:nvSpPr>
        <p:spPr>
          <a:xfrm>
            <a:off x="3169920" y="1527048"/>
            <a:ext cx="2712720" cy="1828800"/>
          </a:xfrm>
          <a:prstGeom prst="rect">
            <a:avLst/>
          </a:prstGeom>
          <a:noFill/>
          <a:ln/>
        </p:spPr>
        <p:txBody>
          <a:bodyPr wrap="square" lIns="0" tIns="0" rIns="0" bIns="0" rtlCol="0" anchor="ctr"/>
          <a:lstStyle/>
          <a:p>
            <a:pPr indent="0" marL="0">
              <a:buNone/>
            </a:pPr>
            <a:r>
              <a:rPr lang="en-US" sz="1300" dirty="0">
                <a:solidFill>
                  <a:srgbClr val="1E293B"/>
                </a:solidFill>
                <a:latin typeface="Calibri" pitchFamily="34" charset="0"/>
                <a:ea typeface="Calibri" pitchFamily="34" charset="-122"/>
                <a:cs typeface="Calibri" pitchFamily="34" charset="-120"/>
              </a:rPr>
              <a:t>Mississippi</a:t>
            </a:r>
            <a:endParaRPr lang="en-US" sz="1300" dirty="0"/>
          </a:p>
          <a:p>
            <a:pPr indent="0" marL="0">
              <a:buNone/>
            </a:pPr>
            <a:r>
              <a:rPr lang="en-US" sz="1300" dirty="0">
                <a:solidFill>
                  <a:srgbClr val="1E293B"/>
                </a:solidFill>
                <a:latin typeface="Calibri" pitchFamily="34" charset="0"/>
                <a:ea typeface="Calibri" pitchFamily="34" charset="-122"/>
                <a:cs typeface="Calibri" pitchFamily="34" charset="-120"/>
              </a:rPr>
              <a:t>territory</a:t>
            </a:r>
            <a:endParaRPr lang="en-US" sz="1300" dirty="0"/>
          </a:p>
        </p:txBody>
      </p:sp>
      <p:sp>
        <p:nvSpPr>
          <p:cNvPr id="11" name="Text 9"/>
          <p:cNvSpPr/>
          <p:nvPr/>
        </p:nvSpPr>
        <p:spPr>
          <a:xfrm>
            <a:off x="5974080" y="1143000"/>
            <a:ext cx="2712720" cy="320040"/>
          </a:xfrm>
          <a:prstGeom prst="rect">
            <a:avLst/>
          </a:prstGeom>
          <a:noFill/>
          <a:ln/>
        </p:spPr>
        <p:txBody>
          <a:bodyPr wrap="square" lIns="0" tIns="0" rIns="0" bIns="0" rtlCol="0" anchor="ctr"/>
          <a:lstStyle/>
          <a:p>
            <a:pPr indent="0" marL="0">
              <a:buNone/>
            </a:pPr>
            <a:r>
              <a:rPr lang="en-US" sz="1300" b="1" dirty="0">
                <a:solidFill>
                  <a:srgbClr val="0E1C42"/>
                </a:solidFill>
                <a:latin typeface="Calibri" pitchFamily="34" charset="0"/>
                <a:ea typeface="Calibri" pitchFamily="34" charset="-122"/>
                <a:cs typeface="Calibri" pitchFamily="34" charset="-120"/>
              </a:rPr>
              <a:t>3 syllables</a:t>
            </a:r>
            <a:endParaRPr lang="en-US" sz="1300" dirty="0"/>
          </a:p>
        </p:txBody>
      </p:sp>
      <p:sp>
        <p:nvSpPr>
          <p:cNvPr id="12" name="Text 10"/>
          <p:cNvSpPr/>
          <p:nvPr/>
        </p:nvSpPr>
        <p:spPr>
          <a:xfrm>
            <a:off x="5974080" y="1527048"/>
            <a:ext cx="2712720" cy="1828800"/>
          </a:xfrm>
          <a:prstGeom prst="rect">
            <a:avLst/>
          </a:prstGeom>
          <a:noFill/>
          <a:ln/>
        </p:spPr>
        <p:txBody>
          <a:bodyPr wrap="square" lIns="0" tIns="0" rIns="0" bIns="0" rtlCol="0" anchor="ctr"/>
          <a:lstStyle/>
          <a:p>
            <a:pPr indent="0" marL="0">
              <a:buNone/>
            </a:pPr>
            <a:r>
              <a:rPr lang="en-US" sz="1300" dirty="0">
                <a:solidFill>
                  <a:srgbClr val="1E293B"/>
                </a:solidFill>
                <a:latin typeface="Calibri" pitchFamily="34" charset="0"/>
                <a:ea typeface="Calibri" pitchFamily="34" charset="-122"/>
                <a:cs typeface="Calibri" pitchFamily="34" charset="-120"/>
              </a:rPr>
              <a:t>removal</a:t>
            </a:r>
            <a:endParaRPr lang="en-US" sz="1300" dirty="0"/>
          </a:p>
          <a:p>
            <a:pPr indent="0" marL="0">
              <a:buNone/>
            </a:pPr>
            <a:r>
              <a:rPr lang="en-US" sz="1300" dirty="0">
                <a:solidFill>
                  <a:srgbClr val="1E293B"/>
                </a:solidFill>
                <a:latin typeface="Calibri" pitchFamily="34" charset="0"/>
                <a:ea typeface="Calibri" pitchFamily="34" charset="-122"/>
                <a:cs typeface="Calibri" pitchFamily="34" charset="-120"/>
              </a:rPr>
              <a:t>government</a:t>
            </a:r>
            <a:endParaRPr lang="en-US" sz="130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E5F7FC"/>
        </a:solidFill>
      </p:bgPr>
    </p:bg>
    <p:spTree>
      <p:nvGrpSpPr>
        <p:cNvPr id="1" name=""/>
        <p:cNvGrpSpPr/>
        <p:nvPr/>
      </p:nvGrpSpPr>
      <p:grpSpPr>
        <a:xfrm>
          <a:off x="0" y="0"/>
          <a:ext cx="0" cy="0"/>
          <a:chOff x="0" y="0"/>
          <a:chExt cx="0" cy="0"/>
        </a:xfrm>
      </p:grpSpPr>
      <p:sp>
        <p:nvSpPr>
          <p:cNvPr id="2" name="Text 0"/>
          <p:cNvSpPr/>
          <p:nvPr/>
        </p:nvSpPr>
        <p:spPr>
          <a:xfrm>
            <a:off x="365760" y="164592"/>
            <a:ext cx="5943600" cy="566928"/>
          </a:xfrm>
          <a:prstGeom prst="rect">
            <a:avLst/>
          </a:prstGeom>
          <a:noFill/>
          <a:ln/>
        </p:spPr>
        <p:txBody>
          <a:bodyPr wrap="square" lIns="0" tIns="0" rIns="0" bIns="0" rtlCol="0" anchor="ctr"/>
          <a:lstStyle/>
          <a:p>
            <a:pPr algn="l" indent="0" marL="0">
              <a:buNone/>
            </a:pPr>
            <a:r>
              <a:rPr lang="en-US" sz="2600" b="1" dirty="0">
                <a:solidFill>
                  <a:srgbClr val="0E1C42"/>
                </a:solidFill>
                <a:latin typeface="Calibri" pitchFamily="34" charset="0"/>
                <a:ea typeface="Calibri" pitchFamily="34" charset="-122"/>
                <a:cs typeface="Calibri" pitchFamily="34" charset="-120"/>
              </a:rPr>
              <a:t>📖 Reading Focus + Story Journey</a:t>
            </a:r>
            <a:endParaRPr lang="en-US" sz="2600" dirty="0"/>
          </a:p>
        </p:txBody>
      </p:sp>
      <p:sp>
        <p:nvSpPr>
          <p:cNvPr id="3" name="Shape 1"/>
          <p:cNvSpPr/>
          <p:nvPr/>
        </p:nvSpPr>
        <p:spPr>
          <a:xfrm>
            <a:off x="365760" y="749808"/>
            <a:ext cx="8412480" cy="0"/>
          </a:xfrm>
          <a:prstGeom prst="line">
            <a:avLst/>
          </a:prstGeom>
          <a:noFill/>
          <a:ln w="19050">
            <a:solidFill>
              <a:srgbClr val="8B6FC0"/>
            </a:solidFill>
            <a:prstDash val="solid"/>
          </a:ln>
        </p:spPr>
      </p:sp>
      <p:sp>
        <p:nvSpPr>
          <p:cNvPr id="4" name="Shape 2"/>
          <p:cNvSpPr/>
          <p:nvPr/>
        </p:nvSpPr>
        <p:spPr>
          <a:xfrm>
            <a:off x="6492240" y="173736"/>
            <a:ext cx="2286000" cy="502920"/>
          </a:xfrm>
          <a:prstGeom prst="roundRect">
            <a:avLst>
              <a:gd name="adj" fmla="val 21818"/>
            </a:avLst>
          </a:prstGeom>
          <a:solidFill>
            <a:srgbClr val="8B6FC0"/>
          </a:solidFill>
          <a:ln/>
        </p:spPr>
      </p:sp>
      <p:sp>
        <p:nvSpPr>
          <p:cNvPr id="5" name="Text 3"/>
          <p:cNvSpPr/>
          <p:nvPr/>
        </p:nvSpPr>
        <p:spPr>
          <a:xfrm>
            <a:off x="6492240" y="173736"/>
            <a:ext cx="2286000" cy="502920"/>
          </a:xfrm>
          <a:prstGeom prst="rect">
            <a:avLst/>
          </a:prstGeom>
          <a:noFill/>
          <a:ln/>
        </p:spPr>
        <p:txBody>
          <a:bodyPr wrap="square" lIns="0" tIns="0" rIns="0" bIns="0" rtlCol="0" anchor="ctr"/>
          <a:lstStyle/>
          <a:p>
            <a:pPr algn="ctr" indent="0" marL="0">
              <a:buNone/>
            </a:pPr>
            <a:r>
              <a:rPr lang="en-US" sz="1100" b="1" dirty="0">
                <a:solidFill>
                  <a:srgbClr val="0E1C42"/>
                </a:solidFill>
                <a:latin typeface="Calibri" pitchFamily="34" charset="0"/>
                <a:ea typeface="Calibri" pitchFamily="34" charset="-122"/>
                <a:cs typeface="Calibri" pitchFamily="34" charset="-120"/>
              </a:rPr>
              <a:t>CHAT PROMPT</a:t>
            </a:r>
            <a:endParaRPr lang="en-US" sz="1100" dirty="0"/>
          </a:p>
        </p:txBody>
      </p:sp>
      <p:sp>
        <p:nvSpPr>
          <p:cNvPr id="6" name="Text 4"/>
          <p:cNvSpPr/>
          <p:nvPr/>
        </p:nvSpPr>
        <p:spPr>
          <a:xfrm>
            <a:off x="365760" y="822960"/>
            <a:ext cx="8046720" cy="292608"/>
          </a:xfrm>
          <a:prstGeom prst="rect">
            <a:avLst/>
          </a:prstGeom>
          <a:noFill/>
          <a:ln/>
        </p:spPr>
        <p:txBody>
          <a:bodyPr wrap="square" lIns="0" tIns="0" rIns="0" bIns="0" rtlCol="0" anchor="ctr"/>
          <a:lstStyle/>
          <a:p>
            <a:pPr indent="0" marL="0">
              <a:buNone/>
            </a:pPr>
            <a:r>
              <a:rPr lang="en-US" sz="1100" b="1" spc="200" kern="0" dirty="0">
                <a:solidFill>
                  <a:srgbClr val="64748B"/>
                </a:solidFill>
                <a:latin typeface="Calibri" pitchFamily="34" charset="0"/>
                <a:ea typeface="Calibri" pitchFamily="34" charset="-122"/>
                <a:cs typeface="Calibri" pitchFamily="34" charset="-120"/>
              </a:rPr>
              <a:t>YOUR STORY JOURNEY</a:t>
            </a:r>
            <a:endParaRPr lang="en-US" sz="1100" dirty="0"/>
          </a:p>
        </p:txBody>
      </p:sp>
      <p:sp>
        <p:nvSpPr>
          <p:cNvPr id="7" name="Shape 5"/>
          <p:cNvSpPr/>
          <p:nvPr/>
        </p:nvSpPr>
        <p:spPr>
          <a:xfrm>
            <a:off x="365760" y="1078992"/>
            <a:ext cx="8412480" cy="777240"/>
          </a:xfrm>
          <a:prstGeom prst="roundRect">
            <a:avLst>
              <a:gd name="adj" fmla="val 11765"/>
            </a:avLst>
          </a:prstGeom>
          <a:solidFill>
            <a:srgbClr val="F8FAFC"/>
          </a:solidFill>
          <a:ln/>
          <a:effectLst>
            <a:outerShdw sx="100000" sy="100000" kx="0" ky="0" algn="bl" rotWithShape="0" blurRad="101600" dist="38100" dir="2700000">
              <a:srgbClr val="000000">
                <a:alpha val="12000"/>
              </a:srgbClr>
            </a:outerShdw>
          </a:effectLst>
        </p:spPr>
      </p:sp>
      <p:sp>
        <p:nvSpPr>
          <p:cNvPr id="8" name="Text 6"/>
          <p:cNvSpPr/>
          <p:nvPr/>
        </p:nvSpPr>
        <p:spPr>
          <a:xfrm>
            <a:off x="594360" y="1170432"/>
            <a:ext cx="7955280" cy="594360"/>
          </a:xfrm>
          <a:prstGeom prst="rect">
            <a:avLst/>
          </a:prstGeom>
          <a:noFill/>
          <a:ln/>
        </p:spPr>
        <p:txBody>
          <a:bodyPr wrap="square" lIns="0" tIns="0" rIns="0" bIns="0" rtlCol="0" anchor="ctr"/>
          <a:lstStyle/>
          <a:p>
            <a:pPr indent="0" marL="0">
              <a:buNone/>
            </a:pPr>
            <a:r>
              <a:rPr lang="en-US" sz="1250" b="1" dirty="0">
                <a:solidFill>
                  <a:srgbClr val="1E293B"/>
                </a:solidFill>
                <a:latin typeface="Calibri" pitchFamily="34" charset="0"/>
                <a:ea typeface="Calibri" pitchFamily="34" charset="-122"/>
                <a:cs typeface="Calibri" pitchFamily="34" charset="-120"/>
              </a:rPr>
              <a:t>Isaac’s Path — 📍 Chapter 28 — Panther and the Wolf</a:t>
            </a:r>
            <a:endParaRPr lang="en-US" sz="1250" dirty="0"/>
          </a:p>
        </p:txBody>
      </p:sp>
      <p:sp>
        <p:nvSpPr>
          <p:cNvPr id="9" name="Text 7"/>
          <p:cNvSpPr/>
          <p:nvPr/>
        </p:nvSpPr>
        <p:spPr>
          <a:xfrm>
            <a:off x="365760" y="1975104"/>
            <a:ext cx="8046720" cy="292608"/>
          </a:xfrm>
          <a:prstGeom prst="rect">
            <a:avLst/>
          </a:prstGeom>
          <a:noFill/>
          <a:ln/>
        </p:spPr>
        <p:txBody>
          <a:bodyPr wrap="square" lIns="0" tIns="0" rIns="0" bIns="0" rtlCol="0" anchor="ctr"/>
          <a:lstStyle/>
          <a:p>
            <a:pPr indent="0" marL="0">
              <a:buNone/>
            </a:pPr>
            <a:r>
              <a:rPr lang="en-US" sz="1100" b="1" spc="200" kern="0" dirty="0">
                <a:solidFill>
                  <a:srgbClr val="8B6FC0"/>
                </a:solidFill>
                <a:latin typeface="Calibri" pitchFamily="34" charset="0"/>
                <a:ea typeface="Calibri" pitchFamily="34" charset="-122"/>
                <a:cs typeface="Calibri" pitchFamily="34" charset="-120"/>
              </a:rPr>
              <a:t>TODAY YOU ARE READING</a:t>
            </a:r>
            <a:endParaRPr lang="en-US" sz="1100" dirty="0"/>
          </a:p>
        </p:txBody>
      </p:sp>
      <p:sp>
        <p:nvSpPr>
          <p:cNvPr id="10" name="Shape 8"/>
          <p:cNvSpPr/>
          <p:nvPr/>
        </p:nvSpPr>
        <p:spPr>
          <a:xfrm>
            <a:off x="365760" y="2231136"/>
            <a:ext cx="8412480" cy="640080"/>
          </a:xfrm>
          <a:prstGeom prst="roundRect">
            <a:avLst>
              <a:gd name="adj" fmla="val 14286"/>
            </a:avLst>
          </a:prstGeom>
          <a:solidFill>
            <a:srgbClr val="FEF6E8"/>
          </a:solidFill>
          <a:ln/>
          <a:effectLst>
            <a:outerShdw sx="100000" sy="100000" kx="0" ky="0" algn="bl" rotWithShape="0" blurRad="101600" dist="38100" dir="2700000">
              <a:srgbClr val="000000">
                <a:alpha val="12000"/>
              </a:srgbClr>
            </a:outerShdw>
          </a:effectLst>
        </p:spPr>
      </p:sp>
      <p:sp>
        <p:nvSpPr>
          <p:cNvPr id="11" name="Text 9"/>
          <p:cNvSpPr/>
          <p:nvPr/>
        </p:nvSpPr>
        <p:spPr>
          <a:xfrm>
            <a:off x="594360" y="2304288"/>
            <a:ext cx="7955280" cy="493776"/>
          </a:xfrm>
          <a:prstGeom prst="rect">
            <a:avLst/>
          </a:prstGeom>
          <a:noFill/>
          <a:ln/>
        </p:spPr>
        <p:txBody>
          <a:bodyPr wrap="square" lIns="0" tIns="0" rIns="0" bIns="0" rtlCol="0" anchor="ctr"/>
          <a:lstStyle/>
          <a:p>
            <a:pPr indent="0" marL="0">
              <a:buNone/>
            </a:pPr>
            <a:r>
              <a:rPr lang="en-US" sz="1500" b="1" dirty="0">
                <a:solidFill>
                  <a:srgbClr val="0E1C42"/>
                </a:solidFill>
                <a:latin typeface="Calibri" pitchFamily="34" charset="0"/>
                <a:ea typeface="Calibri" pitchFamily="34" charset="-122"/>
                <a:cs typeface="Calibri" pitchFamily="34" charset="-120"/>
              </a:rPr>
              <a:t>Chapter 28 — Panther and the Wolf</a:t>
            </a:r>
            <a:endParaRPr lang="en-US" sz="1500" dirty="0"/>
          </a:p>
        </p:txBody>
      </p:sp>
      <p:sp>
        <p:nvSpPr>
          <p:cNvPr id="12" name="Text 10"/>
          <p:cNvSpPr/>
          <p:nvPr/>
        </p:nvSpPr>
        <p:spPr>
          <a:xfrm>
            <a:off x="365760" y="2999232"/>
            <a:ext cx="8046720" cy="292608"/>
          </a:xfrm>
          <a:prstGeom prst="rect">
            <a:avLst/>
          </a:prstGeom>
          <a:noFill/>
          <a:ln/>
        </p:spPr>
        <p:txBody>
          <a:bodyPr wrap="square" lIns="0" tIns="0" rIns="0" bIns="0" rtlCol="0" anchor="ctr"/>
          <a:lstStyle/>
          <a:p>
            <a:pPr indent="0" marL="0">
              <a:buNone/>
            </a:pPr>
            <a:r>
              <a:rPr lang="en-US" sz="1100" b="1" spc="200" kern="0" dirty="0">
                <a:solidFill>
                  <a:srgbClr val="8B6FC0"/>
                </a:solidFill>
                <a:latin typeface="Calibri" pitchFamily="34" charset="0"/>
                <a:ea typeface="Calibri" pitchFamily="34" charset="-122"/>
                <a:cs typeface="Calibri" pitchFamily="34" charset="-120"/>
              </a:rPr>
              <a:t>🧠 KEEP YOUR READING LENS IN MIND</a:t>
            </a:r>
            <a:endParaRPr lang="en-US" sz="1100" dirty="0"/>
          </a:p>
        </p:txBody>
      </p:sp>
      <p:sp>
        <p:nvSpPr>
          <p:cNvPr id="13" name="Shape 11"/>
          <p:cNvSpPr/>
          <p:nvPr/>
        </p:nvSpPr>
        <p:spPr>
          <a:xfrm>
            <a:off x="365760" y="3255264"/>
            <a:ext cx="8412480" cy="1280160"/>
          </a:xfrm>
          <a:prstGeom prst="roundRect">
            <a:avLst>
              <a:gd name="adj" fmla="val 7143"/>
            </a:avLst>
          </a:prstGeom>
          <a:solidFill>
            <a:srgbClr val="F0E8FF"/>
          </a:solidFill>
          <a:ln/>
          <a:effectLst>
            <a:outerShdw sx="100000" sy="100000" kx="0" ky="0" algn="bl" rotWithShape="0" blurRad="101600" dist="38100" dir="2700000">
              <a:srgbClr val="000000">
                <a:alpha val="12000"/>
              </a:srgbClr>
            </a:outerShdw>
          </a:effectLst>
        </p:spPr>
      </p:sp>
      <p:sp>
        <p:nvSpPr>
          <p:cNvPr id="14" name="Text 12"/>
          <p:cNvSpPr/>
          <p:nvPr/>
        </p:nvSpPr>
        <p:spPr>
          <a:xfrm>
            <a:off x="594360" y="3346704"/>
            <a:ext cx="7955280" cy="1097280"/>
          </a:xfrm>
          <a:prstGeom prst="rect">
            <a:avLst/>
          </a:prstGeom>
          <a:noFill/>
          <a:ln/>
        </p:spPr>
        <p:txBody>
          <a:bodyPr wrap="square" lIns="0" tIns="0" rIns="0" bIns="0" rtlCol="0" anchor="t"/>
          <a:lstStyle/>
          <a:p>
            <a:pPr indent="0" marL="0">
              <a:buNone/>
            </a:pPr>
            <a:r>
              <a:rPr lang="en-US" sz="1150" i="1" dirty="0">
                <a:solidFill>
                  <a:srgbClr val="1E293B"/>
                </a:solidFill>
                <a:latin typeface="Calibri" pitchFamily="34" charset="0"/>
                <a:ea typeface="Calibri" pitchFamily="34" charset="-122"/>
                <a:cs typeface="Calibri" pitchFamily="34" charset="-120"/>
              </a:rPr>
              <a:t>Good readers notice when an author returns to symbols. The panther has appeared before. Now the wolf appears. As you read Chapter 28: what is each animal doing? What power does each one represent? And how does the outcome change the balance?</a:t>
            </a:r>
            <a:endParaRPr lang="en-US" sz="115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365760" y="164592"/>
            <a:ext cx="8412480" cy="566928"/>
          </a:xfrm>
          <a:prstGeom prst="rect">
            <a:avLst/>
          </a:prstGeom>
          <a:noFill/>
          <a:ln/>
        </p:spPr>
        <p:txBody>
          <a:bodyPr wrap="square" lIns="0" tIns="0" rIns="0" bIns="0" rtlCol="0" anchor="ctr"/>
          <a:lstStyle/>
          <a:p>
            <a:pPr algn="l" indent="0" marL="0">
              <a:buNone/>
            </a:pPr>
            <a:r>
              <a:rPr lang="en-US" sz="2600" b="1" dirty="0">
                <a:solidFill>
                  <a:srgbClr val="0E1C42"/>
                </a:solidFill>
                <a:latin typeface="Calibri" pitchFamily="34" charset="0"/>
                <a:ea typeface="Calibri" pitchFamily="34" charset="-122"/>
                <a:cs typeface="Calibri" pitchFamily="34" charset="-120"/>
              </a:rPr>
              <a:t>Comprehension Questions — Preview</a:t>
            </a:r>
            <a:endParaRPr lang="en-US" sz="2600" dirty="0"/>
          </a:p>
        </p:txBody>
      </p:sp>
      <p:sp>
        <p:nvSpPr>
          <p:cNvPr id="3" name="Shape 1"/>
          <p:cNvSpPr/>
          <p:nvPr/>
        </p:nvSpPr>
        <p:spPr>
          <a:xfrm>
            <a:off x="365760" y="749808"/>
            <a:ext cx="8412480" cy="0"/>
          </a:xfrm>
          <a:prstGeom prst="line">
            <a:avLst/>
          </a:prstGeom>
          <a:noFill/>
          <a:ln w="19050">
            <a:solidFill>
              <a:srgbClr val="8B6FC0"/>
            </a:solidFill>
            <a:prstDash val="solid"/>
          </a:ln>
        </p:spPr>
      </p:sp>
      <p:sp>
        <p:nvSpPr>
          <p:cNvPr id="4" name="Text 2"/>
          <p:cNvSpPr/>
          <p:nvPr/>
        </p:nvSpPr>
        <p:spPr>
          <a:xfrm>
            <a:off x="365760" y="822960"/>
            <a:ext cx="8046720" cy="292608"/>
          </a:xfrm>
          <a:prstGeom prst="rect">
            <a:avLst/>
          </a:prstGeom>
          <a:noFill/>
          <a:ln/>
        </p:spPr>
        <p:txBody>
          <a:bodyPr wrap="square" lIns="0" tIns="0" rIns="0" bIns="0" rtlCol="0" anchor="ctr"/>
          <a:lstStyle/>
          <a:p>
            <a:pPr indent="0" marL="0">
              <a:buNone/>
            </a:pPr>
            <a:r>
              <a:rPr lang="en-US" sz="1100" b="1" spc="200" kern="0" dirty="0">
                <a:solidFill>
                  <a:srgbClr val="64748B"/>
                </a:solidFill>
                <a:latin typeface="Calibri" pitchFamily="34" charset="0"/>
                <a:ea typeface="Calibri" pitchFamily="34" charset="-122"/>
                <a:cs typeface="Calibri" pitchFamily="34" charset="-120"/>
              </a:rPr>
              <a:t>WHAT YOU'LL ANSWER (PART A)</a:t>
            </a:r>
            <a:endParaRPr lang="en-US" sz="1100" dirty="0"/>
          </a:p>
        </p:txBody>
      </p:sp>
      <p:sp>
        <p:nvSpPr>
          <p:cNvPr id="5" name="Shape 3"/>
          <p:cNvSpPr/>
          <p:nvPr/>
        </p:nvSpPr>
        <p:spPr>
          <a:xfrm>
            <a:off x="365760" y="1097280"/>
            <a:ext cx="8412480" cy="914400"/>
          </a:xfrm>
          <a:prstGeom prst="roundRect">
            <a:avLst>
              <a:gd name="adj" fmla="val 10000"/>
            </a:avLst>
          </a:prstGeom>
          <a:solidFill>
            <a:srgbClr val="F8FAFC"/>
          </a:solidFill>
          <a:ln/>
          <a:effectLst>
            <a:outerShdw sx="100000" sy="100000" kx="0" ky="0" algn="bl" rotWithShape="0" blurRad="101600" dist="38100" dir="2700000">
              <a:srgbClr val="000000">
                <a:alpha val="12000"/>
              </a:srgbClr>
            </a:outerShdw>
          </a:effectLst>
        </p:spPr>
      </p:sp>
      <p:sp>
        <p:nvSpPr>
          <p:cNvPr id="6" name="Text 4"/>
          <p:cNvSpPr/>
          <p:nvPr/>
        </p:nvSpPr>
        <p:spPr>
          <a:xfrm>
            <a:off x="548640" y="1170432"/>
            <a:ext cx="8046720" cy="768096"/>
          </a:xfrm>
          <a:prstGeom prst="rect">
            <a:avLst/>
          </a:prstGeom>
          <a:noFill/>
          <a:ln/>
        </p:spPr>
        <p:txBody>
          <a:bodyPr wrap="square" lIns="0" tIns="0" rIns="0" bIns="0" rtlCol="0" anchor="ctr"/>
          <a:lstStyle/>
          <a:p>
            <a:pPr indent="0" marL="0">
              <a:buNone/>
            </a:pPr>
            <a:r>
              <a:rPr lang="en-US" sz="1300" b="1" dirty="0">
                <a:solidFill>
                  <a:srgbClr val="8B6FC0"/>
                </a:solidFill>
                <a:latin typeface="Calibri" pitchFamily="34" charset="0"/>
                <a:ea typeface="Calibri" pitchFamily="34" charset="-122"/>
                <a:cs typeface="Calibri" pitchFamily="34" charset="-120"/>
              </a:rPr>
              <a:t>1.  </a:t>
            </a:r>
            <a:pPr indent="0" marL="0">
              <a:buNone/>
            </a:pPr>
            <a:r>
              <a:rPr lang="en-US" sz="1150" dirty="0">
                <a:solidFill>
                  <a:srgbClr val="1E293B"/>
                </a:solidFill>
                <a:latin typeface="Calibri" pitchFamily="34" charset="0"/>
                <a:ea typeface="Calibri" pitchFamily="34" charset="-122"/>
                <a:cs typeface="Calibri" pitchFamily="34" charset="-120"/>
              </a:rPr>
              <a:t>How does Tingle use the panther and the wolf as symbols in Chapter 28? What does each represent, and how does their conflict resolve?</a:t>
            </a:r>
            <a:endParaRPr lang="en-US" sz="1300" dirty="0"/>
          </a:p>
        </p:txBody>
      </p:sp>
      <p:sp>
        <p:nvSpPr>
          <p:cNvPr id="7" name="Shape 5"/>
          <p:cNvSpPr/>
          <p:nvPr/>
        </p:nvSpPr>
        <p:spPr>
          <a:xfrm>
            <a:off x="365760" y="2084832"/>
            <a:ext cx="8412480" cy="914400"/>
          </a:xfrm>
          <a:prstGeom prst="roundRect">
            <a:avLst>
              <a:gd name="adj" fmla="val 10000"/>
            </a:avLst>
          </a:prstGeom>
          <a:solidFill>
            <a:srgbClr val="F4F7FC"/>
          </a:solidFill>
          <a:ln/>
          <a:effectLst>
            <a:outerShdw sx="100000" sy="100000" kx="0" ky="0" algn="bl" rotWithShape="0" blurRad="101600" dist="38100" dir="2700000">
              <a:srgbClr val="000000">
                <a:alpha val="12000"/>
              </a:srgbClr>
            </a:outerShdw>
          </a:effectLst>
        </p:spPr>
      </p:sp>
      <p:sp>
        <p:nvSpPr>
          <p:cNvPr id="8" name="Text 6"/>
          <p:cNvSpPr/>
          <p:nvPr/>
        </p:nvSpPr>
        <p:spPr>
          <a:xfrm>
            <a:off x="548640" y="2157984"/>
            <a:ext cx="8046720" cy="768096"/>
          </a:xfrm>
          <a:prstGeom prst="rect">
            <a:avLst/>
          </a:prstGeom>
          <a:noFill/>
          <a:ln/>
        </p:spPr>
        <p:txBody>
          <a:bodyPr wrap="square" lIns="0" tIns="0" rIns="0" bIns="0" rtlCol="0" anchor="ctr"/>
          <a:lstStyle/>
          <a:p>
            <a:pPr indent="0" marL="0">
              <a:buNone/>
            </a:pPr>
            <a:r>
              <a:rPr lang="en-US" sz="1300" b="1" dirty="0">
                <a:solidFill>
                  <a:srgbClr val="8B6FC0"/>
                </a:solidFill>
                <a:latin typeface="Calibri" pitchFamily="34" charset="0"/>
                <a:ea typeface="Calibri" pitchFamily="34" charset="-122"/>
                <a:cs typeface="Calibri" pitchFamily="34" charset="-120"/>
              </a:rPr>
              <a:t>2.  </a:t>
            </a:r>
            <a:pPr indent="0" marL="0">
              <a:buNone/>
            </a:pPr>
            <a:r>
              <a:rPr lang="en-US" sz="1150" dirty="0">
                <a:solidFill>
                  <a:srgbClr val="1E293B"/>
                </a:solidFill>
                <a:latin typeface="Calibri" pitchFamily="34" charset="0"/>
                <a:ea typeface="Calibri" pitchFamily="34" charset="-122"/>
                <a:cs typeface="Calibri" pitchFamily="34" charset="-120"/>
              </a:rPr>
              <a:t>Isaac has been on a long journey. What does he understand at the end of Chapter 28 that he didn’t understand at the beginning of Chapter 1?</a:t>
            </a:r>
            <a:endParaRPr lang="en-US" sz="1300" dirty="0"/>
          </a:p>
        </p:txBody>
      </p:sp>
      <p:sp>
        <p:nvSpPr>
          <p:cNvPr id="9" name="Shape 7"/>
          <p:cNvSpPr/>
          <p:nvPr/>
        </p:nvSpPr>
        <p:spPr>
          <a:xfrm>
            <a:off x="365760" y="3072384"/>
            <a:ext cx="8412480" cy="914400"/>
          </a:xfrm>
          <a:prstGeom prst="roundRect">
            <a:avLst>
              <a:gd name="adj" fmla="val 10000"/>
            </a:avLst>
          </a:prstGeom>
          <a:solidFill>
            <a:srgbClr val="F8FAFC"/>
          </a:solidFill>
          <a:ln/>
          <a:effectLst>
            <a:outerShdw sx="100000" sy="100000" kx="0" ky="0" algn="bl" rotWithShape="0" blurRad="101600" dist="38100" dir="2700000">
              <a:srgbClr val="000000">
                <a:alpha val="12000"/>
              </a:srgbClr>
            </a:outerShdw>
          </a:effectLst>
        </p:spPr>
      </p:sp>
      <p:sp>
        <p:nvSpPr>
          <p:cNvPr id="10" name="Text 8"/>
          <p:cNvSpPr/>
          <p:nvPr/>
        </p:nvSpPr>
        <p:spPr>
          <a:xfrm>
            <a:off x="548640" y="3145536"/>
            <a:ext cx="8046720" cy="768096"/>
          </a:xfrm>
          <a:prstGeom prst="rect">
            <a:avLst/>
          </a:prstGeom>
          <a:noFill/>
          <a:ln/>
        </p:spPr>
        <p:txBody>
          <a:bodyPr wrap="square" lIns="0" tIns="0" rIns="0" bIns="0" rtlCol="0" anchor="ctr"/>
          <a:lstStyle/>
          <a:p>
            <a:pPr indent="0" marL="0">
              <a:buNone/>
            </a:pPr>
            <a:r>
              <a:rPr lang="en-US" sz="1300" b="1" dirty="0">
                <a:solidFill>
                  <a:srgbClr val="8B6FC0"/>
                </a:solidFill>
                <a:latin typeface="Calibri" pitchFamily="34" charset="0"/>
                <a:ea typeface="Calibri" pitchFamily="34" charset="-122"/>
                <a:cs typeface="Calibri" pitchFamily="34" charset="-120"/>
              </a:rPr>
              <a:t>3.  </a:t>
            </a:r>
            <a:pPr indent="0" marL="0">
              <a:buNone/>
            </a:pPr>
            <a:r>
              <a:rPr lang="en-US" sz="1150" dirty="0">
                <a:solidFill>
                  <a:srgbClr val="1E293B"/>
                </a:solidFill>
                <a:latin typeface="Calibri" pitchFamily="34" charset="0"/>
                <a:ea typeface="Calibri" pitchFamily="34" charset="-122"/>
                <a:cs typeface="Calibri" pitchFamily="34" charset="-120"/>
              </a:rPr>
              <a:t>This chapter functions as the climax of the rescue plot. How does Tingle manage the tension and resolution in Chapter 28? What craft choices make the climax feel satisfying?</a:t>
            </a:r>
            <a:endParaRPr lang="en-US" sz="130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365760" y="164592"/>
            <a:ext cx="8412480" cy="566928"/>
          </a:xfrm>
          <a:prstGeom prst="rect">
            <a:avLst/>
          </a:prstGeom>
          <a:noFill/>
          <a:ln/>
        </p:spPr>
        <p:txBody>
          <a:bodyPr wrap="square" lIns="0" tIns="0" rIns="0" bIns="0" rtlCol="0" anchor="ctr"/>
          <a:lstStyle/>
          <a:p>
            <a:pPr algn="l" indent="0" marL="0">
              <a:buNone/>
            </a:pPr>
            <a:r>
              <a:rPr lang="en-US" sz="2600" b="1" dirty="0">
                <a:solidFill>
                  <a:srgbClr val="0E1C42"/>
                </a:solidFill>
                <a:latin typeface="Calibri" pitchFamily="34" charset="0"/>
                <a:ea typeface="Calibri" pitchFamily="34" charset="-122"/>
                <a:cs typeface="Calibri" pitchFamily="34" charset="-120"/>
              </a:rPr>
              <a:t>✍️ Writing Connection</a:t>
            </a:r>
            <a:endParaRPr lang="en-US" sz="2600" dirty="0"/>
          </a:p>
        </p:txBody>
      </p:sp>
      <p:sp>
        <p:nvSpPr>
          <p:cNvPr id="3" name="Shape 1"/>
          <p:cNvSpPr/>
          <p:nvPr/>
        </p:nvSpPr>
        <p:spPr>
          <a:xfrm>
            <a:off x="365760" y="749808"/>
            <a:ext cx="8412480" cy="0"/>
          </a:xfrm>
          <a:prstGeom prst="line">
            <a:avLst/>
          </a:prstGeom>
          <a:noFill/>
          <a:ln w="19050">
            <a:solidFill>
              <a:srgbClr val="34B76F"/>
            </a:solidFill>
            <a:prstDash val="solid"/>
          </a:ln>
        </p:spPr>
      </p:sp>
      <p:sp>
        <p:nvSpPr>
          <p:cNvPr id="4" name="Text 2"/>
          <p:cNvSpPr/>
          <p:nvPr/>
        </p:nvSpPr>
        <p:spPr>
          <a:xfrm>
            <a:off x="365760" y="841248"/>
            <a:ext cx="8046720" cy="292608"/>
          </a:xfrm>
          <a:prstGeom prst="rect">
            <a:avLst/>
          </a:prstGeom>
          <a:noFill/>
          <a:ln/>
        </p:spPr>
        <p:txBody>
          <a:bodyPr wrap="square" lIns="0" tIns="0" rIns="0" bIns="0" rtlCol="0" anchor="ctr"/>
          <a:lstStyle/>
          <a:p>
            <a:pPr indent="0" marL="0">
              <a:buNone/>
            </a:pPr>
            <a:r>
              <a:rPr lang="en-US" sz="1100" b="1" spc="200" kern="0" dirty="0">
                <a:solidFill>
                  <a:srgbClr val="34B76F"/>
                </a:solidFill>
                <a:latin typeface="Calibri" pitchFamily="34" charset="0"/>
                <a:ea typeface="Calibri" pitchFamily="34" charset="-122"/>
                <a:cs typeface="Calibri" pitchFamily="34" charset="-120"/>
              </a:rPr>
              <a:t>STAGE: PLAN</a:t>
            </a:r>
            <a:endParaRPr lang="en-US" sz="1100" dirty="0"/>
          </a:p>
        </p:txBody>
      </p:sp>
      <p:sp>
        <p:nvSpPr>
          <p:cNvPr id="5" name="Shape 3"/>
          <p:cNvSpPr/>
          <p:nvPr/>
        </p:nvSpPr>
        <p:spPr>
          <a:xfrm>
            <a:off x="365760" y="1097280"/>
            <a:ext cx="8412480" cy="502920"/>
          </a:xfrm>
          <a:prstGeom prst="roundRect">
            <a:avLst>
              <a:gd name="adj" fmla="val 18182"/>
            </a:avLst>
          </a:prstGeom>
          <a:solidFill>
            <a:srgbClr val="E8F8EF"/>
          </a:solidFill>
          <a:ln/>
          <a:effectLst>
            <a:outerShdw sx="100000" sy="100000" kx="0" ky="0" algn="bl" rotWithShape="0" blurRad="101600" dist="38100" dir="2700000">
              <a:srgbClr val="000000">
                <a:alpha val="12000"/>
              </a:srgbClr>
            </a:outerShdw>
          </a:effectLst>
        </p:spPr>
      </p:sp>
      <p:sp>
        <p:nvSpPr>
          <p:cNvPr id="6" name="Text 4"/>
          <p:cNvSpPr/>
          <p:nvPr/>
        </p:nvSpPr>
        <p:spPr>
          <a:xfrm>
            <a:off x="548640" y="1143000"/>
            <a:ext cx="8046720" cy="411480"/>
          </a:xfrm>
          <a:prstGeom prst="rect">
            <a:avLst/>
          </a:prstGeom>
          <a:noFill/>
          <a:ln/>
        </p:spPr>
        <p:txBody>
          <a:bodyPr wrap="square" lIns="0" tIns="0" rIns="0" bIns="0" rtlCol="0" anchor="ctr"/>
          <a:lstStyle/>
          <a:p>
            <a:pPr indent="0" marL="0">
              <a:buNone/>
            </a:pPr>
            <a:r>
              <a:rPr lang="en-US" sz="1300" b="1" dirty="0">
                <a:solidFill>
                  <a:srgbClr val="1E293B"/>
                </a:solidFill>
                <a:latin typeface="Calibri" pitchFamily="34" charset="0"/>
                <a:ea typeface="Calibri" pitchFamily="34" charset="-122"/>
                <a:cs typeface="Calibri" pitchFamily="34" charset="-120"/>
              </a:rPr>
              <a:t>Source Comparison with Claim, Evidence &amp; Reasoning</a:t>
            </a:r>
            <a:endParaRPr lang="en-US" sz="1300" dirty="0"/>
          </a:p>
        </p:txBody>
      </p:sp>
      <p:sp>
        <p:nvSpPr>
          <p:cNvPr id="7" name="Text 5"/>
          <p:cNvSpPr/>
          <p:nvPr/>
        </p:nvSpPr>
        <p:spPr>
          <a:xfrm>
            <a:off x="365760" y="1755648"/>
            <a:ext cx="8046720" cy="292608"/>
          </a:xfrm>
          <a:prstGeom prst="rect">
            <a:avLst/>
          </a:prstGeom>
          <a:noFill/>
          <a:ln/>
        </p:spPr>
        <p:txBody>
          <a:bodyPr wrap="square" lIns="0" tIns="0" rIns="0" bIns="0" rtlCol="0" anchor="ctr"/>
          <a:lstStyle/>
          <a:p>
            <a:pPr indent="0" marL="0">
              <a:buNone/>
            </a:pPr>
            <a:r>
              <a:rPr lang="en-US" sz="1100" b="1" spc="200" kern="0" dirty="0">
                <a:solidFill>
                  <a:srgbClr val="8B6FC0"/>
                </a:solidFill>
                <a:latin typeface="Calibri" pitchFamily="34" charset="0"/>
                <a:ea typeface="Calibri" pitchFamily="34" charset="-122"/>
                <a:cs typeface="Calibri" pitchFamily="34" charset="-120"/>
              </a:rPr>
              <a:t>📝 TODAY'S TASK</a:t>
            </a:r>
            <a:endParaRPr lang="en-US" sz="1100" dirty="0"/>
          </a:p>
        </p:txBody>
      </p:sp>
      <p:sp>
        <p:nvSpPr>
          <p:cNvPr id="8" name="Shape 6"/>
          <p:cNvSpPr/>
          <p:nvPr/>
        </p:nvSpPr>
        <p:spPr>
          <a:xfrm>
            <a:off x="365760" y="2011680"/>
            <a:ext cx="8412480" cy="2377440"/>
          </a:xfrm>
          <a:prstGeom prst="roundRect">
            <a:avLst>
              <a:gd name="adj" fmla="val 3846"/>
            </a:avLst>
          </a:prstGeom>
          <a:solidFill>
            <a:srgbClr val="F0E8FF"/>
          </a:solidFill>
          <a:ln/>
          <a:effectLst>
            <a:outerShdw sx="100000" sy="100000" kx="0" ky="0" algn="bl" rotWithShape="0" blurRad="101600" dist="38100" dir="2700000">
              <a:srgbClr val="000000">
                <a:alpha val="12000"/>
              </a:srgbClr>
            </a:outerShdw>
          </a:effectLst>
        </p:spPr>
      </p:sp>
      <p:sp>
        <p:nvSpPr>
          <p:cNvPr id="9" name="Text 7"/>
          <p:cNvSpPr/>
          <p:nvPr/>
        </p:nvSpPr>
        <p:spPr>
          <a:xfrm>
            <a:off x="548640" y="2103120"/>
            <a:ext cx="8046720" cy="2194560"/>
          </a:xfrm>
          <a:prstGeom prst="rect">
            <a:avLst/>
          </a:prstGeom>
          <a:noFill/>
          <a:ln/>
        </p:spPr>
        <p:txBody>
          <a:bodyPr wrap="square" lIns="0" tIns="0" rIns="0" bIns="0" rtlCol="0" anchor="t"/>
          <a:lstStyle/>
          <a:p>
            <a:pPr indent="0" marL="0">
              <a:buNone/>
            </a:pPr>
            <a:r>
              <a:rPr lang="en-US" sz="1300" dirty="0">
                <a:solidFill>
                  <a:srgbClr val="1E293B"/>
                </a:solidFill>
                <a:latin typeface="Calibri" pitchFamily="34" charset="0"/>
                <a:ea typeface="Calibri" pitchFamily="34" charset="-122"/>
                <a:cs typeface="Calibri" pitchFamily="34" charset="-120"/>
              </a:rPr>
              <a:t>Today is the Plan stage for your source comparison paragraph. You will compare what Tim Tingle’s novel says about the Trail of Tears with what an informational or primary source says. In your reading journal: write your claim + one detail from the novel + one detail from a historical source + your reasoning.</a:t>
            </a:r>
            <a:endParaRPr lang="en-US" sz="13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18</Slides>
  <Notes>18</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18</vt:i4>
      </vt:variant>
    </vt:vector>
  </HeadingPairs>
  <TitlesOfParts>
    <vt:vector size="21"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PptxGenJS</cp:lastModifiedBy>
  <cp:revision>1</cp:revision>
  <dcterms:created xsi:type="dcterms:W3CDTF">2026-07-13T17:32:04Z</dcterms:created>
  <dcterms:modified xsi:type="dcterms:W3CDTF">2026-07-13T17:32:04Z</dcterms:modified>
</cp:coreProperties>
</file>