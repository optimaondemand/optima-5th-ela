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 Day 4,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Can a place change who you are — or does it reveal who you already were?
Reading: I will make connections with Ch 8 and answer comprehension questions.
Grammar: I will explain the importance of sentence combining with compound subjects and predicates.
Spelling: I will utilize suffix spelling changes in a challenge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"kit and judith weeded onions in the grate meadow near blackbird pond"
Corrected: "Kit and Judith weeded onions in the Great Meadow near Blackbird Pond."
Compare with the model: proper nouns need capitals, “grate” should be “Great,” and place names are capitalized.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"kit and judith weeded onions in the grate meadow near blackbird pond"
Corrected: "Kit and Judith weeded onions in the Great Meadow near Blackbird Pond."
Compare with the model: proper nouns need capitals, “grate” should be “Great,” and place names are capitalized.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word I could use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Choice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Suffix Spelling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Kit’s Path Through The Witch of Blackbird Pond — 📍 You are here: Chapter 8 — Kit discovers the Great Meadows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distinct from the Quick Write — it is graded reading-response writing tied directly to today's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4A90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4A90D9"/>
                </a:solidFill>
                <a:latin typeface="Calibri" pitchFamily="34" charset="0"/>
                <a:ea typeface="Calibri" pitchFamily="34" charset="-122"/>
                <a:cs typeface="Calibri" pitchFamily="34" charset="-120"/>
              </a:rPr>
              <a:t>WEEK 2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Witch of Blackbird Pond</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8 — Kit discovers the Great Meadows</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  ·  Virtue: Perseverance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Can a place change who you are — or does it reveal who you already were?</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make connections with Ch 8 and answer comprehension questions.</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explain the importance of sentence combining with compound subjects and predicates.</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utilize suffix spelling changes in a challenge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reflect on what they have read across a whole week. Before you answer today's questions, think about the turning points in Kit's story so far.</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caused Kit's feelings about Connecticut to begin shifting? What role does the Great Meadows play in that change?</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Think about the moments across Chapters 5–8 that surprised Kit. How has each one shaped the person she is becoming?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Kit and Judith weeded the onion rows in the south meadow near Blackbird Pond .</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Kit  </a:t>
            </a:r>
            <a:pPr indent="0" marL="0">
              <a:buNone/>
            </a:pPr>
            <a:r>
              <a:rPr lang="en-US" sz="1200" dirty="0">
                <a:solidFill>
                  <a:srgbClr val="1E293B"/>
                </a:solidFill>
                <a:latin typeface="Calibri" pitchFamily="34" charset="0"/>
                <a:ea typeface="Calibri" pitchFamily="34" charset="-122"/>
                <a:cs typeface="Calibri" pitchFamily="34" charset="-120"/>
              </a:rPr>
              <a:t>"Kit" is a name, so it starts with a capital letter.</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Judith  </a:t>
            </a:r>
            <a:pPr indent="0" marL="0">
              <a:buNone/>
            </a:pPr>
            <a:r>
              <a:rPr lang="en-US" sz="1200" dirty="0">
                <a:solidFill>
                  <a:srgbClr val="1E293B"/>
                </a:solidFill>
                <a:latin typeface="Calibri" pitchFamily="34" charset="0"/>
                <a:ea typeface="Calibri" pitchFamily="34" charset="-122"/>
                <a:cs typeface="Calibri" pitchFamily="34" charset="-120"/>
              </a:rPr>
              <a:t>"Judith" is a name, so it starts with a capital letter.</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Blackbird  </a:t>
            </a:r>
            <a:pPr indent="0" marL="0">
              <a:buNone/>
            </a:pPr>
            <a:r>
              <a:rPr lang="en-US" sz="1200" dirty="0">
                <a:solidFill>
                  <a:srgbClr val="1E293B"/>
                </a:solidFill>
                <a:latin typeface="Calibri" pitchFamily="34" charset="0"/>
                <a:ea typeface="Calibri" pitchFamily="34" charset="-122"/>
                <a:cs typeface="Calibri" pitchFamily="34" charset="-120"/>
              </a:rPr>
              <a:t>"Blackbird Pond" is a place name, so both words start with capital letters.</a:t>
            </a:r>
            <a:endParaRPr lang="en-US" sz="1300" dirty="0"/>
          </a:p>
        </p:txBody>
      </p:sp>
      <p:sp>
        <p:nvSpPr>
          <p:cNvPr id="14" name="Shape 12"/>
          <p:cNvSpPr/>
          <p:nvPr/>
        </p:nvSpPr>
        <p:spPr>
          <a:xfrm>
            <a:off x="365760" y="410565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4160520"/>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Pond  </a:t>
            </a:r>
            <a:pPr indent="0" marL="0">
              <a:buNone/>
            </a:pPr>
            <a:r>
              <a:rPr lang="en-US" sz="1200" dirty="0">
                <a:solidFill>
                  <a:srgbClr val="1E293B"/>
                </a:solidFill>
                <a:latin typeface="Calibri" pitchFamily="34" charset="0"/>
                <a:ea typeface="Calibri" pitchFamily="34" charset="-122"/>
                <a:cs typeface="Calibri" pitchFamily="34" charset="-120"/>
              </a:rPr>
              <a:t>"Pond" is part of the place name "Blackbird Pond," so it is capitalized.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kit and judith weeded onions in the grate meadow near blackbird pond</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kit and judith weeded onions in the grate meadow near blackbird pond</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Kit and Judith weeded onions in the Great Meadow near Blackbird Pond.</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proper nouns need capitals, “grate” should be “Great,” and place names are capitalized.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423160"/>
          </a:xfrm>
          <a:prstGeom prst="roundRect">
            <a:avLst>
              <a:gd name="adj" fmla="val 3774"/>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The Peace of Wild Things</a:t>
            </a:r>
            <a:endParaRPr lang="en-US" sz="20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Wendell Berry</a:t>
            </a:r>
            <a:endParaRPr lang="en-US" sz="1300" dirty="0"/>
          </a:p>
        </p:txBody>
      </p:sp>
      <p:sp>
        <p:nvSpPr>
          <p:cNvPr id="7" name="Text 5"/>
          <p:cNvSpPr/>
          <p:nvPr/>
        </p:nvSpPr>
        <p:spPr>
          <a:xfrm>
            <a:off x="594360" y="1645920"/>
            <a:ext cx="7955280" cy="155448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When despair for the world grows in me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and I wake in the night at the least sound</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in fear of what my life and my children's lives may be,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I go and lie down where the wood drake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rests in his beauty on the water, and the great heron feeds.</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I come into the peace of wild things.</a:t>
            </a:r>
            <a:endParaRPr lang="en-US" sz="1600" dirty="0"/>
          </a:p>
        </p:txBody>
      </p:sp>
      <p:sp>
        <p:nvSpPr>
          <p:cNvPr id="8" name="Text 6"/>
          <p:cNvSpPr/>
          <p:nvPr/>
        </p:nvSpPr>
        <p:spPr>
          <a:xfrm>
            <a:off x="365760" y="34290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685032"/>
            <a:ext cx="84124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776472"/>
            <a:ext cx="7955280" cy="73152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How does Kit's feeling about the Meadows connect to the idea in this poem? Why might a place matter so much to someone who feels like an outsider?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Which has changed Kit more so far — discovering the Great Meadows, or meeting Hannah Tupper? Defend your answer using evidence from Chapters 5–8. Someone might disagree and say it's really the dame school that has changed her most. What would you say back?</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Which has changed Kit more so far — discovering the Great Meadows, or meeting Hannah Tupper? Defend your answer using evidence from Chapters 5–8. Someone might disagree and say it's really the dame school that has changed her most. What would you say back?</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stronger word I could use here?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Suffixes -ion / -ation</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react → reaction (the act of reacting) | condemn → condemnation (the act of condemning) | educate → education (the process of educating) | recommend → recommendation (the act of recommending)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Choice Menu</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This week's words from Chapters 5–8</a:t>
            </a:r>
            <a:endParaRPr lang="en-US" sz="1100" dirty="0"/>
          </a:p>
        </p:txBody>
      </p:sp>
      <p:sp>
        <p:nvSpPr>
          <p:cNvPr id="5" name="Text 3"/>
          <p:cNvSpPr/>
          <p:nvPr/>
        </p:nvSpPr>
        <p:spPr>
          <a:xfrm>
            <a:off x="365760" y="1097280"/>
            <a:ext cx="8412480" cy="3657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Words: frippery, affront, conspicuous, condescension, demurely, auspiciously, allegiance</a:t>
            </a:r>
            <a:endParaRPr lang="en-US" sz="1200" dirty="0"/>
          </a:p>
        </p:txBody>
      </p:sp>
      <p:sp>
        <p:nvSpPr>
          <p:cNvPr id="6" name="Shape 4"/>
          <p:cNvSpPr/>
          <p:nvPr/>
        </p:nvSpPr>
        <p:spPr>
          <a:xfrm>
            <a:off x="365760" y="1554480"/>
            <a:ext cx="8412480" cy="457200"/>
          </a:xfrm>
          <a:prstGeom prst="roundRect">
            <a:avLst>
              <a:gd name="adj" fmla="val 20000"/>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00200"/>
            <a:ext cx="80467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Use two vocabulary words in original sentences that show their meaning.</a:t>
            </a:r>
            <a:endParaRPr lang="en-US" sz="1100" dirty="0"/>
          </a:p>
        </p:txBody>
      </p:sp>
      <p:sp>
        <p:nvSpPr>
          <p:cNvPr id="8" name="Shape 6"/>
          <p:cNvSpPr/>
          <p:nvPr/>
        </p:nvSpPr>
        <p:spPr>
          <a:xfrm>
            <a:off x="365760" y="2066544"/>
            <a:ext cx="8412480" cy="457200"/>
          </a:xfrm>
          <a:prstGeom prst="roundRect">
            <a:avLst>
              <a:gd name="adj" fmla="val 20000"/>
            </a:avLst>
          </a:prstGeom>
          <a:solidFill>
            <a:srgbClr val="EAF6FA"/>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12264"/>
            <a:ext cx="80467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Find an example of one word (or a related word) in your reading this week. Copy the sentence and explain the word.</a:t>
            </a:r>
            <a:endParaRPr lang="en-US" sz="1100" dirty="0"/>
          </a:p>
        </p:txBody>
      </p:sp>
      <p:sp>
        <p:nvSpPr>
          <p:cNvPr id="10" name="Shape 8"/>
          <p:cNvSpPr/>
          <p:nvPr/>
        </p:nvSpPr>
        <p:spPr>
          <a:xfrm>
            <a:off x="365760" y="2578608"/>
            <a:ext cx="8412480" cy="457200"/>
          </a:xfrm>
          <a:prstGeom prst="roundRect">
            <a:avLst>
              <a:gd name="adj" fmla="val 20000"/>
            </a:avLst>
          </a:prstGeom>
          <a:solidFill>
            <a:srgbClr val="E5F7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624328"/>
            <a:ext cx="80467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Connect one word to a root, prefix, or suffix you learned this week. Explain the connection.</a:t>
            </a:r>
            <a:endParaRPr lang="en-US" sz="1100" dirty="0"/>
          </a:p>
        </p:txBody>
      </p:sp>
      <p:sp>
        <p:nvSpPr>
          <p:cNvPr id="12" name="Shape 10"/>
          <p:cNvSpPr/>
          <p:nvPr/>
        </p:nvSpPr>
        <p:spPr>
          <a:xfrm>
            <a:off x="365760" y="3090672"/>
            <a:ext cx="8412480" cy="457200"/>
          </a:xfrm>
          <a:prstGeom prst="roundRect">
            <a:avLst>
              <a:gd name="adj" fmla="val 20000"/>
            </a:avLst>
          </a:prstGeom>
          <a:solidFill>
            <a:srgbClr val="EAF6FA"/>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136392"/>
            <a:ext cx="80467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Sort the week's vocabulary words by meaning or category. Explain your groups.</a:t>
            </a:r>
            <a:endParaRPr lang="en-US" sz="1100" dirty="0"/>
          </a:p>
        </p:txBody>
      </p:sp>
      <p:sp>
        <p:nvSpPr>
          <p:cNvPr id="14" name="Shape 12"/>
          <p:cNvSpPr/>
          <p:nvPr/>
        </p:nvSpPr>
        <p:spPr>
          <a:xfrm>
            <a:off x="365760" y="3648456"/>
            <a:ext cx="8412480" cy="640080"/>
          </a:xfrm>
          <a:prstGeom prst="roundRect">
            <a:avLst>
              <a:gd name="adj" fmla="val 14286"/>
            </a:avLst>
          </a:prstGeom>
          <a:solidFill>
            <a:srgbClr val="FEF6E8"/>
          </a:solidFill>
          <a:ln w="12700">
            <a:solidFill>
              <a:srgbClr val="C7922C"/>
            </a:solidFill>
            <a:prstDash val="solid"/>
          </a:ln>
        </p:spPr>
      </p:sp>
      <p:sp>
        <p:nvSpPr>
          <p:cNvPr id="15" name="Text 13"/>
          <p:cNvSpPr/>
          <p:nvPr/>
        </p:nvSpPr>
        <p:spPr>
          <a:xfrm>
            <a:off x="548640" y="3694176"/>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Vocabulary
</a:t>
            </a:r>
            <a:pPr indent="0" marL="0">
              <a:buNone/>
            </a:pPr>
            <a:r>
              <a:rPr lang="en-US" sz="1000" i="1" dirty="0">
                <a:solidFill>
                  <a:srgbClr val="1E293B"/>
                </a:solidFill>
                <a:latin typeface="Calibri" pitchFamily="34" charset="0"/>
                <a:ea typeface="Calibri" pitchFamily="34" charset="-122"/>
                <a:cs typeface="Calibri" pitchFamily="34" charset="-120"/>
              </a:rPr>
              <a:t>Choose ONE activity from the board. Then write your response in the box below.</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Sentence Combining</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Explain the importance</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Choppy: “Kit pulled onions. Judith pulled onions. They weeded the garden.” — These three sentences are short and repetitive. Combined: “Kit and Judith pulled onions and weeded the garden all morning.” — One smooth sentence with a compound subject ( Kit and Judith ) and a compound predicate ( pulled… and weeded ). Combining sentences makes writing flow. It also shows readers how ideas connect.</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100" dirty="0">
                <a:solidFill>
                  <a:srgbClr val="64748B"/>
                </a:solidFill>
                <a:latin typeface="Calibri" pitchFamily="34" charset="0"/>
                <a:ea typeface="Calibri" pitchFamily="34" charset="-122"/>
                <a:cs typeface="Calibri" pitchFamily="34" charset="-120"/>
              </a:rPr>
              <a:t>Kit pulled onions all morning.   /   Kit and Judith pulled onions and weeded the garden all morning.</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100" dirty="0">
                <a:solidFill>
                  <a:srgbClr val="64748B"/>
                </a:solidFill>
                <a:latin typeface="Calibri" pitchFamily="34" charset="0"/>
                <a:ea typeface="Calibri" pitchFamily="34" charset="-122"/>
                <a:cs typeface="Calibri" pitchFamily="34" charset="-120"/>
              </a:rPr>
              <a:t>Mercy smiled and told Kit about the dame school.   /   Mercy smiled. Mercy told Kit.</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100" dirty="0">
                <a:solidFill>
                  <a:srgbClr val="64748B"/>
                </a:solidFill>
                <a:latin typeface="Calibri" pitchFamily="34" charset="0"/>
                <a:ea typeface="Calibri" pitchFamily="34" charset="-122"/>
                <a:cs typeface="Calibri" pitchFamily="34" charset="-120"/>
              </a:rPr>
              <a:t>Hannah lives alone.   /   Hannah lives alone by Blackbird Pond and keeps only cats for company.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Sentence Combining</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Explain the importance</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Choppy: “Kit pulled onions. Judith pulled onions. They weeded the garden.” — These three sentences are short and repetitive. Combined: “Kit and Judith pulled onions and weeded the garden all morning.” — One smooth sentence with a compound subject ( Kit and Judith ) and a compound predicate ( pulled… and weeded ). Combining sentences makes writing flow. It also shows readers how ideas connect.</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200" b="1" dirty="0">
                <a:solidFill>
                  <a:srgbClr val="34B76F"/>
                </a:solidFill>
                <a:latin typeface="Calibri" pitchFamily="34" charset="0"/>
                <a:ea typeface="Calibri" pitchFamily="34" charset="-122"/>
                <a:cs typeface="Calibri" pitchFamily="34" charset="-120"/>
              </a:rPr>
              <a:t>✅ Kit and Judith pulled onions and weeded the garden all morning.</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200" b="1" dirty="0">
                <a:solidFill>
                  <a:srgbClr val="34B76F"/>
                </a:solidFill>
                <a:latin typeface="Calibri" pitchFamily="34" charset="0"/>
                <a:ea typeface="Calibri" pitchFamily="34" charset="-122"/>
                <a:cs typeface="Calibri" pitchFamily="34" charset="-120"/>
              </a:rPr>
              <a:t>✅ Mercy smiled and told Kit about the dame school.</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200" b="1" dirty="0">
                <a:solidFill>
                  <a:srgbClr val="34B76F"/>
                </a:solidFill>
                <a:latin typeface="Calibri" pitchFamily="34" charset="0"/>
                <a:ea typeface="Calibri" pitchFamily="34" charset="-122"/>
                <a:cs typeface="Calibri" pitchFamily="34" charset="-120"/>
              </a:rPr>
              <a:t>✅ Hannah lives alone by Blackbird Pond and keeps only cats for company.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Suffix Spelling Changes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Challenge — what changes when you add a suffix?</a:t>
            </a:r>
            <a:endParaRPr lang="en-US" sz="1100" dirty="0"/>
          </a:p>
        </p:txBody>
      </p:sp>
      <p:sp>
        <p:nvSpPr>
          <p:cNvPr id="7" name="Shape 5"/>
          <p:cNvSpPr/>
          <p:nvPr/>
        </p:nvSpPr>
        <p:spPr>
          <a:xfrm>
            <a:off x="365760" y="1143000"/>
            <a:ext cx="8412480" cy="68580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197864"/>
            <a:ext cx="8046720" cy="57607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recommend + ation
</a:t>
            </a:r>
            <a:pPr indent="0" marL="0">
              <a:buNone/>
            </a:pPr>
            <a:r>
              <a:rPr lang="en-US" sz="1100" i="1" dirty="0">
                <a:solidFill>
                  <a:srgbClr val="64748B"/>
                </a:solidFill>
                <a:latin typeface="Calibri" pitchFamily="34" charset="0"/>
                <a:ea typeface="Calibri" pitchFamily="34" charset="-122"/>
                <a:cs typeface="Calibri" pitchFamily="34" charset="-120"/>
              </a:rPr>
              <a:t>recommendation   (No change to the base word — just add -ation directly.)</a:t>
            </a:r>
            <a:endParaRPr lang="en-US" sz="1400" dirty="0"/>
          </a:p>
        </p:txBody>
      </p:sp>
      <p:sp>
        <p:nvSpPr>
          <p:cNvPr id="9" name="Shape 7"/>
          <p:cNvSpPr/>
          <p:nvPr/>
        </p:nvSpPr>
        <p:spPr>
          <a:xfrm>
            <a:off x="365760" y="1901952"/>
            <a:ext cx="8412480" cy="68580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1956816"/>
            <a:ext cx="8046720" cy="57607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begin + ing
</a:t>
            </a:r>
            <a:pPr indent="0" marL="0">
              <a:buNone/>
            </a:pPr>
            <a:r>
              <a:rPr lang="en-US" sz="1100" i="1" dirty="0">
                <a:solidFill>
                  <a:srgbClr val="64748B"/>
                </a:solidFill>
                <a:latin typeface="Calibri" pitchFamily="34" charset="0"/>
                <a:ea typeface="Calibri" pitchFamily="34" charset="-122"/>
                <a:cs typeface="Calibri" pitchFamily="34" charset="-120"/>
              </a:rPr>
              <a:t>beginning   (Double the final n before adding -ing (short vowel + single consonant rule).)</a:t>
            </a:r>
            <a:endParaRPr lang="en-US" sz="1400" dirty="0"/>
          </a:p>
        </p:txBody>
      </p:sp>
      <p:sp>
        <p:nvSpPr>
          <p:cNvPr id="11" name="Shape 9"/>
          <p:cNvSpPr/>
          <p:nvPr/>
        </p:nvSpPr>
        <p:spPr>
          <a:xfrm>
            <a:off x="365760" y="2660904"/>
            <a:ext cx="8412480" cy="68580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715768"/>
            <a:ext cx="8046720" cy="57607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happy + ness
</a:t>
            </a:r>
            <a:pPr indent="0" marL="0">
              <a:buNone/>
            </a:pPr>
            <a:r>
              <a:rPr lang="en-US" sz="1100" i="1" dirty="0">
                <a:solidFill>
                  <a:srgbClr val="64748B"/>
                </a:solidFill>
                <a:latin typeface="Calibri" pitchFamily="34" charset="0"/>
                <a:ea typeface="Calibri" pitchFamily="34" charset="-122"/>
                <a:cs typeface="Calibri" pitchFamily="34" charset="-120"/>
              </a:rPr>
              <a:t>happiness   (Change the y to i before adding -ness.)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Kit’s Path Through The Witch of Blackbird Pond — 📍 You are here: Chapter 8 — Kit discovers the Great Meadows</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4A90D9"/>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8 — Kit discovers the Great Meadows</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What caused Kit's feelings about Connecticut to begin shifting? What role does the Great Meadows play in that change?</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Think about the moments across Chapters 5–8 that surprised Kit. How has each one shaped the person she is becoming?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1 Why do the Meadows affect Kit so deeply? What does this place give her that the Wood household does not?</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2 How do Kit and Judith react differently to Hannah Tupper? What does each reaction reveal about their character?</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3 Cross-Week Question: Looking back across Chapters 5–8, how has Kit's perspective on her life in Connecticut changed? Use at least two specific details from different chapters.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(Part C)</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SHORT CRAFT-FOCUSED RESPONSE</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Which source of hope matters more to Kit right now — the Great Meadows or the dame school? Use evidence from Chapter 8 to explain your thinking.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2026-07-12T13:24:41Z</dcterms:created>
  <dcterms:modified xsi:type="dcterms:W3CDTF">2026-07-12T13:24:41Z</dcterms:modified>
</cp:coreProperties>
</file>