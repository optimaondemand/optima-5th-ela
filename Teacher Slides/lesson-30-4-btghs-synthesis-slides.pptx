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30, Day 4, 🏆 All six weeks complete — 18 chapters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This is the last lesson of the unit. You have read 18 chapters, learned roots from six different Latin families, analyzed Fleischman’s humor and voice, written and revised your own adventure, and built a literary response. Today you synthesize — connect it all — and celebrate.
Vocabulary SWYK: I will complete a choice board for the final five words.
Morphology: I will explain the unit’s most important root family.
Synthesis: I will reflect on the full arc of the novel and my own growth as a reader and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"aunt arabella smiled — she had always believed it and she smiled through a wet sparkle in her eyes marry you she said why of course i thought you'd never ask By the Great Horn Spoon praiseworthy gasped"
Corrected: "Aunt Arabella smiled — she had always believed it — and she smiled through a wet sparkle in her eyes. “Marry you?” she said. “Why, of course. I thought you’d never ask.” “By the Great Horn Spoon!” Praiseworthy gasped."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"aunt arabella smiled — she had always believed it and she smiled through a wet sparkle in her eyes marry you she said why of course i thought you'd never ask By the Great Horn Spoon praiseworthy gasped"
Corrected: "Aunt Arabella smiled — she had always believed it — and she smiled through a wet sparkle in her eyes. “Marry you?” she said. “Why, of course. I thought you’d never ask.” “By the Great Horn Spoon!” Praiseworthy gasped."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my ending sentence actually capture my strongest point, or should I move a stronger idea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choice_board.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Editing — Explain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 All six weeks complete — 18 chapters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PUBLISHED ✓
Focus: You did it — your adventure is complete.
Task: Paste or type your final published adventure here. Include the title. Add a note to your reader if you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30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 All six weeks complete — 18 chapters read!</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30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This is the last lesson of the unit. You have read 18 chapters, learned roots from six different Latin families, analyzed Fleischman’s humor and voice, written and revised your own adventure, and built a literary response. Today you synthesize — connect it all — and celebrate.</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SWYK: </a:t>
            </a:r>
            <a:pPr indent="0" marL="0">
              <a:buNone/>
            </a:pPr>
            <a:r>
              <a:rPr lang="en-US" sz="1250" dirty="0">
                <a:solidFill>
                  <a:srgbClr val="1E293B"/>
                </a:solidFill>
                <a:latin typeface="Calibri" pitchFamily="34" charset="0"/>
                <a:ea typeface="Calibri" pitchFamily="34" charset="-122"/>
                <a:cs typeface="Calibri" pitchFamily="34" charset="-120"/>
              </a:rPr>
              <a:t>I will complete a choice board for the final five words.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Morphology: </a:t>
            </a:r>
            <a:pPr indent="0" marL="0">
              <a:buNone/>
            </a:pPr>
            <a:r>
              <a:rPr lang="en-US" sz="1250" dirty="0">
                <a:solidFill>
                  <a:srgbClr val="1E293B"/>
                </a:solidFill>
                <a:latin typeface="Calibri" pitchFamily="34" charset="0"/>
                <a:ea typeface="Calibri" pitchFamily="34" charset="-122"/>
                <a:cs typeface="Calibri" pitchFamily="34" charset="-120"/>
              </a:rPr>
              <a:t>I will explain the unit’s most important root family.</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Synthesis: </a:t>
            </a:r>
            <a:pPr indent="0" marL="0">
              <a:buNone/>
            </a:pPr>
            <a:r>
              <a:rPr lang="en-US" sz="1250" dirty="0">
                <a:solidFill>
                  <a:srgbClr val="1E293B"/>
                </a:solidFill>
                <a:latin typeface="Calibri" pitchFamily="34" charset="0"/>
                <a:ea typeface="Calibri" pitchFamily="34" charset="-122"/>
                <a:cs typeface="Calibri" pitchFamily="34" charset="-120"/>
              </a:rPr>
              <a:t>I will reflect on the full arc of the novel and my own growth as a reader and writer.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"Out here, one man is as good as another. " "Only more so," said Jack.</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one man is as good as another.  </a:t>
            </a:r>
            <a:pPr indent="0" marL="0">
              <a:buNone/>
            </a:pPr>
            <a:r>
              <a:rPr lang="en-US" sz="1150" dirty="0">
                <a:solidFill>
                  <a:srgbClr val="1E293B"/>
                </a:solidFill>
                <a:latin typeface="Calibri" pitchFamily="34" charset="0"/>
                <a:ea typeface="Calibri" pitchFamily="34" charset="-122"/>
                <a:cs typeface="Calibri" pitchFamily="34" charset="-120"/>
              </a:rPr>
              <a:t>One man is as good as another. This is Praiseworthy's liberation from the rigid class system of Boston. It explains why California — not Boston — is the right ending for both characters. It justifies the proposal. And it states the theme of the entire novel in eight words.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aunt arabella smiled — she had always believed it and she smiled through a wet sparkle in her eyes marry you she said why of course i thought you'd never ask By the Great Horn Spoon praiseworthy gasped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aunt arabella smiled — she had always believed it and she smiled through a wet sparkle in her eyes marry you she said why of course i thought you'd never ask By the Great Horn Spoon praiseworthy gasped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Aunt Arabella smiled — she had always believed it — and she smiled through a wet sparkle in her eyes. “Marry you?” she said. “Why, of course. I thought you’d never ask.” “By the Great Horn Spoon!” Praiseworthy gasped.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Now that you've finished the whole novel, what matters most about Jack and Praiseworthy's journey: the gold they found, or the people they became along the way? Defend your answer with evidence from the whole novel.</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Now that you've finished the whole novel, what matters most about Jack and Praiseworthy's journey: the gold they found, or the people they became along the way? Defend your answer with evidence from the whole novel.</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my ending sentence actually capture my strongest point, or should I move a stronger idea there?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Unit Root Review — Explain</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Which root from this unit do you think is the most powerful for building vocabulary — and why? Write 3 sentences explaining your choice and giving two examples of words built from that root that you might use in your own writing.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Show what you know: exuberance · reprieve · spirited · counsel · reunion</a:t>
            </a:r>
            <a:endParaRPr lang="en-US" sz="1200" dirty="0"/>
          </a:p>
        </p:txBody>
      </p:sp>
      <p:sp>
        <p:nvSpPr>
          <p:cNvPr id="7" name="Shape 5"/>
          <p:cNvSpPr/>
          <p:nvPr/>
        </p:nvSpPr>
        <p:spPr>
          <a:xfrm>
            <a:off x="365760" y="1664208"/>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0784"/>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The Last Chapter:  </a:t>
            </a:r>
            <a:pPr indent="0" marL="0">
              <a:buNone/>
            </a:pPr>
            <a:r>
              <a:rPr lang="en-US" sz="1050" dirty="0">
                <a:solidFill>
                  <a:srgbClr val="1E293B"/>
                </a:solidFill>
                <a:latin typeface="Calibri" pitchFamily="34" charset="0"/>
                <a:ea typeface="Calibri" pitchFamily="34" charset="-122"/>
                <a:cs typeface="Calibri" pitchFamily="34" charset="-120"/>
              </a:rPr>
              <a:t>Write a 5–7 sentence summary of the novel’s ending from Jack’s point of view, using all five words naturally and accurately.</a:t>
            </a:r>
            <a:endParaRPr lang="en-US" sz="1150" dirty="0"/>
          </a:p>
        </p:txBody>
      </p:sp>
      <p:sp>
        <p:nvSpPr>
          <p:cNvPr id="9" name="Shape 7"/>
          <p:cNvSpPr/>
          <p:nvPr/>
        </p:nvSpPr>
        <p:spPr>
          <a:xfrm>
            <a:off x="365760" y="22311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67712"/>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Word Origins:  </a:t>
            </a:r>
            <a:pPr indent="0" marL="0">
              <a:buNone/>
            </a:pPr>
            <a:r>
              <a:rPr lang="en-US" sz="1050" dirty="0">
                <a:solidFill>
                  <a:srgbClr val="1E293B"/>
                </a:solidFill>
                <a:latin typeface="Calibri" pitchFamily="34" charset="0"/>
                <a:ea typeface="Calibri" pitchFamily="34" charset="-122"/>
                <a:cs typeface="Calibri" pitchFamily="34" charset="-120"/>
              </a:rPr>
              <a:t>For each word: write the language of origin, the root meaning, and a sentence showing how the meaning connects to the novel’s ending.</a:t>
            </a:r>
            <a:endParaRPr lang="en-US" sz="1150" dirty="0"/>
          </a:p>
        </p:txBody>
      </p:sp>
      <p:sp>
        <p:nvSpPr>
          <p:cNvPr id="11" name="Shape 9"/>
          <p:cNvSpPr/>
          <p:nvPr/>
        </p:nvSpPr>
        <p:spPr>
          <a:xfrm>
            <a:off x="365760" y="2798064"/>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34640"/>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Definitions + Sentences:  </a:t>
            </a:r>
            <a:pPr indent="0" marL="0">
              <a:buNone/>
            </a:pPr>
            <a:r>
              <a:rPr lang="en-US" sz="1050" dirty="0">
                <a:solidFill>
                  <a:srgbClr val="1E293B"/>
                </a:solidFill>
                <a:latin typeface="Calibri" pitchFamily="34" charset="0"/>
                <a:ea typeface="Calibri" pitchFamily="34" charset="-122"/>
                <a:cs typeface="Calibri" pitchFamily="34" charset="-120"/>
              </a:rPr>
              <a:t>Define each word in your own words, then write a sentence for each connecting it to a specific event in Chapters 16–18.</a:t>
            </a:r>
            <a:endParaRPr lang="en-US" sz="1150" dirty="0"/>
          </a:p>
        </p:txBody>
      </p:sp>
      <p:sp>
        <p:nvSpPr>
          <p:cNvPr id="13" name="Shape 11"/>
          <p:cNvSpPr/>
          <p:nvPr/>
        </p:nvSpPr>
        <p:spPr>
          <a:xfrm>
            <a:off x="365760" y="3364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01568"/>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The Arc of the Novel:  </a:t>
            </a:r>
            <a:pPr indent="0" marL="0">
              <a:buNone/>
            </a:pPr>
            <a:r>
              <a:rPr lang="en-US" sz="1050" dirty="0">
                <a:solidFill>
                  <a:srgbClr val="1E293B"/>
                </a:solidFill>
                <a:latin typeface="Calibri" pitchFamily="34" charset="0"/>
                <a:ea typeface="Calibri" pitchFamily="34" charset="-122"/>
                <a:cs typeface="Calibri" pitchFamily="34" charset="-120"/>
              </a:rPr>
              <a:t>Write a paragraph that uses all five words to describe the emotional arc of By the Great Horn Spoon! from beginning to end.</a:t>
            </a:r>
            <a:endParaRPr lang="en-US" sz="1150" dirty="0"/>
          </a:p>
        </p:txBody>
      </p:sp>
      <p:sp>
        <p:nvSpPr>
          <p:cNvPr id="15" name="Shape 13"/>
          <p:cNvSpPr/>
          <p:nvPr/>
        </p:nvSpPr>
        <p:spPr>
          <a:xfrm>
            <a:off x="365760" y="3977640"/>
            <a:ext cx="8412480" cy="777240"/>
          </a:xfrm>
          <a:prstGeom prst="roundRect">
            <a:avLst>
              <a:gd name="adj" fmla="val 11765"/>
            </a:avLst>
          </a:prstGeom>
          <a:solidFill>
            <a:srgbClr val="FEF6E8"/>
          </a:solidFill>
          <a:ln w="12700">
            <a:solidFill>
              <a:srgbClr val="C7922C"/>
            </a:solidFill>
            <a:prstDash val="solid"/>
          </a:ln>
        </p:spPr>
      </p:sp>
      <p:sp>
        <p:nvSpPr>
          <p:cNvPr id="16" name="Text 14"/>
          <p:cNvSpPr/>
          <p:nvPr/>
        </p:nvSpPr>
        <p:spPr>
          <a:xfrm>
            <a:off x="548640" y="4050792"/>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50" i="1" dirty="0">
                <a:solidFill>
                  <a:srgbClr val="1E293B"/>
                </a:solidFill>
                <a:latin typeface="Calibri" pitchFamily="34" charset="0"/>
                <a:ea typeface="Calibri" pitchFamily="34" charset="-122"/>
                <a:cs typeface="Calibri" pitchFamily="34" charset="-120"/>
              </a:rPr>
              <a:t>Choose one option and complete it. State your option at the top.</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Editing — Explain One Rule</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Choose the one grammar rule from this unit that you think most changed your writing. Explain the rule in 3 sentences and show a before/after example from your own adventure draft.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Editing — Explain Why It Matters</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Explain why spelling correctly matters in published writing — not just for school, but for the reader’s experience. Give one example from your own adventure draft where a misspelling could confuse or distract a reader. Write 3–4 sentences.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 All six weeks complete — 18 chapters read!</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 All six weeks complete — 18 chapters read!</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(See Reading tab for today's focus.)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Unit Synthesis: The Full Arc</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At the start of the novel, Praiseworthy is a Boston butler. At the end, he is Bullwhip — a miner who proposes marriage on a California wharf. Describe the arc of his transformation. What did the voyage require of him, and what did he discover about himself? Use at least two specific moments from different parts of the novel.</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Fleischman’s novel is a comedy — it makes you laugh. But it is also a story about real things: loyalty, courage, integrity, hope. Choose one theme and explain how Fleischman uses humor to explore it rather than avoid it. Give two examples from anywhere in the novel where comedy and something serious exist in the same moment.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Now it’s your turn. You have read, written, revised, and published your own adventure story this unit. You have analyzed Fleischman’s craft and argued for a theme in a literary response. In 4–6 sentences: What is the most important thing you learned about adventure storytelling from this unit? What would you do differently if you wrote your adventure again from the beginning — and what would you keep exactly as it is?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PUBLISHED ✓</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You did it — your adventure is complete.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Paste or type your final published adventure here. Include the title. Add a note to your reader if you like.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2026-07-13T17:56:40Z</dcterms:created>
  <dcterms:modified xsi:type="dcterms:W3CDTF">2026-07-13T17:56:40Z</dcterms:modified>
</cp:coreProperties>
</file>