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26, Day 3, Week 26 — Chapter 6: Spoiled Potatoes.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A Frenchman with dying grape cuttings and a Yankee trader with eighteen barrels of spoiled potatoes. Everyone sees two disasters. Praiseworthy sees a solution that never existed before Jack came along. This chapter is about creative thinking.
Spelling SWYK: I will correctly spell and use all eight dialogue tags in a short scene.
Vocabulary: I will match words to definitions in a game.
Reading: I will analyze Praiseworthy’s solution and Jack’s role in Ch.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"Remarkable pair praiseworthy and the lad. said Mr azariah Jones. born traders you know imagine finding a buyer for eighteen barrels of spoiled potatoes"
Corrected: "“Remarkable pair, Praiseworthy and the lad,” said Mr. Azariah Jones. “Born traders, you know. Imagine finding a buyer for eighteen barrels of spoiled potatoes!”"
Fixes: open quotes before “Remarkable”; comma after “lad” (appositive); capital M in Mr.; close quotes after “Jones.” then reopen for second speech; exclamation mark inside closing quote for the final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"Remarkable pair praiseworthy and the lad. said Mr azariah Jones. born traders you know imagine finding a buyer for eighteen barrels of spoiled potatoes"
Corrected: "“Remarkable pair, Praiseworthy and the lad,” said Mr. Azariah Jones. “Born traders, you know. Imagine finding a buyer for eighteen barrels of spoiled potatoes!”"
Fixes: open quotes before “Remarkable”; comma after “lad” (appositive); capital M in Mr.; close quotes after “Jones.” then reopen for second speech; exclamation mark inside closing quote for the final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match_game.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Dialogue Tags — Use.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26 — Chapter 6: Spoiled Potatoes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Focus: Refine your draft — add reaction and specific detail
Task: Write your draft scene. Start in the middle of the action. Use dialogue. Show your hero’s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26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26 — Chapter 6: Spoiled Potatoes</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26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 Frenchman with dying grape cuttings and a Yankee trader with eighteen barrels of spoiled potatoes. Everyone sees two disasters. Praiseworthy sees a solution that never existed before Jack came along. This chapter is about creative thinking.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SWYK: </a:t>
            </a:r>
            <a:pPr indent="0" marL="0">
              <a:buNone/>
            </a:pPr>
            <a:r>
              <a:rPr lang="en-US" sz="1250" dirty="0">
                <a:solidFill>
                  <a:srgbClr val="1E293B"/>
                </a:solidFill>
                <a:latin typeface="Calibri" pitchFamily="34" charset="0"/>
                <a:ea typeface="Calibri" pitchFamily="34" charset="-122"/>
                <a:cs typeface="Calibri" pitchFamily="34" charset="-120"/>
              </a:rPr>
              <a:t>I will correctly spell and use all eight dialogue tags in a short scene.</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match words to definitions in a game.</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Praiseworthy’s solution and Jack’s role in Ch. 6.</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“I’ll sell my potatoes!” exclaimed Mr. Azariah Jones. “I’m saved,” said one.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“I’ll sell my potatoes!”  </a:t>
            </a:r>
            <a:pPr indent="0" marL="0">
              <a:buNone/>
            </a:pPr>
            <a:r>
              <a:rPr lang="en-US" sz="1150" dirty="0">
                <a:solidFill>
                  <a:srgbClr val="1E293B"/>
                </a:solidFill>
                <a:latin typeface="Calibri" pitchFamily="34" charset="0"/>
                <a:ea typeface="Calibri" pitchFamily="34" charset="-122"/>
                <a:cs typeface="Calibri" pitchFamily="34" charset="-120"/>
              </a:rPr>
              <a:t>An exclamation mark goes inside the closing quote when the character is exclaiming. The action tag starts as a new sentence — not a dialogue tag — so it capitalizes.</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“I’m saved,”  </a:t>
            </a:r>
            <a:pPr indent="0" marL="0">
              <a:buNone/>
            </a:pPr>
            <a:r>
              <a:rPr lang="en-US" sz="1150" dirty="0">
                <a:solidFill>
                  <a:srgbClr val="1E293B"/>
                </a:solidFill>
                <a:latin typeface="Calibri" pitchFamily="34" charset="0"/>
                <a:ea typeface="Calibri" pitchFamily="34" charset="-122"/>
                <a:cs typeface="Calibri" pitchFamily="34" charset="-120"/>
              </a:rPr>
              <a:t>“I’m saved” is a SECOND speech act — a new sentence. It gets its own quotes and its own ending punctuation inside.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Remarkable pair praiseworthy and the lad. said Mr azariah Jones. born traders you know imagine finding a buyer for eighteen barrels of spoiled potatoes</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Remarkable pair praiseworthy and the lad. said Mr azariah Jones. born traders you know imagine finding a buyer for eighteen barrels of spoiled potatoes</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“Remarkable pair, Praiseworthy and the lad,” said Mr. Azariah Jones. “Born traders, you know. Imagine finding a buyer for eighteen barrels of spoiled potatoes!”</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open quotes before “Remarkable”; comma after “lad” (appositive); capital M in Mr.; close quotes after “Jones.” then reopen for second speech; exclamation mark inside closing quote for the final sentence.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 Frenchman and a Yankee trader strike an unlikely bargain in Chapter 6. Is trusting a stranger in a desperate moment wise, or dangerous?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A Frenchman and a Yankee trader strike an unlikely bargain in Chapter 6. Is trusting a stranger in a desperate moment wise, or dangerous?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rid/ris + lud/lus — Use</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Chapter 6 is full of ludicrous logic — Praiseworthy suggests buying rotting potatoes as a solution to dying grape cuttings. Write 2 sentences: one using ludicrous , and one using ridiculous . Show the difference in their connotations (the feeling behind each word).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Use — match word to definition</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becalmed  </a:t>
            </a:r>
            <a:pPr indent="0" marL="0">
              <a:buNone/>
            </a:pPr>
            <a:r>
              <a:rPr lang="en-US" sz="1150" dirty="0">
                <a:solidFill>
                  <a:srgbClr val="1E293B"/>
                </a:solidFill>
                <a:latin typeface="Calibri" pitchFamily="34" charset="0"/>
                <a:ea typeface="Calibri" pitchFamily="34" charset="-122"/>
                <a:cs typeface="Calibri" pitchFamily="34" charset="-120"/>
              </a:rPr>
              <a:t>Stopped by a lack of wind; completely still and motionless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strait  </a:t>
            </a:r>
            <a:pPr indent="0" marL="0">
              <a:buNone/>
            </a:pPr>
            <a:r>
              <a:rPr lang="en-US" sz="1150" dirty="0">
                <a:solidFill>
                  <a:srgbClr val="1E293B"/>
                </a:solidFill>
                <a:latin typeface="Calibri" pitchFamily="34" charset="0"/>
                <a:ea typeface="Calibri" pitchFamily="34" charset="-122"/>
                <a:cs typeface="Calibri" pitchFamily="34" charset="-120"/>
              </a:rPr>
              <a:t>A narrow passage of water connecting two larger bodies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headwinds  </a:t>
            </a:r>
            <a:pPr indent="0" marL="0">
              <a:buNone/>
            </a:pPr>
            <a:r>
              <a:rPr lang="en-US" sz="1150" dirty="0">
                <a:solidFill>
                  <a:srgbClr val="1E293B"/>
                </a:solidFill>
                <a:latin typeface="Calibri" pitchFamily="34" charset="0"/>
                <a:ea typeface="Calibri" pitchFamily="34" charset="-122"/>
                <a:cs typeface="Calibri" pitchFamily="34" charset="-120"/>
              </a:rPr>
              <a:t>Winds blowing directly against a ship’s direction</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monotony  </a:t>
            </a:r>
            <a:pPr indent="0" marL="0">
              <a:buNone/>
            </a:pPr>
            <a:r>
              <a:rPr lang="en-US" sz="1150" dirty="0">
                <a:solidFill>
                  <a:srgbClr val="1E293B"/>
                </a:solidFill>
                <a:latin typeface="Calibri" pitchFamily="34" charset="0"/>
                <a:ea typeface="Calibri" pitchFamily="34" charset="-122"/>
                <a:cs typeface="Calibri" pitchFamily="34" charset="-120"/>
              </a:rPr>
              <a:t>Tedious sameness; boring repetition with no change</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ludicrous  </a:t>
            </a:r>
            <a:pPr indent="0" marL="0">
              <a:buNone/>
            </a:pPr>
            <a:r>
              <a:rPr lang="en-US" sz="1150" dirty="0">
                <a:solidFill>
                  <a:srgbClr val="1E293B"/>
                </a:solidFill>
                <a:latin typeface="Calibri" pitchFamily="34" charset="0"/>
                <a:ea typeface="Calibri" pitchFamily="34" charset="-122"/>
                <a:cs typeface="Calibri" pitchFamily="34" charset="-120"/>
              </a:rPr>
              <a:t>So absurd it is laughable; from the Latin for “game/jest”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Dialogue Punctuation — Use</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Apply the rules to your own adventure dialogue</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Write the Chapter 6 bargain scene between Monsieur Gaunt and Mr. Azariah Jones as a dialogue exchange. They should each speak at least twice. Use correct punctuation and paragraphing. Include at least one action beat (a sentence describing what a character does while speaking).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Dialogue Tags — Use</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Use all eight correctly in a short scene</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bellowed · exclaimed · grumbled · muttered · interrupted · stammered · chuckled · commanded</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Each one tells the reader exactly how the character sounds. Good writers choose the precise tag rather than defaulting to “said.”</a:t>
            </a:r>
            <a:endParaRPr lang="en-US" sz="1150" dirty="0"/>
          </a:p>
        </p:txBody>
      </p:sp>
      <p:sp>
        <p:nvSpPr>
          <p:cNvPr id="9" name="Shape 7"/>
          <p:cNvSpPr/>
          <p:nvPr/>
        </p:nvSpPr>
        <p:spPr>
          <a:xfrm>
            <a:off x="365760" y="2404872"/>
            <a:ext cx="8412480" cy="777240"/>
          </a:xfrm>
          <a:prstGeom prst="roundRect">
            <a:avLst>
              <a:gd name="adj" fmla="val 11765"/>
            </a:avLst>
          </a:prstGeom>
          <a:solidFill>
            <a:srgbClr val="FEF6E8"/>
          </a:solidFill>
          <a:ln w="12700">
            <a:solidFill>
              <a:srgbClr val="C7922C"/>
            </a:solidFill>
            <a:prstDash val="solid"/>
          </a:ln>
        </p:spPr>
      </p:sp>
      <p:sp>
        <p:nvSpPr>
          <p:cNvPr id="10" name="Text 8"/>
          <p:cNvSpPr/>
          <p:nvPr/>
        </p:nvSpPr>
        <p:spPr>
          <a:xfrm>
            <a:off x="548640" y="2478024"/>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50" i="1" dirty="0">
                <a:solidFill>
                  <a:srgbClr val="1E293B"/>
                </a:solidFill>
                <a:latin typeface="Calibri" pitchFamily="34" charset="0"/>
                <a:ea typeface="Calibri" pitchFamily="34" charset="-122"/>
                <a:cs typeface="Calibri" pitchFamily="34" charset="-120"/>
              </a:rPr>
              <a:t>Write a short scene (5–8 lines of dialogue) from the pig hunt in Chapter 4 — or from any moment this week. Use at least five of the eight dialogue tags, each spelled correctly. Underline each tag you use.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26 — Chapter 6: Spoiled Potatoes</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26 — Chapter 6: Spoiled Potatoes</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6 slows the action down deliberately. The ship is becalmed — stuck — and Fleischman uses that stillness to show us Praiseworthy and Jack thinking. Notice how the solution arrives not from Praiseworthy alone but from the two of them together. The idea needed Jack’s past (being a stowaway) to exist.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6 — “Spoiled Potatoes”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What problems do Monsieur Gaunt and Mr. Azariah Jones face in Chapter 6? What is Praiseworthy’s solution, and how does it solve both problems at once?</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Praiseworthy says the solution was “so simple — a boy could have thought of it.” But it was Jack who sparked the idea — and it was only possible because Jack had been a stowaway. Explain the connection between Jack’s past and this chapter’s solution.</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Over three chapters this week, Praiseworthy has hidden a pig, calmed terrified passengers through a deadly strait, and solved two men’s business problems. He calls himself “just a butler.” Based on Chapters 4–6, write a definition of what Praiseworthy means as a name. What does Fleischman want us to understand about him?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Refine your draft — add reaction and specific detail</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your draft scene. Start in the middle of the action. Use dialogue. Show your hero’s voice.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