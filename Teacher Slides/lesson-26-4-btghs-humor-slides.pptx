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26, Day 4, Week 26 — Humor &amp; Tone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Comedy is not the opposite of seriousness. In the best adventure stories — and in real life — the funniest moments are the ones with real stakes. Fleischman understands this completely. Today you analyze how he does it.
Vocab SWYK: I will complete a vocabulary choice board for all five Week 26 words.
Morphology: I will explain how rid/ris and lud/lus appear in English words about comedy and play.
Humor Analysis: I will identify Fleischman’s comic techniques in a passage and explain how they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"I confess chuckled captain swain. The lad here has found me out then he pointed to the sea raven. Look at her gentlemen. Following us like a chick after a hen"
Corrected: "“I confess,” chuckled Captain Swain. “The lad here has found me out.” Then he pointed to the Sea Raven. “Look at her, gentlemen. Following us like a chick after a hen!”"
Key fixes: quotes around all dialogue; comma inside “confess,”; capitalize Captain Swain ; new speech = new quotes; capitalize Sea Raven (proper noun); new paragraph for the action beat; exclamation mark inside closing quote.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"I confess chuckled captain swain. The lad here has found me out then he pointed to the sea raven. Look at her gentlemen. Following us like a chick after a hen"
Corrected: "“I confess,” chuckled Captain Swain. “The lad here has found me out.” Then he pointed to the Sea Raven. “Look at her, gentlemen. Following us like a chick after a hen!”"
Key fixes: quotes around all dialogue; comma inside “confess,”; capitalize Captain Swain ; new speech = new quotes; capitalize Sea Raven (proper noun); new paragraph for the action beat; exclamation mark inside closing quote.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 use if time allows. Read the prompt aloud. Remind students: pick a side, defend with evidence, anticipate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Does this detail actually support my point, or is it just filler?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choice_board. Graded SWYK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content — this novel uses explain/tap-to-notice practice rather than a scored quiz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Dialogue Tags — 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Six Weeks with By the Great Horn Spoon! — Week 26 — Humor &amp; Tone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in the Reading tab as they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Stage: DRAFT
Focus: Week 26 closes — draft complete, add one comic moment
Task: Write your draft scene. Start in the middle of the action. Use dialogue. Show your hero’s voice.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4A2E"/>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5CB85C">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5CB85C"/>
                </a:solidFill>
                <a:latin typeface="Calibri" pitchFamily="34" charset="0"/>
                <a:ea typeface="Calibri" pitchFamily="34" charset="-122"/>
                <a:cs typeface="Calibri" pitchFamily="34" charset="-120"/>
              </a:rPr>
              <a:t>WEEK 26  ·  DAY 4</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By the Great Horn Spoon!</a:t>
            </a:r>
            <a:endParaRPr lang="en-US" sz="2600" dirty="0"/>
          </a:p>
          <a:p>
            <a:pPr algn="l" indent="0" marL="0">
              <a:buNone/>
            </a:pPr>
            <a:r>
              <a:rPr lang="en-US" sz="2600" b="1" dirty="0">
                <a:solidFill>
                  <a:srgbClr val="FFFFFF"/>
                </a:solidFill>
                <a:latin typeface="Calibri" pitchFamily="34" charset="0"/>
                <a:ea typeface="Calibri" pitchFamily="34" charset="-122"/>
                <a:cs typeface="Calibri" pitchFamily="34" charset="-120"/>
              </a:rPr>
              <a:t>Week 26 — Humor &amp; Tone Analysis</a:t>
            </a:r>
            <a:endParaRPr lang="en-US" sz="26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26  ·  Grit, Wit &amp; Adventure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Comedy is not the opposite of seriousness. In the best adventure stories — and in real life — the funniest moments are the ones with real stakes. Fleischman understands this completely. Today you analyze how he does it.</a:t>
            </a:r>
            <a:endParaRPr lang="en-US" sz="13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59152"/>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Vocab SWYK: </a:t>
            </a:r>
            <a:pPr indent="0" marL="0">
              <a:buNone/>
            </a:pPr>
            <a:r>
              <a:rPr lang="en-US" sz="1250" dirty="0">
                <a:solidFill>
                  <a:srgbClr val="1E293B"/>
                </a:solidFill>
                <a:latin typeface="Calibri" pitchFamily="34" charset="0"/>
                <a:ea typeface="Calibri" pitchFamily="34" charset="-122"/>
                <a:cs typeface="Calibri" pitchFamily="34" charset="-120"/>
              </a:rPr>
              <a:t>I will complete a vocabulary choice board for all five Week 26 words.</a:t>
            </a:r>
            <a:endParaRPr lang="en-US" sz="1500" dirty="0"/>
          </a:p>
        </p:txBody>
      </p:sp>
      <p:sp>
        <p:nvSpPr>
          <p:cNvPr id="10" name="Shape 8"/>
          <p:cNvSpPr/>
          <p:nvPr/>
        </p:nvSpPr>
        <p:spPr>
          <a:xfrm>
            <a:off x="365760" y="3090672"/>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63824"/>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Morphology: </a:t>
            </a:r>
            <a:pPr indent="0" marL="0">
              <a:buNone/>
            </a:pPr>
            <a:r>
              <a:rPr lang="en-US" sz="1250" dirty="0">
                <a:solidFill>
                  <a:srgbClr val="1E293B"/>
                </a:solidFill>
                <a:latin typeface="Calibri" pitchFamily="34" charset="0"/>
                <a:ea typeface="Calibri" pitchFamily="34" charset="-122"/>
                <a:cs typeface="Calibri" pitchFamily="34" charset="-120"/>
              </a:rPr>
              <a:t>I will explain how rid/ris and lud/lus appear in English words about comedy and play.</a:t>
            </a:r>
            <a:endParaRPr lang="en-US" sz="1500" dirty="0"/>
          </a:p>
        </p:txBody>
      </p:sp>
      <p:sp>
        <p:nvSpPr>
          <p:cNvPr id="12" name="Shape 10"/>
          <p:cNvSpPr/>
          <p:nvPr/>
        </p:nvSpPr>
        <p:spPr>
          <a:xfrm>
            <a:off x="365760" y="389534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968496"/>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Humor Analysis: </a:t>
            </a:r>
            <a:pPr indent="0" marL="0">
              <a:buNone/>
            </a:pPr>
            <a:r>
              <a:rPr lang="en-US" sz="1250" dirty="0">
                <a:solidFill>
                  <a:srgbClr val="1E293B"/>
                </a:solidFill>
                <a:latin typeface="Calibri" pitchFamily="34" charset="0"/>
                <a:ea typeface="Calibri" pitchFamily="34" charset="-122"/>
                <a:cs typeface="Calibri" pitchFamily="34" charset="-120"/>
              </a:rPr>
              <a:t>I will identify Fleischman’s comic techniques in a passage and explain how they work.</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lad here,” Captain Swain said with a twinkling glance, “has found me out.”</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“The lad here,”  </a:t>
            </a:r>
            <a:pPr indent="0" marL="0">
              <a:buNone/>
            </a:pPr>
            <a:r>
              <a:rPr lang="en-US" sz="1150" dirty="0">
                <a:solidFill>
                  <a:srgbClr val="1E293B"/>
                </a:solidFill>
                <a:latin typeface="Calibri" pitchFamily="34" charset="0"/>
                <a:ea typeface="Calibri" pitchFamily="34" charset="-122"/>
                <a:cs typeface="Calibri" pitchFamily="34" charset="-120"/>
              </a:rPr>
              <a:t>A dialogue tag split around a speech: both parts of the tag are lowercase and set off by commas. The second speech restarts with a lowercase letter because the sentence continued.</a:t>
            </a:r>
            <a:endParaRPr lang="en-US" sz="1250" dirty="0"/>
          </a:p>
        </p:txBody>
      </p:sp>
      <p:sp>
        <p:nvSpPr>
          <p:cNvPr id="10" name="Shape 8"/>
          <p:cNvSpPr/>
          <p:nvPr/>
        </p:nvSpPr>
        <p:spPr>
          <a:xfrm>
            <a:off x="365760" y="2889504"/>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935224"/>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“has found me out.”  </a:t>
            </a:r>
            <a:pPr indent="0" marL="0">
              <a:buNone/>
            </a:pPr>
            <a:r>
              <a:rPr lang="en-US" sz="1150" dirty="0">
                <a:solidFill>
                  <a:srgbClr val="1E293B"/>
                </a:solidFill>
                <a:latin typeface="Calibri" pitchFamily="34" charset="0"/>
                <a:ea typeface="Calibri" pitchFamily="34" charset="-122"/>
                <a:cs typeface="Calibri" pitchFamily="34" charset="-120"/>
              </a:rPr>
              <a:t>Second half of a split tag: lowercase. The closing speech is part of the same interrupted sentence, so it does NOT capitalize the first word.</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I confess chuckled captain swain. The lad here has found me out then he pointed to the sea raven. Look at her gentlemen. Following us like a chick after a hen</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reading journal.</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I confess chuckled captain swain. The lad here has found me out then he pointed to the sea raven. Look at her gentlemen. Following us like a chick after a hen</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reading journal.</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“I confess,” chuckled Captain Swain. “The lad here has found me out.” Then he pointed to the Sea Raven. “Look at her, gentlemen. Following us like a chick after a hen!”</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Key fixes: quotes around all dialogue; comma inside “confess,”; capitalize Captain Swain ; new speech = new quotes; capitalize Sea Raven (proper noun); new paragraph for the action beat; exclamation mark inside closing quote.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463040"/>
          </a:xfrm>
          <a:prstGeom prst="roundRect">
            <a:avLst>
              <a:gd name="adj" fmla="val 6250"/>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2344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Fleischman uses humor even during the scariest, most dangerous parts of the voyage. Does the humor make the danger feel smaller, or does it make the courage feel bigger? Defend your answer with evidence from Chapters 4-6.</a:t>
            </a:r>
            <a:endParaRPr lang="en-US" sz="1600" dirty="0"/>
          </a:p>
        </p:txBody>
      </p:sp>
      <p:sp>
        <p:nvSpPr>
          <p:cNvPr id="7" name="Text 5"/>
          <p:cNvSpPr/>
          <p:nvPr/>
        </p:nvSpPr>
        <p:spPr>
          <a:xfrm>
            <a:off x="457200" y="29260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218688"/>
            <a:ext cx="8229600" cy="822960"/>
          </a:xfrm>
          <a:prstGeom prst="rect">
            <a:avLst/>
          </a:prstGeom>
          <a:noFill/>
          <a:ln/>
        </p:spPr>
        <p:txBody>
          <a:bodyPr wrap="square" lIns="0" tIns="0" rIns="0" bIns="0" rtlCol="0" anchor="ctr"/>
          <a:lstStyle/>
          <a:p>
            <a:pPr indent="0" marL="0">
              <a:buNone/>
            </a:pPr>
            <a:r>
              <a:rPr lang="en-US" sz="1150" i="1" dirty="0">
                <a:solidFill>
                  <a:srgbClr val="0E1C42"/>
                </a:solidFill>
                <a:latin typeface="Calibri" pitchFamily="34" charset="0"/>
                <a:ea typeface="Calibri" pitchFamily="34" charset="-122"/>
                <a:cs typeface="Calibri" pitchFamily="34" charset="-120"/>
              </a:rPr>
              <a:t>I think...   →   because...   →   One piece of evidence is...   →   Someone might disagree, but...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Fleischman uses humor even during the scariest, most dangerous parts of the voyage. Does the humor make the danger feel smaller, or does it make the courage feel bigger? Defend your answer with evidence from Chapters 4-6.</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15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Someone might disagree, but...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Does this detail actually support my point, or is it just filler?</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Roots rid/ris + lud/lus — Explain</a:t>
            </a:r>
            <a:endParaRPr lang="en-US" sz="1100" dirty="0"/>
          </a:p>
        </p:txBody>
      </p:sp>
      <p:sp>
        <p:nvSpPr>
          <p:cNvPr id="5" name="Shape 3"/>
          <p:cNvSpPr/>
          <p:nvPr/>
        </p:nvSpPr>
        <p:spPr>
          <a:xfrm>
            <a:off x="365760" y="1097280"/>
            <a:ext cx="8412480" cy="603504"/>
          </a:xfrm>
          <a:prstGeom prst="roundRect">
            <a:avLst>
              <a:gd name="adj" fmla="val 1515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51206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In your journal: Explain rid/ris and lud/lus to a classmate who missed the week. For each root: meaning, three example words, and one sentence connecting the root to Fleischman’s humor. Write 4–6 sentences total.</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Explain — show what you know, your way</a:t>
            </a:r>
            <a:endParaRPr lang="en-US" sz="1100" dirty="0"/>
          </a:p>
        </p:txBody>
      </p:sp>
      <p:sp>
        <p:nvSpPr>
          <p:cNvPr id="5" name="Shape 3"/>
          <p:cNvSpPr/>
          <p:nvPr/>
        </p:nvSpPr>
        <p:spPr>
          <a:xfrm>
            <a:off x="365760" y="1097280"/>
            <a:ext cx="8412480" cy="457200"/>
          </a:xfrm>
          <a:prstGeom prst="roundRect">
            <a:avLst>
              <a:gd name="adj" fmla="val 20000"/>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36576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Show what you know about: becalmed · strait · headwinds · monotony · ludicrous</a:t>
            </a:r>
            <a:endParaRPr lang="en-US" sz="1200" dirty="0"/>
          </a:p>
        </p:txBody>
      </p:sp>
      <p:sp>
        <p:nvSpPr>
          <p:cNvPr id="7" name="Shape 5"/>
          <p:cNvSpPr/>
          <p:nvPr/>
        </p:nvSpPr>
        <p:spPr>
          <a:xfrm>
            <a:off x="365760" y="1664208"/>
            <a:ext cx="8412480" cy="512064"/>
          </a:xfrm>
          <a:prstGeom prst="roundRect">
            <a:avLst>
              <a:gd name="adj" fmla="val 17857"/>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00784"/>
            <a:ext cx="8046720" cy="438912"/>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‘Stuck at Sea’ Journal Entry:  </a:t>
            </a:r>
            <a:pPr indent="0" marL="0">
              <a:buNone/>
            </a:pPr>
            <a:r>
              <a:rPr lang="en-US" sz="1050" dirty="0">
                <a:solidFill>
                  <a:srgbClr val="1E293B"/>
                </a:solidFill>
                <a:latin typeface="Calibri" pitchFamily="34" charset="0"/>
                <a:ea typeface="Calibri" pitchFamily="34" charset="-122"/>
                <a:cs typeface="Calibri" pitchFamily="34" charset="-120"/>
              </a:rPr>
              <a:t>Write a 5–7 sentence journal entry from Jack’s point of view during the calm in Ch.6, using all five vocabulary words naturally.</a:t>
            </a:r>
            <a:endParaRPr lang="en-US" sz="1150" dirty="0"/>
          </a:p>
        </p:txBody>
      </p:sp>
      <p:sp>
        <p:nvSpPr>
          <p:cNvPr id="9" name="Shape 7"/>
          <p:cNvSpPr/>
          <p:nvPr/>
        </p:nvSpPr>
        <p:spPr>
          <a:xfrm>
            <a:off x="365760" y="2231136"/>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267712"/>
            <a:ext cx="8046720" cy="438912"/>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Word + Root + Meaning:  </a:t>
            </a:r>
            <a:pPr indent="0" marL="0">
              <a:buNone/>
            </a:pPr>
            <a:r>
              <a:rPr lang="en-US" sz="1050" dirty="0">
                <a:solidFill>
                  <a:srgbClr val="1E293B"/>
                </a:solidFill>
                <a:latin typeface="Calibri" pitchFamily="34" charset="0"/>
                <a:ea typeface="Calibri" pitchFamily="34" charset="-122"/>
                <a:cs typeface="Calibri" pitchFamily="34" charset="-120"/>
              </a:rPr>
              <a:t>For each word: write it, break it into parts (prefix, root, suffix if any), and explain how the parts give you the meaning.</a:t>
            </a:r>
            <a:endParaRPr lang="en-US" sz="1150" dirty="0"/>
          </a:p>
        </p:txBody>
      </p:sp>
      <p:sp>
        <p:nvSpPr>
          <p:cNvPr id="11" name="Shape 9"/>
          <p:cNvSpPr/>
          <p:nvPr/>
        </p:nvSpPr>
        <p:spPr>
          <a:xfrm>
            <a:off x="365760" y="2798064"/>
            <a:ext cx="8412480" cy="512064"/>
          </a:xfrm>
          <a:prstGeom prst="roundRect">
            <a:avLst>
              <a:gd name="adj" fmla="val 17857"/>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834640"/>
            <a:ext cx="8046720" cy="438912"/>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Definition + Context Sentence:  </a:t>
            </a:r>
            <a:pPr indent="0" marL="0">
              <a:buNone/>
            </a:pPr>
            <a:r>
              <a:rPr lang="en-US" sz="1050" dirty="0">
                <a:solidFill>
                  <a:srgbClr val="1E293B"/>
                </a:solidFill>
                <a:latin typeface="Calibri" pitchFamily="34" charset="0"/>
                <a:ea typeface="Calibri" pitchFamily="34" charset="-122"/>
                <a:cs typeface="Calibri" pitchFamily="34" charset="-120"/>
              </a:rPr>
              <a:t>For each word: write a precise definition in your own words and an original sentence connecting it to Chs. 4–6.</a:t>
            </a:r>
            <a:endParaRPr lang="en-US" sz="1150" dirty="0"/>
          </a:p>
        </p:txBody>
      </p:sp>
      <p:sp>
        <p:nvSpPr>
          <p:cNvPr id="13" name="Shape 11"/>
          <p:cNvSpPr/>
          <p:nvPr/>
        </p:nvSpPr>
        <p:spPr>
          <a:xfrm>
            <a:off x="365760" y="3364992"/>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401568"/>
            <a:ext cx="8046720" cy="438912"/>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The Voyage in Five Words:  </a:t>
            </a:r>
            <a:pPr indent="0" marL="0">
              <a:buNone/>
            </a:pPr>
            <a:r>
              <a:rPr lang="en-US" sz="1050" dirty="0">
                <a:solidFill>
                  <a:srgbClr val="1E293B"/>
                </a:solidFill>
                <a:latin typeface="Calibri" pitchFamily="34" charset="0"/>
                <a:ea typeface="Calibri" pitchFamily="34" charset="-122"/>
                <a:cs typeface="Calibri" pitchFamily="34" charset="-120"/>
              </a:rPr>
              <a:t>Write a paragraph explaining how all five words connect to the Lady Wilma’s voyage. Use every word at least once.</a:t>
            </a:r>
            <a:endParaRPr lang="en-US" sz="1150" dirty="0"/>
          </a:p>
        </p:txBody>
      </p:sp>
      <p:sp>
        <p:nvSpPr>
          <p:cNvPr id="15" name="Shape 13"/>
          <p:cNvSpPr/>
          <p:nvPr/>
        </p:nvSpPr>
        <p:spPr>
          <a:xfrm>
            <a:off x="365760" y="3977640"/>
            <a:ext cx="8412480" cy="777240"/>
          </a:xfrm>
          <a:prstGeom prst="roundRect">
            <a:avLst>
              <a:gd name="adj" fmla="val 11765"/>
            </a:avLst>
          </a:prstGeom>
          <a:solidFill>
            <a:srgbClr val="FEF6E8"/>
          </a:solidFill>
          <a:ln w="12700">
            <a:solidFill>
              <a:srgbClr val="C7922C"/>
            </a:solidFill>
            <a:prstDash val="solid"/>
          </a:ln>
        </p:spPr>
      </p:sp>
      <p:sp>
        <p:nvSpPr>
          <p:cNvPr id="16" name="Text 14"/>
          <p:cNvSpPr/>
          <p:nvPr/>
        </p:nvSpPr>
        <p:spPr>
          <a:xfrm>
            <a:off x="548640" y="4050792"/>
            <a:ext cx="8046720" cy="640080"/>
          </a:xfrm>
          <a:prstGeom prst="rect">
            <a:avLst/>
          </a:prstGeom>
          <a:noFill/>
          <a:ln/>
        </p:spPr>
        <p:txBody>
          <a:bodyPr wrap="square" lIns="0" tIns="0" rIns="0" bIns="0" rtlCol="0" anchor="t"/>
          <a:lstStyle/>
          <a:p>
            <a:pPr indent="0" marL="0">
              <a:buNone/>
            </a:pPr>
            <a:r>
              <a:rPr lang="en-US" sz="1050" b="1" dirty="0">
                <a:solidFill>
                  <a:srgbClr val="C7922C"/>
                </a:solidFill>
                <a:latin typeface="Calibri" pitchFamily="34" charset="0"/>
                <a:ea typeface="Calibri" pitchFamily="34" charset="-122"/>
                <a:cs typeface="Calibri" pitchFamily="34" charset="-120"/>
              </a:rPr>
              <a:t>🫖 Show What You Know · Vocabulary
</a:t>
            </a:r>
            <a:pPr indent="0" marL="0">
              <a:buNone/>
            </a:pPr>
            <a:r>
              <a:rPr lang="en-US" sz="1050" i="1" dirty="0">
                <a:solidFill>
                  <a:srgbClr val="1E293B"/>
                </a:solidFill>
                <a:latin typeface="Calibri" pitchFamily="34" charset="0"/>
                <a:ea typeface="Calibri" pitchFamily="34" charset="-122"/>
                <a:cs typeface="Calibri" pitchFamily="34" charset="-120"/>
              </a:rPr>
              <a:t>Choose one option above and complete it. Identify your option at the top.</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Dialogue Punctuation — Explain</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Explain the rule clearly enough to teach it</a:t>
            </a:r>
            <a:endParaRPr lang="en-US" sz="1100" dirty="0"/>
          </a:p>
        </p:txBody>
      </p:sp>
      <p:sp>
        <p:nvSpPr>
          <p:cNvPr id="5" name="Shape 3"/>
          <p:cNvSpPr/>
          <p:nvPr/>
        </p:nvSpPr>
        <p:spPr>
          <a:xfrm>
            <a:off x="365760" y="1115568"/>
            <a:ext cx="8412480" cy="566928"/>
          </a:xfrm>
          <a:prstGeom prst="roundRect">
            <a:avLst>
              <a:gd name="adj" fmla="val 1612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61288"/>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In your journal: A classmate says “I never know where to put the comma when someone talks.” Write a 3–4 sentence explanation with two examples from this week’s novel chapters. Make it clear enough that your classmate could write dialogue correctly after reading your explanation.</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Dialogue Tags — Explain</a:t>
            </a:r>
            <a:endParaRPr lang="en-US" sz="2600" dirty="0"/>
          </a:p>
        </p:txBody>
      </p:sp>
      <p:sp>
        <p:nvSpPr>
          <p:cNvPr id="3" name="Shape 1"/>
          <p:cNvSpPr/>
          <p:nvPr/>
        </p:nvSpPr>
        <p:spPr>
          <a:xfrm>
            <a:off x="365760" y="749808"/>
            <a:ext cx="8412480" cy="0"/>
          </a:xfrm>
          <a:prstGeom prst="line">
            <a:avLst/>
          </a:prstGeom>
          <a:noFill/>
          <a:ln w="19050">
            <a:solidFill>
              <a:srgbClr val="0E1C42"/>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Explain why strong tags matter in storytelling</a:t>
            </a:r>
            <a:endParaRPr lang="en-US" sz="1100" dirty="0"/>
          </a:p>
        </p:txBody>
      </p:sp>
      <p:sp>
        <p:nvSpPr>
          <p:cNvPr id="5" name="Shape 3"/>
          <p:cNvSpPr/>
          <p:nvPr/>
        </p:nvSpPr>
        <p:spPr>
          <a:xfrm>
            <a:off x="365760" y="1115568"/>
            <a:ext cx="8412480" cy="566928"/>
          </a:xfrm>
          <a:prstGeom prst="roundRect">
            <a:avLst>
              <a:gd name="adj" fmla="val 16129"/>
            </a:avLst>
          </a:prstGeom>
          <a:solidFill>
            <a:srgbClr val="EEF2FA"/>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61288"/>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In your journal: Compare using “said” vs. “bellowed” vs. “muttered” in dialogue. Why does word choice in the tag matter? Use one example from this week’s reading to show the difference. Write 3–4 sentences.</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640080"/>
          </a:xfrm>
          <a:prstGeom prst="roundRect">
            <a:avLst>
              <a:gd name="adj" fmla="val 14286"/>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52144"/>
            <a:ext cx="7955280" cy="493776"/>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Six Weeks with By the Great Horn Spoon! — Week 26 — Humor &amp; Tone Analysis</a:t>
            </a:r>
            <a:endParaRPr lang="en-US" sz="1250" dirty="0"/>
          </a:p>
        </p:txBody>
      </p:sp>
      <p:sp>
        <p:nvSpPr>
          <p:cNvPr id="9" name="Text 7"/>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5CB85C"/>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084832"/>
            <a:ext cx="8412480" cy="548640"/>
          </a:xfrm>
          <a:prstGeom prst="roundRect">
            <a:avLst>
              <a:gd name="adj" fmla="val 16667"/>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139696"/>
            <a:ext cx="7955280" cy="438912"/>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Week 26 — Humor &amp; Tone Analysis</a:t>
            </a:r>
            <a:endParaRPr lang="en-US" sz="1400" dirty="0"/>
          </a:p>
        </p:txBody>
      </p:sp>
      <p:sp>
        <p:nvSpPr>
          <p:cNvPr id="12" name="Text 10"/>
          <p:cNvSpPr/>
          <p:nvPr/>
        </p:nvSpPr>
        <p:spPr>
          <a:xfrm>
            <a:off x="365760" y="274320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READING FOCUS</a:t>
            </a:r>
            <a:endParaRPr lang="en-US" sz="1100" dirty="0"/>
          </a:p>
        </p:txBody>
      </p:sp>
      <p:sp>
        <p:nvSpPr>
          <p:cNvPr id="13" name="Shape 11"/>
          <p:cNvSpPr/>
          <p:nvPr/>
        </p:nvSpPr>
        <p:spPr>
          <a:xfrm>
            <a:off x="365760" y="2999232"/>
            <a:ext cx="8412480" cy="1600200"/>
          </a:xfrm>
          <a:prstGeom prst="roundRect">
            <a:avLst>
              <a:gd name="adj" fmla="val 5714"/>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090672"/>
            <a:ext cx="7955280" cy="1417320"/>
          </a:xfrm>
          <a:prstGeom prst="rect">
            <a:avLst/>
          </a:prstGeom>
          <a:noFill/>
          <a:ln/>
        </p:spPr>
        <p:txBody>
          <a:bodyPr wrap="square" lIns="0" tIns="0" rIns="0" bIns="0" rtlCol="0" anchor="t"/>
          <a:lstStyle/>
          <a:p>
            <a:pPr indent="0" marL="0">
              <a:buNone/>
            </a:pPr>
            <a:r>
              <a:rPr lang="en-US" sz="1150" i="1" dirty="0">
                <a:solidFill>
                  <a:srgbClr val="1E293B"/>
                </a:solidFill>
                <a:latin typeface="Calibri" pitchFamily="34" charset="0"/>
                <a:ea typeface="Calibri" pitchFamily="34" charset="-122"/>
                <a:cs typeface="Calibri" pitchFamily="34" charset="-120"/>
              </a:rPr>
              <a:t>(See Reading tab for today's focus.)</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 How Fleischman Makes You Laugh</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TODAY</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1.  </a:t>
            </a:r>
            <a:pPr indent="0" marL="0">
              <a:buNone/>
            </a:pPr>
            <a:r>
              <a:rPr lang="en-US" sz="1100" dirty="0">
                <a:solidFill>
                  <a:srgbClr val="1E293B"/>
                </a:solidFill>
                <a:latin typeface="Calibri" pitchFamily="34" charset="0"/>
                <a:ea typeface="Calibri" pitchFamily="34" charset="-122"/>
                <a:cs typeface="Calibri" pitchFamily="34" charset="-120"/>
              </a:rPr>
              <a:t>Choose one scene from Chapters 4–6 that you found genuinely funny. Describe the scene, then explain which of Fleischman’s three comic techniques (comic contrast, straight face, ticking clock) makes it work — and why.</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39696"/>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2.  </a:t>
            </a:r>
            <a:pPr indent="0" marL="0">
              <a:buNone/>
            </a:pPr>
            <a:r>
              <a:rPr lang="en-US" sz="1100" dirty="0">
                <a:solidFill>
                  <a:srgbClr val="1E293B"/>
                </a:solidFill>
                <a:latin typeface="Calibri" pitchFamily="34" charset="0"/>
                <a:ea typeface="Calibri" pitchFamily="34" charset="-122"/>
                <a:cs typeface="Calibri" pitchFamily="34" charset="-120"/>
              </a:rPr>
              <a:t>Praiseworthy’s “straight face” is one of Fleischman’s main comic tools. Find one line of dialogue from any chapter this week where Praiseworthy says something completely dignified in a completely absurd situation. Quote it, then explain why the contrast makes it funny.</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27248"/>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3.  </a:t>
            </a:r>
            <a:pPr indent="0" marL="0">
              <a:buNone/>
            </a:pPr>
            <a:r>
              <a:rPr lang="en-US" sz="1100" dirty="0">
                <a:solidFill>
                  <a:srgbClr val="1E293B"/>
                </a:solidFill>
                <a:latin typeface="Calibri" pitchFamily="34" charset="0"/>
                <a:ea typeface="Calibri" pitchFamily="34" charset="-122"/>
                <a:cs typeface="Calibri" pitchFamily="34" charset="-120"/>
              </a:rPr>
              <a:t>Fleischman writes comedy that also makes you care about the characters. Think about the scenes you found funniest this week. In every case, was there something real at stake underneath the comedy? Write 3–4 sentences explaining how Fleischman balances humor and genuine stakes — and why that balance matters in adventure fiction.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STAGE: DRAFT</a:t>
            </a:r>
            <a:endParaRPr lang="en-US" sz="1100" dirty="0"/>
          </a:p>
        </p:txBody>
      </p:sp>
      <p:sp>
        <p:nvSpPr>
          <p:cNvPr id="5" name="Shape 3"/>
          <p:cNvSpPr/>
          <p:nvPr/>
        </p:nvSpPr>
        <p:spPr>
          <a:xfrm>
            <a:off x="365760" y="1097280"/>
            <a:ext cx="8412480" cy="502920"/>
          </a:xfrm>
          <a:prstGeom prst="roundRect">
            <a:avLst>
              <a:gd name="adj" fmla="val 18182"/>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1148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Week 26 closes — draft complete, add one comic moment</a:t>
            </a:r>
            <a:endParaRPr lang="en-US" sz="1300" dirty="0"/>
          </a:p>
        </p:txBody>
      </p:sp>
      <p:sp>
        <p:nvSpPr>
          <p:cNvPr id="7" name="Text 5"/>
          <p:cNvSpPr/>
          <p:nvPr/>
        </p:nvSpPr>
        <p:spPr>
          <a:xfrm>
            <a:off x="365760" y="175564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TODAY'S TASK</a:t>
            </a:r>
            <a:endParaRPr lang="en-US" sz="1100" dirty="0"/>
          </a:p>
        </p:txBody>
      </p:sp>
      <p:sp>
        <p:nvSpPr>
          <p:cNvPr id="8" name="Shape 6"/>
          <p:cNvSpPr/>
          <p:nvPr/>
        </p:nvSpPr>
        <p:spPr>
          <a:xfrm>
            <a:off x="365760" y="2011680"/>
            <a:ext cx="8412480" cy="2377440"/>
          </a:xfrm>
          <a:prstGeom prst="roundRect">
            <a:avLst>
              <a:gd name="adj" fmla="val 3846"/>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03120"/>
            <a:ext cx="8046720" cy="21945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Write your draft scene. Start in the middle of the action. Use dialogue. Show your hero’s voice.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2026-07-13T17:56:39Z</dcterms:created>
  <dcterms:modified xsi:type="dcterms:W3CDTF">2026-07-13T17:56:39Z</dcterms:modified>
</cp:coreProperties>
</file>