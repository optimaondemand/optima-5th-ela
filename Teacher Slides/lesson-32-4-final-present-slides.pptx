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32 Day 4 — Final Presentation &amp; Year-End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will you carry from this year into every book you read for the rest of your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"this year i read books about colonial girls and revolutionary apprentices and self taught navigators and gold rush stowaways and in every one of them i found something I didn't expect — a version of courage or independence or survival that didn't look like the words had always looked before"
Corrected: "This year I read books about colonial girls, revolutionary apprentices, self-taught navigators, and gold rush stowaways. In every one of them, I found something I didn't expect — a version of courage or independence or survival that didn't look like those words had always looked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"this year i read books about colonial girls and revolutionary apprentices and self taught navigators and gold rush stowaways and in every one of them i found something I didn't expect — a version of courage or independence or survival that didn't look like the words had always looked before"
Corrected: "This year I read books about colonial girls, revolutionary apprentices, self-taught navigators, and gold rush stowaways. In every one of them, I found something I didn't expect — a version of courage or independence or survival that didn't look like those words had always looked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32  ·  DAY 4</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Final Presentation &amp; Year-End Synthesis</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One year. Five novels. Thousands of pages. One reader.</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will you carry from this year into every book you read for the rest of your life?</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SWYK: </a:t>
            </a:r>
            <a:pPr indent="0" marL="0">
              <a:buNone/>
            </a:pPr>
            <a:r>
              <a:rPr lang="en-US" sz="1200" dirty="0">
                <a:solidFill>
                  <a:srgbClr val="1E293B"/>
                </a:solidFill>
                <a:latin typeface="Calibri" pitchFamily="34" charset="0"/>
                <a:ea typeface="Calibri" pitchFamily="34" charset="-122"/>
                <a:cs typeface="Calibri" pitchFamily="34" charset="-120"/>
              </a:rPr>
              <a:t>Final year-long vocabulary review.</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Present: </a:t>
            </a:r>
            <a:pPr indent="0" marL="0">
              <a:buNone/>
            </a:pPr>
            <a:r>
              <a:rPr lang="en-US" sz="1200" dirty="0">
                <a:solidFill>
                  <a:srgbClr val="1E293B"/>
                </a:solidFill>
                <a:latin typeface="Calibri" pitchFamily="34" charset="0"/>
                <a:ea typeface="Calibri" pitchFamily="34" charset="-122"/>
                <a:cs typeface="Calibri" pitchFamily="34" charset="-120"/>
              </a:rPr>
              <a:t>Deliver my final year-end portfolio.</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Synthesize: </a:t>
            </a:r>
            <a:pPr indent="0" marL="0">
              <a:buNone/>
            </a:pPr>
            <a:r>
              <a:rPr lang="en-US" sz="1200" dirty="0">
                <a:solidFill>
                  <a:srgbClr val="1E293B"/>
                </a:solidFill>
                <a:latin typeface="Calibri" pitchFamily="34" charset="0"/>
                <a:ea typeface="Calibri" pitchFamily="34" charset="-122"/>
                <a:cs typeface="Calibri" pitchFamily="34" charset="-120"/>
              </a:rPr>
              <a:t>Reflect on the full year — what reading means to me now.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Today is your last day. Write the one sentence about this year that you want your future self to read — the thing you most want to remember about who you were as a reader in 5th grade.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A reader who finishes a great book is not the same person who opened it. That is the whole point.</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Short declarative sentence after a longer one — the contrast creates weight. The short sentence is the argument; the longer one sets it up. The sentence structure of conclusions: complexity, then clarity.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this year i read books about colonial girls and revolutionary apprentices and self taught navigators and gold rush stowaways and in every one of them i found something I didn't expect — a version of courage or independence or survival that didn't look like the words had always looked before</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this year i read books about colonial girls and revolutionary apprentices and self taught navigators and gold rush stowaways and in every one of them i found something I didn't expect — a version of courage or independence or survival that didn't look like the words had always looked before</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This year I read books about colonial girls, revolutionary apprentices, self-taught navigators, and gold rush stowaways. In every one of them, I found something I didn't expect — a version of courage or independence or survival that didn't look like those words had always looked before.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Year-Long Final Review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Historical novels (Wks 1–14): defiance, conviction, tyranny, rebellion, apprentice, covenant, celestial, latitude, maritime, perseverance</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Adventure novels (Wks 25–31): fortitude, valor, tenacious, ludicrous, notoriety, exuberance, reprieve, spirited, reunion, prospector, benefactor, counsel</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Analysis vocabulary: consequently, nevertheless, furthermore, however, validity, persistence, descriptive, creativity, comparison, synthesis, perspective, evidence</a:t>
            </a:r>
            <a:endParaRPr lang="en-US" sz="1150" dirty="0"/>
          </a:p>
        </p:txBody>
      </p:sp>
      <p:sp>
        <p:nvSpPr>
          <p:cNvPr id="10" name="Shape 8"/>
          <p:cNvSpPr/>
          <p:nvPr/>
        </p:nvSpPr>
        <p:spPr>
          <a:xfrm>
            <a:off x="365760" y="2642616"/>
            <a:ext cx="8412480" cy="1371600"/>
          </a:xfrm>
          <a:prstGeom prst="roundRect">
            <a:avLst>
              <a:gd name="adj" fmla="val 6667"/>
            </a:avLst>
          </a:prstGeom>
          <a:solidFill>
            <a:srgbClr val="FEF6E8"/>
          </a:solidFill>
          <a:ln w="12700">
            <a:solidFill>
              <a:srgbClr val="C7922C"/>
            </a:solidFill>
            <a:prstDash val="solid"/>
          </a:ln>
        </p:spPr>
      </p:sp>
      <p:sp>
        <p:nvSpPr>
          <p:cNvPr id="11" name="Text 9"/>
          <p:cNvSpPr/>
          <p:nvPr/>
        </p:nvSpPr>
        <p:spPr>
          <a:xfrm>
            <a:off x="548640" y="2715768"/>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Choose six words from the year — two from the historical novels (Wks 1–14), two from the adventure novels (Wks 25–31), and two from the analysis vocabulary. For each: define it in your own words and write one sentence that could appear in a 6th-grade essay about theme, character, or argument.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Final Reflection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If you had to give a new 5th grader one piece of advice about root study, what would it be? Write 2–3 sentences — practical, specific, honest.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Final Conventions — One Last Check</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Punctuation: commas · dialogue · apostrophes · semicolons · em dashes</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Capitalization: proper nouns · titles · first words of sentences and quotations</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Clarity: no run-ons · no dangling modifiers · consistent verb tense</a:t>
            </a:r>
            <a:endParaRPr lang="en-US" sz="1150" dirty="0"/>
          </a:p>
        </p:txBody>
      </p:sp>
      <p:sp>
        <p:nvSpPr>
          <p:cNvPr id="10" name="Shape 8"/>
          <p:cNvSpPr/>
          <p:nvPr/>
        </p:nvSpPr>
        <p:spPr>
          <a:xfrm>
            <a:off x="365760" y="25694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15184"/>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Sentence variety · ✓ Voice: Does this sound like YOU?</a:t>
            </a:r>
            <a:endParaRPr lang="en-US" sz="1150" dirty="0"/>
          </a:p>
        </p:txBody>
      </p:sp>
      <p:sp>
        <p:nvSpPr>
          <p:cNvPr id="12" name="Shape 10"/>
          <p:cNvSpPr/>
          <p:nvPr/>
        </p:nvSpPr>
        <p:spPr>
          <a:xfrm>
            <a:off x="365760" y="3209544"/>
            <a:ext cx="8412480" cy="1005840"/>
          </a:xfrm>
          <a:prstGeom prst="roundRect">
            <a:avLst>
              <a:gd name="adj" fmla="val 9091"/>
            </a:avLst>
          </a:prstGeom>
          <a:solidFill>
            <a:srgbClr val="FEF6E8"/>
          </a:solidFill>
          <a:ln w="12700">
            <a:solidFill>
              <a:srgbClr val="C7922C"/>
            </a:solidFill>
            <a:prstDash val="solid"/>
          </a:ln>
        </p:spPr>
      </p:sp>
      <p:sp>
        <p:nvSpPr>
          <p:cNvPr id="13" name="Text 11"/>
          <p:cNvSpPr/>
          <p:nvPr/>
        </p:nvSpPr>
        <p:spPr>
          <a:xfrm>
            <a:off x="548640" y="3282696"/>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Read your final portfolio one last time. Mark any remaining comma, capitalization, or punctuation issue. Make the correction. Sign your name at the bottom — this version is your final submission.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Year-End Synthesis: What Reading Made of You</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questions worth answering honestly — one last time</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Witch of Blackbird Pond (Wks 1–6): Kit Tyler learns that belonging requires risk — and that the most dangerous communities are the ones that fear difference.</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Johnny Tremain (Wks 7–8): A boy with a burned hand discovers that revolution requires conviction about what you're willing to lose.</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Carry On, Mr. Bowditch (Wks 9–14): A self-taught sailor proves that the only map worth making is the one no one else has charted yet.</a:t>
            </a:r>
            <a:endParaRPr lang="en-US" sz="1100" dirty="0"/>
          </a:p>
        </p:txBody>
      </p:sp>
      <p:sp>
        <p:nvSpPr>
          <p:cNvPr id="11" name="Shape 9"/>
          <p:cNvSpPr/>
          <p:nvPr/>
        </p:nvSpPr>
        <p:spPr>
          <a:xfrm>
            <a:off x="365760" y="2752344"/>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9806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By the Great Horn Spoon! (Wks 25–30): A butler and a boy discover that courage is quiet, resourcefulness beats a map, and California is better than Boston.</a:t>
            </a:r>
            <a:endParaRPr lang="en-US" sz="1100" dirty="0"/>
          </a:p>
        </p:txBody>
      </p:sp>
      <p:sp>
        <p:nvSpPr>
          <p:cNvPr id="13" name="Shape 11"/>
          <p:cNvSpPr/>
          <p:nvPr/>
        </p:nvSpPr>
        <p:spPr>
          <a:xfrm>
            <a:off x="365760" y="331927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364992"/>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Cross-Text Comparison (Wk 31): All four novels, one question — what does it mean to keep going when going is hard?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Year-End Synthesis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Which of the year's novels surprised you most — not in plot, but in what it made you feel or think or question? Describe the surprise in 3–4 sentences. What did you expect, what actually happened inside you, and why does that gap matter?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Year-End Synthesis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If you could recommend ONE book from this year to a future 5th grader, which would you choose and why? Include at least one thing you loved AND one thing that was genuinely hard.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Year-End Synthesis Question 3 — The Final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Complete this sentence and expand it into the last reflection you'll write in 5th Grade ELA: "A reader who finishes a great book is not the same person who opened it. This year, the book that changed me most was ___, because..." End with the one sentence about reading you want to be true for the rest of your life.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34B76F"/>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34B76F"/>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C7922C"/>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Present</a:t>
            </a:r>
            <a:endParaRPr lang="en-US" sz="1100" dirty="0"/>
          </a:p>
        </p:txBody>
      </p:sp>
      <p:sp>
        <p:nvSpPr>
          <p:cNvPr id="12" name="Shape 10"/>
          <p:cNvSpPr/>
          <p:nvPr/>
        </p:nvSpPr>
        <p:spPr>
          <a:xfrm>
            <a:off x="365760" y="1371600"/>
            <a:ext cx="8412480" cy="868680"/>
          </a:xfrm>
          <a:prstGeom prst="roundRect">
            <a:avLst>
              <a:gd name="adj" fmla="val 10526"/>
            </a:avLst>
          </a:prstGeom>
          <a:solidFill>
            <a:srgbClr val="F0E8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1444752"/>
            <a:ext cx="8046720" cy="722376"/>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You did it. Five novels. Thirty-two weeks. You read about a girl accused of witchcraft in 1687, an apprentice silversmith in 1775, a self-taught navigator in the 1800s, a butler and a boy crossing 15,000 miles in 1849, and then compared them all. You are not the reader who started this year. That is the whole point.</a:t>
            </a:r>
            <a:endParaRPr lang="en-US" sz="1150" dirty="0"/>
          </a:p>
        </p:txBody>
      </p:sp>
      <p:sp>
        <p:nvSpPr>
          <p:cNvPr id="14" name="Text 12"/>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FINAL PORTFOLIO SUBMISSION CHECKLIST</a:t>
            </a:r>
            <a:endParaRPr lang="en-US" sz="1100" dirty="0"/>
          </a:p>
        </p:txBody>
      </p:sp>
      <p:sp>
        <p:nvSpPr>
          <p:cNvPr id="15" name="Shape 13"/>
          <p:cNvSpPr/>
          <p:nvPr/>
        </p:nvSpPr>
        <p:spPr>
          <a:xfrm>
            <a:off x="365760" y="267004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70662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Part 1 (Reader's Portrait): specific, honest, two changes named and traced</a:t>
            </a:r>
            <a:endParaRPr lang="en-US" sz="1050" dirty="0"/>
          </a:p>
        </p:txBody>
      </p:sp>
      <p:sp>
        <p:nvSpPr>
          <p:cNvPr id="17" name="Shape 15"/>
          <p:cNvSpPr/>
          <p:nvPr/>
        </p:nvSpPr>
        <p:spPr>
          <a:xfrm>
            <a:off x="365760" y="318211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21868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Part 2 (Text Spotlight): intro + excerpt + reflection — your voice, not a summary</a:t>
            </a:r>
            <a:endParaRPr lang="en-US" sz="1050" dirty="0"/>
          </a:p>
        </p:txBody>
      </p:sp>
      <p:sp>
        <p:nvSpPr>
          <p:cNvPr id="19" name="Shape 17"/>
          <p:cNvSpPr/>
          <p:nvPr/>
        </p:nvSpPr>
        <p:spPr>
          <a:xfrm>
            <a:off x="365760" y="369417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73075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Part 3 (Writer's Statement): one technique + how you applied it + what changed</a:t>
            </a:r>
            <a:endParaRPr lang="en-US" sz="1050" dirty="0"/>
          </a:p>
        </p:txBody>
      </p:sp>
      <p:sp>
        <p:nvSpPr>
          <p:cNvPr id="21" name="Shape 19"/>
          <p:cNvSpPr/>
          <p:nvPr/>
        </p:nvSpPr>
        <p:spPr>
          <a:xfrm>
            <a:off x="365760" y="42062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22" name="Text 20"/>
          <p:cNvSpPr/>
          <p:nvPr/>
        </p:nvSpPr>
        <p:spPr>
          <a:xfrm>
            <a:off x="548640" y="4242816"/>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Final closing sentence: the one only you could write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Submit your final portfolio here. This is the version your teacher will read and hear.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answered all three Year-End Synthesis questions — including my final sentence about reading.</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Vocabulary Final SWYK — six words across all three vocabulary groups.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submitted my final year-end portfolio — all three parts, final version.</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finished 5th Grade ELA. A reader who finishes a great book is not the same person who opened it.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