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4, Day 2,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does it cost to stand up for freedom, and how do people find the courage to resist when the powerful arrive at their door?
Reading: I will identify how theme develops through repeated conflicts—the political crisis over the charter and Kit’s growing understanding of her uncle’s courage.
Grammar: I will identify verb tense consistency and spot tense shifts in sentences from the novel.
Spelling: I will sort words by accent and syllable stress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"william arrives at midnight yesterday and is reporting that the charter vanish from the table"
Corrected: "William arrived at midnight yesterday and reported that the charter had vanished from the table."
Compare with the model: “arrives” should be “arrived” (past tense). “Is reporting” should be “reported” (consistent past tense). “Vanish” should be “had vanished” (past perfect). Capitalize “William.”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"william arrives at midnight yesterday and is reporting that the charter vanish from the table"
Corrected: "William arrived at midnight yesterday and reported that the charter had vanished from the table."
Compare with the model: “arrives” should be “arrived” (past tense). “Is reporting” should be “reported” (consistent past tense). “Vanish” should be “had vanished” (past perfect). Capitalize “William.”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word I could 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Accent &amp; Syllable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15 — The Charter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4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15 — Political Crisis &amp; the Charter</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4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does it cost to stand up for freedom, and how do people find the courage to resist when the powerful arrive at their door?</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identify how theme develops through repeated conflicts—the political crisis over the charter and Kit’s growing understanding of her uncle’s courage.</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identify verb tense consistency and spot tense shifts in sentences from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sort words by accent and syllable stress pattern.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Today, watch how the political crisis brings out hidden sides of familiar characters. William surprises everyone by attending the meeting at Matthew’s house. Kit surprises herself by feeling proud of her uncle. Notice how the same conflict—freedom versus control—plays out in the colony and inside Kit.</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William’s unexpected appearance at Matthew’s meeting change what you think about him? What might have pushed him to switch sides?</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When Kit lies in bed and realizes she is proud of her uncle, what has changed inside her since arriving in Connecticut?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William arrived at midnight and reported that the charter had vanished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William  </a:t>
            </a:r>
            <a:pPr indent="0" marL="0">
              <a:buNone/>
            </a:pPr>
            <a:r>
              <a:rPr lang="en-US" sz="1200" dirty="0">
                <a:solidFill>
                  <a:srgbClr val="1E293B"/>
                </a:solidFill>
                <a:latin typeface="Calibri" pitchFamily="34" charset="0"/>
                <a:ea typeface="Calibri" pitchFamily="34" charset="-122"/>
                <a:cs typeface="Calibri" pitchFamily="34" charset="-120"/>
              </a:rPr>
              <a:t>William is a proper name and starts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arrived  </a:t>
            </a:r>
            <a:pPr indent="0" marL="0">
              <a:buNone/>
            </a:pPr>
            <a:r>
              <a:rPr lang="en-US" sz="1200" dirty="0">
                <a:solidFill>
                  <a:srgbClr val="1E293B"/>
                </a:solidFill>
                <a:latin typeface="Calibri" pitchFamily="34" charset="0"/>
                <a:ea typeface="Calibri" pitchFamily="34" charset="-122"/>
                <a:cs typeface="Calibri" pitchFamily="34" charset="-120"/>
              </a:rPr>
              <a:t>“Arrived” is past tense, matching the rest of the narrative.</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reported  </a:t>
            </a:r>
            <a:pPr indent="0" marL="0">
              <a:buNone/>
            </a:pPr>
            <a:r>
              <a:rPr lang="en-US" sz="1200" dirty="0">
                <a:solidFill>
                  <a:srgbClr val="1E293B"/>
                </a:solidFill>
                <a:latin typeface="Calibri" pitchFamily="34" charset="0"/>
                <a:ea typeface="Calibri" pitchFamily="34" charset="-122"/>
                <a:cs typeface="Calibri" pitchFamily="34" charset="-120"/>
              </a:rPr>
              <a:t>“Reported” stays in past tense to keep the verb tense consistent.</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had vanished  </a:t>
            </a:r>
            <a:pPr indent="0" marL="0">
              <a:buNone/>
            </a:pPr>
            <a:r>
              <a:rPr lang="en-US" sz="1200" dirty="0">
                <a:solidFill>
                  <a:srgbClr val="1E293B"/>
                </a:solidFill>
                <a:latin typeface="Calibri" pitchFamily="34" charset="0"/>
                <a:ea typeface="Calibri" pitchFamily="34" charset="-122"/>
                <a:cs typeface="Calibri" pitchFamily="34" charset="-120"/>
              </a:rPr>
              <a:t>“Had vanished” is past perfect, showing this event happened before William arrived.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william arrives at midnight yesterday and is reporting that the charter vanish from the table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william arrives at midnight yesterday and is reporting that the charter vanish from the table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William arrived at midnight yesterday and reported that the charter had vanished from the table.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“arrives” should be “arrived” (past tense). “Is reporting” should be “reported” (consistent past tense). “Vanish” should be “had vanished” (past perfect). Capitalize “William.”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“Freedom”</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Olive Runner</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Freedom is a hard-bought thing—</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 gift no man can give,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For some, a survey and a chart,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For some, a survey and a chart,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For some, the right to live.</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The colonists risked everything to protect their charter. How does this poem’s idea that freedom is “a hard-bought thing” connect to Matthew’s words about showing the world “what it means to be free men”?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Whose idea of freedom matters more in this chapter — Matthew's, who wants to "show the world what it means to be free men," or Kit's, who is only beginning to understand it? Defend your choice with evidence. Someone might disagree and say freedom means the same thing to both of them.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Whose idea of freedom matters more in this chapter — Matthew's, who wants to "show the world what it means to be free men," or Kit's, who is only beginning to understand it? Defend your choice with evidence. Someone might disagree and say freedom means the same thing to both of them.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word I could use 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-able / -ible</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comfort → comfortable — Kit felt comfortable among the men at Matthew’s meeting | remark → remarkable — William’s change of heart was remarkable | resist → irresistible — The colonists found the urge to defy the governor irresistible | notice → noticeable — The tension in the room was noticeable | depend → dependable — Matthew proved to be a dependable leader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Sort or Match</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15 · Quick match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Verb Tense Consistency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tense shifts in novel-inspired sentences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Consistent: “The men gathered at Matthew’s house and argued about the charter.” — Both verbs are past tense. Inconsistent: “The men gathered at Matthew’s house and argue about the charter.” — The shift from past to present is jarring. Watch for: Past perfect (“had vanished”) is fine when an event happened before the main action.</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angry men gathered at Matthew’s house and debates the future of the charter.
</a:t>
            </a:r>
            <a:pPr indent="0" marL="0">
              <a:buNone/>
            </a:pPr>
            <a:r>
              <a:rPr lang="en-US" sz="1100" dirty="0">
                <a:solidFill>
                  <a:srgbClr val="64748B"/>
                </a:solidFill>
                <a:latin typeface="Calibri" pitchFamily="34" charset="0"/>
                <a:ea typeface="Calibri" pitchFamily="34" charset="-122"/>
                <a:cs typeface="Calibri" pitchFamily="34" charset="-120"/>
              </a:rPr>
              <a:t>gathered   /   debates   /   future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watched the soldiers march into Hartford and feels a thrill of recognition.
</a:t>
            </a:r>
            <a:pPr indent="0" marL="0">
              <a:buNone/>
            </a:pPr>
            <a:r>
              <a:rPr lang="en-US" sz="1100" dirty="0">
                <a:solidFill>
                  <a:srgbClr val="64748B"/>
                </a:solidFill>
                <a:latin typeface="Calibri" pitchFamily="34" charset="0"/>
                <a:ea typeface="Calibri" pitchFamily="34" charset="-122"/>
                <a:cs typeface="Calibri" pitchFamily="34" charset="-120"/>
              </a:rPr>
              <a:t>watched   /   feels   /   recognition</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William knocked on the door and explains that he had changed his mind about the taxes.
</a:t>
            </a:r>
            <a:pPr indent="0" marL="0">
              <a:buNone/>
            </a:pPr>
            <a:r>
              <a:rPr lang="en-US" sz="1100" dirty="0">
                <a:solidFill>
                  <a:srgbClr val="64748B"/>
                </a:solidFill>
                <a:latin typeface="Calibri" pitchFamily="34" charset="0"/>
                <a:ea typeface="Calibri" pitchFamily="34" charset="-122"/>
                <a:cs typeface="Calibri" pitchFamily="34" charset="-120"/>
              </a:rPr>
              <a:t>knocked   /   explains   /   changed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Verb Tense Consistency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tense shifts in novel-inspired sentences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Consistent: “The men gathered at Matthew’s house and argued about the charter.” — Both verbs are past tense. Inconsistent: “The men gathered at Matthew’s house and argue about the charter.” — The shift from past to present is jarring. Watch for: Past perfect (“had vanished”) is fine when an event happened before the main action.</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angry men gathered at Matthew’s house and debates the future of the charter.
</a:t>
            </a:r>
            <a:pPr indent="0" marL="0">
              <a:buNone/>
            </a:pPr>
            <a:r>
              <a:rPr lang="en-US" sz="1200" b="1" dirty="0">
                <a:solidFill>
                  <a:srgbClr val="34B76F"/>
                </a:solidFill>
                <a:latin typeface="Calibri" pitchFamily="34" charset="0"/>
                <a:ea typeface="Calibri" pitchFamily="34" charset="-122"/>
                <a:cs typeface="Calibri" pitchFamily="34" charset="-120"/>
              </a:rPr>
              <a:t>✅ debates</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watched the soldiers march into Hartford and feels a thrill of recognition.
</a:t>
            </a:r>
            <a:pPr indent="0" marL="0">
              <a:buNone/>
            </a:pPr>
            <a:r>
              <a:rPr lang="en-US" sz="1200" b="1" dirty="0">
                <a:solidFill>
                  <a:srgbClr val="34B76F"/>
                </a:solidFill>
                <a:latin typeface="Calibri" pitchFamily="34" charset="0"/>
                <a:ea typeface="Calibri" pitchFamily="34" charset="-122"/>
                <a:cs typeface="Calibri" pitchFamily="34" charset="-120"/>
              </a:rPr>
              <a:t>✅ feels</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William knocked on the door and explains that he had changed his mind about the taxes.
</a:t>
            </a:r>
            <a:pPr indent="0" marL="0">
              <a:buNone/>
            </a:pPr>
            <a:r>
              <a:rPr lang="en-US" sz="1200" b="1" dirty="0">
                <a:solidFill>
                  <a:srgbClr val="34B76F"/>
                </a:solidFill>
                <a:latin typeface="Calibri" pitchFamily="34" charset="0"/>
                <a:ea typeface="Calibri" pitchFamily="34" charset="-122"/>
                <a:cs typeface="Calibri" pitchFamily="34" charset="-120"/>
              </a:rPr>
              <a:t>✅ explains</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00" i="1" dirty="0">
                <a:solidFill>
                  <a:srgbClr val="1E293B"/>
                </a:solidFill>
                <a:latin typeface="Calibri" pitchFamily="34" charset="0"/>
                <a:ea typeface="Calibri" pitchFamily="34" charset="-122"/>
                <a:cs typeface="Calibri" pitchFamily="34" charset="-120"/>
              </a:rPr>
              <a:t>Rewrite this passage so all the verb tenses are consistent (past tense). Fix every verb that shifts incorrectly: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Accent &amp; Syllable Stress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stress pattern</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Stress on 1st Syllable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desperate  ·  discipline  ·  remarkable  ·  acknowledge</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Stress on 2nd Syllable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magnificent  ·  defiance  ·  obedience  ·  reception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“We will bring our charter out of hiding and begin again, and we will show the world what it means to be free men.”</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is Matthew really saying here? This is not just about a document—it is about identity. What does “free men” mean to Matthew and the colonists?</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Notice how Speare gives Matthew the strongest line in the chapter. He does not say “we want our charter back.” He says they will “show the world.” How does word choice turn a political statement into a theme statement about freedom?</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a theme statement about Chapter 15. Do not use one-word themes like “freedom.” Instead, write a complete sentence that captures what the chapter shows about freedom. Use the frame below.</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In Chapter 15, Speare shows that freedom is not just ___; it is also ___.</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15 — The Charter Disappears</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15 — Political Crisis &amp; the Charter</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How does William’s unexpected appearance at Matthew’s meeting change what you think about him? What might have pushed him to switch sides?</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When Kit lies in bed and realizes she is proud of her uncle, what has changed inside her since arriving in Connecticut?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is Kit surprised that William attends the political meeting at Matthew’s house? What does his presence reveal about his character?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What does the disappearance of the charter reveal about what the colonists value most? Why do they risk hiding it?</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Why does Kit feel proud of her uncle at the end of the chapter? What has she come to understand about him that she did not see before?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Matthew says they will “show the world what it means to be free men.” Write 2–3 sentences explaining what freedom means to Matthew versus what it means to Kit. How are their ideas of freedom different or similar?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