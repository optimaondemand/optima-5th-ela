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Week 32 Day 3 — Final Presentation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What does it mean to revise a reflection — not just correct errors, but find the truest version of what you want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Journal warm-up before diving into word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no answer required — discuss why each part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revised my portfolio today and found that the part i thought was the strongest was actually to vague so i replaced it with a specific moment from carry on mr bowditch where nat bowditch stays up all night calculating longitude which is what i think persistence really means"
Corrected: "I revised my portfolio today and found that the part I thought was the strongest was actually too vague, so I replaced it with a specific moment from Carry On, Mr. Bowditch where Nat Bowditch stays up all night calculating longitude — which is what I think persistence really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"i revised my portfolio today and found that the part i thought was the strongest was actually to vague so i replaced it with a specific moment from carry on mr bowditch where nat bowditch stays up all night calculating longitude which is what i think persistence really means"
Corrected: "I revised my portfolio today and found that the part I thought was the strongest was actually too vague, so I replaced it with a specific moment from Carry On, Mr. Bowditch where Nat Bowditch stays up all night calculating longitude — which is what I think persistence really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Graded SWYK strand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journal reflection — no formal grading.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concept for today's reading/project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 journal prompt — students respond in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progress: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writing time — this is the day's graded writing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checklist before students submit to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34B76F">
              <a:alpha val="15000"/>
            </a:srgbClr>
          </a:solidFill>
          <a:ln/>
        </p:spPr>
      </p:sp>
      <p:sp>
        <p:nvSpPr>
          <p:cNvPr id="3" name="Text 1"/>
          <p:cNvSpPr/>
          <p:nvPr/>
        </p:nvSpPr>
        <p:spPr>
          <a:xfrm>
            <a:off x="457200" y="457200"/>
            <a:ext cx="8229600" cy="365760"/>
          </a:xfrm>
          <a:prstGeom prst="rect">
            <a:avLst/>
          </a:prstGeom>
          <a:noFill/>
          <a:ln/>
        </p:spPr>
        <p:txBody>
          <a:bodyPr wrap="square" lIns="0" tIns="0" rIns="0" bIns="0" rtlCol="0" anchor="ctr"/>
          <a:lstStyle/>
          <a:p>
            <a:pPr algn="l" indent="0" marL="0">
              <a:buNone/>
            </a:pPr>
            <a:r>
              <a:rPr lang="en-US" sz="1300" b="1" spc="400" kern="0" dirty="0">
                <a:solidFill>
                  <a:srgbClr val="34B76F"/>
                </a:solidFill>
                <a:latin typeface="Calibri" pitchFamily="34" charset="0"/>
                <a:ea typeface="Calibri" pitchFamily="34" charset="-122"/>
                <a:cs typeface="Calibri" pitchFamily="34" charset="-120"/>
              </a:rPr>
              <a:t>WEEK 32  ·  DAY 3</a:t>
            </a:r>
            <a:endParaRPr lang="en-US" sz="1300" dirty="0"/>
          </a:p>
        </p:txBody>
      </p:sp>
      <p:sp>
        <p:nvSpPr>
          <p:cNvPr id="4" name="Text 2"/>
          <p:cNvSpPr/>
          <p:nvPr/>
        </p:nvSpPr>
        <p:spPr>
          <a:xfrm>
            <a:off x="457200" y="822960"/>
            <a:ext cx="8229600" cy="365760"/>
          </a:xfrm>
          <a:prstGeom prst="rect">
            <a:avLst/>
          </a:prstGeom>
          <a:noFill/>
          <a:ln/>
        </p:spPr>
        <p:txBody>
          <a:bodyPr wrap="square" lIns="0" tIns="0" rIns="0" bIns="0" rtlCol="0" anchor="ctr"/>
          <a:lstStyle/>
          <a:p>
            <a:pPr algn="l" indent="0" marL="0">
              <a:buNone/>
            </a:pPr>
            <a:r>
              <a:rPr lang="en-US" sz="1400" dirty="0">
                <a:solidFill>
                  <a:srgbClr val="FFFFFF"/>
                </a:solidFill>
                <a:latin typeface="Calibri" pitchFamily="34" charset="0"/>
                <a:ea typeface="Calibri" pitchFamily="34" charset="-122"/>
                <a:cs typeface="Calibri" pitchFamily="34" charset="-120"/>
              </a:rPr>
              <a:t>Year-End Synthesis · 5th Grade ELA</a:t>
            </a:r>
            <a:endParaRPr lang="en-US" sz="1400" dirty="0"/>
          </a:p>
        </p:txBody>
      </p:sp>
      <p:sp>
        <p:nvSpPr>
          <p:cNvPr id="5" name="Text 3"/>
          <p:cNvSpPr/>
          <p:nvPr/>
        </p:nvSpPr>
        <p:spPr>
          <a:xfrm>
            <a:off x="457200" y="1234440"/>
            <a:ext cx="8229600" cy="1280160"/>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Final Presentation Preparation</a:t>
            </a:r>
            <a:endParaRPr lang="en-US" sz="3000" dirty="0"/>
          </a:p>
        </p:txBody>
      </p:sp>
      <p:sp>
        <p:nvSpPr>
          <p:cNvPr id="6" name="Text 4"/>
          <p:cNvSpPr/>
          <p:nvPr/>
        </p:nvSpPr>
        <p:spPr>
          <a:xfrm>
            <a:off x="457200" y="2468880"/>
            <a:ext cx="8229600" cy="548640"/>
          </a:xfrm>
          <a:prstGeom prst="rect">
            <a:avLst/>
          </a:prstGeom>
          <a:noFill/>
          <a:ln/>
        </p:spPr>
        <p:txBody>
          <a:bodyPr wrap="square" lIns="0" tIns="0" rIns="0" bIns="0" rtlCol="0" anchor="ctr"/>
          <a:lstStyle/>
          <a:p>
            <a:pPr algn="l" indent="0" marL="0">
              <a:buNone/>
            </a:pPr>
            <a:r>
              <a:rPr lang="en-US" sz="1400" i="1" dirty="0">
                <a:solidFill>
                  <a:srgbClr val="34B76F"/>
                </a:solidFill>
                <a:latin typeface="Georgia" pitchFamily="34" charset="0"/>
                <a:ea typeface="Georgia" pitchFamily="34" charset="-122"/>
                <a:cs typeface="Georgia" pitchFamily="34" charset="-120"/>
              </a:rPr>
              <a:t>Revise, rehearse, and make it yours</a:t>
            </a:r>
            <a:endParaRPr lang="en-US" sz="1400" dirty="0"/>
          </a:p>
        </p:txBody>
      </p:sp>
      <p:sp>
        <p:nvSpPr>
          <p:cNvPr id="7" name="Text 5"/>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Year-End Synthesis  ·  Portfolio &amp;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Today's Big Question</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914400"/>
            <a:ext cx="8412480" cy="1188720"/>
          </a:xfrm>
          <a:prstGeom prst="roundRect">
            <a:avLst>
              <a:gd name="adj" fmla="val 7692"/>
            </a:avLst>
          </a:prstGeom>
          <a:solidFill>
            <a:srgbClr val="F0E8FF"/>
          </a:solidFill>
          <a:ln/>
          <a:effectLst>
            <a:outerShdw sx="100000" sy="100000" kx="0" ky="0" algn="bl" rotWithShape="0" blurRad="101600" dist="38100" dir="2700000">
              <a:srgbClr val="000000">
                <a:alpha val="12000"/>
              </a:srgbClr>
            </a:outerShdw>
          </a:effectLst>
        </p:spPr>
      </p:sp>
      <p:sp>
        <p:nvSpPr>
          <p:cNvPr id="5" name="Text 3"/>
          <p:cNvSpPr/>
          <p:nvPr/>
        </p:nvSpPr>
        <p:spPr>
          <a:xfrm>
            <a:off x="594360" y="1024128"/>
            <a:ext cx="7955280" cy="969264"/>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What does it mean to revise a reflection — not just correct errors, but find the truest version of what you want to say?</a:t>
            </a:r>
            <a:endParaRPr lang="en-US" sz="1600" dirty="0"/>
          </a:p>
        </p:txBody>
      </p:sp>
      <p:sp>
        <p:nvSpPr>
          <p:cNvPr id="6" name="Text 4"/>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TODAY'S ARC</a:t>
            </a:r>
            <a:endParaRPr lang="en-US" sz="1100" dirty="0"/>
          </a:p>
        </p:txBody>
      </p:sp>
      <p:sp>
        <p:nvSpPr>
          <p:cNvPr id="7" name="Shape 5"/>
          <p:cNvSpPr/>
          <p:nvPr/>
        </p:nvSpPr>
        <p:spPr>
          <a:xfrm>
            <a:off x="365760" y="2578608"/>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633472"/>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00" dirty="0">
                <a:solidFill>
                  <a:srgbClr val="1E293B"/>
                </a:solidFill>
                <a:latin typeface="Calibri" pitchFamily="34" charset="0"/>
                <a:ea typeface="Calibri" pitchFamily="34" charset="-122"/>
                <a:cs typeface="Calibri" pitchFamily="34" charset="-120"/>
              </a:rPr>
              <a:t>I will edit my full portfolio draft for all grade-level spelling.</a:t>
            </a:r>
            <a:endParaRPr lang="en-US" sz="1500" dirty="0"/>
          </a:p>
        </p:txBody>
      </p:sp>
      <p:sp>
        <p:nvSpPr>
          <p:cNvPr id="9" name="Shape 7"/>
          <p:cNvSpPr/>
          <p:nvPr/>
        </p:nvSpPr>
        <p:spPr>
          <a:xfrm>
            <a:off x="365760" y="3273552"/>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328416"/>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Portfolio: </a:t>
            </a:r>
            <a:pPr indent="0" marL="0">
              <a:buNone/>
            </a:pPr>
            <a:r>
              <a:rPr lang="en-US" sz="1200" dirty="0">
                <a:solidFill>
                  <a:srgbClr val="1E293B"/>
                </a:solidFill>
                <a:latin typeface="Calibri" pitchFamily="34" charset="0"/>
                <a:ea typeface="Calibri" pitchFamily="34" charset="-122"/>
                <a:cs typeface="Calibri" pitchFamily="34" charset="-120"/>
              </a:rPr>
              <a:t>I will make at least three targeted revisions to my draft.</a:t>
            </a:r>
            <a:endParaRPr lang="en-US" sz="1500" dirty="0"/>
          </a:p>
        </p:txBody>
      </p:sp>
      <p:sp>
        <p:nvSpPr>
          <p:cNvPr id="11" name="Shape 9"/>
          <p:cNvSpPr/>
          <p:nvPr/>
        </p:nvSpPr>
        <p:spPr>
          <a:xfrm>
            <a:off x="365760" y="3968496"/>
            <a:ext cx="8412480" cy="621792"/>
          </a:xfrm>
          <a:prstGeom prst="roundRect">
            <a:avLst>
              <a:gd name="adj" fmla="val 14706"/>
            </a:avLst>
          </a:prstGeom>
          <a:solidFill>
            <a:srgbClr val="F8FAFC"/>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4023360"/>
            <a:ext cx="8046720" cy="512064"/>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Rehearsal: </a:t>
            </a:r>
            <a:pPr indent="0" marL="0">
              <a:buNone/>
            </a:pPr>
            <a:r>
              <a:rPr lang="en-US" sz="1200" dirty="0">
                <a:solidFill>
                  <a:srgbClr val="1E293B"/>
                </a:solidFill>
                <a:latin typeface="Calibri" pitchFamily="34" charset="0"/>
                <a:ea typeface="Calibri" pitchFamily="34" charset="-122"/>
                <a:cs typeface="Calibri" pitchFamily="34" charset="-120"/>
              </a:rPr>
              <a:t>I will read my full portfolio aloud twice and time it.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Reading Journal — Before You Begin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REFLECT FIRST</a:t>
            </a:r>
            <a:endParaRPr lang="en-US" sz="1100" dirty="0"/>
          </a:p>
        </p:txBody>
      </p:sp>
      <p:sp>
        <p:nvSpPr>
          <p:cNvPr id="5" name="Shape 3"/>
          <p:cNvSpPr/>
          <p:nvPr/>
        </p:nvSpPr>
        <p:spPr>
          <a:xfrm>
            <a:off x="365760" y="1097280"/>
            <a:ext cx="8412480" cy="2194560"/>
          </a:xfrm>
          <a:prstGeom prst="roundRect">
            <a:avLst>
              <a:gd name="adj" fmla="val 4167"/>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1920240"/>
          </a:xfrm>
          <a:prstGeom prst="rect">
            <a:avLst/>
          </a:prstGeom>
          <a:noFill/>
          <a:ln/>
        </p:spPr>
        <p:txBody>
          <a:bodyPr wrap="square" lIns="0" tIns="0" rIns="0" bIns="0" rtlCol="0" anchor="t"/>
          <a:lstStyle/>
          <a:p>
            <a:pPr indent="0" marL="0">
              <a:buNone/>
            </a:pPr>
            <a:r>
              <a:rPr lang="en-US" sz="1600" i="1" dirty="0">
                <a:solidFill>
                  <a:srgbClr val="1E293B"/>
                </a:solidFill>
                <a:latin typeface="Georgia" pitchFamily="34" charset="0"/>
                <a:ea typeface="Georgia" pitchFamily="34" charset="-122"/>
                <a:cs typeface="Georgia" pitchFamily="34" charset="-120"/>
              </a:rPr>
              <a:t>Read your portfolio draft aloud, slowly, as if hearing it for the first time. Which sentence feels most true to who you actually are as a reader? Which sentence feels like a placeholder? Write one of each.</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Study What's Right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MODEL SENTENCE</a:t>
            </a:r>
            <a:endParaRPr lang="en-US" sz="1100" dirty="0"/>
          </a:p>
        </p:txBody>
      </p:sp>
      <p:sp>
        <p:nvSpPr>
          <p:cNvPr id="5" name="Shape 3"/>
          <p:cNvSpPr/>
          <p:nvPr/>
        </p:nvSpPr>
        <p:spPr>
          <a:xfrm>
            <a:off x="365760" y="1078992"/>
            <a:ext cx="8412480" cy="1051560"/>
          </a:xfrm>
          <a:prstGeom prst="roundRect">
            <a:avLst>
              <a:gd name="adj" fmla="val 8696"/>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The most honest sentence in any portfolio is the one that surprises even the writer when they read it back.</a:t>
            </a:r>
            <a:endParaRPr lang="en-US" sz="1500" dirty="0"/>
          </a:p>
        </p:txBody>
      </p:sp>
      <p:sp>
        <p:nvSpPr>
          <p:cNvPr id="7" name="Text 5"/>
          <p:cNvSpPr/>
          <p:nvPr/>
        </p:nvSpPr>
        <p:spPr>
          <a:xfrm>
            <a:off x="365760" y="228600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THIS TEACHES</a:t>
            </a:r>
            <a:endParaRPr lang="en-US" sz="1100" dirty="0"/>
          </a:p>
        </p:txBody>
      </p:sp>
      <p:sp>
        <p:nvSpPr>
          <p:cNvPr id="8" name="Shape 6"/>
          <p:cNvSpPr/>
          <p:nvPr/>
        </p:nvSpPr>
        <p:spPr>
          <a:xfrm>
            <a:off x="365760" y="2560320"/>
            <a:ext cx="8412480" cy="1737360"/>
          </a:xfrm>
          <a:prstGeom prst="roundRect">
            <a:avLst>
              <a:gd name="adj" fmla="val 5263"/>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670048"/>
            <a:ext cx="8046720" cy="1517904"/>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Restrictive relative clause — no comma before "that". It defines which sentence: not any sentence, but the one that surprises even the writer. This is precise academic prose.</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 revised my portfolio today and found that the part i thought was the strongest was actually to vague so i replaced it with a specific moment from carry on mr bowditch where nat bowditch stays up all night calculating longitude which is what i think persistence really means</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Daily Oral Language — Fix It</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1051560"/>
          </a:xfrm>
          <a:prstGeom prst="roundRect">
            <a:avLst>
              <a:gd name="adj" fmla="val 8696"/>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822960"/>
          </a:xfrm>
          <a:prstGeom prst="rect">
            <a:avLst/>
          </a:prstGeom>
          <a:noFill/>
          <a:ln/>
        </p:spPr>
        <p:txBody>
          <a:bodyPr wrap="square" lIns="0" tIns="0" rIns="0" bIns="0" rtlCol="0" anchor="ctr"/>
          <a:lstStyle/>
          <a:p>
            <a:pPr indent="0" marL="0">
              <a:buNone/>
            </a:pPr>
            <a:r>
              <a:rPr lang="en-US" sz="1500" i="1" dirty="0">
                <a:solidFill>
                  <a:srgbClr val="1E293B"/>
                </a:solidFill>
                <a:latin typeface="Georgia" pitchFamily="34" charset="0"/>
                <a:ea typeface="Georgia" pitchFamily="34" charset="-122"/>
                <a:cs typeface="Georgia" pitchFamily="34" charset="-120"/>
              </a:rPr>
              <a:t>i revised my portfolio today and found that the part i thought was the strongest was actually to vague so i replaced it with a specific moment from carry on mr bowditch where nat bowditch stays up all night calculating longitude which is what i think persistence really means</a:t>
            </a:r>
            <a:endParaRPr lang="en-US" sz="1500" dirty="0"/>
          </a:p>
        </p:txBody>
      </p:sp>
      <p:sp>
        <p:nvSpPr>
          <p:cNvPr id="9" name="Text 7"/>
          <p:cNvSpPr/>
          <p:nvPr/>
        </p:nvSpPr>
        <p:spPr>
          <a:xfrm>
            <a:off x="457200" y="224028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743200"/>
            <a:ext cx="8412480" cy="1737360"/>
          </a:xfrm>
          <a:prstGeom prst="roundRect">
            <a:avLst>
              <a:gd name="adj" fmla="val 526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83464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3127248"/>
            <a:ext cx="7955280" cy="1234440"/>
          </a:xfrm>
          <a:prstGeom prst="rect">
            <a:avLst/>
          </a:prstGeom>
          <a:noFill/>
          <a:ln/>
        </p:spPr>
        <p:txBody>
          <a:bodyPr wrap="square" lIns="0" tIns="0" rIns="0" bIns="0" rtlCol="0" anchor="t"/>
          <a:lstStyle/>
          <a:p>
            <a:pPr indent="0" marL="0">
              <a:buNone/>
            </a:pPr>
            <a:r>
              <a:rPr lang="en-US" sz="1300" b="1" i="1" dirty="0">
                <a:solidFill>
                  <a:srgbClr val="1E293B"/>
                </a:solidFill>
                <a:latin typeface="Calibri" pitchFamily="34" charset="0"/>
                <a:ea typeface="Calibri" pitchFamily="34" charset="-122"/>
                <a:cs typeface="Calibri" pitchFamily="34" charset="-120"/>
              </a:rPr>
              <a:t>I revised my portfolio today and found that the part I thought was the strongest was actually too vague, so I replaced it with a specific moment from Carry On, Mr. Bowditch where Nat Bowditch stays up all night calculating longitude — which is what I think persistence really means.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Spelling: Final Editing — SWYK</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Edit your full portfolio for grade-level spelling</a:t>
            </a:r>
            <a:endParaRPr lang="en-US" sz="1100" dirty="0"/>
          </a:p>
        </p:txBody>
      </p:sp>
      <p:sp>
        <p:nvSpPr>
          <p:cNvPr id="5" name="Shape 3"/>
          <p:cNvSpPr/>
          <p:nvPr/>
        </p:nvSpPr>
        <p:spPr>
          <a:xfrm>
            <a:off x="365760" y="1078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24712"/>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fortitude · tenacious · ludicrous · notoriety · exuberance · consequently · nevertheless · validity · persistence · extraction · descriptive · spirited · reconcile · reunion · reprieve · counsel · exasperation · beneficial · latitude · celestial · defiance · rebellion · apprentice · conviction · declaration</a:t>
            </a:r>
            <a:endParaRPr lang="en-US" sz="1150" dirty="0"/>
          </a:p>
        </p:txBody>
      </p:sp>
      <p:sp>
        <p:nvSpPr>
          <p:cNvPr id="7" name="Shape 5"/>
          <p:cNvSpPr/>
          <p:nvPr/>
        </p:nvSpPr>
        <p:spPr>
          <a:xfrm>
            <a:off x="365760" y="1719072"/>
            <a:ext cx="8412480" cy="1371600"/>
          </a:xfrm>
          <a:prstGeom prst="roundRect">
            <a:avLst>
              <a:gd name="adj" fmla="val 6667"/>
            </a:avLst>
          </a:prstGeom>
          <a:solidFill>
            <a:srgbClr val="FEF6E8"/>
          </a:solidFill>
          <a:ln w="12700">
            <a:solidFill>
              <a:srgbClr val="C7922C"/>
            </a:solidFill>
            <a:prstDash val="solid"/>
          </a:ln>
        </p:spPr>
      </p:sp>
      <p:sp>
        <p:nvSpPr>
          <p:cNvPr id="8" name="Text 6"/>
          <p:cNvSpPr/>
          <p:nvPr/>
        </p:nvSpPr>
        <p:spPr>
          <a:xfrm>
            <a:off x="548640" y="1792224"/>
            <a:ext cx="8046720" cy="122529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Show What You Know
</a:t>
            </a:r>
            <a:pPr indent="0" marL="0">
              <a:buNone/>
            </a:pPr>
            <a:r>
              <a:rPr lang="en-US" sz="1100" i="1" dirty="0">
                <a:solidFill>
                  <a:srgbClr val="1E293B"/>
                </a:solidFill>
                <a:latin typeface="Calibri" pitchFamily="34" charset="0"/>
                <a:ea typeface="Calibri" pitchFamily="34" charset="-122"/>
                <a:cs typeface="Calibri" pitchFamily="34" charset="-120"/>
              </a:rPr>
              <a:t>Run a full spelling edit on your portfolio draft. Find and correct every misspelling. Then list five words from the final spelling list that you used in your portfolio (correctly spelled), and circle the tricky part of each one.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Morphology: Reflection &amp; Application</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941832"/>
            <a:ext cx="8412480" cy="1005840"/>
          </a:xfrm>
          <a:prstGeom prst="roundRect">
            <a:avLst>
              <a:gd name="adj" fmla="val 9091"/>
            </a:avLst>
          </a:prstGeom>
          <a:solidFill>
            <a:srgbClr val="FEF6E8"/>
          </a:solidFill>
          <a:ln w="12700">
            <a:solidFill>
              <a:srgbClr val="C7922C"/>
            </a:solidFill>
            <a:prstDash val="solid"/>
          </a:ln>
        </p:spPr>
      </p:sp>
      <p:sp>
        <p:nvSpPr>
          <p:cNvPr id="5" name="Text 3"/>
          <p:cNvSpPr/>
          <p:nvPr/>
        </p:nvSpPr>
        <p:spPr>
          <a:xfrm>
            <a:off x="548640" y="1014984"/>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Think about the roots and suffixes you've learned this year. Write one sentence explaining how root knowledge will help you as a reader and writer in 6th grade — and give one specific example of a word you'd be able to decode because of this year's study.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Grammar: Voice Check in Your Portfolio</a:t>
            </a:r>
            <a:endParaRPr lang="en-US" sz="24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Shape 2"/>
          <p:cNvSpPr/>
          <p:nvPr/>
        </p:nvSpPr>
        <p:spPr>
          <a:xfrm>
            <a:off x="365760" y="86868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14400"/>
            <a:ext cx="8046720" cy="420624"/>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The Voice Test: Read each sentence of your portfolio aloud. Ask: Would I actually say this out loud to someone I trust? If not — rewrite it.</a:t>
            </a:r>
            <a:endParaRPr lang="en-US" sz="1150" dirty="0"/>
          </a:p>
        </p:txBody>
      </p:sp>
      <p:sp>
        <p:nvSpPr>
          <p:cNvPr id="6" name="Shape 4"/>
          <p:cNvSpPr/>
          <p:nvPr/>
        </p:nvSpPr>
        <p:spPr>
          <a:xfrm>
            <a:off x="365760" y="1508760"/>
            <a:ext cx="8412480" cy="1005840"/>
          </a:xfrm>
          <a:prstGeom prst="roundRect">
            <a:avLst>
              <a:gd name="adj" fmla="val 9091"/>
            </a:avLst>
          </a:prstGeom>
          <a:solidFill>
            <a:srgbClr val="FEF6E8"/>
          </a:solidFill>
          <a:ln w="12700">
            <a:solidFill>
              <a:srgbClr val="C7922C"/>
            </a:solidFill>
            <a:prstDash val="solid"/>
          </a:ln>
        </p:spPr>
      </p:sp>
      <p:sp>
        <p:nvSpPr>
          <p:cNvPr id="7" name="Text 5"/>
          <p:cNvSpPr/>
          <p:nvPr/>
        </p:nvSpPr>
        <p:spPr>
          <a:xfrm>
            <a:off x="548640" y="1581912"/>
            <a:ext cx="8046720" cy="859536"/>
          </a:xfrm>
          <a:prstGeom prst="rect">
            <a:avLst/>
          </a:prstGeom>
          <a:noFill/>
          <a:ln/>
        </p:spPr>
        <p:txBody>
          <a:bodyPr wrap="square" lIns="0" tIns="0" rIns="0" bIns="0" rtlCol="0" anchor="t"/>
          <a:lstStyle/>
          <a:p>
            <a:pPr indent="0" marL="0">
              <a:buNone/>
            </a:pPr>
            <a:r>
              <a:rPr lang="en-US" sz="1100" b="1" dirty="0">
                <a:solidFill>
                  <a:srgbClr val="C7922C"/>
                </a:solidFill>
                <a:latin typeface="Calibri" pitchFamily="34" charset="0"/>
                <a:ea typeface="Calibri" pitchFamily="34" charset="-122"/>
                <a:cs typeface="Calibri" pitchFamily="34" charset="-120"/>
              </a:rPr>
              <a:t>✏️ In Your Journal
</a:t>
            </a:r>
            <a:pPr indent="0" marL="0">
              <a:buNone/>
            </a:pPr>
            <a:r>
              <a:rPr lang="en-US" sz="1100" i="1" dirty="0">
                <a:solidFill>
                  <a:srgbClr val="1E293B"/>
                </a:solidFill>
                <a:latin typeface="Calibri" pitchFamily="34" charset="0"/>
                <a:ea typeface="Calibri" pitchFamily="34" charset="-122"/>
                <a:cs typeface="Calibri" pitchFamily="34" charset="-120"/>
              </a:rPr>
              <a:t>Find one sentence in your portfolio that fails the voice test — it sounds formal or vague rather than like YOU. Rewrite it so it passes. Write both versions.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Revision: Three Targeted Improvements</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0467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Not proofreading — thinking more deeply about what you're saying</a:t>
            </a:r>
            <a:endParaRPr lang="en-US" sz="1100" dirty="0"/>
          </a:p>
        </p:txBody>
      </p:sp>
      <p:sp>
        <p:nvSpPr>
          <p:cNvPr id="5" name="Shape 3"/>
          <p:cNvSpPr/>
          <p:nvPr/>
        </p:nvSpPr>
        <p:spPr>
          <a:xfrm>
            <a:off x="365760" y="1051560"/>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097280"/>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1. Replace vague with specific: "I grew as a reader" → "I learned to slow down at the end of a chapter, because that's usually where Fleischman puts the thing that will haunt me."</a:t>
            </a:r>
            <a:endParaRPr lang="en-US" sz="1100" dirty="0"/>
          </a:p>
        </p:txBody>
      </p:sp>
      <p:sp>
        <p:nvSpPr>
          <p:cNvPr id="7" name="Shape 5"/>
          <p:cNvSpPr/>
          <p:nvPr/>
        </p:nvSpPr>
        <p:spPr>
          <a:xfrm>
            <a:off x="365760" y="1618488"/>
            <a:ext cx="8412480" cy="512064"/>
          </a:xfrm>
          <a:prstGeom prst="roundRect">
            <a:avLst>
              <a:gd name="adj" fmla="val 17857"/>
            </a:avLst>
          </a:prstGeom>
          <a:solidFill>
            <a:srgbClr val="F0F8F2"/>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664208"/>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2. Add the honest thing you almost didn't say: "This book was hard for me. I put it down twice. I came back because Praiseworthy wouldn't let me go."</a:t>
            </a:r>
            <a:endParaRPr lang="en-US" sz="1100" dirty="0"/>
          </a:p>
        </p:txBody>
      </p:sp>
      <p:sp>
        <p:nvSpPr>
          <p:cNvPr id="9" name="Shape 7"/>
          <p:cNvSpPr/>
          <p:nvPr/>
        </p:nvSpPr>
        <p:spPr>
          <a:xfrm>
            <a:off x="365760" y="218541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31136"/>
            <a:ext cx="8046720" cy="42062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3. End on the truest sentence you can write — the one only YOU could have written.</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Revision Question 1</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Find the vaguest sentence in your portfolio and replace it with something specific. Write both the original and the revision. Explain in one sentence what the specific version does that the vague one didn't.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Revision Question 2</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the honest thing you almost didn't say about this year — about a book, about yourself as a reader, or about what surprised you. This is the sentence that makes a portfolio real.</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Revision Question 3 — The Final Sentence</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6492240" y="173736"/>
            <a:ext cx="2286000" cy="502920"/>
          </a:xfrm>
          <a:prstGeom prst="roundRect">
            <a:avLst>
              <a:gd name="adj" fmla="val 21818"/>
            </a:avLst>
          </a:prstGeom>
          <a:solidFill>
            <a:srgbClr val="34B76F"/>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CHAT PROMPT</a:t>
            </a:r>
            <a:endParaRPr lang="en-US" sz="1100" dirty="0"/>
          </a:p>
        </p:txBody>
      </p:sp>
      <p:sp>
        <p:nvSpPr>
          <p:cNvPr id="6" name="Shape 4"/>
          <p:cNvSpPr/>
          <p:nvPr/>
        </p:nvSpPr>
        <p:spPr>
          <a:xfrm>
            <a:off x="365760" y="914400"/>
            <a:ext cx="8412480" cy="3291840"/>
          </a:xfrm>
          <a:prstGeom prst="roundRect">
            <a:avLst>
              <a:gd name="adj" fmla="val 2778"/>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594360" y="1051560"/>
            <a:ext cx="7955280" cy="301752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five possible final sentences for your portfolio — five different ways to end. Circle the one that feels most true, and explain why you chose it.</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Project Workshop</a:t>
            </a:r>
            <a:endParaRPr lang="en-US" sz="24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22960"/>
            <a:ext cx="2029968" cy="384048"/>
          </a:xfrm>
          <a:prstGeom prst="roundRect">
            <a:avLst>
              <a:gd name="adj" fmla="val 47619"/>
            </a:avLst>
          </a:prstGeom>
          <a:solidFill>
            <a:srgbClr val="34B76F"/>
          </a:solidFill>
          <a:ln/>
        </p:spPr>
      </p:sp>
      <p:sp>
        <p:nvSpPr>
          <p:cNvPr id="5" name="Text 3"/>
          <p:cNvSpPr/>
          <p:nvPr/>
        </p:nvSpPr>
        <p:spPr>
          <a:xfrm>
            <a:off x="36576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Plan</a:t>
            </a:r>
            <a:endParaRPr lang="en-US" sz="1100" dirty="0"/>
          </a:p>
        </p:txBody>
      </p:sp>
      <p:sp>
        <p:nvSpPr>
          <p:cNvPr id="6" name="Shape 4"/>
          <p:cNvSpPr/>
          <p:nvPr/>
        </p:nvSpPr>
        <p:spPr>
          <a:xfrm>
            <a:off x="2468880" y="822960"/>
            <a:ext cx="2029968" cy="384048"/>
          </a:xfrm>
          <a:prstGeom prst="roundRect">
            <a:avLst>
              <a:gd name="adj" fmla="val 47619"/>
            </a:avLst>
          </a:prstGeom>
          <a:solidFill>
            <a:srgbClr val="34B76F"/>
          </a:solidFill>
          <a:ln/>
        </p:spPr>
      </p:sp>
      <p:sp>
        <p:nvSpPr>
          <p:cNvPr id="7" name="Text 5"/>
          <p:cNvSpPr/>
          <p:nvPr/>
        </p:nvSpPr>
        <p:spPr>
          <a:xfrm>
            <a:off x="246888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Draft</a:t>
            </a:r>
            <a:endParaRPr lang="en-US" sz="1100" dirty="0"/>
          </a:p>
        </p:txBody>
      </p:sp>
      <p:sp>
        <p:nvSpPr>
          <p:cNvPr id="8" name="Shape 6"/>
          <p:cNvSpPr/>
          <p:nvPr/>
        </p:nvSpPr>
        <p:spPr>
          <a:xfrm>
            <a:off x="4572000" y="822960"/>
            <a:ext cx="2029968" cy="384048"/>
          </a:xfrm>
          <a:prstGeom prst="roundRect">
            <a:avLst>
              <a:gd name="adj" fmla="val 47619"/>
            </a:avLst>
          </a:prstGeom>
          <a:solidFill>
            <a:srgbClr val="C7922C"/>
          </a:solidFill>
          <a:ln/>
        </p:spPr>
      </p:sp>
      <p:sp>
        <p:nvSpPr>
          <p:cNvPr id="9" name="Text 7"/>
          <p:cNvSpPr/>
          <p:nvPr/>
        </p:nvSpPr>
        <p:spPr>
          <a:xfrm>
            <a:off x="4572000" y="822960"/>
            <a:ext cx="20299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Revise</a:t>
            </a:r>
            <a:endParaRPr lang="en-US" sz="1100" dirty="0"/>
          </a:p>
        </p:txBody>
      </p:sp>
      <p:sp>
        <p:nvSpPr>
          <p:cNvPr id="10" name="Shape 8"/>
          <p:cNvSpPr/>
          <p:nvPr/>
        </p:nvSpPr>
        <p:spPr>
          <a:xfrm>
            <a:off x="6675120" y="822960"/>
            <a:ext cx="2029968" cy="384048"/>
          </a:xfrm>
          <a:prstGeom prst="roundRect">
            <a:avLst>
              <a:gd name="adj" fmla="val 47619"/>
            </a:avLst>
          </a:prstGeom>
          <a:solidFill>
            <a:srgbClr val="E2E8F4"/>
          </a:solidFill>
          <a:ln/>
        </p:spPr>
      </p:sp>
      <p:sp>
        <p:nvSpPr>
          <p:cNvPr id="11" name="Text 9"/>
          <p:cNvSpPr/>
          <p:nvPr/>
        </p:nvSpPr>
        <p:spPr>
          <a:xfrm>
            <a:off x="6675120" y="822960"/>
            <a:ext cx="2029968" cy="384048"/>
          </a:xfrm>
          <a:prstGeom prst="rect">
            <a:avLst/>
          </a:prstGeom>
          <a:noFill/>
          <a:ln/>
        </p:spPr>
        <p:txBody>
          <a:bodyPr wrap="square" lIns="0" tIns="0" rIns="0" bIns="0" rtlCol="0" anchor="ctr"/>
          <a:lstStyle/>
          <a:p>
            <a:pPr algn="ctr" indent="0" marL="0">
              <a:buNone/>
            </a:pPr>
            <a:r>
              <a:rPr lang="en-US" sz="1100" b="1" dirty="0">
                <a:solidFill>
                  <a:srgbClr val="64748B"/>
                </a:solidFill>
                <a:latin typeface="Calibri" pitchFamily="34" charset="0"/>
                <a:ea typeface="Calibri" pitchFamily="34" charset="-122"/>
                <a:cs typeface="Calibri" pitchFamily="34" charset="-120"/>
              </a:rPr>
              <a:t>Present</a:t>
            </a:r>
            <a:endParaRPr lang="en-US" sz="1100" dirty="0"/>
          </a:p>
        </p:txBody>
      </p:sp>
      <p:sp>
        <p:nvSpPr>
          <p:cNvPr id="12" name="Text 10"/>
          <p:cNvSpPr/>
          <p:nvPr/>
        </p:nvSpPr>
        <p:spPr>
          <a:xfrm>
            <a:off x="365760" y="13716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BEFORE TOMORROW'S PRESENTATION</a:t>
            </a:r>
            <a:endParaRPr lang="en-US" sz="1100" dirty="0"/>
          </a:p>
        </p:txBody>
      </p:sp>
      <p:sp>
        <p:nvSpPr>
          <p:cNvPr id="13" name="Shape 11"/>
          <p:cNvSpPr/>
          <p:nvPr/>
        </p:nvSpPr>
        <p:spPr>
          <a:xfrm>
            <a:off x="365760" y="1664208"/>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1700784"/>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Make at least three targeted revisions (from today's Revision Questions)</a:t>
            </a:r>
            <a:endParaRPr lang="en-US" sz="1050" dirty="0"/>
          </a:p>
        </p:txBody>
      </p:sp>
      <p:sp>
        <p:nvSpPr>
          <p:cNvPr id="15" name="Shape 13"/>
          <p:cNvSpPr/>
          <p:nvPr/>
        </p:nvSpPr>
        <p:spPr>
          <a:xfrm>
            <a:off x="365760" y="2176272"/>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6" name="Text 14"/>
          <p:cNvSpPr/>
          <p:nvPr/>
        </p:nvSpPr>
        <p:spPr>
          <a:xfrm>
            <a:off x="548640" y="2212848"/>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Add your chosen "honest sentence" to the portfolio</a:t>
            </a:r>
            <a:endParaRPr lang="en-US" sz="1050" dirty="0"/>
          </a:p>
        </p:txBody>
      </p:sp>
      <p:sp>
        <p:nvSpPr>
          <p:cNvPr id="17" name="Shape 15"/>
          <p:cNvSpPr/>
          <p:nvPr/>
        </p:nvSpPr>
        <p:spPr>
          <a:xfrm>
            <a:off x="365760" y="2688336"/>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18" name="Text 16"/>
          <p:cNvSpPr/>
          <p:nvPr/>
        </p:nvSpPr>
        <p:spPr>
          <a:xfrm>
            <a:off x="548640" y="2724912"/>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Write your final closing sentence</a:t>
            </a:r>
            <a:endParaRPr lang="en-US" sz="1050" dirty="0"/>
          </a:p>
        </p:txBody>
      </p:sp>
      <p:sp>
        <p:nvSpPr>
          <p:cNvPr id="19" name="Shape 17"/>
          <p:cNvSpPr/>
          <p:nvPr/>
        </p:nvSpPr>
        <p:spPr>
          <a:xfrm>
            <a:off x="365760" y="320040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20" name="Text 18"/>
          <p:cNvSpPr/>
          <p:nvPr/>
        </p:nvSpPr>
        <p:spPr>
          <a:xfrm>
            <a:off x="548640" y="3236976"/>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Read the full portfolio aloud twice — time it (target: 2.5–3.5 minutes)</a:t>
            </a:r>
            <a:endParaRPr lang="en-US" sz="1050" dirty="0"/>
          </a:p>
        </p:txBody>
      </p:sp>
      <p:sp>
        <p:nvSpPr>
          <p:cNvPr id="21" name="Shape 19"/>
          <p:cNvSpPr/>
          <p:nvPr/>
        </p:nvSpPr>
        <p:spPr>
          <a:xfrm>
            <a:off x="365760" y="3712464"/>
            <a:ext cx="8412480" cy="457200"/>
          </a:xfrm>
          <a:prstGeom prst="roundRect">
            <a:avLst>
              <a:gd name="adj" fmla="val 20000"/>
            </a:avLst>
          </a:prstGeom>
          <a:solidFill>
            <a:srgbClr val="FEF6E8"/>
          </a:solidFill>
          <a:ln/>
          <a:effectLst>
            <a:outerShdw sx="100000" sy="100000" kx="0" ky="0" algn="bl" rotWithShape="0" blurRad="101600" dist="38100" dir="2700000">
              <a:srgbClr val="000000">
                <a:alpha val="12000"/>
              </a:srgbClr>
            </a:outerShdw>
          </a:effectLst>
        </p:spPr>
      </p:sp>
      <p:sp>
        <p:nvSpPr>
          <p:cNvPr id="22" name="Text 20"/>
          <p:cNvSpPr/>
          <p:nvPr/>
        </p:nvSpPr>
        <p:spPr>
          <a:xfrm>
            <a:off x="548640" y="3749040"/>
            <a:ext cx="8046720" cy="384048"/>
          </a:xfrm>
          <a:prstGeom prst="rect">
            <a:avLst/>
          </a:prstGeom>
          <a:noFill/>
          <a:ln/>
        </p:spPr>
        <p:txBody>
          <a:bodyPr wrap="square" lIns="0" tIns="0" rIns="0" bIns="0" rtlCol="0" anchor="ctr"/>
          <a:lstStyle/>
          <a:p>
            <a:pPr indent="0" marL="0">
              <a:buNone/>
            </a:pPr>
            <a:r>
              <a:rPr lang="en-US" sz="1050" dirty="0">
                <a:solidFill>
                  <a:srgbClr val="1E293B"/>
                </a:solidFill>
                <a:latin typeface="Calibri" pitchFamily="34" charset="0"/>
                <a:ea typeface="Calibri" pitchFamily="34" charset="-122"/>
                <a:cs typeface="Calibri" pitchFamily="34" charset="-120"/>
              </a:rPr>
              <a:t>✓ Run the final grammar and spelling checklists one last time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Today's Writing Task</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WRITE NOW</a:t>
            </a:r>
            <a:endParaRPr lang="en-US" sz="1100" dirty="0"/>
          </a:p>
        </p:txBody>
      </p:sp>
      <p:sp>
        <p:nvSpPr>
          <p:cNvPr id="5" name="Shape 3"/>
          <p:cNvSpPr/>
          <p:nvPr/>
        </p:nvSpPr>
        <p:spPr>
          <a:xfrm>
            <a:off x="365760" y="1097280"/>
            <a:ext cx="8412480" cy="2651760"/>
          </a:xfrm>
          <a:prstGeom prst="roundRect">
            <a:avLst>
              <a:gd name="adj" fmla="val 3448"/>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34440"/>
            <a:ext cx="7955280" cy="2377440"/>
          </a:xfrm>
          <a:prstGeom prst="rect">
            <a:avLst/>
          </a:prstGeom>
          <a:noFill/>
          <a:ln/>
        </p:spPr>
        <p:txBody>
          <a:bodyPr wrap="square" lIns="0" tIns="0" rIns="0" bIns="0" rtlCol="0" anchor="t"/>
          <a:lstStyle/>
          <a:p>
            <a:pPr indent="0" marL="0">
              <a:buNone/>
            </a:pPr>
            <a:r>
              <a:rPr lang="en-US" sz="1500" dirty="0">
                <a:solidFill>
                  <a:srgbClr val="1E293B"/>
                </a:solidFill>
                <a:latin typeface="Calibri" pitchFamily="34" charset="0"/>
                <a:ea typeface="Calibri" pitchFamily="34" charset="-122"/>
                <a:cs typeface="Calibri" pitchFamily="34" charset="-120"/>
              </a:rPr>
              <a:t>Write your revised final portfolio here — all three parts, with all revisions applied.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400" b="1" dirty="0">
                <a:solidFill>
                  <a:srgbClr val="0E1C42"/>
                </a:solidFill>
                <a:latin typeface="Calibri" pitchFamily="34" charset="0"/>
                <a:ea typeface="Calibri" pitchFamily="34" charset="-122"/>
                <a:cs typeface="Calibri" pitchFamily="34" charset="-120"/>
              </a:rPr>
              <a:t>✅ Before You Finish</a:t>
            </a:r>
            <a:endParaRPr lang="en-US" sz="24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365760" y="868680"/>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5" name="Text 3"/>
          <p:cNvSpPr/>
          <p:nvPr/>
        </p:nvSpPr>
        <p:spPr>
          <a:xfrm>
            <a:off x="548640" y="923544"/>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three targeted revisions — vague→specific, honest sentence, final closing sentence.</a:t>
            </a:r>
            <a:endParaRPr lang="en-US" sz="1250" dirty="0"/>
          </a:p>
        </p:txBody>
      </p:sp>
      <p:sp>
        <p:nvSpPr>
          <p:cNvPr id="6" name="Shape 4"/>
          <p:cNvSpPr/>
          <p:nvPr/>
        </p:nvSpPr>
        <p:spPr>
          <a:xfrm>
            <a:off x="365760" y="1618488"/>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7" name="Text 5"/>
          <p:cNvSpPr/>
          <p:nvPr/>
        </p:nvSpPr>
        <p:spPr>
          <a:xfrm>
            <a:off x="548640" y="1673352"/>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completed my Spelling SWYK: five unit words identified with tricky parts.</a:t>
            </a:r>
            <a:endParaRPr lang="en-US" sz="1250" dirty="0"/>
          </a:p>
        </p:txBody>
      </p:sp>
      <p:sp>
        <p:nvSpPr>
          <p:cNvPr id="8" name="Shape 6"/>
          <p:cNvSpPr/>
          <p:nvPr/>
        </p:nvSpPr>
        <p:spPr>
          <a:xfrm>
            <a:off x="365760" y="2368296"/>
            <a:ext cx="8412480" cy="658368"/>
          </a:xfrm>
          <a:prstGeom prst="roundRect">
            <a:avLst>
              <a:gd name="adj" fmla="val 13889"/>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read my full revised portfolio aloud twice and timed it (target: 2.5–3.5 minutes).</a:t>
            </a:r>
            <a:endParaRPr lang="en-US" sz="1250" dirty="0"/>
          </a:p>
        </p:txBody>
      </p:sp>
      <p:sp>
        <p:nvSpPr>
          <p:cNvPr id="10" name="Shape 8"/>
          <p:cNvSpPr/>
          <p:nvPr/>
        </p:nvSpPr>
        <p:spPr>
          <a:xfrm>
            <a:off x="365760" y="3118104"/>
            <a:ext cx="8412480" cy="658368"/>
          </a:xfrm>
          <a:prstGeom prst="roundRect">
            <a:avLst>
              <a:gd name="adj" fmla="val 13889"/>
            </a:avLst>
          </a:prstGeom>
          <a:solidFill>
            <a:srgbClr val="F4F7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72968"/>
            <a:ext cx="8046720" cy="5486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  I am ready for tomorrow — the final presentation of the year.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2026-07-13T17:55:36Z</dcterms:created>
  <dcterms:modified xsi:type="dcterms:W3CDTF">2026-07-13T17:55:36Z</dcterms:modified>
</cp:coreProperties>
</file>