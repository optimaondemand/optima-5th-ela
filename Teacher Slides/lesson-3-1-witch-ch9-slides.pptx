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 Day 1,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happens when the way you teach reveals something deeper about who you are — and clashes with everything the community expects?
Reading: I will analyze how Kit’s actions at the dame school reveal her character and create conflict with Puritan values.
Grammar: I will define dialogue punctuation and paragraphing rules.
Spelling: I will define schwa and reduced vowels in unstressed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"mister kimberley arrived at the dame school and was shocked to find the children performing a play"
Corrected: "Mr. Kimberley arrived at the dame school and was shocked to find the children performing a play."
Compare with the model: “Mr.” is the abbreviation of “Mister” and needs a capital M and a period. “Kimberley” is a proper name. The sentence ends with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"mister kimberley arrived at the dame school and was shocked to find the children performing a play"
Corrected: "Mr. Kimberley arrived at the dame school and was shocked to find the children performing a play."
Compare with the model: “Mr.” is the abbreviation of “Mister” and needs a capital M and a period. “Kimberley” is a proper name. The sentence ends with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this detail necessary, or can I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Graded SWYK strand today: Morphology.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Decode &amp;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Schwa &amp; Reduced Vowels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9 — Kit and Mercy teach at the dame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3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9 — Kit and the dame school</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happens when the way you teach reveals something deeper about who you are — and clashes with everything the community expects?</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analyze how Kit’s actions at the dame school reveal her character and create conflict with Puritan values.</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define dialogue punctuation and paragraphing rules.</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define schwa and reduced vowels in unstressed syllables.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how a character’s actions reveal who they really are. Kit doesn’t just teach differently — she can’t help it. Her impulse to create, perform, and improvise is part of her identity. Today, notice how Kit’s choices at the dame school reveal her character — and how the community’s reaction creates conflict. Ask yourself:</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does Kit’s impulse to create and perform tell us about who she is?</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Why does Mr. Kimberley react the way he does? What values is he protecting?</a:t>
            </a:r>
            <a:endParaRPr lang="en-US" sz="1300" dirty="0"/>
          </a:p>
        </p:txBody>
      </p:sp>
      <p:sp>
        <p:nvSpPr>
          <p:cNvPr id="12" name="Shape 10"/>
          <p:cNvSpPr/>
          <p:nvPr/>
        </p:nvSpPr>
        <p:spPr>
          <a:xfrm>
            <a:off x="365760" y="403250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10565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Where does Kit go when she feels troubled , and what does that pattern tell us?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made up a poem for Timothy Cook and the children acted out a story from the Bible.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Kit  </a:t>
            </a:r>
            <a:pPr indent="0" marL="0">
              <a:buNone/>
            </a:pPr>
            <a:r>
              <a:rPr lang="en-US" sz="1200" dirty="0">
                <a:solidFill>
                  <a:srgbClr val="1E293B"/>
                </a:solidFill>
                <a:latin typeface="Calibri" pitchFamily="34" charset="0"/>
                <a:ea typeface="Calibri" pitchFamily="34" charset="-122"/>
                <a:cs typeface="Calibri" pitchFamily="34" charset="-120"/>
              </a:rPr>
              <a:t>"Kit" is a proper name — always capitalized.</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Timothy Cook  </a:t>
            </a:r>
            <a:pPr indent="0" marL="0">
              <a:buNone/>
            </a:pPr>
            <a:r>
              <a:rPr lang="en-US" sz="1200" dirty="0">
                <a:solidFill>
                  <a:srgbClr val="1E293B"/>
                </a:solidFill>
                <a:latin typeface="Calibri" pitchFamily="34" charset="0"/>
                <a:ea typeface="Calibri" pitchFamily="34" charset="-122"/>
                <a:cs typeface="Calibri" pitchFamily="34" charset="-120"/>
              </a:rPr>
              <a:t>"Timothy Cook" is a person’s full name, so both words are capitalized.</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Bible.  </a:t>
            </a:r>
            <a:pPr indent="0" marL="0">
              <a:buNone/>
            </a:pPr>
            <a:r>
              <a:rPr lang="en-US" sz="1200" dirty="0">
                <a:solidFill>
                  <a:srgbClr val="1E293B"/>
                </a:solidFill>
                <a:latin typeface="Calibri" pitchFamily="34" charset="0"/>
                <a:ea typeface="Calibri" pitchFamily="34" charset="-122"/>
                <a:cs typeface="Calibri" pitchFamily="34" charset="-120"/>
              </a:rPr>
              <a:t>"Bible" is the title of a sacred text — always capitalized.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mister kimberley arrived at the dame school and was shocked to find the children performing a play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mister kimberley arrived at the dame school and was shocked to find the children performing a play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Mr. Kimberley arrived at the dame school and was shocked to find the children performing a play.</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“Mr.” is the abbreviation of “Mister” and needs a capital M and a period. “Kimberley” is a proper name. The sentence ends with a period.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Was Kit right to try a new way of teaching, even though it broke the rules and got her in trouble? Defend your answer with evidence from Chapter 9. Someone might disagree and say she should have followed Mr. Kimberley's method.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Was Kit right to try a new way of teaching, even though it broke the rules and got her in trouble? Defend your answer with evidence from Chapter 9. Someone might disagree and say she should have followed Mr. Kimberley's method.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this detail necessary, or can I cut it?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-ive / -ative</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create (verb) → creative (adjective) — having the quality of creating | instruct (verb) → instructive (adjective) — tending to instruct | imagine (verb) → imaginative (adjective) — having the quality of imagining | act (verb) → active (adjective) — tending to act</a:t>
            </a:r>
            <a:endParaRPr lang="en-US" sz="1200" dirty="0"/>
          </a:p>
        </p:txBody>
      </p:sp>
      <p:sp>
        <p:nvSpPr>
          <p:cNvPr id="7" name="Shape 5"/>
          <p:cNvSpPr/>
          <p:nvPr/>
        </p:nvSpPr>
        <p:spPr>
          <a:xfrm>
            <a:off x="365760" y="1709928"/>
            <a:ext cx="8412480" cy="777240"/>
          </a:xfrm>
          <a:prstGeom prst="roundRect">
            <a:avLst>
              <a:gd name="adj" fmla="val 11765"/>
            </a:avLst>
          </a:prstGeom>
          <a:solidFill>
            <a:srgbClr val="FEF6E8"/>
          </a:solidFill>
          <a:ln w="12700">
            <a:solidFill>
              <a:srgbClr val="C7922C"/>
            </a:solidFill>
            <a:prstDash val="solid"/>
          </a:ln>
        </p:spPr>
      </p:sp>
      <p:sp>
        <p:nvSpPr>
          <p:cNvPr id="8" name="Text 6"/>
          <p:cNvSpPr/>
          <p:nvPr/>
        </p:nvSpPr>
        <p:spPr>
          <a:xfrm>
            <a:off x="548640" y="1783080"/>
            <a:ext cx="8046720" cy="640080"/>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 Morphology
</a:t>
            </a:r>
            <a:pPr indent="0" marL="0">
              <a:buNone/>
            </a:pPr>
            <a:r>
              <a:rPr lang="en-US" sz="1100" i="1" dirty="0">
                <a:solidFill>
                  <a:srgbClr val="1E293B"/>
                </a:solidFill>
                <a:latin typeface="Calibri" pitchFamily="34" charset="0"/>
                <a:ea typeface="Calibri" pitchFamily="34" charset="-122"/>
                <a:cs typeface="Calibri" pitchFamily="34" charset="-120"/>
              </a:rPr>
              <a:t>Pick two -ive or -ative words (creative, instructive, imaginative, active). For each, explain what the base word means and how the suffix changes it to an adjective.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Decode &amp; Discover</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Decode &amp; Discover — words from Chapter 9</a:t>
            </a:r>
            <a:endParaRPr lang="en-US" sz="1100" dirty="0"/>
          </a:p>
        </p:txBody>
      </p:sp>
      <p:sp>
        <p:nvSpPr>
          <p:cNvPr id="5" name="Shape 3"/>
          <p:cNvSpPr/>
          <p:nvPr/>
        </p:nvSpPr>
        <p:spPr>
          <a:xfrm>
            <a:off x="365760" y="10972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primer  </a:t>
            </a:r>
            <a:pPr indent="0" marL="0">
              <a:buNone/>
            </a:pPr>
            <a:r>
              <a:rPr lang="en-US" sz="1100" dirty="0">
                <a:solidFill>
                  <a:srgbClr val="1E293B"/>
                </a:solidFill>
                <a:latin typeface="Calibri" pitchFamily="34" charset="0"/>
                <a:ea typeface="Calibri" pitchFamily="34" charset="-122"/>
                <a:cs typeface="Calibri" pitchFamily="34" charset="-120"/>
              </a:rPr>
              <a:t>A basic reading textbook for young children. The “dog-eared” detail tells you these are worn from heavy use — and the school only has three.</a:t>
            </a:r>
            <a:endParaRPr lang="en-US" sz="1300" dirty="0"/>
          </a:p>
        </p:txBody>
      </p:sp>
      <p:sp>
        <p:nvSpPr>
          <p:cNvPr id="7" name="Shape 5"/>
          <p:cNvSpPr/>
          <p:nvPr/>
        </p:nvSpPr>
        <p:spPr>
          <a:xfrm>
            <a:off x="365760" y="17830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379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improvise  </a:t>
            </a:r>
            <a:pPr indent="0" marL="0">
              <a:buNone/>
            </a:pPr>
            <a:r>
              <a:rPr lang="en-US" sz="1100" dirty="0">
                <a:solidFill>
                  <a:srgbClr val="1E293B"/>
                </a:solidFill>
                <a:latin typeface="Calibri" pitchFamily="34" charset="0"/>
                <a:ea typeface="Calibri" pitchFamily="34" charset="-122"/>
                <a:cs typeface="Calibri" pitchFamily="34" charset="-120"/>
              </a:rPr>
              <a:t>To create or perform something without planning. Kit improvises when she makes up rhymes and has the children act — she invents on the spot.</a:t>
            </a:r>
            <a:endParaRPr lang="en-US" sz="1300" dirty="0"/>
          </a:p>
        </p:txBody>
      </p:sp>
      <p:sp>
        <p:nvSpPr>
          <p:cNvPr id="9" name="Shape 7"/>
          <p:cNvSpPr/>
          <p:nvPr/>
        </p:nvSpPr>
        <p:spPr>
          <a:xfrm>
            <a:off x="365760" y="24688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5237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parable  </a:t>
            </a:r>
            <a:pPr indent="0" marL="0">
              <a:buNone/>
            </a:pPr>
            <a:r>
              <a:rPr lang="en-US" sz="1100" dirty="0">
                <a:solidFill>
                  <a:srgbClr val="1E293B"/>
                </a:solidFill>
                <a:latin typeface="Calibri" pitchFamily="34" charset="0"/>
                <a:ea typeface="Calibri" pitchFamily="34" charset="-122"/>
                <a:cs typeface="Calibri" pitchFamily="34" charset="-120"/>
              </a:rPr>
              <a:t>A short story that teaches a moral or spiritual lesson. The Good Samaritan is a parable from the Bible that Kit has the children perform.</a:t>
            </a:r>
            <a:endParaRPr lang="en-US" sz="1300" dirty="0"/>
          </a:p>
        </p:txBody>
      </p:sp>
      <p:sp>
        <p:nvSpPr>
          <p:cNvPr id="11" name="Shape 9"/>
          <p:cNvSpPr/>
          <p:nvPr/>
        </p:nvSpPr>
        <p:spPr>
          <a:xfrm>
            <a:off x="365760" y="31546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2095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contagious  </a:t>
            </a:r>
            <a:pPr indent="0" marL="0">
              <a:buNone/>
            </a:pPr>
            <a:r>
              <a:rPr lang="en-US" sz="1100" dirty="0">
                <a:solidFill>
                  <a:srgbClr val="1E293B"/>
                </a:solidFill>
                <a:latin typeface="Calibri" pitchFamily="34" charset="0"/>
                <a:ea typeface="Calibri" pitchFamily="34" charset="-122"/>
                <a:cs typeface="Calibri" pitchFamily="34" charset="-120"/>
              </a:rPr>
              <a:t>Able to spread from one person to another. Kit wishes patience could spread like an illness — so she could “catch” Mercy’s calm nature.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Dialogue Punctuation &amp; Paragraphing</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 define the rules of writing dialogue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Rule 1 — Quotation marks: Put the spoken words inside quotation marks. “It is all my fault,” Kit faltered. Rule 2 — Comma before the closing quote: When a said-tag follows, use a comma (not a period) inside the closing quotation mark. “I was just trying out a new idea , ” she explained. Rule 3 — New paragraph for a new speaker: Every time a different person starts talking, begin a new paragraph. This helps the reader track who is speaking.</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“I was just trying a new idea.” Kit said.
</a:t>
            </a:r>
            <a:pPr indent="0" marL="0">
              <a:buNone/>
            </a:pP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Kimberley said that acting was sinful in Connecticut.
</a:t>
            </a:r>
            <a:pPr indent="0" marL="0">
              <a:buNone/>
            </a:pP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“Come sit down” said Mercy gently.
</a:t>
            </a:r>
            <a:pPr indent="0" marL="0">
              <a:buNone/>
            </a:pP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Dialogue Punctuation &amp; Paragraphing</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 define the rules of writing dialogue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Rule 1 — Quotation marks: Put the spoken words inside quotation marks. “It is all my fault,” Kit faltered. Rule 2 — Comma before the closing quote: When a said-tag follows, use a comma (not a period) inside the closing quotation mark. “I was just trying out a new idea , ” she explained. Rule 3 — New paragraph for a new speaker: Every time a different person starts talking, begin a new paragraph. This helps the reader track who is speaking.</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“I was just trying a new idea.” Kit said.
</a:t>
            </a:r>
            <a:pPr indent="0" marL="0">
              <a:buNone/>
            </a:pPr>
            <a:r>
              <a:rPr lang="en-US" sz="1200" b="1" dirty="0">
                <a:solidFill>
                  <a:srgbClr val="34B76F"/>
                </a:solidFill>
                <a:latin typeface="Calibri" pitchFamily="34" charset="0"/>
                <a:ea typeface="Calibri" pitchFamily="34" charset="-122"/>
                <a:cs typeface="Calibri" pitchFamily="34" charset="-120"/>
              </a:rPr>
              <a:t>✅ Error/fix needed at: “idea.””</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Kimberley said that acting was sinful in Connecticut.
</a:t>
            </a:r>
            <a:pPr indent="0" marL="0">
              <a:buNone/>
            </a:pPr>
            <a:r>
              <a:rPr lang="en-US" sz="1200" b="1" dirty="0">
                <a:solidFill>
                  <a:srgbClr val="34B76F"/>
                </a:solidFill>
                <a:latin typeface="Calibri" pitchFamily="34" charset="0"/>
                <a:ea typeface="Calibri" pitchFamily="34" charset="-122"/>
                <a:cs typeface="Calibri" pitchFamily="34" charset="-120"/>
              </a:rPr>
              <a:t>✅ Error/fix needed at: “Mr. Kimberley said”</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“Come sit down” said Mercy gently.
</a:t>
            </a:r>
            <a:pPr indent="0" marL="0">
              <a:buNone/>
            </a:pPr>
            <a:r>
              <a:rPr lang="en-US" sz="1200" b="1" dirty="0">
                <a:solidFill>
                  <a:srgbClr val="34B76F"/>
                </a:solidFill>
                <a:latin typeface="Calibri" pitchFamily="34" charset="0"/>
                <a:ea typeface="Calibri" pitchFamily="34" charset="-122"/>
                <a:cs typeface="Calibri" pitchFamily="34" charset="-120"/>
              </a:rPr>
              <a:t>✅ Error/fix needed at: “down””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Schwa &amp; Reduced Vowels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Discover — notice the tricky unstressed syllable</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Schwa in the middle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imagine  ·  different  ·  separate  ·  opposite</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Schwa at the end</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lesson  ·  children  ·  animal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9 — Kit and Mercy teach at the dame school</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9 — Kit and the dame school</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What does Kit’s impulse to create and perform tell us about who she is?</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Why does Mr. Kimberley react the way he does? What values is he protecting?</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Where does Kit go when she feels troubled , and what does that pattern tell us?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Why does Kit change the way she teaches? What does this tell you about her character and background?</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Why is Mr. Kimberley so shocked by Kit’s teaching method? What does this conflict reveal about Puritan values?</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Why does Kit go to the Meadows after the schoolroom disaster? What does this pattern tell us about the Meadows’ role in her life?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Kit’s creative teaching gets her in trouble because it clashes with Puritan values. Write 3–4 sentences explaining whether you think Kit was right to try something new, even though it wasn’t accepted. Use evidence from the chapter.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