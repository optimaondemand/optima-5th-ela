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Week 12, Day 1, Chapter 13 — Discovery.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Q: Today you read Chapter 13 and continue drafting your expository research piece. Keep asking: How do conflict and setting shape Nat’s decisions?
Morphology: Define suffixes -al and -ous; learn how they form adjectives.
Grammar: Define prepositional phrases; learn what detail they add.
Spelling: Discover the three spellings of -ous (-ous, -ious, -eous).
Reading: Chapter 13 — Discovery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lens aloud before students open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 needed — tap-and-notice only. Discuss why each highlighted word/punctuation mark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"the hazardous errors in moores navigator put every ship at risk that sailed without accurate charts"
Corrected: "The hazardous errors in Moore’s Navigator put every ship at risk that sailed without accurate charts."
Fixes: capitalize “The”; “Moore’s Navigator” is a proper noun; apostrophe in “Moore’s”; period at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"the hazardous errors in moores navigator put every ship at risk that sailed without accurate charts"
Corrected: "The hazardous errors in Moore’s Navigator put every ship at risk that sailed without accurate charts."
Fixes: capitalize “The”; “Moore’s Navigator” is a proper noun; apostrophe in “Moore’s”; period at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routine — use if time allows. Read the prompt aloud. Remind students: pick a side, defend with evidence, anticipate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Remind: choose a side, defend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Is there a detail here I could cut because it doesn't support my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3-4 students. Encourage respectful disagreement about their choice/defense.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practice for the day. Graded SWYK strand today: Morphology.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mode: Decode &amp; Discover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answers yet — students discuss and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revealed — correct labels in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focus: 🔤 Spelling: -ous, -ious, -eous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Tracker: Six Weeks with Carry On, Mr. Bowditch — 📍 You are here: Week 12 — Chapter 13 — Discovery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only — students answer these after reading, in the Assignment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Connection — DRAFT: Start Body Section 2 with a varied transition
Focus: Body 2 starts today. But first you need a transition that doesn’t just say “Another reason.” Today you learn to use transitions that show the logical relationship between body sections.
Before: BEFORE Alex’s first draft: Another reason Bowditch was extraordinary was that he corrected navigation errors.
After: AFTER Alex’s revised opening: Furthermore, what made Bowditch’s self-education even more remarkable was how he put it to work — not to advance his own career, but to fix a problem that endangered every sailor at sea.
Notice: Notice: “Another reason” is a dead transition — it just adds without connecting. Alex’s revision shows the RELATIONSHIP: the self-education (Body 1) leads to and is connected to the correction of errors (Body 2).
Tool: Today’s Tool: Transition Types for Body 2 — Choose the transition type that best shows the relationship between your two body sections.
Frames: “Furthermore, what made ___ even more remarkable was ___.” | “Beyond his personal achievement, Bowditch also ___.” | “If ___ showed his commitment to learning, then ___ showed what he did with it...”
Prompt: Write your Body 2 opening: varied transition + topic sentence naming the subtopic.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55C8E8">
              <a:alpha val="15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55C8E8"/>
                </a:solidFill>
                <a:latin typeface="Calibri" pitchFamily="34" charset="0"/>
                <a:ea typeface="Calibri" pitchFamily="34" charset="-122"/>
                <a:cs typeface="Calibri" pitchFamily="34" charset="-120"/>
              </a:rPr>
              <a:t>WEEK 12  ·  DAY 1</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Carry On, Mr. Bowditch</a:t>
            </a:r>
            <a:endParaRPr lang="en-US" sz="3000" dirty="0"/>
          </a:p>
          <a:p>
            <a:pPr algn="l" indent="0" marL="0">
              <a:buNone/>
            </a:pPr>
            <a:r>
              <a:rPr lang="en-US" sz="3000" b="1" dirty="0">
                <a:solidFill>
                  <a:srgbClr val="FFFFFF"/>
                </a:solidFill>
                <a:latin typeface="Calibri" pitchFamily="34" charset="0"/>
                <a:ea typeface="Calibri" pitchFamily="34" charset="-122"/>
                <a:cs typeface="Calibri" pitchFamily="34" charset="-120"/>
              </a:rPr>
              <a:t>Chapter 13 — Discovery</a:t>
            </a:r>
            <a:endParaRPr lang="en-US" sz="3000" dirty="0"/>
          </a:p>
        </p:txBody>
      </p:sp>
      <p:sp>
        <p:nvSpPr>
          <p:cNvPr id="5" name="Text 3"/>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  Week 12  ·  Virtue: Perseverance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Today's Objectives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686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BIG QUESTION</a:t>
            </a:r>
            <a:endParaRPr lang="en-US" sz="1100" dirty="0"/>
          </a:p>
        </p:txBody>
      </p:sp>
      <p:sp>
        <p:nvSpPr>
          <p:cNvPr id="5" name="Shape 3"/>
          <p:cNvSpPr/>
          <p:nvPr/>
        </p:nvSpPr>
        <p:spPr>
          <a:xfrm>
            <a:off x="365760" y="1115568"/>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07008"/>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Today you read Chapter 13 and continue drafting your expository research piece. Keep asking: How do conflict and setting shape Nat’s decisions?</a:t>
            </a:r>
            <a:endParaRPr lang="en-US" sz="1300" dirty="0"/>
          </a:p>
        </p:txBody>
      </p:sp>
      <p:sp>
        <p:nvSpPr>
          <p:cNvPr id="7" name="Text 5"/>
          <p:cNvSpPr/>
          <p:nvPr/>
        </p:nvSpPr>
        <p:spPr>
          <a:xfrm>
            <a:off x="365760" y="20116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BY THE END OF THIS LESSON...</a:t>
            </a:r>
            <a:endParaRPr lang="en-US" sz="1100" dirty="0"/>
          </a:p>
        </p:txBody>
      </p:sp>
      <p:sp>
        <p:nvSpPr>
          <p:cNvPr id="8" name="Shape 6"/>
          <p:cNvSpPr/>
          <p:nvPr/>
        </p:nvSpPr>
        <p:spPr>
          <a:xfrm>
            <a:off x="365760" y="2286000"/>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359152"/>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Morphology: </a:t>
            </a:r>
            <a:pPr indent="0" marL="0">
              <a:buNone/>
            </a:pPr>
            <a:r>
              <a:rPr lang="en-US" sz="1250" dirty="0">
                <a:solidFill>
                  <a:srgbClr val="1E293B"/>
                </a:solidFill>
                <a:latin typeface="Calibri" pitchFamily="34" charset="0"/>
                <a:ea typeface="Calibri" pitchFamily="34" charset="-122"/>
                <a:cs typeface="Calibri" pitchFamily="34" charset="-120"/>
              </a:rPr>
              <a:t>Define suffixes -al and -ous; learn how they form adjectives.</a:t>
            </a:r>
            <a:endParaRPr lang="en-US" sz="1500" dirty="0"/>
          </a:p>
        </p:txBody>
      </p:sp>
      <p:sp>
        <p:nvSpPr>
          <p:cNvPr id="10" name="Shape 8"/>
          <p:cNvSpPr/>
          <p:nvPr/>
        </p:nvSpPr>
        <p:spPr>
          <a:xfrm>
            <a:off x="365760" y="3090672"/>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163824"/>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Grammar: </a:t>
            </a:r>
            <a:pPr indent="0" marL="0">
              <a:buNone/>
            </a:pPr>
            <a:r>
              <a:rPr lang="en-US" sz="1250" dirty="0">
                <a:solidFill>
                  <a:srgbClr val="1E293B"/>
                </a:solidFill>
                <a:latin typeface="Calibri" pitchFamily="34" charset="0"/>
                <a:ea typeface="Calibri" pitchFamily="34" charset="-122"/>
                <a:cs typeface="Calibri" pitchFamily="34" charset="-120"/>
              </a:rPr>
              <a:t>Define prepositional phrases; learn what detail they add.</a:t>
            </a:r>
            <a:endParaRPr lang="en-US" sz="1500" dirty="0"/>
          </a:p>
        </p:txBody>
      </p:sp>
      <p:sp>
        <p:nvSpPr>
          <p:cNvPr id="12" name="Shape 10"/>
          <p:cNvSpPr/>
          <p:nvPr/>
        </p:nvSpPr>
        <p:spPr>
          <a:xfrm>
            <a:off x="365760" y="3895344"/>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968496"/>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Spelling: </a:t>
            </a:r>
            <a:pPr indent="0" marL="0">
              <a:buNone/>
            </a:pPr>
            <a:r>
              <a:rPr lang="en-US" sz="1250" dirty="0">
                <a:solidFill>
                  <a:srgbClr val="1E293B"/>
                </a:solidFill>
                <a:latin typeface="Calibri" pitchFamily="34" charset="0"/>
                <a:ea typeface="Calibri" pitchFamily="34" charset="-122"/>
                <a:cs typeface="Calibri" pitchFamily="34" charset="-120"/>
              </a:rPr>
              <a:t>Discover the three spellings of -ous (-ous, -ious, -eous).</a:t>
            </a:r>
            <a:endParaRPr lang="en-US" sz="1500" dirty="0"/>
          </a:p>
        </p:txBody>
      </p:sp>
      <p:sp>
        <p:nvSpPr>
          <p:cNvPr id="14" name="Shape 12"/>
          <p:cNvSpPr/>
          <p:nvPr/>
        </p:nvSpPr>
        <p:spPr>
          <a:xfrm>
            <a:off x="365760" y="4700016"/>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4773168"/>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Reading: </a:t>
            </a:r>
            <a:pPr indent="0" marL="0">
              <a:buNone/>
            </a:pPr>
            <a:r>
              <a:rPr lang="en-US" sz="1250" dirty="0">
                <a:solidFill>
                  <a:srgbClr val="1E293B"/>
                </a:solidFill>
                <a:latin typeface="Calibri" pitchFamily="34" charset="0"/>
                <a:ea typeface="Calibri" pitchFamily="34" charset="-122"/>
                <a:cs typeface="Calibri" pitchFamily="34" charset="-120"/>
              </a:rPr>
              <a:t>Chapter 13 — Discovery</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What Good Readers Do</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SET YOUR READING LENS</a:t>
            </a:r>
            <a:endParaRPr lang="en-US" sz="1100" dirty="0"/>
          </a:p>
        </p:txBody>
      </p:sp>
      <p:sp>
        <p:nvSpPr>
          <p:cNvPr id="5" name="Shape 3"/>
          <p:cNvSpPr/>
          <p:nvPr/>
        </p:nvSpPr>
        <p:spPr>
          <a:xfrm>
            <a:off x="365760" y="1078992"/>
            <a:ext cx="8412480" cy="1051560"/>
          </a:xfrm>
          <a:prstGeom prst="roundRect">
            <a:avLst>
              <a:gd name="adj" fmla="val 869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955280" cy="86868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Chapter 13 is built around a conflict that Nat could not ignore: he discovers that the navigation book sailors trust with their lives — Moore’s Navigator — contains hundreds of calculation errors. The setting makes everything urgent: he is at sea, surrounded by men whose safety depends on accurate navigation. The conflict shapes his decision: does he stay quiet, or speak up?</a:t>
            </a:r>
            <a:endParaRPr lang="en-US" sz="1300" dirty="0"/>
          </a:p>
        </p:txBody>
      </p:sp>
      <p:sp>
        <p:nvSpPr>
          <p:cNvPr id="7" name="Text 5"/>
          <p:cNvSpPr/>
          <p:nvPr/>
        </p:nvSpPr>
        <p:spPr>
          <a:xfrm>
            <a:off x="365760" y="228600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FOR THIS AS YOU READ</a:t>
            </a:r>
            <a:endParaRPr lang="en-US" sz="1100" dirty="0"/>
          </a:p>
        </p:txBody>
      </p:sp>
      <p:sp>
        <p:nvSpPr>
          <p:cNvPr id="8" name="Shape 6"/>
          <p:cNvSpPr/>
          <p:nvPr/>
        </p:nvSpPr>
        <p:spPr>
          <a:xfrm>
            <a:off x="365760" y="2606040"/>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679192"/>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How does the setting of being at sea shape Nat’s response to what he discovers? Would his decision be different if he were back in Salem?</a:t>
            </a:r>
            <a:endParaRPr lang="en-US" sz="1300" dirty="0"/>
          </a:p>
        </p:txBody>
      </p:sp>
      <p:sp>
        <p:nvSpPr>
          <p:cNvPr id="10" name="Shape 8"/>
          <p:cNvSpPr/>
          <p:nvPr/>
        </p:nvSpPr>
        <p:spPr>
          <a:xfrm>
            <a:off x="365760" y="3319272"/>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392424"/>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What is the conflict Nat faces in Chapter 13? Who or what is he in conflict with — a person, an idea, or a system?</a:t>
            </a:r>
            <a:endParaRPr lang="en-US" sz="1300" dirty="0"/>
          </a:p>
        </p:txBody>
      </p:sp>
      <p:sp>
        <p:nvSpPr>
          <p:cNvPr id="12" name="Shape 10"/>
          <p:cNvSpPr/>
          <p:nvPr/>
        </p:nvSpPr>
        <p:spPr>
          <a:xfrm>
            <a:off x="365760" y="4032504"/>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4105656"/>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Nat finds the errors in Moore’s Navigator. What does he decide to do? How does this decision reveal his character?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Study What's Right</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TAP TO NOTICE</a:t>
            </a:r>
            <a:endParaRPr lang="en-US" sz="1100" dirty="0"/>
          </a:p>
        </p:txBody>
      </p:sp>
      <p:sp>
        <p:nvSpPr>
          <p:cNvPr id="5" name="Shape 3"/>
          <p:cNvSpPr/>
          <p:nvPr/>
        </p:nvSpPr>
        <p:spPr>
          <a:xfrm>
            <a:off x="365760" y="1078992"/>
            <a:ext cx="841248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68580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 discovered erroneous calculations throughout the almanac , and he without hesitation began correcting them.</a:t>
            </a:r>
            <a:endParaRPr lang="en-US" sz="1600" dirty="0"/>
          </a:p>
        </p:txBody>
      </p:sp>
      <p:sp>
        <p:nvSpPr>
          <p:cNvPr id="7" name="Text 5"/>
          <p:cNvSpPr/>
          <p:nvPr/>
        </p:nvSpPr>
        <p:spPr>
          <a:xfrm>
            <a:off x="365760" y="210312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EACH TAPPED WORD TEACHES</a:t>
            </a:r>
            <a:endParaRPr lang="en-US" sz="1100" dirty="0"/>
          </a:p>
        </p:txBody>
      </p:sp>
      <p:sp>
        <p:nvSpPr>
          <p:cNvPr id="8" name="Shape 6"/>
          <p:cNvSpPr/>
          <p:nvPr/>
        </p:nvSpPr>
        <p:spPr>
          <a:xfrm>
            <a:off x="365760" y="2377440"/>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432304"/>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erroneous  </a:t>
            </a:r>
            <a:pPr indent="0" marL="0">
              <a:buNone/>
            </a:pPr>
            <a:r>
              <a:rPr lang="en-US" sz="1200" dirty="0">
                <a:solidFill>
                  <a:srgbClr val="1E293B"/>
                </a:solidFill>
                <a:latin typeface="Calibri" pitchFamily="34" charset="0"/>
                <a:ea typeface="Calibri" pitchFamily="34" charset="-122"/>
                <a:cs typeface="Calibri" pitchFamily="34" charset="-120"/>
              </a:rPr>
              <a:t>“erroneous” uses the suffix -eous (full of errors). The base is the Latin errare (to wander/stray).</a:t>
            </a:r>
            <a:endParaRPr lang="en-US" sz="1300" dirty="0"/>
          </a:p>
        </p:txBody>
      </p:sp>
      <p:sp>
        <p:nvSpPr>
          <p:cNvPr id="10" name="Shape 8"/>
          <p:cNvSpPr/>
          <p:nvPr/>
        </p:nvSpPr>
        <p:spPr>
          <a:xfrm>
            <a:off x="365760" y="2953512"/>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008376"/>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throughout the almanac  </a:t>
            </a:r>
            <a:pPr indent="0" marL="0">
              <a:buNone/>
            </a:pPr>
            <a:r>
              <a:rPr lang="en-US" sz="1200" dirty="0">
                <a:solidFill>
                  <a:srgbClr val="1E293B"/>
                </a:solidFill>
                <a:latin typeface="Calibri" pitchFamily="34" charset="0"/>
                <a:ea typeface="Calibri" pitchFamily="34" charset="-122"/>
                <a:cs typeface="Calibri" pitchFamily="34" charset="-120"/>
              </a:rPr>
              <a:t>“throughout the almanac” is a prepositional phrase telling where the errors appeared.</a:t>
            </a:r>
            <a:endParaRPr lang="en-US" sz="1300" dirty="0"/>
          </a:p>
        </p:txBody>
      </p:sp>
      <p:sp>
        <p:nvSpPr>
          <p:cNvPr id="12" name="Shape 10"/>
          <p:cNvSpPr/>
          <p:nvPr/>
        </p:nvSpPr>
        <p:spPr>
          <a:xfrm>
            <a:off x="365760" y="3529584"/>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584448"/>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without hesitation  </a:t>
            </a:r>
            <a:pPr indent="0" marL="0">
              <a:buNone/>
            </a:pPr>
            <a:r>
              <a:rPr lang="en-US" sz="1200" dirty="0">
                <a:solidFill>
                  <a:srgbClr val="1E293B"/>
                </a:solidFill>
                <a:latin typeface="Calibri" pitchFamily="34" charset="0"/>
                <a:ea typeface="Calibri" pitchFamily="34" charset="-122"/>
                <a:cs typeface="Calibri" pitchFamily="34" charset="-120"/>
              </a:rPr>
              <a:t>“without hesitation” is a prepositional phrase telling in what manner he began.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hazardous errors in moores navigator put every ship at risk that sailed without accurate charts</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hazardous errors in moores navigator put every ship at risk that sailed without accurate charts</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
        <p:nvSpPr>
          <p:cNvPr id="10" name="Shape 8"/>
          <p:cNvSpPr/>
          <p:nvPr/>
        </p:nvSpPr>
        <p:spPr>
          <a:xfrm>
            <a:off x="365760" y="2468880"/>
            <a:ext cx="8412480" cy="1371600"/>
          </a:xfrm>
          <a:prstGeom prst="roundRect">
            <a:avLst>
              <a:gd name="adj" fmla="val 6667"/>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56032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2" name="Text 10"/>
          <p:cNvSpPr/>
          <p:nvPr/>
        </p:nvSpPr>
        <p:spPr>
          <a:xfrm>
            <a:off x="594360" y="2834640"/>
            <a:ext cx="7955280" cy="457200"/>
          </a:xfrm>
          <a:prstGeom prst="rect">
            <a:avLst/>
          </a:prstGeom>
          <a:noFill/>
          <a:ln/>
        </p:spPr>
        <p:txBody>
          <a:bodyPr wrap="square" lIns="0" tIns="0" rIns="0" bIns="0" rtlCol="0" anchor="ctr"/>
          <a:lstStyle/>
          <a:p>
            <a:pPr indent="0" marL="0">
              <a:buNone/>
            </a:pPr>
            <a:r>
              <a:rPr lang="en-US" sz="1500" b="1" i="1" dirty="0">
                <a:solidFill>
                  <a:srgbClr val="1E293B"/>
                </a:solidFill>
                <a:latin typeface="Calibri" pitchFamily="34" charset="0"/>
                <a:ea typeface="Calibri" pitchFamily="34" charset="-122"/>
                <a:cs typeface="Calibri" pitchFamily="34" charset="-120"/>
              </a:rPr>
              <a:t>The hazardous errors in Moore’s Navigator put every ship at risk that sailed without accurate charts.</a:t>
            </a:r>
            <a:endParaRPr lang="en-US" sz="1500" dirty="0"/>
          </a:p>
        </p:txBody>
      </p:sp>
      <p:sp>
        <p:nvSpPr>
          <p:cNvPr id="13" name="Text 11"/>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Fixes: capitalize “The”; “Moore’s Navigator” is a proper noun; apostrophe in “Moore’s”; period at end.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Quick Write (Optional)</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280160"/>
            <a:ext cx="8229600" cy="1463040"/>
          </a:xfrm>
          <a:prstGeom prst="roundRect">
            <a:avLst>
              <a:gd name="adj" fmla="val 625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389888"/>
            <a:ext cx="7863840" cy="12344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 discovers real errors in the navigator's tables that sailors have trusted for years. Is it braver to point out someone else's mistake, or to fix it yourself and move on quietly? Defend your answer with evidence from Chapter 13.</a:t>
            </a:r>
            <a:endParaRPr lang="en-US" sz="1600" dirty="0"/>
          </a:p>
        </p:txBody>
      </p:sp>
      <p:sp>
        <p:nvSpPr>
          <p:cNvPr id="7" name="Text 5"/>
          <p:cNvSpPr/>
          <p:nvPr/>
        </p:nvSpPr>
        <p:spPr>
          <a:xfrm>
            <a:off x="457200" y="2926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SENTENCE SCAFFOLD (USE WHAT HELPS)</a:t>
            </a:r>
            <a:endParaRPr lang="en-US" sz="1100" dirty="0"/>
          </a:p>
        </p:txBody>
      </p:sp>
      <p:sp>
        <p:nvSpPr>
          <p:cNvPr id="8" name="Text 6"/>
          <p:cNvSpPr/>
          <p:nvPr/>
        </p:nvSpPr>
        <p:spPr>
          <a:xfrm>
            <a:off x="457200" y="3218688"/>
            <a:ext cx="8229600" cy="822960"/>
          </a:xfrm>
          <a:prstGeom prst="rect">
            <a:avLst/>
          </a:prstGeom>
          <a:noFill/>
          <a:ln/>
        </p:spPr>
        <p:txBody>
          <a:bodyPr wrap="square" lIns="0" tIns="0" rIns="0" bIns="0" rtlCol="0" anchor="ctr"/>
          <a:lstStyle/>
          <a:p>
            <a:pPr indent="0" marL="0">
              <a:buNone/>
            </a:pPr>
            <a:r>
              <a:rPr lang="en-US" sz="1150" i="1" dirty="0">
                <a:solidFill>
                  <a:srgbClr val="0E1C42"/>
                </a:solidFill>
                <a:latin typeface="Calibri" pitchFamily="34" charset="0"/>
                <a:ea typeface="Calibri" pitchFamily="34" charset="-122"/>
                <a:cs typeface="Calibri" pitchFamily="34" charset="-120"/>
              </a:rPr>
              <a:t>I think...   →   because...   →   One piece of evidence is...   →   This matters because...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  Writing Time</a:t>
            </a:r>
            <a:endParaRPr lang="en-US" sz="3000" dirty="0"/>
          </a:p>
        </p:txBody>
      </p:sp>
      <p:sp>
        <p:nvSpPr>
          <p:cNvPr id="3" name="Text 1"/>
          <p:cNvSpPr/>
          <p:nvPr/>
        </p:nvSpPr>
        <p:spPr>
          <a:xfrm>
            <a:off x="914400" y="804672"/>
            <a:ext cx="7315200" cy="365760"/>
          </a:xfrm>
          <a:prstGeom prst="rect">
            <a:avLst/>
          </a:prstGeom>
          <a:noFill/>
          <a:ln/>
        </p:spPr>
        <p:txBody>
          <a:bodyPr wrap="square" lIns="0" tIns="0" rIns="0" bIns="0" rtlCol="0" anchor="ctr"/>
          <a:lstStyle/>
          <a:p>
            <a:pPr algn="ctr" indent="0" marL="0">
              <a:buNone/>
            </a:pPr>
            <a:r>
              <a:rPr lang="en-US" sz="1500" dirty="0">
                <a:solidFill>
                  <a:srgbClr val="C7922C"/>
                </a:solidFill>
                <a:latin typeface="Calibri" pitchFamily="34" charset="0"/>
                <a:ea typeface="Calibri" pitchFamily="34" charset="-122"/>
                <a:cs typeface="Calibri" pitchFamily="34" charset="-120"/>
              </a:rPr>
              <a:t>5 minutes — keep your pencil moving!</a:t>
            </a:r>
            <a:endParaRPr lang="en-US" sz="1500" dirty="0"/>
          </a:p>
        </p:txBody>
      </p:sp>
      <p:sp>
        <p:nvSpPr>
          <p:cNvPr id="4" name="Shape 2"/>
          <p:cNvSpPr/>
          <p:nvPr/>
        </p:nvSpPr>
        <p:spPr>
          <a:xfrm>
            <a:off x="457200" y="1325880"/>
            <a:ext cx="8229600" cy="1188720"/>
          </a:xfrm>
          <a:prstGeom prst="roundRect">
            <a:avLst>
              <a:gd name="adj" fmla="val 7692"/>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7863840" cy="109728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Nat discovers real errors in the navigator's tables that sailors have trusted for years. Is it braver to point out someone else's mistake, or to fix it yourself and move on quietly? Defend your answer with evidence from Chapter 13.</a:t>
            </a:r>
            <a:endParaRPr lang="en-US" sz="1200" dirty="0"/>
          </a:p>
        </p:txBody>
      </p:sp>
      <p:sp>
        <p:nvSpPr>
          <p:cNvPr id="6" name="Shape 4"/>
          <p:cNvSpPr/>
          <p:nvPr/>
        </p:nvSpPr>
        <p:spPr>
          <a:xfrm>
            <a:off x="1554480" y="2743200"/>
            <a:ext cx="6035040" cy="1600200"/>
          </a:xfrm>
          <a:prstGeom prst="roundRect">
            <a:avLst>
              <a:gd name="adj" fmla="val 6857"/>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1737360" y="2834640"/>
            <a:ext cx="5669280" cy="14173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Scaffold, if you need it:
</a:t>
            </a:r>
            <a:pPr indent="0" marL="0">
              <a:buNone/>
            </a:pPr>
            <a:r>
              <a:rPr lang="en-US" sz="1150" dirty="0">
                <a:solidFill>
                  <a:srgbClr val="1E293B"/>
                </a:solidFill>
                <a:latin typeface="Calibri" pitchFamily="34" charset="0"/>
                <a:ea typeface="Calibri" pitchFamily="34" charset="-122"/>
                <a:cs typeface="Calibri" pitchFamily="34" charset="-120"/>
              </a:rPr>
              <a:t>I think...</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One piece of evidence is...</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This matters because...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20040"/>
            <a:ext cx="1828800" cy="548640"/>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3" name="Text 1"/>
          <p:cNvSpPr/>
          <p:nvPr/>
        </p:nvSpPr>
        <p:spPr>
          <a:xfrm>
            <a:off x="914400" y="822960"/>
            <a:ext cx="7315200" cy="594360"/>
          </a:xfrm>
          <a:prstGeom prst="rect">
            <a:avLst/>
          </a:prstGeom>
          <a:noFill/>
          <a:ln/>
        </p:spPr>
        <p:txBody>
          <a:bodyPr wrap="square" lIns="0" tIns="0" rIns="0" bIns="0" rtlCol="0" anchor="ctr"/>
          <a:lstStyle/>
          <a:p>
            <a:pPr algn="ctr" indent="0" marL="0">
              <a:buNone/>
            </a:pPr>
            <a:r>
              <a:rPr lang="en-US" sz="2800" b="1" dirty="0">
                <a:solidFill>
                  <a:srgbClr val="0E1C42"/>
                </a:solidFill>
                <a:latin typeface="Calibri" pitchFamily="34" charset="0"/>
                <a:ea typeface="Calibri" pitchFamily="34" charset="-122"/>
                <a:cs typeface="Calibri" pitchFamily="34" charset="-120"/>
              </a:rPr>
              <a:t>Edit &amp; Revise</a:t>
            </a:r>
            <a:endParaRPr lang="en-US" sz="2800" dirty="0"/>
          </a:p>
        </p:txBody>
      </p:sp>
      <p:sp>
        <p:nvSpPr>
          <p:cNvPr id="4" name="Text 2"/>
          <p:cNvSpPr/>
          <p:nvPr/>
        </p:nvSpPr>
        <p:spPr>
          <a:xfrm>
            <a:off x="914400" y="1371600"/>
            <a:ext cx="7315200" cy="411480"/>
          </a:xfrm>
          <a:prstGeom prst="rect">
            <a:avLst/>
          </a:prstGeom>
          <a:noFill/>
          <a:ln/>
        </p:spPr>
        <p:txBody>
          <a:bodyPr wrap="square" lIns="0" tIns="0" rIns="0" bIns="0" rtlCol="0" anchor="ctr"/>
          <a:lstStyle/>
          <a:p>
            <a:pPr algn="ctr" indent="0" marL="0">
              <a:buNone/>
            </a:pPr>
            <a:r>
              <a:rPr lang="en-US" sz="1400" dirty="0">
                <a:solidFill>
                  <a:srgbClr val="34B76F"/>
                </a:solidFill>
                <a:latin typeface="Calibri" pitchFamily="34" charset="0"/>
                <a:ea typeface="Calibri" pitchFamily="34" charset="-122"/>
                <a:cs typeface="Calibri" pitchFamily="34" charset="-120"/>
              </a:rPr>
              <a:t>1 minute — one deliberate decision, not a full edit pass</a:t>
            </a:r>
            <a:endParaRPr lang="en-US" sz="1400" dirty="0"/>
          </a:p>
        </p:txBody>
      </p:sp>
      <p:sp>
        <p:nvSpPr>
          <p:cNvPr id="5" name="Shape 3"/>
          <p:cNvSpPr/>
          <p:nvPr/>
        </p:nvSpPr>
        <p:spPr>
          <a:xfrm>
            <a:off x="1188720" y="2011680"/>
            <a:ext cx="676656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371600" y="2084832"/>
            <a:ext cx="6400800" cy="640080"/>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Today's revision check: </a:t>
            </a:r>
            <a:pPr indent="0" marL="0">
              <a:buNone/>
            </a:pPr>
            <a:r>
              <a:rPr lang="en-US" sz="1300" dirty="0">
                <a:solidFill>
                  <a:srgbClr val="1E293B"/>
                </a:solidFill>
                <a:latin typeface="Calibri" pitchFamily="34" charset="0"/>
                <a:ea typeface="Calibri" pitchFamily="34" charset="-122"/>
                <a:cs typeface="Calibri" pitchFamily="34" charset="-120"/>
              </a:rPr>
              <a:t>Is there a detail here I could cut because it doesn't support my point?</a:t>
            </a:r>
            <a:endParaRPr lang="en-US" sz="1300" dirty="0"/>
          </a:p>
        </p:txBody>
      </p:sp>
      <p:sp>
        <p:nvSpPr>
          <p:cNvPr id="7" name="Text 5"/>
          <p:cNvSpPr/>
          <p:nvPr/>
        </p:nvSpPr>
        <p:spPr>
          <a:xfrm>
            <a:off x="1188720" y="3017520"/>
            <a:ext cx="6766560" cy="45720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Revision = improving ideas. Editing = fixing conventions. Pick ONE thing.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1005840"/>
            <a:ext cx="7315200" cy="59436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Share Time</a:t>
            </a:r>
            <a:endParaRPr lang="en-US" sz="3000" dirty="0"/>
          </a:p>
        </p:txBody>
      </p:sp>
      <p:sp>
        <p:nvSpPr>
          <p:cNvPr id="4" name="Text 2"/>
          <p:cNvSpPr/>
          <p:nvPr/>
        </p:nvSpPr>
        <p:spPr>
          <a:xfrm>
            <a:off x="914400" y="1554480"/>
            <a:ext cx="7315200" cy="411480"/>
          </a:xfrm>
          <a:prstGeom prst="rect">
            <a:avLst/>
          </a:prstGeom>
          <a:noFill/>
          <a:ln/>
        </p:spPr>
        <p:txBody>
          <a:bodyPr wrap="square" lIns="0" tIns="0" rIns="0" bIns="0" rtlCol="0" anchor="ctr"/>
          <a:lstStyle/>
          <a:p>
            <a:pPr algn="ctr" indent="0" marL="0">
              <a:buNone/>
            </a:pPr>
            <a:r>
              <a:rPr lang="en-US" sz="1500" dirty="0">
                <a:solidFill>
                  <a:srgbClr val="55C8E8"/>
                </a:solidFill>
                <a:latin typeface="Calibri" pitchFamily="34" charset="0"/>
                <a:ea typeface="Calibri" pitchFamily="34" charset="-122"/>
                <a:cs typeface="Calibri" pitchFamily="34" charset="-120"/>
              </a:rPr>
              <a:t>3 minutes — let's hear your thinking!</a:t>
            </a:r>
            <a:endParaRPr lang="en-US" sz="1500" dirty="0"/>
          </a:p>
        </p:txBody>
      </p:sp>
      <p:sp>
        <p:nvSpPr>
          <p:cNvPr id="5" name="Shape 3"/>
          <p:cNvSpPr/>
          <p:nvPr/>
        </p:nvSpPr>
        <p:spPr>
          <a:xfrm>
            <a:off x="1828800" y="2194560"/>
            <a:ext cx="5486400" cy="1371600"/>
          </a:xfrm>
          <a:prstGeom prst="roundRect">
            <a:avLst>
              <a:gd name="adj" fmla="val 8000"/>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011680" y="2286000"/>
            <a:ext cx="5120640" cy="11887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Raise your hand </a:t>
            </a:r>
            <a:pPr indent="0" marL="0">
              <a:buNone/>
            </a:pPr>
            <a:r>
              <a:rPr lang="en-US" sz="1300" dirty="0">
                <a:solidFill>
                  <a:srgbClr val="1E293B"/>
                </a:solidFill>
                <a:latin typeface="Calibri" pitchFamily="34" charset="0"/>
                <a:ea typeface="Calibri" pitchFamily="34" charset="-122"/>
                <a:cs typeface="Calibri" pitchFamily="34" charset="-120"/>
              </a:rPr>
              <a:t>to share, or paste your writing in the chat.
</a:t>
            </a:r>
            <a:pPr indent="0" marL="0">
              <a:buNone/>
            </a:pPr>
            <a:r>
              <a:rPr lang="en-US" sz="1200" i="1" dirty="0">
                <a:solidFill>
                  <a:srgbClr val="64748B"/>
                </a:solidFill>
                <a:latin typeface="Calibri" pitchFamily="34" charset="0"/>
                <a:ea typeface="Calibri" pitchFamily="34" charset="-122"/>
                <a:cs typeface="Calibri" pitchFamily="34" charset="-120"/>
              </a:rPr>
              <a:t>If you disagree with a classmate's choice, say so respectfully — that's part of the thinking.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Morphology</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Morphology: Suffixes -al and -ous</a:t>
            </a:r>
            <a:endParaRPr lang="en-US" sz="1100" dirty="0"/>
          </a:p>
        </p:txBody>
      </p:sp>
      <p:sp>
        <p:nvSpPr>
          <p:cNvPr id="5" name="Shape 3"/>
          <p:cNvSpPr/>
          <p:nvPr/>
        </p:nvSpPr>
        <p:spPr>
          <a:xfrm>
            <a:off x="365760" y="1097280"/>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-al — means “relating to” or “of the nature of.” It turns a noun into an adjective. | naut (sailor/ship) + ical → nautical — relating to ships and sailors | math (measurement) + ematical → mathematical — relating to mathematics | practic + al → practical — relating to actual practice; useful | lun (moon, Latin) + ar → lunar — relating to the moon | -ous — means “full of” or “having the quality of.” It turns a noun into an adjective. | hazard + ous → hazardous — full of hazard; dangerous | error → erroneous — full of errors; mistaken (Latin: errōneus ) | rigor + ous → rigorous — full of rigor; very demanding and thorough | courage + ous → courageous — full of courage</a:t>
            </a:r>
            <a:endParaRPr lang="en-US" sz="1150" dirty="0"/>
          </a:p>
        </p:txBody>
      </p:sp>
      <p:sp>
        <p:nvSpPr>
          <p:cNvPr id="7" name="Shape 5"/>
          <p:cNvSpPr/>
          <p:nvPr/>
        </p:nvSpPr>
        <p:spPr>
          <a:xfrm>
            <a:off x="365760" y="1664208"/>
            <a:ext cx="8412480" cy="502920"/>
          </a:xfrm>
          <a:prstGeom prst="roundRect">
            <a:avLst>
              <a:gd name="adj" fmla="val 18182"/>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719072"/>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naut ___ — relating to sailors, ships, and the sea → ical</a:t>
            </a:r>
            <a:endParaRPr lang="en-US" sz="1150" dirty="0"/>
          </a:p>
        </p:txBody>
      </p:sp>
      <p:sp>
        <p:nvSpPr>
          <p:cNvPr id="9" name="Shape 7"/>
          <p:cNvSpPr/>
          <p:nvPr/>
        </p:nvSpPr>
        <p:spPr>
          <a:xfrm>
            <a:off x="365760" y="223113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286000"/>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hazard ___ — full of danger; risky → ous</a:t>
            </a:r>
            <a:endParaRPr lang="en-US" sz="1150" dirty="0"/>
          </a:p>
        </p:txBody>
      </p:sp>
      <p:sp>
        <p:nvSpPr>
          <p:cNvPr id="11" name="Shape 9"/>
          <p:cNvSpPr/>
          <p:nvPr/>
        </p:nvSpPr>
        <p:spPr>
          <a:xfrm>
            <a:off x="365760" y="2798064"/>
            <a:ext cx="8412480" cy="502920"/>
          </a:xfrm>
          <a:prstGeom prst="roundRect">
            <a:avLst>
              <a:gd name="adj" fmla="val 18182"/>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2852928"/>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practic ___ — useful in actual practice; applied → al</a:t>
            </a:r>
            <a:endParaRPr lang="en-US" sz="1150" dirty="0"/>
          </a:p>
        </p:txBody>
      </p:sp>
      <p:sp>
        <p:nvSpPr>
          <p:cNvPr id="13" name="Shape 11"/>
          <p:cNvSpPr/>
          <p:nvPr/>
        </p:nvSpPr>
        <p:spPr>
          <a:xfrm>
            <a:off x="365760" y="3410712"/>
            <a:ext cx="8412480" cy="777240"/>
          </a:xfrm>
          <a:prstGeom prst="roundRect">
            <a:avLst>
              <a:gd name="adj" fmla="val 11765"/>
            </a:avLst>
          </a:prstGeom>
          <a:solidFill>
            <a:srgbClr val="FEF6E8"/>
          </a:solidFill>
          <a:ln w="12700">
            <a:solidFill>
              <a:srgbClr val="C7922C"/>
            </a:solidFill>
            <a:prstDash val="solid"/>
          </a:ln>
        </p:spPr>
      </p:sp>
      <p:sp>
        <p:nvSpPr>
          <p:cNvPr id="14" name="Text 12"/>
          <p:cNvSpPr/>
          <p:nvPr/>
        </p:nvSpPr>
        <p:spPr>
          <a:xfrm>
            <a:off x="548640" y="3483864"/>
            <a:ext cx="8046720" cy="640080"/>
          </a:xfrm>
          <a:prstGeom prst="rect">
            <a:avLst/>
          </a:prstGeom>
          <a:noFill/>
          <a:ln/>
        </p:spPr>
        <p:txBody>
          <a:bodyPr wrap="square" lIns="0" tIns="0" rIns="0" bIns="0" rtlCol="0" anchor="t"/>
          <a:lstStyle/>
          <a:p>
            <a:pPr indent="0" marL="0">
              <a:buNone/>
            </a:pPr>
            <a:r>
              <a:rPr lang="en-US" sz="1100" b="1" dirty="0">
                <a:solidFill>
                  <a:srgbClr val="C7922C"/>
                </a:solidFill>
                <a:latin typeface="Calibri" pitchFamily="34" charset="0"/>
                <a:ea typeface="Calibri" pitchFamily="34" charset="-122"/>
                <a:cs typeface="Calibri" pitchFamily="34" charset="-120"/>
              </a:rPr>
              <a:t>🫖 Show What You Know · Morphology
</a:t>
            </a:r>
            <a:pPr indent="0" marL="0">
              <a:buNone/>
            </a:pPr>
            <a:r>
              <a:rPr lang="en-US" sz="1100" i="1" dirty="0">
                <a:solidFill>
                  <a:srgbClr val="1E293B"/>
                </a:solidFill>
                <a:latin typeface="Calibri" pitchFamily="34" charset="0"/>
                <a:ea typeface="Calibri" pitchFamily="34" charset="-122"/>
                <a:cs typeface="Calibri" pitchFamily="34" charset="-120"/>
              </a:rPr>
              <a:t>Choose one word from this week’s vocabulary: lunar, nautical, hazardous, practical, or mathematical . Identify which suffix it uses (-al or -ous). Break the word into its base and suffix. Explain how the suffix contributes to the word’s meaning. Write a sentence connecting that word to the conflict in Chapter 13.</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Vocabulary — Decode &amp; Discover</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Six adjectives from Chapters 13–16</a:t>
            </a:r>
            <a:endParaRPr lang="en-US" sz="1100" dirty="0"/>
          </a:p>
        </p:txBody>
      </p:sp>
      <p:sp>
        <p:nvSpPr>
          <p:cNvPr id="5" name="Shape 3"/>
          <p:cNvSpPr/>
          <p:nvPr/>
        </p:nvSpPr>
        <p:spPr>
          <a:xfrm>
            <a:off x="365760" y="1097280"/>
            <a:ext cx="8412480" cy="621792"/>
          </a:xfrm>
          <a:prstGeom prst="roundRect">
            <a:avLst>
              <a:gd name="adj" fmla="val 14706"/>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512064"/>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lunar  </a:t>
            </a:r>
            <a:pPr indent="0" marL="0">
              <a:buNone/>
            </a:pPr>
            <a:r>
              <a:rPr lang="en-US" sz="1100" dirty="0">
                <a:solidFill>
                  <a:srgbClr val="1E293B"/>
                </a:solidFill>
                <a:latin typeface="Calibri" pitchFamily="34" charset="0"/>
                <a:ea typeface="Calibri" pitchFamily="34" charset="-122"/>
                <a:cs typeface="Calibri" pitchFamily="34" charset="-120"/>
              </a:rPr>
              <a:t>Relating to the moon. From Latin luna (moon) + -ar (relating to). Lunar observations were essential for calculating longitude at sea before modern GPS.</a:t>
            </a:r>
            <a:endParaRPr lang="en-US" sz="1300" dirty="0"/>
          </a:p>
        </p:txBody>
      </p:sp>
      <p:sp>
        <p:nvSpPr>
          <p:cNvPr id="7" name="Shape 5"/>
          <p:cNvSpPr/>
          <p:nvPr/>
        </p:nvSpPr>
        <p:spPr>
          <a:xfrm>
            <a:off x="365760" y="1783080"/>
            <a:ext cx="8412480" cy="621792"/>
          </a:xfrm>
          <a:prstGeom prst="roundRect">
            <a:avLst>
              <a:gd name="adj" fmla="val 14706"/>
            </a:avLst>
          </a:prstGeom>
          <a:solidFill>
            <a:srgbClr val="EAF6FA"/>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837944"/>
            <a:ext cx="8046720" cy="512064"/>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nautical  </a:t>
            </a:r>
            <a:pPr indent="0" marL="0">
              <a:buNone/>
            </a:pPr>
            <a:r>
              <a:rPr lang="en-US" sz="1100" dirty="0">
                <a:solidFill>
                  <a:srgbClr val="1E293B"/>
                </a:solidFill>
                <a:latin typeface="Calibri" pitchFamily="34" charset="0"/>
                <a:ea typeface="Calibri" pitchFamily="34" charset="-122"/>
                <a:cs typeface="Calibri" pitchFamily="34" charset="-120"/>
              </a:rPr>
              <a:t>Relating to sailors, ships, or navigation. From Greek naut (sailor) + -ical . A nautical mile (about 1.15 land miles) is based on one minute of arc of the earth’s circumference.</a:t>
            </a:r>
            <a:endParaRPr lang="en-US" sz="1300" dirty="0"/>
          </a:p>
        </p:txBody>
      </p:sp>
      <p:sp>
        <p:nvSpPr>
          <p:cNvPr id="9" name="Shape 7"/>
          <p:cNvSpPr/>
          <p:nvPr/>
        </p:nvSpPr>
        <p:spPr>
          <a:xfrm>
            <a:off x="365760" y="2468880"/>
            <a:ext cx="8412480" cy="621792"/>
          </a:xfrm>
          <a:prstGeom prst="roundRect">
            <a:avLst>
              <a:gd name="adj" fmla="val 14706"/>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23744"/>
            <a:ext cx="8046720" cy="512064"/>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hazardous  </a:t>
            </a:r>
            <a:pPr indent="0" marL="0">
              <a:buNone/>
            </a:pPr>
            <a:r>
              <a:rPr lang="en-US" sz="1100" dirty="0">
                <a:solidFill>
                  <a:srgbClr val="1E293B"/>
                </a:solidFill>
                <a:latin typeface="Calibri" pitchFamily="34" charset="0"/>
                <a:ea typeface="Calibri" pitchFamily="34" charset="-122"/>
                <a:cs typeface="Calibri" pitchFamily="34" charset="-120"/>
              </a:rPr>
              <a:t>Full of hazard; dangerous; risky. From Old French hasard (a dice game of chance) + -ous . A hazardous situation is one where the risk of harm is high.</a:t>
            </a:r>
            <a:endParaRPr lang="en-US" sz="1300" dirty="0"/>
          </a:p>
        </p:txBody>
      </p:sp>
      <p:sp>
        <p:nvSpPr>
          <p:cNvPr id="11" name="Shape 9"/>
          <p:cNvSpPr/>
          <p:nvPr/>
        </p:nvSpPr>
        <p:spPr>
          <a:xfrm>
            <a:off x="365760" y="3154680"/>
            <a:ext cx="8412480" cy="621792"/>
          </a:xfrm>
          <a:prstGeom prst="roundRect">
            <a:avLst>
              <a:gd name="adj" fmla="val 14706"/>
            </a:avLst>
          </a:prstGeom>
          <a:solidFill>
            <a:srgbClr val="EAF6FA"/>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3209544"/>
            <a:ext cx="8046720" cy="512064"/>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practical  </a:t>
            </a:r>
            <a:pPr indent="0" marL="0">
              <a:buNone/>
            </a:pPr>
            <a:r>
              <a:rPr lang="en-US" sz="1100" dirty="0">
                <a:solidFill>
                  <a:srgbClr val="1E293B"/>
                </a:solidFill>
                <a:latin typeface="Calibri" pitchFamily="34" charset="0"/>
                <a:ea typeface="Calibri" pitchFamily="34" charset="-122"/>
                <a:cs typeface="Calibri" pitchFamily="34" charset="-120"/>
              </a:rPr>
              <a:t>Useful in actual practice; not just theoretical. From Latin practicus + -al . Something practical works in the real world, not just on paper.</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Prepositional Phrases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Define — what they add to a sentence</a:t>
            </a:r>
            <a:endParaRPr lang="en-US" sz="1100" dirty="0"/>
          </a:p>
        </p:txBody>
      </p:sp>
      <p:sp>
        <p:nvSpPr>
          <p:cNvPr id="7" name="Text 5"/>
          <p:cNvSpPr/>
          <p:nvPr/>
        </p:nvSpPr>
        <p:spPr>
          <a:xfrm>
            <a:off x="365760" y="1078992"/>
            <a:ext cx="8412480" cy="59436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Common prepositions: at, by, in, on, of, for, with, through, across, between, beyond, during, after, before, beneath, toward, among, without, under, over, around Without the phrase: Nat navigated. With phrases added: Nat navigated by the stars through the fog with remarkable precision . Notice how each prepositional phrase answers a question: by the stars (how?), through the fog (where/what condition?), with remarkable precision (in what manner?). In expository writing, prepositional phrases add the specific detail that makes claims convincing. “Nat made discoveries” is vague. “Nat made discoveries aboard the Henry during his first voyage by checking the almanac tables against the actual positions of stars ” is specific and convincing.</a:t>
            </a:r>
            <a:endParaRPr lang="en-US" sz="1100" dirty="0"/>
          </a:p>
        </p:txBody>
      </p:sp>
      <p:sp>
        <p:nvSpPr>
          <p:cNvPr id="8" name="Shape 6"/>
          <p:cNvSpPr/>
          <p:nvPr/>
        </p:nvSpPr>
        <p:spPr>
          <a:xfrm>
            <a:off x="365760" y="173736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9" name="Text 7"/>
          <p:cNvSpPr/>
          <p:nvPr/>
        </p:nvSpPr>
        <p:spPr>
          <a:xfrm>
            <a:off x="548640" y="179222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Which sentence uses a prepositional phrase to add useful detail?</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Nat found errors. He was very surprised.   /   Nat found errors in every table throughout the almanac , and he was determined to fix them.</a:t>
            </a:r>
            <a:endParaRPr lang="en-US" sz="1200" dirty="0"/>
          </a:p>
        </p:txBody>
      </p:sp>
      <p:sp>
        <p:nvSpPr>
          <p:cNvPr id="10" name="Shape 8"/>
          <p:cNvSpPr/>
          <p:nvPr/>
        </p:nvSpPr>
        <p:spPr>
          <a:xfrm>
            <a:off x="365760" y="246888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52374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Find the prepositional phrase in: “During his first voyage, Nat corrected hundreds of errors.”</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During his first voyage — tells when Nat corrected the errors   /   “hundreds of errors” — this is a noun phrase, not a prepositional phrase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Prepositional Phrases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Define — what they add to a sentence</a:t>
            </a:r>
            <a:endParaRPr lang="en-US" sz="1100" dirty="0"/>
          </a:p>
        </p:txBody>
      </p:sp>
      <p:sp>
        <p:nvSpPr>
          <p:cNvPr id="7" name="Text 5"/>
          <p:cNvSpPr/>
          <p:nvPr/>
        </p:nvSpPr>
        <p:spPr>
          <a:xfrm>
            <a:off x="365760" y="1078992"/>
            <a:ext cx="8412480" cy="59436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Common prepositions: at, by, in, on, of, for, with, through, across, between, beyond, during, after, before, beneath, toward, among, without, under, over, around Without the phrase: Nat navigated. With phrases added: Nat navigated by the stars through the fog with remarkable precision . Notice how each prepositional phrase answers a question: by the stars (how?), through the fog (where/what condition?), with remarkable precision (in what manner?). In expository writing, prepositional phrases add the specific detail that makes claims convincing. “Nat made discoveries” is vague. “Nat made discoveries aboard the Henry during his first voyage by checking the almanac tables against the actual positions of stars ” is specific and convincing.</a:t>
            </a:r>
            <a:endParaRPr lang="en-US" sz="1100" dirty="0"/>
          </a:p>
        </p:txBody>
      </p:sp>
      <p:sp>
        <p:nvSpPr>
          <p:cNvPr id="8" name="Shape 6"/>
          <p:cNvSpPr/>
          <p:nvPr/>
        </p:nvSpPr>
        <p:spPr>
          <a:xfrm>
            <a:off x="365760" y="173736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9" name="Text 7"/>
          <p:cNvSpPr/>
          <p:nvPr/>
        </p:nvSpPr>
        <p:spPr>
          <a:xfrm>
            <a:off x="548640" y="179222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Which sentence uses a prepositional phrase to add useful detail?
</a:t>
            </a:r>
            <a:pPr indent="0" marL="0">
              <a:buNone/>
            </a:pPr>
            <a:r>
              <a:rPr lang="en-US" sz="1200" b="1" dirty="0">
                <a:solidFill>
                  <a:srgbClr val="34B76F"/>
                </a:solidFill>
                <a:latin typeface="Calibri" pitchFamily="34" charset="0"/>
                <a:ea typeface="Calibri" pitchFamily="34" charset="-122"/>
                <a:cs typeface="Calibri" pitchFamily="34" charset="-120"/>
              </a:rPr>
              <a:t>✅ Nat found errors in every table throughout the almanac , and he was determined to fix them.</a:t>
            </a:r>
            <a:endParaRPr lang="en-US" sz="1200" dirty="0"/>
          </a:p>
        </p:txBody>
      </p:sp>
      <p:sp>
        <p:nvSpPr>
          <p:cNvPr id="10" name="Shape 8"/>
          <p:cNvSpPr/>
          <p:nvPr/>
        </p:nvSpPr>
        <p:spPr>
          <a:xfrm>
            <a:off x="365760" y="246888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52374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Find the prepositional phrase in: “During his first voyage, Nat corrected hundreds of errors.”
</a:t>
            </a:r>
            <a:pPr indent="0" marL="0">
              <a:buNone/>
            </a:pPr>
            <a:r>
              <a:rPr lang="en-US" sz="1200" b="1" dirty="0">
                <a:solidFill>
                  <a:srgbClr val="34B76F"/>
                </a:solidFill>
                <a:latin typeface="Calibri" pitchFamily="34" charset="0"/>
                <a:ea typeface="Calibri" pitchFamily="34" charset="-122"/>
                <a:cs typeface="Calibri" pitchFamily="34" charset="-120"/>
              </a:rPr>
              <a:t>✅ During his first voyage — tells when Nat corrected the errors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Spelling — 🔤 Spelling: -ous, -ious, -eous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0E1C42"/>
                </a:solidFill>
                <a:latin typeface="Calibri" pitchFamily="34" charset="0"/>
                <a:ea typeface="Calibri" pitchFamily="34" charset="-122"/>
                <a:cs typeface="Calibri" pitchFamily="34" charset="-120"/>
              </a:rPr>
              <a:t>Discover — three spellings of one suffix</a:t>
            </a:r>
            <a:endParaRPr lang="en-US" sz="1100" dirty="0"/>
          </a:p>
        </p:txBody>
      </p:sp>
      <p:sp>
        <p:nvSpPr>
          <p:cNvPr id="7" name="Shape 5"/>
          <p:cNvSpPr/>
          <p:nvPr/>
        </p:nvSpPr>
        <p:spPr>
          <a:xfrm>
            <a:off x="365760" y="1143000"/>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207008"/>
            <a:ext cx="8046720" cy="649224"/>
          </a:xfrm>
          <a:prstGeom prst="rect">
            <a:avLst/>
          </a:prstGeom>
          <a:noFill/>
          <a:ln/>
        </p:spPr>
        <p:txBody>
          <a:bodyPr wrap="square" lIns="0" tIns="0" rIns="0" bIns="0" rtlCol="0" anchor="ctr"/>
          <a:lstStyle/>
          <a:p>
            <a:pPr indent="0" marL="0">
              <a:buNone/>
            </a:pPr>
            <a:r>
              <a:rPr lang="en-US" sz="1150" b="1" dirty="0">
                <a:solidFill>
                  <a:srgbClr val="0E1C42"/>
                </a:solidFill>
                <a:latin typeface="Calibri" pitchFamily="34" charset="0"/>
                <a:ea typeface="Calibri" pitchFamily="34" charset="-122"/>
                <a:cs typeface="Calibri" pitchFamily="34" charset="-120"/>
              </a:rPr>
              <a:t>🔍 Discover the three spellings
</a:t>
            </a:r>
            <a:pPr indent="0" marL="0">
              <a:buNone/>
            </a:pPr>
            <a:r>
              <a:rPr lang="en-US" sz="1100" dirty="0">
                <a:solidFill>
                  <a:srgbClr val="1E293B"/>
                </a:solidFill>
                <a:latin typeface="Calibri" pitchFamily="34" charset="0"/>
                <a:ea typeface="Calibri" pitchFamily="34" charset="-122"/>
                <a:cs typeface="Calibri" pitchFamily="34" charset="-120"/>
              </a:rPr>
              <a:t>-ous (most common): hazard ous , rigorous, enormous, glamor ous -ious (base word often ends in a vowel or soft sound): ambit ious , harmon ious , myster ious , glor ious -eous (base word often ends in -e or has a special vowel): erron eous , courag eous , gorge ous , advantag eous Pattern tip: When the base word ends in -ge (like courage, gorge, advantage ), keep the e before -ous → courag e ous . This preserves the soft /j/ sound of the g .</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Reading Focus + Story Journey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YOUR STORY JOURNEY</a:t>
            </a:r>
            <a:endParaRPr lang="en-US" sz="1100" dirty="0"/>
          </a:p>
        </p:txBody>
      </p:sp>
      <p:sp>
        <p:nvSpPr>
          <p:cNvPr id="7" name="Shape 5"/>
          <p:cNvSpPr/>
          <p:nvPr/>
        </p:nvSpPr>
        <p:spPr>
          <a:xfrm>
            <a:off x="365760" y="1078992"/>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Six Weeks with Carry On, Mr. Bowditch — 📍 You are here: Week 12 — Chapter 13 — Discovery</a:t>
            </a:r>
            <a:endParaRPr lang="en-US" sz="1250" dirty="0"/>
          </a:p>
        </p:txBody>
      </p:sp>
      <p:sp>
        <p:nvSpPr>
          <p:cNvPr id="9" name="Text 7"/>
          <p:cNvSpPr/>
          <p:nvPr/>
        </p:nvSpPr>
        <p:spPr>
          <a:xfrm>
            <a:off x="365760" y="1975104"/>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TODAY YOU ARE READING</a:t>
            </a:r>
            <a:endParaRPr lang="en-US" sz="1100" dirty="0"/>
          </a:p>
        </p:txBody>
      </p:sp>
      <p:sp>
        <p:nvSpPr>
          <p:cNvPr id="10" name="Shape 8"/>
          <p:cNvSpPr/>
          <p:nvPr/>
        </p:nvSpPr>
        <p:spPr>
          <a:xfrm>
            <a:off x="365760" y="2231136"/>
            <a:ext cx="8412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04288"/>
            <a:ext cx="7955280" cy="49377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Chapter 13 — Discovery</a:t>
            </a:r>
            <a:endParaRPr lang="en-US" sz="1500" dirty="0"/>
          </a:p>
        </p:txBody>
      </p:sp>
      <p:sp>
        <p:nvSpPr>
          <p:cNvPr id="12" name="Text 10"/>
          <p:cNvSpPr/>
          <p:nvPr/>
        </p:nvSpPr>
        <p:spPr>
          <a:xfrm>
            <a:off x="365760" y="299923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KEEP YOUR READING LENS IN MIND</a:t>
            </a:r>
            <a:endParaRPr lang="en-US" sz="1100" dirty="0"/>
          </a:p>
        </p:txBody>
      </p:sp>
      <p:sp>
        <p:nvSpPr>
          <p:cNvPr id="13" name="Shape 11"/>
          <p:cNvSpPr/>
          <p:nvPr/>
        </p:nvSpPr>
        <p:spPr>
          <a:xfrm>
            <a:off x="365760" y="3255264"/>
            <a:ext cx="84124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346704"/>
            <a:ext cx="7955280" cy="1097280"/>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How does the setting of being at sea shape Nat’s response to what he discovers? Would his decision be different if he were back in Salem?</a:t>
            </a:r>
            <a:endParaRPr lang="en-US" sz="1200" dirty="0"/>
          </a:p>
          <a:p>
            <a:pPr indent="0" marL="0">
              <a:buNone/>
            </a:pPr>
            <a:endParaRPr lang="en-US" sz="1200" dirty="0"/>
          </a:p>
          <a:p>
            <a:pPr indent="0" marL="0">
              <a:buNone/>
            </a:pPr>
            <a:r>
              <a:rPr lang="en-US" sz="1200" i="1" dirty="0">
                <a:solidFill>
                  <a:srgbClr val="1E293B"/>
                </a:solidFill>
                <a:latin typeface="Calibri" pitchFamily="34" charset="0"/>
                <a:ea typeface="Calibri" pitchFamily="34" charset="-122"/>
                <a:cs typeface="Calibri" pitchFamily="34" charset="-120"/>
              </a:rPr>
              <a:t>What is the conflict Nat faces in Chapter 13? Who or what is he in conflict with — a person, an idea, or a system?</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Comprehension Questions — Preview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YOU'LL ANSWER (PART A)</a:t>
            </a:r>
            <a:endParaRPr lang="en-US" sz="1100" dirty="0"/>
          </a:p>
        </p:txBody>
      </p:sp>
      <p:sp>
        <p:nvSpPr>
          <p:cNvPr id="5" name="Shape 3"/>
          <p:cNvSpPr/>
          <p:nvPr/>
        </p:nvSpPr>
        <p:spPr>
          <a:xfrm>
            <a:off x="365760" y="1097280"/>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1.  </a:t>
            </a:r>
            <a:pPr indent="0" marL="0">
              <a:buNone/>
            </a:pPr>
            <a:r>
              <a:rPr lang="en-US" sz="1150" dirty="0">
                <a:solidFill>
                  <a:srgbClr val="1E293B"/>
                </a:solidFill>
                <a:latin typeface="Calibri" pitchFamily="34" charset="0"/>
                <a:ea typeface="Calibri" pitchFamily="34" charset="-122"/>
                <a:cs typeface="Calibri" pitchFamily="34" charset="-120"/>
              </a:rPr>
              <a:t>In Chapter 13, Nat discovers errors in Moore’s Navigator — the book sailors rely on for their lives. Explain: what does he discover, why is it significant, and how does the setting (being at sea) make this discovery more urgent?</a:t>
            </a:r>
            <a:endParaRPr lang="en-US" sz="1300" dirty="0"/>
          </a:p>
        </p:txBody>
      </p:sp>
      <p:sp>
        <p:nvSpPr>
          <p:cNvPr id="7" name="Shape 5"/>
          <p:cNvSpPr/>
          <p:nvPr/>
        </p:nvSpPr>
        <p:spPr>
          <a:xfrm>
            <a:off x="365760" y="2084832"/>
            <a:ext cx="8412480" cy="914400"/>
          </a:xfrm>
          <a:prstGeom prst="roundRect">
            <a:avLst>
              <a:gd name="adj" fmla="val 10000"/>
            </a:avLst>
          </a:prstGeom>
          <a:solidFill>
            <a:srgbClr val="F4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2157984"/>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2.  </a:t>
            </a:r>
            <a:pPr indent="0" marL="0">
              <a:buNone/>
            </a:pPr>
            <a:r>
              <a:rPr lang="en-US" sz="1150" dirty="0">
                <a:solidFill>
                  <a:srgbClr val="1E293B"/>
                </a:solidFill>
                <a:latin typeface="Calibri" pitchFamily="34" charset="0"/>
                <a:ea typeface="Calibri" pitchFamily="34" charset="-122"/>
                <a:cs typeface="Calibri" pitchFamily="34" charset="-120"/>
              </a:rPr>
              <a:t>The title of this chapter is “Discovery.” The discovery is not just finding errors — it is also a discovery about what Nat is capable of and what he will do about it. Explain what Nat decides to do and how this decision reveals his character.</a:t>
            </a:r>
            <a:endParaRPr lang="en-US" sz="1300" dirty="0"/>
          </a:p>
        </p:txBody>
      </p:sp>
      <p:sp>
        <p:nvSpPr>
          <p:cNvPr id="9" name="Shape 7"/>
          <p:cNvSpPr/>
          <p:nvPr/>
        </p:nvSpPr>
        <p:spPr>
          <a:xfrm>
            <a:off x="365760" y="3072384"/>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3145536"/>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3.  </a:t>
            </a:r>
            <a:pPr indent="0" marL="0">
              <a:buNone/>
            </a:pPr>
            <a:r>
              <a:rPr lang="en-US" sz="1150" dirty="0">
                <a:solidFill>
                  <a:srgbClr val="1E293B"/>
                </a:solidFill>
                <a:latin typeface="Calibri" pitchFamily="34" charset="0"/>
                <a:ea typeface="Calibri" pitchFamily="34" charset="-122"/>
                <a:cs typeface="Calibri" pitchFamily="34" charset="-120"/>
              </a:rPr>
              <a:t>Nat is a young, relatively unknown supercargo. Moore’s Navigator is written by an established, respected author. Explain the conflict: how does Nat’s decision to challenge an authoritative text reflect the way conflict shapes a character’s decisions?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Writing Connection — Research Essay</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STAGE: DRAFT  ·  Start Body Section 2 with a varied transition</a:t>
            </a:r>
            <a:endParaRPr lang="en-US" sz="1100" dirty="0"/>
          </a:p>
        </p:txBody>
      </p:sp>
      <p:sp>
        <p:nvSpPr>
          <p:cNvPr id="5" name="Shape 3"/>
          <p:cNvSpPr/>
          <p:nvPr/>
        </p:nvSpPr>
        <p:spPr>
          <a:xfrm>
            <a:off x="365760" y="1097280"/>
            <a:ext cx="8412480" cy="548640"/>
          </a:xfrm>
          <a:prstGeom prst="roundRect">
            <a:avLst>
              <a:gd name="adj" fmla="val 16667"/>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b="1" dirty="0">
                <a:solidFill>
                  <a:srgbClr val="1E293B"/>
                </a:solidFill>
                <a:latin typeface="Calibri" pitchFamily="34" charset="0"/>
                <a:ea typeface="Calibri" pitchFamily="34" charset="-122"/>
                <a:cs typeface="Calibri" pitchFamily="34" charset="-120"/>
              </a:rPr>
              <a:t>Body 2 starts today. But first you need a transition that doesn’t just say “Another reason.” Today you learn to use transitions that show the logical relationship between body sections.</a:t>
            </a:r>
            <a:endParaRPr lang="en-US" sz="1150" dirty="0"/>
          </a:p>
        </p:txBody>
      </p:sp>
      <p:sp>
        <p:nvSpPr>
          <p:cNvPr id="7" name="Text 5"/>
          <p:cNvSpPr/>
          <p:nvPr/>
        </p:nvSpPr>
        <p:spPr>
          <a:xfrm>
            <a:off x="365760" y="1783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HOW ALEX DOES IT</a:t>
            </a:r>
            <a:endParaRPr lang="en-US" sz="1100" dirty="0"/>
          </a:p>
        </p:txBody>
      </p:sp>
      <p:sp>
        <p:nvSpPr>
          <p:cNvPr id="8" name="Shape 6"/>
          <p:cNvSpPr/>
          <p:nvPr/>
        </p:nvSpPr>
        <p:spPr>
          <a:xfrm>
            <a:off x="365760" y="2029968"/>
            <a:ext cx="4114800" cy="1051560"/>
          </a:xfrm>
          <a:prstGeom prst="roundRect">
            <a:avLst>
              <a:gd name="adj" fmla="val 869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0292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BEFORE Alex’s first draft: Another reason Bowditch was extraordinary was that he corrected navigation errors.</a:t>
            </a:r>
            <a:endParaRPr lang="en-US" sz="950" dirty="0"/>
          </a:p>
        </p:txBody>
      </p:sp>
      <p:sp>
        <p:nvSpPr>
          <p:cNvPr id="10" name="Shape 8"/>
          <p:cNvSpPr/>
          <p:nvPr/>
        </p:nvSpPr>
        <p:spPr>
          <a:xfrm>
            <a:off x="4663440" y="2029968"/>
            <a:ext cx="4114800" cy="1051560"/>
          </a:xfrm>
          <a:prstGeom prst="roundRect">
            <a:avLst>
              <a:gd name="adj" fmla="val 8696"/>
            </a:avLst>
          </a:prstGeom>
          <a:solidFill>
            <a:srgbClr val="EAF6FA"/>
          </a:solidFill>
          <a:ln/>
          <a:effectLst>
            <a:outerShdw sx="100000" sy="100000" kx="0" ky="0" algn="bl" rotWithShape="0" blurRad="101600" dist="38100" dir="2700000">
              <a:srgbClr val="000000">
                <a:alpha val="12000"/>
              </a:srgbClr>
            </a:outerShdw>
          </a:effectLst>
        </p:spPr>
      </p:sp>
      <p:sp>
        <p:nvSpPr>
          <p:cNvPr id="11" name="Text 9"/>
          <p:cNvSpPr/>
          <p:nvPr/>
        </p:nvSpPr>
        <p:spPr>
          <a:xfrm>
            <a:off x="480060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AFTER Alex’s revised opening: Furthermore, what made Bowditch’s self-education even more remarkable was how he put it to work — not to advance his own career, but to fix a problem that endangered every sailor at sea.</a:t>
            </a:r>
            <a:endParaRPr lang="en-US" sz="950" dirty="0"/>
          </a:p>
        </p:txBody>
      </p:sp>
      <p:sp>
        <p:nvSpPr>
          <p:cNvPr id="12" name="Text 10"/>
          <p:cNvSpPr/>
          <p:nvPr/>
        </p:nvSpPr>
        <p:spPr>
          <a:xfrm>
            <a:off x="365760" y="3127248"/>
            <a:ext cx="8412480" cy="457200"/>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Notice: “Another reason” is a dead transition — it just adds without connecting. Alex’s revision shows the RELATIONSHIP: the self-education (Body 1) leads to and is connected to the correction of errors (Body 2).</a:t>
            </a:r>
            <a:endParaRPr lang="en-US" sz="950" dirty="0"/>
          </a:p>
        </p:txBody>
      </p:sp>
      <p:sp>
        <p:nvSpPr>
          <p:cNvPr id="13" name="Text 11"/>
          <p:cNvSpPr/>
          <p:nvPr/>
        </p:nvSpPr>
        <p:spPr>
          <a:xfrm>
            <a:off x="365760" y="363931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TODAY’S TOOL: TRANSITION TYPES FOR BODY 2</a:t>
            </a:r>
            <a:endParaRPr lang="en-US" sz="1100" dirty="0"/>
          </a:p>
        </p:txBody>
      </p:sp>
      <p:sp>
        <p:nvSpPr>
          <p:cNvPr id="14" name="Shape 12"/>
          <p:cNvSpPr/>
          <p:nvPr/>
        </p:nvSpPr>
        <p:spPr>
          <a:xfrm>
            <a:off x="365760" y="387705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3922776"/>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Choose the transition type that best shows the relationship between your two body sections.</a:t>
            </a:r>
            <a:endParaRPr lang="en-US" sz="1050" dirty="0"/>
          </a:p>
        </p:txBody>
      </p:sp>
      <p:sp>
        <p:nvSpPr>
          <p:cNvPr id="16" name="Text 14"/>
          <p:cNvSpPr/>
          <p:nvPr/>
        </p:nvSpPr>
        <p:spPr>
          <a:xfrm>
            <a:off x="365760" y="4462272"/>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NOW YOU TRY</a:t>
            </a:r>
            <a:endParaRPr lang="en-US" sz="1100" dirty="0"/>
          </a:p>
        </p:txBody>
      </p:sp>
      <p:sp>
        <p:nvSpPr>
          <p:cNvPr id="17" name="Shape 15"/>
          <p:cNvSpPr/>
          <p:nvPr/>
        </p:nvSpPr>
        <p:spPr>
          <a:xfrm>
            <a:off x="365760" y="4681728"/>
            <a:ext cx="8412480" cy="384048"/>
          </a:xfrm>
          <a:prstGeom prst="roundRect">
            <a:avLst>
              <a:gd name="adj" fmla="val 23810"/>
            </a:avLst>
          </a:prstGeom>
          <a:solidFill>
            <a:srgbClr val="FEF6E8"/>
          </a:solidFill>
          <a:ln/>
          <a:effectLst>
            <a:outerShdw sx="100000" sy="100000" kx="0" ky="0" algn="bl" rotWithShape="0" blurRad="101600" dist="38100" dir="2700000">
              <a:srgbClr val="000000">
                <a:alpha val="12000"/>
              </a:srgbClr>
            </a:outerShdw>
          </a:effectLst>
        </p:spPr>
      </p:sp>
      <p:sp>
        <p:nvSpPr>
          <p:cNvPr id="18" name="Text 16"/>
          <p:cNvSpPr/>
          <p:nvPr/>
        </p:nvSpPr>
        <p:spPr>
          <a:xfrm>
            <a:off x="548640" y="4700016"/>
            <a:ext cx="8046720" cy="347472"/>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Write your Body 2 opening: varied transition + topic sentence naming the subtopic.</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2026-07-13T16:49:17Z</dcterms:created>
  <dcterms:modified xsi:type="dcterms:W3CDTF">2026-07-13T16:49:17Z</dcterms:modified>
</cp:coreProperties>
</file>