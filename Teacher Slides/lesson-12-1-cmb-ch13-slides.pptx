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12.1: Chapter 13, "Discovery". Banner quote: “Men’s lives depend on the accuracy of those tables!” (Chapter 13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 you do when you find a dangerous error? Today you read Chapter 13 and continue drafting your expository research piece. Keep asking: How do conflict and setting shape Nat’s decisions?
Objectives:
- 🌱 Morphology: Define roots fract/frag and rupt — two roots for breaking.
- ✏️ Grammar: I will define when an introductory element needs a comma.
- 🔤 Spelling: I will define how -al and -ic build adjectives.
- 📖 Reading: I will define how technical vocabulary carries meaning by explaining what a navigation table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hazardous errors in moores navigator put every ship at risk that sailed without accurate charts
Corrected: The hazardous errors in Moore’s Navigator put every ship at risk that sailed without accurate charts.
Fixes: capitalize “The”; “Moore’s Navigator” is a proper noun; apostrophe in “Moore’s”;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hazardous errors in moores navigator put every ship at risk that sailed without accurate charts
Corrected: The hazardous errors in Moore’s Navigator put every ship at risk that sailed without accurate charts.
Fixes: capitalize “The”; “Moore’s Navigator” is a proper noun; apostrophe in “Moore’s”;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 and answer someone who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fract/frag + rupt — Define · two roots for breaking.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fract/frag + rupt — Define · two roots for breaking.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fragmented  2. fraction  3. rupture  4. interrupt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Decode &amp; Discover — Six adjectives for talking about Chapters 13–16.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cards. Have students say each word, then use it in a sentence about the chapter.
lunar: Relating to the moon. From Latin luna (moon) + -ar (relating to). Lunar observations were essential for calculating longitude at sea before modern GPS.
nautical: Relating to sailors, ships, or navigation. From Greek naut (sailor) + -ical. A nautical mile (about 1.15 land miles) is based on one minute of arc of the earth’s circumference.
hazardous: Full of hazard; dangerous; risky. From Old French hasard (a dice game of chance) + -ous. A hazardous situation is one where the risk of harm is high.
practical: Useful in actual practice; not just theoretical. From Latin practicus + -al. Something practical works in the real world, not just on paper.
mathematical: Relating to mathematics; using precise calculation and logical reasoning. From Greek mathematikos (fond of learning) + -al. Mathematical precision means there is no room for error or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Commas with Introductory Phrases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After three years at sea, Nat came home with a notebook full of corrections. — spot1
2. Because the tables were wrong, ships were lost. — spot2
3. However, the errors were not the printer’s fault. — spot3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Suffixes -al and -ic — Define — two ways to make an adjective.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Suffixes -al and -ic — Define — two ways to make an adjective.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ends in –al: nautical, practical, coastal
ends in –ic: scientific, magnetic, heroic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Start Body Section 2 with a varied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Start Body Section 2 with a varied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12  ·  DAY 1  ·  LESSON 12.1</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13 — Discovery</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“Men’s lives depend on the accuracy of those tables!”</a:t>
            </a:r>
            <a:pPr indent="0" marL="0">
              <a:buNone/>
            </a:pPr>
            <a:r>
              <a:rPr lang="en-US" sz="1600" dirty="0">
                <a:solidFill>
                  <a:srgbClr val="55C8E8"/>
                </a:solidFill>
                <a:latin typeface="Calibri" pitchFamily="34" charset="0"/>
                <a:ea typeface="Calibri" pitchFamily="34" charset="-122"/>
                <a:cs typeface="Calibri" pitchFamily="34" charset="-120"/>
              </a:rPr>
              <a:t>  — Chapter 13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DEFINE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13</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What do you do when you find a dangerous error?</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13 and continue drafting your expository research piece. Keep asking: How do conflict and setting shape Nat’s decisions?</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Define roots fract/frag and rupt — two roots for breaking.</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when an introductory element needs a comma.</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how -al and -ic build adjectives.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how technical vocabulary carries meaning by explaining what a navigation table is for.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SET YOUR READING LENS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Good readers treat technical vocabulary as a way into meaning, not an obstacle. Chapter 13 turns on one term: the navigation book sailors trusted with their lives, and the error Nat finds in one of its tables — and his realization that if there is one, there may be more. You cannot feel how serious that is until you know what a navigation table is for. Read for the words that carry the danger.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Collect the terms: List the navigation and sailing words the chapter needs — longitude, lunars, masthead, bearing, tables.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Work out the meaning from the work it does: Ask what the word lets a sailor do. In this book a technical term is a tool, not decoration.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Test what the term unlocks: Reread the moment with the term defined and see how much the scene changes.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SET YOUR READING LENS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the setting of being at sea shape Nat’s response to what he discovers? Would his decision be different if he were back in Salem?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is the conflict Nat faces in Chapter 13? Who or what is he in conflict with — a person, an idea, or a system?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Nat finds an error in Moore’s Navigator. What does he do about it? How does his reaction reveal his character?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 discovered an </a:t>
            </a:r>
            <a:pPr indent="0" marL="0">
              <a:buNone/>
            </a:pPr>
            <a:r>
              <a:rPr lang="en-US" sz="2600" b="1" u="sng" dirty="0">
                <a:solidFill>
                  <a:srgbClr val="1E8E52"/>
                </a:solidFill>
                <a:latin typeface="Calibri" pitchFamily="34" charset="0"/>
                <a:ea typeface="Calibri" pitchFamily="34" charset="-122"/>
                <a:cs typeface="Calibri" pitchFamily="34" charset="-120"/>
              </a:rPr>
              <a:t>erroneous</a:t>
            </a:r>
            <a:pPr indent="0" marL="0">
              <a:buNone/>
            </a:pPr>
            <a:r>
              <a:rPr lang="en-US" sz="2600" dirty="0">
                <a:solidFill>
                  <a:srgbClr val="1E293B"/>
                </a:solidFill>
                <a:latin typeface="Calibri" pitchFamily="34" charset="0"/>
                <a:ea typeface="Calibri" pitchFamily="34" charset="-122"/>
                <a:cs typeface="Calibri" pitchFamily="34" charset="-120"/>
              </a:rPr>
              <a:t> figure </a:t>
            </a:r>
            <a:pPr indent="0" marL="0">
              <a:buNone/>
            </a:pPr>
            <a:r>
              <a:rPr lang="en-US" sz="2600" b="1" u="sng" dirty="0">
                <a:solidFill>
                  <a:srgbClr val="1E8E52"/>
                </a:solidFill>
                <a:latin typeface="Calibri" pitchFamily="34" charset="0"/>
                <a:ea typeface="Calibri" pitchFamily="34" charset="-122"/>
                <a:cs typeface="Calibri" pitchFamily="34" charset="-120"/>
              </a:rPr>
              <a:t>in one of Moore’s tables</a:t>
            </a:r>
            <a:pPr indent="0" marL="0">
              <a:buNone/>
            </a:pPr>
            <a:r>
              <a:rPr lang="en-US" sz="2600" dirty="0">
                <a:solidFill>
                  <a:srgbClr val="1E293B"/>
                </a:solidFill>
                <a:latin typeface="Calibri" pitchFamily="34" charset="0"/>
                <a:ea typeface="Calibri" pitchFamily="34" charset="-122"/>
                <a:cs typeface="Calibri" pitchFamily="34" charset="-120"/>
              </a:rPr>
              <a:t>, and he </a:t>
            </a:r>
            <a:pPr indent="0" marL="0">
              <a:buNone/>
            </a:pPr>
            <a:r>
              <a:rPr lang="en-US" sz="2600" b="1" u="sng" dirty="0">
                <a:solidFill>
                  <a:srgbClr val="1E8E52"/>
                </a:solidFill>
                <a:latin typeface="Calibri" pitchFamily="34" charset="0"/>
                <a:ea typeface="Calibri" pitchFamily="34" charset="-122"/>
                <a:cs typeface="Calibri" pitchFamily="34" charset="-120"/>
              </a:rPr>
              <a:t>without hesitation</a:t>
            </a:r>
            <a:pPr indent="0" marL="0">
              <a:buNone/>
            </a:pPr>
            <a:r>
              <a:rPr lang="en-US" sz="2600" dirty="0">
                <a:solidFill>
                  <a:srgbClr val="1E293B"/>
                </a:solidFill>
                <a:latin typeface="Calibri" pitchFamily="34" charset="0"/>
                <a:ea typeface="Calibri" pitchFamily="34" charset="-122"/>
                <a:cs typeface="Calibri" pitchFamily="34" charset="-120"/>
              </a:rPr>
              <a:t> showed it to Captain Prince.</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erroneous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“erroneous” uses the suffix -eous (full of errors). The base is the Latin errare (to wander/stray).</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in one of Moore’s tables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“in one of Moore’s tables” is a prepositional phrase telling where the error appeared.</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without hesitation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“without hesitation” is a prepositional phrase telling in what manner he acted.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hazardous errors in moores navigator put every ship at risk that sailed without accurate charts</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hazardous errors in moores navigator put every ship at risk that sailed without accurate charts</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The hazardous errors in Moore’s Navigator put every ship at risk that sailed without accurate charts.</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“The”; “Moore’s Navigator” is a proper noun; apostrophe in “Moore’s”; period at end.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600" dirty="0">
                <a:solidFill>
                  <a:srgbClr val="1E293B"/>
                </a:solidFill>
                <a:latin typeface="Calibri" pitchFamily="34" charset="0"/>
                <a:ea typeface="Calibri" pitchFamily="34" charset="-122"/>
                <a:cs typeface="Calibri" pitchFamily="34" charset="-120"/>
              </a:rPr>
              <a:t>Nat finds one error in a table in Moore's Navigator, and Prince asks, "All that — to find one error?" Was finding one error worth all that work? Defend your answer with evidence from Chapter 13. Then answer someone who agrees with Prince.</a:t>
            </a:r>
            <a:endParaRPr lang="en-US" sz="26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Nat finds one error in a table in Moore's Navigator, and Prince asks, "All that — to find one error?" Was finding one error worth all that work? Defend your answer with evidence from Chapter 13. Then answer someone who agrees with Prince.</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Someone might disagree, but...</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TWO ROOTS FOR BREAKING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Chapter 13 is the moment Nat finds that the book every navigator trusts has a mistake in it — it is broken — and a single wrong figure could put a ship on the rocks. Two roots mean exactly that: fract/frag = break, and rupt = break. You met rupt back in Johnny Tremain. Here it returns with a Latin cousin.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Two Roots, One Meaning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fract / frag = break → fracture, fraction, fragment, fragile, infraction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rupt = break → rupture, erupt, interrupt, disrupt, abrupt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 fraction is a broken-off piece of a whole number. A fragment is a broken-off piece of anything.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Fragile means breakable — and a sentence fragment is a broken piece of a sentence.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TWO ROOTS FOR BREAKING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both roots take the prefixes you already know. Inter- + rupt = break between. In- + fract = a breaking of the rules.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Complete each word with fract, frag or rupt. Use the meaning of the sentence to decide which root belongs.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TWO ROOTS FOR BREAKING</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F8FAFC"/>
          </a:solidFill>
          <a:ln w="15875">
            <a:solidFill>
              <a:srgbClr val="CBD5E1"/>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After the storm, the old chart was so torn that only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pieces of it were left.</a:t>
            </a:r>
            <a:endParaRPr lang="en-US" sz="2200" dirty="0"/>
          </a:p>
        </p:txBody>
      </p:sp>
      <p:sp>
        <p:nvSpPr>
          <p:cNvPr id="10" name="Shape 8"/>
          <p:cNvSpPr/>
          <p:nvPr/>
        </p:nvSpPr>
        <p:spPr>
          <a:xfrm>
            <a:off x="502920" y="2777490"/>
            <a:ext cx="11185855" cy="1085850"/>
          </a:xfrm>
          <a:prstGeom prst="roundRect">
            <a:avLst>
              <a:gd name="adj" fmla="val 6737"/>
            </a:avLst>
          </a:prstGeom>
          <a:solidFill>
            <a:srgbClr val="F8FAFC"/>
          </a:solidFill>
          <a:ln w="15875">
            <a:solidFill>
              <a:srgbClr val="CBD5E1"/>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 single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of a degree in the reckoning could put a ship miles off course.</a:t>
            </a:r>
            <a:endParaRPr lang="en-US" sz="2200" dirty="0"/>
          </a:p>
        </p:txBody>
      </p:sp>
      <p:sp>
        <p:nvSpPr>
          <p:cNvPr id="12" name="Shape 10"/>
          <p:cNvSpPr/>
          <p:nvPr/>
        </p:nvSpPr>
        <p:spPr>
          <a:xfrm>
            <a:off x="502920" y="4000500"/>
            <a:ext cx="11185855" cy="1085850"/>
          </a:xfrm>
          <a:prstGeom prst="roundRect">
            <a:avLst>
              <a:gd name="adj" fmla="val 6737"/>
            </a:avLst>
          </a:prstGeom>
          <a:solidFill>
            <a:srgbClr val="F8FAFC"/>
          </a:solidFill>
          <a:ln w="15875">
            <a:solidFill>
              <a:srgbClr val="CBD5E1"/>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The old guide’s reputation would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the moment sailors learned how many errors it held.</a:t>
            </a:r>
            <a:endParaRPr lang="en-US" sz="2200" dirty="0"/>
          </a:p>
        </p:txBody>
      </p:sp>
      <p:sp>
        <p:nvSpPr>
          <p:cNvPr id="14" name="Shape 12"/>
          <p:cNvSpPr/>
          <p:nvPr/>
        </p:nvSpPr>
        <p:spPr>
          <a:xfrm>
            <a:off x="502920" y="5223510"/>
            <a:ext cx="11185855" cy="1085850"/>
          </a:xfrm>
          <a:prstGeom prst="roundRect">
            <a:avLst>
              <a:gd name="adj" fmla="val 6737"/>
            </a:avLst>
          </a:prstGeom>
          <a:solidFill>
            <a:srgbClr val="F8FAFC"/>
          </a:solidFill>
          <a:ln w="15875">
            <a:solidFill>
              <a:srgbClr val="CBD5E1"/>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He would not let anyone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him while he checked a column of figures.</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TWO ROOTS FOR BREAKING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fract/frag + rupt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E8F8EF"/>
          </a:solidFill>
          <a:ln w="15875">
            <a:solidFill>
              <a:srgbClr val="9ED9B5"/>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After the storm, the old chart was so torn that only </a:t>
            </a:r>
            <a:pPr indent="0" marL="0">
              <a:buNone/>
            </a:pPr>
            <a:r>
              <a:rPr lang="en-US" sz="2200" b="1" dirty="0">
                <a:solidFill>
                  <a:srgbClr val="1E8E52"/>
                </a:solidFill>
                <a:latin typeface="Calibri" pitchFamily="34" charset="0"/>
                <a:ea typeface="Calibri" pitchFamily="34" charset="-122"/>
                <a:cs typeface="Calibri" pitchFamily="34" charset="-120"/>
              </a:rPr>
              <a:t>fragmented</a:t>
            </a:r>
            <a:pPr indent="0" marL="0">
              <a:buNone/>
            </a:pPr>
            <a:r>
              <a:rPr lang="en-US" sz="2200" dirty="0">
                <a:solidFill>
                  <a:srgbClr val="1E293B"/>
                </a:solidFill>
                <a:latin typeface="Calibri" pitchFamily="34" charset="0"/>
                <a:ea typeface="Calibri" pitchFamily="34" charset="-122"/>
                <a:cs typeface="Calibri" pitchFamily="34" charset="-120"/>
              </a:rPr>
              <a:t> pieces of it were left.</a:t>
            </a:r>
            <a:endParaRPr lang="en-US" sz="2200" dirty="0"/>
          </a:p>
        </p:txBody>
      </p:sp>
      <p:sp>
        <p:nvSpPr>
          <p:cNvPr id="10" name="Shape 8"/>
          <p:cNvSpPr/>
          <p:nvPr/>
        </p:nvSpPr>
        <p:spPr>
          <a:xfrm>
            <a:off x="502920" y="2777490"/>
            <a:ext cx="11185855" cy="1085850"/>
          </a:xfrm>
          <a:prstGeom prst="roundRect">
            <a:avLst>
              <a:gd name="adj" fmla="val 6737"/>
            </a:avLst>
          </a:prstGeom>
          <a:solidFill>
            <a:srgbClr val="E8F8EF"/>
          </a:solidFill>
          <a:ln w="15875">
            <a:solidFill>
              <a:srgbClr val="9ED9B5"/>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 single </a:t>
            </a:r>
            <a:pPr indent="0" marL="0">
              <a:buNone/>
            </a:pPr>
            <a:r>
              <a:rPr lang="en-US" sz="2200" b="1" dirty="0">
                <a:solidFill>
                  <a:srgbClr val="1E8E52"/>
                </a:solidFill>
                <a:latin typeface="Calibri" pitchFamily="34" charset="0"/>
                <a:ea typeface="Calibri" pitchFamily="34" charset="-122"/>
                <a:cs typeface="Calibri" pitchFamily="34" charset="-120"/>
              </a:rPr>
              <a:t>fraction</a:t>
            </a:r>
            <a:pPr indent="0" marL="0">
              <a:buNone/>
            </a:pPr>
            <a:r>
              <a:rPr lang="en-US" sz="2200" dirty="0">
                <a:solidFill>
                  <a:srgbClr val="1E293B"/>
                </a:solidFill>
                <a:latin typeface="Calibri" pitchFamily="34" charset="0"/>
                <a:ea typeface="Calibri" pitchFamily="34" charset="-122"/>
                <a:cs typeface="Calibri" pitchFamily="34" charset="-120"/>
              </a:rPr>
              <a:t> of a degree in the reckoning could put a ship miles off course.</a:t>
            </a:r>
            <a:endParaRPr lang="en-US" sz="2200" dirty="0"/>
          </a:p>
        </p:txBody>
      </p:sp>
      <p:sp>
        <p:nvSpPr>
          <p:cNvPr id="12" name="Shape 10"/>
          <p:cNvSpPr/>
          <p:nvPr/>
        </p:nvSpPr>
        <p:spPr>
          <a:xfrm>
            <a:off x="502920" y="4000500"/>
            <a:ext cx="11185855" cy="1085850"/>
          </a:xfrm>
          <a:prstGeom prst="roundRect">
            <a:avLst>
              <a:gd name="adj" fmla="val 6737"/>
            </a:avLst>
          </a:prstGeom>
          <a:solidFill>
            <a:srgbClr val="E8F8EF"/>
          </a:solidFill>
          <a:ln w="15875">
            <a:solidFill>
              <a:srgbClr val="9ED9B5"/>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The old guide’s reputation would </a:t>
            </a:r>
            <a:pPr indent="0" marL="0">
              <a:buNone/>
            </a:pPr>
            <a:r>
              <a:rPr lang="en-US" sz="2200" b="1" dirty="0">
                <a:solidFill>
                  <a:srgbClr val="1E8E52"/>
                </a:solidFill>
                <a:latin typeface="Calibri" pitchFamily="34" charset="0"/>
                <a:ea typeface="Calibri" pitchFamily="34" charset="-122"/>
                <a:cs typeface="Calibri" pitchFamily="34" charset="-120"/>
              </a:rPr>
              <a:t>rupture</a:t>
            </a:r>
            <a:pPr indent="0" marL="0">
              <a:buNone/>
            </a:pPr>
            <a:r>
              <a:rPr lang="en-US" sz="2200" dirty="0">
                <a:solidFill>
                  <a:srgbClr val="1E293B"/>
                </a:solidFill>
                <a:latin typeface="Calibri" pitchFamily="34" charset="0"/>
                <a:ea typeface="Calibri" pitchFamily="34" charset="-122"/>
                <a:cs typeface="Calibri" pitchFamily="34" charset="-120"/>
              </a:rPr>
              <a:t> the moment sailors learned how many errors it held.</a:t>
            </a:r>
            <a:endParaRPr lang="en-US" sz="2200" dirty="0"/>
          </a:p>
        </p:txBody>
      </p:sp>
      <p:sp>
        <p:nvSpPr>
          <p:cNvPr id="14" name="Shape 12"/>
          <p:cNvSpPr/>
          <p:nvPr/>
        </p:nvSpPr>
        <p:spPr>
          <a:xfrm>
            <a:off x="502920" y="5223510"/>
            <a:ext cx="11185855" cy="1085850"/>
          </a:xfrm>
          <a:prstGeom prst="roundRect">
            <a:avLst>
              <a:gd name="adj" fmla="val 6737"/>
            </a:avLst>
          </a:prstGeom>
          <a:solidFill>
            <a:srgbClr val="E8F8EF"/>
          </a:solidFill>
          <a:ln w="15875">
            <a:solidFill>
              <a:srgbClr val="9ED9B5"/>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He would not let anyone </a:t>
            </a:r>
            <a:pPr indent="0" marL="0">
              <a:buNone/>
            </a:pPr>
            <a:r>
              <a:rPr lang="en-US" sz="2200" b="1" dirty="0">
                <a:solidFill>
                  <a:srgbClr val="1E8E52"/>
                </a:solidFill>
                <a:latin typeface="Calibri" pitchFamily="34" charset="0"/>
                <a:ea typeface="Calibri" pitchFamily="34" charset="-122"/>
                <a:cs typeface="Calibri" pitchFamily="34" charset="-120"/>
              </a:rPr>
              <a:t>interrupt</a:t>
            </a:r>
            <a:pPr indent="0" marL="0">
              <a:buNone/>
            </a:pPr>
            <a:r>
              <a:rPr lang="en-US" sz="2200" dirty="0">
                <a:solidFill>
                  <a:srgbClr val="1E293B"/>
                </a:solidFill>
                <a:latin typeface="Calibri" pitchFamily="34" charset="0"/>
                <a:ea typeface="Calibri" pitchFamily="34" charset="-122"/>
                <a:cs typeface="Calibri" pitchFamily="34" charset="-120"/>
              </a:rPr>
              <a:t> him while he checked a column of figures.</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Morphology</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Both fract/frag and rupt mean break. Explain what each of these words breaks: fraction, interrupt, fragile, abrupt.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For each word, name the root and say exactly what is being broken.</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SIX ADJECTIVES FOR TALKING ABOUT CHAPTERS 13–16</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week’s six vocabulary words all come from the world Nat is navigating — literally and figuratively. All six are adjectives. Notice: most of them use the suffixes -al or -ous from this week’s morphology lesson.</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 3-Step Decode: erroneous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Step 1 — Context: In Chapter 13, Nat discovers that one of the tables in Moore’s Navigator contains an erroneous figure that could lead ships off course — or onto reefs. The error was small but dangerous.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Step 2 — Word Parts: Err- comes from Latin errare, meaning to wander or stray. -oneous makes it an adjective. To be erroneous is to have strayed from the truth.</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Step 3 — Confirm: Erroneous means containing errors; mistaken; incorrect. An erroneous calculation in a navigation table is not just wrong — it could be deadly.</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SIX ADJECTIVES FOR TALKING ABOUT CHAPTERS 13–16</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3606698" cy="2354580"/>
          </a:xfrm>
          <a:prstGeom prst="roundRect">
            <a:avLst>
              <a:gd name="adj" fmla="val 3107"/>
            </a:avLst>
          </a:prstGeom>
          <a:solidFill>
            <a:srgbClr val="E5F7FC"/>
          </a:solidFill>
          <a:ln w="15875">
            <a:solidFill>
              <a:srgbClr val="A6DDEE"/>
            </a:solidFill>
            <a:prstDash val="solid"/>
          </a:ln>
        </p:spPr>
      </p:sp>
      <p:sp>
        <p:nvSpPr>
          <p:cNvPr id="7" name="Text 5"/>
          <p:cNvSpPr/>
          <p:nvPr/>
        </p:nvSpPr>
        <p:spPr>
          <a:xfrm>
            <a:off x="685800"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lunar</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Relating to the moon. From Latin luna (moon) + -ar (relating to). Lunar observations were essential for calculating longitude at sea before modern GPS.</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Nat calculated lunar distances — the angular separation between the moon and a known star — to determine the ship’s exact longitude.</a:t>
            </a:r>
            <a:endParaRPr lang="en-US" sz="2400" dirty="0"/>
          </a:p>
        </p:txBody>
      </p:sp>
      <p:sp>
        <p:nvSpPr>
          <p:cNvPr id="8" name="Shape 6"/>
          <p:cNvSpPr/>
          <p:nvPr/>
        </p:nvSpPr>
        <p:spPr>
          <a:xfrm>
            <a:off x="4292498" y="1554480"/>
            <a:ext cx="3606698" cy="2354580"/>
          </a:xfrm>
          <a:prstGeom prst="roundRect">
            <a:avLst>
              <a:gd name="adj" fmla="val 3107"/>
            </a:avLst>
          </a:prstGeom>
          <a:solidFill>
            <a:srgbClr val="E5F7FC"/>
          </a:solidFill>
          <a:ln w="15875">
            <a:solidFill>
              <a:srgbClr val="A6DDEE"/>
            </a:solidFill>
            <a:prstDash val="solid"/>
          </a:ln>
        </p:spPr>
      </p:sp>
      <p:sp>
        <p:nvSpPr>
          <p:cNvPr id="9" name="Text 7"/>
          <p:cNvSpPr/>
          <p:nvPr/>
        </p:nvSpPr>
        <p:spPr>
          <a:xfrm>
            <a:off x="4475378"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nautical</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Relating to sailors, ships, or navigation. From Greek naut (sailor) + -ical. A nautical mile (about 1.15 land miles) is based on one minute of arc of the earth’s circumference.</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Nat’s nautical knowledge was more than theory — he understood the practical mathematics that actually kept ships safe at sea.</a:t>
            </a:r>
            <a:endParaRPr lang="en-US" sz="2400" dirty="0"/>
          </a:p>
        </p:txBody>
      </p:sp>
      <p:sp>
        <p:nvSpPr>
          <p:cNvPr id="10" name="Shape 8"/>
          <p:cNvSpPr/>
          <p:nvPr/>
        </p:nvSpPr>
        <p:spPr>
          <a:xfrm>
            <a:off x="8082077" y="1554480"/>
            <a:ext cx="3606698" cy="2354580"/>
          </a:xfrm>
          <a:prstGeom prst="roundRect">
            <a:avLst>
              <a:gd name="adj" fmla="val 3107"/>
            </a:avLst>
          </a:prstGeom>
          <a:solidFill>
            <a:srgbClr val="E5F7FC"/>
          </a:solidFill>
          <a:ln w="15875">
            <a:solidFill>
              <a:srgbClr val="A6DDEE"/>
            </a:solidFill>
            <a:prstDash val="solid"/>
          </a:ln>
        </p:spPr>
      </p:sp>
      <p:sp>
        <p:nvSpPr>
          <p:cNvPr id="11" name="Text 9"/>
          <p:cNvSpPr/>
          <p:nvPr/>
        </p:nvSpPr>
        <p:spPr>
          <a:xfrm>
            <a:off x="8264957"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hazardous</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Full of hazard; dangerous; risky. From Old French hasard (a dice game of chance) + -ous. A hazardous situation is one where the risk of harm is high.</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Navigating a coastline without accurate charts was hazardous — one miscalculation could drive a ship onto a reef in the dark.</a:t>
            </a:r>
            <a:endParaRPr lang="en-US" sz="2400" dirty="0"/>
          </a:p>
        </p:txBody>
      </p:sp>
      <p:sp>
        <p:nvSpPr>
          <p:cNvPr id="12" name="Shape 10"/>
          <p:cNvSpPr/>
          <p:nvPr/>
        </p:nvSpPr>
        <p:spPr>
          <a:xfrm>
            <a:off x="502920" y="4091940"/>
            <a:ext cx="3606698" cy="2354580"/>
          </a:xfrm>
          <a:prstGeom prst="roundRect">
            <a:avLst>
              <a:gd name="adj" fmla="val 3107"/>
            </a:avLst>
          </a:prstGeom>
          <a:solidFill>
            <a:srgbClr val="E5F7FC"/>
          </a:solidFill>
          <a:ln w="15875">
            <a:solidFill>
              <a:srgbClr val="A6DDEE"/>
            </a:solidFill>
            <a:prstDash val="solid"/>
          </a:ln>
        </p:spPr>
      </p:sp>
      <p:sp>
        <p:nvSpPr>
          <p:cNvPr id="13" name="Text 11"/>
          <p:cNvSpPr/>
          <p:nvPr/>
        </p:nvSpPr>
        <p:spPr>
          <a:xfrm>
            <a:off x="685800" y="416509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practical</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Useful in actual practice; not just theoretical. From Latin practicus + -al. Something practical works in the real world, not just on paper.</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Nat wanted navigation to be practical — not just correct in theory, but actually usable by ordinary sailors who needed to work the calculations at sea.</a:t>
            </a:r>
            <a:endParaRPr lang="en-US" sz="2400" dirty="0"/>
          </a:p>
        </p:txBody>
      </p:sp>
      <p:sp>
        <p:nvSpPr>
          <p:cNvPr id="14" name="Shape 12"/>
          <p:cNvSpPr/>
          <p:nvPr/>
        </p:nvSpPr>
        <p:spPr>
          <a:xfrm>
            <a:off x="4292498" y="4091940"/>
            <a:ext cx="3606698" cy="2354580"/>
          </a:xfrm>
          <a:prstGeom prst="roundRect">
            <a:avLst>
              <a:gd name="adj" fmla="val 3107"/>
            </a:avLst>
          </a:prstGeom>
          <a:solidFill>
            <a:srgbClr val="E5F7FC"/>
          </a:solidFill>
          <a:ln w="15875">
            <a:solidFill>
              <a:srgbClr val="A6DDEE"/>
            </a:solidFill>
            <a:prstDash val="solid"/>
          </a:ln>
        </p:spPr>
      </p:sp>
      <p:sp>
        <p:nvSpPr>
          <p:cNvPr id="15" name="Text 13"/>
          <p:cNvSpPr/>
          <p:nvPr/>
        </p:nvSpPr>
        <p:spPr>
          <a:xfrm>
            <a:off x="4475378" y="416509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mathematical</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Relating to mathematics; using precise calculation and logical reasoning. From Greek mathematikos (fond of learning) + -al. Mathematical precision means there is no room for error or guesswork.</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Nat brought a mathematical precision to navigation that transformed how ordinary sailors understood their position at sea.</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What do you notice?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Find the comma in each sentence, then look at what sits in front of it.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Look at the words below, then think it through.</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does the part before the comma do — name a time, a place, a condition?</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Could the sentence stand alone without that part?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Read one aloud without pausing at the comma. What gets harder?</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version is punctuated correctly?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After three years at sea Nat came home with a notebook full of corrections.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After three years at sea, Nat came home with a notebook full of corrections.</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version is punctuated correctly?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Because the tables were wrong, ships were lost.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Because the tables were wrong ships were lost.</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version is punctuated correctly?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However the errors were not the printer’s fault.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However, the errors were not the printer’s fault.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Commas with Introductory Phrases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version is punctuated correctly?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After three years at sea Nat came home with a notebook full of corrections.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After three years at sea, Nat came home with a notebook full of corrections.</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version is punctuated correctly?</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Because the tables were wrong, ships were lost.</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Because the tables were wrong ships were lost.</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version is punctuated correctly?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However the errors were not the printer’s fault.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However, the errors were not the printer’s fault.</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TWO WAYS TO MAKE AN ADJECTIVE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Suffixes -al and -ic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Nat’s work is nautical, mathematical, and scientific all at once. Three adjectives, two endings. -al and -ic both turn a noun into an adjective meaning having to do with — and English uses whichever one the word’s history handed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Two Adjective Endings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 on most nouns → nautic al, coast al, tid al, practic 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-ic often after -y or -ce → history → histor ic, science → scientif ic, magnet → magnet ic</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-ical is both endings stacked → mathemat ical, histor ical, pract ical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the base: the final y or e usually drops. history → historic, science → scientific.</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When both exist, they usually mean different things: a historic day matters; a historical document is from the past.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TWO WAYS TO MAKE AN ADJECTIVE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Suffixes -al and -ic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In your reading journal, sort these words into two columns — -al and -ic — and mark the three that can take -ical: nautical · magnetic · coastal · historic · practical · scientific · tidal · atmospheric</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 and –ic both turn a noun into an adjective. Which one a word takes is fixed by the word, not by a rule you can derive.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Sort each adjective by its ending.</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TWO WAYS TO MAKE AN ADJECTIVE</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Suffixes -al and -ic</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nautical     ·     practical     ·     coastal     ·     scientific     ·     magnetic     ·     heroic</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550148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ends in –al</a:t>
            </a:r>
            <a:endParaRPr lang="en-US" sz="2200" dirty="0"/>
          </a:p>
        </p:txBody>
      </p:sp>
      <p:sp>
        <p:nvSpPr>
          <p:cNvPr id="14" name="Shape 12"/>
          <p:cNvSpPr/>
          <p:nvPr/>
        </p:nvSpPr>
        <p:spPr>
          <a:xfrm>
            <a:off x="6187288" y="3977640"/>
            <a:ext cx="550148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6370168"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ends in –ic</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TWO WAYS TO MAKE AN ADJECTIVE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Suffixes -al and -ic</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5501488" cy="4892040"/>
          </a:xfrm>
          <a:prstGeom prst="roundRect">
            <a:avLst>
              <a:gd name="adj" fmla="val 1495"/>
            </a:avLst>
          </a:prstGeom>
          <a:solidFill>
            <a:srgbClr val="E8F8EF"/>
          </a:solidFill>
          <a:ln w="15875">
            <a:solidFill>
              <a:srgbClr val="9ED9B5"/>
            </a:solidFill>
            <a:prstDash val="solid"/>
          </a:ln>
        </p:spPr>
      </p:sp>
      <p:sp>
        <p:nvSpPr>
          <p:cNvPr id="9" name="Text 7"/>
          <p:cNvSpPr/>
          <p:nvPr/>
        </p:nvSpPr>
        <p:spPr>
          <a:xfrm>
            <a:off x="685800"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ends in –al</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nautical</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practical</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coastal</a:t>
            </a:r>
            <a:endParaRPr lang="en-US" sz="2100" dirty="0"/>
          </a:p>
        </p:txBody>
      </p:sp>
      <p:sp>
        <p:nvSpPr>
          <p:cNvPr id="10" name="Shape 8"/>
          <p:cNvSpPr/>
          <p:nvPr/>
        </p:nvSpPr>
        <p:spPr>
          <a:xfrm>
            <a:off x="6187288" y="1554480"/>
            <a:ext cx="5501488" cy="4892040"/>
          </a:xfrm>
          <a:prstGeom prst="roundRect">
            <a:avLst>
              <a:gd name="adj" fmla="val 1495"/>
            </a:avLst>
          </a:prstGeom>
          <a:solidFill>
            <a:srgbClr val="E8F8EF"/>
          </a:solidFill>
          <a:ln w="15875">
            <a:solidFill>
              <a:srgbClr val="9ED9B5"/>
            </a:solidFill>
            <a:prstDash val="solid"/>
          </a:ln>
        </p:spPr>
      </p:sp>
      <p:sp>
        <p:nvSpPr>
          <p:cNvPr id="11" name="Text 9"/>
          <p:cNvSpPr/>
          <p:nvPr/>
        </p:nvSpPr>
        <p:spPr>
          <a:xfrm>
            <a:off x="6370168"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ends in –ic</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scientific</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magnetic</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heroic</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13 — “DISCOVERY”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12 — Chapter 13 — Discovery</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13 is a hinge in this book. Nat has always been the careful reader, the patient corrector. But now, at sea aboard the Henry, he finds an error in one of the tables in the book that navigators trust most. The discovery is not just intellectual — it is a moment where the setting (at sea, where errors cost lives) and the conflict (a young unknown vs. an authoritative text) push him to speak up, and it points toward the work that will define his life.</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13</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The Discovery: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exactly does Nat discover in Moore’s Navigator, and why does it matter? Use the word erroneous in your answer.</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The Decision: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How does the setting — being at sea, aboard a ship where accuracy is life or death — shape how Nat reacts to his discovery?</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In Chapter 13, Nat discovers an error in Moore’s Navigator — the book sailors rely on for their lives. Explain: what does he discover, why is it significant, and how does the setting (being at sea) make this discovery more urgent?</a:t>
            </a:r>
            <a:endParaRPr lang="en-US" sz="1900" dirty="0"/>
          </a:p>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The title of this chapter is “Discovery.” The discovery is not just finding an error — it is also a discovery about what Nat is capable of and what he will do about it. Explain how Nat reacts, what Captain Prince’s note tells him to do next, and how this reveals his character.</a:t>
            </a:r>
            <a:endParaRPr lang="en-US" sz="1900" dirty="0"/>
          </a:p>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Nat is a young, unknown clerk and second mate. The table he finds the error in was computed by Nevil Maskelyne, the royal astronomer of England, and published in Moore’s Navigator, the most trusted book of its kind. Explain the conflict: how does Nat’s decision to challenge an authoritative text reflect the way conflict shapes a character’s decisions?</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START BODY SECTION 2 WITH A VARIED TRANSITION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12 · DRAFT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Body 2 starts today. But first you need a transition that doesn’t just say “Another reason.” Today you learn to use transitions that show the logical relationship between body sections.</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starts Body 2 with a weak transition, then revises. BEFORE Alex’s first draft: Another reason Bowditch was extraordinary was that he corrected navigation errors. AFTER Alex’s revised opening: Furthermore, what made Bowditch’s self-education even more remarkable was how he put it to work — not to advance his own career, but to fix a problem that endangered every sailor at sea. Notice: “Another reason” is a dead transition — it just adds without connecting. Alex’s revision shows the RELATIONSHIP: the self-education (Body 1) leads to and is connected to the correction of errors (Body 2).</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START BODY SECTION 2 WITH A VARIED TRANSITION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12 · DRAFT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Transition Types for Body 2: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Choose the transition type that best shows the relationship between your two body sections. Alex’s example (filled): Add + deepen: Furthermore, what made ___ even more remarkable was ___ Show the result: This self-education had a purpose: ___ Zoom out: Beyond his individual achievement, Bowditch also ___ Contrast: If self-education was how Bowditch built his knowledge, then ___ was how he used it Your turn — do the same in your reading journal: I will use the “_____________” transition type. My Body 2 opening sentence: ____________________ My Body 2 subtopic: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“Furthermore, what made ___ even more remarkable was ___.” “Beyond his personal achievement, Bowditch also ___.” “If ___ showed his commitment to learning, then ___ showed what he did with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12.1 — Carry On, Mr. Bowditch, Chapter 13</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