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10, Day 3, Chapter 7 — The Almanac.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Moore’s Almanac was a widely trusted guide for navigators. Nat checks it — and finds it is full of errors. Not just a few. Hundreds. This chapter shows what extraordinary precision looks like in action.
Morphology: Use graph/gram/meter roots in original sentences.
Spelling SWYK: Use syllable division to spell and read technical words correctly.
Grammar: Use consistent tense — revise a flawed paragraph.
Reading: Chapter 7 — The Almanac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"while nat checked moores almanac he notices that many of the calculations are wrong and writes them all down"
Corrected: "While Nat checked Moore’s Almanac, he noticed that many of the calculations were wrong and wrote them all down."
Fixes: “Nat” capitalized; “Moore’s” (proper noun + possessive); comma after the subordinate clause; “notices” → “noticed” and “are” → “were” and “writes” → “wrote” (tense shifts corrected to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"while nat checked moores almanac he notices that many of the calculations are wrong and writes them all down"
Corrected: "While Nat checked Moore’s Almanac, he noticed that many of the calculations were wrong and wrote them all down."
Fixes: “Nat” capitalized; “Moore’s” (proper noun + possessive); comma after the subordinate clause; “notices” → “noticed” and “are” → “were” and “writes” → “wrote” (tense shifts corrected to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Is there a stronger, more specific word I could use here instead of a vague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Practice only today — not the graded strand.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Reflection/journal-based grammar task today — no quiz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Use Syllable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Nat’s Path Through Carry On, Mr. Bowditch — 📍 You are here: Chapter 7 — The Almanac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PLAN: Choose evidence for Body Section 2
Focus: Same process as yesterday, but for your second body section. Today you find and rank evidence for Body 2.
Before: BEFORE Alex’s options: (1) Corrects Moore’s Navigator errors. (2) Teaches sailors navigation by logarithms. (3) Calls it ‘a simple matter of mathematics.’ (4) Sam Smith says only weaklings give up when becalmed.
After: AFTER Alex’s ranking for Body 2: (1) Correcting Moore’s — concrete achievement with stakes (sailors’ lives). (2) Teaching sailors — shows the ‘accessible to anyone’ part of the claim directly. Cuts: The Sam quote — important for Body 1 (self-made), less relevant here. The ‘simple matter’ quote — great but goes in Body 2 as a capstone, not evidence.
Notice: Notice: The ‘simple matter’ quote is now planned as a capstone detail inside Body 2, not the main evidence. Evidence ≠ examples. Evidence is what PROVES your subtopic.
Tool: Today’s Tool: Evidence Ranker (Body 2) — List 3–4 pieces of evidence for your Body 2 subtopic. Rank them, pick two.
Frames: “A second quality that supports my claim is ___.” | “This is shown most clearly in Chapter ___ when ___.” | “Unlike Body 1, which showed ___, this section will show...”
Prompt: List your Body 2 evidence options, rank them, and choose your two best. Write your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10  ·  DAY 3</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7 — The Almanac</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10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Moore’s Almanac was a widely trusted guide for navigators. Nat checks it — and finds it is full of errors. Not just a few. Hundreds. This chapter shows what extraordinary precision looks like in action.</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Use graph/gram/meter roots in original sentences.</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SWYK: </a:t>
            </a:r>
            <a:pPr indent="0" marL="0">
              <a:buNone/>
            </a:pPr>
            <a:r>
              <a:rPr lang="en-US" sz="1250" dirty="0">
                <a:solidFill>
                  <a:srgbClr val="1E293B"/>
                </a:solidFill>
                <a:latin typeface="Calibri" pitchFamily="34" charset="0"/>
                <a:ea typeface="Calibri" pitchFamily="34" charset="-122"/>
                <a:cs typeface="Calibri" pitchFamily="34" charset="-120"/>
              </a:rPr>
              <a:t>Use syllable division to spell and read technical words correctly.</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Use consistent tense — revise a flawed paragraph.</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7 — The Almanac</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In Chapter 7, Latham shows us what extraordinary precision looks like — not by telling us Nat was a genius, but by showing us exactly what he did. Good readers notice when an author demonstrates something instead of just naming it.</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is Moore’s Almanac, and why do sailors depend on it?</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Nat discover the errors? What does his process of checking reveal about how his mind works?</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Latham make the number of errors feel significant to the reader?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While Nat studied the almanac by candlelight, he found hundreds of errors in the navigation tables.</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While  </a:t>
            </a:r>
            <a:pPr indent="0" marL="0">
              <a:buNone/>
            </a:pPr>
            <a:r>
              <a:rPr lang="en-US" sz="1200" dirty="0">
                <a:solidFill>
                  <a:srgbClr val="1E293B"/>
                </a:solidFill>
                <a:latin typeface="Calibri" pitchFamily="34" charset="0"/>
                <a:ea typeface="Calibri" pitchFamily="34" charset="-122"/>
                <a:cs typeface="Calibri" pitchFamily="34" charset="-120"/>
              </a:rPr>
              <a:t>"While" introduces a subordinate clause — it must attach to the main clause with a comma if it comes first.</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found  </a:t>
            </a:r>
            <a:pPr indent="0" marL="0">
              <a:buNone/>
            </a:pPr>
            <a:r>
              <a:rPr lang="en-US" sz="1200" dirty="0">
                <a:solidFill>
                  <a:srgbClr val="1E293B"/>
                </a:solidFill>
                <a:latin typeface="Calibri" pitchFamily="34" charset="0"/>
                <a:ea typeface="Calibri" pitchFamily="34" charset="-122"/>
                <a:cs typeface="Calibri" pitchFamily="34" charset="-120"/>
              </a:rPr>
              <a:t>"found" is past tense and matches the tense of "studied" — consistent past throughout.</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navigation tables.  </a:t>
            </a:r>
            <a:pPr indent="0" marL="0">
              <a:buNone/>
            </a:pPr>
            <a:r>
              <a:rPr lang="en-US" sz="1200" dirty="0">
                <a:solidFill>
                  <a:srgbClr val="1E293B"/>
                </a:solidFill>
                <a:latin typeface="Calibri" pitchFamily="34" charset="0"/>
                <a:ea typeface="Calibri" pitchFamily="34" charset="-122"/>
                <a:cs typeface="Calibri" pitchFamily="34" charset="-120"/>
              </a:rPr>
              <a:t>"navigation tables” is the object of "found" — a noun phrase. No capitalization needed 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while nat checked moores almanac he notices that many of the calculations are wrong and writes them all down</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while nat checked moores almanac he notices that many of the calculations are wrong and writes them all down</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While Nat checked Moore’s Almanac, he noticed that many of the calculations were wrong and wrote them all down.</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“Nat” capitalized; “Moore’s” (proper noun + possessive); comma after the subordinate clause; “notices” → “noticed” and “are” → “were” and “writes” → “wrote” (tense shifts corrected to past).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borrows the almanac and studies it in secret. Was it more important to him to learn navigation, or to prove he could still learn at all? Defend your answer with evidence from Chapter 7.</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This matters because...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borrows the almanac and studies it in secret. Was it more important to him to learn navigation, or to prove he could still learn at all? Defend your answer with evidence from Chapter 7.</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This matters because...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Is there a stronger, more specific word I could use here instead of a vague one?</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Use graph/gram/meter in Context</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biography · chronometer · geography · barometer · diagram · telegram</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Use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Use — fill in the blank with the correct word</a:t>
            </a:r>
            <a:endParaRPr lang="en-US" sz="1100" dirty="0"/>
          </a:p>
        </p:txBody>
      </p:sp>
      <p:sp>
        <p:nvSpPr>
          <p:cNvPr id="5" name="Shape 3"/>
          <p:cNvSpPr/>
          <p:nvPr/>
        </p:nvSpPr>
        <p:spPr>
          <a:xfrm>
            <a:off x="365760" y="1097280"/>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A sailor who knows the ship’s ___ can tell how far north or south of the equator it is.</a:t>
            </a:r>
            <a:endParaRPr lang="en-US" sz="1150" dirty="0"/>
          </a:p>
        </p:txBody>
      </p:sp>
      <p:sp>
        <p:nvSpPr>
          <p:cNvPr id="7" name="Shape 5"/>
          <p:cNvSpPr/>
          <p:nvPr/>
        </p:nvSpPr>
        <p:spPr>
          <a:xfrm>
            <a:off x="365760" y="1709928"/>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64792"/>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Moore’s ___ was published every year with tables of astronomical data for navigators.</a:t>
            </a:r>
            <a:endParaRPr lang="en-US" sz="1150" dirty="0"/>
          </a:p>
        </p:txBody>
      </p:sp>
      <p:sp>
        <p:nvSpPr>
          <p:cNvPr id="9" name="Shape 7"/>
          <p:cNvSpPr/>
          <p:nvPr/>
        </p:nvSpPr>
        <p:spPr>
          <a:xfrm>
            <a:off x="365760" y="2322576"/>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377440"/>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A ___ is a mathematical shortcut that turns difficult multiplication into simpler addition.</a:t>
            </a:r>
            <a:endParaRPr lang="en-US" sz="1150" dirty="0"/>
          </a:p>
        </p:txBody>
      </p:sp>
      <p:sp>
        <p:nvSpPr>
          <p:cNvPr id="11" name="Shape 9"/>
          <p:cNvSpPr/>
          <p:nvPr/>
        </p:nvSpPr>
        <p:spPr>
          <a:xfrm>
            <a:off x="365760" y="2935224"/>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990088"/>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___ navigation uses the positions of the sun, moon, and stars to find a ship’s location.</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Revise for Consistent Tense</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Use — rewrite the flawed paragraph in your journal</a:t>
            </a:r>
            <a:endParaRPr lang="en-US" sz="1100" dirty="0"/>
          </a:p>
        </p:txBody>
      </p:sp>
      <p:sp>
        <p:nvSpPr>
          <p:cNvPr id="5" name="Text 3"/>
          <p:cNvSpPr/>
          <p:nvPr/>
        </p:nvSpPr>
        <p:spPr>
          <a:xfrm>
            <a:off x="365760" y="10972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6" name="Shape 4"/>
          <p:cNvSpPr/>
          <p:nvPr/>
        </p:nvSpPr>
        <p:spPr>
          <a:xfrm>
            <a:off x="365760" y="1371600"/>
            <a:ext cx="8412480" cy="1463040"/>
          </a:xfrm>
          <a:prstGeom prst="roundRect">
            <a:avLst>
              <a:gd name="adj" fmla="val 625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463040"/>
            <a:ext cx="8046720" cy="1280160"/>
          </a:xfrm>
          <a:prstGeom prst="rect">
            <a:avLst/>
          </a:prstGeom>
          <a:noFill/>
          <a:ln/>
        </p:spPr>
        <p:txBody>
          <a:bodyPr wrap="square" lIns="0" tIns="0" rIns="0" bIns="0" rtlCol="0" anchor="t"/>
          <a:lstStyle/>
          <a:p>
            <a:pPr indent="0" marL="0">
              <a:buNone/>
            </a:pPr>
            <a:r>
              <a:rPr lang="en-US" sz="1250" i="1" dirty="0">
                <a:solidFill>
                  <a:srgbClr val="1E293B"/>
                </a:solidFill>
                <a:latin typeface="Calibri" pitchFamily="34" charset="0"/>
                <a:ea typeface="Calibri" pitchFamily="34" charset="-122"/>
                <a:cs typeface="Calibri" pitchFamily="34" charset="-120"/>
              </a:rPr>
              <a:t>Six verbs needed correcting. Every shift broke the reader’s sense of time. In informational writing about a historical figure, consistent past tense keeps the reader grounded.</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Use Syllable Knowledge</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Show What You Know — spell and use technical words correctly</a:t>
            </a:r>
            <a:endParaRPr lang="en-US" sz="1100" dirty="0"/>
          </a:p>
        </p:txBody>
      </p:sp>
      <p:sp>
        <p:nvSpPr>
          <p:cNvPr id="7" name="Shape 5"/>
          <p:cNvSpPr/>
          <p:nvPr/>
        </p:nvSpPr>
        <p:spPr>
          <a:xfrm>
            <a:off x="365760" y="1143000"/>
            <a:ext cx="8412480" cy="1005840"/>
          </a:xfrm>
          <a:prstGeom prst="roundRect">
            <a:avLst>
              <a:gd name="adj" fmla="val 9091"/>
            </a:avLst>
          </a:prstGeom>
          <a:solidFill>
            <a:srgbClr val="FEF6E8"/>
          </a:solidFill>
          <a:ln w="12700">
            <a:solidFill>
              <a:srgbClr val="C7922C"/>
            </a:solidFill>
            <a:prstDash val="solid"/>
          </a:ln>
        </p:spPr>
      </p:sp>
      <p:sp>
        <p:nvSpPr>
          <p:cNvPr id="8" name="Text 6"/>
          <p:cNvSpPr/>
          <p:nvPr/>
        </p:nvSpPr>
        <p:spPr>
          <a:xfrm>
            <a:off x="548640" y="1234440"/>
            <a:ext cx="8046720" cy="841248"/>
          </a:xfrm>
          <a:prstGeom prst="rect">
            <a:avLst/>
          </a:prstGeom>
          <a:noFill/>
          <a:ln/>
        </p:spPr>
        <p:txBody>
          <a:bodyPr wrap="square" lIns="0" tIns="0" rIns="0" bIns="0" rtlCol="0" anchor="t"/>
          <a:lstStyle/>
          <a:p>
            <a:pPr indent="0" marL="0">
              <a:buNone/>
            </a:pPr>
            <a:r>
              <a:rPr lang="en-US" sz="1100" b="1" dirty="0">
                <a:solidFill>
                  <a:srgbClr val="C7922C"/>
                </a:solidFill>
                <a:latin typeface="Calibri" pitchFamily="34" charset="0"/>
                <a:ea typeface="Calibri" pitchFamily="34" charset="-122"/>
                <a:cs typeface="Calibri" pitchFamily="34" charset="-120"/>
              </a:rPr>
              <a:t>🫖 Show What You Know · Spelling
</a:t>
            </a:r>
            <a:pPr indent="0" marL="0">
              <a:buNone/>
            </a:pPr>
            <a:r>
              <a:rPr lang="en-US" sz="1100" i="1" dirty="0">
                <a:solidFill>
                  <a:srgbClr val="1E293B"/>
                </a:solidFill>
                <a:latin typeface="Calibri" pitchFamily="34" charset="0"/>
                <a:ea typeface="Calibri" pitchFamily="34" charset="-122"/>
                <a:cs typeface="Calibri" pitchFamily="34" charset="-120"/>
              </a:rPr>
              <a:t>Choose two words from the list below. For each one: (1) write the word with syllable dots, (2) write the VCV or VCCV pattern label, (3) write a sentence using the word correctly. Words: almanac · celestial · logarithm · latitude · apprentice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Nat’s Path Through Carry On, Mr. Bowditch — 📍 You are here: Chapter 7 — The Almanac</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7 — The Almanac</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What is Moore’s Almanac, and why do sailors depend on it?</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How does Nat discover the errors? What does his process of checking reveal about how his mind works?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What is Moore’s Almanac, and why is it important to sailors? What does Nat discover when he checks its calculations?</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Think about the significance of Nat’s discovery. If a sailor trusted the almanac and used an incorrect calculation, what could happen at sea? What does this tell you about why accuracy mattered so much to Nat?</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How is Chapter 7 a continuation of the “ash breeze” idea from Chapter 6? How is Nat still rowing — still finding another way forward — even while working at the chandlery?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PLAN  ·  Choose evidence for Body Section 2</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Same process as yesterday, but for your second body section. Today you find and rank evidence for Body 2.</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options: (1) Corrects Moore’s Navigator errors. (2) Teaches sailors navigation by logarithms. (3) Calls it ‘a simple matter of mathematics.’ (4) Sam Smith says only weaklings give up when becalmed.</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ranking for Body 2: (1) Correcting Moore’s — concrete achievement with stakes (sailors’ lives). (2) Teaching sailors — shows the ‘accessible to anyone’ part of the claim directly. Cuts: The Sam quote — important for Body 1 (self-made), less relevant here. The ‘simple matter’ quote — great but goes in Body 2 as a capstone, not evidence.</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The ‘simple matter’ quote is now planned as a capstone detail inside Body 2, not the main evidence. Evidence ≠ examples. Evidence is what PROVES your subtopic.</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EVIDENCE RANKER (BODY 2)</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List 3–4 pieces of evidence for your Body 2 subtopic. Rank them, pick two.</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List your Body 2 evidence options, rank them, and choose your two best. Write your reasoning.</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2026-07-13T16:49:16Z</dcterms:created>
  <dcterms:modified xsi:type="dcterms:W3CDTF">2026-07-13T16:49:16Z</dcterms:modified>
</cp:coreProperties>
</file>