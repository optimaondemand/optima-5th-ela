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10.3: Chapter 7, "The Almanac". Banner quote: “An almanac at sixteen!” (Mr. Morris • Chapter 7 • Carry On, Mr. Bowditch).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question: What happens when someone truly sees? At sixteen, Nat figures out how to make his own almanac — and a stranger from Cambridge sees it. Before that, he fills notebook after notebook: rope, sails, navigation, surveying, algebra. This chapter shows what a mind that never stops learning looks like in action.
Objectives:
- 🌱 Morphology: Use graph/gram/scribe roots in original sentences.
- 🔤 Spelling SWYK: Use syllable division to spell and read technical words correctly.
- ✏️ Grammar: Use consistent tense — revise a flawed paragraph.
- 📖 Reading: I will analyze the chain in Chapter 7 — what sent Nat to the calculations, what he did, and what it made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Tap-and-notice only — no answer needed. Ask students why each highlighted word or mark is correct before revealing the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while nat figured his almanac ben meeker shuffles in and asks what it is
Corrected: While Nat figured his almanac, Ben Meeker shuffled in and asked what it was.
Fixes: “While” and “Nat” capitalized; “Ben Meeker” (proper noun, both names); comma after the subordinate clause; “shuffles” → “shuffled” and “asks” → “asked” and “is” → “was” (tense shifts corrected to past).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while nat figured his almanac ben meeker shuffles in and asks what it is
Corrected: While Nat figured his almanac, Ben Meeker shuffled in and asked what it was.
Fixes: “While” and “Nat” capitalized; “Ben Meeker” (proper noun, both names); comma after the subordinate clause; “shuffles” → “shuffled” and “asks” → “asked” and “is” → “was” (tense shifts corrected to past).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Read the prompt aloud. Remind students: pick a side, defend it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there a stronger, more specific word I could use here instead of a vague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Invite respectful disagreement about their choice and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Morphology: Roots graph / gram / scribe — Use — put the roots to work.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Morphology: Roots graph / gram / scribe — Use — put the roots to work.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fill each blank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autograph  2. telegram  3. prescription  4. transcribe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diagram
2. transcribe
3. biography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Vocabulary: Use It — Use — fill in the blank with the correct word.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fill each blank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latitude  2. almanac  3. logarithm  4. celestial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Grammar: Revise for Consistent Tense — Use — rewrite the flawed paragraph in your journal.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find the words to tap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Words to tap: copies (g10d3gs1); explains (g10d3gs1); shuffles (g10d3gs1)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Spelling: -er and -or — Naming the Doer — Apply — build the job name.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graded Show What You Know for today. Students write it in the Word Study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sentence aloud twice. Work through Reader → Writer → Mimic.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reading. Students open their novels to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stopping points before students read, so they know where to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Plan: Choose evidence for Body Section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Plan: Choose evidence for Body Section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5715000"/>
            <a:ext cx="12191695" cy="1143000"/>
          </a:xfrm>
          <a:prstGeom prst="rect">
            <a:avLst/>
          </a:prstGeom>
          <a:solidFill>
            <a:srgbClr val="17295C"/>
          </a:solidFill>
          <a:ln w="12700">
            <a:solidFill>
              <a:srgbClr val="17295C"/>
            </a:solidFill>
            <a:prstDash val="solid"/>
          </a:ln>
        </p:spPr>
      </p:sp>
      <p:sp>
        <p:nvSpPr>
          <p:cNvPr id="3" name="Text 1"/>
          <p:cNvSpPr/>
          <p:nvPr/>
        </p:nvSpPr>
        <p:spPr>
          <a:xfrm>
            <a:off x="731520" y="914400"/>
            <a:ext cx="10058400" cy="457200"/>
          </a:xfrm>
          <a:prstGeom prst="rect">
            <a:avLst/>
          </a:prstGeom>
          <a:noFill/>
          <a:ln/>
        </p:spPr>
        <p:txBody>
          <a:bodyPr wrap="square" lIns="0" tIns="0" rIns="0" bIns="0" rtlCol="0" anchor="ctr"/>
          <a:lstStyle/>
          <a:p>
            <a:pPr indent="0" marL="0">
              <a:buNone/>
            </a:pPr>
            <a:r>
              <a:rPr lang="en-US" sz="1800" b="1" spc="300" kern="0" dirty="0">
                <a:solidFill>
                  <a:srgbClr val="55C8E8"/>
                </a:solidFill>
                <a:latin typeface="Calibri" pitchFamily="34" charset="0"/>
                <a:ea typeface="Calibri" pitchFamily="34" charset="-122"/>
                <a:cs typeface="Calibri" pitchFamily="34" charset="-120"/>
              </a:rPr>
              <a:t>WEEK 10  ·  DAY 3  ·  LESSON 10.3</a:t>
            </a:r>
            <a:endParaRPr lang="en-US" sz="1800" dirty="0"/>
          </a:p>
        </p:txBody>
      </p:sp>
      <p:sp>
        <p:nvSpPr>
          <p:cNvPr id="4" name="Text 2"/>
          <p:cNvSpPr/>
          <p:nvPr/>
        </p:nvSpPr>
        <p:spPr>
          <a:xfrm>
            <a:off x="731520" y="1737360"/>
            <a:ext cx="1051560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Carry On, Mr. Bowditch</a:t>
            </a:r>
            <a:endParaRPr lang="en-US" sz="4400" dirty="0"/>
          </a:p>
        </p:txBody>
      </p:sp>
      <p:sp>
        <p:nvSpPr>
          <p:cNvPr id="5" name="Text 3"/>
          <p:cNvSpPr/>
          <p:nvPr/>
        </p:nvSpPr>
        <p:spPr>
          <a:xfrm>
            <a:off x="731520" y="2606040"/>
            <a:ext cx="10515600" cy="822960"/>
          </a:xfrm>
          <a:prstGeom prst="rect">
            <a:avLst/>
          </a:prstGeom>
          <a:noFill/>
          <a:ln/>
        </p:spPr>
        <p:txBody>
          <a:bodyPr wrap="square" lIns="0" tIns="0" rIns="0" bIns="0" rtlCol="0" anchor="ctr"/>
          <a:lstStyle/>
          <a:p>
            <a:pPr indent="0" marL="0">
              <a:buNone/>
            </a:pPr>
            <a:r>
              <a:rPr lang="en-US" sz="3400" dirty="0">
                <a:solidFill>
                  <a:srgbClr val="FFFFFF"/>
                </a:solidFill>
                <a:latin typeface="Calibri" pitchFamily="34" charset="0"/>
                <a:ea typeface="Calibri" pitchFamily="34" charset="-122"/>
                <a:cs typeface="Calibri" pitchFamily="34" charset="-120"/>
              </a:rPr>
              <a:t>Chapter 7 — The Almanac</a:t>
            </a:r>
            <a:endParaRPr lang="en-US" sz="3400" dirty="0"/>
          </a:p>
        </p:txBody>
      </p:sp>
      <p:sp>
        <p:nvSpPr>
          <p:cNvPr id="6" name="Text 4"/>
          <p:cNvSpPr/>
          <p:nvPr/>
        </p:nvSpPr>
        <p:spPr>
          <a:xfrm>
            <a:off x="731520" y="3794760"/>
            <a:ext cx="10607040" cy="1371600"/>
          </a:xfrm>
          <a:prstGeom prst="rect">
            <a:avLst/>
          </a:prstGeom>
          <a:noFill/>
          <a:ln/>
        </p:spPr>
        <p:txBody>
          <a:bodyPr wrap="square" lIns="0" tIns="0" rIns="0" bIns="0" rtlCol="0" anchor="t"/>
          <a:lstStyle/>
          <a:p>
            <a:pPr indent="0" marL="0">
              <a:buNone/>
            </a:pPr>
            <a:r>
              <a:rPr lang="en-US" sz="2000" i="1" dirty="0">
                <a:solidFill>
                  <a:srgbClr val="DCE6F5"/>
                </a:solidFill>
                <a:latin typeface="Calibri" pitchFamily="34" charset="0"/>
                <a:ea typeface="Calibri" pitchFamily="34" charset="-122"/>
                <a:cs typeface="Calibri" pitchFamily="34" charset="-120"/>
              </a:rPr>
              <a:t>“An almanac at sixteen!”</a:t>
            </a:r>
            <a:pPr indent="0" marL="0">
              <a:buNone/>
            </a:pPr>
            <a:r>
              <a:rPr lang="en-US" sz="1600" dirty="0">
                <a:solidFill>
                  <a:srgbClr val="55C8E8"/>
                </a:solidFill>
                <a:latin typeface="Calibri" pitchFamily="34" charset="0"/>
                <a:ea typeface="Calibri" pitchFamily="34" charset="-122"/>
                <a:cs typeface="Calibri" pitchFamily="34" charset="-120"/>
              </a:rPr>
              <a:t>  — Mr. Morris • Chapter 7 • Carry On, Mr. Bowditch</a:t>
            </a:r>
            <a:endParaRPr lang="en-US" sz="2000" dirty="0"/>
          </a:p>
        </p:txBody>
      </p:sp>
      <p:sp>
        <p:nvSpPr>
          <p:cNvPr id="7" name="Text 5"/>
          <p:cNvSpPr/>
          <p:nvPr/>
        </p:nvSpPr>
        <p:spPr>
          <a:xfrm>
            <a:off x="731520" y="5943600"/>
            <a:ext cx="10058400" cy="548640"/>
          </a:xfrm>
          <a:prstGeom prst="rect">
            <a:avLst/>
          </a:prstGeom>
          <a:noFill/>
          <a:ln/>
        </p:spPr>
        <p:txBody>
          <a:bodyPr wrap="square" lIns="0" tIns="0" rIns="0" bIns="0" rtlCol="0" anchor="ctr"/>
          <a:lstStyle/>
          <a:p>
            <a:pPr indent="0" marL="0">
              <a:buNone/>
            </a:pPr>
            <a:r>
              <a:rPr lang="en-US" sz="1800" dirty="0">
                <a:solidFill>
                  <a:srgbClr val="DCE6F5"/>
                </a:solidFill>
                <a:latin typeface="Calibri" pitchFamily="34" charset="0"/>
                <a:ea typeface="Calibri" pitchFamily="34" charset="-122"/>
                <a:cs typeface="Calibri" pitchFamily="34" charset="-120"/>
              </a:rPr>
              <a:t>🧭  Grade 5 ELA  ·  Optima Academy Online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TODAY’S ARC</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Today's Objectives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4754880" cy="4892040"/>
          </a:xfrm>
          <a:prstGeom prst="roundRect">
            <a:avLst>
              <a:gd name="adj" fmla="val 1538"/>
            </a:avLst>
          </a:prstGeom>
          <a:solidFill>
            <a:srgbClr val="F0E8FF"/>
          </a:solidFill>
          <a:ln w="15875">
            <a:solidFill>
              <a:srgbClr val="D6C8F0"/>
            </a:solidFill>
            <a:prstDash val="solid"/>
          </a:ln>
        </p:spPr>
      </p:sp>
      <p:sp>
        <p:nvSpPr>
          <p:cNvPr id="7" name="Text 5"/>
          <p:cNvSpPr/>
          <p:nvPr/>
        </p:nvSpPr>
        <p:spPr>
          <a:xfrm>
            <a:off x="731520" y="1737360"/>
            <a:ext cx="4297680" cy="292608"/>
          </a:xfrm>
          <a:prstGeom prst="rect">
            <a:avLst/>
          </a:prstGeom>
          <a:noFill/>
          <a:ln/>
        </p:spPr>
        <p:txBody>
          <a:bodyPr wrap="square" lIns="0" tIns="0" rIns="0" bIns="0" rtlCol="0" anchor="ctr"/>
          <a:lstStyle/>
          <a:p>
            <a:pPr indent="0" marL="0">
              <a:buNone/>
            </a:pPr>
            <a:r>
              <a:rPr lang="en-US" sz="1300" b="1" spc="150" kern="0" dirty="0">
                <a:solidFill>
                  <a:srgbClr val="6B4FA8"/>
                </a:solidFill>
                <a:latin typeface="Calibri" pitchFamily="34" charset="0"/>
                <a:ea typeface="Calibri" pitchFamily="34" charset="-122"/>
                <a:cs typeface="Calibri" pitchFamily="34" charset="-120"/>
              </a:rPr>
              <a:t>CHAPTER 7</a:t>
            </a:r>
            <a:endParaRPr lang="en-US" sz="1300" dirty="0"/>
          </a:p>
        </p:txBody>
      </p:sp>
      <p:sp>
        <p:nvSpPr>
          <p:cNvPr id="8" name="Text 6"/>
          <p:cNvSpPr/>
          <p:nvPr/>
        </p:nvSpPr>
        <p:spPr>
          <a:xfrm>
            <a:off x="731520" y="2103120"/>
            <a:ext cx="4297680" cy="4160520"/>
          </a:xfrm>
          <a:prstGeom prst="rect">
            <a:avLst/>
          </a:prstGeom>
          <a:noFill/>
          <a:ln/>
        </p:spPr>
        <p:txBody>
          <a:bodyPr wrap="square" lIns="0" tIns="0" rIns="0" bIns="0" rtlCol="0" anchor="t"/>
          <a:lstStyle/>
          <a:p>
            <a:pPr indent="0" marL="0">
              <a:spcAft>
                <a:spcPts val="900"/>
              </a:spcAft>
              <a:buNone/>
            </a:pPr>
            <a:r>
              <a:rPr lang="en-US" sz="2100" b="1" dirty="0">
                <a:solidFill>
                  <a:srgbClr val="6B4FA8"/>
                </a:solidFill>
                <a:latin typeface="Calibri" pitchFamily="34" charset="0"/>
                <a:ea typeface="Calibri" pitchFamily="34" charset="-122"/>
                <a:cs typeface="Calibri" pitchFamily="34" charset="-120"/>
              </a:rPr>
              <a:t>What happens when someone truly sees?</a:t>
            </a:r>
            <a:endParaRPr lang="en-US" sz="2100" dirty="0"/>
          </a:p>
          <a:p>
            <a:pPr indent="0" marL="0">
              <a:spcAft>
                <a:spcPts val="900"/>
              </a:spcAft>
              <a:buNone/>
            </a:pPr>
            <a:r>
              <a:rPr lang="en-US" sz="2100" dirty="0">
                <a:solidFill>
                  <a:srgbClr val="1E293B"/>
                </a:solidFill>
                <a:latin typeface="Calibri" pitchFamily="34" charset="0"/>
                <a:ea typeface="Calibri" pitchFamily="34" charset="-122"/>
                <a:cs typeface="Calibri" pitchFamily="34" charset="-120"/>
              </a:rPr>
              <a:t>At sixteen, Nat figures out how to make his own almanac — and a stranger from Cambridge sees it. Before that, he fills notebook after notebook: rope, sails, navigation, surveying, algebra. This chapter shows what a mind that never stops learning looks like in action.</a:t>
            </a:r>
            <a:endParaRPr lang="en-US" sz="2100" dirty="0"/>
          </a:p>
        </p:txBody>
      </p:sp>
      <p:sp>
        <p:nvSpPr>
          <p:cNvPr id="9" name="Shape 7"/>
          <p:cNvSpPr/>
          <p:nvPr/>
        </p:nvSpPr>
        <p:spPr>
          <a:xfrm>
            <a:off x="5532120" y="1554480"/>
            <a:ext cx="6156655" cy="4892040"/>
          </a:xfrm>
          <a:prstGeom prst="roundRect">
            <a:avLst>
              <a:gd name="adj" fmla="val 1495"/>
            </a:avLst>
          </a:prstGeom>
          <a:solidFill>
            <a:srgbClr val="F8FAFC"/>
          </a:solidFill>
          <a:ln w="15875">
            <a:solidFill>
              <a:srgbClr val="CBD5E1"/>
            </a:solidFill>
            <a:prstDash val="solid"/>
          </a:ln>
        </p:spPr>
      </p:sp>
      <p:sp>
        <p:nvSpPr>
          <p:cNvPr id="10" name="Text 8"/>
          <p:cNvSpPr/>
          <p:nvPr/>
        </p:nvSpPr>
        <p:spPr>
          <a:xfrm>
            <a:off x="5760720" y="1737360"/>
            <a:ext cx="56994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BY THE END OF THIS LESSON…</a:t>
            </a:r>
            <a:endParaRPr lang="en-US" sz="1300" dirty="0"/>
          </a:p>
        </p:txBody>
      </p:sp>
      <p:sp>
        <p:nvSpPr>
          <p:cNvPr id="11" name="Text 9"/>
          <p:cNvSpPr/>
          <p:nvPr/>
        </p:nvSpPr>
        <p:spPr>
          <a:xfrm>
            <a:off x="5760720" y="2103120"/>
            <a:ext cx="5699455" cy="416052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Morphology: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Use graph/gram/scribe roots in original sentences.</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Spelling SWYK: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Use syllable division to spell and read technical words correctly.</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Grammar: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Use consistent tense — revise a flawed paragraph.</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Reading: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analyze the chain in Chapter 7 — what sent Nat to the calculations, what he did, and what it made possible.</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REREAD — HOW ONE SOLUTION BUILDS THE NEXT</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Today reread the passage in Chapter 7 where Nat works through the calculations. Latham never tells you he was brilliant; she shows you exactly what he did. Reread it and trace the chain: what problem sent him to the book, what he did about it, and what that made possible next.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Name the problem: For each event, say plainly what problem it puts in front of Nat.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Watch what he does with it: Look for the specific action he takes. A life story turns on what a person does next.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Follow the consequence forward: Ask what this makes possible later. A life story is a chain, not a list.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Watch for as you read:</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What new notebooks does Nat start in this chapter, and where does he learn each subject?</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REREAD — HOW ONE SOLUTION BUILDS THE NEXT</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What happens when Mr. Ropes sends Nat to look up surveying? What does that reveal about how his mind works?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How does Latham show what it means that Nat made an almanac at sixteen?</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CORRECT MODEL — NOTICE WHAT EACH HIGHLIGHTED PART TEACHES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Study What’s Right</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1371600"/>
          </a:xfrm>
          <a:prstGeom prst="roundRect">
            <a:avLst>
              <a:gd name="adj" fmla="val 5333"/>
            </a:avLst>
          </a:prstGeom>
          <a:solidFill>
            <a:srgbClr val="E8F8EF"/>
          </a:solidFill>
          <a:ln w="15875">
            <a:solidFill>
              <a:srgbClr val="9ED9B5"/>
            </a:solidFill>
            <a:prstDash val="solid"/>
          </a:ln>
        </p:spPr>
      </p:sp>
      <p:sp>
        <p:nvSpPr>
          <p:cNvPr id="7" name="Text 5"/>
          <p:cNvSpPr/>
          <p:nvPr/>
        </p:nvSpPr>
        <p:spPr>
          <a:xfrm>
            <a:off x="777240" y="1645920"/>
            <a:ext cx="10637215" cy="1188720"/>
          </a:xfrm>
          <a:prstGeom prst="rect">
            <a:avLst/>
          </a:prstGeom>
          <a:noFill/>
          <a:ln/>
        </p:spPr>
        <p:txBody>
          <a:bodyPr wrap="square" lIns="0" tIns="0" rIns="0" bIns="0" rtlCol="0" anchor="ctr">
            <a:normAutofit/>
          </a:bodyPr>
          <a:lstStyle/>
          <a:p>
            <a:pPr indent="0" marL="0">
              <a:buNone/>
            </a:pPr>
            <a:r>
              <a:rPr lang="en-US" sz="2600" b="1" u="sng" dirty="0">
                <a:solidFill>
                  <a:srgbClr val="1E8E52"/>
                </a:solidFill>
                <a:latin typeface="Calibri" pitchFamily="34" charset="0"/>
                <a:ea typeface="Calibri" pitchFamily="34" charset="-122"/>
                <a:cs typeface="Calibri" pitchFamily="34" charset="-120"/>
              </a:rPr>
              <a:t>While</a:t>
            </a:r>
            <a:pPr indent="0" marL="0">
              <a:buNone/>
            </a:pPr>
            <a:r>
              <a:rPr lang="en-US" sz="2600" dirty="0">
                <a:solidFill>
                  <a:srgbClr val="1E293B"/>
                </a:solidFill>
                <a:latin typeface="Calibri" pitchFamily="34" charset="0"/>
                <a:ea typeface="Calibri" pitchFamily="34" charset="-122"/>
                <a:cs typeface="Calibri" pitchFamily="34" charset="-120"/>
              </a:rPr>
              <a:t> Nat worked on his almanac, Ben Meeker </a:t>
            </a:r>
            <a:pPr indent="0" marL="0">
              <a:buNone/>
            </a:pPr>
            <a:r>
              <a:rPr lang="en-US" sz="2600" b="1" u="sng" dirty="0">
                <a:solidFill>
                  <a:srgbClr val="1E8E52"/>
                </a:solidFill>
                <a:latin typeface="Calibri" pitchFamily="34" charset="0"/>
                <a:ea typeface="Calibri" pitchFamily="34" charset="-122"/>
                <a:cs typeface="Calibri" pitchFamily="34" charset="-120"/>
              </a:rPr>
              <a:t>shuffled</a:t>
            </a:r>
            <a:pPr indent="0" marL="0">
              <a:buNone/>
            </a:pPr>
            <a:r>
              <a:rPr lang="en-US" sz="2600" dirty="0">
                <a:solidFill>
                  <a:srgbClr val="1E293B"/>
                </a:solidFill>
                <a:latin typeface="Calibri" pitchFamily="34" charset="0"/>
                <a:ea typeface="Calibri" pitchFamily="34" charset="-122"/>
                <a:cs typeface="Calibri" pitchFamily="34" charset="-120"/>
              </a:rPr>
              <a:t> into </a:t>
            </a:r>
            <a:pPr indent="0" marL="0">
              <a:buNone/>
            </a:pPr>
            <a:r>
              <a:rPr lang="en-US" sz="2600" b="1" u="sng" dirty="0">
                <a:solidFill>
                  <a:srgbClr val="1E8E52"/>
                </a:solidFill>
                <a:latin typeface="Calibri" pitchFamily="34" charset="0"/>
                <a:ea typeface="Calibri" pitchFamily="34" charset="-122"/>
                <a:cs typeface="Calibri" pitchFamily="34" charset="-120"/>
              </a:rPr>
              <a:t>the chandlery.</a:t>
            </a:r>
            <a:endParaRPr lang="en-US" sz="2600" dirty="0"/>
          </a:p>
        </p:txBody>
      </p:sp>
      <p:sp>
        <p:nvSpPr>
          <p:cNvPr id="8" name="Text 6"/>
          <p:cNvSpPr/>
          <p:nvPr/>
        </p:nvSpPr>
        <p:spPr>
          <a:xfrm>
            <a:off x="502920" y="3063240"/>
            <a:ext cx="11185855"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WHAT EACH HIGHLIGHTED PART TEACHES</a:t>
            </a:r>
            <a:endParaRPr lang="en-US" sz="1300" dirty="0"/>
          </a:p>
        </p:txBody>
      </p:sp>
      <p:sp>
        <p:nvSpPr>
          <p:cNvPr id="9" name="Text 7"/>
          <p:cNvSpPr/>
          <p:nvPr/>
        </p:nvSpPr>
        <p:spPr>
          <a:xfrm>
            <a:off x="594360" y="3383280"/>
            <a:ext cx="11002975" cy="306324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While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"While" introduces a subordinate clause — it must attach to the main clause with a comma if it comes first.</a:t>
            </a:r>
            <a:endParaRPr lang="en-US" sz="2000" dirty="0"/>
          </a:p>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shuffled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"shuffled" is past tense and matches the tense of "worked" — consistent past throughout.</a:t>
            </a:r>
            <a:endParaRPr lang="en-US" sz="2000" dirty="0"/>
          </a:p>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the chandlery.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"the chandlery" is a common noun phrase, the place Ben shuffled into. No capitalization needed here.</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HOW MANY ERRORS CAN YOU FIND?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while nat figured his almanac ben meeker shuffles in and asks what it is</a:t>
            </a:r>
            <a:endParaRPr lang="en-US" sz="2600" dirty="0"/>
          </a:p>
        </p:txBody>
      </p:sp>
      <p:sp>
        <p:nvSpPr>
          <p:cNvPr id="11" name="Text 9"/>
          <p:cNvSpPr/>
          <p:nvPr/>
        </p:nvSpPr>
        <p:spPr>
          <a:xfrm>
            <a:off x="502920" y="3566160"/>
            <a:ext cx="11185855" cy="54864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Rewrite the sentence correctly in your reading journal. Use the model to guide you.</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ANSWER REVEALED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while nat figured his almanac ben meeker shuffles in and asks what it is</a:t>
            </a:r>
            <a:endParaRPr lang="en-US" sz="2600" dirty="0"/>
          </a:p>
        </p:txBody>
      </p:sp>
      <p:sp>
        <p:nvSpPr>
          <p:cNvPr id="11" name="Text 9"/>
          <p:cNvSpPr/>
          <p:nvPr/>
        </p:nvSpPr>
        <p:spPr>
          <a:xfrm>
            <a:off x="502920" y="3520440"/>
            <a:ext cx="11185855" cy="292608"/>
          </a:xfrm>
          <a:prstGeom prst="rect">
            <a:avLst/>
          </a:prstGeom>
          <a:noFill/>
          <a:ln/>
        </p:spPr>
        <p:txBody>
          <a:bodyPr wrap="square" lIns="0" tIns="0" rIns="0" bIns="0" rtlCol="0" anchor="ctr"/>
          <a:lstStyle/>
          <a:p>
            <a:pPr indent="0" marL="0">
              <a:buNone/>
            </a:pPr>
            <a:r>
              <a:rPr lang="en-US" sz="1300" b="1" spc="150" kern="0" dirty="0">
                <a:solidFill>
                  <a:srgbClr val="1E8E52"/>
                </a:solidFill>
                <a:latin typeface="Calibri" pitchFamily="34" charset="0"/>
                <a:ea typeface="Calibri" pitchFamily="34" charset="-122"/>
                <a:cs typeface="Calibri" pitchFamily="34" charset="-120"/>
              </a:rPr>
              <a:t>✅ CORRECTED</a:t>
            </a:r>
            <a:endParaRPr lang="en-US" sz="1300" dirty="0"/>
          </a:p>
        </p:txBody>
      </p:sp>
      <p:sp>
        <p:nvSpPr>
          <p:cNvPr id="12" name="Shape 10"/>
          <p:cNvSpPr/>
          <p:nvPr/>
        </p:nvSpPr>
        <p:spPr>
          <a:xfrm>
            <a:off x="502920" y="3840480"/>
            <a:ext cx="11185855" cy="1280160"/>
          </a:xfrm>
          <a:prstGeom prst="roundRect">
            <a:avLst>
              <a:gd name="adj" fmla="val 5714"/>
            </a:avLst>
          </a:prstGeom>
          <a:solidFill>
            <a:srgbClr val="E8F8EF"/>
          </a:solidFill>
          <a:ln w="15875">
            <a:solidFill>
              <a:srgbClr val="9ED9B5"/>
            </a:solidFill>
            <a:prstDash val="solid"/>
          </a:ln>
        </p:spPr>
      </p:sp>
      <p:sp>
        <p:nvSpPr>
          <p:cNvPr id="13" name="Text 11"/>
          <p:cNvSpPr/>
          <p:nvPr/>
        </p:nvSpPr>
        <p:spPr>
          <a:xfrm>
            <a:off x="777240" y="3886200"/>
            <a:ext cx="10637215" cy="1188720"/>
          </a:xfrm>
          <a:prstGeom prst="rect">
            <a:avLst/>
          </a:prstGeom>
          <a:noFill/>
          <a:ln/>
        </p:spPr>
        <p:txBody>
          <a:bodyPr wrap="square" lIns="0" tIns="0" rIns="0" bIns="0" rtlCol="0" anchor="ctr">
            <a:normAutofit/>
          </a:bodyPr>
          <a:lstStyle/>
          <a:p>
            <a:pPr indent="0" marL="0">
              <a:buNone/>
            </a:pPr>
            <a:r>
              <a:rPr lang="en-US" sz="2600" b="1" dirty="0">
                <a:solidFill>
                  <a:srgbClr val="1E8E52"/>
                </a:solidFill>
                <a:latin typeface="Calibri" pitchFamily="34" charset="0"/>
                <a:ea typeface="Calibri" pitchFamily="34" charset="-122"/>
                <a:cs typeface="Calibri" pitchFamily="34" charset="-120"/>
              </a:rPr>
              <a:t>While Nat figured his almanac, Ben Meeker shuffled in and asked what it was.</a:t>
            </a:r>
            <a:endParaRPr lang="en-US" sz="2600" dirty="0"/>
          </a:p>
        </p:txBody>
      </p:sp>
      <p:sp>
        <p:nvSpPr>
          <p:cNvPr id="14" name="Text 12"/>
          <p:cNvSpPr/>
          <p:nvPr/>
        </p:nvSpPr>
        <p:spPr>
          <a:xfrm>
            <a:off x="502920" y="5257800"/>
            <a:ext cx="11185855" cy="1188720"/>
          </a:xfrm>
          <a:prstGeom prst="rect">
            <a:avLst/>
          </a:prstGeom>
          <a:noFill/>
          <a:ln/>
        </p:spPr>
        <p:txBody>
          <a:bodyPr wrap="square" lIns="0" tIns="0" rIns="0" bIns="0" rtlCol="0" anchor="t"/>
          <a:lstStyle/>
          <a:p>
            <a:pPr indent="0" marL="0">
              <a:buNone/>
            </a:pPr>
            <a:r>
              <a:rPr lang="en-US" sz="1800" i="1" dirty="0">
                <a:solidFill>
                  <a:srgbClr val="475569"/>
                </a:solidFill>
                <a:latin typeface="Calibri" pitchFamily="34" charset="0"/>
                <a:ea typeface="Calibri" pitchFamily="34" charset="-122"/>
                <a:cs typeface="Calibri" pitchFamily="34" charset="-120"/>
              </a:rPr>
              <a:t>Fixes: “While” and “Nat” capitalized; “Ben Meeker” (proper noun, both names); comma after the subordinate clause; “shuffles” → “shuffled” and “asks” → “asked” and “is” → “was” (tense shifts corrected to past).</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READ THE PROMPT — 1 MINUTE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Quick Write (Optional)</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2651760"/>
          </a:xfrm>
          <a:prstGeom prst="roundRect">
            <a:avLst>
              <a:gd name="adj" fmla="val 2759"/>
            </a:avLst>
          </a:prstGeom>
          <a:solidFill>
            <a:srgbClr val="FEF6E8"/>
          </a:solidFill>
          <a:ln w="15875">
            <a:solidFill>
              <a:srgbClr val="C7922C"/>
            </a:solidFill>
            <a:prstDash val="solid"/>
          </a:ln>
        </p:spPr>
      </p:sp>
      <p:sp>
        <p:nvSpPr>
          <p:cNvPr id="7" name="Text 5"/>
          <p:cNvSpPr/>
          <p:nvPr/>
        </p:nvSpPr>
        <p:spPr>
          <a:xfrm>
            <a:off x="822960" y="1691640"/>
            <a:ext cx="10545775" cy="2377440"/>
          </a:xfrm>
          <a:prstGeom prst="rect">
            <a:avLst/>
          </a:prstGeom>
          <a:noFill/>
          <a:ln/>
        </p:spPr>
        <p:txBody>
          <a:bodyPr wrap="square" lIns="0" tIns="0" rIns="0" bIns="0" rtlCol="0" anchor="ctr"/>
          <a:lstStyle/>
          <a:p>
            <a:pPr indent="0" marL="0">
              <a:buNone/>
            </a:pPr>
            <a:r>
              <a:rPr lang="en-US" sz="2600" dirty="0">
                <a:solidFill>
                  <a:srgbClr val="1E293B"/>
                </a:solidFill>
                <a:latin typeface="Calibri" pitchFamily="34" charset="0"/>
                <a:ea typeface="Calibri" pitchFamily="34" charset="-122"/>
                <a:cs typeface="Calibri" pitchFamily="34" charset="-120"/>
              </a:rPr>
              <a:t>At sixteen, Nat makes his own almanac and calls it "just straight mathematics." Was the almanac more important for what it taught Nat, or for what it showed other people like Mr. Morris about him? Defend your answer with evidence from Chapter 7.</a:t>
            </a:r>
            <a:endParaRPr lang="en-US" sz="2600" dirty="0"/>
          </a:p>
        </p:txBody>
      </p:sp>
      <p:sp>
        <p:nvSpPr>
          <p:cNvPr id="8" name="Text 6"/>
          <p:cNvSpPr/>
          <p:nvPr/>
        </p:nvSpPr>
        <p:spPr>
          <a:xfrm>
            <a:off x="502920" y="4434840"/>
            <a:ext cx="111858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SENTENCE SCAFFOLD (USE WHAT HELPS)</a:t>
            </a:r>
            <a:endParaRPr lang="en-US" sz="1300" dirty="0"/>
          </a:p>
        </p:txBody>
      </p:sp>
      <p:sp>
        <p:nvSpPr>
          <p:cNvPr id="9" name="Text 7"/>
          <p:cNvSpPr/>
          <p:nvPr/>
        </p:nvSpPr>
        <p:spPr>
          <a:xfrm>
            <a:off x="502920" y="4754880"/>
            <a:ext cx="11185855" cy="822960"/>
          </a:xfrm>
          <a:prstGeom prst="rect">
            <a:avLst/>
          </a:prstGeom>
          <a:noFill/>
          <a:ln/>
        </p:spPr>
        <p:txBody>
          <a:bodyPr wrap="square" lIns="0" tIns="0" rIns="0" bIns="0" rtlCol="0" anchor="t"/>
          <a:lstStyle/>
          <a:p>
            <a:pPr indent="0" marL="0">
              <a:buNone/>
            </a:pPr>
            <a:r>
              <a:rPr lang="en-US" sz="2000" dirty="0">
                <a:solidFill>
                  <a:srgbClr val="0E1C42"/>
                </a:solidFill>
                <a:latin typeface="Calibri" pitchFamily="34" charset="0"/>
                <a:ea typeface="Calibri" pitchFamily="34" charset="-122"/>
                <a:cs typeface="Calibri" pitchFamily="34" charset="-120"/>
              </a:rPr>
              <a:t>I think...   →   because...   →   One piece of evidence is...   →   This matters because...</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502920" y="36576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Writing Time</a:t>
            </a:r>
            <a:endParaRPr lang="en-US" sz="3600" dirty="0"/>
          </a:p>
        </p:txBody>
      </p:sp>
      <p:sp>
        <p:nvSpPr>
          <p:cNvPr id="3" name="Text 1"/>
          <p:cNvSpPr/>
          <p:nvPr/>
        </p:nvSpPr>
        <p:spPr>
          <a:xfrm>
            <a:off x="502920" y="1051560"/>
            <a:ext cx="11185855" cy="457200"/>
          </a:xfrm>
          <a:prstGeom prst="rect">
            <a:avLst/>
          </a:prstGeom>
          <a:noFill/>
          <a:ln/>
        </p:spPr>
        <p:txBody>
          <a:bodyPr wrap="square" lIns="0" tIns="0" rIns="0" bIns="0" rtlCol="0" anchor="ctr"/>
          <a:lstStyle/>
          <a:p>
            <a:pPr algn="ctr" indent="0" marL="0">
              <a:buNone/>
            </a:pPr>
            <a:r>
              <a:rPr lang="en-US" sz="2200" dirty="0">
                <a:solidFill>
                  <a:srgbClr val="C7922C"/>
                </a:solidFill>
                <a:latin typeface="Calibri" pitchFamily="34" charset="0"/>
                <a:ea typeface="Calibri" pitchFamily="34" charset="-122"/>
                <a:cs typeface="Calibri" pitchFamily="34" charset="-120"/>
              </a:rPr>
              <a:t>5 minutes — keep your pencil moving!</a:t>
            </a:r>
            <a:endParaRPr lang="en-US" sz="2200" dirty="0"/>
          </a:p>
        </p:txBody>
      </p:sp>
      <p:sp>
        <p:nvSpPr>
          <p:cNvPr id="4" name="Shape 2"/>
          <p:cNvSpPr/>
          <p:nvPr/>
        </p:nvSpPr>
        <p:spPr>
          <a:xfrm>
            <a:off x="502920" y="1737360"/>
            <a:ext cx="11185855" cy="2194560"/>
          </a:xfrm>
          <a:prstGeom prst="roundRect">
            <a:avLst>
              <a:gd name="adj" fmla="val 3333"/>
            </a:avLst>
          </a:prstGeom>
          <a:solidFill>
            <a:srgbClr val="FFFFFF"/>
          </a:solidFill>
          <a:ln w="15875">
            <a:solidFill>
              <a:srgbClr val="C7922C"/>
            </a:solidFill>
            <a:prstDash val="solid"/>
          </a:ln>
        </p:spPr>
      </p:sp>
      <p:sp>
        <p:nvSpPr>
          <p:cNvPr id="5" name="Text 3"/>
          <p:cNvSpPr/>
          <p:nvPr/>
        </p:nvSpPr>
        <p:spPr>
          <a:xfrm>
            <a:off x="777240" y="1828800"/>
            <a:ext cx="10637215" cy="2011680"/>
          </a:xfrm>
          <a:prstGeom prst="rect">
            <a:avLst/>
          </a:prstGeom>
          <a:noFill/>
          <a:ln/>
        </p:spPr>
        <p:txBody>
          <a:bodyPr wrap="square" lIns="0" tIns="0" rIns="0" bIns="0" rtlCol="0" anchor="ctr"/>
          <a:lstStyle/>
          <a:p>
            <a:pPr indent="0" marL="0">
              <a:buNone/>
            </a:pPr>
            <a:r>
              <a:rPr lang="en-US" sz="2300" b="1" dirty="0">
                <a:solidFill>
                  <a:srgbClr val="C7922C"/>
                </a:solidFill>
                <a:latin typeface="Calibri" pitchFamily="34" charset="0"/>
                <a:ea typeface="Calibri" pitchFamily="34" charset="-122"/>
                <a:cs typeface="Calibri" pitchFamily="34" charset="-120"/>
              </a:rPr>
              <a:t>Prompt: </a:t>
            </a:r>
            <a:pPr indent="0" marL="0">
              <a:buNone/>
            </a:pPr>
            <a:r>
              <a:rPr lang="en-US" sz="2300" dirty="0">
                <a:solidFill>
                  <a:srgbClr val="1E293B"/>
                </a:solidFill>
                <a:latin typeface="Calibri" pitchFamily="34" charset="0"/>
                <a:ea typeface="Calibri" pitchFamily="34" charset="-122"/>
                <a:cs typeface="Calibri" pitchFamily="34" charset="-120"/>
              </a:rPr>
              <a:t>At sixteen, Nat makes his own almanac and calls it "just straight mathematics." Was the almanac more important for what it taught Nat, or for what it showed other people like Mr. Morris about him? Defend your answer with evidence from Chapter 7.</a:t>
            </a:r>
            <a:endParaRPr lang="en-US" sz="2300" dirty="0"/>
          </a:p>
        </p:txBody>
      </p:sp>
      <p:sp>
        <p:nvSpPr>
          <p:cNvPr id="6" name="Shape 4"/>
          <p:cNvSpPr/>
          <p:nvPr/>
        </p:nvSpPr>
        <p:spPr>
          <a:xfrm>
            <a:off x="2926080" y="4160520"/>
            <a:ext cx="6339535" cy="2286000"/>
          </a:xfrm>
          <a:prstGeom prst="roundRect">
            <a:avLst>
              <a:gd name="adj" fmla="val 3200"/>
            </a:avLst>
          </a:prstGeom>
          <a:solidFill>
            <a:srgbClr val="FFFFFF"/>
          </a:solidFill>
          <a:ln w="15875">
            <a:solidFill>
              <a:srgbClr val="EBD3A2"/>
            </a:solidFill>
            <a:prstDash val="solid"/>
          </a:ln>
        </p:spPr>
      </p:sp>
      <p:sp>
        <p:nvSpPr>
          <p:cNvPr id="7" name="Text 5"/>
          <p:cNvSpPr/>
          <p:nvPr/>
        </p:nvSpPr>
        <p:spPr>
          <a:xfrm>
            <a:off x="3154680" y="4251960"/>
            <a:ext cx="5882335" cy="2103120"/>
          </a:xfrm>
          <a:prstGeom prst="rect">
            <a:avLst/>
          </a:prstGeom>
          <a:noFill/>
          <a:ln/>
        </p:spPr>
        <p:txBody>
          <a:bodyPr wrap="square" lIns="0" tIns="0" rIns="0" bIns="0" rtlCol="0" anchor="t"/>
          <a:lstStyle/>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Scaffold, if you need it:</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I think...</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because...</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One piece of evidence is...</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This matters because...</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Edit &amp; Revise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E8E52"/>
                </a:solidFill>
                <a:latin typeface="Calibri" pitchFamily="34" charset="0"/>
                <a:ea typeface="Calibri" pitchFamily="34" charset="-122"/>
                <a:cs typeface="Calibri" pitchFamily="34" charset="-120"/>
              </a:rPr>
              <a:t>1 minute — one deliberate decision, not a full edit pass</a:t>
            </a:r>
            <a:endParaRPr lang="en-US" sz="2200" dirty="0"/>
          </a:p>
        </p:txBody>
      </p:sp>
      <p:sp>
        <p:nvSpPr>
          <p:cNvPr id="4" name="Shape 2"/>
          <p:cNvSpPr/>
          <p:nvPr/>
        </p:nvSpPr>
        <p:spPr>
          <a:xfrm>
            <a:off x="1463040" y="2194560"/>
            <a:ext cx="9265615" cy="1737360"/>
          </a:xfrm>
          <a:prstGeom prst="roundRect">
            <a:avLst>
              <a:gd name="adj" fmla="val 4211"/>
            </a:avLst>
          </a:prstGeom>
          <a:solidFill>
            <a:srgbClr val="FFFFFF"/>
          </a:solidFill>
          <a:ln w="15875">
            <a:solidFill>
              <a:srgbClr val="1E8E52"/>
            </a:solidFill>
            <a:prstDash val="solid"/>
          </a:ln>
        </p:spPr>
      </p:sp>
      <p:sp>
        <p:nvSpPr>
          <p:cNvPr id="5" name="Text 3"/>
          <p:cNvSpPr/>
          <p:nvPr/>
        </p:nvSpPr>
        <p:spPr>
          <a:xfrm>
            <a:off x="1737360" y="2286000"/>
            <a:ext cx="8716975" cy="1554480"/>
          </a:xfrm>
          <a:prstGeom prst="rect">
            <a:avLst/>
          </a:prstGeom>
          <a:noFill/>
          <a:ln/>
        </p:spPr>
        <p:txBody>
          <a:bodyPr wrap="square" lIns="0" tIns="0" rIns="0" bIns="0" rtlCol="0" anchor="ctr"/>
          <a:lstStyle/>
          <a:p>
            <a:pPr algn="ctr" indent="0" marL="0">
              <a:buNone/>
            </a:pPr>
            <a:r>
              <a:rPr lang="en-US" sz="2600" b="1" dirty="0">
                <a:solidFill>
                  <a:srgbClr val="1E8E52"/>
                </a:solidFill>
                <a:latin typeface="Calibri" pitchFamily="34" charset="0"/>
                <a:ea typeface="Calibri" pitchFamily="34" charset="-122"/>
                <a:cs typeface="Calibri" pitchFamily="34" charset="-120"/>
              </a:rPr>
              <a:t>Today's revision check: </a:t>
            </a:r>
            <a:pPr algn="ctr" indent="0" marL="0">
              <a:buNone/>
            </a:pPr>
            <a:r>
              <a:rPr lang="en-US" sz="2600" dirty="0">
                <a:solidFill>
                  <a:srgbClr val="1E293B"/>
                </a:solidFill>
                <a:latin typeface="Calibri" pitchFamily="34" charset="0"/>
                <a:ea typeface="Calibri" pitchFamily="34" charset="-122"/>
                <a:cs typeface="Calibri" pitchFamily="34" charset="-120"/>
              </a:rPr>
              <a:t>Is there a stronger, more specific word I could use here instead of a vague one?</a:t>
            </a:r>
            <a:endParaRPr lang="en-US" sz="2600" dirty="0"/>
          </a:p>
        </p:txBody>
      </p:sp>
      <p:sp>
        <p:nvSpPr>
          <p:cNvPr id="6" name="Text 4"/>
          <p:cNvSpPr/>
          <p:nvPr/>
        </p:nvSpPr>
        <p:spPr>
          <a:xfrm>
            <a:off x="502920" y="4389120"/>
            <a:ext cx="11185855" cy="548640"/>
          </a:xfrm>
          <a:prstGeom prst="rect">
            <a:avLst/>
          </a:prstGeom>
          <a:noFill/>
          <a:ln/>
        </p:spPr>
        <p:txBody>
          <a:bodyPr wrap="square" lIns="0" tIns="0" rIns="0" bIns="0" rtlCol="0" anchor="ctr"/>
          <a:lstStyle/>
          <a:p>
            <a:pPr algn="ctr" indent="0" marL="0">
              <a:buNone/>
            </a:pPr>
            <a:r>
              <a:rPr lang="en-US" sz="2000" i="1" dirty="0">
                <a:solidFill>
                  <a:srgbClr val="475569"/>
                </a:solidFill>
                <a:latin typeface="Calibri" pitchFamily="34" charset="0"/>
                <a:ea typeface="Calibri" pitchFamily="34" charset="-122"/>
                <a:cs typeface="Calibri" pitchFamily="34" charset="-120"/>
              </a:rPr>
              <a:t>Revision = improving ideas.   Editing = fixing conventions.   Pick ONE thing.</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Share Time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B7FA0"/>
                </a:solidFill>
                <a:latin typeface="Calibri" pitchFamily="34" charset="0"/>
                <a:ea typeface="Calibri" pitchFamily="34" charset="-122"/>
                <a:cs typeface="Calibri" pitchFamily="34" charset="-120"/>
              </a:rPr>
              <a:t>3 minutes — let's hear your thinking!</a:t>
            </a:r>
            <a:endParaRPr lang="en-US" sz="2200" dirty="0"/>
          </a:p>
        </p:txBody>
      </p:sp>
      <p:sp>
        <p:nvSpPr>
          <p:cNvPr id="4" name="Shape 2"/>
          <p:cNvSpPr/>
          <p:nvPr/>
        </p:nvSpPr>
        <p:spPr>
          <a:xfrm>
            <a:off x="1828800" y="2194560"/>
            <a:ext cx="8534095" cy="2377440"/>
          </a:xfrm>
          <a:prstGeom prst="roundRect">
            <a:avLst>
              <a:gd name="adj" fmla="val 3077"/>
            </a:avLst>
          </a:prstGeom>
          <a:solidFill>
            <a:srgbClr val="FFFFFF"/>
          </a:solidFill>
          <a:ln w="15875">
            <a:solidFill>
              <a:srgbClr val="55C8E8"/>
            </a:solidFill>
            <a:prstDash val="solid"/>
          </a:ln>
        </p:spPr>
      </p:sp>
      <p:sp>
        <p:nvSpPr>
          <p:cNvPr id="5" name="Text 3"/>
          <p:cNvSpPr/>
          <p:nvPr/>
        </p:nvSpPr>
        <p:spPr>
          <a:xfrm>
            <a:off x="2103120" y="2331720"/>
            <a:ext cx="7985455" cy="2103120"/>
          </a:xfrm>
          <a:prstGeom prst="rect">
            <a:avLst/>
          </a:prstGeom>
          <a:noFill/>
          <a:ln/>
        </p:spPr>
        <p:txBody>
          <a:bodyPr wrap="square" lIns="0" tIns="0" rIns="0" bIns="0" rtlCol="0" anchor="ctr"/>
          <a:lstStyle/>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Raise your hand to share, or paste your writing in the chat.</a:t>
            </a:r>
            <a:endParaRPr lang="en-US" sz="2200" dirty="0"/>
          </a:p>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If you disagree with a classmate’s choice, say so respectfully — and give your evidence. That is part of the thinking.</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PUT THE ROOTS TO WORK</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graph / gram / scribe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Now use them. Chapter 7 has Nat filling notebook after notebook — rope, sails, navigation, surveying, algebra — and then figuring an almanac of his own. Every word below is about writing something down — and getting it right.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Three Roots, One Idea</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graph = write or draw → autograph, paragraph, biography</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gram = the thing written or drawn → diagram, telegram, grammar</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scribe / script = write → manuscript, transcribe, inscribe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You met script/scribe back in the Witch unit. Here it is again, standing beside two Greek cousins that do the same work.</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The pattern: graph and scribe are usually the act of writing; gram is usually the thing you end up with.</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PUT THE ROOTS TO WORK</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graph / gram / scribe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graph / gram = write, draw. scribe / script = write.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Put the roots to work. Type the word that fits.</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PUT THE ROOTS TO WORK</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graph / gram / scribe</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457200"/>
          </a:xfrm>
          <a:prstGeom prst="rect">
            <a:avLst/>
          </a:prstGeom>
          <a:noFill/>
          <a:ln/>
        </p:spPr>
        <p:txBody>
          <a:bodyPr wrap="square" lIns="0" tIns="0" rIns="0" bIns="0" rtlCol="0" anchor="ctr"/>
          <a:lstStyle/>
          <a:p>
            <a:pPr indent="0" marL="0">
              <a:buNone/>
            </a:pPr>
            <a:r>
              <a:rPr lang="en-US" sz="2000" i="1" dirty="0">
                <a:solidFill>
                  <a:srgbClr val="C7922C"/>
                </a:solidFill>
                <a:latin typeface="Calibri" pitchFamily="34" charset="0"/>
                <a:ea typeface="Calibri" pitchFamily="34" charset="-122"/>
                <a:cs typeface="Calibri" pitchFamily="34" charset="-120"/>
              </a:rPr>
              <a:t>Word bank: autograph · telegram · prescription · transcribe</a:t>
            </a:r>
            <a:endParaRPr lang="en-US" sz="2000" dirty="0"/>
          </a:p>
        </p:txBody>
      </p:sp>
      <p:sp>
        <p:nvSpPr>
          <p:cNvPr id="9" name="Shape 7"/>
          <p:cNvSpPr/>
          <p:nvPr/>
        </p:nvSpPr>
        <p:spPr>
          <a:xfrm>
            <a:off x="502920" y="2103120"/>
            <a:ext cx="11185855" cy="948690"/>
          </a:xfrm>
          <a:prstGeom prst="roundRect">
            <a:avLst>
              <a:gd name="adj" fmla="val 7711"/>
            </a:avLst>
          </a:prstGeom>
          <a:solidFill>
            <a:srgbClr val="F8FAFC"/>
          </a:solidFill>
          <a:ln w="15875">
            <a:solidFill>
              <a:srgbClr val="CBD5E1"/>
            </a:solidFill>
            <a:prstDash val="solid"/>
          </a:ln>
        </p:spPr>
      </p:sp>
      <p:sp>
        <p:nvSpPr>
          <p:cNvPr id="10" name="Text 8"/>
          <p:cNvSpPr/>
          <p:nvPr/>
        </p:nvSpPr>
        <p:spPr>
          <a:xfrm>
            <a:off x="731520" y="210312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1.  </a:t>
            </a:r>
            <a:pPr indent="0" marL="0">
              <a:buNone/>
            </a:pPr>
            <a:r>
              <a:rPr lang="en-US" sz="2200" dirty="0">
                <a:solidFill>
                  <a:srgbClr val="1E293B"/>
                </a:solidFill>
                <a:latin typeface="Calibri" pitchFamily="34" charset="0"/>
                <a:ea typeface="Calibri" pitchFamily="34" charset="-122"/>
                <a:cs typeface="Calibri" pitchFamily="34" charset="-120"/>
              </a:rPr>
              <a:t>A person’s own handwriting is their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a:t>
            </a:r>
            <a:endParaRPr lang="en-US" sz="2200" dirty="0"/>
          </a:p>
        </p:txBody>
      </p:sp>
      <p:sp>
        <p:nvSpPr>
          <p:cNvPr id="11" name="Shape 9"/>
          <p:cNvSpPr/>
          <p:nvPr/>
        </p:nvSpPr>
        <p:spPr>
          <a:xfrm>
            <a:off x="502920" y="3188970"/>
            <a:ext cx="11185855" cy="948690"/>
          </a:xfrm>
          <a:prstGeom prst="roundRect">
            <a:avLst>
              <a:gd name="adj" fmla="val 7711"/>
            </a:avLst>
          </a:prstGeom>
          <a:solidFill>
            <a:srgbClr val="F8FAFC"/>
          </a:solidFill>
          <a:ln w="15875">
            <a:solidFill>
              <a:srgbClr val="CBD5E1"/>
            </a:solidFill>
            <a:prstDash val="solid"/>
          </a:ln>
        </p:spPr>
      </p:sp>
      <p:sp>
        <p:nvSpPr>
          <p:cNvPr id="12" name="Text 10"/>
          <p:cNvSpPr/>
          <p:nvPr/>
        </p:nvSpPr>
        <p:spPr>
          <a:xfrm>
            <a:off x="731520" y="318897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2.  </a:t>
            </a:r>
            <a:pPr indent="0" marL="0">
              <a:buNone/>
            </a:pPr>
            <a:r>
              <a:rPr lang="en-US" sz="2200" dirty="0">
                <a:solidFill>
                  <a:srgbClr val="1E293B"/>
                </a:solidFill>
                <a:latin typeface="Calibri" pitchFamily="34" charset="0"/>
                <a:ea typeface="Calibri" pitchFamily="34" charset="-122"/>
                <a:cs typeface="Calibri" pitchFamily="34" charset="-120"/>
              </a:rPr>
              <a:t>A message sent by wire was a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a:t>
            </a:r>
            <a:endParaRPr lang="en-US" sz="2200" dirty="0"/>
          </a:p>
        </p:txBody>
      </p:sp>
      <p:sp>
        <p:nvSpPr>
          <p:cNvPr id="13" name="Shape 11"/>
          <p:cNvSpPr/>
          <p:nvPr/>
        </p:nvSpPr>
        <p:spPr>
          <a:xfrm>
            <a:off x="502920" y="4274820"/>
            <a:ext cx="11185855" cy="948690"/>
          </a:xfrm>
          <a:prstGeom prst="roundRect">
            <a:avLst>
              <a:gd name="adj" fmla="val 7711"/>
            </a:avLst>
          </a:prstGeom>
          <a:solidFill>
            <a:srgbClr val="F8FAFC"/>
          </a:solidFill>
          <a:ln w="15875">
            <a:solidFill>
              <a:srgbClr val="CBD5E1"/>
            </a:solidFill>
            <a:prstDash val="solid"/>
          </a:ln>
        </p:spPr>
      </p:sp>
      <p:sp>
        <p:nvSpPr>
          <p:cNvPr id="14" name="Text 12"/>
          <p:cNvSpPr/>
          <p:nvPr/>
        </p:nvSpPr>
        <p:spPr>
          <a:xfrm>
            <a:off x="731520" y="427482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3.  </a:t>
            </a:r>
            <a:pPr indent="0" marL="0">
              <a:buNone/>
            </a:pPr>
            <a:r>
              <a:rPr lang="en-US" sz="2200" dirty="0">
                <a:solidFill>
                  <a:srgbClr val="1E293B"/>
                </a:solidFill>
                <a:latin typeface="Calibri" pitchFamily="34" charset="0"/>
                <a:ea typeface="Calibri" pitchFamily="34" charset="-122"/>
                <a:cs typeface="Calibri" pitchFamily="34" charset="-120"/>
              </a:rPr>
              <a:t>A doctor’s written order for medicine is a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a:t>
            </a:r>
            <a:endParaRPr lang="en-US" sz="2200" dirty="0"/>
          </a:p>
        </p:txBody>
      </p:sp>
      <p:sp>
        <p:nvSpPr>
          <p:cNvPr id="15" name="Shape 13"/>
          <p:cNvSpPr/>
          <p:nvPr/>
        </p:nvSpPr>
        <p:spPr>
          <a:xfrm>
            <a:off x="502920" y="5360670"/>
            <a:ext cx="11185855" cy="948690"/>
          </a:xfrm>
          <a:prstGeom prst="roundRect">
            <a:avLst>
              <a:gd name="adj" fmla="val 7711"/>
            </a:avLst>
          </a:prstGeom>
          <a:solidFill>
            <a:srgbClr val="F8FAFC"/>
          </a:solidFill>
          <a:ln w="15875">
            <a:solidFill>
              <a:srgbClr val="CBD5E1"/>
            </a:solidFill>
            <a:prstDash val="solid"/>
          </a:ln>
        </p:spPr>
      </p:sp>
      <p:sp>
        <p:nvSpPr>
          <p:cNvPr id="16" name="Text 14"/>
          <p:cNvSpPr/>
          <p:nvPr/>
        </p:nvSpPr>
        <p:spPr>
          <a:xfrm>
            <a:off x="731520" y="536067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4.  </a:t>
            </a:r>
            <a:pPr indent="0" marL="0">
              <a:buNone/>
            </a:pPr>
            <a:r>
              <a:rPr lang="en-US" sz="2200" dirty="0">
                <a:solidFill>
                  <a:srgbClr val="1E293B"/>
                </a:solidFill>
                <a:latin typeface="Calibri" pitchFamily="34" charset="0"/>
                <a:ea typeface="Calibri" pitchFamily="34" charset="-122"/>
                <a:cs typeface="Calibri" pitchFamily="34" charset="-120"/>
              </a:rPr>
              <a:t>To write down exactly what was said is to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it.</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PUT THE ROOTS TO WORK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graph / gram / scribe</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2103120"/>
            <a:ext cx="11185855" cy="948690"/>
          </a:xfrm>
          <a:prstGeom prst="roundRect">
            <a:avLst>
              <a:gd name="adj" fmla="val 7711"/>
            </a:avLst>
          </a:prstGeom>
          <a:solidFill>
            <a:srgbClr val="E8F8EF"/>
          </a:solidFill>
          <a:ln w="15875">
            <a:solidFill>
              <a:srgbClr val="9ED9B5"/>
            </a:solidFill>
            <a:prstDash val="solid"/>
          </a:ln>
        </p:spPr>
      </p:sp>
      <p:sp>
        <p:nvSpPr>
          <p:cNvPr id="9" name="Text 7"/>
          <p:cNvSpPr/>
          <p:nvPr/>
        </p:nvSpPr>
        <p:spPr>
          <a:xfrm>
            <a:off x="731520" y="210312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1.  </a:t>
            </a:r>
            <a:pPr indent="0" marL="0">
              <a:buNone/>
            </a:pPr>
            <a:r>
              <a:rPr lang="en-US" sz="2200" dirty="0">
                <a:solidFill>
                  <a:srgbClr val="1E293B"/>
                </a:solidFill>
                <a:latin typeface="Calibri" pitchFamily="34" charset="0"/>
                <a:ea typeface="Calibri" pitchFamily="34" charset="-122"/>
                <a:cs typeface="Calibri" pitchFamily="34" charset="-120"/>
              </a:rPr>
              <a:t>A person’s own handwriting is their </a:t>
            </a:r>
            <a:pPr indent="0" marL="0">
              <a:buNone/>
            </a:pPr>
            <a:r>
              <a:rPr lang="en-US" sz="2200" b="1" dirty="0">
                <a:solidFill>
                  <a:srgbClr val="1E8E52"/>
                </a:solidFill>
                <a:latin typeface="Calibri" pitchFamily="34" charset="0"/>
                <a:ea typeface="Calibri" pitchFamily="34" charset="-122"/>
                <a:cs typeface="Calibri" pitchFamily="34" charset="-120"/>
              </a:rPr>
              <a:t>autograph</a:t>
            </a:r>
            <a:pPr indent="0" marL="0">
              <a:buNone/>
            </a:pPr>
            <a:r>
              <a:rPr lang="en-US" sz="2200" dirty="0">
                <a:solidFill>
                  <a:srgbClr val="1E293B"/>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502920" y="3188970"/>
            <a:ext cx="11185855" cy="948690"/>
          </a:xfrm>
          <a:prstGeom prst="roundRect">
            <a:avLst>
              <a:gd name="adj" fmla="val 7711"/>
            </a:avLst>
          </a:prstGeom>
          <a:solidFill>
            <a:srgbClr val="E8F8EF"/>
          </a:solidFill>
          <a:ln w="15875">
            <a:solidFill>
              <a:srgbClr val="9ED9B5"/>
            </a:solidFill>
            <a:prstDash val="solid"/>
          </a:ln>
        </p:spPr>
      </p:sp>
      <p:sp>
        <p:nvSpPr>
          <p:cNvPr id="11" name="Text 9"/>
          <p:cNvSpPr/>
          <p:nvPr/>
        </p:nvSpPr>
        <p:spPr>
          <a:xfrm>
            <a:off x="731520" y="318897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2.  </a:t>
            </a:r>
            <a:pPr indent="0" marL="0">
              <a:buNone/>
            </a:pPr>
            <a:r>
              <a:rPr lang="en-US" sz="2200" dirty="0">
                <a:solidFill>
                  <a:srgbClr val="1E293B"/>
                </a:solidFill>
                <a:latin typeface="Calibri" pitchFamily="34" charset="0"/>
                <a:ea typeface="Calibri" pitchFamily="34" charset="-122"/>
                <a:cs typeface="Calibri" pitchFamily="34" charset="-120"/>
              </a:rPr>
              <a:t>A message sent by wire was a </a:t>
            </a:r>
            <a:pPr indent="0" marL="0">
              <a:buNone/>
            </a:pPr>
            <a:r>
              <a:rPr lang="en-US" sz="2200" b="1" dirty="0">
                <a:solidFill>
                  <a:srgbClr val="1E8E52"/>
                </a:solidFill>
                <a:latin typeface="Calibri" pitchFamily="34" charset="0"/>
                <a:ea typeface="Calibri" pitchFamily="34" charset="-122"/>
                <a:cs typeface="Calibri" pitchFamily="34" charset="-120"/>
              </a:rPr>
              <a:t>telegram</a:t>
            </a:r>
            <a:pPr indent="0" marL="0">
              <a:buNone/>
            </a:pPr>
            <a:r>
              <a:rPr lang="en-US" sz="2200" dirty="0">
                <a:solidFill>
                  <a:srgbClr val="1E293B"/>
                </a:solidFill>
                <a:latin typeface="Calibri" pitchFamily="34" charset="0"/>
                <a:ea typeface="Calibri" pitchFamily="34" charset="-122"/>
                <a:cs typeface="Calibri" pitchFamily="34" charset="-120"/>
              </a:rPr>
              <a:t>.</a:t>
            </a:r>
            <a:endParaRPr lang="en-US" sz="2200" dirty="0"/>
          </a:p>
        </p:txBody>
      </p:sp>
      <p:sp>
        <p:nvSpPr>
          <p:cNvPr id="12" name="Shape 10"/>
          <p:cNvSpPr/>
          <p:nvPr/>
        </p:nvSpPr>
        <p:spPr>
          <a:xfrm>
            <a:off x="502920" y="4274820"/>
            <a:ext cx="11185855" cy="948690"/>
          </a:xfrm>
          <a:prstGeom prst="roundRect">
            <a:avLst>
              <a:gd name="adj" fmla="val 7711"/>
            </a:avLst>
          </a:prstGeom>
          <a:solidFill>
            <a:srgbClr val="E8F8EF"/>
          </a:solidFill>
          <a:ln w="15875">
            <a:solidFill>
              <a:srgbClr val="9ED9B5"/>
            </a:solidFill>
            <a:prstDash val="solid"/>
          </a:ln>
        </p:spPr>
      </p:sp>
      <p:sp>
        <p:nvSpPr>
          <p:cNvPr id="13" name="Text 11"/>
          <p:cNvSpPr/>
          <p:nvPr/>
        </p:nvSpPr>
        <p:spPr>
          <a:xfrm>
            <a:off x="731520" y="427482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3.  </a:t>
            </a:r>
            <a:pPr indent="0" marL="0">
              <a:buNone/>
            </a:pPr>
            <a:r>
              <a:rPr lang="en-US" sz="2200" dirty="0">
                <a:solidFill>
                  <a:srgbClr val="1E293B"/>
                </a:solidFill>
                <a:latin typeface="Calibri" pitchFamily="34" charset="0"/>
                <a:ea typeface="Calibri" pitchFamily="34" charset="-122"/>
                <a:cs typeface="Calibri" pitchFamily="34" charset="-120"/>
              </a:rPr>
              <a:t>A doctor’s written order for medicine is a </a:t>
            </a:r>
            <a:pPr indent="0" marL="0">
              <a:buNone/>
            </a:pPr>
            <a:r>
              <a:rPr lang="en-US" sz="2200" b="1" dirty="0">
                <a:solidFill>
                  <a:srgbClr val="1E8E52"/>
                </a:solidFill>
                <a:latin typeface="Calibri" pitchFamily="34" charset="0"/>
                <a:ea typeface="Calibri" pitchFamily="34" charset="-122"/>
                <a:cs typeface="Calibri" pitchFamily="34" charset="-120"/>
              </a:rPr>
              <a:t>prescription</a:t>
            </a:r>
            <a:pPr indent="0" marL="0">
              <a:buNone/>
            </a:pPr>
            <a:r>
              <a:rPr lang="en-US" sz="2200" dirty="0">
                <a:solidFill>
                  <a:srgbClr val="1E293B"/>
                </a:solidFill>
                <a:latin typeface="Calibri" pitchFamily="34" charset="0"/>
                <a:ea typeface="Calibri" pitchFamily="34" charset="-122"/>
                <a:cs typeface="Calibri" pitchFamily="34" charset="-120"/>
              </a:rPr>
              <a:t>.</a:t>
            </a:r>
            <a:endParaRPr lang="en-US" sz="2200" dirty="0"/>
          </a:p>
        </p:txBody>
      </p:sp>
      <p:sp>
        <p:nvSpPr>
          <p:cNvPr id="14" name="Shape 12"/>
          <p:cNvSpPr/>
          <p:nvPr/>
        </p:nvSpPr>
        <p:spPr>
          <a:xfrm>
            <a:off x="502920" y="5360670"/>
            <a:ext cx="11185855" cy="948690"/>
          </a:xfrm>
          <a:prstGeom prst="roundRect">
            <a:avLst>
              <a:gd name="adj" fmla="val 7711"/>
            </a:avLst>
          </a:prstGeom>
          <a:solidFill>
            <a:srgbClr val="E8F8EF"/>
          </a:solidFill>
          <a:ln w="15875">
            <a:solidFill>
              <a:srgbClr val="9ED9B5"/>
            </a:solidFill>
            <a:prstDash val="solid"/>
          </a:ln>
        </p:spPr>
      </p:sp>
      <p:sp>
        <p:nvSpPr>
          <p:cNvPr id="15" name="Text 13"/>
          <p:cNvSpPr/>
          <p:nvPr/>
        </p:nvSpPr>
        <p:spPr>
          <a:xfrm>
            <a:off x="731520" y="5360670"/>
            <a:ext cx="10728655" cy="94869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4.  </a:t>
            </a:r>
            <a:pPr indent="0" marL="0">
              <a:buNone/>
            </a:pPr>
            <a:r>
              <a:rPr lang="en-US" sz="2200" dirty="0">
                <a:solidFill>
                  <a:srgbClr val="1E293B"/>
                </a:solidFill>
                <a:latin typeface="Calibri" pitchFamily="34" charset="0"/>
                <a:ea typeface="Calibri" pitchFamily="34" charset="-122"/>
                <a:cs typeface="Calibri" pitchFamily="34" charset="-120"/>
              </a:rPr>
              <a:t>To write down exactly what was said is to </a:t>
            </a:r>
            <a:pPr indent="0" marL="0">
              <a:buNone/>
            </a:pPr>
            <a:r>
              <a:rPr lang="en-US" sz="2200" b="1" dirty="0">
                <a:solidFill>
                  <a:srgbClr val="1E8E52"/>
                </a:solidFill>
                <a:latin typeface="Calibri" pitchFamily="34" charset="0"/>
                <a:ea typeface="Calibri" pitchFamily="34" charset="-122"/>
                <a:cs typeface="Calibri" pitchFamily="34" charset="-120"/>
              </a:rPr>
              <a:t>transcribe</a:t>
            </a:r>
            <a:pPr indent="0" marL="0">
              <a:buNone/>
            </a:pPr>
            <a:r>
              <a:rPr lang="en-US" sz="2200" dirty="0">
                <a:solidFill>
                  <a:srgbClr val="1E293B"/>
                </a:solidFill>
                <a:latin typeface="Calibri" pitchFamily="34" charset="0"/>
                <a:ea typeface="Calibri" pitchFamily="34" charset="-122"/>
                <a:cs typeface="Calibri" pitchFamily="34" charset="-120"/>
              </a:rPr>
              <a:t> it.</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PUT THE ROOTS TO WORK</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graph / gram / scribe</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Nat’s surveying notes explained the theodolite, the telescope surveyors use. Which word names the drawing that explains?</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diagram</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transcribe</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He copied the borrowed algebra book into his notebook by hand. Which word names the act of writing it across into a new form?</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telegram</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transcribe</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Latham wrote the story of Nat’s whole life. Which word names the writing of a life?</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biography</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grammar</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PUT THE ROOTS TO WORK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graph / gram / scribe</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Nat’s surveying notes explained the theodolite, the telescope surveyors use. Which word names the drawing that explains?</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diagram</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transcribe</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He copied the borrowed algebra book into his notebook by hand. Which word names the act of writing it across into a new form?</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telegram</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transcribe</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Latham wrote the story of Nat’s whole life. Which word names the writing of a life?</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biography</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grammar</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FILL IN THE BLANK WITH THE CORRECT WORD</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Use It</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Each sentence below describes something from Nat’s world. Choose the vocabulary word that best fits the blank. Read the whole sentence for context clues.</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FILL IN THE BLANK WITH THE CORRECT WORD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Use It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085850"/>
          </a:xfrm>
          <a:prstGeom prst="roundRect">
            <a:avLst>
              <a:gd name="adj" fmla="val 6737"/>
            </a:avLst>
          </a:prstGeom>
          <a:solidFill>
            <a:srgbClr val="F8FAFC"/>
          </a:solidFill>
          <a:ln w="15875">
            <a:solidFill>
              <a:srgbClr val="CBD5E1"/>
            </a:solidFill>
            <a:prstDash val="solid"/>
          </a:ln>
        </p:spPr>
      </p:sp>
      <p:sp>
        <p:nvSpPr>
          <p:cNvPr id="9" name="Text 7"/>
          <p:cNvSpPr/>
          <p:nvPr/>
        </p:nvSpPr>
        <p:spPr>
          <a:xfrm>
            <a:off x="731520" y="155448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1.  </a:t>
            </a:r>
            <a:pPr indent="0" marL="0">
              <a:buNone/>
            </a:pPr>
            <a:r>
              <a:rPr lang="en-US" sz="2200" dirty="0">
                <a:solidFill>
                  <a:srgbClr val="1E293B"/>
                </a:solidFill>
                <a:latin typeface="Calibri" pitchFamily="34" charset="0"/>
                <a:ea typeface="Calibri" pitchFamily="34" charset="-122"/>
                <a:cs typeface="Calibri" pitchFamily="34" charset="-120"/>
              </a:rPr>
              <a:t>A sailor who knows the ship’s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can tell how far north or south of the equator it is.</a:t>
            </a:r>
            <a:endParaRPr lang="en-US" sz="2200" dirty="0"/>
          </a:p>
        </p:txBody>
      </p:sp>
      <p:sp>
        <p:nvSpPr>
          <p:cNvPr id="10" name="Shape 8"/>
          <p:cNvSpPr/>
          <p:nvPr/>
        </p:nvSpPr>
        <p:spPr>
          <a:xfrm>
            <a:off x="502920" y="2777490"/>
            <a:ext cx="11185855" cy="1085850"/>
          </a:xfrm>
          <a:prstGeom prst="roundRect">
            <a:avLst>
              <a:gd name="adj" fmla="val 6737"/>
            </a:avLst>
          </a:prstGeom>
          <a:solidFill>
            <a:srgbClr val="F8FAFC"/>
          </a:solidFill>
          <a:ln w="15875">
            <a:solidFill>
              <a:srgbClr val="CBD5E1"/>
            </a:solidFill>
            <a:prstDash val="solid"/>
          </a:ln>
        </p:spPr>
      </p:sp>
      <p:sp>
        <p:nvSpPr>
          <p:cNvPr id="11" name="Text 9"/>
          <p:cNvSpPr/>
          <p:nvPr/>
        </p:nvSpPr>
        <p:spPr>
          <a:xfrm>
            <a:off x="731520" y="277749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2.  </a:t>
            </a:r>
            <a:pPr indent="0" marL="0">
              <a:buNone/>
            </a:pPr>
            <a:r>
              <a:rPr lang="en-US" sz="2200" dirty="0">
                <a:solidFill>
                  <a:srgbClr val="1E293B"/>
                </a:solidFill>
                <a:latin typeface="Calibri" pitchFamily="34" charset="0"/>
                <a:ea typeface="Calibri" pitchFamily="34" charset="-122"/>
                <a:cs typeface="Calibri" pitchFamily="34" charset="-120"/>
              </a:rPr>
              <a:t>An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is published every year with tables of astronomical data for navigators.</a:t>
            </a:r>
            <a:endParaRPr lang="en-US" sz="2200" dirty="0"/>
          </a:p>
        </p:txBody>
      </p:sp>
      <p:sp>
        <p:nvSpPr>
          <p:cNvPr id="12" name="Shape 10"/>
          <p:cNvSpPr/>
          <p:nvPr/>
        </p:nvSpPr>
        <p:spPr>
          <a:xfrm>
            <a:off x="502920" y="4000500"/>
            <a:ext cx="11185855" cy="1085850"/>
          </a:xfrm>
          <a:prstGeom prst="roundRect">
            <a:avLst>
              <a:gd name="adj" fmla="val 6737"/>
            </a:avLst>
          </a:prstGeom>
          <a:solidFill>
            <a:srgbClr val="F8FAFC"/>
          </a:solidFill>
          <a:ln w="15875">
            <a:solidFill>
              <a:srgbClr val="CBD5E1"/>
            </a:solidFill>
            <a:prstDash val="solid"/>
          </a:ln>
        </p:spPr>
      </p:sp>
      <p:sp>
        <p:nvSpPr>
          <p:cNvPr id="13" name="Text 11"/>
          <p:cNvSpPr/>
          <p:nvPr/>
        </p:nvSpPr>
        <p:spPr>
          <a:xfrm>
            <a:off x="731520" y="400050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3.  </a:t>
            </a:r>
            <a:pPr indent="0" marL="0">
              <a:buNone/>
            </a:pPr>
            <a:r>
              <a:rPr lang="en-US" sz="2200" dirty="0">
                <a:solidFill>
                  <a:srgbClr val="1E293B"/>
                </a:solidFill>
                <a:latin typeface="Calibri" pitchFamily="34" charset="0"/>
                <a:ea typeface="Calibri" pitchFamily="34" charset="-122"/>
                <a:cs typeface="Calibri" pitchFamily="34" charset="-120"/>
              </a:rPr>
              <a:t>A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is a mathematical shortcut that turns difficult multiplication into simpler addition.</a:t>
            </a:r>
            <a:endParaRPr lang="en-US" sz="2200" dirty="0"/>
          </a:p>
        </p:txBody>
      </p:sp>
      <p:sp>
        <p:nvSpPr>
          <p:cNvPr id="14" name="Shape 12"/>
          <p:cNvSpPr/>
          <p:nvPr/>
        </p:nvSpPr>
        <p:spPr>
          <a:xfrm>
            <a:off x="502920" y="5223510"/>
            <a:ext cx="11185855" cy="1085850"/>
          </a:xfrm>
          <a:prstGeom prst="roundRect">
            <a:avLst>
              <a:gd name="adj" fmla="val 6737"/>
            </a:avLst>
          </a:prstGeom>
          <a:solidFill>
            <a:srgbClr val="F8FAFC"/>
          </a:solidFill>
          <a:ln w="15875">
            <a:solidFill>
              <a:srgbClr val="CBD5E1"/>
            </a:solidFill>
            <a:prstDash val="solid"/>
          </a:ln>
        </p:spPr>
      </p:sp>
      <p:sp>
        <p:nvSpPr>
          <p:cNvPr id="15" name="Text 13"/>
          <p:cNvSpPr/>
          <p:nvPr/>
        </p:nvSpPr>
        <p:spPr>
          <a:xfrm>
            <a:off x="731520" y="522351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4.  </a:t>
            </a:r>
            <a:pPr indent="0" marL="0">
              <a:buNone/>
            </a:pP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navigation uses the positions of the sun, moon, and stars to find a ship’s location.</a:t>
            </a:r>
            <a:endParaRPr lang="en-US" sz="2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FILL IN THE BLANK WITH THE CORRECT WORD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Use It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085850"/>
          </a:xfrm>
          <a:prstGeom prst="roundRect">
            <a:avLst>
              <a:gd name="adj" fmla="val 6737"/>
            </a:avLst>
          </a:prstGeom>
          <a:solidFill>
            <a:srgbClr val="E8F8EF"/>
          </a:solidFill>
          <a:ln w="15875">
            <a:solidFill>
              <a:srgbClr val="9ED9B5"/>
            </a:solidFill>
            <a:prstDash val="solid"/>
          </a:ln>
        </p:spPr>
      </p:sp>
      <p:sp>
        <p:nvSpPr>
          <p:cNvPr id="9" name="Text 7"/>
          <p:cNvSpPr/>
          <p:nvPr/>
        </p:nvSpPr>
        <p:spPr>
          <a:xfrm>
            <a:off x="731520" y="155448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1.  </a:t>
            </a:r>
            <a:pPr indent="0" marL="0">
              <a:buNone/>
            </a:pPr>
            <a:r>
              <a:rPr lang="en-US" sz="2200" dirty="0">
                <a:solidFill>
                  <a:srgbClr val="1E293B"/>
                </a:solidFill>
                <a:latin typeface="Calibri" pitchFamily="34" charset="0"/>
                <a:ea typeface="Calibri" pitchFamily="34" charset="-122"/>
                <a:cs typeface="Calibri" pitchFamily="34" charset="-120"/>
              </a:rPr>
              <a:t>A sailor who knows the ship’s </a:t>
            </a:r>
            <a:pPr indent="0" marL="0">
              <a:buNone/>
            </a:pPr>
            <a:r>
              <a:rPr lang="en-US" sz="2200" b="1" dirty="0">
                <a:solidFill>
                  <a:srgbClr val="1E8E52"/>
                </a:solidFill>
                <a:latin typeface="Calibri" pitchFamily="34" charset="0"/>
                <a:ea typeface="Calibri" pitchFamily="34" charset="-122"/>
                <a:cs typeface="Calibri" pitchFamily="34" charset="-120"/>
              </a:rPr>
              <a:t>latitude</a:t>
            </a:r>
            <a:pPr indent="0" marL="0">
              <a:buNone/>
            </a:pPr>
            <a:r>
              <a:rPr lang="en-US" sz="2200" dirty="0">
                <a:solidFill>
                  <a:srgbClr val="1E293B"/>
                </a:solidFill>
                <a:latin typeface="Calibri" pitchFamily="34" charset="0"/>
                <a:ea typeface="Calibri" pitchFamily="34" charset="-122"/>
                <a:cs typeface="Calibri" pitchFamily="34" charset="-120"/>
              </a:rPr>
              <a:t> can tell how far north or south of the equator it is.</a:t>
            </a:r>
            <a:endParaRPr lang="en-US" sz="2200" dirty="0"/>
          </a:p>
        </p:txBody>
      </p:sp>
      <p:sp>
        <p:nvSpPr>
          <p:cNvPr id="10" name="Shape 8"/>
          <p:cNvSpPr/>
          <p:nvPr/>
        </p:nvSpPr>
        <p:spPr>
          <a:xfrm>
            <a:off x="502920" y="2777490"/>
            <a:ext cx="11185855" cy="1085850"/>
          </a:xfrm>
          <a:prstGeom prst="roundRect">
            <a:avLst>
              <a:gd name="adj" fmla="val 6737"/>
            </a:avLst>
          </a:prstGeom>
          <a:solidFill>
            <a:srgbClr val="E8F8EF"/>
          </a:solidFill>
          <a:ln w="15875">
            <a:solidFill>
              <a:srgbClr val="9ED9B5"/>
            </a:solidFill>
            <a:prstDash val="solid"/>
          </a:ln>
        </p:spPr>
      </p:sp>
      <p:sp>
        <p:nvSpPr>
          <p:cNvPr id="11" name="Text 9"/>
          <p:cNvSpPr/>
          <p:nvPr/>
        </p:nvSpPr>
        <p:spPr>
          <a:xfrm>
            <a:off x="731520" y="277749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2.  </a:t>
            </a:r>
            <a:pPr indent="0" marL="0">
              <a:buNone/>
            </a:pPr>
            <a:r>
              <a:rPr lang="en-US" sz="2200" dirty="0">
                <a:solidFill>
                  <a:srgbClr val="1E293B"/>
                </a:solidFill>
                <a:latin typeface="Calibri" pitchFamily="34" charset="0"/>
                <a:ea typeface="Calibri" pitchFamily="34" charset="-122"/>
                <a:cs typeface="Calibri" pitchFamily="34" charset="-120"/>
              </a:rPr>
              <a:t>An </a:t>
            </a:r>
            <a:pPr indent="0" marL="0">
              <a:buNone/>
            </a:pPr>
            <a:r>
              <a:rPr lang="en-US" sz="2200" b="1" dirty="0">
                <a:solidFill>
                  <a:srgbClr val="1E8E52"/>
                </a:solidFill>
                <a:latin typeface="Calibri" pitchFamily="34" charset="0"/>
                <a:ea typeface="Calibri" pitchFamily="34" charset="-122"/>
                <a:cs typeface="Calibri" pitchFamily="34" charset="-120"/>
              </a:rPr>
              <a:t>almanac</a:t>
            </a:r>
            <a:pPr indent="0" marL="0">
              <a:buNone/>
            </a:pPr>
            <a:r>
              <a:rPr lang="en-US" sz="2200" dirty="0">
                <a:solidFill>
                  <a:srgbClr val="1E293B"/>
                </a:solidFill>
                <a:latin typeface="Calibri" pitchFamily="34" charset="0"/>
                <a:ea typeface="Calibri" pitchFamily="34" charset="-122"/>
                <a:cs typeface="Calibri" pitchFamily="34" charset="-120"/>
              </a:rPr>
              <a:t> is published every year with tables of astronomical data for navigators.</a:t>
            </a:r>
            <a:endParaRPr lang="en-US" sz="2200" dirty="0"/>
          </a:p>
        </p:txBody>
      </p:sp>
      <p:sp>
        <p:nvSpPr>
          <p:cNvPr id="12" name="Shape 10"/>
          <p:cNvSpPr/>
          <p:nvPr/>
        </p:nvSpPr>
        <p:spPr>
          <a:xfrm>
            <a:off x="502920" y="4000500"/>
            <a:ext cx="11185855" cy="1085850"/>
          </a:xfrm>
          <a:prstGeom prst="roundRect">
            <a:avLst>
              <a:gd name="adj" fmla="val 6737"/>
            </a:avLst>
          </a:prstGeom>
          <a:solidFill>
            <a:srgbClr val="E8F8EF"/>
          </a:solidFill>
          <a:ln w="15875">
            <a:solidFill>
              <a:srgbClr val="9ED9B5"/>
            </a:solidFill>
            <a:prstDash val="solid"/>
          </a:ln>
        </p:spPr>
      </p:sp>
      <p:sp>
        <p:nvSpPr>
          <p:cNvPr id="13" name="Text 11"/>
          <p:cNvSpPr/>
          <p:nvPr/>
        </p:nvSpPr>
        <p:spPr>
          <a:xfrm>
            <a:off x="731520" y="400050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3.  </a:t>
            </a:r>
            <a:pPr indent="0" marL="0">
              <a:buNone/>
            </a:pPr>
            <a:r>
              <a:rPr lang="en-US" sz="2200" dirty="0">
                <a:solidFill>
                  <a:srgbClr val="1E293B"/>
                </a:solidFill>
                <a:latin typeface="Calibri" pitchFamily="34" charset="0"/>
                <a:ea typeface="Calibri" pitchFamily="34" charset="-122"/>
                <a:cs typeface="Calibri" pitchFamily="34" charset="-120"/>
              </a:rPr>
              <a:t>A </a:t>
            </a:r>
            <a:pPr indent="0" marL="0">
              <a:buNone/>
            </a:pPr>
            <a:r>
              <a:rPr lang="en-US" sz="2200" b="1" dirty="0">
                <a:solidFill>
                  <a:srgbClr val="1E8E52"/>
                </a:solidFill>
                <a:latin typeface="Calibri" pitchFamily="34" charset="0"/>
                <a:ea typeface="Calibri" pitchFamily="34" charset="-122"/>
                <a:cs typeface="Calibri" pitchFamily="34" charset="-120"/>
              </a:rPr>
              <a:t>logarithm</a:t>
            </a:r>
            <a:pPr indent="0" marL="0">
              <a:buNone/>
            </a:pPr>
            <a:r>
              <a:rPr lang="en-US" sz="2200" dirty="0">
                <a:solidFill>
                  <a:srgbClr val="1E293B"/>
                </a:solidFill>
                <a:latin typeface="Calibri" pitchFamily="34" charset="0"/>
                <a:ea typeface="Calibri" pitchFamily="34" charset="-122"/>
                <a:cs typeface="Calibri" pitchFamily="34" charset="-120"/>
              </a:rPr>
              <a:t> is a mathematical shortcut that turns difficult multiplication into simpler addition.</a:t>
            </a:r>
            <a:endParaRPr lang="en-US" sz="2200" dirty="0"/>
          </a:p>
        </p:txBody>
      </p:sp>
      <p:sp>
        <p:nvSpPr>
          <p:cNvPr id="14" name="Shape 12"/>
          <p:cNvSpPr/>
          <p:nvPr/>
        </p:nvSpPr>
        <p:spPr>
          <a:xfrm>
            <a:off x="502920" y="5223510"/>
            <a:ext cx="11185855" cy="1085850"/>
          </a:xfrm>
          <a:prstGeom prst="roundRect">
            <a:avLst>
              <a:gd name="adj" fmla="val 6737"/>
            </a:avLst>
          </a:prstGeom>
          <a:solidFill>
            <a:srgbClr val="E8F8EF"/>
          </a:solidFill>
          <a:ln w="15875">
            <a:solidFill>
              <a:srgbClr val="9ED9B5"/>
            </a:solidFill>
            <a:prstDash val="solid"/>
          </a:ln>
        </p:spPr>
      </p:sp>
      <p:sp>
        <p:nvSpPr>
          <p:cNvPr id="15" name="Text 13"/>
          <p:cNvSpPr/>
          <p:nvPr/>
        </p:nvSpPr>
        <p:spPr>
          <a:xfrm>
            <a:off x="731520" y="522351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4.  </a:t>
            </a:r>
            <a:pPr indent="0" marL="0">
              <a:buNone/>
            </a:pPr>
            <a:pPr indent="0" marL="0">
              <a:buNone/>
            </a:pPr>
            <a:r>
              <a:rPr lang="en-US" sz="2200" b="1" dirty="0">
                <a:solidFill>
                  <a:srgbClr val="1E8E52"/>
                </a:solidFill>
                <a:latin typeface="Calibri" pitchFamily="34" charset="0"/>
                <a:ea typeface="Calibri" pitchFamily="34" charset="-122"/>
                <a:cs typeface="Calibri" pitchFamily="34" charset="-120"/>
              </a:rPr>
              <a:t>celestial</a:t>
            </a:r>
            <a:pPr indent="0" marL="0">
              <a:buNone/>
            </a:pPr>
            <a:r>
              <a:rPr lang="en-US" sz="2200" dirty="0">
                <a:solidFill>
                  <a:srgbClr val="1E293B"/>
                </a:solidFill>
                <a:latin typeface="Calibri" pitchFamily="34" charset="0"/>
                <a:ea typeface="Calibri" pitchFamily="34" charset="-122"/>
                <a:cs typeface="Calibri" pitchFamily="34" charset="-120"/>
              </a:rPr>
              <a:t> navigation uses the positions of the sun, moon, and stars to find a ship’s location.</a:t>
            </a:r>
            <a:endParaRPr lang="en-US" sz="2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REWRITE THE FLAWED PARAGRAPH IN YOUR JOURNAL</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Revise for Consistent Tense</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Before you start: decide when each sentence happens, then check it stays there.</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This paragraph about Nat Bowditch has multiple tense shift errors. Read it carefully, identify every error, then rewrite the whole paragraph in consistent past tense in your reading journal.</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Write your revised paragraph in your reading journal.</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A paragraph should stay in one tense unless something in the meaning makes it move.</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REWRITE THE FLAWED PARAGRAPH IN YOUR JOURNAL</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Revise for Consistent Tense</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822960"/>
          </a:xfrm>
          <a:prstGeom prst="roundRect">
            <a:avLst>
              <a:gd name="adj" fmla="val 8889"/>
            </a:avLst>
          </a:prstGeom>
          <a:solidFill>
            <a:srgbClr val="E5F7FC"/>
          </a:solidFill>
          <a:ln w="15875">
            <a:solidFill>
              <a:srgbClr val="A6DDEE"/>
            </a:solidFill>
            <a:prstDash val="solid"/>
          </a:ln>
        </p:spPr>
      </p:sp>
      <p:sp>
        <p:nvSpPr>
          <p:cNvPr id="9" name="Text 7"/>
          <p:cNvSpPr/>
          <p:nvPr/>
        </p:nvSpPr>
        <p:spPr>
          <a:xfrm>
            <a:off x="731520" y="1600200"/>
            <a:ext cx="10728655" cy="731520"/>
          </a:xfrm>
          <a:prstGeom prst="rect">
            <a:avLst/>
          </a:prstGeom>
          <a:noFill/>
          <a:ln/>
        </p:spPr>
        <p:txBody>
          <a:bodyPr wrap="square" lIns="0" tIns="0" rIns="0" bIns="0" rtlCol="0" anchor="ctr">
            <a:normAutofit/>
          </a:bodyPr>
          <a:lstStyle/>
          <a:p>
            <a:pPr indent="0" marL="0">
              <a:buNone/>
            </a:pPr>
            <a:r>
              <a:rPr lang="en-US" sz="2000" b="1" dirty="0">
                <a:solidFill>
                  <a:srgbClr val="0E1C42"/>
                </a:solidFill>
                <a:latin typeface="Calibri" pitchFamily="34" charset="0"/>
                <a:ea typeface="Calibri" pitchFamily="34" charset="-122"/>
                <a:cs typeface="Calibri" pitchFamily="34" charset="-120"/>
              </a:rPr>
              <a:t>This paragraph should be entirely in the past. Tap the verbs that are not.</a:t>
            </a:r>
            <a:endParaRPr lang="en-US" sz="2000" dirty="0"/>
          </a:p>
        </p:txBody>
      </p:sp>
      <p:sp>
        <p:nvSpPr>
          <p:cNvPr id="10" name="Shape 8"/>
          <p:cNvSpPr/>
          <p:nvPr/>
        </p:nvSpPr>
        <p:spPr>
          <a:xfrm>
            <a:off x="502920" y="2560320"/>
            <a:ext cx="11185855" cy="3886200"/>
          </a:xfrm>
          <a:prstGeom prst="roundRect">
            <a:avLst>
              <a:gd name="adj" fmla="val 1882"/>
            </a:avLst>
          </a:prstGeom>
          <a:solidFill>
            <a:srgbClr val="F8FAFC"/>
          </a:solidFill>
          <a:ln w="15875">
            <a:solidFill>
              <a:srgbClr val="CBD5E1"/>
            </a:solidFill>
            <a:prstDash val="solid"/>
          </a:ln>
        </p:spPr>
      </p:sp>
      <p:sp>
        <p:nvSpPr>
          <p:cNvPr id="11" name="Text 9"/>
          <p:cNvSpPr/>
          <p:nvPr/>
        </p:nvSpPr>
        <p:spPr>
          <a:xfrm>
            <a:off x="822960" y="2697480"/>
            <a:ext cx="10545775" cy="3611880"/>
          </a:xfrm>
          <a:prstGeom prst="rect">
            <a:avLst/>
          </a:prstGeom>
          <a:noFill/>
          <a:ln/>
        </p:spPr>
        <p:txBody>
          <a:bodyPr wrap="square" lIns="0" tIns="0" rIns="0" bIns="0" rtlCol="0" anchor="t">
            <a:normAutofit/>
          </a:bodyPr>
          <a:lstStyle/>
          <a:p>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Nat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borrowed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the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algebra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book.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He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copies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it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into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his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notebook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and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studied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every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page.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When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Ben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Meeker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asked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about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his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almanac,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Nat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explains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it,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but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Ben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shuffles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out.</a:t>
            </a:r>
            <a:endParaRPr lang="en-US" sz="2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 REWRITE THE FLAWED PARAGRAPH IN YOUR JOURNAL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Revise for Consistent Tense</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822960"/>
          </a:xfrm>
          <a:prstGeom prst="roundRect">
            <a:avLst>
              <a:gd name="adj" fmla="val 8889"/>
            </a:avLst>
          </a:prstGeom>
          <a:solidFill>
            <a:srgbClr val="E5F7FC"/>
          </a:solidFill>
          <a:ln w="15875">
            <a:solidFill>
              <a:srgbClr val="A6DDEE"/>
            </a:solidFill>
            <a:prstDash val="solid"/>
          </a:ln>
        </p:spPr>
      </p:sp>
      <p:sp>
        <p:nvSpPr>
          <p:cNvPr id="9" name="Text 7"/>
          <p:cNvSpPr/>
          <p:nvPr/>
        </p:nvSpPr>
        <p:spPr>
          <a:xfrm>
            <a:off x="731520" y="1600200"/>
            <a:ext cx="10728655" cy="731520"/>
          </a:xfrm>
          <a:prstGeom prst="rect">
            <a:avLst/>
          </a:prstGeom>
          <a:noFill/>
          <a:ln/>
        </p:spPr>
        <p:txBody>
          <a:bodyPr wrap="square" lIns="0" tIns="0" rIns="0" bIns="0" rtlCol="0" anchor="ctr">
            <a:normAutofit/>
          </a:bodyPr>
          <a:lstStyle/>
          <a:p>
            <a:pPr indent="0" marL="0">
              <a:buNone/>
            </a:pPr>
            <a:r>
              <a:rPr lang="en-US" sz="2000" b="1" dirty="0">
                <a:solidFill>
                  <a:srgbClr val="0E1C42"/>
                </a:solidFill>
                <a:latin typeface="Calibri" pitchFamily="34" charset="0"/>
                <a:ea typeface="Calibri" pitchFamily="34" charset="-122"/>
                <a:cs typeface="Calibri" pitchFamily="34" charset="-120"/>
              </a:rPr>
              <a:t>This paragraph should be entirely in the past. Tap the verbs that are not.</a:t>
            </a:r>
            <a:endParaRPr lang="en-US" sz="2000" dirty="0"/>
          </a:p>
        </p:txBody>
      </p:sp>
      <p:sp>
        <p:nvSpPr>
          <p:cNvPr id="10" name="Shape 8"/>
          <p:cNvSpPr/>
          <p:nvPr/>
        </p:nvSpPr>
        <p:spPr>
          <a:xfrm>
            <a:off x="502920" y="2560320"/>
            <a:ext cx="11185855" cy="3886200"/>
          </a:xfrm>
          <a:prstGeom prst="roundRect">
            <a:avLst>
              <a:gd name="adj" fmla="val 1882"/>
            </a:avLst>
          </a:prstGeom>
          <a:solidFill>
            <a:srgbClr val="F8FAFC"/>
          </a:solidFill>
          <a:ln w="15875">
            <a:solidFill>
              <a:srgbClr val="CBD5E1"/>
            </a:solidFill>
            <a:prstDash val="solid"/>
          </a:ln>
        </p:spPr>
      </p:sp>
      <p:sp>
        <p:nvSpPr>
          <p:cNvPr id="11" name="Text 9"/>
          <p:cNvSpPr/>
          <p:nvPr/>
        </p:nvSpPr>
        <p:spPr>
          <a:xfrm>
            <a:off x="822960" y="2697480"/>
            <a:ext cx="10545775" cy="3611880"/>
          </a:xfrm>
          <a:prstGeom prst="rect">
            <a:avLst/>
          </a:prstGeom>
          <a:noFill/>
          <a:ln/>
        </p:spPr>
        <p:txBody>
          <a:bodyPr wrap="square" lIns="0" tIns="0" rIns="0" bIns="0" rtlCol="0" anchor="t">
            <a:normAutofit/>
          </a:bodyPr>
          <a:lstStyle/>
          <a:p>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Nat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borrowed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the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algebra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book.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He </a:t>
            </a:r>
            <a:pPr indent="0" marL="0">
              <a:lnSpc>
                <a:spcPct val="130000"/>
              </a:lnSpc>
              <a:buNone/>
            </a:pPr>
            <a:r>
              <a:rPr lang="en-US" sz="2800" b="1" dirty="0">
                <a:solidFill>
                  <a:srgbClr val="B4232C"/>
                </a:solidFill>
                <a:latin typeface="Calibri" pitchFamily="34" charset="0"/>
                <a:ea typeface="Calibri" pitchFamily="34" charset="-122"/>
                <a:cs typeface="Calibri" pitchFamily="34" charset="-120"/>
              </a:rPr>
              <a:t>copies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it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into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his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notebook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and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studied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every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page.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When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Ben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Meeker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asked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about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his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almanac,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Nat </a:t>
            </a:r>
            <a:pPr indent="0" marL="0">
              <a:lnSpc>
                <a:spcPct val="130000"/>
              </a:lnSpc>
              <a:buNone/>
            </a:pPr>
            <a:r>
              <a:rPr lang="en-US" sz="2800" b="1" dirty="0">
                <a:solidFill>
                  <a:srgbClr val="B4232C"/>
                </a:solidFill>
                <a:latin typeface="Calibri" pitchFamily="34" charset="0"/>
                <a:ea typeface="Calibri" pitchFamily="34" charset="-122"/>
                <a:cs typeface="Calibri" pitchFamily="34" charset="-120"/>
              </a:rPr>
              <a:t>explains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it,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but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Ben </a:t>
            </a:r>
            <a:pPr indent="0" marL="0">
              <a:lnSpc>
                <a:spcPct val="130000"/>
              </a:lnSpc>
              <a:buNone/>
            </a:pPr>
            <a:r>
              <a:rPr lang="en-US" sz="2800" b="1" dirty="0">
                <a:solidFill>
                  <a:srgbClr val="B4232C"/>
                </a:solidFill>
                <a:latin typeface="Calibri" pitchFamily="34" charset="0"/>
                <a:ea typeface="Calibri" pitchFamily="34" charset="-122"/>
                <a:cs typeface="Calibri" pitchFamily="34" charset="-120"/>
              </a:rPr>
              <a:t>shuffles </a:t>
            </a:r>
            <a:pPr indent="0" marL="0">
              <a:lnSpc>
                <a:spcPct val="130000"/>
              </a:lnSpc>
              <a:buNone/>
            </a:pPr>
            <a:r>
              <a:rPr lang="en-US" sz="2800" dirty="0">
                <a:solidFill>
                  <a:srgbClr val="1E293B"/>
                </a:solidFill>
                <a:latin typeface="Calibri" pitchFamily="34" charset="0"/>
                <a:ea typeface="Calibri" pitchFamily="34" charset="-122"/>
                <a:cs typeface="Calibri" pitchFamily="34" charset="-120"/>
              </a:rPr>
              <a:t>out.</a:t>
            </a:r>
            <a:endParaRPr lang="en-US" sz="2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APPLY — BUILD THE JOB NAME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-er and -or — Naming the Doer</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Now apply it. Chapter 7 is Nat doing the work of half a dozen trades at once. Build the word that names each doer, and check the verb underneath before you choose the ending.</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GRADED TODAY</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 Show What You Know · Spelling</a:t>
            </a:r>
            <a:endParaRPr lang="en-US" sz="3000" dirty="0"/>
          </a:p>
        </p:txBody>
      </p:sp>
      <p:sp>
        <p:nvSpPr>
          <p:cNvPr id="5" name="Shape 3"/>
          <p:cNvSpPr/>
          <p:nvPr/>
        </p:nvSpPr>
        <p:spPr>
          <a:xfrm>
            <a:off x="9402775" y="384048"/>
            <a:ext cx="2286000" cy="457200"/>
          </a:xfrm>
          <a:prstGeom prst="roundRect">
            <a:avLst>
              <a:gd name="adj" fmla="val 24000"/>
            </a:avLst>
          </a:prstGeom>
          <a:solidFill>
            <a:srgbClr val="C7922C"/>
          </a:solidFill>
          <a:ln w="12700">
            <a:solidFill>
              <a:srgbClr val="C7922C"/>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SWYK</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4892040"/>
          </a:xfrm>
          <a:prstGeom prst="roundRect">
            <a:avLst>
              <a:gd name="adj" fmla="val 1495"/>
            </a:avLst>
          </a:prstGeom>
          <a:solidFill>
            <a:srgbClr val="FEF6E8"/>
          </a:solidFill>
          <a:ln w="15875">
            <a:solidFill>
              <a:srgbClr val="C7922C"/>
            </a:solidFill>
            <a:prstDash val="solid"/>
          </a:ln>
        </p:spPr>
      </p:sp>
      <p:sp>
        <p:nvSpPr>
          <p:cNvPr id="9" name="Text 7"/>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Build the doer-name from each verb and say which ending it takes and why: navigate, print, calculate, keep.</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What to write: Write each finished word, name the ending, and give the reason — plain English verb, or a Latin verb ending in -ate?</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MENTOR SENTENCE · CHAPTER 7</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RWM — Read like a Reader, Read like a Writer, Mimic</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1463040"/>
          </a:xfrm>
          <a:prstGeom prst="roundRect">
            <a:avLst>
              <a:gd name="adj" fmla="val 5000"/>
            </a:avLst>
          </a:prstGeom>
          <a:solidFill>
            <a:srgbClr val="FEF6E8"/>
          </a:solidFill>
          <a:ln w="15875">
            <a:solidFill>
              <a:srgbClr val="C7922C"/>
            </a:solidFill>
            <a:prstDash val="solid"/>
          </a:ln>
        </p:spPr>
      </p:sp>
      <p:sp>
        <p:nvSpPr>
          <p:cNvPr id="7" name="Text 5"/>
          <p:cNvSpPr/>
          <p:nvPr/>
        </p:nvSpPr>
        <p:spPr>
          <a:xfrm>
            <a:off x="777240" y="1645920"/>
            <a:ext cx="10637215" cy="1280160"/>
          </a:xfrm>
          <a:prstGeom prst="rect">
            <a:avLst/>
          </a:prstGeom>
          <a:noFill/>
          <a:ln/>
        </p:spPr>
        <p:txBody>
          <a:bodyPr wrap="square" lIns="0" tIns="0" rIns="0" bIns="0" rtlCol="0" anchor="ctr">
            <a:normAutofit/>
          </a:bodyPr>
          <a:lstStyle/>
          <a:p>
            <a:pPr indent="0" marL="0">
              <a:buNone/>
            </a:pPr>
            <a:r>
              <a:rPr lang="en-US" sz="2400" i="1" dirty="0">
                <a:solidFill>
                  <a:srgbClr val="1E293B"/>
                </a:solidFill>
                <a:latin typeface="Georgia" pitchFamily="34" charset="0"/>
                <a:ea typeface="Georgia" pitchFamily="34" charset="-122"/>
                <a:cs typeface="Georgia" pitchFamily="34" charset="-120"/>
              </a:rPr>
              <a:t>“But after supper Nat went back to the chandlery to finish the work he had not done.”</a:t>
            </a:r>
            <a:endParaRPr lang="en-US" sz="2400" dirty="0"/>
          </a:p>
        </p:txBody>
      </p:sp>
      <p:sp>
        <p:nvSpPr>
          <p:cNvPr id="8" name="Shape 6"/>
          <p:cNvSpPr/>
          <p:nvPr/>
        </p:nvSpPr>
        <p:spPr>
          <a:xfrm>
            <a:off x="502920" y="3246120"/>
            <a:ext cx="3606698" cy="3200400"/>
          </a:xfrm>
          <a:prstGeom prst="roundRect">
            <a:avLst>
              <a:gd name="adj" fmla="val 2286"/>
            </a:avLst>
          </a:prstGeom>
          <a:solidFill>
            <a:srgbClr val="F8FAFC"/>
          </a:solidFill>
          <a:ln w="15875">
            <a:solidFill>
              <a:srgbClr val="CBD5E1"/>
            </a:solidFill>
            <a:prstDash val="solid"/>
          </a:ln>
        </p:spPr>
      </p:sp>
      <p:sp>
        <p:nvSpPr>
          <p:cNvPr id="9" name="Text 7"/>
          <p:cNvSpPr/>
          <p:nvPr/>
        </p:nvSpPr>
        <p:spPr>
          <a:xfrm>
            <a:off x="685800" y="3337560"/>
            <a:ext cx="3240938" cy="3017520"/>
          </a:xfrm>
          <a:prstGeom prst="rect">
            <a:avLst/>
          </a:prstGeom>
          <a:noFill/>
          <a:ln/>
        </p:spPr>
        <p:txBody>
          <a:bodyPr wrap="square" lIns="0" tIns="0" rIns="0" bIns="0" rtlCol="0" anchor="t">
            <a:normAutofit/>
          </a:bodyPr>
          <a:lstStyle/>
          <a:p>
            <a:pPr indent="0" marL="0">
              <a:buNone/>
            </a:pPr>
            <a:r>
              <a:rPr lang="en-US" sz="1900" b="1" dirty="0">
                <a:solidFill>
                  <a:srgbClr val="0E1C42"/>
                </a:solidFill>
                <a:latin typeface="Calibri" pitchFamily="34" charset="0"/>
                <a:ea typeface="Calibri" pitchFamily="34" charset="-122"/>
                <a:cs typeface="Calibri" pitchFamily="34" charset="-120"/>
              </a:rPr>
              <a:t>📖 Read like a Reader</a:t>
            </a:r>
            <a:endParaRPr lang="en-US" sz="1900" dirty="0"/>
          </a:p>
          <a:p>
            <a:pPr indent="0" marL="0">
              <a:buNone/>
            </a:pPr>
            <a:r>
              <a:rPr lang="en-US" sz="1600" dirty="0">
                <a:solidFill>
                  <a:srgbClr val="1E293B"/>
                </a:solidFill>
                <a:latin typeface="Calibri" pitchFamily="34" charset="0"/>
                <a:ea typeface="Calibri" pitchFamily="34" charset="-122"/>
                <a:cs typeface="Calibri" pitchFamily="34" charset="-120"/>
              </a:rPr>
              <a:t>This is Nat’s day after his day is over. He has been teaching himself navigation, surveying and astronomy — and the bookkeeping is still waiting for him. What is this sentence telling you about the cost of what he is doing?</a:t>
            </a:r>
            <a:endParaRPr lang="en-US" sz="1900" dirty="0"/>
          </a:p>
        </p:txBody>
      </p:sp>
      <p:sp>
        <p:nvSpPr>
          <p:cNvPr id="10" name="Shape 8"/>
          <p:cNvSpPr/>
          <p:nvPr/>
        </p:nvSpPr>
        <p:spPr>
          <a:xfrm>
            <a:off x="4292498" y="3246120"/>
            <a:ext cx="3606698" cy="3200400"/>
          </a:xfrm>
          <a:prstGeom prst="roundRect">
            <a:avLst>
              <a:gd name="adj" fmla="val 2286"/>
            </a:avLst>
          </a:prstGeom>
          <a:solidFill>
            <a:srgbClr val="F8FAFC"/>
          </a:solidFill>
          <a:ln w="15875">
            <a:solidFill>
              <a:srgbClr val="CBD5E1"/>
            </a:solidFill>
            <a:prstDash val="solid"/>
          </a:ln>
        </p:spPr>
      </p:sp>
      <p:sp>
        <p:nvSpPr>
          <p:cNvPr id="11" name="Text 9"/>
          <p:cNvSpPr/>
          <p:nvPr/>
        </p:nvSpPr>
        <p:spPr>
          <a:xfrm>
            <a:off x="4475378" y="3337560"/>
            <a:ext cx="3240938" cy="3017520"/>
          </a:xfrm>
          <a:prstGeom prst="rect">
            <a:avLst/>
          </a:prstGeom>
          <a:noFill/>
          <a:ln/>
        </p:spPr>
        <p:txBody>
          <a:bodyPr wrap="square" lIns="0" tIns="0" rIns="0" bIns="0" rtlCol="0" anchor="t">
            <a:normAutofit/>
          </a:bodyPr>
          <a:lstStyle/>
          <a:p>
            <a:pPr indent="0" marL="0">
              <a:buNone/>
            </a:pPr>
            <a:r>
              <a:rPr lang="en-US" sz="1900" b="1" dirty="0">
                <a:solidFill>
                  <a:srgbClr val="0E1C42"/>
                </a:solidFill>
                <a:latin typeface="Calibri" pitchFamily="34" charset="0"/>
                <a:ea typeface="Calibri" pitchFamily="34" charset="-122"/>
                <a:cs typeface="Calibri" pitchFamily="34" charset="-120"/>
              </a:rPr>
              <a:t>✏️ Read like a Writer</a:t>
            </a:r>
            <a:endParaRPr lang="en-US" sz="1900" dirty="0"/>
          </a:p>
          <a:p>
            <a:pPr indent="0" marL="0">
              <a:buNone/>
            </a:pPr>
            <a:r>
              <a:rPr lang="en-US" sz="1600" dirty="0">
                <a:solidFill>
                  <a:srgbClr val="1E293B"/>
                </a:solidFill>
                <a:latin typeface="Calibri" pitchFamily="34" charset="0"/>
                <a:ea typeface="Calibri" pitchFamily="34" charset="-122"/>
                <a:cs typeface="Calibri" pitchFamily="34" charset="-120"/>
              </a:rPr>
              <a:t>The sequence is carried by three small moves. But turns against the sentence before it. after supper places the action in the order of the day. And had not done reaches back to work left undone earlier. One short sentence holds three different points in time, and the verb tenses are what keep them straight.</a:t>
            </a:r>
            <a:endParaRPr lang="en-US" sz="1900" dirty="0"/>
          </a:p>
        </p:txBody>
      </p:sp>
      <p:sp>
        <p:nvSpPr>
          <p:cNvPr id="12" name="Shape 10"/>
          <p:cNvSpPr/>
          <p:nvPr/>
        </p:nvSpPr>
        <p:spPr>
          <a:xfrm>
            <a:off x="8082077" y="3246120"/>
            <a:ext cx="3606698" cy="3200400"/>
          </a:xfrm>
          <a:prstGeom prst="roundRect">
            <a:avLst>
              <a:gd name="adj" fmla="val 2286"/>
            </a:avLst>
          </a:prstGeom>
          <a:solidFill>
            <a:srgbClr val="F8FAFC"/>
          </a:solidFill>
          <a:ln w="15875">
            <a:solidFill>
              <a:srgbClr val="CBD5E1"/>
            </a:solidFill>
            <a:prstDash val="solid"/>
          </a:ln>
        </p:spPr>
      </p:sp>
      <p:sp>
        <p:nvSpPr>
          <p:cNvPr id="13" name="Text 11"/>
          <p:cNvSpPr/>
          <p:nvPr/>
        </p:nvSpPr>
        <p:spPr>
          <a:xfrm>
            <a:off x="8264957" y="3337560"/>
            <a:ext cx="3240938" cy="3017520"/>
          </a:xfrm>
          <a:prstGeom prst="rect">
            <a:avLst/>
          </a:prstGeom>
          <a:noFill/>
          <a:ln/>
        </p:spPr>
        <p:txBody>
          <a:bodyPr wrap="square" lIns="0" tIns="0" rIns="0" bIns="0" rtlCol="0" anchor="t">
            <a:normAutofit/>
          </a:bodyPr>
          <a:lstStyle/>
          <a:p>
            <a:pPr indent="0" marL="0">
              <a:buNone/>
            </a:pPr>
            <a:r>
              <a:rPr lang="en-US" sz="1900" b="1" dirty="0">
                <a:solidFill>
                  <a:srgbClr val="0E1C42"/>
                </a:solidFill>
                <a:latin typeface="Calibri" pitchFamily="34" charset="0"/>
                <a:ea typeface="Calibri" pitchFamily="34" charset="-122"/>
                <a:cs typeface="Calibri" pitchFamily="34" charset="-120"/>
              </a:rPr>
              <a:t>🖊️ Mimic</a:t>
            </a:r>
            <a:endParaRPr lang="en-US" sz="1900" dirty="0"/>
          </a:p>
          <a:p>
            <a:pPr indent="0" marL="0">
              <a:buNone/>
            </a:pPr>
            <a:r>
              <a:rPr lang="en-US" sz="1600" dirty="0">
                <a:solidFill>
                  <a:srgbClr val="1E293B"/>
                </a:solidFill>
                <a:latin typeface="Calibri" pitchFamily="34" charset="0"/>
                <a:ea typeface="Calibri" pitchFamily="34" charset="-122"/>
                <a:cs typeface="Calibri" pitchFamily="34" charset="-120"/>
              </a:rPr>
              <a:t>Write one sentence about Chapter 7 that holds two points in time — something happening now, and something left undone earlier. Use a sequence word and the past perfect. No frame this time.</a:t>
            </a:r>
            <a:endParaRPr lang="en-US" sz="1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CHAPTER 7 — “THE ALMANAC”</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Reading Focus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E5F7FC"/>
          </a:solidFill>
          <a:ln w="15875">
            <a:solidFill>
              <a:srgbClr val="A6DDEE"/>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 You are here: Chapter 7 — The Almanac</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Nat keeps sailing by ash breeze. He learns about rope, sails, navigation, surveying, and algebra — and then, at sixteen, he does something astonishing. Pay attention to how Latham builds the moment.</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STOPPING POINTS IN CHAPTER 7</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Pause &amp; Think</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0E8FF"/>
          </a:solidFill>
          <a:ln w="15875">
            <a:solidFill>
              <a:srgbClr val="D6C8F0"/>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Pause When Ben Asks About the Almanac: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What does Nat put in his almanac, and how does Ben react? Why does Nat say it is “just straight mathematics”?</a:t>
            </a:r>
            <a:endParaRPr lang="en-US" sz="2400" dirty="0"/>
          </a:p>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Pause at the End of Chapter 7: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What does Mr. Morris offer Nat, and why can’t Nat accept? Why does Nat’s imagined letter always stop after “The thing that freed me from my indenture was —”? What does this tell you about what he values?</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PART A: CHAPTER THINKING — CHAPTER 7 · WHAT STUDENTS WILL ANSWER</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Comprehension Questions — Preview</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b="1" dirty="0">
                <a:solidFill>
                  <a:srgbClr val="C7922C"/>
                </a:solidFill>
                <a:latin typeface="Calibri" pitchFamily="34" charset="0"/>
                <a:ea typeface="Calibri" pitchFamily="34" charset="-122"/>
                <a:cs typeface="Calibri" pitchFamily="34" charset="-120"/>
              </a:rPr>
              <a:t>1.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What almanac does Nat make at sixteen, and what does it include? What does Mr. Morris say about it?</a:t>
            </a:r>
            <a:endParaRPr lang="en-US" sz="2400" dirty="0"/>
          </a:p>
          <a:p>
            <a:pPr indent="0" marL="0">
              <a:spcAft>
                <a:spcPts val="1100"/>
              </a:spcAft>
              <a:buNone/>
            </a:pPr>
            <a:r>
              <a:rPr lang="en-US" sz="2400" b="1" dirty="0">
                <a:solidFill>
                  <a:srgbClr val="C7922C"/>
                </a:solidFill>
                <a:latin typeface="Calibri" pitchFamily="34" charset="0"/>
                <a:ea typeface="Calibri" pitchFamily="34" charset="-122"/>
                <a:cs typeface="Calibri" pitchFamily="34" charset="-120"/>
              </a:rPr>
              <a:t>2.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Why does Nat’s letter to Mr. Morris always stop after “The thing that freed me from my indenture was —”? What does this tell you about how Nat feels at the end of Chapter 7?</a:t>
            </a:r>
            <a:endParaRPr lang="en-US" sz="2400" dirty="0"/>
          </a:p>
          <a:p>
            <a:pPr indent="0" marL="0">
              <a:spcAft>
                <a:spcPts val="1100"/>
              </a:spcAft>
              <a:buNone/>
            </a:pPr>
            <a:r>
              <a:rPr lang="en-US" sz="2400" b="1" dirty="0">
                <a:solidFill>
                  <a:srgbClr val="C7922C"/>
                </a:solidFill>
                <a:latin typeface="Calibri" pitchFamily="34" charset="0"/>
                <a:ea typeface="Calibri" pitchFamily="34" charset="-122"/>
                <a:cs typeface="Calibri" pitchFamily="34" charset="-120"/>
              </a:rPr>
              <a:t>3.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How is Chapter 7 a continuation of the “ash breeze” idea from Chapter 6? How is Nat still rowing — still finding another way forward — even while working at the chandlery?</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PLAN · CHOOSE EVIDENCE FOR BODY SECTION 2</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10 · PLAN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Today’s focus: Same process as yesterday, but for your second body section. Today you find and rank evidence for Body 2.</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Watch How — Meet Alex, our example writer: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Alex now plans Body 2: making knowledge accessible. Four candidates Alex has collected so far, including later chapters (Chs. 6–16). BEFORE Alex’s options: (1) Corrects Moore’s Navigator errors. (2) Teaches sailors navigation by logarithms. (3) Calls it ‘a simple matter of mathematics.’ (4) Sam Smith says only weaklings give up when becalmed. AFTER Alex’s ranking for Body 2: (1) Correcting Moore’s — concrete achievement with stakes (sailors’ lives). (2) Teaching sailors — shows the ‘accessible to anyone’ part of the claim directly. Cuts: The Sam quote — important for Body 1 (self-made), less relevant here. The ‘simple matter’ quote — great but goes in Body 2 as a capstone, not evidence. Notice: The ‘simple matter’ quote is now planned as a capstone detail inside Body 2, not the main evidence. Evidence ≠ examples. Evidence is what PROVES your subtopic.</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PLAN · CHOOSE EVIDENCE FOR BODY SECTION 2</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10 · PLAN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Today’s Tool: Evidence Ranker (Body 2):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List 3–4 pieces of evidence for your Body 2 subtopic. Rank them, pick two. Alex’s example (filled): Alex’s subtopic: Making navigation accessible to everyone ① Correcting Moore’s Navigator ← STRONGEST (concrete, high-stakes) ② Teaching sailors ← 2nd STRONGEST (proves “accessible to anyone”) ③ Sam’s “ash breeze” quote ← move to Body 1 ④ “Simple matter of math” ← save as capstone inside Body 2 Your turn — do the same in your reading journal: My Body 2 subtopic: ___ Evidence option 1: ___ (chapters: ___) Strength: ___/3 Evidence option 2: ___ (chapters: ___) Strength: ___/3 Evidence option 3: ___ (chapters: ___) Strength: ___/3 I choose options ___ and ___ because: ___</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Sentence Frames You Can Borrow: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 second quality that supports my claim is ___.” “This is shown most clearly in Chapter ___ when ___.” “Unlike Body 1, which showed ___, this section will show...”</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Now you try. Use what Alex showed you. Borrow a sentence frame if you want. Type below.</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10.3 — Carry On, Mr. Bowditch, Chapter 7</dc:title>
  <dc:subject>PptxGenJS Presentation</dc:subject>
  <dc:creator>Optima Academy Online</dc:creator>
  <cp:lastModifiedBy>Optima Academy Online</cp:lastModifiedBy>
  <cp:revision>1</cp:revision>
  <dcterms:created xsi:type="dcterms:W3CDTF">2026-10-29T19:41:21Z</dcterms:created>
  <dcterms:modified xsi:type="dcterms:W3CDTF">2026-10-29T19:41:21Z</dcterms:modified>
</cp:coreProperties>
</file>