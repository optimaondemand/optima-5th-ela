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4, Day 3, Chapter 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 What are people willing to sacrifice for what they believe in — and when does standing up for your beliefs come with a real cost?
Reading: I will analyze how theme develops through repeated conflicts and consequences in Chapter 16.
Grammar: I will use consistent verb tenses when writing about the novel.
Spelling: I will apply accent and syllable stress patterns to spell words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 needed — tap-and-notice only. Discuss why each highlighted word/punctuation mark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"nat sit in the stocks yesterday and is grinning at the crowd with defiant humor"
Corrected: "Nat sat in the stocks yesterday and grinned at the crowd with defiant humor."
Capitalize “Nat” (proper noun). Change “sit” to “sat” (past tense — “yesterday” tells us it already happened). Change “is grinning” to “grinned” (keep the tense consistent — both verbs should be past tense). Add a period.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"nat sit in the stocks yesterday and is grinning at the crowd with defiant humor"
Corrected: "Nat sat in the stocks yesterday and grinned at the crowd with defiant humor."
Capitalize “Nat” (proper noun). Change “sit” to “sat” (past tense — “yesterday” tells us it already happened). Change “is grinning” to “grinned” (keep the tense consistent — both verbs should be past tense). Add a period.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prompt aloud. Remind students: pick a side, defend it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5-minute timer. Remind: choose a side, defend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Is this detail necessary, or can I cut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3-4 students. Encourage respectful disagreement about their choice/defense.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practice for the day. Practice only today — not the graded strand.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mode: Use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answers yet — students discuss and guess.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revealed — correct labels in green.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focus: 🔠 Spelling: Accent &amp; Syllable Stress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RWM sequence: Reader, Writer, Mimic. Reveal progressively if desired.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Tracker: Kit’s Path Through The Witch of Blackbird Pond — 📍 You are here: Chapter 16 — Consequences &amp; Convictions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only — students answer these after reading, in the Assignment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distinct from the Quick Write — it is graded reading-response writing tied directly to today's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3A5C"/>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4A90D9">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4A90D9"/>
                </a:solidFill>
                <a:latin typeface="Calibri" pitchFamily="34" charset="0"/>
                <a:ea typeface="Calibri" pitchFamily="34" charset="-122"/>
                <a:cs typeface="Calibri" pitchFamily="34" charset="-120"/>
              </a:rPr>
              <a:t>WEEK 4  ·  DAY 3</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The Witch of Blackbird Pond</a:t>
            </a:r>
            <a:endParaRPr lang="en-US" sz="3000" dirty="0"/>
          </a:p>
          <a:p>
            <a:pPr algn="l" indent="0" marL="0">
              <a:buNone/>
            </a:pPr>
            <a:r>
              <a:rPr lang="en-US" sz="3000" b="1" dirty="0">
                <a:solidFill>
                  <a:srgbClr val="FFFFFF"/>
                </a:solidFill>
                <a:latin typeface="Calibri" pitchFamily="34" charset="0"/>
                <a:ea typeface="Calibri" pitchFamily="34" charset="-122"/>
                <a:cs typeface="Calibri" pitchFamily="34" charset="-120"/>
              </a:rPr>
              <a:t>Chapter 16 — Consequences &amp; Convictions</a:t>
            </a:r>
            <a:endParaRPr lang="en-US" sz="30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4  ·  Virtue: Perseverance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Today's Objectives</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Text 2"/>
          <p:cNvSpPr/>
          <p:nvPr/>
        </p:nvSpPr>
        <p:spPr>
          <a:xfrm>
            <a:off x="365760" y="86868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5" name="Shape 3"/>
          <p:cNvSpPr/>
          <p:nvPr/>
        </p:nvSpPr>
        <p:spPr>
          <a:xfrm>
            <a:off x="365760" y="1115568"/>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07008"/>
            <a:ext cx="7955280" cy="594360"/>
          </a:xfrm>
          <a:prstGeom prst="rect">
            <a:avLst/>
          </a:prstGeom>
          <a:noFill/>
          <a:ln/>
        </p:spPr>
        <p:txBody>
          <a:bodyPr wrap="square" lIns="0" tIns="0" rIns="0" bIns="0" rtlCol="0" anchor="ctr"/>
          <a:lstStyle/>
          <a:p>
            <a:pPr indent="0" marL="0">
              <a:buNone/>
            </a:pPr>
            <a:r>
              <a:rPr lang="en-US" sz="1400" i="1" dirty="0">
                <a:solidFill>
                  <a:srgbClr val="1E293B"/>
                </a:solidFill>
                <a:latin typeface="Calibri" pitchFamily="34" charset="0"/>
                <a:ea typeface="Calibri" pitchFamily="34" charset="-122"/>
                <a:cs typeface="Calibri" pitchFamily="34" charset="-120"/>
              </a:rPr>
              <a:t>What are people willing to sacrifice for what they believe in — and when does standing up for your beliefs come with a real cost?</a:t>
            </a:r>
            <a:endParaRPr lang="en-US" sz="1400" dirty="0"/>
          </a:p>
        </p:txBody>
      </p:sp>
      <p:sp>
        <p:nvSpPr>
          <p:cNvPr id="7" name="Text 5"/>
          <p:cNvSpPr/>
          <p:nvPr/>
        </p:nvSpPr>
        <p:spPr>
          <a:xfrm>
            <a:off x="365760" y="20116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BY THE END OF THIS LESSON...</a:t>
            </a:r>
            <a:endParaRPr lang="en-US" sz="1100" dirty="0"/>
          </a:p>
        </p:txBody>
      </p:sp>
      <p:sp>
        <p:nvSpPr>
          <p:cNvPr id="8" name="Shape 6"/>
          <p:cNvSpPr/>
          <p:nvPr/>
        </p:nvSpPr>
        <p:spPr>
          <a:xfrm>
            <a:off x="365760" y="228600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377440"/>
            <a:ext cx="8046720" cy="530352"/>
          </a:xfrm>
          <a:prstGeom prst="rect">
            <a:avLst/>
          </a:prstGeom>
          <a:noFill/>
          <a:ln/>
        </p:spPr>
        <p:txBody>
          <a:bodyPr wrap="square" lIns="0" tIns="0" rIns="0" bIns="0" rtlCol="0" anchor="ctr"/>
          <a:lstStyle/>
          <a:p>
            <a:pPr indent="0" marL="0">
              <a:buNone/>
            </a:pPr>
            <a:r>
              <a:rPr lang="en-US" sz="1600" dirty="0">
                <a:solidFill>
                  <a:srgbClr val="000000"/>
                </a:solidFill>
              </a:rPr>
              <a:t>📖  </a:t>
            </a:r>
            <a:pPr indent="0" marL="0">
              <a:buNone/>
            </a:pPr>
            <a:r>
              <a:rPr lang="en-US" sz="1400" b="1" dirty="0">
                <a:solidFill>
                  <a:srgbClr val="0E1C42"/>
                </a:solidFill>
                <a:latin typeface="Calibri" pitchFamily="34" charset="0"/>
                <a:ea typeface="Calibri" pitchFamily="34" charset="-122"/>
                <a:cs typeface="Calibri" pitchFamily="34" charset="-120"/>
              </a:rPr>
              <a:t>Reading: </a:t>
            </a:r>
            <a:pPr indent="0" marL="0">
              <a:buNone/>
            </a:pPr>
            <a:r>
              <a:rPr lang="en-US" sz="1400" dirty="0">
                <a:solidFill>
                  <a:srgbClr val="1E293B"/>
                </a:solidFill>
                <a:latin typeface="Calibri" pitchFamily="34" charset="0"/>
                <a:ea typeface="Calibri" pitchFamily="34" charset="-122"/>
                <a:cs typeface="Calibri" pitchFamily="34" charset="-120"/>
              </a:rPr>
              <a:t>I will analyze how theme develops through repeated conflicts and consequences in Chapter 16.</a:t>
            </a:r>
            <a:endParaRPr lang="en-US" sz="1600" dirty="0"/>
          </a:p>
        </p:txBody>
      </p:sp>
      <p:sp>
        <p:nvSpPr>
          <p:cNvPr id="10" name="Shape 8"/>
          <p:cNvSpPr/>
          <p:nvPr/>
        </p:nvSpPr>
        <p:spPr>
          <a:xfrm>
            <a:off x="365760" y="310896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200400"/>
            <a:ext cx="8046720" cy="530352"/>
          </a:xfrm>
          <a:prstGeom prst="rect">
            <a:avLst/>
          </a:prstGeom>
          <a:noFill/>
          <a:ln/>
        </p:spPr>
        <p:txBody>
          <a:bodyPr wrap="square" lIns="0" tIns="0" rIns="0" bIns="0" rtlCol="0" anchor="ctr"/>
          <a:lstStyle/>
          <a:p>
            <a:pPr indent="0" marL="0">
              <a:buNone/>
            </a:pPr>
            <a:r>
              <a:rPr lang="en-US" sz="1600" dirty="0">
                <a:solidFill>
                  <a:srgbClr val="000000"/>
                </a:solidFill>
              </a:rPr>
              <a:t>✏️  </a:t>
            </a:r>
            <a:pPr indent="0" marL="0">
              <a:buNone/>
            </a:pPr>
            <a:r>
              <a:rPr lang="en-US" sz="1400" b="1" dirty="0">
                <a:solidFill>
                  <a:srgbClr val="0E1C42"/>
                </a:solidFill>
                <a:latin typeface="Calibri" pitchFamily="34" charset="0"/>
                <a:ea typeface="Calibri" pitchFamily="34" charset="-122"/>
                <a:cs typeface="Calibri" pitchFamily="34" charset="-120"/>
              </a:rPr>
              <a:t>Grammar: </a:t>
            </a:r>
            <a:pPr indent="0" marL="0">
              <a:buNone/>
            </a:pPr>
            <a:r>
              <a:rPr lang="en-US" sz="1400" dirty="0">
                <a:solidFill>
                  <a:srgbClr val="1E293B"/>
                </a:solidFill>
                <a:latin typeface="Calibri" pitchFamily="34" charset="0"/>
                <a:ea typeface="Calibri" pitchFamily="34" charset="-122"/>
                <a:cs typeface="Calibri" pitchFamily="34" charset="-120"/>
              </a:rPr>
              <a:t>I will use consistent verb tenses when writing about the novel.</a:t>
            </a:r>
            <a:endParaRPr lang="en-US" sz="1600" dirty="0"/>
          </a:p>
        </p:txBody>
      </p:sp>
      <p:sp>
        <p:nvSpPr>
          <p:cNvPr id="12" name="Shape 10"/>
          <p:cNvSpPr/>
          <p:nvPr/>
        </p:nvSpPr>
        <p:spPr>
          <a:xfrm>
            <a:off x="365760" y="393192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4023360"/>
            <a:ext cx="8046720" cy="530352"/>
          </a:xfrm>
          <a:prstGeom prst="rect">
            <a:avLst/>
          </a:prstGeom>
          <a:noFill/>
          <a:ln/>
        </p:spPr>
        <p:txBody>
          <a:bodyPr wrap="square" lIns="0" tIns="0" rIns="0" bIns="0" rtlCol="0" anchor="ctr"/>
          <a:lstStyle/>
          <a:p>
            <a:pPr indent="0" marL="0">
              <a:buNone/>
            </a:pPr>
            <a:r>
              <a:rPr lang="en-US" sz="1600" dirty="0">
                <a:solidFill>
                  <a:srgbClr val="000000"/>
                </a:solidFill>
              </a:rPr>
              <a:t>🔤  </a:t>
            </a:r>
            <a:pPr indent="0" marL="0">
              <a:buNone/>
            </a:pPr>
            <a:r>
              <a:rPr lang="en-US" sz="1400" b="1" dirty="0">
                <a:solidFill>
                  <a:srgbClr val="0E1C42"/>
                </a:solidFill>
                <a:latin typeface="Calibri" pitchFamily="34" charset="0"/>
                <a:ea typeface="Calibri" pitchFamily="34" charset="-122"/>
                <a:cs typeface="Calibri" pitchFamily="34" charset="-120"/>
              </a:rPr>
              <a:t>Spelling: </a:t>
            </a:r>
            <a:pPr indent="0" marL="0">
              <a:buNone/>
            </a:pPr>
            <a:r>
              <a:rPr lang="en-US" sz="1400" dirty="0">
                <a:solidFill>
                  <a:srgbClr val="1E293B"/>
                </a:solidFill>
                <a:latin typeface="Calibri" pitchFamily="34" charset="0"/>
                <a:ea typeface="Calibri" pitchFamily="34" charset="-122"/>
                <a:cs typeface="Calibri" pitchFamily="34" charset="-120"/>
              </a:rPr>
              <a:t>I will apply accent and syllable stress patterns to spell words correctly.</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What Good Readers Do</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SET YOUR READING LENS</a:t>
            </a:r>
            <a:endParaRPr lang="en-US" sz="1100" dirty="0"/>
          </a:p>
        </p:txBody>
      </p:sp>
      <p:sp>
        <p:nvSpPr>
          <p:cNvPr id="5" name="Shape 3"/>
          <p:cNvSpPr/>
          <p:nvPr/>
        </p:nvSpPr>
        <p:spPr>
          <a:xfrm>
            <a:off x="365760" y="1078992"/>
            <a:ext cx="8412480" cy="1051560"/>
          </a:xfrm>
          <a:prstGeom prst="roundRect">
            <a:avLst>
              <a:gd name="adj" fmla="val 8696"/>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70432"/>
            <a:ext cx="7955280" cy="8686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Good readers notice when an author develops theme through consequences . In Chapter 16, multiple characters act on their beliefs — and each one faces a cost. Nat pranks William and gets banished. John enlists and breaks with his mentor. Kit keeps visiting Hannah despite the risk. Track what happens when characters stand up for what they believe.</a:t>
            </a:r>
            <a:endParaRPr lang="en-US" sz="1300" dirty="0"/>
          </a:p>
        </p:txBody>
      </p:sp>
      <p:sp>
        <p:nvSpPr>
          <p:cNvPr id="7" name="Text 5"/>
          <p:cNvSpPr/>
          <p:nvPr/>
        </p:nvSpPr>
        <p:spPr>
          <a:xfrm>
            <a:off x="365760" y="228600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 WATCH FOR THIS AS YOU READ</a:t>
            </a:r>
            <a:endParaRPr lang="en-US" sz="1100" dirty="0"/>
          </a:p>
        </p:txBody>
      </p:sp>
      <p:sp>
        <p:nvSpPr>
          <p:cNvPr id="8" name="Shape 6"/>
          <p:cNvSpPr/>
          <p:nvPr/>
        </p:nvSpPr>
        <p:spPr>
          <a:xfrm>
            <a:off x="365760" y="2606040"/>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679192"/>
            <a:ext cx="8046720" cy="47548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  What does each character sacrifice for what they believe in? Is the cost worth it?</a:t>
            </a:r>
            <a:endParaRPr lang="en-US" sz="1300" dirty="0"/>
          </a:p>
        </p:txBody>
      </p:sp>
      <p:sp>
        <p:nvSpPr>
          <p:cNvPr id="10" name="Shape 8"/>
          <p:cNvSpPr/>
          <p:nvPr/>
        </p:nvSpPr>
        <p:spPr>
          <a:xfrm>
            <a:off x="365760" y="3319272"/>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392424"/>
            <a:ext cx="8046720" cy="47548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  How does Hannah’s wisdom — “thee has never escaped at all if love is not there” — connect to the choices other characters are making?</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Study What's Right</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TAP TO NOTICE</a:t>
            </a:r>
            <a:endParaRPr lang="en-US" sz="1100" dirty="0"/>
          </a:p>
        </p:txBody>
      </p:sp>
      <p:sp>
        <p:nvSpPr>
          <p:cNvPr id="5" name="Shape 3"/>
          <p:cNvSpPr/>
          <p:nvPr/>
        </p:nvSpPr>
        <p:spPr>
          <a:xfrm>
            <a:off x="365760" y="1078992"/>
            <a:ext cx="8412480" cy="914400"/>
          </a:xfrm>
          <a:prstGeom prst="roundRect">
            <a:avLst>
              <a:gd name="adj" fmla="val 10000"/>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6858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Nat sat in the stocks and grinned at the crowd with defiant humor .</a:t>
            </a:r>
            <a:endParaRPr lang="en-US" sz="1600" dirty="0"/>
          </a:p>
        </p:txBody>
      </p:sp>
      <p:sp>
        <p:nvSpPr>
          <p:cNvPr id="7" name="Text 5"/>
          <p:cNvSpPr/>
          <p:nvPr/>
        </p:nvSpPr>
        <p:spPr>
          <a:xfrm>
            <a:off x="365760" y="210312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EACH TAPPED WORD TEACHES</a:t>
            </a:r>
            <a:endParaRPr lang="en-US" sz="1100" dirty="0"/>
          </a:p>
        </p:txBody>
      </p:sp>
      <p:sp>
        <p:nvSpPr>
          <p:cNvPr id="8" name="Shape 6"/>
          <p:cNvSpPr/>
          <p:nvPr/>
        </p:nvSpPr>
        <p:spPr>
          <a:xfrm>
            <a:off x="365760" y="2377440"/>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432304"/>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Nat  </a:t>
            </a:r>
            <a:pPr indent="0" marL="0">
              <a:buNone/>
            </a:pPr>
            <a:r>
              <a:rPr lang="en-US" sz="1200" dirty="0">
                <a:solidFill>
                  <a:srgbClr val="1E293B"/>
                </a:solidFill>
                <a:latin typeface="Calibri" pitchFamily="34" charset="0"/>
                <a:ea typeface="Calibri" pitchFamily="34" charset="-122"/>
                <a:cs typeface="Calibri" pitchFamily="34" charset="-120"/>
              </a:rPr>
              <a:t>“Nat” is a proper noun — always capitalized.</a:t>
            </a:r>
            <a:endParaRPr lang="en-US" sz="1300" dirty="0"/>
          </a:p>
        </p:txBody>
      </p:sp>
      <p:sp>
        <p:nvSpPr>
          <p:cNvPr id="10" name="Shape 8"/>
          <p:cNvSpPr/>
          <p:nvPr/>
        </p:nvSpPr>
        <p:spPr>
          <a:xfrm>
            <a:off x="365760" y="2953512"/>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008376"/>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sat  </a:t>
            </a:r>
            <a:pPr indent="0" marL="0">
              <a:buNone/>
            </a:pPr>
            <a:r>
              <a:rPr lang="en-US" sz="1200" dirty="0">
                <a:solidFill>
                  <a:srgbClr val="1E293B"/>
                </a:solidFill>
                <a:latin typeface="Calibri" pitchFamily="34" charset="0"/>
                <a:ea typeface="Calibri" pitchFamily="34" charset="-122"/>
                <a:cs typeface="Calibri" pitchFamily="34" charset="-120"/>
              </a:rPr>
              <a:t>“Sat” is past tense of “sit.” It matches the past-tense verbs in the rest of the sentence.</a:t>
            </a:r>
            <a:endParaRPr lang="en-US" sz="1300" dirty="0"/>
          </a:p>
        </p:txBody>
      </p:sp>
      <p:sp>
        <p:nvSpPr>
          <p:cNvPr id="12" name="Shape 10"/>
          <p:cNvSpPr/>
          <p:nvPr/>
        </p:nvSpPr>
        <p:spPr>
          <a:xfrm>
            <a:off x="365760" y="3529584"/>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584448"/>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grinned  </a:t>
            </a:r>
            <a:pPr indent="0" marL="0">
              <a:buNone/>
            </a:pPr>
            <a:r>
              <a:rPr lang="en-US" sz="1200" dirty="0">
                <a:solidFill>
                  <a:srgbClr val="1E293B"/>
                </a:solidFill>
                <a:latin typeface="Calibri" pitchFamily="34" charset="0"/>
                <a:ea typeface="Calibri" pitchFamily="34" charset="-122"/>
                <a:cs typeface="Calibri" pitchFamily="34" charset="-120"/>
              </a:rPr>
              <a:t>“Grinned” is past tense — consistent with “sat.” Both verbs stay in the same tense.</a:t>
            </a:r>
            <a:endParaRPr lang="en-US" sz="1300" dirty="0"/>
          </a:p>
        </p:txBody>
      </p:sp>
      <p:sp>
        <p:nvSpPr>
          <p:cNvPr id="14" name="Shape 12"/>
          <p:cNvSpPr/>
          <p:nvPr/>
        </p:nvSpPr>
        <p:spPr>
          <a:xfrm>
            <a:off x="365760" y="4105656"/>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5" name="Text 13"/>
          <p:cNvSpPr/>
          <p:nvPr/>
        </p:nvSpPr>
        <p:spPr>
          <a:xfrm>
            <a:off x="548640" y="4160520"/>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defiant  </a:t>
            </a:r>
            <a:pPr indent="0" marL="0">
              <a:buNone/>
            </a:pPr>
            <a:r>
              <a:rPr lang="en-US" sz="1200" dirty="0">
                <a:solidFill>
                  <a:srgbClr val="1E293B"/>
                </a:solidFill>
                <a:latin typeface="Calibri" pitchFamily="34" charset="0"/>
                <a:ea typeface="Calibri" pitchFamily="34" charset="-122"/>
                <a:cs typeface="Calibri" pitchFamily="34" charset="-120"/>
              </a:rPr>
              <a:t>“Defiant” means boldly resistant — it describes Nat’s attitude.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nat sit in the stocks yesterday and is grinning at the crowd with defiant humor</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nat sit in the stocks yesterday and is grinning at the crowd with defiant humor</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468880"/>
            <a:ext cx="8412480" cy="1371600"/>
          </a:xfrm>
          <a:prstGeom prst="roundRect">
            <a:avLst>
              <a:gd name="adj" fmla="val 6667"/>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6032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12" name="Text 10"/>
          <p:cNvSpPr/>
          <p:nvPr/>
        </p:nvSpPr>
        <p:spPr>
          <a:xfrm>
            <a:off x="594360" y="2834640"/>
            <a:ext cx="7955280" cy="457200"/>
          </a:xfrm>
          <a:prstGeom prst="rect">
            <a:avLst/>
          </a:prstGeom>
          <a:noFill/>
          <a:ln/>
        </p:spPr>
        <p:txBody>
          <a:bodyPr wrap="square" lIns="0" tIns="0" rIns="0" bIns="0" rtlCol="0" anchor="ctr"/>
          <a:lstStyle/>
          <a:p>
            <a:pPr indent="0" marL="0">
              <a:buNone/>
            </a:pPr>
            <a:r>
              <a:rPr lang="en-US" sz="1500" b="1" i="1" dirty="0">
                <a:solidFill>
                  <a:srgbClr val="1E293B"/>
                </a:solidFill>
                <a:latin typeface="Calibri" pitchFamily="34" charset="0"/>
                <a:ea typeface="Calibri" pitchFamily="34" charset="-122"/>
                <a:cs typeface="Calibri" pitchFamily="34" charset="-120"/>
              </a:rPr>
              <a:t>Nat sat in the stocks yesterday and grinned at the crowd with defiant humor.</a:t>
            </a:r>
            <a:endParaRPr lang="en-US" sz="1500" dirty="0"/>
          </a:p>
        </p:txBody>
      </p:sp>
      <p:sp>
        <p:nvSpPr>
          <p:cNvPr id="13" name="Text 11"/>
          <p:cNvSpPr/>
          <p:nvPr/>
        </p:nvSpPr>
        <p:spPr>
          <a:xfrm>
            <a:off x="594360" y="3310128"/>
            <a:ext cx="7955280" cy="45720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Capitalize “Nat” (proper noun). Change “sit” to “sat” (past tense — “yesterday” tells us it already happened). Change “is grinning” to “grinned” (keep the tense consistent — both verbs should be past tense). Add a period.</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Quick Write (Optional)</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1440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 READ THE PROMPT — 1 MINUTE</a:t>
            </a:r>
            <a:endParaRPr lang="en-US" sz="1100" dirty="0"/>
          </a:p>
        </p:txBody>
      </p:sp>
      <p:sp>
        <p:nvSpPr>
          <p:cNvPr id="5" name="Shape 3"/>
          <p:cNvSpPr/>
          <p:nvPr/>
        </p:nvSpPr>
        <p:spPr>
          <a:xfrm>
            <a:off x="457200" y="1280160"/>
            <a:ext cx="8229600" cy="1371600"/>
          </a:xfrm>
          <a:prstGeom prst="roundRect">
            <a:avLst>
              <a:gd name="adj" fmla="val 6667"/>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389888"/>
            <a:ext cx="7863840" cy="11430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Who sacrifices more for what they believe in this chapter — Nat, John, or Hannah? Pick one and defend your choice with evidence from Chapter 16.</a:t>
            </a:r>
            <a:endParaRPr lang="en-US" sz="1600" dirty="0"/>
          </a:p>
        </p:txBody>
      </p:sp>
      <p:sp>
        <p:nvSpPr>
          <p:cNvPr id="7" name="Text 5"/>
          <p:cNvSpPr/>
          <p:nvPr/>
        </p:nvSpPr>
        <p:spPr>
          <a:xfrm>
            <a:off x="457200" y="283464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SENTENCE SCAFFOLD (USE WHAT HELPS)</a:t>
            </a:r>
            <a:endParaRPr lang="en-US" sz="1100" dirty="0"/>
          </a:p>
        </p:txBody>
      </p:sp>
      <p:sp>
        <p:nvSpPr>
          <p:cNvPr id="8" name="Text 6"/>
          <p:cNvSpPr/>
          <p:nvPr/>
        </p:nvSpPr>
        <p:spPr>
          <a:xfrm>
            <a:off x="457200" y="3127248"/>
            <a:ext cx="8229600" cy="822960"/>
          </a:xfrm>
          <a:prstGeom prst="rect">
            <a:avLst/>
          </a:prstGeom>
          <a:noFill/>
          <a:ln/>
        </p:spPr>
        <p:txBody>
          <a:bodyPr wrap="square" lIns="0" tIns="0" rIns="0" bIns="0" rtlCol="0" anchor="ctr"/>
          <a:lstStyle/>
          <a:p>
            <a:pPr indent="0" marL="0">
              <a:buNone/>
            </a:pPr>
            <a:r>
              <a:rPr lang="en-US" sz="1200" i="1" dirty="0">
                <a:solidFill>
                  <a:srgbClr val="0E1C42"/>
                </a:solidFill>
                <a:latin typeface="Calibri" pitchFamily="34" charset="0"/>
                <a:ea typeface="Calibri" pitchFamily="34" charset="-122"/>
                <a:cs typeface="Calibri" pitchFamily="34" charset="-120"/>
              </a:rPr>
              <a:t>I think...   →   because...   →   One piece of evidence is...   →   This matters because...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  Writing Time</a:t>
            </a:r>
            <a:endParaRPr lang="en-US" sz="3000" dirty="0"/>
          </a:p>
        </p:txBody>
      </p:sp>
      <p:sp>
        <p:nvSpPr>
          <p:cNvPr id="3" name="Text 1"/>
          <p:cNvSpPr/>
          <p:nvPr/>
        </p:nvSpPr>
        <p:spPr>
          <a:xfrm>
            <a:off x="914400" y="804672"/>
            <a:ext cx="7315200" cy="365760"/>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5 minutes — keep your pencil moving!</a:t>
            </a:r>
            <a:endParaRPr lang="en-US" sz="1500" dirty="0"/>
          </a:p>
        </p:txBody>
      </p:sp>
      <p:sp>
        <p:nvSpPr>
          <p:cNvPr id="4" name="Shape 2"/>
          <p:cNvSpPr/>
          <p:nvPr/>
        </p:nvSpPr>
        <p:spPr>
          <a:xfrm>
            <a:off x="457200" y="1325880"/>
            <a:ext cx="8229600" cy="1188720"/>
          </a:xfrm>
          <a:prstGeom prst="roundRect">
            <a:avLst>
              <a:gd name="adj" fmla="val 7692"/>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371600"/>
            <a:ext cx="7863840" cy="109728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 Prompt: </a:t>
            </a:r>
            <a:pPr indent="0" marL="0">
              <a:buNone/>
            </a:pPr>
            <a:r>
              <a:rPr lang="en-US" sz="1200" i="1" dirty="0">
                <a:solidFill>
                  <a:srgbClr val="1E293B"/>
                </a:solidFill>
                <a:latin typeface="Calibri" pitchFamily="34" charset="0"/>
                <a:ea typeface="Calibri" pitchFamily="34" charset="-122"/>
                <a:cs typeface="Calibri" pitchFamily="34" charset="-120"/>
              </a:rPr>
              <a:t>Who sacrifices more for what they believe in this chapter — Nat, John, or Hannah? Pick one and defend your choice with evidence from Chapter 16.</a:t>
            </a:r>
            <a:endParaRPr lang="en-US" sz="1200" dirty="0"/>
          </a:p>
        </p:txBody>
      </p:sp>
      <p:sp>
        <p:nvSpPr>
          <p:cNvPr id="6" name="Shape 4"/>
          <p:cNvSpPr/>
          <p:nvPr/>
        </p:nvSpPr>
        <p:spPr>
          <a:xfrm>
            <a:off x="1554480" y="2743200"/>
            <a:ext cx="6035040" cy="1600200"/>
          </a:xfrm>
          <a:prstGeom prst="roundRect">
            <a:avLst>
              <a:gd name="adj" fmla="val 6857"/>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737360" y="2834640"/>
            <a:ext cx="5669280" cy="14173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Scaffold, if you need it:
</a:t>
            </a:r>
            <a:pPr indent="0" marL="0">
              <a:buNone/>
            </a:pPr>
            <a:r>
              <a:rPr lang="en-US" sz="1200" dirty="0">
                <a:solidFill>
                  <a:srgbClr val="1E293B"/>
                </a:solidFill>
                <a:latin typeface="Calibri" pitchFamily="34" charset="0"/>
                <a:ea typeface="Calibri" pitchFamily="34" charset="-122"/>
                <a:cs typeface="Calibri" pitchFamily="34" charset="-120"/>
              </a:rPr>
              <a:t>I think...</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because...</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One piece of evidence is...</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This matters because...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3657600" y="320040"/>
            <a:ext cx="1828800" cy="548640"/>
          </a:xfrm>
          <a:prstGeom prst="rect">
            <a:avLst/>
          </a:prstGeom>
          <a:noFill/>
          <a:ln/>
        </p:spPr>
        <p:txBody>
          <a:bodyPr wrap="square" lIns="0" tIns="0" rIns="0" bIns="0" rtlCol="0" anchor="ctr"/>
          <a:lstStyle/>
          <a:p>
            <a:pPr algn="ctr" indent="0" marL="0">
              <a:buNone/>
            </a:pPr>
            <a:r>
              <a:rPr lang="en-US" sz="3600" dirty="0">
                <a:solidFill>
                  <a:srgbClr val="000000"/>
                </a:solidFill>
              </a:rPr>
              <a:t>🔍</a:t>
            </a:r>
            <a:endParaRPr lang="en-US" sz="3600" dirty="0"/>
          </a:p>
        </p:txBody>
      </p:sp>
      <p:sp>
        <p:nvSpPr>
          <p:cNvPr id="3" name="Text 1"/>
          <p:cNvSpPr/>
          <p:nvPr/>
        </p:nvSpPr>
        <p:spPr>
          <a:xfrm>
            <a:off x="914400" y="822960"/>
            <a:ext cx="7315200" cy="594360"/>
          </a:xfrm>
          <a:prstGeom prst="rect">
            <a:avLst/>
          </a:prstGeom>
          <a:noFill/>
          <a:ln/>
        </p:spPr>
        <p:txBody>
          <a:bodyPr wrap="square" lIns="0" tIns="0" rIns="0" bIns="0" rtlCol="0" anchor="ctr"/>
          <a:lstStyle/>
          <a:p>
            <a:pPr algn="ctr" indent="0" marL="0">
              <a:buNone/>
            </a:pPr>
            <a:r>
              <a:rPr lang="en-US" sz="2800" b="1" dirty="0">
                <a:solidFill>
                  <a:srgbClr val="0E1C42"/>
                </a:solidFill>
                <a:latin typeface="Calibri" pitchFamily="34" charset="0"/>
                <a:ea typeface="Calibri" pitchFamily="34" charset="-122"/>
                <a:cs typeface="Calibri" pitchFamily="34" charset="-120"/>
              </a:rPr>
              <a:t>Edit &amp; Revise</a:t>
            </a:r>
            <a:endParaRPr lang="en-US" sz="2800" dirty="0"/>
          </a:p>
        </p:txBody>
      </p:sp>
      <p:sp>
        <p:nvSpPr>
          <p:cNvPr id="4" name="Text 2"/>
          <p:cNvSpPr/>
          <p:nvPr/>
        </p:nvSpPr>
        <p:spPr>
          <a:xfrm>
            <a:off x="914400" y="1371600"/>
            <a:ext cx="7315200" cy="411480"/>
          </a:xfrm>
          <a:prstGeom prst="rect">
            <a:avLst/>
          </a:prstGeom>
          <a:noFill/>
          <a:ln/>
        </p:spPr>
        <p:txBody>
          <a:bodyPr wrap="square" lIns="0" tIns="0" rIns="0" bIns="0" rtlCol="0" anchor="ctr"/>
          <a:lstStyle/>
          <a:p>
            <a:pPr algn="ctr" indent="0" marL="0">
              <a:buNone/>
            </a:pPr>
            <a:r>
              <a:rPr lang="en-US" sz="1400" dirty="0">
                <a:solidFill>
                  <a:srgbClr val="34B76F"/>
                </a:solidFill>
                <a:latin typeface="Calibri" pitchFamily="34" charset="0"/>
                <a:ea typeface="Calibri" pitchFamily="34" charset="-122"/>
                <a:cs typeface="Calibri" pitchFamily="34" charset="-120"/>
              </a:rPr>
              <a:t>1 minute — one deliberate decision, not a full edit pass</a:t>
            </a:r>
            <a:endParaRPr lang="en-US" sz="1400" dirty="0"/>
          </a:p>
        </p:txBody>
      </p:sp>
      <p:sp>
        <p:nvSpPr>
          <p:cNvPr id="5" name="Shape 3"/>
          <p:cNvSpPr/>
          <p:nvPr/>
        </p:nvSpPr>
        <p:spPr>
          <a:xfrm>
            <a:off x="1188720" y="2011680"/>
            <a:ext cx="676656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1371600" y="2084832"/>
            <a:ext cx="6400800" cy="640080"/>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Today's revision check: </a:t>
            </a:r>
            <a:pPr indent="0" marL="0">
              <a:buNone/>
            </a:pPr>
            <a:r>
              <a:rPr lang="en-US" sz="1300" dirty="0">
                <a:solidFill>
                  <a:srgbClr val="1E293B"/>
                </a:solidFill>
                <a:latin typeface="Calibri" pitchFamily="34" charset="0"/>
                <a:ea typeface="Calibri" pitchFamily="34" charset="-122"/>
                <a:cs typeface="Calibri" pitchFamily="34" charset="-120"/>
              </a:rPr>
              <a:t>Is this detail necessary, or can I cut it?</a:t>
            </a:r>
            <a:endParaRPr lang="en-US" sz="1300" dirty="0"/>
          </a:p>
        </p:txBody>
      </p:sp>
      <p:sp>
        <p:nvSpPr>
          <p:cNvPr id="7" name="Text 5"/>
          <p:cNvSpPr/>
          <p:nvPr/>
        </p:nvSpPr>
        <p:spPr>
          <a:xfrm>
            <a:off x="1188720" y="3017520"/>
            <a:ext cx="6766560" cy="457200"/>
          </a:xfrm>
          <a:prstGeom prst="rect">
            <a:avLst/>
          </a:prstGeom>
          <a:noFill/>
          <a:ln/>
        </p:spPr>
        <p:txBody>
          <a:bodyPr wrap="square" lIns="0" tIns="0" rIns="0" bIns="0"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Revision = improving ideas. Editing = fixing conventions. Pick ONE thing.</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0" y="457200"/>
            <a:ext cx="1828800" cy="640080"/>
          </a:xfrm>
          <a:prstGeom prst="rect">
            <a:avLst/>
          </a:prstGeom>
          <a:noFill/>
          <a:ln/>
        </p:spPr>
        <p:txBody>
          <a:bodyPr wrap="square" lIns="0" tIns="0" rIns="0" bIns="0" rtlCol="0" anchor="ctr"/>
          <a:lstStyle/>
          <a:p>
            <a:pPr algn="ctr" indent="0" marL="0">
              <a:buNone/>
            </a:pPr>
            <a:r>
              <a:rPr lang="en-US" sz="4000" dirty="0">
                <a:solidFill>
                  <a:srgbClr val="000000"/>
                </a:solidFill>
              </a:rPr>
              <a:t>🗣️</a:t>
            </a:r>
            <a:endParaRPr lang="en-US" sz="4000" dirty="0"/>
          </a:p>
        </p:txBody>
      </p:sp>
      <p:sp>
        <p:nvSpPr>
          <p:cNvPr id="3" name="Text 1"/>
          <p:cNvSpPr/>
          <p:nvPr/>
        </p:nvSpPr>
        <p:spPr>
          <a:xfrm>
            <a:off x="914400" y="1005840"/>
            <a:ext cx="7315200" cy="59436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Share Time</a:t>
            </a:r>
            <a:endParaRPr lang="en-US" sz="3000" dirty="0"/>
          </a:p>
        </p:txBody>
      </p:sp>
      <p:sp>
        <p:nvSpPr>
          <p:cNvPr id="4" name="Text 2"/>
          <p:cNvSpPr/>
          <p:nvPr/>
        </p:nvSpPr>
        <p:spPr>
          <a:xfrm>
            <a:off x="914400" y="15544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3 minutes — let's hear your thinking!</a:t>
            </a:r>
            <a:endParaRPr lang="en-US" sz="1500" dirty="0"/>
          </a:p>
        </p:txBody>
      </p:sp>
      <p:sp>
        <p:nvSpPr>
          <p:cNvPr id="5" name="Shape 3"/>
          <p:cNvSpPr/>
          <p:nvPr/>
        </p:nvSpPr>
        <p:spPr>
          <a:xfrm>
            <a:off x="1828800" y="2194560"/>
            <a:ext cx="5486400" cy="1371600"/>
          </a:xfrm>
          <a:prstGeom prst="roundRect">
            <a:avLst>
              <a:gd name="adj" fmla="val 8000"/>
            </a:avLst>
          </a:prstGeom>
          <a:solidFill>
            <a:srgbClr val="FFFFFF"/>
          </a:solidFill>
          <a:ln/>
          <a:effectLst>
            <a:outerShdw sx="100000" sy="100000" kx="0" ky="0" algn="bl" rotWithShape="0" blurRad="101600" dist="38100" dir="2700000">
              <a:srgbClr val="000000">
                <a:alpha val="12000"/>
              </a:srgbClr>
            </a:outerShdw>
          </a:effectLst>
        </p:spPr>
      </p:sp>
      <p:sp>
        <p:nvSpPr>
          <p:cNvPr id="6" name="Text 4"/>
          <p:cNvSpPr/>
          <p:nvPr/>
        </p:nvSpPr>
        <p:spPr>
          <a:xfrm>
            <a:off x="2011680" y="2286000"/>
            <a:ext cx="5120640" cy="11887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Raise your hand </a:t>
            </a:r>
            <a:pPr indent="0" marL="0">
              <a:buNone/>
            </a:pPr>
            <a:r>
              <a:rPr lang="en-US" sz="1300" dirty="0">
                <a:solidFill>
                  <a:srgbClr val="1E293B"/>
                </a:solidFill>
                <a:latin typeface="Calibri" pitchFamily="34" charset="0"/>
                <a:ea typeface="Calibri" pitchFamily="34" charset="-122"/>
                <a:cs typeface="Calibri" pitchFamily="34" charset="-120"/>
              </a:rPr>
              <a:t>to share, or paste your writing in the chat.
</a:t>
            </a:r>
            <a:pPr indent="0" marL="0">
              <a:buNone/>
            </a:pPr>
            <a:r>
              <a:rPr lang="en-US" sz="1200" i="1" dirty="0">
                <a:solidFill>
                  <a:srgbClr val="64748B"/>
                </a:solidFill>
                <a:latin typeface="Calibri" pitchFamily="34" charset="0"/>
                <a:ea typeface="Calibri" pitchFamily="34" charset="-122"/>
                <a:cs typeface="Calibri" pitchFamily="34" charset="-120"/>
              </a:rPr>
              <a:t>If you disagree with a classmate's choice, say so respectfully — that's part of the thinking.</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Morphology</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Morphology: Suffixes -able / -ible</a:t>
            </a:r>
            <a:endParaRPr lang="en-US" sz="1100" dirty="0"/>
          </a:p>
        </p:txBody>
      </p:sp>
      <p:sp>
        <p:nvSpPr>
          <p:cNvPr id="5" name="Shape 3"/>
          <p:cNvSpPr/>
          <p:nvPr/>
        </p:nvSpPr>
        <p:spPr>
          <a:xfrm>
            <a:off x="365760" y="1097280"/>
            <a:ext cx="8412480" cy="502920"/>
          </a:xfrm>
          <a:prstGeom prst="roundRect">
            <a:avLst>
              <a:gd name="adj" fmla="val 18182"/>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393192"/>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bear (verb) + -able = bearable — able to be endured | remark (verb) + -able = remarkable — worthy of notice | sense (noun) + -ible = sensible — showing good sense | resist (verb) + -ible = irresistible — impossible to resist</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Vocabulary — Use It</a:t>
            </a:r>
            <a:endParaRPr lang="en-US" sz="2600" dirty="0"/>
          </a:p>
        </p:txBody>
      </p:sp>
      <p:sp>
        <p:nvSpPr>
          <p:cNvPr id="3" name="Shape 1"/>
          <p:cNvSpPr/>
          <p:nvPr/>
        </p:nvSpPr>
        <p:spPr>
          <a:xfrm>
            <a:off x="365760" y="749808"/>
            <a:ext cx="8412480" cy="0"/>
          </a:xfrm>
          <a:prstGeom prst="line">
            <a:avLst/>
          </a:prstGeom>
          <a:noFill/>
          <a:ln w="19050">
            <a:solidFill>
              <a:srgbClr val="55C8E8"/>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Cloze sentences — choose the right word</a:t>
            </a:r>
            <a:endParaRPr lang="en-US" sz="1100" dirty="0"/>
          </a:p>
        </p:txBody>
      </p:sp>
      <p:sp>
        <p:nvSpPr>
          <p:cNvPr id="5" name="Shape 3"/>
          <p:cNvSpPr/>
          <p:nvPr/>
        </p:nvSpPr>
        <p:spPr>
          <a:xfrm>
            <a:off x="365760" y="1097280"/>
            <a:ext cx="8412480" cy="548640"/>
          </a:xfrm>
          <a:prstGeom prst="roundRect">
            <a:avLst>
              <a:gd name="adj" fmla="val 16667"/>
            </a:avLst>
          </a:prstGeom>
          <a:solidFill>
            <a:srgbClr val="E5F7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438912"/>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Nat was ___ from Wethersfield and forbidden to return.</a:t>
            </a:r>
            <a:endParaRPr lang="en-US" sz="1200" dirty="0"/>
          </a:p>
        </p:txBody>
      </p:sp>
      <p:sp>
        <p:nvSpPr>
          <p:cNvPr id="7" name="Shape 5"/>
          <p:cNvSpPr/>
          <p:nvPr/>
        </p:nvSpPr>
        <p:spPr>
          <a:xfrm>
            <a:off x="365760" y="1709928"/>
            <a:ext cx="8412480" cy="548640"/>
          </a:xfrm>
          <a:prstGeom prst="roundRect">
            <a:avLst>
              <a:gd name="adj" fmla="val 16667"/>
            </a:avLst>
          </a:prstGeom>
          <a:solidFill>
            <a:srgbClr val="E5F7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64792"/>
            <a:ext cx="8046720" cy="438912"/>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The townspeople demanded ___ for Nat’s prank — they wanted him punished.</a:t>
            </a:r>
            <a:endParaRPr lang="en-US" sz="1200" dirty="0"/>
          </a:p>
        </p:txBody>
      </p:sp>
      <p:sp>
        <p:nvSpPr>
          <p:cNvPr id="9" name="Shape 7"/>
          <p:cNvSpPr/>
          <p:nvPr/>
        </p:nvSpPr>
        <p:spPr>
          <a:xfrm>
            <a:off x="365760" y="2322576"/>
            <a:ext cx="8412480" cy="548640"/>
          </a:xfrm>
          <a:prstGeom prst="roundRect">
            <a:avLst>
              <a:gd name="adj" fmla="val 16667"/>
            </a:avLst>
          </a:prstGeom>
          <a:solidFill>
            <a:srgbClr val="E5F7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377440"/>
            <a:ext cx="8046720" cy="438912"/>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The magistrate asked who the ___ were, and Nat stepped forward.</a:t>
            </a:r>
            <a:endParaRPr lang="en-US" sz="1200" dirty="0"/>
          </a:p>
        </p:txBody>
      </p:sp>
      <p:sp>
        <p:nvSpPr>
          <p:cNvPr id="11" name="Shape 9"/>
          <p:cNvSpPr/>
          <p:nvPr/>
        </p:nvSpPr>
        <p:spPr>
          <a:xfrm>
            <a:off x="365760" y="2935224"/>
            <a:ext cx="8412480" cy="548640"/>
          </a:xfrm>
          <a:prstGeom prst="roundRect">
            <a:avLst>
              <a:gd name="adj" fmla="val 16667"/>
            </a:avLst>
          </a:prstGeom>
          <a:solidFill>
            <a:srgbClr val="E5F7FC"/>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2990088"/>
            <a:ext cx="8046720" cy="438912"/>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Kit had a ___ that the secret lessons with Prudence would be discovered.</a:t>
            </a:r>
            <a:endParaRPr lang="en-US" sz="1200" dirty="0"/>
          </a:p>
        </p:txBody>
      </p:sp>
      <p:sp>
        <p:nvSpPr>
          <p:cNvPr id="13" name="Shape 11"/>
          <p:cNvSpPr/>
          <p:nvPr/>
        </p:nvSpPr>
        <p:spPr>
          <a:xfrm>
            <a:off x="365760" y="3547872"/>
            <a:ext cx="8412480" cy="548640"/>
          </a:xfrm>
          <a:prstGeom prst="roundRect">
            <a:avLst>
              <a:gd name="adj" fmla="val 16667"/>
            </a:avLst>
          </a:prstGeom>
          <a:solidFill>
            <a:srgbClr val="E5F7FC"/>
          </a:solidFill>
          <a:ln/>
          <a:effectLst>
            <a:outerShdw sx="100000" sy="100000" kx="0" ky="0" algn="bl" rotWithShape="0" blurRad="101600" dist="38100" dir="2700000">
              <a:srgbClr val="000000">
                <a:alpha val="12000"/>
              </a:srgbClr>
            </a:outerShdw>
          </a:effectLst>
        </p:spPr>
      </p:sp>
      <p:sp>
        <p:nvSpPr>
          <p:cNvPr id="14" name="Text 12"/>
          <p:cNvSpPr/>
          <p:nvPr/>
        </p:nvSpPr>
        <p:spPr>
          <a:xfrm>
            <a:off x="548640" y="3602736"/>
            <a:ext cx="8046720" cy="438912"/>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Hannah spoke of ___ — the idea that wrongdoers should feel sorry and change.</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 Grammar: Verb Tense Consistency</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Use — Rewrite sentences to fix tense shifts</a:t>
            </a:r>
            <a:endParaRPr lang="en-US" sz="1100" dirty="0"/>
          </a:p>
        </p:txBody>
      </p:sp>
      <p:sp>
        <p:nvSpPr>
          <p:cNvPr id="7" name="Text 5"/>
          <p:cNvSpPr/>
          <p:nvPr/>
        </p:nvSpPr>
        <p:spPr>
          <a:xfrm>
            <a:off x="365760" y="1078992"/>
            <a:ext cx="8412480" cy="5943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Inconsistent (wrong): Nat sat in the stocks and is grinning at the crowd. ← shifts from past to present Consistent (correct): Nat sat in the stocks and grinned at the crowd. ← both verbs are past tense</a:t>
            </a:r>
            <a:endParaRPr lang="en-US" sz="1100" dirty="0"/>
          </a:p>
        </p:txBody>
      </p:sp>
      <p:sp>
        <p:nvSpPr>
          <p:cNvPr id="8" name="Shape 6"/>
          <p:cNvSpPr/>
          <p:nvPr/>
        </p:nvSpPr>
        <p:spPr>
          <a:xfrm>
            <a:off x="365760" y="173736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79222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Which version keeps the tense consistent?
</a:t>
            </a:r>
            <a:pPr indent="0" marL="0">
              <a:buNone/>
            </a:pPr>
            <a:r>
              <a:rPr lang="en-US" sz="1100" dirty="0">
                <a:solidFill>
                  <a:srgbClr val="64748B"/>
                </a:solidFill>
                <a:latin typeface="Calibri" pitchFamily="34" charset="0"/>
                <a:ea typeface="Calibri" pitchFamily="34" charset="-122"/>
                <a:cs typeface="Calibri" pitchFamily="34" charset="-120"/>
              </a:rPr>
              <a:t>Kit visited Nat in the stocks and tries not to cry.   /   Kit visited Nat in the stocks and tried not to cry.</a:t>
            </a:r>
            <a:endParaRPr lang="en-US" sz="1200" dirty="0"/>
          </a:p>
        </p:txBody>
      </p:sp>
      <p:sp>
        <p:nvSpPr>
          <p:cNvPr id="10" name="Shape 8"/>
          <p:cNvSpPr/>
          <p:nvPr/>
        </p:nvSpPr>
        <p:spPr>
          <a:xfrm>
            <a:off x="365760" y="246888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52374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Which version keeps the tense consistent?
</a:t>
            </a:r>
            <a:pPr indent="0" marL="0">
              <a:buNone/>
            </a:pPr>
            <a:r>
              <a:rPr lang="en-US" sz="1100" dirty="0">
                <a:solidFill>
                  <a:srgbClr val="64748B"/>
                </a:solidFill>
                <a:latin typeface="Calibri" pitchFamily="34" charset="0"/>
                <a:ea typeface="Calibri" pitchFamily="34" charset="-122"/>
                <a:cs typeface="Calibri" pitchFamily="34" charset="-120"/>
              </a:rPr>
              <a:t>Hannah looked at Kit and asked about William.   /   Hannah looked at Kit and asks about William.</a:t>
            </a:r>
            <a:endParaRPr lang="en-US" sz="1200" dirty="0"/>
          </a:p>
        </p:txBody>
      </p:sp>
      <p:sp>
        <p:nvSpPr>
          <p:cNvPr id="12" name="Shape 10"/>
          <p:cNvSpPr/>
          <p:nvPr/>
        </p:nvSpPr>
        <p:spPr>
          <a:xfrm>
            <a:off x="365760" y="320040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25526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Which version keeps the tense consistent?
</a:t>
            </a:r>
            <a:pPr indent="0" marL="0">
              <a:buNone/>
            </a:pPr>
            <a:r>
              <a:rPr lang="en-US" sz="1100" dirty="0">
                <a:solidFill>
                  <a:srgbClr val="64748B"/>
                </a:solidFill>
                <a:latin typeface="Calibri" pitchFamily="34" charset="0"/>
                <a:ea typeface="Calibri" pitchFamily="34" charset="-122"/>
                <a:cs typeface="Calibri" pitchFamily="34" charset="-120"/>
              </a:rPr>
              <a:t>John enlisted in the militia and is breaking with Dr. Bulkeley.   /   John enlisted in the militia and broke with Dr. Bulkeley.</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 Grammar: Verb Tense Consistency</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Use — Rewrite sentences to fix tense shifts</a:t>
            </a:r>
            <a:endParaRPr lang="en-US" sz="1100" dirty="0"/>
          </a:p>
        </p:txBody>
      </p:sp>
      <p:sp>
        <p:nvSpPr>
          <p:cNvPr id="7" name="Text 5"/>
          <p:cNvSpPr/>
          <p:nvPr/>
        </p:nvSpPr>
        <p:spPr>
          <a:xfrm>
            <a:off x="365760" y="1078992"/>
            <a:ext cx="8412480" cy="5943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Inconsistent (wrong): Nat sat in the stocks and is grinning at the crowd. ← shifts from past to present Consistent (correct): Nat sat in the stocks and grinned at the crowd. ← both verbs are past tense</a:t>
            </a:r>
            <a:endParaRPr lang="en-US" sz="1100" dirty="0"/>
          </a:p>
        </p:txBody>
      </p:sp>
      <p:sp>
        <p:nvSpPr>
          <p:cNvPr id="8" name="Shape 6"/>
          <p:cNvSpPr/>
          <p:nvPr/>
        </p:nvSpPr>
        <p:spPr>
          <a:xfrm>
            <a:off x="365760" y="173736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79222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Which version keeps the tense consistent?
</a:t>
            </a:r>
            <a:pPr indent="0" marL="0">
              <a:buNone/>
            </a:pPr>
            <a:r>
              <a:rPr lang="en-US" sz="1200" b="1" dirty="0">
                <a:solidFill>
                  <a:srgbClr val="34B76F"/>
                </a:solidFill>
                <a:latin typeface="Calibri" pitchFamily="34" charset="0"/>
                <a:ea typeface="Calibri" pitchFamily="34" charset="-122"/>
                <a:cs typeface="Calibri" pitchFamily="34" charset="-120"/>
              </a:rPr>
              <a:t>✅ Kit visited Nat in the stocks and tried not to cry.</a:t>
            </a:r>
            <a:endParaRPr lang="en-US" sz="1200" dirty="0"/>
          </a:p>
        </p:txBody>
      </p:sp>
      <p:sp>
        <p:nvSpPr>
          <p:cNvPr id="10" name="Shape 8"/>
          <p:cNvSpPr/>
          <p:nvPr/>
        </p:nvSpPr>
        <p:spPr>
          <a:xfrm>
            <a:off x="365760" y="246888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52374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Which version keeps the tense consistent?
</a:t>
            </a:r>
            <a:pPr indent="0" marL="0">
              <a:buNone/>
            </a:pPr>
            <a:r>
              <a:rPr lang="en-US" sz="1200" b="1" dirty="0">
                <a:solidFill>
                  <a:srgbClr val="34B76F"/>
                </a:solidFill>
                <a:latin typeface="Calibri" pitchFamily="34" charset="0"/>
                <a:ea typeface="Calibri" pitchFamily="34" charset="-122"/>
                <a:cs typeface="Calibri" pitchFamily="34" charset="-120"/>
              </a:rPr>
              <a:t>✅ Hannah looked at Kit and asked about William.</a:t>
            </a:r>
            <a:endParaRPr lang="en-US" sz="1200" dirty="0"/>
          </a:p>
        </p:txBody>
      </p:sp>
      <p:sp>
        <p:nvSpPr>
          <p:cNvPr id="12" name="Shape 10"/>
          <p:cNvSpPr/>
          <p:nvPr/>
        </p:nvSpPr>
        <p:spPr>
          <a:xfrm>
            <a:off x="365760" y="320040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25526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Which version keeps the tense consistent?
</a:t>
            </a:r>
            <a:pPr indent="0" marL="0">
              <a:buNone/>
            </a:pPr>
            <a:r>
              <a:rPr lang="en-US" sz="1200" b="1" dirty="0">
                <a:solidFill>
                  <a:srgbClr val="34B76F"/>
                </a:solidFill>
                <a:latin typeface="Calibri" pitchFamily="34" charset="0"/>
                <a:ea typeface="Calibri" pitchFamily="34" charset="-122"/>
                <a:cs typeface="Calibri" pitchFamily="34" charset="-120"/>
              </a:rPr>
              <a:t>✅ John enlisted in the militia and broke with Dr. Bulkeley.</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Spelling — 🔠 Spelling: Accent &amp; Syllable Stress</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Apply — Identify stressed syllables and spell correctly</a:t>
            </a:r>
            <a:endParaRPr lang="en-US" sz="1100" dirty="0"/>
          </a:p>
        </p:txBody>
      </p:sp>
      <p:sp>
        <p:nvSpPr>
          <p:cNvPr id="7" name="Text 5"/>
          <p:cNvSpPr/>
          <p:nvPr/>
        </p:nvSpPr>
        <p:spPr>
          <a:xfrm>
            <a:off x="365760" y="1143000"/>
            <a:ext cx="402336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Stress on 1st Syllable</a:t>
            </a:r>
            <a:endParaRPr lang="en-US" sz="1300" dirty="0"/>
          </a:p>
        </p:txBody>
      </p:sp>
      <p:sp>
        <p:nvSpPr>
          <p:cNvPr id="8" name="Text 6"/>
          <p:cNvSpPr/>
          <p:nvPr/>
        </p:nvSpPr>
        <p:spPr>
          <a:xfrm>
            <a:off x="365760" y="1508760"/>
            <a:ext cx="402336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punishment  ·  banishment  ·  consequence</a:t>
            </a:r>
            <a:endParaRPr lang="en-US" sz="1300" dirty="0"/>
          </a:p>
        </p:txBody>
      </p:sp>
      <p:sp>
        <p:nvSpPr>
          <p:cNvPr id="9" name="Text 7"/>
          <p:cNvSpPr/>
          <p:nvPr/>
        </p:nvSpPr>
        <p:spPr>
          <a:xfrm>
            <a:off x="4663440" y="1143000"/>
            <a:ext cx="402336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Stress on 2nd Syllable</a:t>
            </a:r>
            <a:endParaRPr lang="en-US" sz="1300" dirty="0"/>
          </a:p>
        </p:txBody>
      </p:sp>
      <p:sp>
        <p:nvSpPr>
          <p:cNvPr id="10" name="Text 8"/>
          <p:cNvSpPr/>
          <p:nvPr/>
        </p:nvSpPr>
        <p:spPr>
          <a:xfrm>
            <a:off x="4663440" y="1508760"/>
            <a:ext cx="402336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repentance  ·  defiant  ·  conviction</a:t>
            </a:r>
            <a:endParaRPr lang="en-US" sz="1300" dirty="0"/>
          </a:p>
        </p:txBody>
      </p:sp>
      <p:sp>
        <p:nvSpPr>
          <p:cNvPr id="11" name="Shape 9"/>
          <p:cNvSpPr/>
          <p:nvPr/>
        </p:nvSpPr>
        <p:spPr>
          <a:xfrm>
            <a:off x="365760" y="3264408"/>
            <a:ext cx="8412480" cy="685800"/>
          </a:xfrm>
          <a:prstGeom prst="roundRect">
            <a:avLst>
              <a:gd name="adj" fmla="val 13333"/>
            </a:avLst>
          </a:prstGeom>
          <a:solidFill>
            <a:srgbClr val="FEF6E8"/>
          </a:solidFill>
          <a:ln w="12700">
            <a:solidFill>
              <a:srgbClr val="C7922C"/>
            </a:solidFill>
            <a:prstDash val="solid"/>
          </a:ln>
        </p:spPr>
      </p:sp>
      <p:sp>
        <p:nvSpPr>
          <p:cNvPr id="12" name="Text 10"/>
          <p:cNvSpPr/>
          <p:nvPr/>
        </p:nvSpPr>
        <p:spPr>
          <a:xfrm>
            <a:off x="548640" y="3319272"/>
            <a:ext cx="8046720" cy="548640"/>
          </a:xfrm>
          <a:prstGeom prst="rect">
            <a:avLst/>
          </a:prstGeom>
          <a:noFill/>
          <a:ln/>
        </p:spPr>
        <p:txBody>
          <a:bodyPr wrap="square" lIns="0" tIns="0" rIns="0" bIns="0" rtlCol="0" anchor="t"/>
          <a:lstStyle/>
          <a:p>
            <a:pPr indent="0" marL="0">
              <a:buNone/>
            </a:pPr>
            <a:r>
              <a:rPr lang="en-US" sz="1000" b="1" dirty="0">
                <a:solidFill>
                  <a:srgbClr val="C7922C"/>
                </a:solidFill>
                <a:latin typeface="Calibri" pitchFamily="34" charset="0"/>
                <a:ea typeface="Calibri" pitchFamily="34" charset="-122"/>
                <a:cs typeface="Calibri" pitchFamily="34" charset="-120"/>
              </a:rPr>
              <a:t>🫖 Show What You Know · Spelling
</a:t>
            </a:r>
            <a:pPr indent="0" marL="0">
              <a:buNone/>
            </a:pPr>
            <a:r>
              <a:rPr lang="en-US" sz="1000" i="1" dirty="0">
                <a:solidFill>
                  <a:srgbClr val="1E293B"/>
                </a:solidFill>
                <a:latin typeface="Calibri" pitchFamily="34" charset="0"/>
                <a:ea typeface="Calibri" pitchFamily="34" charset="-122"/>
                <a:cs typeface="Calibri" pitchFamily="34" charset="-120"/>
              </a:rPr>
              <a:t>For each word, write it correctly, mark the stressed syllable in CAPS, and use it in a sentence about Chapter 16: punishment, repentance, consequence, conviction, banishment, defiant.</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RWM — Reader · Writer · Mimic</a:t>
            </a:r>
            <a:endParaRPr lang="en-US" sz="2600" dirty="0"/>
          </a:p>
        </p:txBody>
      </p:sp>
      <p:sp>
        <p:nvSpPr>
          <p:cNvPr id="3" name="Shape 1"/>
          <p:cNvSpPr/>
          <p:nvPr/>
        </p:nvSpPr>
        <p:spPr>
          <a:xfrm>
            <a:off x="365760" y="749808"/>
            <a:ext cx="8412480" cy="0"/>
          </a:xfrm>
          <a:prstGeom prst="line">
            <a:avLst/>
          </a:prstGeom>
          <a:noFill/>
          <a:ln w="19050">
            <a:solidFill>
              <a:srgbClr val="0E1C42"/>
            </a:solidFill>
            <a:prstDash val="solid"/>
          </a:ln>
        </p:spPr>
      </p:sp>
      <p:sp>
        <p:nvSpPr>
          <p:cNvPr id="4" name="Shape 2"/>
          <p:cNvSpPr/>
          <p:nvPr/>
        </p:nvSpPr>
        <p:spPr>
          <a:xfrm>
            <a:off x="365760" y="868680"/>
            <a:ext cx="8412480" cy="640080"/>
          </a:xfrm>
          <a:prstGeom prst="roundRect">
            <a:avLst>
              <a:gd name="adj" fmla="val 14286"/>
            </a:avLst>
          </a:prstGeom>
          <a:solidFill>
            <a:srgbClr val="F8FAFC"/>
          </a:solidFill>
          <a:ln w="12700">
            <a:solidFill>
              <a:srgbClr val="0E1C42"/>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548640" y="978408"/>
            <a:ext cx="8046720" cy="41148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“Thee has never escaped at all if love is not there.”</a:t>
            </a:r>
            <a:endParaRPr lang="en-US" sz="1600" dirty="0"/>
          </a:p>
        </p:txBody>
      </p:sp>
      <p:sp>
        <p:nvSpPr>
          <p:cNvPr id="6" name="Shape 4"/>
          <p:cNvSpPr/>
          <p:nvPr/>
        </p:nvSpPr>
        <p:spPr>
          <a:xfrm>
            <a:off x="365760" y="1600200"/>
            <a:ext cx="8412480" cy="777240"/>
          </a:xfrm>
          <a:prstGeom prst="roundRect">
            <a:avLst>
              <a:gd name="adj" fmla="val 11765"/>
            </a:avLst>
          </a:prstGeom>
          <a:solidFill>
            <a:srgbClr val="E5F7FC"/>
          </a:solidFill>
          <a:ln/>
          <a:effectLst>
            <a:outerShdw sx="100000" sy="100000" kx="0" ky="0" algn="bl" rotWithShape="0" blurRad="101600" dist="38100" dir="2700000">
              <a:srgbClr val="000000">
                <a:alpha val="12000"/>
              </a:srgbClr>
            </a:outerShdw>
          </a:effectLst>
        </p:spPr>
      </p:sp>
      <p:sp>
        <p:nvSpPr>
          <p:cNvPr id="7" name="Text 5"/>
          <p:cNvSpPr/>
          <p:nvPr/>
        </p:nvSpPr>
        <p:spPr>
          <a:xfrm>
            <a:off x="548640" y="1673352"/>
            <a:ext cx="8046720" cy="64008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 Read like a Reader: </a:t>
            </a:r>
            <a:pPr indent="0" marL="0">
              <a:buNone/>
            </a:pPr>
            <a:r>
              <a:rPr lang="en-US" sz="1200" dirty="0">
                <a:solidFill>
                  <a:srgbClr val="1E293B"/>
                </a:solidFill>
                <a:latin typeface="Calibri" pitchFamily="34" charset="0"/>
                <a:ea typeface="Calibri" pitchFamily="34" charset="-122"/>
                <a:cs typeface="Calibri" pitchFamily="34" charset="-120"/>
              </a:rPr>
              <a:t>Hannah is telling Kit that running away — from Barbados, from a loveless marriage, from anything — doesn’t count as freedom if love isn’t part of where you end up. What does this mean for Kit’s situation with William?</a:t>
            </a:r>
            <a:endParaRPr lang="en-US" sz="1200" dirty="0"/>
          </a:p>
        </p:txBody>
      </p:sp>
      <p:sp>
        <p:nvSpPr>
          <p:cNvPr id="8" name="Shape 6"/>
          <p:cNvSpPr/>
          <p:nvPr/>
        </p:nvSpPr>
        <p:spPr>
          <a:xfrm>
            <a:off x="365760" y="2450592"/>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523744"/>
            <a:ext cx="8046720" cy="64008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 Read like a Writer: </a:t>
            </a:r>
            <a:pPr indent="0" marL="0">
              <a:buNone/>
            </a:pPr>
            <a:r>
              <a:rPr lang="en-US" sz="1200" dirty="0">
                <a:solidFill>
                  <a:srgbClr val="1E293B"/>
                </a:solidFill>
                <a:latin typeface="Calibri" pitchFamily="34" charset="0"/>
                <a:ea typeface="Calibri" pitchFamily="34" charset="-122"/>
                <a:cs typeface="Calibri" pitchFamily="34" charset="-120"/>
              </a:rPr>
              <a:t>A theme statement is not one word (“love”) — it’s a full sentence that captures the author’s message. Hannah’s line is almost a theme statement itself. How could you turn it into one? Example: “True escape comes not from running away but from finding where love is.” Notice: no character names, no plot details — just a universal truth.</a:t>
            </a:r>
            <a:endParaRPr lang="en-US" sz="1200" dirty="0"/>
          </a:p>
        </p:txBody>
      </p:sp>
      <p:sp>
        <p:nvSpPr>
          <p:cNvPr id="10" name="Shape 8"/>
          <p:cNvSpPr/>
          <p:nvPr/>
        </p:nvSpPr>
        <p:spPr>
          <a:xfrm>
            <a:off x="365760" y="3300984"/>
            <a:ext cx="8412480" cy="640080"/>
          </a:xfrm>
          <a:prstGeom prst="roundRect">
            <a:avLst>
              <a:gd name="adj" fmla="val 14286"/>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374136"/>
            <a:ext cx="8046720" cy="50292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 Mimic: </a:t>
            </a:r>
            <a:pPr indent="0" marL="0">
              <a:buNone/>
            </a:pPr>
            <a:r>
              <a:rPr lang="en-US" sz="1200" dirty="0">
                <a:solidFill>
                  <a:srgbClr val="1E293B"/>
                </a:solidFill>
                <a:latin typeface="Calibri" pitchFamily="34" charset="0"/>
                <a:ea typeface="Calibri" pitchFamily="34" charset="-122"/>
                <a:cs typeface="Calibri" pitchFamily="34" charset="-120"/>
              </a:rPr>
              <a:t>Write your own theme statement about escape, love, or sacrifice. Make it universal — no character names, no plot details. Just a truth that could apply to anyone.</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Reading Focus + Story Journey</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YOUR STORY JOURNEY</a:t>
            </a:r>
            <a:endParaRPr lang="en-US" sz="1100" dirty="0"/>
          </a:p>
        </p:txBody>
      </p:sp>
      <p:sp>
        <p:nvSpPr>
          <p:cNvPr id="7" name="Shape 5"/>
          <p:cNvSpPr/>
          <p:nvPr/>
        </p:nvSpPr>
        <p:spPr>
          <a:xfrm>
            <a:off x="365760" y="1078992"/>
            <a:ext cx="8412480" cy="777240"/>
          </a:xfrm>
          <a:prstGeom prst="roundRect">
            <a:avLst>
              <a:gd name="adj" fmla="val 1176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955280" cy="59436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Kit’s Path Through The Witch of Blackbird Pond — 📍 You are here: Chapter 16 — Consequences &amp; Convictions</a:t>
            </a:r>
            <a:endParaRPr lang="en-US" sz="1300" dirty="0"/>
          </a:p>
        </p:txBody>
      </p:sp>
      <p:sp>
        <p:nvSpPr>
          <p:cNvPr id="9" name="Text 7"/>
          <p:cNvSpPr/>
          <p:nvPr/>
        </p:nvSpPr>
        <p:spPr>
          <a:xfrm>
            <a:off x="365760" y="1975104"/>
            <a:ext cx="8046720" cy="292608"/>
          </a:xfrm>
          <a:prstGeom prst="rect">
            <a:avLst/>
          </a:prstGeom>
          <a:noFill/>
          <a:ln/>
        </p:spPr>
        <p:txBody>
          <a:bodyPr wrap="square" lIns="0" tIns="0" rIns="0" bIns="0" rtlCol="0" anchor="ctr"/>
          <a:lstStyle/>
          <a:p>
            <a:pPr indent="0" marL="0">
              <a:buNone/>
            </a:pPr>
            <a:r>
              <a:rPr lang="en-US" sz="1100" b="1" spc="200" kern="0" dirty="0">
                <a:solidFill>
                  <a:srgbClr val="4A90D9"/>
                </a:solidFill>
                <a:latin typeface="Calibri" pitchFamily="34" charset="0"/>
                <a:ea typeface="Calibri" pitchFamily="34" charset="-122"/>
                <a:cs typeface="Calibri" pitchFamily="34" charset="-120"/>
              </a:rPr>
              <a:t>TODAY YOU ARE READING</a:t>
            </a:r>
            <a:endParaRPr lang="en-US" sz="1100" dirty="0"/>
          </a:p>
        </p:txBody>
      </p:sp>
      <p:sp>
        <p:nvSpPr>
          <p:cNvPr id="10" name="Shape 8"/>
          <p:cNvSpPr/>
          <p:nvPr/>
        </p:nvSpPr>
        <p:spPr>
          <a:xfrm>
            <a:off x="365760" y="2231136"/>
            <a:ext cx="8412480" cy="640080"/>
          </a:xfrm>
          <a:prstGeom prst="roundRect">
            <a:avLst>
              <a:gd name="adj" fmla="val 14286"/>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304288"/>
            <a:ext cx="7955280" cy="493776"/>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Chapter 16 — Consequences &amp; Convictions</a:t>
            </a:r>
            <a:endParaRPr lang="en-US" sz="1500" dirty="0"/>
          </a:p>
        </p:txBody>
      </p:sp>
      <p:sp>
        <p:nvSpPr>
          <p:cNvPr id="12" name="Text 10"/>
          <p:cNvSpPr/>
          <p:nvPr/>
        </p:nvSpPr>
        <p:spPr>
          <a:xfrm>
            <a:off x="365760" y="2999232"/>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KEEP YOUR READING LENS IN MIND</a:t>
            </a:r>
            <a:endParaRPr lang="en-US" sz="1100" dirty="0"/>
          </a:p>
        </p:txBody>
      </p:sp>
      <p:sp>
        <p:nvSpPr>
          <p:cNvPr id="13" name="Shape 11"/>
          <p:cNvSpPr/>
          <p:nvPr/>
        </p:nvSpPr>
        <p:spPr>
          <a:xfrm>
            <a:off x="365760" y="3255264"/>
            <a:ext cx="8412480" cy="1280160"/>
          </a:xfrm>
          <a:prstGeom prst="roundRect">
            <a:avLst>
              <a:gd name="adj" fmla="val 7143"/>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46704"/>
            <a:ext cx="7955280" cy="1097280"/>
          </a:xfrm>
          <a:prstGeom prst="rect">
            <a:avLst/>
          </a:prstGeom>
          <a:noFill/>
          <a:ln/>
        </p:spPr>
        <p:txBody>
          <a:bodyPr wrap="square" lIns="0" tIns="0" rIns="0" bIns="0" rtlCol="0" anchor="t"/>
          <a:lstStyle/>
          <a:p>
            <a:pPr indent="0" marL="0">
              <a:buNone/>
            </a:pPr>
            <a:r>
              <a:rPr lang="en-US" sz="1200" i="1" dirty="0">
                <a:solidFill>
                  <a:srgbClr val="1E293B"/>
                </a:solidFill>
                <a:latin typeface="Calibri" pitchFamily="34" charset="0"/>
                <a:ea typeface="Calibri" pitchFamily="34" charset="-122"/>
                <a:cs typeface="Calibri" pitchFamily="34" charset="-120"/>
              </a:rPr>
              <a:t>What does each character sacrifice for what they believe in? Is the cost worth it?</a:t>
            </a:r>
            <a:endParaRPr lang="en-US" sz="1200" dirty="0"/>
          </a:p>
          <a:p>
            <a:pPr indent="0" marL="0">
              <a:buNone/>
            </a:pPr>
            <a:endParaRPr lang="en-US" sz="1200" dirty="0"/>
          </a:p>
          <a:p>
            <a:pPr indent="0" marL="0">
              <a:buNone/>
            </a:pPr>
            <a:r>
              <a:rPr lang="en-US" sz="1200" i="1" dirty="0">
                <a:solidFill>
                  <a:srgbClr val="1E293B"/>
                </a:solidFill>
                <a:latin typeface="Calibri" pitchFamily="34" charset="0"/>
                <a:ea typeface="Calibri" pitchFamily="34" charset="-122"/>
                <a:cs typeface="Calibri" pitchFamily="34" charset="-120"/>
              </a:rPr>
              <a:t>How does Hannah’s wisdom — “thee has never escaped at all if love is not there” — connect to the choices other characters are making?</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Comprehension Questions — Preview</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YOU'LL ANSWER (PART A)</a:t>
            </a:r>
            <a:endParaRPr lang="en-US" sz="1100" dirty="0"/>
          </a:p>
        </p:txBody>
      </p:sp>
      <p:sp>
        <p:nvSpPr>
          <p:cNvPr id="5" name="Shape 3"/>
          <p:cNvSpPr/>
          <p:nvPr/>
        </p:nvSpPr>
        <p:spPr>
          <a:xfrm>
            <a:off x="365760" y="1097280"/>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70432"/>
            <a:ext cx="8046720" cy="768096"/>
          </a:xfrm>
          <a:prstGeom prst="rect">
            <a:avLst/>
          </a:prstGeom>
          <a:noFill/>
          <a:ln/>
        </p:spPr>
        <p:txBody>
          <a:bodyPr wrap="square" lIns="0" tIns="0" rIns="0" bIns="0" rtlCol="0" anchor="ctr"/>
          <a:lstStyle/>
          <a:p>
            <a:pPr indent="0" marL="0">
              <a:buNone/>
            </a:pPr>
            <a:r>
              <a:rPr lang="en-US" sz="1300" b="1" dirty="0">
                <a:solidFill>
                  <a:srgbClr val="4A90D9"/>
                </a:solidFill>
                <a:latin typeface="Calibri" pitchFamily="34" charset="0"/>
                <a:ea typeface="Calibri" pitchFamily="34" charset="-122"/>
                <a:cs typeface="Calibri" pitchFamily="34" charset="-120"/>
              </a:rPr>
              <a:t>1.  </a:t>
            </a:r>
            <a:pPr indent="0" marL="0">
              <a:buNone/>
            </a:pPr>
            <a:r>
              <a:rPr lang="en-US" sz="1200" dirty="0">
                <a:solidFill>
                  <a:srgbClr val="1E293B"/>
                </a:solidFill>
                <a:latin typeface="Calibri" pitchFamily="34" charset="0"/>
                <a:ea typeface="Calibri" pitchFamily="34" charset="-122"/>
                <a:cs typeface="Calibri" pitchFamily="34" charset="-120"/>
              </a:rPr>
              <a:t>1 Why does Nat say the prank was “well worth it”? What does this reveal about his character?</a:t>
            </a:r>
            <a:endParaRPr lang="en-US" sz="1300" dirty="0"/>
          </a:p>
        </p:txBody>
      </p:sp>
      <p:sp>
        <p:nvSpPr>
          <p:cNvPr id="7" name="Shape 5"/>
          <p:cNvSpPr/>
          <p:nvPr/>
        </p:nvSpPr>
        <p:spPr>
          <a:xfrm>
            <a:off x="365760" y="2084832"/>
            <a:ext cx="8412480" cy="914400"/>
          </a:xfrm>
          <a:prstGeom prst="roundRect">
            <a:avLst>
              <a:gd name="adj" fmla="val 10000"/>
            </a:avLst>
          </a:prstGeom>
          <a:solidFill>
            <a:srgbClr val="F4F7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2157984"/>
            <a:ext cx="8046720" cy="768096"/>
          </a:xfrm>
          <a:prstGeom prst="rect">
            <a:avLst/>
          </a:prstGeom>
          <a:noFill/>
          <a:ln/>
        </p:spPr>
        <p:txBody>
          <a:bodyPr wrap="square" lIns="0" tIns="0" rIns="0" bIns="0" rtlCol="0" anchor="ctr"/>
          <a:lstStyle/>
          <a:p>
            <a:pPr indent="0" marL="0">
              <a:buNone/>
            </a:pPr>
            <a:r>
              <a:rPr lang="en-US" sz="1300" b="1" dirty="0">
                <a:solidFill>
                  <a:srgbClr val="4A90D9"/>
                </a:solidFill>
                <a:latin typeface="Calibri" pitchFamily="34" charset="0"/>
                <a:ea typeface="Calibri" pitchFamily="34" charset="-122"/>
                <a:cs typeface="Calibri" pitchFamily="34" charset="-120"/>
              </a:rPr>
              <a:t>2.  </a:t>
            </a:r>
            <a:pPr indent="0" marL="0">
              <a:buNone/>
            </a:pPr>
            <a:r>
              <a:rPr lang="en-US" sz="1200" dirty="0">
                <a:solidFill>
                  <a:srgbClr val="1E293B"/>
                </a:solidFill>
                <a:latin typeface="Calibri" pitchFamily="34" charset="0"/>
                <a:ea typeface="Calibri" pitchFamily="34" charset="-122"/>
                <a:cs typeface="Calibri" pitchFamily="34" charset="-120"/>
              </a:rPr>
              <a:t>2 What does Hannah mean by “thee has never escaped at all if love is not there”? How does this connect to Kit’s situation with William?</a:t>
            </a:r>
            <a:endParaRPr lang="en-US" sz="1300" dirty="0"/>
          </a:p>
        </p:txBody>
      </p:sp>
      <p:sp>
        <p:nvSpPr>
          <p:cNvPr id="9" name="Shape 7"/>
          <p:cNvSpPr/>
          <p:nvPr/>
        </p:nvSpPr>
        <p:spPr>
          <a:xfrm>
            <a:off x="365760" y="3072384"/>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3145536"/>
            <a:ext cx="8046720" cy="768096"/>
          </a:xfrm>
          <a:prstGeom prst="rect">
            <a:avLst/>
          </a:prstGeom>
          <a:noFill/>
          <a:ln/>
        </p:spPr>
        <p:txBody>
          <a:bodyPr wrap="square" lIns="0" tIns="0" rIns="0" bIns="0" rtlCol="0" anchor="ctr"/>
          <a:lstStyle/>
          <a:p>
            <a:pPr indent="0" marL="0">
              <a:buNone/>
            </a:pPr>
            <a:r>
              <a:rPr lang="en-US" sz="1300" b="1" dirty="0">
                <a:solidFill>
                  <a:srgbClr val="4A90D9"/>
                </a:solidFill>
                <a:latin typeface="Calibri" pitchFamily="34" charset="0"/>
                <a:ea typeface="Calibri" pitchFamily="34" charset="-122"/>
                <a:cs typeface="Calibri" pitchFamily="34" charset="-120"/>
              </a:rPr>
              <a:t>3.  </a:t>
            </a:r>
            <a:pPr indent="0" marL="0">
              <a:buNone/>
            </a:pPr>
            <a:r>
              <a:rPr lang="en-US" sz="1200" dirty="0">
                <a:solidFill>
                  <a:srgbClr val="1E293B"/>
                </a:solidFill>
                <a:latin typeface="Calibri" pitchFamily="34" charset="0"/>
                <a:ea typeface="Calibri" pitchFamily="34" charset="-122"/>
                <a:cs typeface="Calibri" pitchFamily="34" charset="-120"/>
              </a:rPr>
              <a:t>3 Why does John enlist in the militia? What theme about standing up for beliefs does this reinforce?</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Writing Connection (Part C)</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SHORT CRAFT-FOCUSED RESPONSE</a:t>
            </a:r>
            <a:endParaRPr lang="en-US" sz="1100" dirty="0"/>
          </a:p>
        </p:txBody>
      </p:sp>
      <p:sp>
        <p:nvSpPr>
          <p:cNvPr id="5" name="Shape 3"/>
          <p:cNvSpPr/>
          <p:nvPr/>
        </p:nvSpPr>
        <p:spPr>
          <a:xfrm>
            <a:off x="365760" y="1097280"/>
            <a:ext cx="8412480" cy="2011680"/>
          </a:xfrm>
          <a:prstGeom prst="roundRect">
            <a:avLst>
              <a:gd name="adj" fmla="val 4545"/>
            </a:avLst>
          </a:prstGeom>
          <a:solidFill>
            <a:srgbClr val="E8F8E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34440"/>
            <a:ext cx="7955280" cy="1737360"/>
          </a:xfrm>
          <a:prstGeom prst="rect">
            <a:avLst/>
          </a:prstGeom>
          <a:noFill/>
          <a:ln/>
        </p:spPr>
        <p:txBody>
          <a:bodyPr wrap="square" lIns="0" tIns="0" rIns="0" bIns="0" rtlCol="0" anchor="t"/>
          <a:lstStyle/>
          <a:p>
            <a:pPr indent="0" marL="0">
              <a:buNone/>
            </a:pPr>
            <a:r>
              <a:rPr lang="en-US" sz="1500" dirty="0">
                <a:solidFill>
                  <a:srgbClr val="1E293B"/>
                </a:solidFill>
                <a:latin typeface="Calibri" pitchFamily="34" charset="0"/>
                <a:ea typeface="Calibri" pitchFamily="34" charset="-122"/>
                <a:cs typeface="Calibri" pitchFamily="34" charset="-120"/>
              </a:rPr>
              <a:t>Hannah tells Kit that escaping without love isn’t really escaping. Write 2–3 sentences explaining how two characters in this chapter demonstrate what they’re willing to sacrifice for what they believe in. Use specific details from Chapter 16.</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2026-07-12T13:24:41Z</dcterms:created>
  <dcterms:modified xsi:type="dcterms:W3CDTF">2026-07-12T13:24:41Z</dcterms:modified>
</cp:coreProperties>
</file>