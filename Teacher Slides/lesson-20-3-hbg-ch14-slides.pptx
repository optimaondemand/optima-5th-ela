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20, Day 3, Chapter 14 — The Coming of My Final Day.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"he had seen this before yet he still could not put the words together for it"
Corrected: "He had seen this before, yet he could not put the words together for it."
Compound sentence: comma before “yet” (FANBOYS). Trim “still” and “together” — cleaner.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"he had seen this before yet he still could not put the words together for it"
Corrected: "He had seen this before, yet he could not put the words together for it."
Compound sentence: comma before “yet” (FANBOYS). Trim “still” and “together” — cleaner.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here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 Reader / Writer / Mimic. Read the sentence aloud, then work through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14 — The Coming of My Final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APPLY
Focus: Literary Response: Theme Paragraph
Task: Today is the Apply stage. Add a second piece of evidence and a complex sentence that explains how both pieces support your theme. Look at your work so far: does the evidence actually prove the theme, or does it just describe what happened? Revise the connection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20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14 — The Coming of My Final Day</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20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pay attention to chapter titles — they often contain a promise. This chapter title is unusually direct. What does “The Coming of My Final Day” tell you before you even read the first word? How does knowing what is coming change the way you read?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Isaac saw the theme, but he couldn't explain it yet.</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saw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theme,  </a:t>
            </a:r>
            <a:pPr indent="0" marL="0">
              <a:buNone/>
            </a:pPr>
            <a:r>
              <a:rPr lang="en-US" sz="1150" dirty="0">
                <a:solidFill>
                  <a:srgbClr val="1E293B"/>
                </a:solidFill>
                <a:latin typeface="Calibri" pitchFamily="34" charset="0"/>
                <a:ea typeface="Calibri" pitchFamily="34" charset="-122"/>
                <a:cs typeface="Calibri" pitchFamily="34" charset="-120"/>
              </a:rPr>
              <a:t>Comma before conjunction.</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but  </a:t>
            </a:r>
            <a:pPr indent="0" marL="0">
              <a:buNone/>
            </a:pPr>
            <a:r>
              <a:rPr lang="en-US" sz="1150" dirty="0">
                <a:solidFill>
                  <a:srgbClr val="1E293B"/>
                </a:solidFill>
                <a:latin typeface="Calibri" pitchFamily="34" charset="0"/>
                <a:ea typeface="Calibri" pitchFamily="34" charset="-122"/>
                <a:cs typeface="Calibri" pitchFamily="34" charset="-120"/>
              </a:rPr>
              <a:t>FANBOYS conjunction.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 had seen this before yet he still could not put the words together for it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 had seen this before yet he still could not put the words together for it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He had seen this before, yet he could not put the words together for it.</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Compound sentence: comma before “yet” (FANBOYS). Trim “still” and “together” — cleaner.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Chapter 14 is called 'The Coming of My Final Day.' Which matters more to how Isaac tells this story: what actually happens to him, or how he chooses to describe it as a narrator? Defend your answer with evidence.</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Chapter 14 is called 'The Coming of My Final Day.' Which matters more to how Isaac tells this story: what actually happens to him, or how he chooses to describe it as a narrator? Defend your answer with evidence.</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more specific word I could use here instead of a vague one?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RWM — Read · Notice · Try</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THE SENTENCE</a:t>
            </a:r>
            <a:endParaRPr lang="en-US" sz="1100" dirty="0"/>
          </a:p>
        </p:txBody>
      </p:sp>
      <p:sp>
        <p:nvSpPr>
          <p:cNvPr id="5" name="Shape 3"/>
          <p:cNvSpPr/>
          <p:nvPr/>
        </p:nvSpPr>
        <p:spPr>
          <a:xfrm>
            <a:off x="365760" y="1078992"/>
            <a:ext cx="8412480" cy="685800"/>
          </a:xfrm>
          <a:prstGeom prst="roundRect">
            <a:avLst>
              <a:gd name="adj" fmla="val 1333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“She buried her face in the blanket and shook with joy.”</a:t>
            </a:r>
            <a:endParaRPr lang="en-US" sz="1600" dirty="0"/>
          </a:p>
        </p:txBody>
      </p:sp>
      <p:sp>
        <p:nvSpPr>
          <p:cNvPr id="7" name="Shape 5"/>
          <p:cNvSpPr/>
          <p:nvPr/>
        </p:nvSpPr>
        <p:spPr>
          <a:xfrm>
            <a:off x="365760" y="187452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929384"/>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Reader
</a:t>
            </a:r>
            <a:pPr indent="0" marL="0">
              <a:buNone/>
            </a:pPr>
            <a:r>
              <a:rPr lang="en-US" sz="1100" dirty="0">
                <a:solidFill>
                  <a:srgbClr val="1E293B"/>
                </a:solidFill>
                <a:latin typeface="Calibri" pitchFamily="34" charset="0"/>
                <a:ea typeface="Calibri" pitchFamily="34" charset="-122"/>
                <a:cs typeface="Calibri" pitchFamily="34" charset="-120"/>
              </a:rPr>
              <a:t>What does this sentence make you see or feel?</a:t>
            </a:r>
            <a:endParaRPr lang="en-US" sz="1150" dirty="0"/>
          </a:p>
        </p:txBody>
      </p:sp>
      <p:sp>
        <p:nvSpPr>
          <p:cNvPr id="9" name="Shape 7"/>
          <p:cNvSpPr/>
          <p:nvPr/>
        </p:nvSpPr>
        <p:spPr>
          <a:xfrm>
            <a:off x="365760" y="266090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715768"/>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As a Writer
</a:t>
            </a:r>
            <a:pPr indent="0" marL="0">
              <a:buNone/>
            </a:pPr>
            <a:r>
              <a:rPr lang="en-US" sz="1100" dirty="0">
                <a:solidFill>
                  <a:srgbClr val="1E293B"/>
                </a:solidFill>
                <a:latin typeface="Calibri" pitchFamily="34" charset="0"/>
                <a:ea typeface="Calibri" pitchFamily="34" charset="-122"/>
                <a:cs typeface="Calibri" pitchFamily="34" charset="-120"/>
              </a:rPr>
              <a:t>Simple sentence, two actions: “buried” and “shook.” But the contrast — burying the face (hiding) and shaking with joy (delight) — holds a whole character in seven words.</a:t>
            </a:r>
            <a:endParaRPr lang="en-US" sz="1150" dirty="0"/>
          </a:p>
        </p:txBody>
      </p:sp>
      <p:sp>
        <p:nvSpPr>
          <p:cNvPr id="11" name="Shape 9"/>
          <p:cNvSpPr/>
          <p:nvPr/>
        </p:nvSpPr>
        <p:spPr>
          <a:xfrm>
            <a:off x="365760" y="3447288"/>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3502152"/>
            <a:ext cx="8046720" cy="603504"/>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Try It
</a:t>
            </a:r>
            <a:pPr indent="0" marL="0">
              <a:buNone/>
            </a:pPr>
            <a:r>
              <a:rPr lang="en-US" sz="1100" dirty="0">
                <a:solidFill>
                  <a:srgbClr val="1E293B"/>
                </a:solidFill>
                <a:latin typeface="Calibri" pitchFamily="34" charset="0"/>
                <a:ea typeface="Calibri" pitchFamily="34" charset="-122"/>
                <a:cs typeface="Calibri" pitchFamily="34" charset="-120"/>
              </a:rPr>
              <a:t>Write a simple sentence using two actions to show two things about a character at once.</a:t>
            </a:r>
            <a:endParaRPr lang="en-US" sz="1150" dirty="0"/>
          </a:p>
        </p:txBody>
      </p:sp>
      <p:sp>
        <p:nvSpPr>
          <p:cNvPr id="13" name="Shape 11"/>
          <p:cNvSpPr/>
          <p:nvPr/>
        </p:nvSpPr>
        <p:spPr>
          <a:xfrm>
            <a:off x="365760" y="4251960"/>
            <a:ext cx="8412480" cy="457200"/>
          </a:xfrm>
          <a:prstGeom prst="roundRect">
            <a:avLst>
              <a:gd name="adj" fmla="val 20000"/>
            </a:avLst>
          </a:prstGeom>
          <a:solidFill>
            <a:srgbClr val="F0E8FF"/>
          </a:solidFill>
          <a:ln w="12700">
            <a:solidFill>
              <a:srgbClr val="8B6FC0"/>
            </a:solidFill>
            <a:prstDash val="solid"/>
          </a:ln>
        </p:spPr>
      </p:sp>
      <p:sp>
        <p:nvSpPr>
          <p:cNvPr id="14" name="Text 12"/>
          <p:cNvSpPr/>
          <p:nvPr/>
        </p:nvSpPr>
        <p:spPr>
          <a:xfrm>
            <a:off x="548640" y="4288536"/>
            <a:ext cx="8046720" cy="365760"/>
          </a:xfrm>
          <a:prstGeom prst="rect">
            <a:avLst/>
          </a:prstGeom>
          <a:noFill/>
          <a:ln/>
        </p:spPr>
        <p:txBody>
          <a:bodyPr wrap="square" lIns="0" tIns="0" rIns="0" bIns="0" rtlCol="0" anchor="ctr"/>
          <a:lstStyle/>
          <a:p>
            <a:pPr indent="0" marL="0">
              <a:buNone/>
            </a:pPr>
            <a:r>
              <a:rPr lang="en-US" sz="1050" b="1" dirty="0">
                <a:solidFill>
                  <a:srgbClr val="8B6FC0"/>
                </a:solidFill>
                <a:latin typeface="Calibri" pitchFamily="34" charset="0"/>
                <a:ea typeface="Calibri" pitchFamily="34" charset="-122"/>
                <a:cs typeface="Calibri" pitchFamily="34" charset="-120"/>
              </a:rPr>
              <a:t>Sentence frame: </a:t>
            </a:r>
            <a:pPr indent="0" marL="0">
              <a:buNone/>
            </a:pPr>
            <a:r>
              <a:rPr lang="en-US" sz="1050" i="1" dirty="0">
                <a:solidFill>
                  <a:srgbClr val="1E293B"/>
                </a:solidFill>
                <a:latin typeface="Calibri" pitchFamily="34" charset="0"/>
                <a:ea typeface="Calibri" pitchFamily="34" charset="-122"/>
                <a:cs typeface="Calibri" pitchFamily="34" charset="-120"/>
              </a:rPr>
              <a:t>She/He ___ and ___.</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14 — The Coming of My Final Day</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14 — The Coming of My Final Day</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pay attention to chapter titles — they often contain a promise. This chapter title is unusually direct. What does “The Coming of My Final Day” tell you before you even read the first word? How does knowing what is coming change the way you read?</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What physical changes does Isaac notice before he becomes a ghost? How does Tingle signal what is coming?</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When Isaac becomes a ghost, how does Tingle write the moment? Is it sudden? Dramatic? Peaceful? What surprises you about how Tingle handles this turning point?</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 Week Closer. In Chapters 12, 13, and 14, three major events happen: Naomi is taken, Joseph tells his secret, Isaac becomes a ghost. How are these three events connected? What does becoming a ghost at this moment allow Isaac to do that he couldn’t do while alive?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APPLY</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Literary Response: Theme Paragraph</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Apply stage. Add a second piece of evidence and a complex sentence that explains how both pieces support your theme. Look at your work so far: does the evidence actually prove the theme, or does it just describe what happened? Revise the connection if needed.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2026-07-13T17:32:03Z</dcterms:created>
  <dcterms:modified xsi:type="dcterms:W3CDTF">2026-07-13T17:32:03Z</dcterms:modified>
</cp:coreProperties>
</file>