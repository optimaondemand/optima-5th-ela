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22, Day 2, Chapter 21 — The Panther and the Fire.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ghost walkers circled the camp the soldiers could not see them this helped isaac"
Corrected: "The ghost walkers circled the camp. Because the soldiers could not see them, they could move freely — and that helped Isaac."
Split into clear sentences. Add “Because” (transition). Em dash before the conclusion gives it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ghost walkers circled the camp the soldiers could not see them this helped isaac"
Corrected: "The ghost walkers circled the camp. Because the soldiers could not see them, they could move freely — and that helped Isaac."
Split into clear sentences. Add “Because” (transition). Em dash before the conclusion gives it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of these sentences to make my thinking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 Reader / Writer / Mimic. Read the sentence aloud, then work through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21 — The Panther and the Fire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DRAFT WITH SUPPORT
Focus: Draft Literary Analysis
Task: Today is the Draft with support stage. Write the full draft of your literary analysis paragraph: claim sentence, two pieces of evidence with explanation, and a closing sentence. Use at least one complex sentence and one transition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22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21 — The Panther and the Fire</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22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notice when an author uses an object or creature to mean more than itself. In Chapter 21, the panther enters the scene. As you read: what is the panther doing literally? And what might it represent symbolically in the context of this story?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Furthermore, the panther could reach the camp before the soldiers returned.</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Furthermore,  </a:t>
            </a:r>
            <a:pPr indent="0" marL="0">
              <a:buNone/>
            </a:pPr>
            <a:r>
              <a:rPr lang="en-US" sz="1150" dirty="0">
                <a:solidFill>
                  <a:srgbClr val="1E293B"/>
                </a:solidFill>
                <a:latin typeface="Calibri" pitchFamily="34" charset="0"/>
                <a:ea typeface="Calibri" pitchFamily="34" charset="-122"/>
                <a:cs typeface="Calibri" pitchFamily="34" charset="-120"/>
              </a:rPr>
              <a:t>Transition: adds supporting idea.</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before  </a:t>
            </a:r>
            <a:pPr indent="0" marL="0">
              <a:buNone/>
            </a:pPr>
            <a:r>
              <a:rPr lang="en-US" sz="1150" dirty="0">
                <a:solidFill>
                  <a:srgbClr val="1E293B"/>
                </a:solidFill>
                <a:latin typeface="Calibri" pitchFamily="34" charset="0"/>
                <a:ea typeface="Calibri" pitchFamily="34" charset="-122"/>
                <a:cs typeface="Calibri" pitchFamily="34" charset="-120"/>
              </a:rPr>
              <a:t>Subordinating conjunction.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ghost walkers circled the camp the soldiers could not see them this helped isaac</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ghost walkers circled the camp the soldiers could not see them this helped isaac</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The ghost walkers circled the camp. Because the soldiers could not see them, they could move freely — and that helped Isaac.</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Split into clear sentences. Add “Because” (transition). Em dash before the conclusion gives it weight.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331720"/>
          </a:xfrm>
          <a:prstGeom prst="roundRect">
            <a:avLst>
              <a:gd name="adj" fmla="val 3922"/>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I, Too</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Langston Hughes (1926)</a:t>
            </a:r>
            <a:endParaRPr lang="en-US" sz="1300" dirty="0"/>
          </a:p>
        </p:txBody>
      </p:sp>
      <p:sp>
        <p:nvSpPr>
          <p:cNvPr id="7" name="Text 5"/>
          <p:cNvSpPr/>
          <p:nvPr/>
        </p:nvSpPr>
        <p:spPr>
          <a:xfrm>
            <a:off x="594360" y="1627632"/>
            <a:ext cx="7955280" cy="146304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I, too, sing America.</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 am the darker brother.</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They send me to eat in the kitchen</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When company comes,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But I laugh,</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eat well,</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grow strong.</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Tomorrow,</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I’ll be at the table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When company comes.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Nobody’ll dare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Say to me,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“Eat in the kitchen,”</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Then.</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Besides,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They’ll see how beautiful I am</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be ashamed—</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 too, am America.</a:t>
            </a:r>
            <a:endParaRPr lang="en-US" sz="1400" dirty="0"/>
          </a:p>
        </p:txBody>
      </p:sp>
      <p:sp>
        <p:nvSpPr>
          <p:cNvPr id="8" name="Text 6"/>
          <p:cNvSpPr/>
          <p:nvPr/>
        </p:nvSpPr>
        <p:spPr>
          <a:xfrm>
            <a:off x="365760" y="331012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566160"/>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657600"/>
            <a:ext cx="7955280" cy="86868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Naomi is silenced, put to work, separated from her people — but she does not stop being Choctaw. Hughes writes about someone pushed aside who refuses to disappear. How does this poem connect to Naomi’s situation? What does “I, too, am America” say about who belongs?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panther appears alongside fire in this chapter. Do you think the panther represents danger, protection, or both at once? Defend your answer with evidence from Chapter 21.</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The panther appears alongside fire in this chapter. Do you think the panther represents danger, protection, or both at once? Defend your answer with evidence from Chapter 21.</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Could I combine two of these sentences to make my thinking clearer?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RWM — Read · Notice · Try</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THE SENTENCE</a:t>
            </a:r>
            <a:endParaRPr lang="en-US" sz="1100" dirty="0"/>
          </a:p>
        </p:txBody>
      </p:sp>
      <p:sp>
        <p:nvSpPr>
          <p:cNvPr id="5" name="Shape 3"/>
          <p:cNvSpPr/>
          <p:nvPr/>
        </p:nvSpPr>
        <p:spPr>
          <a:xfrm>
            <a:off x="365760" y="1078992"/>
            <a:ext cx="8412480" cy="685800"/>
          </a:xfrm>
          <a:prstGeom prst="roundRect">
            <a:avLst>
              <a:gd name="adj" fmla="val 13333"/>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“"We need some way to distract the soldiers," Joseph said. "Some way to draw them away from the camp."”</a:t>
            </a:r>
            <a:endParaRPr lang="en-US" sz="1600" dirty="0"/>
          </a:p>
        </p:txBody>
      </p:sp>
      <p:sp>
        <p:nvSpPr>
          <p:cNvPr id="7" name="Shape 5"/>
          <p:cNvSpPr/>
          <p:nvPr/>
        </p:nvSpPr>
        <p:spPr>
          <a:xfrm>
            <a:off x="365760" y="18745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929384"/>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Reader
</a:t>
            </a:r>
            <a:pPr indent="0" marL="0">
              <a:buNone/>
            </a:pPr>
            <a:r>
              <a:rPr lang="en-US" sz="1100" dirty="0">
                <a:solidFill>
                  <a:srgbClr val="1E293B"/>
                </a:solidFill>
                <a:latin typeface="Calibri" pitchFamily="34" charset="0"/>
                <a:ea typeface="Calibri" pitchFamily="34" charset="-122"/>
                <a:cs typeface="Calibri" pitchFamily="34" charset="-120"/>
              </a:rPr>
              <a:t>What does this sentence make you see or feel?</a:t>
            </a:r>
            <a:endParaRPr lang="en-US" sz="1150" dirty="0"/>
          </a:p>
        </p:txBody>
      </p:sp>
      <p:sp>
        <p:nvSpPr>
          <p:cNvPr id="9" name="Shape 7"/>
          <p:cNvSpPr/>
          <p:nvPr/>
        </p:nvSpPr>
        <p:spPr>
          <a:xfrm>
            <a:off x="365760" y="266090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715768"/>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Writer
</a:t>
            </a:r>
            <a:pPr indent="0" marL="0">
              <a:buNone/>
            </a:pPr>
            <a:r>
              <a:rPr lang="en-US" sz="1100" dirty="0">
                <a:solidFill>
                  <a:srgbClr val="1E293B"/>
                </a:solidFill>
                <a:latin typeface="Calibri" pitchFamily="34" charset="0"/>
                <a:ea typeface="Calibri" pitchFamily="34" charset="-122"/>
                <a:cs typeface="Calibri" pitchFamily="34" charset="-120"/>
              </a:rPr>
              <a:t>Tingle repeats “some way” in both sentences. This is intentional echo — not redundancy. The repetition makes Joseph sound like he’s thinking out loud, building his idea.</a:t>
            </a:r>
            <a:endParaRPr lang="en-US" sz="1150" dirty="0"/>
          </a:p>
        </p:txBody>
      </p:sp>
      <p:sp>
        <p:nvSpPr>
          <p:cNvPr id="11" name="Shape 9"/>
          <p:cNvSpPr/>
          <p:nvPr/>
        </p:nvSpPr>
        <p:spPr>
          <a:xfrm>
            <a:off x="365760" y="3447288"/>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02152"/>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Try It
</a:t>
            </a:r>
            <a:pPr indent="0" marL="0">
              <a:buNone/>
            </a:pPr>
            <a:r>
              <a:rPr lang="en-US" sz="1100" dirty="0">
                <a:solidFill>
                  <a:srgbClr val="1E293B"/>
                </a:solidFill>
                <a:latin typeface="Calibri" pitchFamily="34" charset="0"/>
                <a:ea typeface="Calibri" pitchFamily="34" charset="-122"/>
                <a:cs typeface="Calibri" pitchFamily="34" charset="-120"/>
              </a:rPr>
              <a:t>Write two sentences where a character says something twice in slightly different words. Let the repetition show they’re working through a problem.</a:t>
            </a:r>
            <a:endParaRPr lang="en-US" sz="1150" dirty="0"/>
          </a:p>
        </p:txBody>
      </p:sp>
      <p:sp>
        <p:nvSpPr>
          <p:cNvPr id="13" name="Shape 11"/>
          <p:cNvSpPr/>
          <p:nvPr/>
        </p:nvSpPr>
        <p:spPr>
          <a:xfrm>
            <a:off x="365760" y="4251960"/>
            <a:ext cx="8412480" cy="457200"/>
          </a:xfrm>
          <a:prstGeom prst="roundRect">
            <a:avLst>
              <a:gd name="adj" fmla="val 20000"/>
            </a:avLst>
          </a:prstGeom>
          <a:solidFill>
            <a:srgbClr val="F0E8FF"/>
          </a:solidFill>
          <a:ln w="12700">
            <a:solidFill>
              <a:srgbClr val="8B6FC0"/>
            </a:solidFill>
            <a:prstDash val="solid"/>
          </a:ln>
        </p:spPr>
      </p:sp>
      <p:sp>
        <p:nvSpPr>
          <p:cNvPr id="14" name="Text 12"/>
          <p:cNvSpPr/>
          <p:nvPr/>
        </p:nvSpPr>
        <p:spPr>
          <a:xfrm>
            <a:off x="548640" y="4288536"/>
            <a:ext cx="8046720" cy="365760"/>
          </a:xfrm>
          <a:prstGeom prst="rect">
            <a:avLst/>
          </a:prstGeom>
          <a:noFill/>
          <a:ln/>
        </p:spPr>
        <p:txBody>
          <a:bodyPr wrap="square" lIns="0" tIns="0" rIns="0" bIns="0" rtlCol="0" anchor="ctr"/>
          <a:lstStyle/>
          <a:p>
            <a:pPr indent="0" marL="0">
              <a:buNone/>
            </a:pPr>
            <a:r>
              <a:rPr lang="en-US" sz="1050" b="1" dirty="0">
                <a:solidFill>
                  <a:srgbClr val="8B6FC0"/>
                </a:solidFill>
                <a:latin typeface="Calibri" pitchFamily="34" charset="0"/>
                <a:ea typeface="Calibri" pitchFamily="34" charset="-122"/>
                <a:cs typeface="Calibri" pitchFamily="34" charset="-120"/>
              </a:rPr>
              <a:t>Sentence frame: </a:t>
            </a:r>
            <a:pPr indent="0" marL="0">
              <a:buNone/>
            </a:pPr>
            <a:r>
              <a:rPr lang="en-US" sz="1050" i="1" dirty="0">
                <a:solidFill>
                  <a:srgbClr val="1E293B"/>
                </a:solidFill>
                <a:latin typeface="Calibri" pitchFamily="34" charset="0"/>
                <a:ea typeface="Calibri" pitchFamily="34" charset="-122"/>
                <a:cs typeface="Calibri" pitchFamily="34" charset="-120"/>
              </a:rPr>
              <a:t>"We need some way to ___," ___ said. "Some way to ___."</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21 — The Panther and the Fire</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21 — The Panther and the Fire</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notice when an author uses an object or creature to mean more than itself. In Chapter 21, the panther enters the scene. As you read: what is the panther doing literally? And what might it represent symbolically in the context of this story?</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What role does the panther play in the rescue plan, and what does the panther symbolize in Choctaw tradition? Use details from the chapter.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Fire has appeared many times in this novel. Compare at least two of its appearances: the burning of Isaac’s town vs. the fire in Chapter 21. What does fire mean in each context? Is Tingle using it to say something about power?</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The rescue plan in this novel requires cooperation between the living and the dead. What does that cooperation suggest about the relationship between the present and the past? What is Tingle saying about whether the dead can still protect the living?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DRAFT WITH SUPPORT</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Draft Literary Analysis</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Draft with support stage. Write the full draft of your literary analysis paragraph: claim sentence, two pieces of evidence with explanation, and a closing sentence. Use at least one complex sentence and one transition word.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2026-07-13T17:32:03Z</dcterms:created>
  <dcterms:modified xsi:type="dcterms:W3CDTF">2026-07-13T17:32:03Z</dcterms:modified>
</cp:coreProperties>
</file>