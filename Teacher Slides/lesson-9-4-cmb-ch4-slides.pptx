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notesMasterIdLst>
    <p:notesMasterId r:id="rId21"/>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Title slide: Week 9, Day 4, Chapter 4 — Boys Don’t Blubber.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Big Q: Hab is gone. Prices are rising. His mother is sick. By the end of Chapter 4, Nat Bowditch is twelve years old and his name is on a piece of paper that will shape the next nine years of his life. Today you close the week by looking back across all four chapters — and forward toward the question Nat’s story will spend a lifetime answering.
Morphology: I will explain which root built each word from our naut/nav/port family.
Vocabulary: I will choose how to demonstrate what I know about this week’s words.
Grammar: I will explain why active voice makes writing stronger and choose the better sentence.
Spelling: I will challenge myself to find the word that breaks the vowel pattern.
Reading: I will read Chapter 4 and reflect on what stays constant in Nat across the whole week.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this lens aloud before students open their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 answer needed — tap-and-notice only. Discuss why each highlighted word/punctuation mark is correct.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Fix-it: "at twelve years old, nathaniel signed the indenture that would bind him to ropes and hodges for nine years."
Corrected: "“At twelve years old, Nathaniel signed the indenture that would bind him to Ropes and Hodges for nine years.”"
Four corrections: the sentence starts with At (capital for the first word), Nathaniel is a person’s name (proper noun — always capitalized), and Ropes and Hodges are both part of a business name (proper noun — both capitalized). The word indenture stays lowercase — it’s a type of document, not a proper name. Compare with the model: the same four words need capitals.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Fix-it: "at twelve years old, nathaniel signed the indenture that would bind him to ropes and hodges for nine years."
Corrected: "“At twelve years old, Nathaniel signed the indenture that would bind him to Ropes and Hodges for nine years.”"
Four corrections: the sentence starts with At (capital for the first word), Nathaniel is a person’s name (proper noun — always capitalized), and Ropes and Hodges are both part of a business name (proper noun — both capitalized). The word indenture stays lowercase — it’s a type of document, not a proper name. Compare with the model: the same four words need capitals.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poem aloud. Give students a moment to notice before discussing.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Optional routine — use if time allows. Read the prompt aloud. Remind students: pick a side, defend with evidence, anticipate disagreement.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Set a 5-minute timer. Remind: choose a side, defend with evidence.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Focus: Does this detail actually support what I'm trying to say, or is it just filler?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Call on 3-4 students. Encourage respectful disagreement about their choice/defense.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Morphology practice for the day. Practice only today — not the graded strand.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Vocabulary mode: Choice Menu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 answers yet — students discuss and guess.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revealed — correct labels in green.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Spelling focus: 🔤 Spelling: Odd One 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Tracker: Nat’s Path Through Carry On, Mr. Bowditch — 📍 You are here: Chapter 4 — Boys Don’t Blubber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Preview only — students answer these after reading, in the Assignment tab.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Writing Connection — RESEARCH CLAIM: Finalize your claim before moving to planning
Focus: After a week of reading and testing, it’s time to write your FINAL version of the claim. This goes at the end of your introduction. It should be the clearest, most specific sentence you’ve written all week.
Before: BEFORE Week 1 Day 1 claim: What made Bowditch extraordinary was not just his genius, but his belief that navigation was learnable.
After: AFTER Finalized claim after reading Chs. 1–4: What made Nathaniel Bowditch extraordinary was not his mathematical talent alone, but the fact that he treated every obstacle — poverty, indenture, self-education — as fuel, and directed everything he learned toward making navigation safer for sailors who depended on it.
Notice: Notice: Alex’s finalized claim is longer and more specific. Reading Chs. 1–4 gave Alex concrete details (poverty, indenture, self-education) that make the claim provable. Your claim should grow richer as you read.
Tool: Today’s Tool: Claim Revision: Before and After — Write your Day 1 claim and your Day 4 version side by side. Note what changed and why.
Frames: “What made Nathaniel Bowditch truly extraordinary was ___.” | “More than just ___, Bowditch was defined by his commitment to ___.” | “Throughout his life, Bowditch demonstrated that ___...”
Prompt: Write your finalized research claim after reading Chapters 1–4. This is the sentence that will anchor your entire essay.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E1C42"/>
        </a:solidFill>
      </p:bgPr>
    </p:bg>
    <p:spTree>
      <p:nvGrpSpPr>
        <p:cNvPr id="1" name=""/>
        <p:cNvGrpSpPr/>
        <p:nvPr/>
      </p:nvGrpSpPr>
      <p:grpSpPr>
        <a:xfrm>
          <a:off x="0" y="0"/>
          <a:ext cx="0" cy="0"/>
          <a:chOff x="0" y="0"/>
          <a:chExt cx="0" cy="0"/>
        </a:xfrm>
      </p:grpSpPr>
      <p:sp>
        <p:nvSpPr>
          <p:cNvPr id="2" name="Shape 0"/>
          <p:cNvSpPr/>
          <p:nvPr/>
        </p:nvSpPr>
        <p:spPr>
          <a:xfrm>
            <a:off x="0" y="4114800"/>
            <a:ext cx="9144000" cy="1028700"/>
          </a:xfrm>
          <a:prstGeom prst="rect">
            <a:avLst/>
          </a:prstGeom>
          <a:solidFill>
            <a:srgbClr val="55C8E8">
              <a:alpha val="15000"/>
            </a:srgbClr>
          </a:solidFill>
          <a:ln/>
        </p:spPr>
      </p:sp>
      <p:sp>
        <p:nvSpPr>
          <p:cNvPr id="3" name="Text 1"/>
          <p:cNvSpPr/>
          <p:nvPr/>
        </p:nvSpPr>
        <p:spPr>
          <a:xfrm>
            <a:off x="457200" y="640080"/>
            <a:ext cx="8229600" cy="365760"/>
          </a:xfrm>
          <a:prstGeom prst="rect">
            <a:avLst/>
          </a:prstGeom>
          <a:noFill/>
          <a:ln/>
        </p:spPr>
        <p:txBody>
          <a:bodyPr wrap="square" lIns="0" tIns="0" rIns="0" bIns="0" rtlCol="0" anchor="ctr"/>
          <a:lstStyle/>
          <a:p>
            <a:pPr algn="l" indent="0" marL="0">
              <a:buNone/>
            </a:pPr>
            <a:r>
              <a:rPr lang="en-US" sz="1300" b="1" spc="400" kern="0" dirty="0">
                <a:solidFill>
                  <a:srgbClr val="55C8E8"/>
                </a:solidFill>
                <a:latin typeface="Calibri" pitchFamily="34" charset="0"/>
                <a:ea typeface="Calibri" pitchFamily="34" charset="-122"/>
                <a:cs typeface="Calibri" pitchFamily="34" charset="-120"/>
              </a:rPr>
              <a:t>WEEK 9  ·  DAY 4</a:t>
            </a:r>
            <a:endParaRPr lang="en-US" sz="1300" dirty="0"/>
          </a:p>
        </p:txBody>
      </p:sp>
      <p:sp>
        <p:nvSpPr>
          <p:cNvPr id="4" name="Text 2"/>
          <p:cNvSpPr/>
          <p:nvPr/>
        </p:nvSpPr>
        <p:spPr>
          <a:xfrm>
            <a:off x="457200" y="1097280"/>
            <a:ext cx="8229600" cy="1645920"/>
          </a:xfrm>
          <a:prstGeom prst="rect">
            <a:avLst/>
          </a:prstGeom>
          <a:noFill/>
          <a:ln/>
        </p:spPr>
        <p:txBody>
          <a:bodyPr wrap="square" lIns="0" tIns="0" rIns="0" bIns="0" rtlCol="0" anchor="ctr"/>
          <a:lstStyle/>
          <a:p>
            <a:pPr algn="l" indent="0" marL="0">
              <a:buNone/>
            </a:pPr>
            <a:r>
              <a:rPr lang="en-US" sz="3000" b="1" dirty="0">
                <a:solidFill>
                  <a:srgbClr val="FFFFFF"/>
                </a:solidFill>
                <a:latin typeface="Calibri" pitchFamily="34" charset="0"/>
                <a:ea typeface="Calibri" pitchFamily="34" charset="-122"/>
                <a:cs typeface="Calibri" pitchFamily="34" charset="-120"/>
              </a:rPr>
              <a:t>Carry On, Mr. Bowditch</a:t>
            </a:r>
            <a:endParaRPr lang="en-US" sz="3000" dirty="0"/>
          </a:p>
          <a:p>
            <a:pPr algn="l" indent="0" marL="0">
              <a:buNone/>
            </a:pPr>
            <a:r>
              <a:rPr lang="en-US" sz="3000" b="1" dirty="0">
                <a:solidFill>
                  <a:srgbClr val="FFFFFF"/>
                </a:solidFill>
                <a:latin typeface="Calibri" pitchFamily="34" charset="0"/>
                <a:ea typeface="Calibri" pitchFamily="34" charset="-122"/>
                <a:cs typeface="Calibri" pitchFamily="34" charset="-120"/>
              </a:rPr>
              <a:t>Chapter 4 — Boys Don’t Blubber</a:t>
            </a:r>
            <a:endParaRPr lang="en-US" sz="3000" dirty="0"/>
          </a:p>
        </p:txBody>
      </p:sp>
      <p:sp>
        <p:nvSpPr>
          <p:cNvPr id="5" name="Text 3"/>
          <p:cNvSpPr/>
          <p:nvPr/>
        </p:nvSpPr>
        <p:spPr>
          <a:xfrm>
            <a:off x="457200" y="4434840"/>
            <a:ext cx="8229600" cy="365760"/>
          </a:xfrm>
          <a:prstGeom prst="rect">
            <a:avLst/>
          </a:prstGeom>
          <a:noFill/>
          <a:ln/>
        </p:spPr>
        <p:txBody>
          <a:bodyPr wrap="square" lIns="0" tIns="0" rIns="0" bIns="0" rtlCol="0" anchor="ctr"/>
          <a:lstStyle/>
          <a:p>
            <a:pPr algn="l" indent="0" marL="0">
              <a:buNone/>
            </a:pPr>
            <a:r>
              <a:rPr lang="en-US" sz="1200" dirty="0">
                <a:solidFill>
                  <a:srgbClr val="FFFFFF"/>
                </a:solidFill>
                <a:latin typeface="Calibri" pitchFamily="34" charset="0"/>
                <a:ea typeface="Calibri" pitchFamily="34" charset="-122"/>
                <a:cs typeface="Calibri" pitchFamily="34" charset="-120"/>
              </a:rPr>
              <a:t>🧭  Week 9  ·  Virtue: Perseverance</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164592"/>
            <a:ext cx="8412480" cy="566928"/>
          </a:xfrm>
          <a:prstGeom prst="rect">
            <a:avLst/>
          </a:prstGeom>
          <a:noFill/>
          <a:ln/>
        </p:spPr>
        <p:txBody>
          <a:bodyPr wrap="square" lIns="0" tIns="0" rIns="0" bIns="0" rtlCol="0" anchor="ctr"/>
          <a:lstStyle/>
          <a:p>
            <a:pPr algn="l" indent="0" marL="0">
              <a:buNone/>
            </a:pPr>
            <a:r>
              <a:rPr lang="en-US" sz="2600" b="1" dirty="0">
                <a:solidFill>
                  <a:srgbClr val="0E1C42"/>
                </a:solidFill>
                <a:latin typeface="Calibri" pitchFamily="34" charset="0"/>
                <a:ea typeface="Calibri" pitchFamily="34" charset="-122"/>
                <a:cs typeface="Calibri" pitchFamily="34" charset="-120"/>
              </a:rPr>
              <a:t>Today's Objectives</a:t>
            </a:r>
            <a:endParaRPr lang="en-US" sz="2600" dirty="0"/>
          </a:p>
        </p:txBody>
      </p:sp>
      <p:sp>
        <p:nvSpPr>
          <p:cNvPr id="3" name="Shape 1"/>
          <p:cNvSpPr/>
          <p:nvPr/>
        </p:nvSpPr>
        <p:spPr>
          <a:xfrm>
            <a:off x="365760" y="749808"/>
            <a:ext cx="8412480" cy="0"/>
          </a:xfrm>
          <a:prstGeom prst="line">
            <a:avLst/>
          </a:prstGeom>
          <a:noFill/>
          <a:ln w="19050">
            <a:solidFill>
              <a:srgbClr val="55C8E8"/>
            </a:solidFill>
            <a:prstDash val="solid"/>
          </a:ln>
        </p:spPr>
      </p:sp>
      <p:sp>
        <p:nvSpPr>
          <p:cNvPr id="4" name="Text 2"/>
          <p:cNvSpPr/>
          <p:nvPr/>
        </p:nvSpPr>
        <p:spPr>
          <a:xfrm>
            <a:off x="365760" y="868680"/>
            <a:ext cx="8046720" cy="292608"/>
          </a:xfrm>
          <a:prstGeom prst="rect">
            <a:avLst/>
          </a:prstGeom>
          <a:noFill/>
          <a:ln/>
        </p:spPr>
        <p:txBody>
          <a:bodyPr wrap="square" lIns="0" tIns="0" rIns="0" bIns="0" rtlCol="0" anchor="ctr"/>
          <a:lstStyle/>
          <a:p>
            <a:pPr indent="0" marL="0">
              <a:buNone/>
            </a:pPr>
            <a:r>
              <a:rPr lang="en-US" sz="1100" b="1" spc="200" kern="0" dirty="0">
                <a:solidFill>
                  <a:srgbClr val="8B6FC0"/>
                </a:solidFill>
                <a:latin typeface="Calibri" pitchFamily="34" charset="0"/>
                <a:ea typeface="Calibri" pitchFamily="34" charset="-122"/>
                <a:cs typeface="Calibri" pitchFamily="34" charset="-120"/>
              </a:rPr>
              <a:t>BIG QUESTION</a:t>
            </a:r>
            <a:endParaRPr lang="en-US" sz="1100" dirty="0"/>
          </a:p>
        </p:txBody>
      </p:sp>
      <p:sp>
        <p:nvSpPr>
          <p:cNvPr id="5" name="Shape 3"/>
          <p:cNvSpPr/>
          <p:nvPr/>
        </p:nvSpPr>
        <p:spPr>
          <a:xfrm>
            <a:off x="365760" y="1115568"/>
            <a:ext cx="8412480" cy="777240"/>
          </a:xfrm>
          <a:prstGeom prst="roundRect">
            <a:avLst>
              <a:gd name="adj" fmla="val 11765"/>
            </a:avLst>
          </a:prstGeom>
          <a:solidFill>
            <a:srgbClr val="F0E8FF"/>
          </a:solidFill>
          <a:ln/>
          <a:effectLst>
            <a:outerShdw sx="100000" sy="100000" kx="0" ky="0" algn="bl" rotWithShape="0" blurRad="101600" dist="38100" dir="2700000">
              <a:srgbClr val="000000">
                <a:alpha val="12000"/>
              </a:srgbClr>
            </a:outerShdw>
          </a:effectLst>
        </p:spPr>
      </p:sp>
      <p:sp>
        <p:nvSpPr>
          <p:cNvPr id="6" name="Text 4"/>
          <p:cNvSpPr/>
          <p:nvPr/>
        </p:nvSpPr>
        <p:spPr>
          <a:xfrm>
            <a:off x="594360" y="1207008"/>
            <a:ext cx="7955280" cy="594360"/>
          </a:xfrm>
          <a:prstGeom prst="rect">
            <a:avLst/>
          </a:prstGeom>
          <a:noFill/>
          <a:ln/>
        </p:spPr>
        <p:txBody>
          <a:bodyPr wrap="square" lIns="0" tIns="0" rIns="0" bIns="0" rtlCol="0" anchor="ctr"/>
          <a:lstStyle/>
          <a:p>
            <a:pPr indent="0" marL="0">
              <a:buNone/>
            </a:pPr>
            <a:r>
              <a:rPr lang="en-US" sz="1300" i="1" dirty="0">
                <a:solidFill>
                  <a:srgbClr val="1E293B"/>
                </a:solidFill>
                <a:latin typeface="Calibri" pitchFamily="34" charset="0"/>
                <a:ea typeface="Calibri" pitchFamily="34" charset="-122"/>
                <a:cs typeface="Calibri" pitchFamily="34" charset="-120"/>
              </a:rPr>
              <a:t>Hab is gone. Prices are rising. His mother is sick. By the end of Chapter 4, Nat Bowditch is twelve years old and his name is on a piece of paper that will shape the next nine years of his life. Today you close the week by looking back across all four chapters — and forward toward the question Nat’s story will spend a lifetime answering.</a:t>
            </a:r>
            <a:endParaRPr lang="en-US" sz="1300" dirty="0"/>
          </a:p>
        </p:txBody>
      </p:sp>
      <p:sp>
        <p:nvSpPr>
          <p:cNvPr id="7" name="Text 5"/>
          <p:cNvSpPr/>
          <p:nvPr/>
        </p:nvSpPr>
        <p:spPr>
          <a:xfrm>
            <a:off x="365760" y="2011680"/>
            <a:ext cx="8046720" cy="292608"/>
          </a:xfrm>
          <a:prstGeom prst="rect">
            <a:avLst/>
          </a:prstGeom>
          <a:noFill/>
          <a:ln/>
        </p:spPr>
        <p:txBody>
          <a:bodyPr wrap="square" lIns="0" tIns="0" rIns="0" bIns="0" rtlCol="0" anchor="ctr"/>
          <a:lstStyle/>
          <a:p>
            <a:pPr indent="0" marL="0">
              <a:buNone/>
            </a:pPr>
            <a:r>
              <a:rPr lang="en-US" sz="1100" b="1" spc="200" kern="0" dirty="0">
                <a:solidFill>
                  <a:srgbClr val="64748B"/>
                </a:solidFill>
                <a:latin typeface="Calibri" pitchFamily="34" charset="0"/>
                <a:ea typeface="Calibri" pitchFamily="34" charset="-122"/>
                <a:cs typeface="Calibri" pitchFamily="34" charset="-120"/>
              </a:rPr>
              <a:t>BY THE END OF THIS LESSON...</a:t>
            </a:r>
            <a:endParaRPr lang="en-US" sz="1100" dirty="0"/>
          </a:p>
        </p:txBody>
      </p:sp>
      <p:sp>
        <p:nvSpPr>
          <p:cNvPr id="8" name="Shape 6"/>
          <p:cNvSpPr/>
          <p:nvPr/>
        </p:nvSpPr>
        <p:spPr>
          <a:xfrm>
            <a:off x="365760" y="2286000"/>
            <a:ext cx="8412480" cy="548640"/>
          </a:xfrm>
          <a:prstGeom prst="roundRect">
            <a:avLst>
              <a:gd name="adj" fmla="val 16667"/>
            </a:avLst>
          </a:prstGeom>
          <a:solidFill>
            <a:srgbClr val="F8FAFC"/>
          </a:solidFill>
          <a:ln/>
          <a:effectLst>
            <a:outerShdw sx="100000" sy="100000" kx="0" ky="0" algn="bl" rotWithShape="0" blurRad="101600" dist="38100" dir="2700000">
              <a:srgbClr val="000000">
                <a:alpha val="12000"/>
              </a:srgbClr>
            </a:outerShdw>
          </a:effectLst>
        </p:spPr>
      </p:sp>
      <p:sp>
        <p:nvSpPr>
          <p:cNvPr id="9" name="Text 7"/>
          <p:cNvSpPr/>
          <p:nvPr/>
        </p:nvSpPr>
        <p:spPr>
          <a:xfrm>
            <a:off x="548640" y="2359152"/>
            <a:ext cx="8046720" cy="402336"/>
          </a:xfrm>
          <a:prstGeom prst="rect">
            <a:avLst/>
          </a:prstGeom>
          <a:noFill/>
          <a:ln/>
        </p:spPr>
        <p:txBody>
          <a:bodyPr wrap="square" lIns="0" tIns="0" rIns="0" bIns="0" rtlCol="0" anchor="ctr"/>
          <a:lstStyle/>
          <a:p>
            <a:pPr indent="0" marL="0">
              <a:buNone/>
            </a:pPr>
            <a:r>
              <a:rPr lang="en-US" sz="1500" dirty="0">
                <a:solidFill>
                  <a:srgbClr val="000000"/>
                </a:solidFill>
              </a:rPr>
              <a:t>🌱  </a:t>
            </a:r>
            <a:pPr indent="0" marL="0">
              <a:buNone/>
            </a:pPr>
            <a:r>
              <a:rPr lang="en-US" sz="1300" b="1" dirty="0">
                <a:solidFill>
                  <a:srgbClr val="0E1C42"/>
                </a:solidFill>
                <a:latin typeface="Calibri" pitchFamily="34" charset="0"/>
                <a:ea typeface="Calibri" pitchFamily="34" charset="-122"/>
                <a:cs typeface="Calibri" pitchFamily="34" charset="-120"/>
              </a:rPr>
              <a:t>Morphology: </a:t>
            </a:r>
            <a:pPr indent="0" marL="0">
              <a:buNone/>
            </a:pPr>
            <a:r>
              <a:rPr lang="en-US" sz="1250" dirty="0">
                <a:solidFill>
                  <a:srgbClr val="1E293B"/>
                </a:solidFill>
                <a:latin typeface="Calibri" pitchFamily="34" charset="0"/>
                <a:ea typeface="Calibri" pitchFamily="34" charset="-122"/>
                <a:cs typeface="Calibri" pitchFamily="34" charset="-120"/>
              </a:rPr>
              <a:t>I will explain which root built each word from our naut/nav/port family.</a:t>
            </a:r>
            <a:endParaRPr lang="en-US" sz="1500" dirty="0"/>
          </a:p>
        </p:txBody>
      </p:sp>
      <p:sp>
        <p:nvSpPr>
          <p:cNvPr id="10" name="Shape 8"/>
          <p:cNvSpPr/>
          <p:nvPr/>
        </p:nvSpPr>
        <p:spPr>
          <a:xfrm>
            <a:off x="365760" y="2926080"/>
            <a:ext cx="8412480" cy="548640"/>
          </a:xfrm>
          <a:prstGeom prst="roundRect">
            <a:avLst>
              <a:gd name="adj" fmla="val 16667"/>
            </a:avLst>
          </a:prstGeom>
          <a:solidFill>
            <a:srgbClr val="F8FAFC"/>
          </a:solidFill>
          <a:ln/>
          <a:effectLst>
            <a:outerShdw sx="100000" sy="100000" kx="0" ky="0" algn="bl" rotWithShape="0" blurRad="101600" dist="38100" dir="2700000">
              <a:srgbClr val="000000">
                <a:alpha val="12000"/>
              </a:srgbClr>
            </a:outerShdw>
          </a:effectLst>
        </p:spPr>
      </p:sp>
      <p:sp>
        <p:nvSpPr>
          <p:cNvPr id="11" name="Text 9"/>
          <p:cNvSpPr/>
          <p:nvPr/>
        </p:nvSpPr>
        <p:spPr>
          <a:xfrm>
            <a:off x="548640" y="2999232"/>
            <a:ext cx="8046720" cy="402336"/>
          </a:xfrm>
          <a:prstGeom prst="rect">
            <a:avLst/>
          </a:prstGeom>
          <a:noFill/>
          <a:ln/>
        </p:spPr>
        <p:txBody>
          <a:bodyPr wrap="square" lIns="0" tIns="0" rIns="0" bIns="0" rtlCol="0" anchor="ctr"/>
          <a:lstStyle/>
          <a:p>
            <a:pPr indent="0" marL="0">
              <a:buNone/>
            </a:pPr>
            <a:r>
              <a:rPr lang="en-US" sz="1500" dirty="0">
                <a:solidFill>
                  <a:srgbClr val="000000"/>
                </a:solidFill>
              </a:rPr>
              <a:t>📚  </a:t>
            </a:r>
            <a:pPr indent="0" marL="0">
              <a:buNone/>
            </a:pPr>
            <a:r>
              <a:rPr lang="en-US" sz="1300" b="1" dirty="0">
                <a:solidFill>
                  <a:srgbClr val="0E1C42"/>
                </a:solidFill>
                <a:latin typeface="Calibri" pitchFamily="34" charset="0"/>
                <a:ea typeface="Calibri" pitchFamily="34" charset="-122"/>
                <a:cs typeface="Calibri" pitchFamily="34" charset="-120"/>
              </a:rPr>
              <a:t>Vocabulary: </a:t>
            </a:r>
            <a:pPr indent="0" marL="0">
              <a:buNone/>
            </a:pPr>
            <a:r>
              <a:rPr lang="en-US" sz="1250" dirty="0">
                <a:solidFill>
                  <a:srgbClr val="1E293B"/>
                </a:solidFill>
                <a:latin typeface="Calibri" pitchFamily="34" charset="0"/>
                <a:ea typeface="Calibri" pitchFamily="34" charset="-122"/>
                <a:cs typeface="Calibri" pitchFamily="34" charset="-120"/>
              </a:rPr>
              <a:t>I will choose how to demonstrate what I know about this week’s words.</a:t>
            </a:r>
            <a:endParaRPr lang="en-US" sz="1500" dirty="0"/>
          </a:p>
        </p:txBody>
      </p:sp>
      <p:sp>
        <p:nvSpPr>
          <p:cNvPr id="12" name="Shape 10"/>
          <p:cNvSpPr/>
          <p:nvPr/>
        </p:nvSpPr>
        <p:spPr>
          <a:xfrm>
            <a:off x="365760" y="3566160"/>
            <a:ext cx="8412480" cy="548640"/>
          </a:xfrm>
          <a:prstGeom prst="roundRect">
            <a:avLst>
              <a:gd name="adj" fmla="val 16667"/>
            </a:avLst>
          </a:prstGeom>
          <a:solidFill>
            <a:srgbClr val="F8FAFC"/>
          </a:solidFill>
          <a:ln/>
          <a:effectLst>
            <a:outerShdw sx="100000" sy="100000" kx="0" ky="0" algn="bl" rotWithShape="0" blurRad="101600" dist="38100" dir="2700000">
              <a:srgbClr val="000000">
                <a:alpha val="12000"/>
              </a:srgbClr>
            </a:outerShdw>
          </a:effectLst>
        </p:spPr>
      </p:sp>
      <p:sp>
        <p:nvSpPr>
          <p:cNvPr id="13" name="Text 11"/>
          <p:cNvSpPr/>
          <p:nvPr/>
        </p:nvSpPr>
        <p:spPr>
          <a:xfrm>
            <a:off x="548640" y="3639312"/>
            <a:ext cx="8046720" cy="402336"/>
          </a:xfrm>
          <a:prstGeom prst="rect">
            <a:avLst/>
          </a:prstGeom>
          <a:noFill/>
          <a:ln/>
        </p:spPr>
        <p:txBody>
          <a:bodyPr wrap="square" lIns="0" tIns="0" rIns="0" bIns="0" rtlCol="0" anchor="ctr"/>
          <a:lstStyle/>
          <a:p>
            <a:pPr indent="0" marL="0">
              <a:buNone/>
            </a:pPr>
            <a:r>
              <a:rPr lang="en-US" sz="1500" dirty="0">
                <a:solidFill>
                  <a:srgbClr val="000000"/>
                </a:solidFill>
              </a:rPr>
              <a:t>✏️  </a:t>
            </a:r>
            <a:pPr indent="0" marL="0">
              <a:buNone/>
            </a:pPr>
            <a:r>
              <a:rPr lang="en-US" sz="1300" b="1" dirty="0">
                <a:solidFill>
                  <a:srgbClr val="0E1C42"/>
                </a:solidFill>
                <a:latin typeface="Calibri" pitchFamily="34" charset="0"/>
                <a:ea typeface="Calibri" pitchFamily="34" charset="-122"/>
                <a:cs typeface="Calibri" pitchFamily="34" charset="-120"/>
              </a:rPr>
              <a:t>Grammar: </a:t>
            </a:r>
            <a:pPr indent="0" marL="0">
              <a:buNone/>
            </a:pPr>
            <a:r>
              <a:rPr lang="en-US" sz="1250" dirty="0">
                <a:solidFill>
                  <a:srgbClr val="1E293B"/>
                </a:solidFill>
                <a:latin typeface="Calibri" pitchFamily="34" charset="0"/>
                <a:ea typeface="Calibri" pitchFamily="34" charset="-122"/>
                <a:cs typeface="Calibri" pitchFamily="34" charset="-120"/>
              </a:rPr>
              <a:t>I will explain why active voice makes writing stronger and choose the better sentence.</a:t>
            </a:r>
            <a:endParaRPr lang="en-US" sz="1500" dirty="0"/>
          </a:p>
        </p:txBody>
      </p:sp>
      <p:sp>
        <p:nvSpPr>
          <p:cNvPr id="14" name="Shape 12"/>
          <p:cNvSpPr/>
          <p:nvPr/>
        </p:nvSpPr>
        <p:spPr>
          <a:xfrm>
            <a:off x="365760" y="4206240"/>
            <a:ext cx="8412480" cy="548640"/>
          </a:xfrm>
          <a:prstGeom prst="roundRect">
            <a:avLst>
              <a:gd name="adj" fmla="val 16667"/>
            </a:avLst>
          </a:prstGeom>
          <a:solidFill>
            <a:srgbClr val="F8FAFC"/>
          </a:solidFill>
          <a:ln/>
          <a:effectLst>
            <a:outerShdw sx="100000" sy="100000" kx="0" ky="0" algn="bl" rotWithShape="0" blurRad="101600" dist="38100" dir="2700000">
              <a:srgbClr val="000000">
                <a:alpha val="12000"/>
              </a:srgbClr>
            </a:outerShdw>
          </a:effectLst>
        </p:spPr>
      </p:sp>
      <p:sp>
        <p:nvSpPr>
          <p:cNvPr id="15" name="Text 13"/>
          <p:cNvSpPr/>
          <p:nvPr/>
        </p:nvSpPr>
        <p:spPr>
          <a:xfrm>
            <a:off x="548640" y="4279392"/>
            <a:ext cx="8046720" cy="402336"/>
          </a:xfrm>
          <a:prstGeom prst="rect">
            <a:avLst/>
          </a:prstGeom>
          <a:noFill/>
          <a:ln/>
        </p:spPr>
        <p:txBody>
          <a:bodyPr wrap="square" lIns="0" tIns="0" rIns="0" bIns="0" rtlCol="0" anchor="ctr"/>
          <a:lstStyle/>
          <a:p>
            <a:pPr indent="0" marL="0">
              <a:buNone/>
            </a:pPr>
            <a:r>
              <a:rPr lang="en-US" sz="1500" dirty="0">
                <a:solidFill>
                  <a:srgbClr val="000000"/>
                </a:solidFill>
              </a:rPr>
              <a:t>🔤  </a:t>
            </a:r>
            <a:pPr indent="0" marL="0">
              <a:buNone/>
            </a:pPr>
            <a:r>
              <a:rPr lang="en-US" sz="1300" b="1" dirty="0">
                <a:solidFill>
                  <a:srgbClr val="0E1C42"/>
                </a:solidFill>
                <a:latin typeface="Calibri" pitchFamily="34" charset="0"/>
                <a:ea typeface="Calibri" pitchFamily="34" charset="-122"/>
                <a:cs typeface="Calibri" pitchFamily="34" charset="-120"/>
              </a:rPr>
              <a:t>Spelling: </a:t>
            </a:r>
            <a:pPr indent="0" marL="0">
              <a:buNone/>
            </a:pPr>
            <a:r>
              <a:rPr lang="en-US" sz="1250" dirty="0">
                <a:solidFill>
                  <a:srgbClr val="1E293B"/>
                </a:solidFill>
                <a:latin typeface="Calibri" pitchFamily="34" charset="0"/>
                <a:ea typeface="Calibri" pitchFamily="34" charset="-122"/>
                <a:cs typeface="Calibri" pitchFamily="34" charset="-120"/>
              </a:rPr>
              <a:t>I will challenge myself to find the word that breaks the vowel pattern.</a:t>
            </a:r>
            <a:endParaRPr lang="en-US" sz="1500" dirty="0"/>
          </a:p>
        </p:txBody>
      </p:sp>
      <p:sp>
        <p:nvSpPr>
          <p:cNvPr id="16" name="Shape 14"/>
          <p:cNvSpPr/>
          <p:nvPr/>
        </p:nvSpPr>
        <p:spPr>
          <a:xfrm>
            <a:off x="365760" y="4846320"/>
            <a:ext cx="8412480" cy="548640"/>
          </a:xfrm>
          <a:prstGeom prst="roundRect">
            <a:avLst>
              <a:gd name="adj" fmla="val 16667"/>
            </a:avLst>
          </a:prstGeom>
          <a:solidFill>
            <a:srgbClr val="F8FAFC"/>
          </a:solidFill>
          <a:ln/>
          <a:effectLst>
            <a:outerShdw sx="100000" sy="100000" kx="0" ky="0" algn="bl" rotWithShape="0" blurRad="101600" dist="38100" dir="2700000">
              <a:srgbClr val="000000">
                <a:alpha val="12000"/>
              </a:srgbClr>
            </a:outerShdw>
          </a:effectLst>
        </p:spPr>
      </p:sp>
      <p:sp>
        <p:nvSpPr>
          <p:cNvPr id="17" name="Text 15"/>
          <p:cNvSpPr/>
          <p:nvPr/>
        </p:nvSpPr>
        <p:spPr>
          <a:xfrm>
            <a:off x="548640" y="4919472"/>
            <a:ext cx="8046720" cy="402336"/>
          </a:xfrm>
          <a:prstGeom prst="rect">
            <a:avLst/>
          </a:prstGeom>
          <a:noFill/>
          <a:ln/>
        </p:spPr>
        <p:txBody>
          <a:bodyPr wrap="square" lIns="0" tIns="0" rIns="0" bIns="0" rtlCol="0" anchor="ctr"/>
          <a:lstStyle/>
          <a:p>
            <a:pPr indent="0" marL="0">
              <a:buNone/>
            </a:pPr>
            <a:r>
              <a:rPr lang="en-US" sz="1500" dirty="0">
                <a:solidFill>
                  <a:srgbClr val="000000"/>
                </a:solidFill>
              </a:rPr>
              <a:t>📖  </a:t>
            </a:r>
            <a:pPr indent="0" marL="0">
              <a:buNone/>
            </a:pPr>
            <a:r>
              <a:rPr lang="en-US" sz="1300" b="1" dirty="0">
                <a:solidFill>
                  <a:srgbClr val="0E1C42"/>
                </a:solidFill>
                <a:latin typeface="Calibri" pitchFamily="34" charset="0"/>
                <a:ea typeface="Calibri" pitchFamily="34" charset="-122"/>
                <a:cs typeface="Calibri" pitchFamily="34" charset="-120"/>
              </a:rPr>
              <a:t>Reading: </a:t>
            </a:r>
            <a:pPr indent="0" marL="0">
              <a:buNone/>
            </a:pPr>
            <a:r>
              <a:rPr lang="en-US" sz="1250" dirty="0">
                <a:solidFill>
                  <a:srgbClr val="1E293B"/>
                </a:solidFill>
                <a:latin typeface="Calibri" pitchFamily="34" charset="0"/>
                <a:ea typeface="Calibri" pitchFamily="34" charset="-122"/>
                <a:cs typeface="Calibri" pitchFamily="34" charset="-120"/>
              </a:rPr>
              <a:t>I will read Chapter 4 and reflect on what stays constant in Nat across the whole week.</a:t>
            </a:r>
            <a:endParaRPr lang="en-US" sz="15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164592"/>
            <a:ext cx="8412480" cy="566928"/>
          </a:xfrm>
          <a:prstGeom prst="rect">
            <a:avLst/>
          </a:prstGeom>
          <a:noFill/>
          <a:ln/>
        </p:spPr>
        <p:txBody>
          <a:bodyPr wrap="square" lIns="0" tIns="0" rIns="0" bIns="0" rtlCol="0" anchor="ctr"/>
          <a:lstStyle/>
          <a:p>
            <a:pPr algn="l" indent="0" marL="0">
              <a:buNone/>
            </a:pPr>
            <a:r>
              <a:rPr lang="en-US" sz="2600" b="1" dirty="0">
                <a:solidFill>
                  <a:srgbClr val="0E1C42"/>
                </a:solidFill>
                <a:latin typeface="Calibri" pitchFamily="34" charset="0"/>
                <a:ea typeface="Calibri" pitchFamily="34" charset="-122"/>
                <a:cs typeface="Calibri" pitchFamily="34" charset="-120"/>
              </a:rPr>
              <a:t>📚 What Good Readers Do</a:t>
            </a:r>
            <a:endParaRPr lang="en-US" sz="2600" dirty="0"/>
          </a:p>
        </p:txBody>
      </p:sp>
      <p:sp>
        <p:nvSpPr>
          <p:cNvPr id="3" name="Shape 1"/>
          <p:cNvSpPr/>
          <p:nvPr/>
        </p:nvSpPr>
        <p:spPr>
          <a:xfrm>
            <a:off x="365760" y="749808"/>
            <a:ext cx="8412480" cy="0"/>
          </a:xfrm>
          <a:prstGeom prst="line">
            <a:avLst/>
          </a:prstGeom>
          <a:noFill/>
          <a:ln w="19050">
            <a:solidFill>
              <a:srgbClr val="8B6FC0"/>
            </a:solidFill>
            <a:prstDash val="solid"/>
          </a:ln>
        </p:spPr>
      </p:sp>
      <p:sp>
        <p:nvSpPr>
          <p:cNvPr id="4" name="Text 2"/>
          <p:cNvSpPr/>
          <p:nvPr/>
        </p:nvSpPr>
        <p:spPr>
          <a:xfrm>
            <a:off x="365760" y="822960"/>
            <a:ext cx="8046720" cy="292608"/>
          </a:xfrm>
          <a:prstGeom prst="rect">
            <a:avLst/>
          </a:prstGeom>
          <a:noFill/>
          <a:ln/>
        </p:spPr>
        <p:txBody>
          <a:bodyPr wrap="square" lIns="0" tIns="0" rIns="0" bIns="0" rtlCol="0" anchor="ctr"/>
          <a:lstStyle/>
          <a:p>
            <a:pPr indent="0" marL="0">
              <a:buNone/>
            </a:pPr>
            <a:r>
              <a:rPr lang="en-US" sz="1100" b="1" spc="200" kern="0" dirty="0">
                <a:solidFill>
                  <a:srgbClr val="8B6FC0"/>
                </a:solidFill>
                <a:latin typeface="Calibri" pitchFamily="34" charset="0"/>
                <a:ea typeface="Calibri" pitchFamily="34" charset="-122"/>
                <a:cs typeface="Calibri" pitchFamily="34" charset="-120"/>
              </a:rPr>
              <a:t>SET YOUR READING LENS</a:t>
            </a:r>
            <a:endParaRPr lang="en-US" sz="1100" dirty="0"/>
          </a:p>
        </p:txBody>
      </p:sp>
      <p:sp>
        <p:nvSpPr>
          <p:cNvPr id="5" name="Shape 3"/>
          <p:cNvSpPr/>
          <p:nvPr/>
        </p:nvSpPr>
        <p:spPr>
          <a:xfrm>
            <a:off x="365760" y="1078992"/>
            <a:ext cx="8412480" cy="1051560"/>
          </a:xfrm>
          <a:prstGeom prst="roundRect">
            <a:avLst>
              <a:gd name="adj" fmla="val 8696"/>
            </a:avLst>
          </a:prstGeom>
          <a:solidFill>
            <a:srgbClr val="F0E8FF"/>
          </a:solidFill>
          <a:ln/>
          <a:effectLst>
            <a:outerShdw sx="100000" sy="100000" kx="0" ky="0" algn="bl" rotWithShape="0" blurRad="101600" dist="38100" dir="2700000">
              <a:srgbClr val="000000">
                <a:alpha val="12000"/>
              </a:srgbClr>
            </a:outerShdw>
          </a:effectLst>
        </p:spPr>
      </p:sp>
      <p:sp>
        <p:nvSpPr>
          <p:cNvPr id="6" name="Text 4"/>
          <p:cNvSpPr/>
          <p:nvPr/>
        </p:nvSpPr>
        <p:spPr>
          <a:xfrm>
            <a:off x="594360" y="1170432"/>
            <a:ext cx="7955280" cy="868680"/>
          </a:xfrm>
          <a:prstGeom prst="rect">
            <a:avLst/>
          </a:prstGeom>
          <a:noFill/>
          <a:ln/>
        </p:spPr>
        <p:txBody>
          <a:bodyPr wrap="square" lIns="0" tIns="0" rIns="0" bIns="0" rtlCol="0" anchor="ctr"/>
          <a:lstStyle/>
          <a:p>
            <a:pPr indent="0" marL="0">
              <a:buNone/>
            </a:pPr>
            <a:r>
              <a:rPr lang="en-US" sz="1300" dirty="0">
                <a:solidFill>
                  <a:srgbClr val="1E293B"/>
                </a:solidFill>
                <a:latin typeface="Calibri" pitchFamily="34" charset="0"/>
                <a:ea typeface="Calibri" pitchFamily="34" charset="-122"/>
                <a:cs typeface="Calibri" pitchFamily="34" charset="-120"/>
              </a:rPr>
              <a:t>Reflect back: Did the week’s question get answered? — All week you’ve been watching what Nat reaches for when the world goes sideways. You saw him at the harbor with his shilling. You saw him at the wharves with his father. You saw him tear the expectation slip and let the pieces go. Now read Chapter 4. By the end, ask yourself: what stays constant in Nat, no matter what he loses? That’s your answer — and it’s the key to understanding everything that comes next in his story.</a:t>
            </a:r>
            <a:endParaRPr lang="en-US" sz="1300" dirty="0"/>
          </a:p>
        </p:txBody>
      </p:sp>
      <p:sp>
        <p:nvSpPr>
          <p:cNvPr id="7" name="Text 5"/>
          <p:cNvSpPr/>
          <p:nvPr/>
        </p:nvSpPr>
        <p:spPr>
          <a:xfrm>
            <a:off x="365760" y="2286000"/>
            <a:ext cx="8046720" cy="292608"/>
          </a:xfrm>
          <a:prstGeom prst="rect">
            <a:avLst/>
          </a:prstGeom>
          <a:noFill/>
          <a:ln/>
        </p:spPr>
        <p:txBody>
          <a:bodyPr wrap="square" lIns="0" tIns="0" rIns="0" bIns="0" rtlCol="0" anchor="ctr"/>
          <a:lstStyle/>
          <a:p>
            <a:pPr indent="0" marL="0">
              <a:buNone/>
            </a:pPr>
            <a:r>
              <a:rPr lang="en-US" sz="1100" b="1" spc="200" kern="0" dirty="0">
                <a:solidFill>
                  <a:srgbClr val="64748B"/>
                </a:solidFill>
                <a:latin typeface="Calibri" pitchFamily="34" charset="0"/>
                <a:ea typeface="Calibri" pitchFamily="34" charset="-122"/>
                <a:cs typeface="Calibri" pitchFamily="34" charset="-120"/>
              </a:rPr>
              <a:t>🧠 WATCH FOR THIS AS YOU READ</a:t>
            </a:r>
            <a:endParaRPr lang="en-US" sz="11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164592"/>
            <a:ext cx="8412480" cy="566928"/>
          </a:xfrm>
          <a:prstGeom prst="rect">
            <a:avLst/>
          </a:prstGeom>
          <a:noFill/>
          <a:ln/>
        </p:spPr>
        <p:txBody>
          <a:bodyPr wrap="square" lIns="0" tIns="0" rIns="0" bIns="0" rtlCol="0" anchor="ctr"/>
          <a:lstStyle/>
          <a:p>
            <a:pPr algn="l" indent="0" marL="0">
              <a:buNone/>
            </a:pPr>
            <a:r>
              <a:rPr lang="en-US" sz="2600" b="1" dirty="0">
                <a:solidFill>
                  <a:srgbClr val="0E1C42"/>
                </a:solidFill>
                <a:latin typeface="Calibri" pitchFamily="34" charset="0"/>
                <a:ea typeface="Calibri" pitchFamily="34" charset="-122"/>
                <a:cs typeface="Calibri" pitchFamily="34" charset="-120"/>
              </a:rPr>
              <a:t>📝 Daily Oral Language — Study What's Right</a:t>
            </a:r>
            <a:endParaRPr lang="en-US" sz="2600" dirty="0"/>
          </a:p>
        </p:txBody>
      </p:sp>
      <p:sp>
        <p:nvSpPr>
          <p:cNvPr id="3" name="Shape 1"/>
          <p:cNvSpPr/>
          <p:nvPr/>
        </p:nvSpPr>
        <p:spPr>
          <a:xfrm>
            <a:off x="365760" y="749808"/>
            <a:ext cx="8412480" cy="0"/>
          </a:xfrm>
          <a:prstGeom prst="line">
            <a:avLst/>
          </a:prstGeom>
          <a:noFill/>
          <a:ln w="19050">
            <a:solidFill>
              <a:srgbClr val="34B76F"/>
            </a:solidFill>
            <a:prstDash val="solid"/>
          </a:ln>
        </p:spPr>
      </p:sp>
      <p:sp>
        <p:nvSpPr>
          <p:cNvPr id="4" name="Text 2"/>
          <p:cNvSpPr/>
          <p:nvPr/>
        </p:nvSpPr>
        <p:spPr>
          <a:xfrm>
            <a:off x="365760" y="822960"/>
            <a:ext cx="8046720" cy="292608"/>
          </a:xfrm>
          <a:prstGeom prst="rect">
            <a:avLst/>
          </a:prstGeom>
          <a:noFill/>
          <a:ln/>
        </p:spPr>
        <p:txBody>
          <a:bodyPr wrap="square" lIns="0" tIns="0" rIns="0" bIns="0" rtlCol="0" anchor="ctr"/>
          <a:lstStyle/>
          <a:p>
            <a:pPr indent="0" marL="0">
              <a:buNone/>
            </a:pPr>
            <a:r>
              <a:rPr lang="en-US" sz="1100" b="1" spc="200" kern="0" dirty="0">
                <a:solidFill>
                  <a:srgbClr val="34B76F"/>
                </a:solidFill>
                <a:latin typeface="Calibri" pitchFamily="34" charset="0"/>
                <a:ea typeface="Calibri" pitchFamily="34" charset="-122"/>
                <a:cs typeface="Calibri" pitchFamily="34" charset="-120"/>
              </a:rPr>
              <a:t>CORRECT MODEL — TAP TO NOTICE</a:t>
            </a:r>
            <a:endParaRPr lang="en-US" sz="1100" dirty="0"/>
          </a:p>
        </p:txBody>
      </p:sp>
      <p:sp>
        <p:nvSpPr>
          <p:cNvPr id="5" name="Shape 3"/>
          <p:cNvSpPr/>
          <p:nvPr/>
        </p:nvSpPr>
        <p:spPr>
          <a:xfrm>
            <a:off x="365760" y="1078992"/>
            <a:ext cx="8412480" cy="914400"/>
          </a:xfrm>
          <a:prstGeom prst="roundRect">
            <a:avLst>
              <a:gd name="adj" fmla="val 10000"/>
            </a:avLst>
          </a:prstGeom>
          <a:solidFill>
            <a:srgbClr val="E8F8EF"/>
          </a:solidFill>
          <a:ln w="12700">
            <a:solidFill>
              <a:srgbClr val="34B76F"/>
            </a:solidFill>
            <a:prstDash val="solid"/>
          </a:ln>
          <a:effectLst>
            <a:outerShdw sx="100000" sy="100000" kx="0" ky="0" algn="bl" rotWithShape="0" blurRad="101600" dist="38100" dir="2700000">
              <a:srgbClr val="000000">
                <a:alpha val="12000"/>
              </a:srgbClr>
            </a:outerShdw>
          </a:effectLst>
        </p:spPr>
      </p:sp>
      <p:sp>
        <p:nvSpPr>
          <p:cNvPr id="6" name="Text 4"/>
          <p:cNvSpPr/>
          <p:nvPr/>
        </p:nvSpPr>
        <p:spPr>
          <a:xfrm>
            <a:off x="548640" y="1188720"/>
            <a:ext cx="8046720" cy="685800"/>
          </a:xfrm>
          <a:prstGeom prst="rect">
            <a:avLst/>
          </a:prstGeom>
          <a:noFill/>
          <a:ln/>
        </p:spPr>
        <p:txBody>
          <a:bodyPr wrap="square" lIns="0" tIns="0" rIns="0" bIns="0" rtlCol="0" anchor="ctr"/>
          <a:lstStyle/>
          <a:p>
            <a:pPr indent="0" marL="0">
              <a:buNone/>
            </a:pPr>
            <a:r>
              <a:rPr lang="en-US" sz="1600" i="1" dirty="0">
                <a:solidFill>
                  <a:srgbClr val="1E293B"/>
                </a:solidFill>
                <a:latin typeface="Calibri" pitchFamily="34" charset="0"/>
                <a:ea typeface="Calibri" pitchFamily="34" charset="-122"/>
                <a:cs typeface="Calibri" pitchFamily="34" charset="-120"/>
              </a:rPr>
              <a:t>At twelve years old, Nathaniel signed the indenture that would bind him to Ropes and Hodges for nine years.</a:t>
            </a:r>
            <a:endParaRPr lang="en-US" sz="1600" dirty="0"/>
          </a:p>
        </p:txBody>
      </p:sp>
      <p:sp>
        <p:nvSpPr>
          <p:cNvPr id="7" name="Text 5"/>
          <p:cNvSpPr/>
          <p:nvPr/>
        </p:nvSpPr>
        <p:spPr>
          <a:xfrm>
            <a:off x="365760" y="2103120"/>
            <a:ext cx="8046720" cy="292608"/>
          </a:xfrm>
          <a:prstGeom prst="rect">
            <a:avLst/>
          </a:prstGeom>
          <a:noFill/>
          <a:ln/>
        </p:spPr>
        <p:txBody>
          <a:bodyPr wrap="square" lIns="0" tIns="0" rIns="0" bIns="0" rtlCol="0" anchor="ctr"/>
          <a:lstStyle/>
          <a:p>
            <a:pPr indent="0" marL="0">
              <a:buNone/>
            </a:pPr>
            <a:r>
              <a:rPr lang="en-US" sz="1100" b="1" spc="200" kern="0" dirty="0">
                <a:solidFill>
                  <a:srgbClr val="64748B"/>
                </a:solidFill>
                <a:latin typeface="Calibri" pitchFamily="34" charset="0"/>
                <a:ea typeface="Calibri" pitchFamily="34" charset="-122"/>
                <a:cs typeface="Calibri" pitchFamily="34" charset="-120"/>
              </a:rPr>
              <a:t>WHAT EACH TAPPED WORD TEACHES</a:t>
            </a:r>
            <a:endParaRPr lang="en-US" sz="1100" dirty="0"/>
          </a:p>
        </p:txBody>
      </p:sp>
      <p:sp>
        <p:nvSpPr>
          <p:cNvPr id="8" name="Shape 6"/>
          <p:cNvSpPr/>
          <p:nvPr/>
        </p:nvSpPr>
        <p:spPr>
          <a:xfrm>
            <a:off x="365760" y="2377440"/>
            <a:ext cx="8412480" cy="512064"/>
          </a:xfrm>
          <a:prstGeom prst="roundRect">
            <a:avLst>
              <a:gd name="adj" fmla="val 17857"/>
            </a:avLst>
          </a:prstGeom>
          <a:solidFill>
            <a:srgbClr val="F8FAFC"/>
          </a:solidFill>
          <a:ln/>
          <a:effectLst>
            <a:outerShdw sx="100000" sy="100000" kx="0" ky="0" algn="bl" rotWithShape="0" blurRad="101600" dist="38100" dir="2700000">
              <a:srgbClr val="000000">
                <a:alpha val="12000"/>
              </a:srgbClr>
            </a:outerShdw>
          </a:effectLst>
        </p:spPr>
      </p:sp>
      <p:sp>
        <p:nvSpPr>
          <p:cNvPr id="9" name="Text 7"/>
          <p:cNvSpPr/>
          <p:nvPr/>
        </p:nvSpPr>
        <p:spPr>
          <a:xfrm>
            <a:off x="548640" y="2432304"/>
            <a:ext cx="8046720" cy="402336"/>
          </a:xfrm>
          <a:prstGeom prst="rect">
            <a:avLst/>
          </a:prstGeom>
          <a:noFill/>
          <a:ln/>
        </p:spPr>
        <p:txBody>
          <a:bodyPr wrap="square" lIns="0" tIns="0" rIns="0" bIns="0" rtlCol="0" anchor="ctr"/>
          <a:lstStyle/>
          <a:p>
            <a:pPr indent="0" marL="0">
              <a:buNone/>
            </a:pPr>
            <a:r>
              <a:rPr lang="en-US" sz="1300" b="1" dirty="0">
                <a:solidFill>
                  <a:srgbClr val="34B76F"/>
                </a:solidFill>
                <a:latin typeface="Calibri" pitchFamily="34" charset="0"/>
                <a:ea typeface="Calibri" pitchFamily="34" charset="-122"/>
                <a:cs typeface="Calibri" pitchFamily="34" charset="-120"/>
              </a:rPr>
              <a:t>Nathaniel  </a:t>
            </a:r>
            <a:pPr indent="0" marL="0">
              <a:buNone/>
            </a:pPr>
            <a:r>
              <a:rPr lang="en-US" sz="1200" dirty="0">
                <a:solidFill>
                  <a:srgbClr val="1E293B"/>
                </a:solidFill>
                <a:latin typeface="Calibri" pitchFamily="34" charset="0"/>
                <a:ea typeface="Calibri" pitchFamily="34" charset="-122"/>
                <a:cs typeface="Calibri" pitchFamily="34" charset="-120"/>
              </a:rPr>
              <a:t>Nathaniel is a person's given name — a proper noun — so it always starts with a capital letter.</a:t>
            </a:r>
            <a:endParaRPr lang="en-US" sz="1300" dirty="0"/>
          </a:p>
        </p:txBody>
      </p:sp>
      <p:sp>
        <p:nvSpPr>
          <p:cNvPr id="10" name="Shape 8"/>
          <p:cNvSpPr/>
          <p:nvPr/>
        </p:nvSpPr>
        <p:spPr>
          <a:xfrm>
            <a:off x="365760" y="2953512"/>
            <a:ext cx="8412480" cy="512064"/>
          </a:xfrm>
          <a:prstGeom prst="roundRect">
            <a:avLst>
              <a:gd name="adj" fmla="val 17857"/>
            </a:avLst>
          </a:prstGeom>
          <a:solidFill>
            <a:srgbClr val="F8FAFC"/>
          </a:solidFill>
          <a:ln/>
          <a:effectLst>
            <a:outerShdw sx="100000" sy="100000" kx="0" ky="0" algn="bl" rotWithShape="0" blurRad="101600" dist="38100" dir="2700000">
              <a:srgbClr val="000000">
                <a:alpha val="12000"/>
              </a:srgbClr>
            </a:outerShdw>
          </a:effectLst>
        </p:spPr>
      </p:sp>
      <p:sp>
        <p:nvSpPr>
          <p:cNvPr id="11" name="Text 9"/>
          <p:cNvSpPr/>
          <p:nvPr/>
        </p:nvSpPr>
        <p:spPr>
          <a:xfrm>
            <a:off x="548640" y="3008376"/>
            <a:ext cx="8046720" cy="402336"/>
          </a:xfrm>
          <a:prstGeom prst="rect">
            <a:avLst/>
          </a:prstGeom>
          <a:noFill/>
          <a:ln/>
        </p:spPr>
        <p:txBody>
          <a:bodyPr wrap="square" lIns="0" tIns="0" rIns="0" bIns="0" rtlCol="0" anchor="ctr"/>
          <a:lstStyle/>
          <a:p>
            <a:pPr indent="0" marL="0">
              <a:buNone/>
            </a:pPr>
            <a:r>
              <a:rPr lang="en-US" sz="1300" b="1" dirty="0">
                <a:solidFill>
                  <a:srgbClr val="34B76F"/>
                </a:solidFill>
                <a:latin typeface="Calibri" pitchFamily="34" charset="0"/>
                <a:ea typeface="Calibri" pitchFamily="34" charset="-122"/>
                <a:cs typeface="Calibri" pitchFamily="34" charset="-120"/>
              </a:rPr>
              <a:t>Ropes  </a:t>
            </a:r>
            <a:pPr indent="0" marL="0">
              <a:buNone/>
            </a:pPr>
            <a:r>
              <a:rPr lang="en-US" sz="1200" dirty="0">
                <a:solidFill>
                  <a:srgbClr val="1E293B"/>
                </a:solidFill>
                <a:latin typeface="Calibri" pitchFamily="34" charset="0"/>
                <a:ea typeface="Calibri" pitchFamily="34" charset="-122"/>
                <a:cs typeface="Calibri" pitchFamily="34" charset="-120"/>
              </a:rPr>
              <a:t>Ropes and Hodges is the name of a business — a proper noun. Both words in the name are capitalized.</a:t>
            </a:r>
            <a:endParaRPr lang="en-US" sz="1300" dirty="0"/>
          </a:p>
        </p:txBody>
      </p:sp>
      <p:sp>
        <p:nvSpPr>
          <p:cNvPr id="12" name="Shape 10"/>
          <p:cNvSpPr/>
          <p:nvPr/>
        </p:nvSpPr>
        <p:spPr>
          <a:xfrm>
            <a:off x="365760" y="3529584"/>
            <a:ext cx="8412480" cy="512064"/>
          </a:xfrm>
          <a:prstGeom prst="roundRect">
            <a:avLst>
              <a:gd name="adj" fmla="val 17857"/>
            </a:avLst>
          </a:prstGeom>
          <a:solidFill>
            <a:srgbClr val="F8FAFC"/>
          </a:solidFill>
          <a:ln/>
          <a:effectLst>
            <a:outerShdw sx="100000" sy="100000" kx="0" ky="0" algn="bl" rotWithShape="0" blurRad="101600" dist="38100" dir="2700000">
              <a:srgbClr val="000000">
                <a:alpha val="12000"/>
              </a:srgbClr>
            </a:outerShdw>
          </a:effectLst>
        </p:spPr>
      </p:sp>
      <p:sp>
        <p:nvSpPr>
          <p:cNvPr id="13" name="Text 11"/>
          <p:cNvSpPr/>
          <p:nvPr/>
        </p:nvSpPr>
        <p:spPr>
          <a:xfrm>
            <a:off x="548640" y="3584448"/>
            <a:ext cx="8046720" cy="402336"/>
          </a:xfrm>
          <a:prstGeom prst="rect">
            <a:avLst/>
          </a:prstGeom>
          <a:noFill/>
          <a:ln/>
        </p:spPr>
        <p:txBody>
          <a:bodyPr wrap="square" lIns="0" tIns="0" rIns="0" bIns="0" rtlCol="0" anchor="ctr"/>
          <a:lstStyle/>
          <a:p>
            <a:pPr indent="0" marL="0">
              <a:buNone/>
            </a:pPr>
            <a:r>
              <a:rPr lang="en-US" sz="1300" b="1" dirty="0">
                <a:solidFill>
                  <a:srgbClr val="34B76F"/>
                </a:solidFill>
                <a:latin typeface="Calibri" pitchFamily="34" charset="0"/>
                <a:ea typeface="Calibri" pitchFamily="34" charset="-122"/>
                <a:cs typeface="Calibri" pitchFamily="34" charset="-120"/>
              </a:rPr>
              <a:t>Hodges  </a:t>
            </a:r>
            <a:pPr indent="0" marL="0">
              <a:buNone/>
            </a:pPr>
            <a:r>
              <a:rPr lang="en-US" sz="1200" dirty="0">
                <a:solidFill>
                  <a:srgbClr val="1E293B"/>
                </a:solidFill>
                <a:latin typeface="Calibri" pitchFamily="34" charset="0"/>
                <a:ea typeface="Calibri" pitchFamily="34" charset="-122"/>
                <a:cs typeface="Calibri" pitchFamily="34" charset="-120"/>
              </a:rPr>
              <a:t>Hodges is the second part of the business name, Ropes and Hodges. As a proper noun, it also gets a capital.</a:t>
            </a:r>
            <a:endParaRPr lang="en-US" sz="13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E5F7FC"/>
        </a:solidFill>
      </p:bgPr>
    </p:bg>
    <p:spTree>
      <p:nvGrpSpPr>
        <p:cNvPr id="1" name=""/>
        <p:cNvGrpSpPr/>
        <p:nvPr/>
      </p:nvGrpSpPr>
      <p:grpSpPr>
        <a:xfrm>
          <a:off x="0" y="0"/>
          <a:ext cx="0" cy="0"/>
          <a:chOff x="0" y="0"/>
          <a:chExt cx="0" cy="0"/>
        </a:xfrm>
      </p:grpSpPr>
      <p:sp>
        <p:nvSpPr>
          <p:cNvPr id="2" name="Text 0"/>
          <p:cNvSpPr/>
          <p:nvPr/>
        </p:nvSpPr>
        <p:spPr>
          <a:xfrm>
            <a:off x="365760" y="164592"/>
            <a:ext cx="5943600" cy="566928"/>
          </a:xfrm>
          <a:prstGeom prst="rect">
            <a:avLst/>
          </a:prstGeom>
          <a:noFill/>
          <a:ln/>
        </p:spPr>
        <p:txBody>
          <a:bodyPr wrap="square" lIns="0" tIns="0" rIns="0" bIns="0" rtlCol="0" anchor="ctr"/>
          <a:lstStyle/>
          <a:p>
            <a:pPr algn="l" indent="0" marL="0">
              <a:buNone/>
            </a:pPr>
            <a:r>
              <a:rPr lang="en-US" sz="2600" b="1" dirty="0">
                <a:solidFill>
                  <a:srgbClr val="0E1C42"/>
                </a:solidFill>
                <a:latin typeface="Calibri" pitchFamily="34" charset="0"/>
                <a:ea typeface="Calibri" pitchFamily="34" charset="-122"/>
                <a:cs typeface="Calibri" pitchFamily="34" charset="-120"/>
              </a:rPr>
              <a:t>📝 Daily Oral Language — Fix It</a:t>
            </a:r>
            <a:endParaRPr lang="en-US" sz="2600" dirty="0"/>
          </a:p>
        </p:txBody>
      </p:sp>
      <p:sp>
        <p:nvSpPr>
          <p:cNvPr id="3" name="Shape 1"/>
          <p:cNvSpPr/>
          <p:nvPr/>
        </p:nvSpPr>
        <p:spPr>
          <a:xfrm>
            <a:off x="365760" y="749808"/>
            <a:ext cx="8412480" cy="0"/>
          </a:xfrm>
          <a:prstGeom prst="line">
            <a:avLst/>
          </a:prstGeom>
          <a:noFill/>
          <a:ln w="19050">
            <a:solidFill>
              <a:srgbClr val="55C8E8"/>
            </a:solidFill>
            <a:prstDash val="solid"/>
          </a:ln>
        </p:spPr>
      </p:sp>
      <p:sp>
        <p:nvSpPr>
          <p:cNvPr id="4" name="Shape 2"/>
          <p:cNvSpPr/>
          <p:nvPr/>
        </p:nvSpPr>
        <p:spPr>
          <a:xfrm>
            <a:off x="6492240" y="173736"/>
            <a:ext cx="2286000" cy="502920"/>
          </a:xfrm>
          <a:prstGeom prst="roundRect">
            <a:avLst>
              <a:gd name="adj" fmla="val 21818"/>
            </a:avLst>
          </a:prstGeom>
          <a:solidFill>
            <a:srgbClr val="55C8E8"/>
          </a:solidFill>
          <a:ln/>
        </p:spPr>
      </p:sp>
      <p:sp>
        <p:nvSpPr>
          <p:cNvPr id="5" name="Text 3"/>
          <p:cNvSpPr/>
          <p:nvPr/>
        </p:nvSpPr>
        <p:spPr>
          <a:xfrm>
            <a:off x="6492240" y="173736"/>
            <a:ext cx="2286000" cy="502920"/>
          </a:xfrm>
          <a:prstGeom prst="rect">
            <a:avLst/>
          </a:prstGeom>
          <a:noFill/>
          <a:ln/>
        </p:spPr>
        <p:txBody>
          <a:bodyPr wrap="square" lIns="0" tIns="0" rIns="0" bIns="0" rtlCol="0" anchor="ctr"/>
          <a:lstStyle/>
          <a:p>
            <a:pPr algn="ctr" indent="0" marL="0">
              <a:buNone/>
            </a:pPr>
            <a:r>
              <a:rPr lang="en-US" sz="1100" b="1" dirty="0">
                <a:solidFill>
                  <a:srgbClr val="0E1C42"/>
                </a:solidFill>
                <a:latin typeface="Calibri" pitchFamily="34" charset="0"/>
                <a:ea typeface="Calibri" pitchFamily="34" charset="-122"/>
                <a:cs typeface="Calibri" pitchFamily="34" charset="-120"/>
              </a:rPr>
              <a:t>CHAT PROMPT</a:t>
            </a:r>
            <a:endParaRPr lang="en-US" sz="1100" dirty="0"/>
          </a:p>
        </p:txBody>
      </p:sp>
      <p:sp>
        <p:nvSpPr>
          <p:cNvPr id="6" name="Text 4"/>
          <p:cNvSpPr/>
          <p:nvPr/>
        </p:nvSpPr>
        <p:spPr>
          <a:xfrm>
            <a:off x="365760" y="822960"/>
            <a:ext cx="8046720" cy="292608"/>
          </a:xfrm>
          <a:prstGeom prst="rect">
            <a:avLst/>
          </a:prstGeom>
          <a:noFill/>
          <a:ln/>
        </p:spPr>
        <p:txBody>
          <a:bodyPr wrap="square" lIns="0" tIns="0" rIns="0" bIns="0" rtlCol="0" anchor="ctr"/>
          <a:lstStyle/>
          <a:p>
            <a:pPr indent="0" marL="0">
              <a:buNone/>
            </a:pPr>
            <a:r>
              <a:rPr lang="en-US" sz="1100" b="1" spc="200" kern="0" dirty="0">
                <a:solidFill>
                  <a:srgbClr val="C7922C"/>
                </a:solidFill>
                <a:latin typeface="Calibri" pitchFamily="34" charset="0"/>
                <a:ea typeface="Calibri" pitchFamily="34" charset="-122"/>
                <a:cs typeface="Calibri" pitchFamily="34" charset="-120"/>
              </a:rPr>
              <a:t>NEEDS FIXING</a:t>
            </a:r>
            <a:endParaRPr lang="en-US" sz="1100" dirty="0"/>
          </a:p>
        </p:txBody>
      </p:sp>
      <p:sp>
        <p:nvSpPr>
          <p:cNvPr id="7" name="Shape 5"/>
          <p:cNvSpPr/>
          <p:nvPr/>
        </p:nvSpPr>
        <p:spPr>
          <a:xfrm>
            <a:off x="365760" y="1078992"/>
            <a:ext cx="8412480" cy="777240"/>
          </a:xfrm>
          <a:prstGeom prst="roundRect">
            <a:avLst>
              <a:gd name="adj" fmla="val 11765"/>
            </a:avLst>
          </a:prstGeom>
          <a:solidFill>
            <a:srgbClr val="FEF6E8"/>
          </a:solidFill>
          <a:ln w="12700">
            <a:solidFill>
              <a:srgbClr val="C7922C"/>
            </a:solidFill>
            <a:prstDash val="solid"/>
          </a:ln>
          <a:effectLst>
            <a:outerShdw sx="100000" sy="100000" kx="0" ky="0" algn="bl" rotWithShape="0" blurRad="101600" dist="38100" dir="2700000">
              <a:srgbClr val="000000">
                <a:alpha val="12000"/>
              </a:srgbClr>
            </a:outerShdw>
          </a:effectLst>
        </p:spPr>
      </p:sp>
      <p:sp>
        <p:nvSpPr>
          <p:cNvPr id="8" name="Text 6"/>
          <p:cNvSpPr/>
          <p:nvPr/>
        </p:nvSpPr>
        <p:spPr>
          <a:xfrm>
            <a:off x="548640" y="1188720"/>
            <a:ext cx="8046720" cy="548640"/>
          </a:xfrm>
          <a:prstGeom prst="rect">
            <a:avLst/>
          </a:prstGeom>
          <a:noFill/>
          <a:ln/>
        </p:spPr>
        <p:txBody>
          <a:bodyPr wrap="square" lIns="0" tIns="0" rIns="0" bIns="0" rtlCol="0" anchor="ctr"/>
          <a:lstStyle/>
          <a:p>
            <a:pPr indent="0" marL="0">
              <a:buNone/>
            </a:pPr>
            <a:r>
              <a:rPr lang="en-US" sz="1600" i="1" dirty="0">
                <a:solidFill>
                  <a:srgbClr val="1E293B"/>
                </a:solidFill>
                <a:latin typeface="Calibri" pitchFamily="34" charset="0"/>
                <a:ea typeface="Calibri" pitchFamily="34" charset="-122"/>
                <a:cs typeface="Calibri" pitchFamily="34" charset="-120"/>
              </a:rPr>
              <a:t>at twelve years old, nathaniel signed the indenture that would bind him to ropes and hodges for nine years.</a:t>
            </a:r>
            <a:endParaRPr lang="en-US" sz="1600" dirty="0"/>
          </a:p>
        </p:txBody>
      </p:sp>
      <p:sp>
        <p:nvSpPr>
          <p:cNvPr id="9" name="Text 7"/>
          <p:cNvSpPr/>
          <p:nvPr/>
        </p:nvSpPr>
        <p:spPr>
          <a:xfrm>
            <a:off x="457200" y="1965960"/>
            <a:ext cx="8229600" cy="384048"/>
          </a:xfrm>
          <a:prstGeom prst="rect">
            <a:avLst/>
          </a:prstGeom>
          <a:noFill/>
          <a:ln/>
        </p:spPr>
        <p:txBody>
          <a:bodyPr wrap="square" lIns="0" tIns="0" rIns="0" bIns="0" rtlCol="0" anchor="ctr"/>
          <a:lstStyle/>
          <a:p>
            <a:pPr indent="0" marL="0">
              <a:buNone/>
            </a:pPr>
            <a:r>
              <a:rPr lang="en-US" sz="1500" b="1" dirty="0">
                <a:solidFill>
                  <a:srgbClr val="0E1C42"/>
                </a:solidFill>
                <a:latin typeface="Calibri" pitchFamily="34" charset="0"/>
                <a:ea typeface="Calibri" pitchFamily="34" charset="-122"/>
                <a:cs typeface="Calibri" pitchFamily="34" charset="-120"/>
              </a:rPr>
              <a:t>Rewrite the corrected sentence in your notebook.</a:t>
            </a:r>
            <a:endParaRPr lang="en-US" sz="15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E5F7FC"/>
        </a:solidFill>
      </p:bgPr>
    </p:bg>
    <p:spTree>
      <p:nvGrpSpPr>
        <p:cNvPr id="1" name=""/>
        <p:cNvGrpSpPr/>
        <p:nvPr/>
      </p:nvGrpSpPr>
      <p:grpSpPr>
        <a:xfrm>
          <a:off x="0" y="0"/>
          <a:ext cx="0" cy="0"/>
          <a:chOff x="0" y="0"/>
          <a:chExt cx="0" cy="0"/>
        </a:xfrm>
      </p:grpSpPr>
      <p:sp>
        <p:nvSpPr>
          <p:cNvPr id="2" name="Text 0"/>
          <p:cNvSpPr/>
          <p:nvPr/>
        </p:nvSpPr>
        <p:spPr>
          <a:xfrm>
            <a:off x="365760" y="164592"/>
            <a:ext cx="5943600" cy="566928"/>
          </a:xfrm>
          <a:prstGeom prst="rect">
            <a:avLst/>
          </a:prstGeom>
          <a:noFill/>
          <a:ln/>
        </p:spPr>
        <p:txBody>
          <a:bodyPr wrap="square" lIns="0" tIns="0" rIns="0" bIns="0" rtlCol="0" anchor="ctr"/>
          <a:lstStyle/>
          <a:p>
            <a:pPr algn="l" indent="0" marL="0">
              <a:buNone/>
            </a:pPr>
            <a:r>
              <a:rPr lang="en-US" sz="2600" b="1" dirty="0">
                <a:solidFill>
                  <a:srgbClr val="0E1C42"/>
                </a:solidFill>
                <a:latin typeface="Calibri" pitchFamily="34" charset="0"/>
                <a:ea typeface="Calibri" pitchFamily="34" charset="-122"/>
                <a:cs typeface="Calibri" pitchFamily="34" charset="-120"/>
              </a:rPr>
              <a:t>📝 Daily Oral Language — Fix It</a:t>
            </a:r>
            <a:endParaRPr lang="en-US" sz="2600" dirty="0"/>
          </a:p>
        </p:txBody>
      </p:sp>
      <p:sp>
        <p:nvSpPr>
          <p:cNvPr id="3" name="Shape 1"/>
          <p:cNvSpPr/>
          <p:nvPr/>
        </p:nvSpPr>
        <p:spPr>
          <a:xfrm>
            <a:off x="365760" y="749808"/>
            <a:ext cx="8412480" cy="0"/>
          </a:xfrm>
          <a:prstGeom prst="line">
            <a:avLst/>
          </a:prstGeom>
          <a:noFill/>
          <a:ln w="19050">
            <a:solidFill>
              <a:srgbClr val="55C8E8"/>
            </a:solidFill>
            <a:prstDash val="solid"/>
          </a:ln>
        </p:spPr>
      </p:sp>
      <p:sp>
        <p:nvSpPr>
          <p:cNvPr id="4" name="Shape 2"/>
          <p:cNvSpPr/>
          <p:nvPr/>
        </p:nvSpPr>
        <p:spPr>
          <a:xfrm>
            <a:off x="6492240" y="173736"/>
            <a:ext cx="2286000" cy="502920"/>
          </a:xfrm>
          <a:prstGeom prst="roundRect">
            <a:avLst>
              <a:gd name="adj" fmla="val 21818"/>
            </a:avLst>
          </a:prstGeom>
          <a:solidFill>
            <a:srgbClr val="55C8E8"/>
          </a:solidFill>
          <a:ln/>
        </p:spPr>
      </p:sp>
      <p:sp>
        <p:nvSpPr>
          <p:cNvPr id="5" name="Text 3"/>
          <p:cNvSpPr/>
          <p:nvPr/>
        </p:nvSpPr>
        <p:spPr>
          <a:xfrm>
            <a:off x="6492240" y="173736"/>
            <a:ext cx="2286000" cy="502920"/>
          </a:xfrm>
          <a:prstGeom prst="rect">
            <a:avLst/>
          </a:prstGeom>
          <a:noFill/>
          <a:ln/>
        </p:spPr>
        <p:txBody>
          <a:bodyPr wrap="square" lIns="0" tIns="0" rIns="0" bIns="0" rtlCol="0" anchor="ctr"/>
          <a:lstStyle/>
          <a:p>
            <a:pPr algn="ctr" indent="0" marL="0">
              <a:buNone/>
            </a:pPr>
            <a:r>
              <a:rPr lang="en-US" sz="1100" b="1" dirty="0">
                <a:solidFill>
                  <a:srgbClr val="0E1C42"/>
                </a:solidFill>
                <a:latin typeface="Calibri" pitchFamily="34" charset="0"/>
                <a:ea typeface="Calibri" pitchFamily="34" charset="-122"/>
                <a:cs typeface="Calibri" pitchFamily="34" charset="-120"/>
              </a:rPr>
              <a:t>CHAT PROMPT</a:t>
            </a:r>
            <a:endParaRPr lang="en-US" sz="1100" dirty="0"/>
          </a:p>
        </p:txBody>
      </p:sp>
      <p:sp>
        <p:nvSpPr>
          <p:cNvPr id="6" name="Text 4"/>
          <p:cNvSpPr/>
          <p:nvPr/>
        </p:nvSpPr>
        <p:spPr>
          <a:xfrm>
            <a:off x="365760" y="822960"/>
            <a:ext cx="8046720" cy="292608"/>
          </a:xfrm>
          <a:prstGeom prst="rect">
            <a:avLst/>
          </a:prstGeom>
          <a:noFill/>
          <a:ln/>
        </p:spPr>
        <p:txBody>
          <a:bodyPr wrap="square" lIns="0" tIns="0" rIns="0" bIns="0" rtlCol="0" anchor="ctr"/>
          <a:lstStyle/>
          <a:p>
            <a:pPr indent="0" marL="0">
              <a:buNone/>
            </a:pPr>
            <a:r>
              <a:rPr lang="en-US" sz="1100" b="1" spc="200" kern="0" dirty="0">
                <a:solidFill>
                  <a:srgbClr val="C7922C"/>
                </a:solidFill>
                <a:latin typeface="Calibri" pitchFamily="34" charset="0"/>
                <a:ea typeface="Calibri" pitchFamily="34" charset="-122"/>
                <a:cs typeface="Calibri" pitchFamily="34" charset="-120"/>
              </a:rPr>
              <a:t>NEEDS FIXING</a:t>
            </a:r>
            <a:endParaRPr lang="en-US" sz="1100" dirty="0"/>
          </a:p>
        </p:txBody>
      </p:sp>
      <p:sp>
        <p:nvSpPr>
          <p:cNvPr id="7" name="Shape 5"/>
          <p:cNvSpPr/>
          <p:nvPr/>
        </p:nvSpPr>
        <p:spPr>
          <a:xfrm>
            <a:off x="365760" y="1078992"/>
            <a:ext cx="8412480" cy="777240"/>
          </a:xfrm>
          <a:prstGeom prst="roundRect">
            <a:avLst>
              <a:gd name="adj" fmla="val 11765"/>
            </a:avLst>
          </a:prstGeom>
          <a:solidFill>
            <a:srgbClr val="FEF6E8"/>
          </a:solidFill>
          <a:ln w="12700">
            <a:solidFill>
              <a:srgbClr val="C7922C"/>
            </a:solidFill>
            <a:prstDash val="solid"/>
          </a:ln>
          <a:effectLst>
            <a:outerShdw sx="100000" sy="100000" kx="0" ky="0" algn="bl" rotWithShape="0" blurRad="101600" dist="38100" dir="2700000">
              <a:srgbClr val="000000">
                <a:alpha val="12000"/>
              </a:srgbClr>
            </a:outerShdw>
          </a:effectLst>
        </p:spPr>
      </p:sp>
      <p:sp>
        <p:nvSpPr>
          <p:cNvPr id="8" name="Text 6"/>
          <p:cNvSpPr/>
          <p:nvPr/>
        </p:nvSpPr>
        <p:spPr>
          <a:xfrm>
            <a:off x="548640" y="1188720"/>
            <a:ext cx="8046720" cy="548640"/>
          </a:xfrm>
          <a:prstGeom prst="rect">
            <a:avLst/>
          </a:prstGeom>
          <a:noFill/>
          <a:ln/>
        </p:spPr>
        <p:txBody>
          <a:bodyPr wrap="square" lIns="0" tIns="0" rIns="0" bIns="0" rtlCol="0" anchor="ctr"/>
          <a:lstStyle/>
          <a:p>
            <a:pPr indent="0" marL="0">
              <a:buNone/>
            </a:pPr>
            <a:r>
              <a:rPr lang="en-US" sz="1600" i="1" dirty="0">
                <a:solidFill>
                  <a:srgbClr val="1E293B"/>
                </a:solidFill>
                <a:latin typeface="Calibri" pitchFamily="34" charset="0"/>
                <a:ea typeface="Calibri" pitchFamily="34" charset="-122"/>
                <a:cs typeface="Calibri" pitchFamily="34" charset="-120"/>
              </a:rPr>
              <a:t>at twelve years old, nathaniel signed the indenture that would bind him to ropes and hodges for nine years.</a:t>
            </a:r>
            <a:endParaRPr lang="en-US" sz="1600" dirty="0"/>
          </a:p>
        </p:txBody>
      </p:sp>
      <p:sp>
        <p:nvSpPr>
          <p:cNvPr id="9" name="Text 7"/>
          <p:cNvSpPr/>
          <p:nvPr/>
        </p:nvSpPr>
        <p:spPr>
          <a:xfrm>
            <a:off x="457200" y="1965960"/>
            <a:ext cx="8229600" cy="384048"/>
          </a:xfrm>
          <a:prstGeom prst="rect">
            <a:avLst/>
          </a:prstGeom>
          <a:noFill/>
          <a:ln/>
        </p:spPr>
        <p:txBody>
          <a:bodyPr wrap="square" lIns="0" tIns="0" rIns="0" bIns="0" rtlCol="0" anchor="ctr"/>
          <a:lstStyle/>
          <a:p>
            <a:pPr indent="0" marL="0">
              <a:buNone/>
            </a:pPr>
            <a:r>
              <a:rPr lang="en-US" sz="1500" b="1" dirty="0">
                <a:solidFill>
                  <a:srgbClr val="0E1C42"/>
                </a:solidFill>
                <a:latin typeface="Calibri" pitchFamily="34" charset="0"/>
                <a:ea typeface="Calibri" pitchFamily="34" charset="-122"/>
                <a:cs typeface="Calibri" pitchFamily="34" charset="-120"/>
              </a:rPr>
              <a:t>Rewrite the corrected sentence in your notebook.</a:t>
            </a:r>
            <a:endParaRPr lang="en-US" sz="1500" dirty="0"/>
          </a:p>
        </p:txBody>
      </p:sp>
      <p:sp>
        <p:nvSpPr>
          <p:cNvPr id="10" name="Shape 8"/>
          <p:cNvSpPr/>
          <p:nvPr/>
        </p:nvSpPr>
        <p:spPr>
          <a:xfrm>
            <a:off x="365760" y="2468880"/>
            <a:ext cx="8412480" cy="1371600"/>
          </a:xfrm>
          <a:prstGeom prst="roundRect">
            <a:avLst>
              <a:gd name="adj" fmla="val 6667"/>
            </a:avLst>
          </a:prstGeom>
          <a:solidFill>
            <a:srgbClr val="E8F8EF"/>
          </a:solidFill>
          <a:ln/>
          <a:effectLst>
            <a:outerShdw sx="100000" sy="100000" kx="0" ky="0" algn="bl" rotWithShape="0" blurRad="101600" dist="38100" dir="2700000">
              <a:srgbClr val="000000">
                <a:alpha val="12000"/>
              </a:srgbClr>
            </a:outerShdw>
          </a:effectLst>
        </p:spPr>
      </p:sp>
      <p:sp>
        <p:nvSpPr>
          <p:cNvPr id="11" name="Text 9"/>
          <p:cNvSpPr/>
          <p:nvPr/>
        </p:nvSpPr>
        <p:spPr>
          <a:xfrm>
            <a:off x="594360" y="2560320"/>
            <a:ext cx="8046720" cy="292608"/>
          </a:xfrm>
          <a:prstGeom prst="rect">
            <a:avLst/>
          </a:prstGeom>
          <a:noFill/>
          <a:ln/>
        </p:spPr>
        <p:txBody>
          <a:bodyPr wrap="square" lIns="0" tIns="0" rIns="0" bIns="0" rtlCol="0" anchor="ctr"/>
          <a:lstStyle/>
          <a:p>
            <a:pPr indent="0" marL="0">
              <a:buNone/>
            </a:pPr>
            <a:r>
              <a:rPr lang="en-US" sz="1100" b="1" spc="200" kern="0" dirty="0">
                <a:solidFill>
                  <a:srgbClr val="34B76F"/>
                </a:solidFill>
                <a:latin typeface="Calibri" pitchFamily="34" charset="0"/>
                <a:ea typeface="Calibri" pitchFamily="34" charset="-122"/>
                <a:cs typeface="Calibri" pitchFamily="34" charset="-120"/>
              </a:rPr>
              <a:t>✅  CORRECTED</a:t>
            </a:r>
            <a:endParaRPr lang="en-US" sz="1100" dirty="0"/>
          </a:p>
        </p:txBody>
      </p:sp>
      <p:sp>
        <p:nvSpPr>
          <p:cNvPr id="12" name="Text 10"/>
          <p:cNvSpPr/>
          <p:nvPr/>
        </p:nvSpPr>
        <p:spPr>
          <a:xfrm>
            <a:off x="594360" y="2834640"/>
            <a:ext cx="7955280" cy="457200"/>
          </a:xfrm>
          <a:prstGeom prst="rect">
            <a:avLst/>
          </a:prstGeom>
          <a:noFill/>
          <a:ln/>
        </p:spPr>
        <p:txBody>
          <a:bodyPr wrap="square" lIns="0" tIns="0" rIns="0" bIns="0" rtlCol="0" anchor="ctr"/>
          <a:lstStyle/>
          <a:p>
            <a:pPr indent="0" marL="0">
              <a:buNone/>
            </a:pPr>
            <a:r>
              <a:rPr lang="en-US" sz="1500" b="1" i="1" dirty="0">
                <a:solidFill>
                  <a:srgbClr val="1E293B"/>
                </a:solidFill>
                <a:latin typeface="Calibri" pitchFamily="34" charset="0"/>
                <a:ea typeface="Calibri" pitchFamily="34" charset="-122"/>
                <a:cs typeface="Calibri" pitchFamily="34" charset="-120"/>
              </a:rPr>
              <a:t>“At twelve years old, Nathaniel signed the indenture that would bind him to Ropes and Hodges for nine years.”</a:t>
            </a:r>
            <a:endParaRPr lang="en-US" sz="1500" dirty="0"/>
          </a:p>
        </p:txBody>
      </p:sp>
      <p:sp>
        <p:nvSpPr>
          <p:cNvPr id="13" name="Text 11"/>
          <p:cNvSpPr/>
          <p:nvPr/>
        </p:nvSpPr>
        <p:spPr>
          <a:xfrm>
            <a:off x="594360" y="3310128"/>
            <a:ext cx="7955280" cy="457200"/>
          </a:xfrm>
          <a:prstGeom prst="rect">
            <a:avLst/>
          </a:prstGeom>
          <a:noFill/>
          <a:ln/>
        </p:spPr>
        <p:txBody>
          <a:bodyPr wrap="square" lIns="0" tIns="0" rIns="0" bIns="0" rtlCol="0" anchor="ctr"/>
          <a:lstStyle/>
          <a:p>
            <a:pPr indent="0" marL="0">
              <a:buNone/>
            </a:pPr>
            <a:r>
              <a:rPr lang="en-US" sz="1100" i="1" dirty="0">
                <a:solidFill>
                  <a:srgbClr val="64748B"/>
                </a:solidFill>
                <a:latin typeface="Calibri" pitchFamily="34" charset="0"/>
                <a:ea typeface="Calibri" pitchFamily="34" charset="-122"/>
                <a:cs typeface="Calibri" pitchFamily="34" charset="-120"/>
              </a:rPr>
              <a:t>Four corrections: the sentence starts with At (capital for the first word), Nathaniel is a person’s name (proper noun — always capitalized), and Ropes and Hodges are both part of a business name (proper noun — both capitalized). The word indenture stays lowercase — it’s a type of document, not a proper name. Compare with the model: the same four words need capitals.</a:t>
            </a:r>
            <a:endParaRPr lang="en-US" sz="11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164592"/>
            <a:ext cx="8412480" cy="566928"/>
          </a:xfrm>
          <a:prstGeom prst="rect">
            <a:avLst/>
          </a:prstGeom>
          <a:noFill/>
          <a:ln/>
        </p:spPr>
        <p:txBody>
          <a:bodyPr wrap="square" lIns="0" tIns="0" rIns="0" bIns="0" rtlCol="0" anchor="ctr"/>
          <a:lstStyle/>
          <a:p>
            <a:pPr algn="l" indent="0" marL="0">
              <a:buNone/>
            </a:pPr>
            <a:r>
              <a:rPr lang="en-US" sz="2600" b="1" dirty="0">
                <a:solidFill>
                  <a:srgbClr val="0E1C42"/>
                </a:solidFill>
                <a:latin typeface="Calibri" pitchFamily="34" charset="0"/>
                <a:ea typeface="Calibri" pitchFamily="34" charset="-122"/>
                <a:cs typeface="Calibri" pitchFamily="34" charset="-120"/>
              </a:rPr>
              <a:t>🪶 Poetry Corner</a:t>
            </a:r>
            <a:endParaRPr lang="en-US" sz="2600" dirty="0"/>
          </a:p>
        </p:txBody>
      </p:sp>
      <p:sp>
        <p:nvSpPr>
          <p:cNvPr id="3" name="Shape 1"/>
          <p:cNvSpPr/>
          <p:nvPr/>
        </p:nvSpPr>
        <p:spPr>
          <a:xfrm>
            <a:off x="365760" y="749808"/>
            <a:ext cx="8412480" cy="0"/>
          </a:xfrm>
          <a:prstGeom prst="line">
            <a:avLst/>
          </a:prstGeom>
          <a:noFill/>
          <a:ln w="19050">
            <a:solidFill>
              <a:srgbClr val="C7922C"/>
            </a:solidFill>
            <a:prstDash val="solid"/>
          </a:ln>
        </p:spPr>
      </p:sp>
      <p:sp>
        <p:nvSpPr>
          <p:cNvPr id="4" name="Shape 2"/>
          <p:cNvSpPr/>
          <p:nvPr/>
        </p:nvSpPr>
        <p:spPr>
          <a:xfrm>
            <a:off x="365760" y="868680"/>
            <a:ext cx="8412480" cy="2423160"/>
          </a:xfrm>
          <a:prstGeom prst="roundRect">
            <a:avLst>
              <a:gd name="adj" fmla="val 3774"/>
            </a:avLst>
          </a:prstGeom>
          <a:solidFill>
            <a:srgbClr val="FEF6E8"/>
          </a:solidFill>
          <a:ln/>
          <a:effectLst>
            <a:outerShdw sx="100000" sy="100000" kx="0" ky="0" algn="bl" rotWithShape="0" blurRad="101600" dist="38100" dir="2700000">
              <a:srgbClr val="000000">
                <a:alpha val="12000"/>
              </a:srgbClr>
            </a:outerShdw>
          </a:effectLst>
        </p:spPr>
      </p:sp>
      <p:sp>
        <p:nvSpPr>
          <p:cNvPr id="5" name="Text 3"/>
          <p:cNvSpPr/>
          <p:nvPr/>
        </p:nvSpPr>
        <p:spPr>
          <a:xfrm>
            <a:off x="594360" y="960120"/>
            <a:ext cx="7955280" cy="365760"/>
          </a:xfrm>
          <a:prstGeom prst="rect">
            <a:avLst/>
          </a:prstGeom>
          <a:noFill/>
          <a:ln/>
        </p:spPr>
        <p:txBody>
          <a:bodyPr wrap="square" lIns="0" tIns="0" rIns="0" bIns="0" rtlCol="0" anchor="ctr"/>
          <a:lstStyle/>
          <a:p>
            <a:pPr indent="0" marL="0">
              <a:buNone/>
            </a:pPr>
            <a:r>
              <a:rPr lang="en-US" sz="2000" b="1" dirty="0">
                <a:solidFill>
                  <a:srgbClr val="0E1C42"/>
                </a:solidFill>
                <a:latin typeface="Calibri" pitchFamily="34" charset="0"/>
                <a:ea typeface="Calibri" pitchFamily="34" charset="-122"/>
                <a:cs typeface="Calibri" pitchFamily="34" charset="-120"/>
              </a:rPr>
              <a:t>There Is No Frigate Like a Book</a:t>
            </a:r>
            <a:endParaRPr lang="en-US" sz="2000" dirty="0"/>
          </a:p>
        </p:txBody>
      </p:sp>
      <p:sp>
        <p:nvSpPr>
          <p:cNvPr id="6" name="Text 4"/>
          <p:cNvSpPr/>
          <p:nvPr/>
        </p:nvSpPr>
        <p:spPr>
          <a:xfrm>
            <a:off x="594360" y="1325880"/>
            <a:ext cx="7955280" cy="274320"/>
          </a:xfrm>
          <a:prstGeom prst="rect">
            <a:avLst/>
          </a:prstGeom>
          <a:noFill/>
          <a:ln/>
        </p:spPr>
        <p:txBody>
          <a:bodyPr wrap="square" lIns="0" tIns="0" rIns="0" bIns="0" rtlCol="0" anchor="ctr"/>
          <a:lstStyle/>
          <a:p>
            <a:pPr indent="0" marL="0">
              <a:buNone/>
            </a:pPr>
            <a:r>
              <a:rPr lang="en-US" sz="1300" i="1" dirty="0">
                <a:solidFill>
                  <a:srgbClr val="64748B"/>
                </a:solidFill>
                <a:latin typeface="Calibri" pitchFamily="34" charset="0"/>
                <a:ea typeface="Calibri" pitchFamily="34" charset="-122"/>
                <a:cs typeface="Calibri" pitchFamily="34" charset="-120"/>
              </a:rPr>
              <a:t>by by Emily Dickinson (c. 1873) — public domain</a:t>
            </a:r>
            <a:endParaRPr lang="en-US" sz="1300" dirty="0"/>
          </a:p>
        </p:txBody>
      </p:sp>
      <p:sp>
        <p:nvSpPr>
          <p:cNvPr id="7" name="Text 5"/>
          <p:cNvSpPr/>
          <p:nvPr/>
        </p:nvSpPr>
        <p:spPr>
          <a:xfrm>
            <a:off x="594360" y="1645920"/>
            <a:ext cx="7955280" cy="1554480"/>
          </a:xfrm>
          <a:prstGeom prst="rect">
            <a:avLst/>
          </a:prstGeom>
          <a:noFill/>
          <a:ln/>
        </p:spPr>
        <p:txBody>
          <a:bodyPr wrap="square" lIns="0" tIns="0" rIns="0" bIns="0" rtlCol="0" anchor="t"/>
          <a:lstStyle/>
          <a:p>
            <a:pPr indent="0" marL="0">
              <a:buNone/>
            </a:pPr>
            <a:r>
              <a:rPr lang="en-US" sz="1500" i="1" dirty="0">
                <a:solidFill>
                  <a:srgbClr val="1E293B"/>
                </a:solidFill>
                <a:latin typeface="Georgia" pitchFamily="34" charset="0"/>
                <a:ea typeface="Georgia" pitchFamily="34" charset="-122"/>
                <a:cs typeface="Georgia" pitchFamily="34" charset="-120"/>
              </a:rPr>
              <a:t>There is no Frigate like a Book</a:t>
            </a:r>
            <a:endParaRPr lang="en-US" sz="1500" dirty="0"/>
          </a:p>
          <a:p>
            <a:pPr indent="0" marL="0">
              <a:buNone/>
            </a:pPr>
            <a:r>
              <a:rPr lang="en-US" sz="1500" i="1" dirty="0">
                <a:solidFill>
                  <a:srgbClr val="1E293B"/>
                </a:solidFill>
                <a:latin typeface="Georgia" pitchFamily="34" charset="0"/>
                <a:ea typeface="Georgia" pitchFamily="34" charset="-122"/>
                <a:cs typeface="Georgia" pitchFamily="34" charset="-120"/>
              </a:rPr>
              <a:t>To take us Lands away,</a:t>
            </a:r>
            <a:endParaRPr lang="en-US" sz="1500" dirty="0"/>
          </a:p>
          <a:p>
            <a:pPr indent="0" marL="0">
              <a:buNone/>
            </a:pPr>
            <a:r>
              <a:rPr lang="en-US" sz="1500" i="1" dirty="0">
                <a:solidFill>
                  <a:srgbClr val="1E293B"/>
                </a:solidFill>
                <a:latin typeface="Georgia" pitchFamily="34" charset="0"/>
                <a:ea typeface="Georgia" pitchFamily="34" charset="-122"/>
                <a:cs typeface="Georgia" pitchFamily="34" charset="-120"/>
              </a:rPr>
              <a:t>Nor any Coursers like a Page</a:t>
            </a:r>
            <a:endParaRPr lang="en-US" sz="1500" dirty="0"/>
          </a:p>
          <a:p>
            <a:pPr indent="0" marL="0">
              <a:buNone/>
            </a:pPr>
            <a:r>
              <a:rPr lang="en-US" sz="1500" i="1" dirty="0">
                <a:solidFill>
                  <a:srgbClr val="1E293B"/>
                </a:solidFill>
                <a:latin typeface="Georgia" pitchFamily="34" charset="0"/>
                <a:ea typeface="Georgia" pitchFamily="34" charset="-122"/>
                <a:cs typeface="Georgia" pitchFamily="34" charset="-120"/>
              </a:rPr>
              <a:t>Of prancing Poetry —</a:t>
            </a:r>
            <a:endParaRPr lang="en-US" sz="1500" dirty="0"/>
          </a:p>
          <a:p>
            <a:pPr indent="0" marL="0">
              <a:buNone/>
            </a:pPr>
            <a:r>
              <a:rPr lang="en-US" sz="1500" i="1" dirty="0">
                <a:solidFill>
                  <a:srgbClr val="1E293B"/>
                </a:solidFill>
                <a:latin typeface="Georgia" pitchFamily="34" charset="0"/>
                <a:ea typeface="Georgia" pitchFamily="34" charset="-122"/>
                <a:cs typeface="Georgia" pitchFamily="34" charset="-120"/>
              </a:rPr>
              <a:t>This Traverse may the poorest take</a:t>
            </a:r>
            <a:endParaRPr lang="en-US" sz="1500" dirty="0"/>
          </a:p>
          <a:p>
            <a:pPr indent="0" marL="0">
              <a:buNone/>
            </a:pPr>
            <a:r>
              <a:rPr lang="en-US" sz="1500" i="1" dirty="0">
                <a:solidFill>
                  <a:srgbClr val="1E293B"/>
                </a:solidFill>
                <a:latin typeface="Georgia" pitchFamily="34" charset="0"/>
                <a:ea typeface="Georgia" pitchFamily="34" charset="-122"/>
                <a:cs typeface="Georgia" pitchFamily="34" charset="-120"/>
              </a:rPr>
              <a:t>Without oppress of Toll —</a:t>
            </a:r>
            <a:endParaRPr lang="en-US" sz="1500" dirty="0"/>
          </a:p>
          <a:p>
            <a:pPr indent="0" marL="0">
              <a:buNone/>
            </a:pPr>
            <a:r>
              <a:rPr lang="en-US" sz="1500" i="1" dirty="0">
                <a:solidFill>
                  <a:srgbClr val="1E293B"/>
                </a:solidFill>
                <a:latin typeface="Georgia" pitchFamily="34" charset="0"/>
                <a:ea typeface="Georgia" pitchFamily="34" charset="-122"/>
                <a:cs typeface="Georgia" pitchFamily="34" charset="-120"/>
              </a:rPr>
              <a:t>How frugal is the Chariot</a:t>
            </a:r>
            <a:endParaRPr lang="en-US" sz="1500" dirty="0"/>
          </a:p>
          <a:p>
            <a:pPr indent="0" marL="0">
              <a:buNone/>
            </a:pPr>
            <a:r>
              <a:rPr lang="en-US" sz="1500" i="1" dirty="0">
                <a:solidFill>
                  <a:srgbClr val="1E293B"/>
                </a:solidFill>
                <a:latin typeface="Georgia" pitchFamily="34" charset="0"/>
                <a:ea typeface="Georgia" pitchFamily="34" charset="-122"/>
                <a:cs typeface="Georgia" pitchFamily="34" charset="-120"/>
              </a:rPr>
              <a:t>That bears the Human Soul.</a:t>
            </a:r>
            <a:endParaRPr lang="en-US" sz="1500" dirty="0"/>
          </a:p>
        </p:txBody>
      </p:sp>
      <p:sp>
        <p:nvSpPr>
          <p:cNvPr id="8" name="Text 6"/>
          <p:cNvSpPr/>
          <p:nvPr/>
        </p:nvSpPr>
        <p:spPr>
          <a:xfrm>
            <a:off x="365760" y="3429000"/>
            <a:ext cx="8046720" cy="292608"/>
          </a:xfrm>
          <a:prstGeom prst="rect">
            <a:avLst/>
          </a:prstGeom>
          <a:noFill/>
          <a:ln/>
        </p:spPr>
        <p:txBody>
          <a:bodyPr wrap="square" lIns="0" tIns="0" rIns="0" bIns="0" rtlCol="0" anchor="ctr"/>
          <a:lstStyle/>
          <a:p>
            <a:pPr indent="0" marL="0">
              <a:buNone/>
            </a:pPr>
            <a:r>
              <a:rPr lang="en-US" sz="1100" b="1" spc="200" kern="0" dirty="0">
                <a:solidFill>
                  <a:srgbClr val="8B6FC0"/>
                </a:solidFill>
                <a:latin typeface="Calibri" pitchFamily="34" charset="0"/>
                <a:ea typeface="Calibri" pitchFamily="34" charset="-122"/>
                <a:cs typeface="Calibri" pitchFamily="34" charset="-120"/>
              </a:rPr>
              <a:t>🧠 THINK ABOUT THIS</a:t>
            </a:r>
            <a:endParaRPr lang="en-US" sz="1100" dirty="0"/>
          </a:p>
        </p:txBody>
      </p:sp>
      <p:sp>
        <p:nvSpPr>
          <p:cNvPr id="9" name="Shape 7"/>
          <p:cNvSpPr/>
          <p:nvPr/>
        </p:nvSpPr>
        <p:spPr>
          <a:xfrm>
            <a:off x="365760" y="3685032"/>
            <a:ext cx="8412480" cy="914400"/>
          </a:xfrm>
          <a:prstGeom prst="roundRect">
            <a:avLst>
              <a:gd name="adj" fmla="val 10000"/>
            </a:avLst>
          </a:prstGeom>
          <a:solidFill>
            <a:srgbClr val="F0E8FF"/>
          </a:solidFill>
          <a:ln/>
          <a:effectLst>
            <a:outerShdw sx="100000" sy="100000" kx="0" ky="0" algn="bl" rotWithShape="0" blurRad="101600" dist="38100" dir="2700000">
              <a:srgbClr val="000000">
                <a:alpha val="12000"/>
              </a:srgbClr>
            </a:outerShdw>
          </a:effectLst>
        </p:spPr>
      </p:sp>
      <p:sp>
        <p:nvSpPr>
          <p:cNvPr id="10" name="Text 8"/>
          <p:cNvSpPr/>
          <p:nvPr/>
        </p:nvSpPr>
        <p:spPr>
          <a:xfrm>
            <a:off x="594360" y="3776472"/>
            <a:ext cx="7955280" cy="731520"/>
          </a:xfrm>
          <a:prstGeom prst="rect">
            <a:avLst/>
          </a:prstGeom>
          <a:noFill/>
          <a:ln/>
        </p:spPr>
        <p:txBody>
          <a:bodyPr wrap="square" lIns="0" tIns="0" rIns="0" bIns="0" rtlCol="0" anchor="ctr"/>
          <a:lstStyle/>
          <a:p>
            <a:pPr indent="0" marL="0">
              <a:buNone/>
            </a:pPr>
            <a:r>
              <a:rPr lang="en-US" sz="1200" i="1" dirty="0">
                <a:solidFill>
                  <a:srgbClr val="1E293B"/>
                </a:solidFill>
                <a:latin typeface="Calibri" pitchFamily="34" charset="0"/>
                <a:ea typeface="Calibri" pitchFamily="34" charset="-122"/>
                <a:cs typeface="Calibri" pitchFamily="34" charset="-120"/>
              </a:rPr>
              <a:t>Dickinson chose grand, formal words: frigate, coursers, traverse, chariot . She could have written boat, horses, trip, cart — but she didn’t. Why do you think she chose those bigger words? And after four chapters with Nat — his harbor, his losses, his indenture — does this poem feel different to you now than it did on Day 2?</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164592"/>
            <a:ext cx="8412480" cy="566928"/>
          </a:xfrm>
          <a:prstGeom prst="rect">
            <a:avLst/>
          </a:prstGeom>
          <a:noFill/>
          <a:ln/>
        </p:spPr>
        <p:txBody>
          <a:bodyPr wrap="square" lIns="0" tIns="0" rIns="0" bIns="0" rtlCol="0" anchor="ctr"/>
          <a:lstStyle/>
          <a:p>
            <a:pPr algn="l" indent="0" marL="0">
              <a:buNone/>
            </a:pPr>
            <a:r>
              <a:rPr lang="en-US" sz="2600" b="1" dirty="0">
                <a:solidFill>
                  <a:srgbClr val="0E1C42"/>
                </a:solidFill>
                <a:latin typeface="Calibri" pitchFamily="34" charset="0"/>
                <a:ea typeface="Calibri" pitchFamily="34" charset="-122"/>
                <a:cs typeface="Calibri" pitchFamily="34" charset="-120"/>
              </a:rPr>
              <a:t>✏️ Quick Write (Optional)</a:t>
            </a:r>
            <a:endParaRPr lang="en-US" sz="2600" dirty="0"/>
          </a:p>
        </p:txBody>
      </p:sp>
      <p:sp>
        <p:nvSpPr>
          <p:cNvPr id="3" name="Shape 1"/>
          <p:cNvSpPr/>
          <p:nvPr/>
        </p:nvSpPr>
        <p:spPr>
          <a:xfrm>
            <a:off x="365760" y="749808"/>
            <a:ext cx="8412480" cy="0"/>
          </a:xfrm>
          <a:prstGeom prst="line">
            <a:avLst/>
          </a:prstGeom>
          <a:noFill/>
          <a:ln w="19050">
            <a:solidFill>
              <a:srgbClr val="C7922C"/>
            </a:solidFill>
            <a:prstDash val="solid"/>
          </a:ln>
        </p:spPr>
      </p:sp>
      <p:sp>
        <p:nvSpPr>
          <p:cNvPr id="4" name="Text 2"/>
          <p:cNvSpPr/>
          <p:nvPr/>
        </p:nvSpPr>
        <p:spPr>
          <a:xfrm>
            <a:off x="457200" y="914400"/>
            <a:ext cx="8046720" cy="292608"/>
          </a:xfrm>
          <a:prstGeom prst="rect">
            <a:avLst/>
          </a:prstGeom>
          <a:noFill/>
          <a:ln/>
        </p:spPr>
        <p:txBody>
          <a:bodyPr wrap="square" lIns="0" tIns="0" rIns="0" bIns="0" rtlCol="0" anchor="ctr"/>
          <a:lstStyle/>
          <a:p>
            <a:pPr indent="0" marL="0">
              <a:buNone/>
            </a:pPr>
            <a:r>
              <a:rPr lang="en-US" sz="1100" b="1" spc="200" kern="0" dirty="0">
                <a:solidFill>
                  <a:srgbClr val="C7922C"/>
                </a:solidFill>
                <a:latin typeface="Calibri" pitchFamily="34" charset="0"/>
                <a:ea typeface="Calibri" pitchFamily="34" charset="-122"/>
                <a:cs typeface="Calibri" pitchFamily="34" charset="-120"/>
              </a:rPr>
              <a:t>📖 READ THE PROMPT — 1 MINUTE</a:t>
            </a:r>
            <a:endParaRPr lang="en-US" sz="1100" dirty="0"/>
          </a:p>
        </p:txBody>
      </p:sp>
      <p:sp>
        <p:nvSpPr>
          <p:cNvPr id="5" name="Shape 3"/>
          <p:cNvSpPr/>
          <p:nvPr/>
        </p:nvSpPr>
        <p:spPr>
          <a:xfrm>
            <a:off x="457200" y="1280160"/>
            <a:ext cx="8229600" cy="1463040"/>
          </a:xfrm>
          <a:prstGeom prst="roundRect">
            <a:avLst>
              <a:gd name="adj" fmla="val 6250"/>
            </a:avLst>
          </a:prstGeom>
          <a:solidFill>
            <a:srgbClr val="FEF6E8"/>
          </a:solidFill>
          <a:ln w="12700">
            <a:solidFill>
              <a:srgbClr val="C7922C"/>
            </a:solidFill>
            <a:prstDash val="solid"/>
          </a:ln>
          <a:effectLst>
            <a:outerShdw sx="100000" sy="100000" kx="0" ky="0" algn="bl" rotWithShape="0" blurRad="101600" dist="38100" dir="2700000">
              <a:srgbClr val="000000">
                <a:alpha val="12000"/>
              </a:srgbClr>
            </a:outerShdw>
          </a:effectLst>
        </p:spPr>
      </p:sp>
      <p:sp>
        <p:nvSpPr>
          <p:cNvPr id="6" name="Text 4"/>
          <p:cNvSpPr/>
          <p:nvPr/>
        </p:nvSpPr>
        <p:spPr>
          <a:xfrm>
            <a:off x="640080" y="1389888"/>
            <a:ext cx="7863840" cy="1234440"/>
          </a:xfrm>
          <a:prstGeom prst="rect">
            <a:avLst/>
          </a:prstGeom>
          <a:noFill/>
          <a:ln/>
        </p:spPr>
        <p:txBody>
          <a:bodyPr wrap="square" lIns="0" tIns="0" rIns="0" bIns="0" rtlCol="0" anchor="ctr"/>
          <a:lstStyle/>
          <a:p>
            <a:pPr indent="0" marL="0">
              <a:buNone/>
            </a:pPr>
            <a:r>
              <a:rPr lang="en-US" sz="1600" i="1" dirty="0">
                <a:solidFill>
                  <a:srgbClr val="1E293B"/>
                </a:solidFill>
                <a:latin typeface="Calibri" pitchFamily="34" charset="0"/>
                <a:ea typeface="Calibri" pitchFamily="34" charset="-122"/>
                <a:cs typeface="Calibri" pitchFamily="34" charset="-120"/>
              </a:rPr>
              <a:t>Nat says "boys don't blubber" but clearly feels the losses of this week deeply. Which moment this week best proves that Nat feels more than he shows? Defend your answer with evidence from Chapter 4.</a:t>
            </a:r>
            <a:endParaRPr lang="en-US" sz="1600" dirty="0"/>
          </a:p>
        </p:txBody>
      </p:sp>
      <p:sp>
        <p:nvSpPr>
          <p:cNvPr id="7" name="Text 5"/>
          <p:cNvSpPr/>
          <p:nvPr/>
        </p:nvSpPr>
        <p:spPr>
          <a:xfrm>
            <a:off x="457200" y="2926080"/>
            <a:ext cx="8046720" cy="292608"/>
          </a:xfrm>
          <a:prstGeom prst="rect">
            <a:avLst/>
          </a:prstGeom>
          <a:noFill/>
          <a:ln/>
        </p:spPr>
        <p:txBody>
          <a:bodyPr wrap="square" lIns="0" tIns="0" rIns="0" bIns="0" rtlCol="0" anchor="ctr"/>
          <a:lstStyle/>
          <a:p>
            <a:pPr indent="0" marL="0">
              <a:buNone/>
            </a:pPr>
            <a:r>
              <a:rPr lang="en-US" sz="1100" b="1" spc="200" kern="0" dirty="0">
                <a:solidFill>
                  <a:srgbClr val="64748B"/>
                </a:solidFill>
                <a:latin typeface="Calibri" pitchFamily="34" charset="0"/>
                <a:ea typeface="Calibri" pitchFamily="34" charset="-122"/>
                <a:cs typeface="Calibri" pitchFamily="34" charset="-120"/>
              </a:rPr>
              <a:t>SENTENCE SCAFFOLD (USE WHAT HELPS)</a:t>
            </a:r>
            <a:endParaRPr lang="en-US" sz="1100" dirty="0"/>
          </a:p>
        </p:txBody>
      </p:sp>
      <p:sp>
        <p:nvSpPr>
          <p:cNvPr id="8" name="Text 6"/>
          <p:cNvSpPr/>
          <p:nvPr/>
        </p:nvSpPr>
        <p:spPr>
          <a:xfrm>
            <a:off x="457200" y="3218688"/>
            <a:ext cx="8229600" cy="822960"/>
          </a:xfrm>
          <a:prstGeom prst="rect">
            <a:avLst/>
          </a:prstGeom>
          <a:noFill/>
          <a:ln/>
        </p:spPr>
        <p:txBody>
          <a:bodyPr wrap="square" lIns="0" tIns="0" rIns="0" bIns="0" rtlCol="0" anchor="ctr"/>
          <a:lstStyle/>
          <a:p>
            <a:pPr indent="0" marL="0">
              <a:buNone/>
            </a:pPr>
            <a:r>
              <a:rPr lang="en-US" sz="1150" i="1" dirty="0">
                <a:solidFill>
                  <a:srgbClr val="0E1C42"/>
                </a:solidFill>
                <a:latin typeface="Calibri" pitchFamily="34" charset="0"/>
                <a:ea typeface="Calibri" pitchFamily="34" charset="-122"/>
                <a:cs typeface="Calibri" pitchFamily="34" charset="-120"/>
              </a:rPr>
              <a:t>I think...   →   because...   →   One piece of evidence is...   →   Someone might disagree, but...</a:t>
            </a:r>
            <a:endParaRPr lang="en-US" sz="11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EF6E8"/>
        </a:solidFill>
      </p:bgPr>
    </p:bg>
    <p:spTree>
      <p:nvGrpSpPr>
        <p:cNvPr id="1" name=""/>
        <p:cNvGrpSpPr/>
        <p:nvPr/>
      </p:nvGrpSpPr>
      <p:grpSpPr>
        <a:xfrm>
          <a:off x="0" y="0"/>
          <a:ext cx="0" cy="0"/>
          <a:chOff x="0" y="0"/>
          <a:chExt cx="0" cy="0"/>
        </a:xfrm>
      </p:grpSpPr>
      <p:sp>
        <p:nvSpPr>
          <p:cNvPr id="2" name="Text 0"/>
          <p:cNvSpPr/>
          <p:nvPr/>
        </p:nvSpPr>
        <p:spPr>
          <a:xfrm>
            <a:off x="457200" y="228600"/>
            <a:ext cx="8229600" cy="640080"/>
          </a:xfrm>
          <a:prstGeom prst="rect">
            <a:avLst/>
          </a:prstGeom>
          <a:noFill/>
          <a:ln/>
        </p:spPr>
        <p:txBody>
          <a:bodyPr wrap="square" lIns="0" tIns="0" rIns="0" bIns="0" rtlCol="0" anchor="ctr"/>
          <a:lstStyle/>
          <a:p>
            <a:pPr algn="ctr" indent="0" marL="0">
              <a:buNone/>
            </a:pPr>
            <a:r>
              <a:rPr lang="en-US" sz="3000" b="1" dirty="0">
                <a:solidFill>
                  <a:srgbClr val="0E1C42"/>
                </a:solidFill>
                <a:latin typeface="Calibri" pitchFamily="34" charset="0"/>
                <a:ea typeface="Calibri" pitchFamily="34" charset="-122"/>
                <a:cs typeface="Calibri" pitchFamily="34" charset="-120"/>
              </a:rPr>
              <a:t>✏️  Writing Time</a:t>
            </a:r>
            <a:endParaRPr lang="en-US" sz="3000" dirty="0"/>
          </a:p>
        </p:txBody>
      </p:sp>
      <p:sp>
        <p:nvSpPr>
          <p:cNvPr id="3" name="Text 1"/>
          <p:cNvSpPr/>
          <p:nvPr/>
        </p:nvSpPr>
        <p:spPr>
          <a:xfrm>
            <a:off x="914400" y="804672"/>
            <a:ext cx="7315200" cy="365760"/>
          </a:xfrm>
          <a:prstGeom prst="rect">
            <a:avLst/>
          </a:prstGeom>
          <a:noFill/>
          <a:ln/>
        </p:spPr>
        <p:txBody>
          <a:bodyPr wrap="square" lIns="0" tIns="0" rIns="0" bIns="0" rtlCol="0" anchor="ctr"/>
          <a:lstStyle/>
          <a:p>
            <a:pPr algn="ctr" indent="0" marL="0">
              <a:buNone/>
            </a:pPr>
            <a:r>
              <a:rPr lang="en-US" sz="1500" dirty="0">
                <a:solidFill>
                  <a:srgbClr val="C7922C"/>
                </a:solidFill>
                <a:latin typeface="Calibri" pitchFamily="34" charset="0"/>
                <a:ea typeface="Calibri" pitchFamily="34" charset="-122"/>
                <a:cs typeface="Calibri" pitchFamily="34" charset="-120"/>
              </a:rPr>
              <a:t>5 minutes — keep your pencil moving!</a:t>
            </a:r>
            <a:endParaRPr lang="en-US" sz="1500" dirty="0"/>
          </a:p>
        </p:txBody>
      </p:sp>
      <p:sp>
        <p:nvSpPr>
          <p:cNvPr id="4" name="Shape 2"/>
          <p:cNvSpPr/>
          <p:nvPr/>
        </p:nvSpPr>
        <p:spPr>
          <a:xfrm>
            <a:off x="457200" y="1325880"/>
            <a:ext cx="8229600" cy="1188720"/>
          </a:xfrm>
          <a:prstGeom prst="roundRect">
            <a:avLst>
              <a:gd name="adj" fmla="val 7692"/>
            </a:avLst>
          </a:prstGeom>
          <a:solidFill>
            <a:srgbClr val="FFFFFF"/>
          </a:solidFill>
          <a:ln w="12700">
            <a:solidFill>
              <a:srgbClr val="C7922C"/>
            </a:solidFill>
            <a:prstDash val="solid"/>
          </a:ln>
          <a:effectLst>
            <a:outerShdw sx="100000" sy="100000" kx="0" ky="0" algn="bl" rotWithShape="0" blurRad="101600" dist="38100" dir="2700000">
              <a:srgbClr val="000000">
                <a:alpha val="12000"/>
              </a:srgbClr>
            </a:outerShdw>
          </a:effectLst>
        </p:spPr>
      </p:sp>
      <p:sp>
        <p:nvSpPr>
          <p:cNvPr id="5" name="Text 3"/>
          <p:cNvSpPr/>
          <p:nvPr/>
        </p:nvSpPr>
        <p:spPr>
          <a:xfrm>
            <a:off x="640080" y="1371600"/>
            <a:ext cx="7863840" cy="1097280"/>
          </a:xfrm>
          <a:prstGeom prst="rect">
            <a:avLst/>
          </a:prstGeom>
          <a:noFill/>
          <a:ln/>
        </p:spPr>
        <p:txBody>
          <a:bodyPr wrap="square" lIns="0" tIns="0" rIns="0" bIns="0" rtlCol="0" anchor="t"/>
          <a:lstStyle/>
          <a:p>
            <a:pPr indent="0" marL="0">
              <a:buNone/>
            </a:pPr>
            <a:r>
              <a:rPr lang="en-US" sz="1200" b="1" dirty="0">
                <a:solidFill>
                  <a:srgbClr val="C7922C"/>
                </a:solidFill>
                <a:latin typeface="Calibri" pitchFamily="34" charset="0"/>
                <a:ea typeface="Calibri" pitchFamily="34" charset="-122"/>
                <a:cs typeface="Calibri" pitchFamily="34" charset="-120"/>
              </a:rPr>
              <a:t>📖 Prompt: </a:t>
            </a:r>
            <a:pPr indent="0" marL="0">
              <a:buNone/>
            </a:pPr>
            <a:r>
              <a:rPr lang="en-US" sz="1200" i="1" dirty="0">
                <a:solidFill>
                  <a:srgbClr val="1E293B"/>
                </a:solidFill>
                <a:latin typeface="Calibri" pitchFamily="34" charset="0"/>
                <a:ea typeface="Calibri" pitchFamily="34" charset="-122"/>
                <a:cs typeface="Calibri" pitchFamily="34" charset="-120"/>
              </a:rPr>
              <a:t>Nat says "boys don't blubber" but clearly feels the losses of this week deeply. Which moment this week best proves that Nat feels more than he shows? Defend your answer with evidence from Chapter 4.</a:t>
            </a:r>
            <a:endParaRPr lang="en-US" sz="1200" dirty="0"/>
          </a:p>
        </p:txBody>
      </p:sp>
      <p:sp>
        <p:nvSpPr>
          <p:cNvPr id="6" name="Shape 4"/>
          <p:cNvSpPr/>
          <p:nvPr/>
        </p:nvSpPr>
        <p:spPr>
          <a:xfrm>
            <a:off x="1554480" y="2743200"/>
            <a:ext cx="6035040" cy="1600200"/>
          </a:xfrm>
          <a:prstGeom prst="roundRect">
            <a:avLst>
              <a:gd name="adj" fmla="val 6857"/>
            </a:avLst>
          </a:prstGeom>
          <a:solidFill>
            <a:srgbClr val="FFFFFF"/>
          </a:solidFill>
          <a:ln/>
          <a:effectLst>
            <a:outerShdw sx="100000" sy="100000" kx="0" ky="0" algn="bl" rotWithShape="0" blurRad="101600" dist="38100" dir="2700000">
              <a:srgbClr val="000000">
                <a:alpha val="12000"/>
              </a:srgbClr>
            </a:outerShdw>
          </a:effectLst>
        </p:spPr>
      </p:sp>
      <p:sp>
        <p:nvSpPr>
          <p:cNvPr id="7" name="Text 5"/>
          <p:cNvSpPr/>
          <p:nvPr/>
        </p:nvSpPr>
        <p:spPr>
          <a:xfrm>
            <a:off x="1737360" y="2834640"/>
            <a:ext cx="5669280" cy="1417320"/>
          </a:xfrm>
          <a:prstGeom prst="rect">
            <a:avLst/>
          </a:prstGeom>
          <a:noFill/>
          <a:ln/>
        </p:spPr>
        <p:txBody>
          <a:bodyPr wrap="square" lIns="0" tIns="0" rIns="0" bIns="0" rtlCol="0" anchor="t"/>
          <a:lstStyle/>
          <a:p>
            <a:pPr indent="0" marL="0">
              <a:buNone/>
            </a:pPr>
            <a:r>
              <a:rPr lang="en-US" sz="1300" b="1" dirty="0">
                <a:solidFill>
                  <a:srgbClr val="0E1C42"/>
                </a:solidFill>
                <a:latin typeface="Calibri" pitchFamily="34" charset="0"/>
                <a:ea typeface="Calibri" pitchFamily="34" charset="-122"/>
                <a:cs typeface="Calibri" pitchFamily="34" charset="-120"/>
              </a:rPr>
              <a:t>Scaffold, if you need it:
</a:t>
            </a:r>
            <a:pPr indent="0" marL="0">
              <a:buNone/>
            </a:pPr>
            <a:r>
              <a:rPr lang="en-US" sz="1150" dirty="0">
                <a:solidFill>
                  <a:srgbClr val="1E293B"/>
                </a:solidFill>
                <a:latin typeface="Calibri" pitchFamily="34" charset="0"/>
                <a:ea typeface="Calibri" pitchFamily="34" charset="-122"/>
                <a:cs typeface="Calibri" pitchFamily="34" charset="-120"/>
              </a:rPr>
              <a:t>I think...</a:t>
            </a:r>
            <a:endParaRPr lang="en-US" sz="1300" dirty="0"/>
          </a:p>
          <a:p>
            <a:pPr indent="0" marL="0">
              <a:buNone/>
            </a:pPr>
            <a:r>
              <a:rPr lang="en-US" sz="1150" dirty="0">
                <a:solidFill>
                  <a:srgbClr val="1E293B"/>
                </a:solidFill>
                <a:latin typeface="Calibri" pitchFamily="34" charset="0"/>
                <a:ea typeface="Calibri" pitchFamily="34" charset="-122"/>
                <a:cs typeface="Calibri" pitchFamily="34" charset="-120"/>
              </a:rPr>
              <a:t>because...</a:t>
            </a:r>
            <a:endParaRPr lang="en-US" sz="1300" dirty="0"/>
          </a:p>
          <a:p>
            <a:pPr indent="0" marL="0">
              <a:buNone/>
            </a:pPr>
            <a:r>
              <a:rPr lang="en-US" sz="1150" dirty="0">
                <a:solidFill>
                  <a:srgbClr val="1E293B"/>
                </a:solidFill>
                <a:latin typeface="Calibri" pitchFamily="34" charset="0"/>
                <a:ea typeface="Calibri" pitchFamily="34" charset="-122"/>
                <a:cs typeface="Calibri" pitchFamily="34" charset="-120"/>
              </a:rPr>
              <a:t>One piece of evidence is...</a:t>
            </a:r>
            <a:endParaRPr lang="en-US" sz="1300" dirty="0"/>
          </a:p>
          <a:p>
            <a:pPr indent="0" marL="0">
              <a:buNone/>
            </a:pPr>
            <a:r>
              <a:rPr lang="en-US" sz="1150" dirty="0">
                <a:solidFill>
                  <a:srgbClr val="1E293B"/>
                </a:solidFill>
                <a:latin typeface="Calibri" pitchFamily="34" charset="0"/>
                <a:ea typeface="Calibri" pitchFamily="34" charset="-122"/>
                <a:cs typeface="Calibri" pitchFamily="34" charset="-120"/>
              </a:rPr>
              <a:t>Someone might disagree, but...</a:t>
            </a:r>
            <a:endParaRPr lang="en-US" sz="13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E8F8EF"/>
        </a:solidFill>
      </p:bgPr>
    </p:bg>
    <p:spTree>
      <p:nvGrpSpPr>
        <p:cNvPr id="1" name=""/>
        <p:cNvGrpSpPr/>
        <p:nvPr/>
      </p:nvGrpSpPr>
      <p:grpSpPr>
        <a:xfrm>
          <a:off x="0" y="0"/>
          <a:ext cx="0" cy="0"/>
          <a:chOff x="0" y="0"/>
          <a:chExt cx="0" cy="0"/>
        </a:xfrm>
      </p:grpSpPr>
      <p:sp>
        <p:nvSpPr>
          <p:cNvPr id="2" name="Text 0"/>
          <p:cNvSpPr/>
          <p:nvPr/>
        </p:nvSpPr>
        <p:spPr>
          <a:xfrm>
            <a:off x="3657600" y="320040"/>
            <a:ext cx="1828800" cy="548640"/>
          </a:xfrm>
          <a:prstGeom prst="rect">
            <a:avLst/>
          </a:prstGeom>
          <a:noFill/>
          <a:ln/>
        </p:spPr>
        <p:txBody>
          <a:bodyPr wrap="square" lIns="0" tIns="0" rIns="0" bIns="0" rtlCol="0" anchor="ctr"/>
          <a:lstStyle/>
          <a:p>
            <a:pPr algn="ctr" indent="0" marL="0">
              <a:buNone/>
            </a:pPr>
            <a:r>
              <a:rPr lang="en-US" sz="3600" dirty="0">
                <a:solidFill>
                  <a:srgbClr val="000000"/>
                </a:solidFill>
              </a:rPr>
              <a:t>🔍</a:t>
            </a:r>
            <a:endParaRPr lang="en-US" sz="3600" dirty="0"/>
          </a:p>
        </p:txBody>
      </p:sp>
      <p:sp>
        <p:nvSpPr>
          <p:cNvPr id="3" name="Text 1"/>
          <p:cNvSpPr/>
          <p:nvPr/>
        </p:nvSpPr>
        <p:spPr>
          <a:xfrm>
            <a:off x="914400" y="822960"/>
            <a:ext cx="7315200" cy="594360"/>
          </a:xfrm>
          <a:prstGeom prst="rect">
            <a:avLst/>
          </a:prstGeom>
          <a:noFill/>
          <a:ln/>
        </p:spPr>
        <p:txBody>
          <a:bodyPr wrap="square" lIns="0" tIns="0" rIns="0" bIns="0" rtlCol="0" anchor="ctr"/>
          <a:lstStyle/>
          <a:p>
            <a:pPr algn="ctr" indent="0" marL="0">
              <a:buNone/>
            </a:pPr>
            <a:r>
              <a:rPr lang="en-US" sz="2800" b="1" dirty="0">
                <a:solidFill>
                  <a:srgbClr val="0E1C42"/>
                </a:solidFill>
                <a:latin typeface="Calibri" pitchFamily="34" charset="0"/>
                <a:ea typeface="Calibri" pitchFamily="34" charset="-122"/>
                <a:cs typeface="Calibri" pitchFamily="34" charset="-120"/>
              </a:rPr>
              <a:t>Edit &amp; Revise</a:t>
            </a:r>
            <a:endParaRPr lang="en-US" sz="2800" dirty="0"/>
          </a:p>
        </p:txBody>
      </p:sp>
      <p:sp>
        <p:nvSpPr>
          <p:cNvPr id="4" name="Text 2"/>
          <p:cNvSpPr/>
          <p:nvPr/>
        </p:nvSpPr>
        <p:spPr>
          <a:xfrm>
            <a:off x="914400" y="1371600"/>
            <a:ext cx="7315200" cy="411480"/>
          </a:xfrm>
          <a:prstGeom prst="rect">
            <a:avLst/>
          </a:prstGeom>
          <a:noFill/>
          <a:ln/>
        </p:spPr>
        <p:txBody>
          <a:bodyPr wrap="square" lIns="0" tIns="0" rIns="0" bIns="0" rtlCol="0" anchor="ctr"/>
          <a:lstStyle/>
          <a:p>
            <a:pPr algn="ctr" indent="0" marL="0">
              <a:buNone/>
            </a:pPr>
            <a:r>
              <a:rPr lang="en-US" sz="1400" dirty="0">
                <a:solidFill>
                  <a:srgbClr val="34B76F"/>
                </a:solidFill>
                <a:latin typeface="Calibri" pitchFamily="34" charset="0"/>
                <a:ea typeface="Calibri" pitchFamily="34" charset="-122"/>
                <a:cs typeface="Calibri" pitchFamily="34" charset="-120"/>
              </a:rPr>
              <a:t>1 minute — one deliberate decision, not a full edit pass</a:t>
            </a:r>
            <a:endParaRPr lang="en-US" sz="1400" dirty="0"/>
          </a:p>
        </p:txBody>
      </p:sp>
      <p:sp>
        <p:nvSpPr>
          <p:cNvPr id="5" name="Shape 3"/>
          <p:cNvSpPr/>
          <p:nvPr/>
        </p:nvSpPr>
        <p:spPr>
          <a:xfrm>
            <a:off x="1188720" y="2011680"/>
            <a:ext cx="6766560" cy="777240"/>
          </a:xfrm>
          <a:prstGeom prst="roundRect">
            <a:avLst>
              <a:gd name="adj" fmla="val 11765"/>
            </a:avLst>
          </a:prstGeom>
          <a:solidFill>
            <a:srgbClr val="FFFFFF"/>
          </a:solidFill>
          <a:ln w="19050">
            <a:solidFill>
              <a:srgbClr val="34B76F"/>
            </a:solidFill>
            <a:prstDash val="solid"/>
          </a:ln>
          <a:effectLst>
            <a:outerShdw sx="100000" sy="100000" kx="0" ky="0" algn="bl" rotWithShape="0" blurRad="101600" dist="38100" dir="2700000">
              <a:srgbClr val="000000">
                <a:alpha val="12000"/>
              </a:srgbClr>
            </a:outerShdw>
          </a:effectLst>
        </p:spPr>
      </p:sp>
      <p:sp>
        <p:nvSpPr>
          <p:cNvPr id="6" name="Text 4"/>
          <p:cNvSpPr/>
          <p:nvPr/>
        </p:nvSpPr>
        <p:spPr>
          <a:xfrm>
            <a:off x="1371600" y="2084832"/>
            <a:ext cx="6400800" cy="640080"/>
          </a:xfrm>
          <a:prstGeom prst="rect">
            <a:avLst/>
          </a:prstGeom>
          <a:noFill/>
          <a:ln/>
        </p:spPr>
        <p:txBody>
          <a:bodyPr wrap="square" lIns="0" tIns="0" rIns="0" bIns="0" rtlCol="0" anchor="ctr"/>
          <a:lstStyle/>
          <a:p>
            <a:pPr indent="0" marL="0">
              <a:buNone/>
            </a:pPr>
            <a:r>
              <a:rPr lang="en-US" sz="1300" b="1" dirty="0">
                <a:solidFill>
                  <a:srgbClr val="34B76F"/>
                </a:solidFill>
                <a:latin typeface="Calibri" pitchFamily="34" charset="0"/>
                <a:ea typeface="Calibri" pitchFamily="34" charset="-122"/>
                <a:cs typeface="Calibri" pitchFamily="34" charset="-120"/>
              </a:rPr>
              <a:t>Today's revision check: </a:t>
            </a:r>
            <a:pPr indent="0" marL="0">
              <a:buNone/>
            </a:pPr>
            <a:r>
              <a:rPr lang="en-US" sz="1300" dirty="0">
                <a:solidFill>
                  <a:srgbClr val="1E293B"/>
                </a:solidFill>
                <a:latin typeface="Calibri" pitchFamily="34" charset="0"/>
                <a:ea typeface="Calibri" pitchFamily="34" charset="-122"/>
                <a:cs typeface="Calibri" pitchFamily="34" charset="-120"/>
              </a:rPr>
              <a:t>Does this detail actually support what I'm trying to say, or is it just filler?</a:t>
            </a:r>
            <a:endParaRPr lang="en-US" sz="1300" dirty="0"/>
          </a:p>
        </p:txBody>
      </p:sp>
      <p:sp>
        <p:nvSpPr>
          <p:cNvPr id="7" name="Text 5"/>
          <p:cNvSpPr/>
          <p:nvPr/>
        </p:nvSpPr>
        <p:spPr>
          <a:xfrm>
            <a:off x="1188720" y="3017520"/>
            <a:ext cx="6766560" cy="457200"/>
          </a:xfrm>
          <a:prstGeom prst="rect">
            <a:avLst/>
          </a:prstGeom>
          <a:noFill/>
          <a:ln/>
        </p:spPr>
        <p:txBody>
          <a:bodyPr wrap="square" lIns="0" tIns="0" rIns="0" bIns="0" rtlCol="0" anchor="ctr"/>
          <a:lstStyle/>
          <a:p>
            <a:pPr algn="ctr" indent="0" marL="0">
              <a:buNone/>
            </a:pPr>
            <a:r>
              <a:rPr lang="en-US" sz="1200" i="1" dirty="0">
                <a:solidFill>
                  <a:srgbClr val="64748B"/>
                </a:solidFill>
                <a:latin typeface="Calibri" pitchFamily="34" charset="0"/>
                <a:ea typeface="Calibri" pitchFamily="34" charset="-122"/>
                <a:cs typeface="Calibri" pitchFamily="34" charset="-120"/>
              </a:rPr>
              <a:t>Revision = improving ideas. Editing = fixing conventions. Pick ONE thing.</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E5F7FC"/>
        </a:solidFill>
      </p:bgPr>
    </p:bg>
    <p:spTree>
      <p:nvGrpSpPr>
        <p:cNvPr id="1" name=""/>
        <p:cNvGrpSpPr/>
        <p:nvPr/>
      </p:nvGrpSpPr>
      <p:grpSpPr>
        <a:xfrm>
          <a:off x="0" y="0"/>
          <a:ext cx="0" cy="0"/>
          <a:chOff x="0" y="0"/>
          <a:chExt cx="0" cy="0"/>
        </a:xfrm>
      </p:grpSpPr>
      <p:sp>
        <p:nvSpPr>
          <p:cNvPr id="2" name="Text 0"/>
          <p:cNvSpPr/>
          <p:nvPr/>
        </p:nvSpPr>
        <p:spPr>
          <a:xfrm>
            <a:off x="3657600" y="457200"/>
            <a:ext cx="1828800" cy="640080"/>
          </a:xfrm>
          <a:prstGeom prst="rect">
            <a:avLst/>
          </a:prstGeom>
          <a:noFill/>
          <a:ln/>
        </p:spPr>
        <p:txBody>
          <a:bodyPr wrap="square" lIns="0" tIns="0" rIns="0" bIns="0" rtlCol="0" anchor="ctr"/>
          <a:lstStyle/>
          <a:p>
            <a:pPr algn="ctr" indent="0" marL="0">
              <a:buNone/>
            </a:pPr>
            <a:r>
              <a:rPr lang="en-US" sz="4000" dirty="0">
                <a:solidFill>
                  <a:srgbClr val="000000"/>
                </a:solidFill>
              </a:rPr>
              <a:t>🗣️</a:t>
            </a:r>
            <a:endParaRPr lang="en-US" sz="4000" dirty="0"/>
          </a:p>
        </p:txBody>
      </p:sp>
      <p:sp>
        <p:nvSpPr>
          <p:cNvPr id="3" name="Text 1"/>
          <p:cNvSpPr/>
          <p:nvPr/>
        </p:nvSpPr>
        <p:spPr>
          <a:xfrm>
            <a:off x="914400" y="1005840"/>
            <a:ext cx="7315200" cy="594360"/>
          </a:xfrm>
          <a:prstGeom prst="rect">
            <a:avLst/>
          </a:prstGeom>
          <a:noFill/>
          <a:ln/>
        </p:spPr>
        <p:txBody>
          <a:bodyPr wrap="square" lIns="0" tIns="0" rIns="0" bIns="0" rtlCol="0" anchor="ctr"/>
          <a:lstStyle/>
          <a:p>
            <a:pPr algn="ctr" indent="0" marL="0">
              <a:buNone/>
            </a:pPr>
            <a:r>
              <a:rPr lang="en-US" sz="3000" b="1" dirty="0">
                <a:solidFill>
                  <a:srgbClr val="0E1C42"/>
                </a:solidFill>
                <a:latin typeface="Calibri" pitchFamily="34" charset="0"/>
                <a:ea typeface="Calibri" pitchFamily="34" charset="-122"/>
                <a:cs typeface="Calibri" pitchFamily="34" charset="-120"/>
              </a:rPr>
              <a:t>Share Time</a:t>
            </a:r>
            <a:endParaRPr lang="en-US" sz="3000" dirty="0"/>
          </a:p>
        </p:txBody>
      </p:sp>
      <p:sp>
        <p:nvSpPr>
          <p:cNvPr id="4" name="Text 2"/>
          <p:cNvSpPr/>
          <p:nvPr/>
        </p:nvSpPr>
        <p:spPr>
          <a:xfrm>
            <a:off x="914400" y="1554480"/>
            <a:ext cx="7315200" cy="411480"/>
          </a:xfrm>
          <a:prstGeom prst="rect">
            <a:avLst/>
          </a:prstGeom>
          <a:noFill/>
          <a:ln/>
        </p:spPr>
        <p:txBody>
          <a:bodyPr wrap="square" lIns="0" tIns="0" rIns="0" bIns="0" rtlCol="0" anchor="ctr"/>
          <a:lstStyle/>
          <a:p>
            <a:pPr algn="ctr" indent="0" marL="0">
              <a:buNone/>
            </a:pPr>
            <a:r>
              <a:rPr lang="en-US" sz="1500" dirty="0">
                <a:solidFill>
                  <a:srgbClr val="55C8E8"/>
                </a:solidFill>
                <a:latin typeface="Calibri" pitchFamily="34" charset="0"/>
                <a:ea typeface="Calibri" pitchFamily="34" charset="-122"/>
                <a:cs typeface="Calibri" pitchFamily="34" charset="-120"/>
              </a:rPr>
              <a:t>3 minutes — let's hear your thinking!</a:t>
            </a:r>
            <a:endParaRPr lang="en-US" sz="1500" dirty="0"/>
          </a:p>
        </p:txBody>
      </p:sp>
      <p:sp>
        <p:nvSpPr>
          <p:cNvPr id="5" name="Shape 3"/>
          <p:cNvSpPr/>
          <p:nvPr/>
        </p:nvSpPr>
        <p:spPr>
          <a:xfrm>
            <a:off x="1828800" y="2194560"/>
            <a:ext cx="5486400" cy="1371600"/>
          </a:xfrm>
          <a:prstGeom prst="roundRect">
            <a:avLst>
              <a:gd name="adj" fmla="val 8000"/>
            </a:avLst>
          </a:prstGeom>
          <a:solidFill>
            <a:srgbClr val="FFFFFF"/>
          </a:solidFill>
          <a:ln/>
          <a:effectLst>
            <a:outerShdw sx="100000" sy="100000" kx="0" ky="0" algn="bl" rotWithShape="0" blurRad="101600" dist="38100" dir="2700000">
              <a:srgbClr val="000000">
                <a:alpha val="12000"/>
              </a:srgbClr>
            </a:outerShdw>
          </a:effectLst>
        </p:spPr>
      </p:sp>
      <p:sp>
        <p:nvSpPr>
          <p:cNvPr id="6" name="Text 4"/>
          <p:cNvSpPr/>
          <p:nvPr/>
        </p:nvSpPr>
        <p:spPr>
          <a:xfrm>
            <a:off x="2011680" y="2286000"/>
            <a:ext cx="5120640" cy="1188720"/>
          </a:xfrm>
          <a:prstGeom prst="rect">
            <a:avLst/>
          </a:prstGeom>
          <a:noFill/>
          <a:ln/>
        </p:spPr>
        <p:txBody>
          <a:bodyPr wrap="square" lIns="0" tIns="0" rIns="0" bIns="0" rtlCol="0" anchor="t"/>
          <a:lstStyle/>
          <a:p>
            <a:pPr indent="0" marL="0">
              <a:buNone/>
            </a:pPr>
            <a:r>
              <a:rPr lang="en-US" sz="1300" b="1" dirty="0">
                <a:solidFill>
                  <a:srgbClr val="0E1C42"/>
                </a:solidFill>
                <a:latin typeface="Calibri" pitchFamily="34" charset="0"/>
                <a:ea typeface="Calibri" pitchFamily="34" charset="-122"/>
                <a:cs typeface="Calibri" pitchFamily="34" charset="-120"/>
              </a:rPr>
              <a:t>Raise your hand </a:t>
            </a:r>
            <a:pPr indent="0" marL="0">
              <a:buNone/>
            </a:pPr>
            <a:r>
              <a:rPr lang="en-US" sz="1300" dirty="0">
                <a:solidFill>
                  <a:srgbClr val="1E293B"/>
                </a:solidFill>
                <a:latin typeface="Calibri" pitchFamily="34" charset="0"/>
                <a:ea typeface="Calibri" pitchFamily="34" charset="-122"/>
                <a:cs typeface="Calibri" pitchFamily="34" charset="-120"/>
              </a:rPr>
              <a:t>to share, or paste your writing in the chat.
</a:t>
            </a:r>
            <a:pPr indent="0" marL="0">
              <a:buNone/>
            </a:pPr>
            <a:r>
              <a:rPr lang="en-US" sz="1200" i="1" dirty="0">
                <a:solidFill>
                  <a:srgbClr val="64748B"/>
                </a:solidFill>
                <a:latin typeface="Calibri" pitchFamily="34" charset="0"/>
                <a:ea typeface="Calibri" pitchFamily="34" charset="-122"/>
                <a:cs typeface="Calibri" pitchFamily="34" charset="-120"/>
              </a:rPr>
              <a:t>If you disagree with a classmate's choice, say so respectfully — that's part of the thinking.</a:t>
            </a:r>
            <a:endParaRPr lang="en-US" sz="13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164592"/>
            <a:ext cx="8412480" cy="566928"/>
          </a:xfrm>
          <a:prstGeom prst="rect">
            <a:avLst/>
          </a:prstGeom>
          <a:noFill/>
          <a:ln/>
        </p:spPr>
        <p:txBody>
          <a:bodyPr wrap="square" lIns="0" tIns="0" rIns="0" bIns="0" rtlCol="0" anchor="ctr"/>
          <a:lstStyle/>
          <a:p>
            <a:pPr algn="l" indent="0" marL="0">
              <a:buNone/>
            </a:pPr>
            <a:r>
              <a:rPr lang="en-US" sz="2600" b="1" dirty="0">
                <a:solidFill>
                  <a:srgbClr val="0E1C42"/>
                </a:solidFill>
                <a:latin typeface="Calibri" pitchFamily="34" charset="0"/>
                <a:ea typeface="Calibri" pitchFamily="34" charset="-122"/>
                <a:cs typeface="Calibri" pitchFamily="34" charset="-120"/>
              </a:rPr>
              <a:t>🌱 Morphology</a:t>
            </a:r>
            <a:endParaRPr lang="en-US" sz="2600" dirty="0"/>
          </a:p>
        </p:txBody>
      </p:sp>
      <p:sp>
        <p:nvSpPr>
          <p:cNvPr id="3" name="Shape 1"/>
          <p:cNvSpPr/>
          <p:nvPr/>
        </p:nvSpPr>
        <p:spPr>
          <a:xfrm>
            <a:off x="365760" y="749808"/>
            <a:ext cx="8412480" cy="0"/>
          </a:xfrm>
          <a:prstGeom prst="line">
            <a:avLst/>
          </a:prstGeom>
          <a:noFill/>
          <a:ln w="19050">
            <a:solidFill>
              <a:srgbClr val="8B6FC0"/>
            </a:solidFill>
            <a:prstDash val="solid"/>
          </a:ln>
        </p:spPr>
      </p:sp>
      <p:sp>
        <p:nvSpPr>
          <p:cNvPr id="4" name="Text 2"/>
          <p:cNvSpPr/>
          <p:nvPr/>
        </p:nvSpPr>
        <p:spPr>
          <a:xfrm>
            <a:off x="365760" y="822960"/>
            <a:ext cx="8046720" cy="292608"/>
          </a:xfrm>
          <a:prstGeom prst="rect">
            <a:avLst/>
          </a:prstGeom>
          <a:noFill/>
          <a:ln/>
        </p:spPr>
        <p:txBody>
          <a:bodyPr wrap="square" lIns="0" tIns="0" rIns="0" bIns="0" rtlCol="0" anchor="ctr"/>
          <a:lstStyle/>
          <a:p>
            <a:pPr indent="0" marL="0">
              <a:buNone/>
            </a:pPr>
            <a:r>
              <a:rPr lang="en-US" sz="1100" b="1" spc="200" kern="0" dirty="0">
                <a:solidFill>
                  <a:srgbClr val="8B6FC0"/>
                </a:solidFill>
                <a:latin typeface="Calibri" pitchFamily="34" charset="0"/>
                <a:ea typeface="Calibri" pitchFamily="34" charset="-122"/>
                <a:cs typeface="Calibri" pitchFamily="34" charset="-120"/>
              </a:rPr>
              <a:t>🌱 Morphology: Root Detective — Explain the Connection</a:t>
            </a:r>
            <a:endParaRPr lang="en-US" sz="1100" dirty="0"/>
          </a:p>
        </p:txBody>
      </p:sp>
      <p:sp>
        <p:nvSpPr>
          <p:cNvPr id="5" name="Shape 3"/>
          <p:cNvSpPr/>
          <p:nvPr/>
        </p:nvSpPr>
        <p:spPr>
          <a:xfrm>
            <a:off x="365760" y="1097280"/>
            <a:ext cx="8412480" cy="502920"/>
          </a:xfrm>
          <a:prstGeom prst="roundRect">
            <a:avLst>
              <a:gd name="adj" fmla="val 18182"/>
            </a:avLst>
          </a:prstGeom>
          <a:solidFill>
            <a:srgbClr val="F0E8FF"/>
          </a:solidFill>
          <a:ln/>
          <a:effectLst>
            <a:outerShdw sx="100000" sy="100000" kx="0" ky="0" algn="bl" rotWithShape="0" blurRad="101600" dist="38100" dir="2700000">
              <a:srgbClr val="000000">
                <a:alpha val="12000"/>
              </a:srgbClr>
            </a:outerShdw>
          </a:effectLst>
        </p:spPr>
      </p:sp>
      <p:sp>
        <p:nvSpPr>
          <p:cNvPr id="6" name="Text 4"/>
          <p:cNvSpPr/>
          <p:nvPr/>
        </p:nvSpPr>
        <p:spPr>
          <a:xfrm>
            <a:off x="548640" y="1152144"/>
            <a:ext cx="8046720" cy="393192"/>
          </a:xfrm>
          <a:prstGeom prst="rect">
            <a:avLst/>
          </a:prstGeom>
          <a:noFill/>
          <a:ln/>
        </p:spPr>
        <p:txBody>
          <a:bodyPr wrap="square" lIns="0" tIns="0" rIns="0" bIns="0" rtlCol="0" anchor="ctr"/>
          <a:lstStyle/>
          <a:p>
            <a:pPr indent="0" marL="0">
              <a:buNone/>
            </a:pPr>
            <a:r>
              <a:rPr lang="en-US" sz="1150" dirty="0">
                <a:solidFill>
                  <a:srgbClr val="1E293B"/>
                </a:solidFill>
                <a:latin typeface="Calibri" pitchFamily="34" charset="0"/>
                <a:ea typeface="Calibri" pitchFamily="34" charset="-122"/>
                <a:cs typeface="Calibri" pitchFamily="34" charset="-120"/>
              </a:rPr>
              <a:t>naut- (Greek) — sailor, sea | nav- (Latin) — ship, guide | -port- (Latin) — carry | These three roots show up in dozens of English words. Once you know them, you can crack open an unfamiliar word and find its meaning hiding inside.</a:t>
            </a:r>
            <a:endParaRPr lang="en-US" sz="11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164592"/>
            <a:ext cx="8412480" cy="566928"/>
          </a:xfrm>
          <a:prstGeom prst="rect">
            <a:avLst/>
          </a:prstGeom>
          <a:noFill/>
          <a:ln/>
        </p:spPr>
        <p:txBody>
          <a:bodyPr wrap="square" lIns="0" tIns="0" rIns="0" bIns="0" rtlCol="0" anchor="ctr"/>
          <a:lstStyle/>
          <a:p>
            <a:pPr algn="l" indent="0" marL="0">
              <a:buNone/>
            </a:pPr>
            <a:r>
              <a:rPr lang="en-US" sz="2600" b="1" dirty="0">
                <a:solidFill>
                  <a:srgbClr val="0E1C42"/>
                </a:solidFill>
                <a:latin typeface="Calibri" pitchFamily="34" charset="0"/>
                <a:ea typeface="Calibri" pitchFamily="34" charset="-122"/>
                <a:cs typeface="Calibri" pitchFamily="34" charset="-120"/>
              </a:rPr>
              <a:t>🔤 Vocabulary — Choice Menu</a:t>
            </a:r>
            <a:endParaRPr lang="en-US" sz="2600" dirty="0"/>
          </a:p>
        </p:txBody>
      </p:sp>
      <p:sp>
        <p:nvSpPr>
          <p:cNvPr id="3" name="Shape 1"/>
          <p:cNvSpPr/>
          <p:nvPr/>
        </p:nvSpPr>
        <p:spPr>
          <a:xfrm>
            <a:off x="365760" y="749808"/>
            <a:ext cx="8412480" cy="0"/>
          </a:xfrm>
          <a:prstGeom prst="line">
            <a:avLst/>
          </a:prstGeom>
          <a:noFill/>
          <a:ln w="19050">
            <a:solidFill>
              <a:srgbClr val="55C8E8"/>
            </a:solidFill>
            <a:prstDash val="solid"/>
          </a:ln>
        </p:spPr>
      </p:sp>
      <p:sp>
        <p:nvSpPr>
          <p:cNvPr id="4" name="Text 2"/>
          <p:cNvSpPr/>
          <p:nvPr/>
        </p:nvSpPr>
        <p:spPr>
          <a:xfrm>
            <a:off x="365760" y="822960"/>
            <a:ext cx="8046720" cy="292608"/>
          </a:xfrm>
          <a:prstGeom prst="rect">
            <a:avLst/>
          </a:prstGeom>
          <a:noFill/>
          <a:ln/>
        </p:spPr>
        <p:txBody>
          <a:bodyPr wrap="square" lIns="0" tIns="0" rIns="0" bIns="0" rtlCol="0" anchor="ctr"/>
          <a:lstStyle/>
          <a:p>
            <a:pPr indent="0" marL="0">
              <a:buNone/>
            </a:pPr>
            <a:r>
              <a:rPr lang="en-US" sz="1100" b="1" spc="200" kern="0" dirty="0">
                <a:solidFill>
                  <a:srgbClr val="64748B"/>
                </a:solidFill>
                <a:latin typeface="Calibri" pitchFamily="34" charset="0"/>
                <a:ea typeface="Calibri" pitchFamily="34" charset="-122"/>
                <a:cs typeface="Calibri" pitchFamily="34" charset="-120"/>
              </a:rPr>
              <a:t>Day 4: Choose one way to demonstrate the words</a:t>
            </a:r>
            <a:endParaRPr lang="en-US" sz="1100" dirty="0"/>
          </a:p>
        </p:txBody>
      </p:sp>
      <p:sp>
        <p:nvSpPr>
          <p:cNvPr id="5" name="Text 3"/>
          <p:cNvSpPr/>
          <p:nvPr/>
        </p:nvSpPr>
        <p:spPr>
          <a:xfrm>
            <a:off x="365760" y="1097280"/>
            <a:ext cx="8412480" cy="365760"/>
          </a:xfrm>
          <a:prstGeom prst="rect">
            <a:avLst/>
          </a:prstGeom>
          <a:noFill/>
          <a:ln/>
        </p:spPr>
        <p:txBody>
          <a:bodyPr wrap="square" lIns="0" tIns="0" rIns="0" bIns="0" rtlCol="0" anchor="ctr"/>
          <a:lstStyle/>
          <a:p>
            <a:pPr indent="0" marL="0">
              <a:buNone/>
            </a:pPr>
            <a:r>
              <a:rPr lang="en-US" sz="1200" b="1" dirty="0">
                <a:solidFill>
                  <a:srgbClr val="0E1C42"/>
                </a:solidFill>
                <a:latin typeface="Calibri" pitchFamily="34" charset="0"/>
                <a:ea typeface="Calibri" pitchFamily="34" charset="-122"/>
                <a:cs typeface="Calibri" pitchFamily="34" charset="-120"/>
              </a:rPr>
              <a:t>Words: privateer, chandlery, wharf, cooperage, expectation, indenture</a:t>
            </a:r>
            <a:endParaRPr lang="en-US" sz="1200" dirty="0"/>
          </a:p>
        </p:txBody>
      </p:sp>
      <p:sp>
        <p:nvSpPr>
          <p:cNvPr id="6" name="Shape 4"/>
          <p:cNvSpPr/>
          <p:nvPr/>
        </p:nvSpPr>
        <p:spPr>
          <a:xfrm>
            <a:off x="365760" y="1554480"/>
            <a:ext cx="8412480" cy="502920"/>
          </a:xfrm>
          <a:prstGeom prst="roundRect">
            <a:avLst>
              <a:gd name="adj" fmla="val 18182"/>
            </a:avLst>
          </a:prstGeom>
          <a:solidFill>
            <a:srgbClr val="E5F7FC"/>
          </a:solidFill>
          <a:ln/>
          <a:effectLst>
            <a:outerShdw sx="100000" sy="100000" kx="0" ky="0" algn="bl" rotWithShape="0" blurRad="101600" dist="38100" dir="2700000">
              <a:srgbClr val="000000">
                <a:alpha val="12000"/>
              </a:srgbClr>
            </a:outerShdw>
          </a:effectLst>
        </p:spPr>
      </p:sp>
      <p:sp>
        <p:nvSpPr>
          <p:cNvPr id="7" name="Text 5"/>
          <p:cNvSpPr/>
          <p:nvPr/>
        </p:nvSpPr>
        <p:spPr>
          <a:xfrm>
            <a:off x="548640" y="1600200"/>
            <a:ext cx="8046720" cy="411480"/>
          </a:xfrm>
          <a:prstGeom prst="rect">
            <a:avLst/>
          </a:prstGeom>
          <a:noFill/>
          <a:ln/>
        </p:spPr>
        <p:txBody>
          <a:bodyPr wrap="square" lIns="0" tIns="0" rIns="0" bIns="0" rtlCol="0" anchor="ctr"/>
          <a:lstStyle/>
          <a:p>
            <a:pPr indent="0" marL="0">
              <a:buNone/>
            </a:pPr>
            <a:r>
              <a:rPr lang="en-US" sz="1050" dirty="0">
                <a:solidFill>
                  <a:srgbClr val="1E293B"/>
                </a:solidFill>
                <a:latin typeface="Calibri" pitchFamily="34" charset="0"/>
                <a:ea typeface="Calibri" pitchFamily="34" charset="-122"/>
                <a:cs typeface="Calibri" pitchFamily="34" charset="-120"/>
              </a:rPr>
              <a:t>•  Option 1: Use It in Sentences — Choose one word. Write 2 original sentences that show its meaning clearly — not just a definition.</a:t>
            </a:r>
            <a:endParaRPr lang="en-US" sz="1050" dirty="0"/>
          </a:p>
        </p:txBody>
      </p:sp>
      <p:sp>
        <p:nvSpPr>
          <p:cNvPr id="8" name="Shape 6"/>
          <p:cNvSpPr/>
          <p:nvPr/>
        </p:nvSpPr>
        <p:spPr>
          <a:xfrm>
            <a:off x="365760" y="2112264"/>
            <a:ext cx="8412480" cy="502920"/>
          </a:xfrm>
          <a:prstGeom prst="roundRect">
            <a:avLst>
              <a:gd name="adj" fmla="val 18182"/>
            </a:avLst>
          </a:prstGeom>
          <a:solidFill>
            <a:srgbClr val="EAF6FA"/>
          </a:solidFill>
          <a:ln/>
          <a:effectLst>
            <a:outerShdw sx="100000" sy="100000" kx="0" ky="0" algn="bl" rotWithShape="0" blurRad="101600" dist="38100" dir="2700000">
              <a:srgbClr val="000000">
                <a:alpha val="12000"/>
              </a:srgbClr>
            </a:outerShdw>
          </a:effectLst>
        </p:spPr>
      </p:sp>
      <p:sp>
        <p:nvSpPr>
          <p:cNvPr id="9" name="Text 7"/>
          <p:cNvSpPr/>
          <p:nvPr/>
        </p:nvSpPr>
        <p:spPr>
          <a:xfrm>
            <a:off x="548640" y="2157984"/>
            <a:ext cx="8046720" cy="411480"/>
          </a:xfrm>
          <a:prstGeom prst="rect">
            <a:avLst/>
          </a:prstGeom>
          <a:noFill/>
          <a:ln/>
        </p:spPr>
        <p:txBody>
          <a:bodyPr wrap="square" lIns="0" tIns="0" rIns="0" bIns="0" rtlCol="0" anchor="ctr"/>
          <a:lstStyle/>
          <a:p>
            <a:pPr indent="0" marL="0">
              <a:buNone/>
            </a:pPr>
            <a:r>
              <a:rPr lang="en-US" sz="1050" dirty="0">
                <a:solidFill>
                  <a:srgbClr val="1E293B"/>
                </a:solidFill>
                <a:latin typeface="Calibri" pitchFamily="34" charset="0"/>
                <a:ea typeface="Calibri" pitchFamily="34" charset="-122"/>
                <a:cs typeface="Calibri" pitchFamily="34" charset="-120"/>
              </a:rPr>
              <a:t>•  Option 2: Find It in the Reading — Name the word. Quote or describe the passage where you found it this week. Explain why it mattered there.</a:t>
            </a:r>
            <a:endParaRPr lang="en-US" sz="1050" dirty="0"/>
          </a:p>
        </p:txBody>
      </p:sp>
      <p:sp>
        <p:nvSpPr>
          <p:cNvPr id="10" name="Shape 8"/>
          <p:cNvSpPr/>
          <p:nvPr/>
        </p:nvSpPr>
        <p:spPr>
          <a:xfrm>
            <a:off x="365760" y="2670048"/>
            <a:ext cx="8412480" cy="502920"/>
          </a:xfrm>
          <a:prstGeom prst="roundRect">
            <a:avLst>
              <a:gd name="adj" fmla="val 18182"/>
            </a:avLst>
          </a:prstGeom>
          <a:solidFill>
            <a:srgbClr val="E5F7FC"/>
          </a:solidFill>
          <a:ln/>
          <a:effectLst>
            <a:outerShdw sx="100000" sy="100000" kx="0" ky="0" algn="bl" rotWithShape="0" blurRad="101600" dist="38100" dir="2700000">
              <a:srgbClr val="000000">
                <a:alpha val="12000"/>
              </a:srgbClr>
            </a:outerShdw>
          </a:effectLst>
        </p:spPr>
      </p:sp>
      <p:sp>
        <p:nvSpPr>
          <p:cNvPr id="11" name="Text 9"/>
          <p:cNvSpPr/>
          <p:nvPr/>
        </p:nvSpPr>
        <p:spPr>
          <a:xfrm>
            <a:off x="548640" y="2715768"/>
            <a:ext cx="8046720" cy="411480"/>
          </a:xfrm>
          <a:prstGeom prst="rect">
            <a:avLst/>
          </a:prstGeom>
          <a:noFill/>
          <a:ln/>
        </p:spPr>
        <p:txBody>
          <a:bodyPr wrap="square" lIns="0" tIns="0" rIns="0" bIns="0" rtlCol="0" anchor="ctr"/>
          <a:lstStyle/>
          <a:p>
            <a:pPr indent="0" marL="0">
              <a:buNone/>
            </a:pPr>
            <a:r>
              <a:rPr lang="en-US" sz="1050" dirty="0">
                <a:solidFill>
                  <a:srgbClr val="1E293B"/>
                </a:solidFill>
                <a:latin typeface="Calibri" pitchFamily="34" charset="0"/>
                <a:ea typeface="Calibri" pitchFamily="34" charset="-122"/>
                <a:cs typeface="Calibri" pitchFamily="34" charset="-120"/>
              </a:rPr>
              <a:t>•  Option 3: Connect to a Root — Pick a word that has a root, prefix, or suffix you recognize. Explain the connection and what it tells you about meaning.</a:t>
            </a:r>
            <a:endParaRPr lang="en-US" sz="1050" dirty="0"/>
          </a:p>
        </p:txBody>
      </p:sp>
      <p:sp>
        <p:nvSpPr>
          <p:cNvPr id="12" name="Shape 10"/>
          <p:cNvSpPr/>
          <p:nvPr/>
        </p:nvSpPr>
        <p:spPr>
          <a:xfrm>
            <a:off x="365760" y="3227832"/>
            <a:ext cx="8412480" cy="502920"/>
          </a:xfrm>
          <a:prstGeom prst="roundRect">
            <a:avLst>
              <a:gd name="adj" fmla="val 18182"/>
            </a:avLst>
          </a:prstGeom>
          <a:solidFill>
            <a:srgbClr val="EAF6FA"/>
          </a:solidFill>
          <a:ln/>
          <a:effectLst>
            <a:outerShdw sx="100000" sy="100000" kx="0" ky="0" algn="bl" rotWithShape="0" blurRad="101600" dist="38100" dir="2700000">
              <a:srgbClr val="000000">
                <a:alpha val="12000"/>
              </a:srgbClr>
            </a:outerShdw>
          </a:effectLst>
        </p:spPr>
      </p:sp>
      <p:sp>
        <p:nvSpPr>
          <p:cNvPr id="13" name="Text 11"/>
          <p:cNvSpPr/>
          <p:nvPr/>
        </p:nvSpPr>
        <p:spPr>
          <a:xfrm>
            <a:off x="548640" y="3273552"/>
            <a:ext cx="8046720" cy="411480"/>
          </a:xfrm>
          <a:prstGeom prst="rect">
            <a:avLst/>
          </a:prstGeom>
          <a:noFill/>
          <a:ln/>
        </p:spPr>
        <p:txBody>
          <a:bodyPr wrap="square" lIns="0" tIns="0" rIns="0" bIns="0" rtlCol="0" anchor="ctr"/>
          <a:lstStyle/>
          <a:p>
            <a:pPr indent="0" marL="0">
              <a:buNone/>
            </a:pPr>
            <a:r>
              <a:rPr lang="en-US" sz="1050" dirty="0">
                <a:solidFill>
                  <a:srgbClr val="1E293B"/>
                </a:solidFill>
                <a:latin typeface="Calibri" pitchFamily="34" charset="0"/>
                <a:ea typeface="Calibri" pitchFamily="34" charset="-122"/>
                <a:cs typeface="Calibri" pitchFamily="34" charset="-120"/>
              </a:rPr>
              <a:t>•  Option 4: Sort and Explain — Sort all six words into 2 or 3 groups of your own making. Name each group and explain why those words belong together.</a:t>
            </a:r>
            <a:endParaRPr lang="en-US" sz="10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E5F7FC"/>
        </a:solidFill>
      </p:bgPr>
    </p:bg>
    <p:spTree>
      <p:nvGrpSpPr>
        <p:cNvPr id="1" name=""/>
        <p:cNvGrpSpPr/>
        <p:nvPr/>
      </p:nvGrpSpPr>
      <p:grpSpPr>
        <a:xfrm>
          <a:off x="0" y="0"/>
          <a:ext cx="0" cy="0"/>
          <a:chOff x="0" y="0"/>
          <a:chExt cx="0" cy="0"/>
        </a:xfrm>
      </p:grpSpPr>
      <p:sp>
        <p:nvSpPr>
          <p:cNvPr id="2" name="Text 0"/>
          <p:cNvSpPr/>
          <p:nvPr/>
        </p:nvSpPr>
        <p:spPr>
          <a:xfrm>
            <a:off x="365760" y="164592"/>
            <a:ext cx="5943600" cy="566928"/>
          </a:xfrm>
          <a:prstGeom prst="rect">
            <a:avLst/>
          </a:prstGeom>
          <a:noFill/>
          <a:ln/>
        </p:spPr>
        <p:txBody>
          <a:bodyPr wrap="square" lIns="0" tIns="0" rIns="0" bIns="0" rtlCol="0" anchor="ctr"/>
          <a:lstStyle/>
          <a:p>
            <a:pPr algn="l" indent="0" marL="0">
              <a:buNone/>
            </a:pPr>
            <a:r>
              <a:rPr lang="en-US" sz="2600" b="1" dirty="0">
                <a:solidFill>
                  <a:srgbClr val="0E1C42"/>
                </a:solidFill>
                <a:latin typeface="Calibri" pitchFamily="34" charset="0"/>
                <a:ea typeface="Calibri" pitchFamily="34" charset="-122"/>
                <a:cs typeface="Calibri" pitchFamily="34" charset="-120"/>
              </a:rPr>
              <a:t>✏️ Grammar — ✏️ Grammar: Which Sentence Wins?</a:t>
            </a:r>
            <a:endParaRPr lang="en-US" sz="2600" dirty="0"/>
          </a:p>
        </p:txBody>
      </p:sp>
      <p:sp>
        <p:nvSpPr>
          <p:cNvPr id="3" name="Shape 1"/>
          <p:cNvSpPr/>
          <p:nvPr/>
        </p:nvSpPr>
        <p:spPr>
          <a:xfrm>
            <a:off x="365760" y="749808"/>
            <a:ext cx="8412480" cy="0"/>
          </a:xfrm>
          <a:prstGeom prst="line">
            <a:avLst/>
          </a:prstGeom>
          <a:noFill/>
          <a:ln w="19050">
            <a:solidFill>
              <a:srgbClr val="55C8E8"/>
            </a:solidFill>
            <a:prstDash val="solid"/>
          </a:ln>
        </p:spPr>
      </p:sp>
      <p:sp>
        <p:nvSpPr>
          <p:cNvPr id="4" name="Shape 2"/>
          <p:cNvSpPr/>
          <p:nvPr/>
        </p:nvSpPr>
        <p:spPr>
          <a:xfrm>
            <a:off x="6492240" y="173736"/>
            <a:ext cx="2286000" cy="502920"/>
          </a:xfrm>
          <a:prstGeom prst="roundRect">
            <a:avLst>
              <a:gd name="adj" fmla="val 21818"/>
            </a:avLst>
          </a:prstGeom>
          <a:solidFill>
            <a:srgbClr val="55C8E8"/>
          </a:solidFill>
          <a:ln/>
        </p:spPr>
      </p:sp>
      <p:sp>
        <p:nvSpPr>
          <p:cNvPr id="5" name="Text 3"/>
          <p:cNvSpPr/>
          <p:nvPr/>
        </p:nvSpPr>
        <p:spPr>
          <a:xfrm>
            <a:off x="6492240" y="173736"/>
            <a:ext cx="2286000" cy="502920"/>
          </a:xfrm>
          <a:prstGeom prst="rect">
            <a:avLst/>
          </a:prstGeom>
          <a:noFill/>
          <a:ln/>
        </p:spPr>
        <p:txBody>
          <a:bodyPr wrap="square" lIns="0" tIns="0" rIns="0" bIns="0" rtlCol="0" anchor="ctr"/>
          <a:lstStyle/>
          <a:p>
            <a:pPr algn="ctr" indent="0" marL="0">
              <a:buNone/>
            </a:pPr>
            <a:r>
              <a:rPr lang="en-US" sz="1100" b="1" dirty="0">
                <a:solidFill>
                  <a:srgbClr val="0E1C42"/>
                </a:solidFill>
                <a:latin typeface="Calibri" pitchFamily="34" charset="0"/>
                <a:ea typeface="Calibri" pitchFamily="34" charset="-122"/>
                <a:cs typeface="Calibri" pitchFamily="34" charset="-120"/>
              </a:rPr>
              <a:t>CHAT PROMPT</a:t>
            </a:r>
            <a:endParaRPr lang="en-US" sz="1100" dirty="0"/>
          </a:p>
        </p:txBody>
      </p:sp>
      <p:sp>
        <p:nvSpPr>
          <p:cNvPr id="6" name="Text 4"/>
          <p:cNvSpPr/>
          <p:nvPr/>
        </p:nvSpPr>
        <p:spPr>
          <a:xfrm>
            <a:off x="365760" y="822960"/>
            <a:ext cx="8046720" cy="292608"/>
          </a:xfrm>
          <a:prstGeom prst="rect">
            <a:avLst/>
          </a:prstGeom>
          <a:noFill/>
          <a:ln/>
        </p:spPr>
        <p:txBody>
          <a:bodyPr wrap="square" lIns="0" tIns="0" rIns="0" bIns="0" rtlCol="0" anchor="ctr"/>
          <a:lstStyle/>
          <a:p>
            <a:pPr indent="0" marL="0">
              <a:buNone/>
            </a:pPr>
            <a:r>
              <a:rPr lang="en-US" sz="1100" b="1" spc="200" kern="0" dirty="0">
                <a:solidFill>
                  <a:srgbClr val="C7922C"/>
                </a:solidFill>
                <a:latin typeface="Calibri" pitchFamily="34" charset="0"/>
                <a:ea typeface="Calibri" pitchFamily="34" charset="-122"/>
                <a:cs typeface="Calibri" pitchFamily="34" charset="-120"/>
              </a:rPr>
              <a:t>Day 4: Explain — choose the stronger version and say why</a:t>
            </a:r>
            <a:endParaRPr lang="en-US" sz="1100" dirty="0"/>
          </a:p>
        </p:txBody>
      </p:sp>
      <p:sp>
        <p:nvSpPr>
          <p:cNvPr id="7" name="Text 5"/>
          <p:cNvSpPr/>
          <p:nvPr/>
        </p:nvSpPr>
        <p:spPr>
          <a:xfrm>
            <a:off x="365760" y="1078992"/>
            <a:ext cx="8412480" cy="594360"/>
          </a:xfrm>
          <a:prstGeom prst="rect">
            <a:avLst/>
          </a:prstGeom>
          <a:noFill/>
          <a:ln/>
        </p:spPr>
        <p:txBody>
          <a:bodyPr wrap="square" lIns="0" tIns="0" rIns="0" bIns="0" rtlCol="0" anchor="ctr"/>
          <a:lstStyle/>
          <a:p>
            <a:pPr indent="0" marL="0">
              <a:buNone/>
            </a:pPr>
            <a:r>
              <a:rPr lang="en-US" sz="1100" dirty="0">
                <a:solidFill>
                  <a:srgbClr val="1E293B"/>
                </a:solidFill>
                <a:latin typeface="Calibri" pitchFamily="34" charset="0"/>
                <a:ea typeface="Calibri" pitchFamily="34" charset="-122"/>
                <a:cs typeface="Calibri" pitchFamily="34" charset="-120"/>
              </a:rPr>
              <a:t>Active voice puts the doer first. It’s faster, clearer, and more powerful — the reader sees who’s doing what, immediately. Passive voice makes readers work harder. Good writers use active voice most of the time, and save passive for when the doer doesn’t matter or isn’t known.</a:t>
            </a:r>
            <a:endParaRPr lang="en-US" sz="1100" dirty="0"/>
          </a:p>
        </p:txBody>
      </p:sp>
      <p:sp>
        <p:nvSpPr>
          <p:cNvPr id="8" name="Shape 6"/>
          <p:cNvSpPr/>
          <p:nvPr/>
        </p:nvSpPr>
        <p:spPr>
          <a:xfrm>
            <a:off x="365760" y="1737360"/>
            <a:ext cx="8412480" cy="658368"/>
          </a:xfrm>
          <a:prstGeom prst="roundRect">
            <a:avLst>
              <a:gd name="adj" fmla="val 13889"/>
            </a:avLst>
          </a:prstGeom>
          <a:solidFill>
            <a:srgbClr val="FFFFFF"/>
          </a:solidFill>
          <a:ln/>
          <a:effectLst>
            <a:outerShdw sx="100000" sy="100000" kx="0" ky="0" algn="bl" rotWithShape="0" blurRad="101600" dist="38100" dir="2700000">
              <a:srgbClr val="000000">
                <a:alpha val="12000"/>
              </a:srgbClr>
            </a:outerShdw>
          </a:effectLst>
        </p:spPr>
      </p:sp>
      <p:sp>
        <p:nvSpPr>
          <p:cNvPr id="9" name="Text 7"/>
          <p:cNvSpPr/>
          <p:nvPr/>
        </p:nvSpPr>
        <p:spPr>
          <a:xfrm>
            <a:off x="548640" y="1792224"/>
            <a:ext cx="8046720" cy="548640"/>
          </a:xfrm>
          <a:prstGeom prst="rect">
            <a:avLst/>
          </a:prstGeom>
          <a:noFill/>
          <a:ln/>
        </p:spPr>
        <p:txBody>
          <a:bodyPr wrap="square" lIns="0" tIns="0" rIns="0" bIns="0" rtlCol="0" anchor="ctr"/>
          <a:lstStyle/>
          <a:p>
            <a:pPr indent="0" marL="0">
              <a:buNone/>
            </a:pPr>
            <a:r>
              <a:rPr lang="en-US" sz="1200" i="1" dirty="0">
                <a:solidFill>
                  <a:srgbClr val="1E293B"/>
                </a:solidFill>
                <a:latin typeface="Calibri" pitchFamily="34" charset="0"/>
                <a:ea typeface="Calibri" pitchFamily="34" charset="-122"/>
                <a:cs typeface="Calibri" pitchFamily="34" charset="-120"/>
              </a:rPr>
              <a:t>Pair 1</a:t>
            </a:r>
            <a:pPr indent="0" marL="0">
              <a:buNone/>
            </a:pPr>
            <a:endParaRPr lang="en-US" sz="1200" dirty="0"/>
          </a:p>
          <a:p>
            <a:pPr indent="0" marL="0">
              <a:buNone/>
            </a:pPr>
            <a:r>
              <a:rPr lang="en-US" sz="1100" dirty="0">
                <a:solidFill>
                  <a:srgbClr val="64748B"/>
                </a:solidFill>
                <a:latin typeface="Calibri" pitchFamily="34" charset="0"/>
                <a:ea typeface="Calibri" pitchFamily="34" charset="-122"/>
                <a:cs typeface="Calibri" pitchFamily="34" charset="-120"/>
              </a:rPr>
              <a:t>Hab signed his name to the ship’s roster and said goodbye to his family.   /   The ship’s roster was signed by Hab before he said goodbye to his family.</a:t>
            </a:r>
            <a:endParaRPr lang="en-US" sz="1200" dirty="0"/>
          </a:p>
        </p:txBody>
      </p:sp>
      <p:sp>
        <p:nvSpPr>
          <p:cNvPr id="10" name="Shape 8"/>
          <p:cNvSpPr/>
          <p:nvPr/>
        </p:nvSpPr>
        <p:spPr>
          <a:xfrm>
            <a:off x="365760" y="2468880"/>
            <a:ext cx="8412480" cy="658368"/>
          </a:xfrm>
          <a:prstGeom prst="roundRect">
            <a:avLst>
              <a:gd name="adj" fmla="val 13889"/>
            </a:avLst>
          </a:prstGeom>
          <a:solidFill>
            <a:srgbClr val="FFFFFF"/>
          </a:solidFill>
          <a:ln/>
          <a:effectLst>
            <a:outerShdw sx="100000" sy="100000" kx="0" ky="0" algn="bl" rotWithShape="0" blurRad="101600" dist="38100" dir="2700000">
              <a:srgbClr val="000000">
                <a:alpha val="12000"/>
              </a:srgbClr>
            </a:outerShdw>
          </a:effectLst>
        </p:spPr>
      </p:sp>
      <p:sp>
        <p:nvSpPr>
          <p:cNvPr id="11" name="Text 9"/>
          <p:cNvSpPr/>
          <p:nvPr/>
        </p:nvSpPr>
        <p:spPr>
          <a:xfrm>
            <a:off x="548640" y="2523744"/>
            <a:ext cx="8046720" cy="548640"/>
          </a:xfrm>
          <a:prstGeom prst="rect">
            <a:avLst/>
          </a:prstGeom>
          <a:noFill/>
          <a:ln/>
        </p:spPr>
        <p:txBody>
          <a:bodyPr wrap="square" lIns="0" tIns="0" rIns="0" bIns="0" rtlCol="0" anchor="ctr"/>
          <a:lstStyle/>
          <a:p>
            <a:pPr indent="0" marL="0">
              <a:buNone/>
            </a:pPr>
            <a:r>
              <a:rPr lang="en-US" sz="1200" i="1" dirty="0">
                <a:solidFill>
                  <a:srgbClr val="1E293B"/>
                </a:solidFill>
                <a:latin typeface="Calibri" pitchFamily="34" charset="0"/>
                <a:ea typeface="Calibri" pitchFamily="34" charset="-122"/>
                <a:cs typeface="Calibri" pitchFamily="34" charset="-120"/>
              </a:rPr>
              <a:t>Pair 2</a:t>
            </a:r>
            <a:pPr indent="0" marL="0">
              <a:buNone/>
            </a:pPr>
            <a:endParaRPr lang="en-US" sz="1200" dirty="0"/>
          </a:p>
          <a:p>
            <a:pPr indent="0" marL="0">
              <a:buNone/>
            </a:pPr>
            <a:r>
              <a:rPr lang="en-US" sz="1100" dirty="0">
                <a:solidFill>
                  <a:srgbClr val="64748B"/>
                </a:solidFill>
                <a:latin typeface="Calibri" pitchFamily="34" charset="0"/>
                <a:ea typeface="Calibri" pitchFamily="34" charset="-122"/>
                <a:cs typeface="Calibri" pitchFamily="34" charset="-120"/>
              </a:rPr>
              <a:t>The indenture papers were brought to Nat by the men at Ropes and Hodges.   /   The men at Ropes and Hodges brought the indenture papers to Nat.</a:t>
            </a:r>
            <a:endParaRPr lang="en-US" sz="1200" dirty="0"/>
          </a:p>
        </p:txBody>
      </p:sp>
      <p:sp>
        <p:nvSpPr>
          <p:cNvPr id="12" name="Shape 10"/>
          <p:cNvSpPr/>
          <p:nvPr/>
        </p:nvSpPr>
        <p:spPr>
          <a:xfrm>
            <a:off x="365760" y="3200400"/>
            <a:ext cx="8412480" cy="658368"/>
          </a:xfrm>
          <a:prstGeom prst="roundRect">
            <a:avLst>
              <a:gd name="adj" fmla="val 13889"/>
            </a:avLst>
          </a:prstGeom>
          <a:solidFill>
            <a:srgbClr val="FFFFFF"/>
          </a:solidFill>
          <a:ln/>
          <a:effectLst>
            <a:outerShdw sx="100000" sy="100000" kx="0" ky="0" algn="bl" rotWithShape="0" blurRad="101600" dist="38100" dir="2700000">
              <a:srgbClr val="000000">
                <a:alpha val="12000"/>
              </a:srgbClr>
            </a:outerShdw>
          </a:effectLst>
        </p:spPr>
      </p:sp>
      <p:sp>
        <p:nvSpPr>
          <p:cNvPr id="13" name="Text 11"/>
          <p:cNvSpPr/>
          <p:nvPr/>
        </p:nvSpPr>
        <p:spPr>
          <a:xfrm>
            <a:off x="548640" y="3255264"/>
            <a:ext cx="8046720" cy="548640"/>
          </a:xfrm>
          <a:prstGeom prst="rect">
            <a:avLst/>
          </a:prstGeom>
          <a:noFill/>
          <a:ln/>
        </p:spPr>
        <p:txBody>
          <a:bodyPr wrap="square" lIns="0" tIns="0" rIns="0" bIns="0" rtlCol="0" anchor="ctr"/>
          <a:lstStyle/>
          <a:p>
            <a:pPr indent="0" marL="0">
              <a:buNone/>
            </a:pPr>
            <a:r>
              <a:rPr lang="en-US" sz="1200" i="1" dirty="0">
                <a:solidFill>
                  <a:srgbClr val="1E293B"/>
                </a:solidFill>
                <a:latin typeface="Calibri" pitchFamily="34" charset="0"/>
                <a:ea typeface="Calibri" pitchFamily="34" charset="-122"/>
                <a:cs typeface="Calibri" pitchFamily="34" charset="-120"/>
              </a:rPr>
              <a:t>Pair 3</a:t>
            </a:r>
            <a:pPr indent="0" marL="0">
              <a:buNone/>
            </a:pPr>
            <a:endParaRPr lang="en-US" sz="1200" dirty="0"/>
          </a:p>
          <a:p>
            <a:pPr indent="0" marL="0">
              <a:buNone/>
            </a:pPr>
            <a:r>
              <a:rPr lang="en-US" sz="1100" dirty="0">
                <a:solidFill>
                  <a:srgbClr val="64748B"/>
                </a:solidFill>
                <a:latin typeface="Calibri" pitchFamily="34" charset="0"/>
                <a:ea typeface="Calibri" pitchFamily="34" charset="-122"/>
                <a:cs typeface="Calibri" pitchFamily="34" charset="-120"/>
              </a:rPr>
              <a:t>Nat picked up the pen and signed his name without a word.   /   The pen was picked up by Nat, and his name was signed without a word.</a:t>
            </a:r>
            <a:endParaRPr lang="en-US" sz="12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E5F7FC"/>
        </a:solidFill>
      </p:bgPr>
    </p:bg>
    <p:spTree>
      <p:nvGrpSpPr>
        <p:cNvPr id="1" name=""/>
        <p:cNvGrpSpPr/>
        <p:nvPr/>
      </p:nvGrpSpPr>
      <p:grpSpPr>
        <a:xfrm>
          <a:off x="0" y="0"/>
          <a:ext cx="0" cy="0"/>
          <a:chOff x="0" y="0"/>
          <a:chExt cx="0" cy="0"/>
        </a:xfrm>
      </p:grpSpPr>
      <p:sp>
        <p:nvSpPr>
          <p:cNvPr id="2" name="Text 0"/>
          <p:cNvSpPr/>
          <p:nvPr/>
        </p:nvSpPr>
        <p:spPr>
          <a:xfrm>
            <a:off x="365760" y="164592"/>
            <a:ext cx="5943600" cy="566928"/>
          </a:xfrm>
          <a:prstGeom prst="rect">
            <a:avLst/>
          </a:prstGeom>
          <a:noFill/>
          <a:ln/>
        </p:spPr>
        <p:txBody>
          <a:bodyPr wrap="square" lIns="0" tIns="0" rIns="0" bIns="0" rtlCol="0" anchor="ctr"/>
          <a:lstStyle/>
          <a:p>
            <a:pPr algn="l" indent="0" marL="0">
              <a:buNone/>
            </a:pPr>
            <a:r>
              <a:rPr lang="en-US" sz="2600" b="1" dirty="0">
                <a:solidFill>
                  <a:srgbClr val="0E1C42"/>
                </a:solidFill>
                <a:latin typeface="Calibri" pitchFamily="34" charset="0"/>
                <a:ea typeface="Calibri" pitchFamily="34" charset="-122"/>
                <a:cs typeface="Calibri" pitchFamily="34" charset="-120"/>
              </a:rPr>
              <a:t>✏️ Grammar — ✏️ Grammar: Which Sentence Wins?</a:t>
            </a:r>
            <a:endParaRPr lang="en-US" sz="2600" dirty="0"/>
          </a:p>
        </p:txBody>
      </p:sp>
      <p:sp>
        <p:nvSpPr>
          <p:cNvPr id="3" name="Shape 1"/>
          <p:cNvSpPr/>
          <p:nvPr/>
        </p:nvSpPr>
        <p:spPr>
          <a:xfrm>
            <a:off x="365760" y="749808"/>
            <a:ext cx="8412480" cy="0"/>
          </a:xfrm>
          <a:prstGeom prst="line">
            <a:avLst/>
          </a:prstGeom>
          <a:noFill/>
          <a:ln w="19050">
            <a:solidFill>
              <a:srgbClr val="55C8E8"/>
            </a:solidFill>
            <a:prstDash val="solid"/>
          </a:ln>
        </p:spPr>
      </p:sp>
      <p:sp>
        <p:nvSpPr>
          <p:cNvPr id="4" name="Shape 2"/>
          <p:cNvSpPr/>
          <p:nvPr/>
        </p:nvSpPr>
        <p:spPr>
          <a:xfrm>
            <a:off x="6492240" y="173736"/>
            <a:ext cx="2286000" cy="502920"/>
          </a:xfrm>
          <a:prstGeom prst="roundRect">
            <a:avLst>
              <a:gd name="adj" fmla="val 21818"/>
            </a:avLst>
          </a:prstGeom>
          <a:solidFill>
            <a:srgbClr val="55C8E8"/>
          </a:solidFill>
          <a:ln/>
        </p:spPr>
      </p:sp>
      <p:sp>
        <p:nvSpPr>
          <p:cNvPr id="5" name="Text 3"/>
          <p:cNvSpPr/>
          <p:nvPr/>
        </p:nvSpPr>
        <p:spPr>
          <a:xfrm>
            <a:off x="6492240" y="173736"/>
            <a:ext cx="2286000" cy="502920"/>
          </a:xfrm>
          <a:prstGeom prst="rect">
            <a:avLst/>
          </a:prstGeom>
          <a:noFill/>
          <a:ln/>
        </p:spPr>
        <p:txBody>
          <a:bodyPr wrap="square" lIns="0" tIns="0" rIns="0" bIns="0" rtlCol="0" anchor="ctr"/>
          <a:lstStyle/>
          <a:p>
            <a:pPr algn="ctr" indent="0" marL="0">
              <a:buNone/>
            </a:pPr>
            <a:r>
              <a:rPr lang="en-US" sz="1100" b="1" dirty="0">
                <a:solidFill>
                  <a:srgbClr val="0E1C42"/>
                </a:solidFill>
                <a:latin typeface="Calibri" pitchFamily="34" charset="0"/>
                <a:ea typeface="Calibri" pitchFamily="34" charset="-122"/>
                <a:cs typeface="Calibri" pitchFamily="34" charset="-120"/>
              </a:rPr>
              <a:t>CHAT PROMPT</a:t>
            </a:r>
            <a:endParaRPr lang="en-US" sz="1100" dirty="0"/>
          </a:p>
        </p:txBody>
      </p:sp>
      <p:sp>
        <p:nvSpPr>
          <p:cNvPr id="6" name="Text 4"/>
          <p:cNvSpPr/>
          <p:nvPr/>
        </p:nvSpPr>
        <p:spPr>
          <a:xfrm>
            <a:off x="365760" y="822960"/>
            <a:ext cx="8046720" cy="292608"/>
          </a:xfrm>
          <a:prstGeom prst="rect">
            <a:avLst/>
          </a:prstGeom>
          <a:noFill/>
          <a:ln/>
        </p:spPr>
        <p:txBody>
          <a:bodyPr wrap="square" lIns="0" tIns="0" rIns="0" bIns="0" rtlCol="0" anchor="ctr"/>
          <a:lstStyle/>
          <a:p>
            <a:pPr indent="0" marL="0">
              <a:buNone/>
            </a:pPr>
            <a:r>
              <a:rPr lang="en-US" sz="1100" b="1" spc="200" kern="0" dirty="0">
                <a:solidFill>
                  <a:srgbClr val="C7922C"/>
                </a:solidFill>
                <a:latin typeface="Calibri" pitchFamily="34" charset="0"/>
                <a:ea typeface="Calibri" pitchFamily="34" charset="-122"/>
                <a:cs typeface="Calibri" pitchFamily="34" charset="-120"/>
              </a:rPr>
              <a:t>Day 4: Explain — choose the stronger version and say why</a:t>
            </a:r>
            <a:endParaRPr lang="en-US" sz="1100" dirty="0"/>
          </a:p>
        </p:txBody>
      </p:sp>
      <p:sp>
        <p:nvSpPr>
          <p:cNvPr id="7" name="Text 5"/>
          <p:cNvSpPr/>
          <p:nvPr/>
        </p:nvSpPr>
        <p:spPr>
          <a:xfrm>
            <a:off x="365760" y="1078992"/>
            <a:ext cx="8412480" cy="594360"/>
          </a:xfrm>
          <a:prstGeom prst="rect">
            <a:avLst/>
          </a:prstGeom>
          <a:noFill/>
          <a:ln/>
        </p:spPr>
        <p:txBody>
          <a:bodyPr wrap="square" lIns="0" tIns="0" rIns="0" bIns="0" rtlCol="0" anchor="ctr"/>
          <a:lstStyle/>
          <a:p>
            <a:pPr indent="0" marL="0">
              <a:buNone/>
            </a:pPr>
            <a:r>
              <a:rPr lang="en-US" sz="1100" dirty="0">
                <a:solidFill>
                  <a:srgbClr val="1E293B"/>
                </a:solidFill>
                <a:latin typeface="Calibri" pitchFamily="34" charset="0"/>
                <a:ea typeface="Calibri" pitchFamily="34" charset="-122"/>
                <a:cs typeface="Calibri" pitchFamily="34" charset="-120"/>
              </a:rPr>
              <a:t>Active voice puts the doer first. It’s faster, clearer, and more powerful — the reader sees who’s doing what, immediately. Passive voice makes readers work harder. Good writers use active voice most of the time, and save passive for when the doer doesn’t matter or isn’t known.</a:t>
            </a:r>
            <a:endParaRPr lang="en-US" sz="1100" dirty="0"/>
          </a:p>
        </p:txBody>
      </p:sp>
      <p:sp>
        <p:nvSpPr>
          <p:cNvPr id="8" name="Shape 6"/>
          <p:cNvSpPr/>
          <p:nvPr/>
        </p:nvSpPr>
        <p:spPr>
          <a:xfrm>
            <a:off x="365760" y="1737360"/>
            <a:ext cx="8412480" cy="658368"/>
          </a:xfrm>
          <a:prstGeom prst="roundRect">
            <a:avLst>
              <a:gd name="adj" fmla="val 13889"/>
            </a:avLst>
          </a:prstGeom>
          <a:solidFill>
            <a:srgbClr val="FFFFFF"/>
          </a:solidFill>
          <a:ln/>
          <a:effectLst>
            <a:outerShdw sx="100000" sy="100000" kx="0" ky="0" algn="bl" rotWithShape="0" blurRad="101600" dist="38100" dir="2700000">
              <a:srgbClr val="000000">
                <a:alpha val="12000"/>
              </a:srgbClr>
            </a:outerShdw>
          </a:effectLst>
        </p:spPr>
      </p:sp>
      <p:sp>
        <p:nvSpPr>
          <p:cNvPr id="9" name="Text 7"/>
          <p:cNvSpPr/>
          <p:nvPr/>
        </p:nvSpPr>
        <p:spPr>
          <a:xfrm>
            <a:off x="548640" y="1792224"/>
            <a:ext cx="8046720" cy="548640"/>
          </a:xfrm>
          <a:prstGeom prst="rect">
            <a:avLst/>
          </a:prstGeom>
          <a:noFill/>
          <a:ln/>
        </p:spPr>
        <p:txBody>
          <a:bodyPr wrap="square" lIns="0" tIns="0" rIns="0" bIns="0" rtlCol="0" anchor="ctr"/>
          <a:lstStyle/>
          <a:p>
            <a:pPr indent="0" marL="0">
              <a:buNone/>
            </a:pPr>
            <a:r>
              <a:rPr lang="en-US" sz="1200" i="1" dirty="0">
                <a:solidFill>
                  <a:srgbClr val="1E293B"/>
                </a:solidFill>
                <a:latin typeface="Calibri" pitchFamily="34" charset="0"/>
                <a:ea typeface="Calibri" pitchFamily="34" charset="-122"/>
                <a:cs typeface="Calibri" pitchFamily="34" charset="-120"/>
              </a:rPr>
              <a:t>Pair 1
</a:t>
            </a:r>
            <a:pPr indent="0" marL="0">
              <a:buNone/>
            </a:pPr>
            <a:r>
              <a:rPr lang="en-US" sz="1200" b="1" dirty="0">
                <a:solidFill>
                  <a:srgbClr val="34B76F"/>
                </a:solidFill>
                <a:latin typeface="Calibri" pitchFamily="34" charset="0"/>
                <a:ea typeface="Calibri" pitchFamily="34" charset="-122"/>
                <a:cs typeface="Calibri" pitchFamily="34" charset="-120"/>
              </a:rPr>
              <a:t>✅ Hab signed his name to the ship’s roster and said goodbye to his family.</a:t>
            </a:r>
            <a:endParaRPr lang="en-US" sz="1200" dirty="0"/>
          </a:p>
        </p:txBody>
      </p:sp>
      <p:sp>
        <p:nvSpPr>
          <p:cNvPr id="10" name="Shape 8"/>
          <p:cNvSpPr/>
          <p:nvPr/>
        </p:nvSpPr>
        <p:spPr>
          <a:xfrm>
            <a:off x="365760" y="2468880"/>
            <a:ext cx="8412480" cy="658368"/>
          </a:xfrm>
          <a:prstGeom prst="roundRect">
            <a:avLst>
              <a:gd name="adj" fmla="val 13889"/>
            </a:avLst>
          </a:prstGeom>
          <a:solidFill>
            <a:srgbClr val="FFFFFF"/>
          </a:solidFill>
          <a:ln/>
          <a:effectLst>
            <a:outerShdw sx="100000" sy="100000" kx="0" ky="0" algn="bl" rotWithShape="0" blurRad="101600" dist="38100" dir="2700000">
              <a:srgbClr val="000000">
                <a:alpha val="12000"/>
              </a:srgbClr>
            </a:outerShdw>
          </a:effectLst>
        </p:spPr>
      </p:sp>
      <p:sp>
        <p:nvSpPr>
          <p:cNvPr id="11" name="Text 9"/>
          <p:cNvSpPr/>
          <p:nvPr/>
        </p:nvSpPr>
        <p:spPr>
          <a:xfrm>
            <a:off x="548640" y="2523744"/>
            <a:ext cx="8046720" cy="548640"/>
          </a:xfrm>
          <a:prstGeom prst="rect">
            <a:avLst/>
          </a:prstGeom>
          <a:noFill/>
          <a:ln/>
        </p:spPr>
        <p:txBody>
          <a:bodyPr wrap="square" lIns="0" tIns="0" rIns="0" bIns="0" rtlCol="0" anchor="ctr"/>
          <a:lstStyle/>
          <a:p>
            <a:pPr indent="0" marL="0">
              <a:buNone/>
            </a:pPr>
            <a:r>
              <a:rPr lang="en-US" sz="1200" i="1" dirty="0">
                <a:solidFill>
                  <a:srgbClr val="1E293B"/>
                </a:solidFill>
                <a:latin typeface="Calibri" pitchFamily="34" charset="0"/>
                <a:ea typeface="Calibri" pitchFamily="34" charset="-122"/>
                <a:cs typeface="Calibri" pitchFamily="34" charset="-120"/>
              </a:rPr>
              <a:t>Pair 2
</a:t>
            </a:r>
            <a:pPr indent="0" marL="0">
              <a:buNone/>
            </a:pPr>
            <a:r>
              <a:rPr lang="en-US" sz="1200" b="1" dirty="0">
                <a:solidFill>
                  <a:srgbClr val="34B76F"/>
                </a:solidFill>
                <a:latin typeface="Calibri" pitchFamily="34" charset="0"/>
                <a:ea typeface="Calibri" pitchFamily="34" charset="-122"/>
                <a:cs typeface="Calibri" pitchFamily="34" charset="-120"/>
              </a:rPr>
              <a:t>✅ The men at Ropes and Hodges brought the indenture papers to Nat.</a:t>
            </a:r>
            <a:endParaRPr lang="en-US" sz="1200" dirty="0"/>
          </a:p>
        </p:txBody>
      </p:sp>
      <p:sp>
        <p:nvSpPr>
          <p:cNvPr id="12" name="Shape 10"/>
          <p:cNvSpPr/>
          <p:nvPr/>
        </p:nvSpPr>
        <p:spPr>
          <a:xfrm>
            <a:off x="365760" y="3200400"/>
            <a:ext cx="8412480" cy="658368"/>
          </a:xfrm>
          <a:prstGeom prst="roundRect">
            <a:avLst>
              <a:gd name="adj" fmla="val 13889"/>
            </a:avLst>
          </a:prstGeom>
          <a:solidFill>
            <a:srgbClr val="FFFFFF"/>
          </a:solidFill>
          <a:ln/>
          <a:effectLst>
            <a:outerShdw sx="100000" sy="100000" kx="0" ky="0" algn="bl" rotWithShape="0" blurRad="101600" dist="38100" dir="2700000">
              <a:srgbClr val="000000">
                <a:alpha val="12000"/>
              </a:srgbClr>
            </a:outerShdw>
          </a:effectLst>
        </p:spPr>
      </p:sp>
      <p:sp>
        <p:nvSpPr>
          <p:cNvPr id="13" name="Text 11"/>
          <p:cNvSpPr/>
          <p:nvPr/>
        </p:nvSpPr>
        <p:spPr>
          <a:xfrm>
            <a:off x="548640" y="3255264"/>
            <a:ext cx="8046720" cy="548640"/>
          </a:xfrm>
          <a:prstGeom prst="rect">
            <a:avLst/>
          </a:prstGeom>
          <a:noFill/>
          <a:ln/>
        </p:spPr>
        <p:txBody>
          <a:bodyPr wrap="square" lIns="0" tIns="0" rIns="0" bIns="0" rtlCol="0" anchor="ctr"/>
          <a:lstStyle/>
          <a:p>
            <a:pPr indent="0" marL="0">
              <a:buNone/>
            </a:pPr>
            <a:r>
              <a:rPr lang="en-US" sz="1200" i="1" dirty="0">
                <a:solidFill>
                  <a:srgbClr val="1E293B"/>
                </a:solidFill>
                <a:latin typeface="Calibri" pitchFamily="34" charset="0"/>
                <a:ea typeface="Calibri" pitchFamily="34" charset="-122"/>
                <a:cs typeface="Calibri" pitchFamily="34" charset="-120"/>
              </a:rPr>
              <a:t>Pair 3
</a:t>
            </a:r>
            <a:pPr indent="0" marL="0">
              <a:buNone/>
            </a:pPr>
            <a:r>
              <a:rPr lang="en-US" sz="1200" b="1" dirty="0">
                <a:solidFill>
                  <a:srgbClr val="34B76F"/>
                </a:solidFill>
                <a:latin typeface="Calibri" pitchFamily="34" charset="0"/>
                <a:ea typeface="Calibri" pitchFamily="34" charset="-122"/>
                <a:cs typeface="Calibri" pitchFamily="34" charset="-120"/>
              </a:rPr>
              <a:t>✅ Nat picked up the pen and signed his name without a word.</a:t>
            </a:r>
            <a:endParaRPr lang="en-US" sz="12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E5F7FC"/>
        </a:solidFill>
      </p:bgPr>
    </p:bg>
    <p:spTree>
      <p:nvGrpSpPr>
        <p:cNvPr id="1" name=""/>
        <p:cNvGrpSpPr/>
        <p:nvPr/>
      </p:nvGrpSpPr>
      <p:grpSpPr>
        <a:xfrm>
          <a:off x="0" y="0"/>
          <a:ext cx="0" cy="0"/>
          <a:chOff x="0" y="0"/>
          <a:chExt cx="0" cy="0"/>
        </a:xfrm>
      </p:grpSpPr>
      <p:sp>
        <p:nvSpPr>
          <p:cNvPr id="2" name="Text 0"/>
          <p:cNvSpPr/>
          <p:nvPr/>
        </p:nvSpPr>
        <p:spPr>
          <a:xfrm>
            <a:off x="365760" y="164592"/>
            <a:ext cx="5943600" cy="566928"/>
          </a:xfrm>
          <a:prstGeom prst="rect">
            <a:avLst/>
          </a:prstGeom>
          <a:noFill/>
          <a:ln/>
        </p:spPr>
        <p:txBody>
          <a:bodyPr wrap="square" lIns="0" tIns="0" rIns="0" bIns="0" rtlCol="0" anchor="ctr"/>
          <a:lstStyle/>
          <a:p>
            <a:pPr algn="l" indent="0" marL="0">
              <a:buNone/>
            </a:pPr>
            <a:r>
              <a:rPr lang="en-US" sz="2600" b="1" dirty="0">
                <a:solidFill>
                  <a:srgbClr val="0E1C42"/>
                </a:solidFill>
                <a:latin typeface="Calibri" pitchFamily="34" charset="0"/>
                <a:ea typeface="Calibri" pitchFamily="34" charset="-122"/>
                <a:cs typeface="Calibri" pitchFamily="34" charset="-120"/>
              </a:rPr>
              <a:t>🔤 Spelling — 🔤 Spelling: Odd One Out</a:t>
            </a:r>
            <a:endParaRPr lang="en-US" sz="2600" dirty="0"/>
          </a:p>
        </p:txBody>
      </p:sp>
      <p:sp>
        <p:nvSpPr>
          <p:cNvPr id="3" name="Shape 1"/>
          <p:cNvSpPr/>
          <p:nvPr/>
        </p:nvSpPr>
        <p:spPr>
          <a:xfrm>
            <a:off x="365760" y="749808"/>
            <a:ext cx="8412480" cy="0"/>
          </a:xfrm>
          <a:prstGeom prst="line">
            <a:avLst/>
          </a:prstGeom>
          <a:noFill/>
          <a:ln w="19050">
            <a:solidFill>
              <a:srgbClr val="55C8E8"/>
            </a:solidFill>
            <a:prstDash val="solid"/>
          </a:ln>
        </p:spPr>
      </p:sp>
      <p:sp>
        <p:nvSpPr>
          <p:cNvPr id="4" name="Shape 2"/>
          <p:cNvSpPr/>
          <p:nvPr/>
        </p:nvSpPr>
        <p:spPr>
          <a:xfrm>
            <a:off x="6492240" y="173736"/>
            <a:ext cx="2286000" cy="502920"/>
          </a:xfrm>
          <a:prstGeom prst="roundRect">
            <a:avLst>
              <a:gd name="adj" fmla="val 21818"/>
            </a:avLst>
          </a:prstGeom>
          <a:solidFill>
            <a:srgbClr val="55C8E8"/>
          </a:solidFill>
          <a:ln/>
        </p:spPr>
      </p:sp>
      <p:sp>
        <p:nvSpPr>
          <p:cNvPr id="5" name="Text 3"/>
          <p:cNvSpPr/>
          <p:nvPr/>
        </p:nvSpPr>
        <p:spPr>
          <a:xfrm>
            <a:off x="6492240" y="173736"/>
            <a:ext cx="2286000" cy="502920"/>
          </a:xfrm>
          <a:prstGeom prst="rect">
            <a:avLst/>
          </a:prstGeom>
          <a:noFill/>
          <a:ln/>
        </p:spPr>
        <p:txBody>
          <a:bodyPr wrap="square" lIns="0" tIns="0" rIns="0" bIns="0" rtlCol="0" anchor="ctr"/>
          <a:lstStyle/>
          <a:p>
            <a:pPr algn="ctr" indent="0" marL="0">
              <a:buNone/>
            </a:pPr>
            <a:r>
              <a:rPr lang="en-US" sz="1100" b="1" dirty="0">
                <a:solidFill>
                  <a:srgbClr val="0E1C42"/>
                </a:solidFill>
                <a:latin typeface="Calibri" pitchFamily="34" charset="0"/>
                <a:ea typeface="Calibri" pitchFamily="34" charset="-122"/>
                <a:cs typeface="Calibri" pitchFamily="34" charset="-120"/>
              </a:rPr>
              <a:t>CHAT PROMPT</a:t>
            </a:r>
            <a:endParaRPr lang="en-US" sz="1100" dirty="0"/>
          </a:p>
        </p:txBody>
      </p:sp>
      <p:sp>
        <p:nvSpPr>
          <p:cNvPr id="6" name="Text 4"/>
          <p:cNvSpPr/>
          <p:nvPr/>
        </p:nvSpPr>
        <p:spPr>
          <a:xfrm>
            <a:off x="365760" y="822960"/>
            <a:ext cx="8046720" cy="292608"/>
          </a:xfrm>
          <a:prstGeom prst="rect">
            <a:avLst/>
          </a:prstGeom>
          <a:noFill/>
          <a:ln/>
        </p:spPr>
        <p:txBody>
          <a:bodyPr wrap="square" lIns="0" tIns="0" rIns="0" bIns="0" rtlCol="0" anchor="ctr"/>
          <a:lstStyle/>
          <a:p>
            <a:pPr indent="0" marL="0">
              <a:buNone/>
            </a:pPr>
            <a:r>
              <a:rPr lang="en-US" sz="1100" b="1" spc="200" kern="0" dirty="0">
                <a:solidFill>
                  <a:srgbClr val="0E1C42"/>
                </a:solidFill>
                <a:latin typeface="Calibri" pitchFamily="34" charset="0"/>
                <a:ea typeface="Calibri" pitchFamily="34" charset="-122"/>
                <a:cs typeface="Calibri" pitchFamily="34" charset="-120"/>
              </a:rPr>
              <a:t>Day 4: Challenge — spot the word that breaks the pattern</a:t>
            </a:r>
            <a:endParaRPr lang="en-US" sz="1100" dirty="0"/>
          </a:p>
        </p:txBody>
      </p:sp>
      <p:sp>
        <p:nvSpPr>
          <p:cNvPr id="7" name="Text 5"/>
          <p:cNvSpPr/>
          <p:nvPr/>
        </p:nvSpPr>
        <p:spPr>
          <a:xfrm>
            <a:off x="365760" y="1143000"/>
            <a:ext cx="8046720" cy="292608"/>
          </a:xfrm>
          <a:prstGeom prst="rect">
            <a:avLst/>
          </a:prstGeom>
          <a:noFill/>
          <a:ln/>
        </p:spPr>
        <p:txBody>
          <a:bodyPr wrap="square" lIns="0" tIns="0" rIns="0" bIns="0" rtlCol="0" anchor="ctr"/>
          <a:lstStyle/>
          <a:p>
            <a:pPr indent="0" marL="0">
              <a:buNone/>
            </a:pPr>
            <a:r>
              <a:rPr lang="en-US" sz="1100" b="1" spc="200" kern="0" dirty="0">
                <a:solidFill>
                  <a:srgbClr val="8B6FC0"/>
                </a:solidFill>
                <a:latin typeface="Calibri" pitchFamily="34" charset="0"/>
                <a:ea typeface="Calibri" pitchFamily="34" charset="-122"/>
                <a:cs typeface="Calibri" pitchFamily="34" charset="-120"/>
              </a:rPr>
              <a:t>📓 REFLECT IN YOUR READING JOURNAL</a:t>
            </a:r>
            <a:endParaRPr lang="en-US" sz="1100" dirty="0"/>
          </a:p>
        </p:txBody>
      </p:sp>
      <p:sp>
        <p:nvSpPr>
          <p:cNvPr id="8" name="Shape 6"/>
          <p:cNvSpPr/>
          <p:nvPr/>
        </p:nvSpPr>
        <p:spPr>
          <a:xfrm>
            <a:off x="365760" y="1417320"/>
            <a:ext cx="8412480" cy="1188720"/>
          </a:xfrm>
          <a:prstGeom prst="roundRect">
            <a:avLst>
              <a:gd name="adj" fmla="val 7692"/>
            </a:avLst>
          </a:prstGeom>
          <a:solidFill>
            <a:srgbClr val="F0E8FF"/>
          </a:solidFill>
          <a:ln/>
          <a:effectLst>
            <a:outerShdw sx="100000" sy="100000" kx="0" ky="0" algn="bl" rotWithShape="0" blurRad="101600" dist="38100" dir="2700000">
              <a:srgbClr val="000000">
                <a:alpha val="12000"/>
              </a:srgbClr>
            </a:outerShdw>
          </a:effectLst>
        </p:spPr>
      </p:sp>
      <p:sp>
        <p:nvSpPr>
          <p:cNvPr id="9" name="Text 7"/>
          <p:cNvSpPr/>
          <p:nvPr/>
        </p:nvSpPr>
        <p:spPr>
          <a:xfrm>
            <a:off x="548640" y="1508760"/>
            <a:ext cx="8046720" cy="1042416"/>
          </a:xfrm>
          <a:prstGeom prst="rect">
            <a:avLst/>
          </a:prstGeom>
          <a:noFill/>
          <a:ln/>
        </p:spPr>
        <p:txBody>
          <a:bodyPr wrap="square" lIns="0" tIns="0" rIns="0" bIns="0" rtlCol="0" anchor="t"/>
          <a:lstStyle/>
          <a:p>
            <a:pPr indent="0" marL="0">
              <a:buNone/>
            </a:pPr>
            <a:r>
              <a:rPr lang="en-US" sz="1200" i="1" dirty="0">
                <a:solidFill>
                  <a:srgbClr val="1E293B"/>
                </a:solidFill>
                <a:latin typeface="Calibri" pitchFamily="34" charset="0"/>
                <a:ea typeface="Calibri" pitchFamily="34" charset="-122"/>
                <a:cs typeface="Calibri" pitchFamily="34" charset="-120"/>
              </a:rPr>
              <a:t>Each group below has three words. Two of them share the same vowel team pattern (either AI or A–E). One of them doesn’t. Click the odd one out — the word that doesn’t match the other two.</a:t>
            </a:r>
            <a:endParaRPr lang="en-US" sz="12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E5F7FC"/>
        </a:solidFill>
      </p:bgPr>
    </p:bg>
    <p:spTree>
      <p:nvGrpSpPr>
        <p:cNvPr id="1" name=""/>
        <p:cNvGrpSpPr/>
        <p:nvPr/>
      </p:nvGrpSpPr>
      <p:grpSpPr>
        <a:xfrm>
          <a:off x="0" y="0"/>
          <a:ext cx="0" cy="0"/>
          <a:chOff x="0" y="0"/>
          <a:chExt cx="0" cy="0"/>
        </a:xfrm>
      </p:grpSpPr>
      <p:sp>
        <p:nvSpPr>
          <p:cNvPr id="2" name="Text 0"/>
          <p:cNvSpPr/>
          <p:nvPr/>
        </p:nvSpPr>
        <p:spPr>
          <a:xfrm>
            <a:off x="365760" y="164592"/>
            <a:ext cx="5943600" cy="566928"/>
          </a:xfrm>
          <a:prstGeom prst="rect">
            <a:avLst/>
          </a:prstGeom>
          <a:noFill/>
          <a:ln/>
        </p:spPr>
        <p:txBody>
          <a:bodyPr wrap="square" lIns="0" tIns="0" rIns="0" bIns="0" rtlCol="0" anchor="ctr"/>
          <a:lstStyle/>
          <a:p>
            <a:pPr algn="l" indent="0" marL="0">
              <a:buNone/>
            </a:pPr>
            <a:r>
              <a:rPr lang="en-US" sz="2600" b="1" dirty="0">
                <a:solidFill>
                  <a:srgbClr val="0E1C42"/>
                </a:solidFill>
                <a:latin typeface="Calibri" pitchFamily="34" charset="0"/>
                <a:ea typeface="Calibri" pitchFamily="34" charset="-122"/>
                <a:cs typeface="Calibri" pitchFamily="34" charset="-120"/>
              </a:rPr>
              <a:t>📖 Reading Focus + Story Journey</a:t>
            </a:r>
            <a:endParaRPr lang="en-US" sz="2600" dirty="0"/>
          </a:p>
        </p:txBody>
      </p:sp>
      <p:sp>
        <p:nvSpPr>
          <p:cNvPr id="3" name="Shape 1"/>
          <p:cNvSpPr/>
          <p:nvPr/>
        </p:nvSpPr>
        <p:spPr>
          <a:xfrm>
            <a:off x="365760" y="749808"/>
            <a:ext cx="8412480" cy="0"/>
          </a:xfrm>
          <a:prstGeom prst="line">
            <a:avLst/>
          </a:prstGeom>
          <a:noFill/>
          <a:ln w="19050">
            <a:solidFill>
              <a:srgbClr val="55C8E8"/>
            </a:solidFill>
            <a:prstDash val="solid"/>
          </a:ln>
        </p:spPr>
      </p:sp>
      <p:sp>
        <p:nvSpPr>
          <p:cNvPr id="4" name="Shape 2"/>
          <p:cNvSpPr/>
          <p:nvPr/>
        </p:nvSpPr>
        <p:spPr>
          <a:xfrm>
            <a:off x="6492240" y="173736"/>
            <a:ext cx="2286000" cy="502920"/>
          </a:xfrm>
          <a:prstGeom prst="roundRect">
            <a:avLst>
              <a:gd name="adj" fmla="val 21818"/>
            </a:avLst>
          </a:prstGeom>
          <a:solidFill>
            <a:srgbClr val="55C8E8"/>
          </a:solidFill>
          <a:ln/>
        </p:spPr>
      </p:sp>
      <p:sp>
        <p:nvSpPr>
          <p:cNvPr id="5" name="Text 3"/>
          <p:cNvSpPr/>
          <p:nvPr/>
        </p:nvSpPr>
        <p:spPr>
          <a:xfrm>
            <a:off x="6492240" y="173736"/>
            <a:ext cx="2286000" cy="502920"/>
          </a:xfrm>
          <a:prstGeom prst="rect">
            <a:avLst/>
          </a:prstGeom>
          <a:noFill/>
          <a:ln/>
        </p:spPr>
        <p:txBody>
          <a:bodyPr wrap="square" lIns="0" tIns="0" rIns="0" bIns="0" rtlCol="0" anchor="ctr"/>
          <a:lstStyle/>
          <a:p>
            <a:pPr algn="ctr" indent="0" marL="0">
              <a:buNone/>
            </a:pPr>
            <a:r>
              <a:rPr lang="en-US" sz="1100" b="1" dirty="0">
                <a:solidFill>
                  <a:srgbClr val="0E1C42"/>
                </a:solidFill>
                <a:latin typeface="Calibri" pitchFamily="34" charset="0"/>
                <a:ea typeface="Calibri" pitchFamily="34" charset="-122"/>
                <a:cs typeface="Calibri" pitchFamily="34" charset="-120"/>
              </a:rPr>
              <a:t>CHAT PROMPT</a:t>
            </a:r>
            <a:endParaRPr lang="en-US" sz="1100" dirty="0"/>
          </a:p>
        </p:txBody>
      </p:sp>
      <p:sp>
        <p:nvSpPr>
          <p:cNvPr id="6" name="Text 4"/>
          <p:cNvSpPr/>
          <p:nvPr/>
        </p:nvSpPr>
        <p:spPr>
          <a:xfrm>
            <a:off x="365760" y="822960"/>
            <a:ext cx="8046720" cy="292608"/>
          </a:xfrm>
          <a:prstGeom prst="rect">
            <a:avLst/>
          </a:prstGeom>
          <a:noFill/>
          <a:ln/>
        </p:spPr>
        <p:txBody>
          <a:bodyPr wrap="square" lIns="0" tIns="0" rIns="0" bIns="0" rtlCol="0" anchor="ctr"/>
          <a:lstStyle/>
          <a:p>
            <a:pPr indent="0" marL="0">
              <a:buNone/>
            </a:pPr>
            <a:r>
              <a:rPr lang="en-US" sz="1100" b="1" spc="200" kern="0" dirty="0">
                <a:solidFill>
                  <a:srgbClr val="64748B"/>
                </a:solidFill>
                <a:latin typeface="Calibri" pitchFamily="34" charset="0"/>
                <a:ea typeface="Calibri" pitchFamily="34" charset="-122"/>
                <a:cs typeface="Calibri" pitchFamily="34" charset="-120"/>
              </a:rPr>
              <a:t>YOUR STORY JOURNEY</a:t>
            </a:r>
            <a:endParaRPr lang="en-US" sz="1100" dirty="0"/>
          </a:p>
        </p:txBody>
      </p:sp>
      <p:sp>
        <p:nvSpPr>
          <p:cNvPr id="7" name="Shape 5"/>
          <p:cNvSpPr/>
          <p:nvPr/>
        </p:nvSpPr>
        <p:spPr>
          <a:xfrm>
            <a:off x="365760" y="1078992"/>
            <a:ext cx="8412480" cy="777240"/>
          </a:xfrm>
          <a:prstGeom prst="roundRect">
            <a:avLst>
              <a:gd name="adj" fmla="val 11765"/>
            </a:avLst>
          </a:prstGeom>
          <a:solidFill>
            <a:srgbClr val="F8FAFC"/>
          </a:solidFill>
          <a:ln/>
          <a:effectLst>
            <a:outerShdw sx="100000" sy="100000" kx="0" ky="0" algn="bl" rotWithShape="0" blurRad="101600" dist="38100" dir="2700000">
              <a:srgbClr val="000000">
                <a:alpha val="12000"/>
              </a:srgbClr>
            </a:outerShdw>
          </a:effectLst>
        </p:spPr>
      </p:sp>
      <p:sp>
        <p:nvSpPr>
          <p:cNvPr id="8" name="Text 6"/>
          <p:cNvSpPr/>
          <p:nvPr/>
        </p:nvSpPr>
        <p:spPr>
          <a:xfrm>
            <a:off x="594360" y="1170432"/>
            <a:ext cx="7955280" cy="594360"/>
          </a:xfrm>
          <a:prstGeom prst="rect">
            <a:avLst/>
          </a:prstGeom>
          <a:noFill/>
          <a:ln/>
        </p:spPr>
        <p:txBody>
          <a:bodyPr wrap="square" lIns="0" tIns="0" rIns="0" bIns="0" rtlCol="0" anchor="ctr"/>
          <a:lstStyle/>
          <a:p>
            <a:pPr indent="0" marL="0">
              <a:buNone/>
            </a:pPr>
            <a:r>
              <a:rPr lang="en-US" sz="1250" b="1" dirty="0">
                <a:solidFill>
                  <a:srgbClr val="1E293B"/>
                </a:solidFill>
                <a:latin typeface="Calibri" pitchFamily="34" charset="0"/>
                <a:ea typeface="Calibri" pitchFamily="34" charset="-122"/>
                <a:cs typeface="Calibri" pitchFamily="34" charset="-120"/>
              </a:rPr>
              <a:t>Nat’s Path Through Carry On, Mr. Bowditch — 📍 You are here: Chapter 4 — Boys Don’t Blubber</a:t>
            </a:r>
            <a:endParaRPr lang="en-US" sz="1250" dirty="0"/>
          </a:p>
        </p:txBody>
      </p:sp>
      <p:sp>
        <p:nvSpPr>
          <p:cNvPr id="9" name="Text 7"/>
          <p:cNvSpPr/>
          <p:nvPr/>
        </p:nvSpPr>
        <p:spPr>
          <a:xfrm>
            <a:off x="365760" y="1975104"/>
            <a:ext cx="8046720" cy="292608"/>
          </a:xfrm>
          <a:prstGeom prst="rect">
            <a:avLst/>
          </a:prstGeom>
          <a:noFill/>
          <a:ln/>
        </p:spPr>
        <p:txBody>
          <a:bodyPr wrap="square" lIns="0" tIns="0" rIns="0" bIns="0" rtlCol="0" anchor="ctr"/>
          <a:lstStyle/>
          <a:p>
            <a:pPr indent="0" marL="0">
              <a:buNone/>
            </a:pPr>
            <a:r>
              <a:rPr lang="en-US" sz="1100" b="1" spc="200" kern="0" dirty="0">
                <a:solidFill>
                  <a:srgbClr val="55C8E8"/>
                </a:solidFill>
                <a:latin typeface="Calibri" pitchFamily="34" charset="0"/>
                <a:ea typeface="Calibri" pitchFamily="34" charset="-122"/>
                <a:cs typeface="Calibri" pitchFamily="34" charset="-120"/>
              </a:rPr>
              <a:t>TODAY YOU ARE READING</a:t>
            </a:r>
            <a:endParaRPr lang="en-US" sz="1100" dirty="0"/>
          </a:p>
        </p:txBody>
      </p:sp>
      <p:sp>
        <p:nvSpPr>
          <p:cNvPr id="10" name="Shape 8"/>
          <p:cNvSpPr/>
          <p:nvPr/>
        </p:nvSpPr>
        <p:spPr>
          <a:xfrm>
            <a:off x="365760" y="2231136"/>
            <a:ext cx="8412480" cy="640080"/>
          </a:xfrm>
          <a:prstGeom prst="roundRect">
            <a:avLst>
              <a:gd name="adj" fmla="val 14286"/>
            </a:avLst>
          </a:prstGeom>
          <a:solidFill>
            <a:srgbClr val="FEF6E8"/>
          </a:solidFill>
          <a:ln/>
          <a:effectLst>
            <a:outerShdw sx="100000" sy="100000" kx="0" ky="0" algn="bl" rotWithShape="0" blurRad="101600" dist="38100" dir="2700000">
              <a:srgbClr val="000000">
                <a:alpha val="12000"/>
              </a:srgbClr>
            </a:outerShdw>
          </a:effectLst>
        </p:spPr>
      </p:sp>
      <p:sp>
        <p:nvSpPr>
          <p:cNvPr id="11" name="Text 9"/>
          <p:cNvSpPr/>
          <p:nvPr/>
        </p:nvSpPr>
        <p:spPr>
          <a:xfrm>
            <a:off x="594360" y="2304288"/>
            <a:ext cx="7955280" cy="493776"/>
          </a:xfrm>
          <a:prstGeom prst="rect">
            <a:avLst/>
          </a:prstGeom>
          <a:noFill/>
          <a:ln/>
        </p:spPr>
        <p:txBody>
          <a:bodyPr wrap="square" lIns="0" tIns="0" rIns="0" bIns="0" rtlCol="0" anchor="ctr"/>
          <a:lstStyle/>
          <a:p>
            <a:pPr indent="0" marL="0">
              <a:buNone/>
            </a:pPr>
            <a:r>
              <a:rPr lang="en-US" sz="1500" b="1" dirty="0">
                <a:solidFill>
                  <a:srgbClr val="0E1C42"/>
                </a:solidFill>
                <a:latin typeface="Calibri" pitchFamily="34" charset="0"/>
                <a:ea typeface="Calibri" pitchFamily="34" charset="-122"/>
                <a:cs typeface="Calibri" pitchFamily="34" charset="-120"/>
              </a:rPr>
              <a:t>Chapter 4 — Boys Don’t Blubber</a:t>
            </a:r>
            <a:endParaRPr lang="en-US" sz="1500" dirty="0"/>
          </a:p>
        </p:txBody>
      </p:sp>
      <p:sp>
        <p:nvSpPr>
          <p:cNvPr id="12" name="Text 10"/>
          <p:cNvSpPr/>
          <p:nvPr/>
        </p:nvSpPr>
        <p:spPr>
          <a:xfrm>
            <a:off x="365760" y="2999232"/>
            <a:ext cx="8046720" cy="292608"/>
          </a:xfrm>
          <a:prstGeom prst="rect">
            <a:avLst/>
          </a:prstGeom>
          <a:noFill/>
          <a:ln/>
        </p:spPr>
        <p:txBody>
          <a:bodyPr wrap="square" lIns="0" tIns="0" rIns="0" bIns="0" rtlCol="0" anchor="ctr"/>
          <a:lstStyle/>
          <a:p>
            <a:pPr indent="0" marL="0">
              <a:buNone/>
            </a:pPr>
            <a:r>
              <a:rPr lang="en-US" sz="1100" b="1" spc="200" kern="0" dirty="0">
                <a:solidFill>
                  <a:srgbClr val="8B6FC0"/>
                </a:solidFill>
                <a:latin typeface="Calibri" pitchFamily="34" charset="0"/>
                <a:ea typeface="Calibri" pitchFamily="34" charset="-122"/>
                <a:cs typeface="Calibri" pitchFamily="34" charset="-120"/>
              </a:rPr>
              <a:t>🧠 KEEP YOUR READING LENS IN MIND</a:t>
            </a:r>
            <a:endParaRPr lang="en-US" sz="1100" dirty="0"/>
          </a:p>
        </p:txBody>
      </p:sp>
      <p:sp>
        <p:nvSpPr>
          <p:cNvPr id="13" name="Shape 11"/>
          <p:cNvSpPr/>
          <p:nvPr/>
        </p:nvSpPr>
        <p:spPr>
          <a:xfrm>
            <a:off x="365760" y="3255264"/>
            <a:ext cx="8412480" cy="1280160"/>
          </a:xfrm>
          <a:prstGeom prst="roundRect">
            <a:avLst>
              <a:gd name="adj" fmla="val 7143"/>
            </a:avLst>
          </a:prstGeom>
          <a:solidFill>
            <a:srgbClr val="F0E8FF"/>
          </a:solidFill>
          <a:ln/>
          <a:effectLst>
            <a:outerShdw sx="100000" sy="100000" kx="0" ky="0" algn="bl" rotWithShape="0" blurRad="101600" dist="38100" dir="2700000">
              <a:srgbClr val="000000">
                <a:alpha val="12000"/>
              </a:srgbClr>
            </a:outerShdw>
          </a:effectLst>
        </p:spPr>
      </p:sp>
      <p:sp>
        <p:nvSpPr>
          <p:cNvPr id="14" name="Text 12"/>
          <p:cNvSpPr/>
          <p:nvPr/>
        </p:nvSpPr>
        <p:spPr>
          <a:xfrm>
            <a:off x="594360" y="3346704"/>
            <a:ext cx="7955280" cy="1097280"/>
          </a:xfrm>
          <a:prstGeom prst="rect">
            <a:avLst/>
          </a:prstGeom>
          <a:noFill/>
          <a:ln/>
        </p:spPr>
        <p:txBody>
          <a:bodyPr wrap="square" lIns="0" tIns="0" rIns="0" bIns="0" rtlCol="0" anchor="t"/>
          <a:lstStyle/>
          <a:p>
            <a:pPr indent="0" marL="0">
              <a:buNone/>
            </a:pPr>
            <a:r>
              <a:rPr lang="en-US" sz="1200" i="1" dirty="0">
                <a:solidFill>
                  <a:srgbClr val="1E293B"/>
                </a:solidFill>
                <a:latin typeface="Calibri" pitchFamily="34" charset="0"/>
                <a:ea typeface="Calibri" pitchFamily="34" charset="-122"/>
                <a:cs typeface="Calibri" pitchFamily="34" charset="-120"/>
              </a:rPr>
              <a:t>(See Reading tab for today's focus.)</a:t>
            </a:r>
            <a:endParaRPr lang="en-US" sz="12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164592"/>
            <a:ext cx="8412480" cy="566928"/>
          </a:xfrm>
          <a:prstGeom prst="rect">
            <a:avLst/>
          </a:prstGeom>
          <a:noFill/>
          <a:ln/>
        </p:spPr>
        <p:txBody>
          <a:bodyPr wrap="square" lIns="0" tIns="0" rIns="0" bIns="0" rtlCol="0" anchor="ctr"/>
          <a:lstStyle/>
          <a:p>
            <a:pPr algn="l" indent="0" marL="0">
              <a:buNone/>
            </a:pPr>
            <a:r>
              <a:rPr lang="en-US" sz="2600" b="1" dirty="0">
                <a:solidFill>
                  <a:srgbClr val="0E1C42"/>
                </a:solidFill>
                <a:latin typeface="Calibri" pitchFamily="34" charset="0"/>
                <a:ea typeface="Calibri" pitchFamily="34" charset="-122"/>
                <a:cs typeface="Calibri" pitchFamily="34" charset="-120"/>
              </a:rPr>
              <a:t>Comprehension Questions — Preview</a:t>
            </a:r>
            <a:endParaRPr lang="en-US" sz="2600" dirty="0"/>
          </a:p>
        </p:txBody>
      </p:sp>
      <p:sp>
        <p:nvSpPr>
          <p:cNvPr id="3" name="Shape 1"/>
          <p:cNvSpPr/>
          <p:nvPr/>
        </p:nvSpPr>
        <p:spPr>
          <a:xfrm>
            <a:off x="365760" y="749808"/>
            <a:ext cx="8412480" cy="0"/>
          </a:xfrm>
          <a:prstGeom prst="line">
            <a:avLst/>
          </a:prstGeom>
          <a:noFill/>
          <a:ln w="19050">
            <a:solidFill>
              <a:srgbClr val="55C8E8"/>
            </a:solidFill>
            <a:prstDash val="solid"/>
          </a:ln>
        </p:spPr>
      </p:sp>
      <p:sp>
        <p:nvSpPr>
          <p:cNvPr id="4" name="Text 2"/>
          <p:cNvSpPr/>
          <p:nvPr/>
        </p:nvSpPr>
        <p:spPr>
          <a:xfrm>
            <a:off x="365760" y="822960"/>
            <a:ext cx="8046720" cy="292608"/>
          </a:xfrm>
          <a:prstGeom prst="rect">
            <a:avLst/>
          </a:prstGeom>
          <a:noFill/>
          <a:ln/>
        </p:spPr>
        <p:txBody>
          <a:bodyPr wrap="square" lIns="0" tIns="0" rIns="0" bIns="0" rtlCol="0" anchor="ctr"/>
          <a:lstStyle/>
          <a:p>
            <a:pPr indent="0" marL="0">
              <a:buNone/>
            </a:pPr>
            <a:r>
              <a:rPr lang="en-US" sz="1100" b="1" spc="200" kern="0" dirty="0">
                <a:solidFill>
                  <a:srgbClr val="64748B"/>
                </a:solidFill>
                <a:latin typeface="Calibri" pitchFamily="34" charset="0"/>
                <a:ea typeface="Calibri" pitchFamily="34" charset="-122"/>
                <a:cs typeface="Calibri" pitchFamily="34" charset="-120"/>
              </a:rPr>
              <a:t>WHAT YOU'LL ANSWER (PART A)</a:t>
            </a:r>
            <a:endParaRPr lang="en-US" sz="1100" dirty="0"/>
          </a:p>
        </p:txBody>
      </p:sp>
      <p:sp>
        <p:nvSpPr>
          <p:cNvPr id="5" name="Shape 3"/>
          <p:cNvSpPr/>
          <p:nvPr/>
        </p:nvSpPr>
        <p:spPr>
          <a:xfrm>
            <a:off x="365760" y="1097280"/>
            <a:ext cx="8412480" cy="914400"/>
          </a:xfrm>
          <a:prstGeom prst="roundRect">
            <a:avLst>
              <a:gd name="adj" fmla="val 10000"/>
            </a:avLst>
          </a:prstGeom>
          <a:solidFill>
            <a:srgbClr val="F8FAFC"/>
          </a:solidFill>
          <a:ln/>
          <a:effectLst>
            <a:outerShdw sx="100000" sy="100000" kx="0" ky="0" algn="bl" rotWithShape="0" blurRad="101600" dist="38100" dir="2700000">
              <a:srgbClr val="000000">
                <a:alpha val="12000"/>
              </a:srgbClr>
            </a:outerShdw>
          </a:effectLst>
        </p:spPr>
      </p:sp>
      <p:sp>
        <p:nvSpPr>
          <p:cNvPr id="6" name="Text 4"/>
          <p:cNvSpPr/>
          <p:nvPr/>
        </p:nvSpPr>
        <p:spPr>
          <a:xfrm>
            <a:off x="548640" y="1170432"/>
            <a:ext cx="8046720" cy="768096"/>
          </a:xfrm>
          <a:prstGeom prst="rect">
            <a:avLst/>
          </a:prstGeom>
          <a:noFill/>
          <a:ln/>
        </p:spPr>
        <p:txBody>
          <a:bodyPr wrap="square" lIns="0" tIns="0" rIns="0" bIns="0" rtlCol="0" anchor="ctr"/>
          <a:lstStyle/>
          <a:p>
            <a:pPr indent="0" marL="0">
              <a:buNone/>
            </a:pPr>
            <a:r>
              <a:rPr lang="en-US" sz="1300" b="1" dirty="0">
                <a:solidFill>
                  <a:srgbClr val="55C8E8"/>
                </a:solidFill>
                <a:latin typeface="Calibri" pitchFamily="34" charset="0"/>
                <a:ea typeface="Calibri" pitchFamily="34" charset="-122"/>
                <a:cs typeface="Calibri" pitchFamily="34" charset="-120"/>
              </a:rPr>
              <a:t>1.  </a:t>
            </a:r>
            <a:pPr indent="0" marL="0">
              <a:buNone/>
            </a:pPr>
            <a:r>
              <a:rPr lang="en-US" sz="1150" dirty="0">
                <a:solidFill>
                  <a:srgbClr val="1E293B"/>
                </a:solidFill>
                <a:latin typeface="Calibri" pitchFamily="34" charset="0"/>
                <a:ea typeface="Calibri" pitchFamily="34" charset="-122"/>
                <a:cs typeface="Calibri" pitchFamily="34" charset="-120"/>
              </a:rPr>
              <a:t>After Hab leaves and the war ends, prices rise and the family struggles. What decision does Nat end up making — and why do you think he makes it? What does the indenture cost him, beyond just his time?</a:t>
            </a:r>
            <a:endParaRPr lang="en-US" sz="1300" dirty="0"/>
          </a:p>
        </p:txBody>
      </p:sp>
      <p:sp>
        <p:nvSpPr>
          <p:cNvPr id="7" name="Shape 5"/>
          <p:cNvSpPr/>
          <p:nvPr/>
        </p:nvSpPr>
        <p:spPr>
          <a:xfrm>
            <a:off x="365760" y="2084832"/>
            <a:ext cx="8412480" cy="914400"/>
          </a:xfrm>
          <a:prstGeom prst="roundRect">
            <a:avLst>
              <a:gd name="adj" fmla="val 10000"/>
            </a:avLst>
          </a:prstGeom>
          <a:solidFill>
            <a:srgbClr val="F4F7FC"/>
          </a:solidFill>
          <a:ln/>
          <a:effectLst>
            <a:outerShdw sx="100000" sy="100000" kx="0" ky="0" algn="bl" rotWithShape="0" blurRad="101600" dist="38100" dir="2700000">
              <a:srgbClr val="000000">
                <a:alpha val="12000"/>
              </a:srgbClr>
            </a:outerShdw>
          </a:effectLst>
        </p:spPr>
      </p:sp>
      <p:sp>
        <p:nvSpPr>
          <p:cNvPr id="8" name="Text 6"/>
          <p:cNvSpPr/>
          <p:nvPr/>
        </p:nvSpPr>
        <p:spPr>
          <a:xfrm>
            <a:off x="548640" y="2157984"/>
            <a:ext cx="8046720" cy="768096"/>
          </a:xfrm>
          <a:prstGeom prst="rect">
            <a:avLst/>
          </a:prstGeom>
          <a:noFill/>
          <a:ln/>
        </p:spPr>
        <p:txBody>
          <a:bodyPr wrap="square" lIns="0" tIns="0" rIns="0" bIns="0" rtlCol="0" anchor="ctr"/>
          <a:lstStyle/>
          <a:p>
            <a:pPr indent="0" marL="0">
              <a:buNone/>
            </a:pPr>
            <a:r>
              <a:rPr lang="en-US" sz="1300" b="1" dirty="0">
                <a:solidFill>
                  <a:srgbClr val="55C8E8"/>
                </a:solidFill>
                <a:latin typeface="Calibri" pitchFamily="34" charset="0"/>
                <a:ea typeface="Calibri" pitchFamily="34" charset="-122"/>
                <a:cs typeface="Calibri" pitchFamily="34" charset="-120"/>
              </a:rPr>
              <a:t>2.  </a:t>
            </a:r>
            <a:pPr indent="0" marL="0">
              <a:buNone/>
            </a:pPr>
            <a:r>
              <a:rPr lang="en-US" sz="1150" dirty="0">
                <a:solidFill>
                  <a:srgbClr val="1E293B"/>
                </a:solidFill>
                <a:latin typeface="Calibri" pitchFamily="34" charset="0"/>
                <a:ea typeface="Calibri" pitchFamily="34" charset="-122"/>
                <a:cs typeface="Calibri" pitchFamily="34" charset="-120"/>
              </a:rPr>
              <a:t>The chapter is called “Boys Don’t Blubber.” Who says this phrase, and what do you think it means in the moment Nat signs the indenture? Does the phrase sound like something to be proud of — or does it make you feel something else?</a:t>
            </a:r>
            <a:endParaRPr lang="en-US" sz="1300" dirty="0"/>
          </a:p>
        </p:txBody>
      </p:sp>
      <p:sp>
        <p:nvSpPr>
          <p:cNvPr id="9" name="Shape 7"/>
          <p:cNvSpPr/>
          <p:nvPr/>
        </p:nvSpPr>
        <p:spPr>
          <a:xfrm>
            <a:off x="365760" y="3072384"/>
            <a:ext cx="8412480" cy="914400"/>
          </a:xfrm>
          <a:prstGeom prst="roundRect">
            <a:avLst>
              <a:gd name="adj" fmla="val 10000"/>
            </a:avLst>
          </a:prstGeom>
          <a:solidFill>
            <a:srgbClr val="F8FAFC"/>
          </a:solidFill>
          <a:ln/>
          <a:effectLst>
            <a:outerShdw sx="100000" sy="100000" kx="0" ky="0" algn="bl" rotWithShape="0" blurRad="101600" dist="38100" dir="2700000">
              <a:srgbClr val="000000">
                <a:alpha val="12000"/>
              </a:srgbClr>
            </a:outerShdw>
          </a:effectLst>
        </p:spPr>
      </p:sp>
      <p:sp>
        <p:nvSpPr>
          <p:cNvPr id="10" name="Text 8"/>
          <p:cNvSpPr/>
          <p:nvPr/>
        </p:nvSpPr>
        <p:spPr>
          <a:xfrm>
            <a:off x="548640" y="3145536"/>
            <a:ext cx="8046720" cy="768096"/>
          </a:xfrm>
          <a:prstGeom prst="rect">
            <a:avLst/>
          </a:prstGeom>
          <a:noFill/>
          <a:ln/>
        </p:spPr>
        <p:txBody>
          <a:bodyPr wrap="square" lIns="0" tIns="0" rIns="0" bIns="0" rtlCol="0" anchor="ctr"/>
          <a:lstStyle/>
          <a:p>
            <a:pPr indent="0" marL="0">
              <a:buNone/>
            </a:pPr>
            <a:r>
              <a:rPr lang="en-US" sz="1300" b="1" dirty="0">
                <a:solidFill>
                  <a:srgbClr val="55C8E8"/>
                </a:solidFill>
                <a:latin typeface="Calibri" pitchFamily="34" charset="0"/>
                <a:ea typeface="Calibri" pitchFamily="34" charset="-122"/>
                <a:cs typeface="Calibri" pitchFamily="34" charset="-120"/>
              </a:rPr>
              <a:t>3.  </a:t>
            </a:r>
            <a:pPr indent="0" marL="0">
              <a:buNone/>
            </a:pPr>
            <a:r>
              <a:rPr lang="en-US" sz="1150" dirty="0">
                <a:solidFill>
                  <a:srgbClr val="1E293B"/>
                </a:solidFill>
                <a:latin typeface="Calibri" pitchFamily="34" charset="0"/>
                <a:ea typeface="Calibri" pitchFamily="34" charset="-122"/>
                <a:cs typeface="Calibri" pitchFamily="34" charset="-120"/>
              </a:rPr>
              <a:t>Looking Back Across the Week. Think about all four chapters: from Salem harbor in Chapter 1 to the chandlery in Chapter 4. Nat faced one loss after another. What quality in him appears again and again, no matter what he faces? Use at least two examples from different chapters to support your thinking.</a:t>
            </a:r>
            <a:endParaRPr lang="en-US" sz="13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164592"/>
            <a:ext cx="8412480" cy="566928"/>
          </a:xfrm>
          <a:prstGeom prst="rect">
            <a:avLst/>
          </a:prstGeom>
          <a:noFill/>
          <a:ln/>
        </p:spPr>
        <p:txBody>
          <a:bodyPr wrap="square" lIns="0" tIns="0" rIns="0" bIns="0" rtlCol="0" anchor="ctr"/>
          <a:lstStyle/>
          <a:p>
            <a:pPr algn="l" indent="0" marL="0">
              <a:buNone/>
            </a:pPr>
            <a:r>
              <a:rPr lang="en-US" sz="2600" b="1" dirty="0">
                <a:solidFill>
                  <a:srgbClr val="0E1C42"/>
                </a:solidFill>
                <a:latin typeface="Calibri" pitchFamily="34" charset="0"/>
                <a:ea typeface="Calibri" pitchFamily="34" charset="-122"/>
                <a:cs typeface="Calibri" pitchFamily="34" charset="-120"/>
              </a:rPr>
              <a:t>✍️ Writing Connection — Research Essay</a:t>
            </a:r>
            <a:endParaRPr lang="en-US" sz="2600" dirty="0"/>
          </a:p>
        </p:txBody>
      </p:sp>
      <p:sp>
        <p:nvSpPr>
          <p:cNvPr id="3" name="Shape 1"/>
          <p:cNvSpPr/>
          <p:nvPr/>
        </p:nvSpPr>
        <p:spPr>
          <a:xfrm>
            <a:off x="365760" y="749808"/>
            <a:ext cx="8412480" cy="0"/>
          </a:xfrm>
          <a:prstGeom prst="line">
            <a:avLst/>
          </a:prstGeom>
          <a:noFill/>
          <a:ln w="19050">
            <a:solidFill>
              <a:srgbClr val="34B76F"/>
            </a:solidFill>
            <a:prstDash val="solid"/>
          </a:ln>
        </p:spPr>
      </p:sp>
      <p:sp>
        <p:nvSpPr>
          <p:cNvPr id="4" name="Text 2"/>
          <p:cNvSpPr/>
          <p:nvPr/>
        </p:nvSpPr>
        <p:spPr>
          <a:xfrm>
            <a:off x="365760" y="841248"/>
            <a:ext cx="8046720" cy="292608"/>
          </a:xfrm>
          <a:prstGeom prst="rect">
            <a:avLst/>
          </a:prstGeom>
          <a:noFill/>
          <a:ln/>
        </p:spPr>
        <p:txBody>
          <a:bodyPr wrap="square" lIns="0" tIns="0" rIns="0" bIns="0" rtlCol="0" anchor="ctr"/>
          <a:lstStyle/>
          <a:p>
            <a:pPr indent="0" marL="0">
              <a:buNone/>
            </a:pPr>
            <a:r>
              <a:rPr lang="en-US" sz="1100" b="1" spc="200" kern="0" dirty="0">
                <a:solidFill>
                  <a:srgbClr val="34B76F"/>
                </a:solidFill>
                <a:latin typeface="Calibri" pitchFamily="34" charset="0"/>
                <a:ea typeface="Calibri" pitchFamily="34" charset="-122"/>
                <a:cs typeface="Calibri" pitchFamily="34" charset="-120"/>
              </a:rPr>
              <a:t>STAGE: RESEARCH CLAIM  ·  Finalize your claim before moving to planning</a:t>
            </a:r>
            <a:endParaRPr lang="en-US" sz="1100" dirty="0"/>
          </a:p>
        </p:txBody>
      </p:sp>
      <p:sp>
        <p:nvSpPr>
          <p:cNvPr id="5" name="Shape 3"/>
          <p:cNvSpPr/>
          <p:nvPr/>
        </p:nvSpPr>
        <p:spPr>
          <a:xfrm>
            <a:off x="365760" y="1097280"/>
            <a:ext cx="8412480" cy="548640"/>
          </a:xfrm>
          <a:prstGeom prst="roundRect">
            <a:avLst>
              <a:gd name="adj" fmla="val 16667"/>
            </a:avLst>
          </a:prstGeom>
          <a:solidFill>
            <a:srgbClr val="E8F8EF"/>
          </a:solidFill>
          <a:ln/>
          <a:effectLst>
            <a:outerShdw sx="100000" sy="100000" kx="0" ky="0" algn="bl" rotWithShape="0" blurRad="101600" dist="38100" dir="2700000">
              <a:srgbClr val="000000">
                <a:alpha val="12000"/>
              </a:srgbClr>
            </a:outerShdw>
          </a:effectLst>
        </p:spPr>
      </p:sp>
      <p:sp>
        <p:nvSpPr>
          <p:cNvPr id="6" name="Text 4"/>
          <p:cNvSpPr/>
          <p:nvPr/>
        </p:nvSpPr>
        <p:spPr>
          <a:xfrm>
            <a:off x="548640" y="1152144"/>
            <a:ext cx="8046720" cy="438912"/>
          </a:xfrm>
          <a:prstGeom prst="rect">
            <a:avLst/>
          </a:prstGeom>
          <a:noFill/>
          <a:ln/>
        </p:spPr>
        <p:txBody>
          <a:bodyPr wrap="square" lIns="0" tIns="0" rIns="0" bIns="0" rtlCol="0" anchor="ctr"/>
          <a:lstStyle/>
          <a:p>
            <a:pPr indent="0" marL="0">
              <a:buNone/>
            </a:pPr>
            <a:r>
              <a:rPr lang="en-US" sz="1150" b="1" dirty="0">
                <a:solidFill>
                  <a:srgbClr val="1E293B"/>
                </a:solidFill>
                <a:latin typeface="Calibri" pitchFamily="34" charset="0"/>
                <a:ea typeface="Calibri" pitchFamily="34" charset="-122"/>
                <a:cs typeface="Calibri" pitchFamily="34" charset="-120"/>
              </a:rPr>
              <a:t>After a week of reading and testing, it’s time to write your FINAL version of the claim. This goes at the end of your introduction. It should be the clearest, most specific sentence you’ve written all week.</a:t>
            </a:r>
            <a:endParaRPr lang="en-US" sz="1150" dirty="0"/>
          </a:p>
        </p:txBody>
      </p:sp>
      <p:sp>
        <p:nvSpPr>
          <p:cNvPr id="7" name="Text 5"/>
          <p:cNvSpPr/>
          <p:nvPr/>
        </p:nvSpPr>
        <p:spPr>
          <a:xfrm>
            <a:off x="365760" y="1783080"/>
            <a:ext cx="8046720" cy="292608"/>
          </a:xfrm>
          <a:prstGeom prst="rect">
            <a:avLst/>
          </a:prstGeom>
          <a:noFill/>
          <a:ln/>
        </p:spPr>
        <p:txBody>
          <a:bodyPr wrap="square" lIns="0" tIns="0" rIns="0" bIns="0" rtlCol="0" anchor="ctr"/>
          <a:lstStyle/>
          <a:p>
            <a:pPr indent="0" marL="0">
              <a:buNone/>
            </a:pPr>
            <a:r>
              <a:rPr lang="en-US" sz="1100" b="1" spc="200" kern="0" dirty="0">
                <a:solidFill>
                  <a:srgbClr val="64748B"/>
                </a:solidFill>
                <a:latin typeface="Calibri" pitchFamily="34" charset="0"/>
                <a:ea typeface="Calibri" pitchFamily="34" charset="-122"/>
                <a:cs typeface="Calibri" pitchFamily="34" charset="-120"/>
              </a:rPr>
              <a:t>👀 WATCH HOW ALEX DOES IT</a:t>
            </a:r>
            <a:endParaRPr lang="en-US" sz="1100" dirty="0"/>
          </a:p>
        </p:txBody>
      </p:sp>
      <p:sp>
        <p:nvSpPr>
          <p:cNvPr id="8" name="Shape 6"/>
          <p:cNvSpPr/>
          <p:nvPr/>
        </p:nvSpPr>
        <p:spPr>
          <a:xfrm>
            <a:off x="365760" y="2029968"/>
            <a:ext cx="4114800" cy="1051560"/>
          </a:xfrm>
          <a:prstGeom prst="roundRect">
            <a:avLst>
              <a:gd name="adj" fmla="val 8696"/>
            </a:avLst>
          </a:prstGeom>
          <a:solidFill>
            <a:srgbClr val="F8FAFC"/>
          </a:solidFill>
          <a:ln/>
          <a:effectLst>
            <a:outerShdw sx="100000" sy="100000" kx="0" ky="0" algn="bl" rotWithShape="0" blurRad="101600" dist="38100" dir="2700000">
              <a:srgbClr val="000000">
                <a:alpha val="12000"/>
              </a:srgbClr>
            </a:outerShdw>
          </a:effectLst>
        </p:spPr>
      </p:sp>
      <p:sp>
        <p:nvSpPr>
          <p:cNvPr id="9" name="Text 7"/>
          <p:cNvSpPr/>
          <p:nvPr/>
        </p:nvSpPr>
        <p:spPr>
          <a:xfrm>
            <a:off x="502920" y="2084832"/>
            <a:ext cx="3840480" cy="941832"/>
          </a:xfrm>
          <a:prstGeom prst="rect">
            <a:avLst/>
          </a:prstGeom>
          <a:noFill/>
          <a:ln/>
        </p:spPr>
        <p:txBody>
          <a:bodyPr wrap="square" lIns="0" tIns="0" rIns="0" bIns="0" rtlCol="0" anchor="t"/>
          <a:lstStyle/>
          <a:p>
            <a:pPr indent="0" marL="0">
              <a:buNone/>
            </a:pPr>
            <a:r>
              <a:rPr lang="en-US" sz="950" dirty="0">
                <a:solidFill>
                  <a:srgbClr val="1E293B"/>
                </a:solidFill>
                <a:latin typeface="Calibri" pitchFamily="34" charset="0"/>
                <a:ea typeface="Calibri" pitchFamily="34" charset="-122"/>
                <a:cs typeface="Calibri" pitchFamily="34" charset="-120"/>
              </a:rPr>
              <a:t>BEFORE Week 1 Day 1 claim: What made Bowditch extraordinary was not just his genius, but his belief that navigation was learnable.</a:t>
            </a:r>
            <a:endParaRPr lang="en-US" sz="950" dirty="0"/>
          </a:p>
        </p:txBody>
      </p:sp>
      <p:sp>
        <p:nvSpPr>
          <p:cNvPr id="10" name="Shape 8"/>
          <p:cNvSpPr/>
          <p:nvPr/>
        </p:nvSpPr>
        <p:spPr>
          <a:xfrm>
            <a:off x="4663440" y="2029968"/>
            <a:ext cx="4114800" cy="1051560"/>
          </a:xfrm>
          <a:prstGeom prst="roundRect">
            <a:avLst>
              <a:gd name="adj" fmla="val 8696"/>
            </a:avLst>
          </a:prstGeom>
          <a:solidFill>
            <a:srgbClr val="EAF6FA"/>
          </a:solidFill>
          <a:ln/>
          <a:effectLst>
            <a:outerShdw sx="100000" sy="100000" kx="0" ky="0" algn="bl" rotWithShape="0" blurRad="101600" dist="38100" dir="2700000">
              <a:srgbClr val="000000">
                <a:alpha val="12000"/>
              </a:srgbClr>
            </a:outerShdw>
          </a:effectLst>
        </p:spPr>
      </p:sp>
      <p:sp>
        <p:nvSpPr>
          <p:cNvPr id="11" name="Text 9"/>
          <p:cNvSpPr/>
          <p:nvPr/>
        </p:nvSpPr>
        <p:spPr>
          <a:xfrm>
            <a:off x="4800600" y="2084832"/>
            <a:ext cx="3840480" cy="941832"/>
          </a:xfrm>
          <a:prstGeom prst="rect">
            <a:avLst/>
          </a:prstGeom>
          <a:noFill/>
          <a:ln/>
        </p:spPr>
        <p:txBody>
          <a:bodyPr wrap="square" lIns="0" tIns="0" rIns="0" bIns="0" rtlCol="0" anchor="t"/>
          <a:lstStyle/>
          <a:p>
            <a:pPr indent="0" marL="0">
              <a:buNone/>
            </a:pPr>
            <a:r>
              <a:rPr lang="en-US" sz="950" dirty="0">
                <a:solidFill>
                  <a:srgbClr val="1E293B"/>
                </a:solidFill>
                <a:latin typeface="Calibri" pitchFamily="34" charset="0"/>
                <a:ea typeface="Calibri" pitchFamily="34" charset="-122"/>
                <a:cs typeface="Calibri" pitchFamily="34" charset="-120"/>
              </a:rPr>
              <a:t>AFTER Finalized claim after reading Chs. 1–4: What made Nathaniel Bowditch extraordinary was not his mathematical talent alone, but the fact that he treated every obstacle — poverty, indenture, self-education — as fuel, and directed everything he learned toward making navigation safer for sailors who depended on it.</a:t>
            </a:r>
            <a:endParaRPr lang="en-US" sz="950" dirty="0"/>
          </a:p>
        </p:txBody>
      </p:sp>
      <p:sp>
        <p:nvSpPr>
          <p:cNvPr id="12" name="Text 10"/>
          <p:cNvSpPr/>
          <p:nvPr/>
        </p:nvSpPr>
        <p:spPr>
          <a:xfrm>
            <a:off x="365760" y="3127248"/>
            <a:ext cx="8412480" cy="457200"/>
          </a:xfrm>
          <a:prstGeom prst="rect">
            <a:avLst/>
          </a:prstGeom>
          <a:noFill/>
          <a:ln/>
        </p:spPr>
        <p:txBody>
          <a:bodyPr wrap="square" lIns="0" tIns="0" rIns="0" bIns="0" rtlCol="0" anchor="ctr"/>
          <a:lstStyle/>
          <a:p>
            <a:pPr indent="0" marL="0">
              <a:buNone/>
            </a:pPr>
            <a:r>
              <a:rPr lang="en-US" sz="950" i="1" dirty="0">
                <a:solidFill>
                  <a:srgbClr val="64748B"/>
                </a:solidFill>
                <a:latin typeface="Calibri" pitchFamily="34" charset="0"/>
                <a:ea typeface="Calibri" pitchFamily="34" charset="-122"/>
                <a:cs typeface="Calibri" pitchFamily="34" charset="-120"/>
              </a:rPr>
              <a:t>Notice: Alex’s finalized claim is longer and more specific. Reading Chs. 1–4 gave Alex concrete details (poverty, indenture, self-education) that make the claim provable. Your claim should grow richer as you read.</a:t>
            </a:r>
            <a:endParaRPr lang="en-US" sz="950" dirty="0"/>
          </a:p>
        </p:txBody>
      </p:sp>
      <p:sp>
        <p:nvSpPr>
          <p:cNvPr id="13" name="Text 11"/>
          <p:cNvSpPr/>
          <p:nvPr/>
        </p:nvSpPr>
        <p:spPr>
          <a:xfrm>
            <a:off x="365760" y="3639312"/>
            <a:ext cx="8046720" cy="292608"/>
          </a:xfrm>
          <a:prstGeom prst="rect">
            <a:avLst/>
          </a:prstGeom>
          <a:noFill/>
          <a:ln/>
        </p:spPr>
        <p:txBody>
          <a:bodyPr wrap="square" lIns="0" tIns="0" rIns="0" bIns="0" rtlCol="0" anchor="ctr"/>
          <a:lstStyle/>
          <a:p>
            <a:pPr indent="0" marL="0">
              <a:buNone/>
            </a:pPr>
            <a:r>
              <a:rPr lang="en-US" sz="1100" b="1" spc="200" kern="0" dirty="0">
                <a:solidFill>
                  <a:srgbClr val="8B6FC0"/>
                </a:solidFill>
                <a:latin typeface="Calibri" pitchFamily="34" charset="0"/>
                <a:ea typeface="Calibri" pitchFamily="34" charset="-122"/>
                <a:cs typeface="Calibri" pitchFamily="34" charset="-120"/>
              </a:rPr>
              <a:t>🛠️ TODAY’S TOOL: CLAIM REVISION: BEFORE AND AFTER</a:t>
            </a:r>
            <a:endParaRPr lang="en-US" sz="1100" dirty="0"/>
          </a:p>
        </p:txBody>
      </p:sp>
      <p:sp>
        <p:nvSpPr>
          <p:cNvPr id="14" name="Shape 12"/>
          <p:cNvSpPr/>
          <p:nvPr/>
        </p:nvSpPr>
        <p:spPr>
          <a:xfrm>
            <a:off x="365760" y="3877056"/>
            <a:ext cx="8412480" cy="502920"/>
          </a:xfrm>
          <a:prstGeom prst="roundRect">
            <a:avLst>
              <a:gd name="adj" fmla="val 18182"/>
            </a:avLst>
          </a:prstGeom>
          <a:solidFill>
            <a:srgbClr val="F0E8FF"/>
          </a:solidFill>
          <a:ln/>
          <a:effectLst>
            <a:outerShdw sx="100000" sy="100000" kx="0" ky="0" algn="bl" rotWithShape="0" blurRad="101600" dist="38100" dir="2700000">
              <a:srgbClr val="000000">
                <a:alpha val="12000"/>
              </a:srgbClr>
            </a:outerShdw>
          </a:effectLst>
        </p:spPr>
      </p:sp>
      <p:sp>
        <p:nvSpPr>
          <p:cNvPr id="15" name="Text 13"/>
          <p:cNvSpPr/>
          <p:nvPr/>
        </p:nvSpPr>
        <p:spPr>
          <a:xfrm>
            <a:off x="548640" y="3922776"/>
            <a:ext cx="8046720" cy="411480"/>
          </a:xfrm>
          <a:prstGeom prst="rect">
            <a:avLst/>
          </a:prstGeom>
          <a:noFill/>
          <a:ln/>
        </p:spPr>
        <p:txBody>
          <a:bodyPr wrap="square" lIns="0" tIns="0" rIns="0" bIns="0" rtlCol="0" anchor="ctr"/>
          <a:lstStyle/>
          <a:p>
            <a:pPr indent="0" marL="0">
              <a:buNone/>
            </a:pPr>
            <a:r>
              <a:rPr lang="en-US" sz="1050" dirty="0">
                <a:solidFill>
                  <a:srgbClr val="1E293B"/>
                </a:solidFill>
                <a:latin typeface="Calibri" pitchFamily="34" charset="0"/>
                <a:ea typeface="Calibri" pitchFamily="34" charset="-122"/>
                <a:cs typeface="Calibri" pitchFamily="34" charset="-120"/>
              </a:rPr>
              <a:t>Write your Day 1 claim and your Day 4 version side by side. Note what changed and why.</a:t>
            </a:r>
            <a:endParaRPr lang="en-US" sz="1050" dirty="0"/>
          </a:p>
        </p:txBody>
      </p:sp>
      <p:sp>
        <p:nvSpPr>
          <p:cNvPr id="16" name="Text 14"/>
          <p:cNvSpPr/>
          <p:nvPr/>
        </p:nvSpPr>
        <p:spPr>
          <a:xfrm>
            <a:off x="365760" y="4462272"/>
            <a:ext cx="8046720" cy="292608"/>
          </a:xfrm>
          <a:prstGeom prst="rect">
            <a:avLst/>
          </a:prstGeom>
          <a:noFill/>
          <a:ln/>
        </p:spPr>
        <p:txBody>
          <a:bodyPr wrap="square" lIns="0" tIns="0" rIns="0" bIns="0" rtlCol="0" anchor="ctr"/>
          <a:lstStyle/>
          <a:p>
            <a:pPr indent="0" marL="0">
              <a:buNone/>
            </a:pPr>
            <a:r>
              <a:rPr lang="en-US" sz="1100" b="1" spc="200" kern="0" dirty="0">
                <a:solidFill>
                  <a:srgbClr val="34B76F"/>
                </a:solidFill>
                <a:latin typeface="Calibri" pitchFamily="34" charset="0"/>
                <a:ea typeface="Calibri" pitchFamily="34" charset="-122"/>
                <a:cs typeface="Calibri" pitchFamily="34" charset="-120"/>
              </a:rPr>
              <a:t>📝 NOW YOU TRY</a:t>
            </a:r>
            <a:endParaRPr lang="en-US" sz="1100" dirty="0"/>
          </a:p>
        </p:txBody>
      </p:sp>
      <p:sp>
        <p:nvSpPr>
          <p:cNvPr id="17" name="Shape 15"/>
          <p:cNvSpPr/>
          <p:nvPr/>
        </p:nvSpPr>
        <p:spPr>
          <a:xfrm>
            <a:off x="365760" y="4681728"/>
            <a:ext cx="8412480" cy="384048"/>
          </a:xfrm>
          <a:prstGeom prst="roundRect">
            <a:avLst>
              <a:gd name="adj" fmla="val 23810"/>
            </a:avLst>
          </a:prstGeom>
          <a:solidFill>
            <a:srgbClr val="FEF6E8"/>
          </a:solidFill>
          <a:ln/>
          <a:effectLst>
            <a:outerShdw sx="100000" sy="100000" kx="0" ky="0" algn="bl" rotWithShape="0" blurRad="101600" dist="38100" dir="2700000">
              <a:srgbClr val="000000">
                <a:alpha val="12000"/>
              </a:srgbClr>
            </a:outerShdw>
          </a:effectLst>
        </p:spPr>
      </p:sp>
      <p:sp>
        <p:nvSpPr>
          <p:cNvPr id="18" name="Text 16"/>
          <p:cNvSpPr/>
          <p:nvPr/>
        </p:nvSpPr>
        <p:spPr>
          <a:xfrm>
            <a:off x="548640" y="4700016"/>
            <a:ext cx="8046720" cy="347472"/>
          </a:xfrm>
          <a:prstGeom prst="rect">
            <a:avLst/>
          </a:prstGeom>
          <a:noFill/>
          <a:ln/>
        </p:spPr>
        <p:txBody>
          <a:bodyPr wrap="square" lIns="0" tIns="0" rIns="0" bIns="0" rtlCol="0" anchor="ctr"/>
          <a:lstStyle/>
          <a:p>
            <a:pPr indent="0" marL="0">
              <a:buNone/>
            </a:pPr>
            <a:r>
              <a:rPr lang="en-US" sz="1000" dirty="0">
                <a:solidFill>
                  <a:srgbClr val="1E293B"/>
                </a:solidFill>
                <a:latin typeface="Calibri" pitchFamily="34" charset="0"/>
                <a:ea typeface="Calibri" pitchFamily="34" charset="-122"/>
                <a:cs typeface="Calibri" pitchFamily="34" charset="-120"/>
              </a:rPr>
              <a:t>Write your finalized research claim after reading Chapters 1–4. This is the sentence that will anchor your entire essay.</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2026-07-13T16:49:16Z</dcterms:created>
  <dcterms:modified xsi:type="dcterms:W3CDTF">2026-07-13T16:49:16Z</dcterms:modified>
</cp:coreProperties>
</file>