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9.4: Chapter 4, "Boys Don’t Blubber". Banner quote: “Boys don’t blubber.” (— Chapter 4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When everything changes at once, what do you hold onto? Hab is gone. Prices are rising. His mother is sick. By the end of Chapter 4, Nat Bowditch has been taken out of school to work in his father’s cooperage. Today you close the week by looking back across all four chapters — and forward toward the question Nat’s story will spend a lifetime answering.
Objectives:
- 🌱 Morphology: I will explain which root built each word from our naut/nav/port family.
- 📖 Vocabulary: I will choose how to demonstrate what I know about this week’s words.
- ✏️ Grammar: I will explain why a biographer relies on appositives, and choose the version that carries more.
- 🔤 Spelling: I will challenge myself to find the word whose accent falls in a different place.
- 📖 Reading: I will explain what biography owes to fact and what it borrows from fiction, across Chapters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at the salem docks nat watched the ships that sailed for the east indies each spring
Corrected: At the Salem docks, Nat watched the ships that sailed for the East Indies each spring.
This is a different sentence from the model, but it follows the same rules. Four corrections: At starts the sentence (capital for the first word), Salem is the name of a town (proper noun), Nat is a person’s name (proper noun), and East Indies is the name of a region — both words capitalized. The words docks and ships stay lowercase — they are common nouns, not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at the salem docks nat watched the ships that sailed for the east indies each spring
Corrected: At the Salem docks, Nat watched the ships that sailed for the East Indies each spring.
This is a different sentence from the model, but it follows the same rules. Four corrections: At starts the sentence (capital for the first word), Salem is the name of a town (proper noun), Nat is a person’s name (proper noun), and East Indies is the name of a region — both words capitalized. The words docks and ships stay lowercase — they are common nouns, not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You first read this poem on Day 2. Now that you’ve read four chapters of Nat’s story — his shilling, his wharves, his arithmetic, his lost schooling — come back to it with fresh eyes.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 Detective — Explain the Connection — Explain — which root built this word?.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-port-
2. naut-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3. nav-
4.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Show What You Know — Your Choice — Choose — one way to demonstrate the words.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Choice board. Students pick one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Appositives &amp; Descriptive Phrases — Explain — which sentence carries more?.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Appositives &amp; Descriptive Phrases — Explain — which sentence carries more?.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Hab, Nat’s brother, had signed on to a ship before the indenture papers ever came.
2. Captain John Derby, a Salem sea captain, brought the news of the peace to America.
3. Salem, a harbour town that lived by its ships, had no other trade to offer a boy.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Accent &amp; Schwa in Nautical Words — Utilize — odd one out.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horizon
2. almanac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3. compass
4. meridian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Research Claim: Finalize your claim before moving to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Research Claim: Finalize your claim before moving to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9  ·  DAY 4  ·  LESSON 9.4</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4 — Boys Don’t Blubber</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“Boys don’t blubber.”</a:t>
            </a:r>
            <a:pPr indent="0" marL="0">
              <a:buNone/>
            </a:pPr>
            <a:r>
              <a:rPr lang="en-US" sz="1600" dirty="0">
                <a:solidFill>
                  <a:srgbClr val="55C8E8"/>
                </a:solidFill>
                <a:latin typeface="Calibri" pitchFamily="34" charset="0"/>
                <a:ea typeface="Calibri" pitchFamily="34" charset="-122"/>
                <a:cs typeface="Calibri" pitchFamily="34" charset="-120"/>
              </a:rPr>
              <a:t>  — — Chapter 4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OBJECTIVES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THEME QUESTION</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900"/>
              </a:spcAft>
              <a:buNone/>
            </a:pPr>
            <a:r>
              <a:rPr lang="en-US" sz="1900" b="1" dirty="0">
                <a:solidFill>
                  <a:srgbClr val="6B4FA8"/>
                </a:solidFill>
                <a:latin typeface="Calibri" pitchFamily="34" charset="0"/>
                <a:ea typeface="Calibri" pitchFamily="34" charset="-122"/>
                <a:cs typeface="Calibri" pitchFamily="34" charset="-120"/>
              </a:rPr>
              <a:t>When everything changes at once, what do you hold onto?</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Hab is gone. Prices are rising. His mother is sick. By the end of Chapter 4, Nat Bowditch has been taken out of school to work in his father’s cooperage. Today you close the week by looking back across all four chapters — and forward toward the question Nat’s story will spend a lifetime answering.</a:t>
            </a:r>
            <a:endParaRPr lang="en-US" sz="19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800"/>
              </a:spcAft>
              <a:buSzPct val="100000"/>
              <a:buChar char="●"/>
            </a:pPr>
            <a:r>
              <a:rPr lang="en-US" sz="1700" b="1" dirty="0">
                <a:solidFill>
                  <a:srgbClr val="0E1C42"/>
                </a:solidFill>
                <a:latin typeface="Calibri" pitchFamily="34" charset="0"/>
                <a:ea typeface="Calibri" pitchFamily="34" charset="-122"/>
                <a:cs typeface="Calibri" pitchFamily="34" charset="-120"/>
              </a:rPr>
              <a:t>🌱 Morphology: </a:t>
            </a:r>
            <a:pPr indent="0" marL="0">
              <a:spcAft>
                <a:spcPts val="800"/>
              </a:spcAft>
              <a:buNone/>
            </a:pPr>
            <a:r>
              <a:rPr lang="en-US" sz="1700" dirty="0">
                <a:solidFill>
                  <a:srgbClr val="1E293B"/>
                </a:solidFill>
                <a:latin typeface="Calibri" pitchFamily="34" charset="0"/>
                <a:ea typeface="Calibri" pitchFamily="34" charset="-122"/>
                <a:cs typeface="Calibri" pitchFamily="34" charset="-120"/>
              </a:rPr>
              <a:t>I will explain which root built each word from our naut/nav/port family.</a:t>
            </a:r>
            <a:endParaRPr lang="en-US" sz="1700" dirty="0"/>
          </a:p>
          <a:p>
            <a:pPr marL="342900" indent="-342900">
              <a:spcAft>
                <a:spcPts val="800"/>
              </a:spcAft>
              <a:buSzPct val="100000"/>
              <a:buChar char="●"/>
            </a:pPr>
            <a:r>
              <a:rPr lang="en-US" sz="1700" b="1" dirty="0">
                <a:solidFill>
                  <a:srgbClr val="0E1C42"/>
                </a:solidFill>
                <a:latin typeface="Calibri" pitchFamily="34" charset="0"/>
                <a:ea typeface="Calibri" pitchFamily="34" charset="-122"/>
                <a:cs typeface="Calibri" pitchFamily="34" charset="-120"/>
              </a:rPr>
              <a:t>📖 Vocabulary: </a:t>
            </a:r>
            <a:pPr indent="0" marL="0">
              <a:spcAft>
                <a:spcPts val="800"/>
              </a:spcAft>
              <a:buNone/>
            </a:pPr>
            <a:r>
              <a:rPr lang="en-US" sz="1700" dirty="0">
                <a:solidFill>
                  <a:srgbClr val="1E293B"/>
                </a:solidFill>
                <a:latin typeface="Calibri" pitchFamily="34" charset="0"/>
                <a:ea typeface="Calibri" pitchFamily="34" charset="-122"/>
                <a:cs typeface="Calibri" pitchFamily="34" charset="-120"/>
              </a:rPr>
              <a:t>I will choose how to demonstrate what I know about this week’s words.</a:t>
            </a:r>
            <a:endParaRPr lang="en-US" sz="1700" dirty="0"/>
          </a:p>
          <a:p>
            <a:pPr marL="342900" indent="-342900">
              <a:spcAft>
                <a:spcPts val="800"/>
              </a:spcAft>
              <a:buSzPct val="100000"/>
              <a:buChar char="●"/>
            </a:pPr>
            <a:r>
              <a:rPr lang="en-US" sz="1700" b="1" dirty="0">
                <a:solidFill>
                  <a:srgbClr val="0E1C42"/>
                </a:solidFill>
                <a:latin typeface="Calibri" pitchFamily="34" charset="0"/>
                <a:ea typeface="Calibri" pitchFamily="34" charset="-122"/>
                <a:cs typeface="Calibri" pitchFamily="34" charset="-120"/>
              </a:rPr>
              <a:t>✏️ Grammar: </a:t>
            </a:r>
            <a:pPr indent="0" marL="0">
              <a:spcAft>
                <a:spcPts val="800"/>
              </a:spcAft>
              <a:buNone/>
            </a:pPr>
            <a:r>
              <a:rPr lang="en-US" sz="1700" dirty="0">
                <a:solidFill>
                  <a:srgbClr val="1E293B"/>
                </a:solidFill>
                <a:latin typeface="Calibri" pitchFamily="34" charset="0"/>
                <a:ea typeface="Calibri" pitchFamily="34" charset="-122"/>
                <a:cs typeface="Calibri" pitchFamily="34" charset="-120"/>
              </a:rPr>
              <a:t>I will explain why a biographer relies on appositives, and choose the version that carries more.</a:t>
            </a:r>
            <a:endParaRPr lang="en-US" sz="1700" dirty="0"/>
          </a:p>
          <a:p>
            <a:pPr marL="342900" indent="-342900">
              <a:spcAft>
                <a:spcPts val="800"/>
              </a:spcAft>
              <a:buSzPct val="100000"/>
              <a:buChar char="●"/>
            </a:pPr>
            <a:r>
              <a:rPr lang="en-US" sz="1700" b="1" dirty="0">
                <a:solidFill>
                  <a:srgbClr val="0E1C42"/>
                </a:solidFill>
                <a:latin typeface="Calibri" pitchFamily="34" charset="0"/>
                <a:ea typeface="Calibri" pitchFamily="34" charset="-122"/>
                <a:cs typeface="Calibri" pitchFamily="34" charset="-120"/>
              </a:rPr>
              <a:t>🔤 Spelling: </a:t>
            </a:r>
            <a:pPr indent="0" marL="0">
              <a:spcAft>
                <a:spcPts val="800"/>
              </a:spcAft>
              <a:buNone/>
            </a:pPr>
            <a:r>
              <a:rPr lang="en-US" sz="1700" dirty="0">
                <a:solidFill>
                  <a:srgbClr val="1E293B"/>
                </a:solidFill>
                <a:latin typeface="Calibri" pitchFamily="34" charset="0"/>
                <a:ea typeface="Calibri" pitchFamily="34" charset="-122"/>
                <a:cs typeface="Calibri" pitchFamily="34" charset="-120"/>
              </a:rPr>
              <a:t>I will challenge myself to find the word whose accent falls in a different place.</a:t>
            </a:r>
            <a:endParaRPr lang="en-US" sz="1700" dirty="0"/>
          </a:p>
          <a:p>
            <a:pPr marL="342900" indent="-342900">
              <a:spcAft>
                <a:spcPts val="800"/>
              </a:spcAft>
              <a:buSzPct val="100000"/>
              <a:buChar char="●"/>
            </a:pPr>
            <a:r>
              <a:rPr lang="en-US" sz="1700" b="1" dirty="0">
                <a:solidFill>
                  <a:srgbClr val="0E1C42"/>
                </a:solidFill>
                <a:latin typeface="Calibri" pitchFamily="34" charset="0"/>
                <a:ea typeface="Calibri" pitchFamily="34" charset="-122"/>
                <a:cs typeface="Calibri" pitchFamily="34" charset="-120"/>
              </a:rPr>
              <a:t>📖 Reading: </a:t>
            </a:r>
            <a:pPr indent="0" marL="0">
              <a:spcAft>
                <a:spcPts val="800"/>
              </a:spcAft>
              <a:buNone/>
            </a:pPr>
            <a:r>
              <a:rPr lang="en-US" sz="1700" dirty="0">
                <a:solidFill>
                  <a:srgbClr val="1E293B"/>
                </a:solidFill>
                <a:latin typeface="Calibri" pitchFamily="34" charset="0"/>
                <a:ea typeface="Calibri" pitchFamily="34" charset="-122"/>
                <a:cs typeface="Calibri" pitchFamily="34" charset="-120"/>
              </a:rPr>
              <a:t>I will explain what biography owes to fact and what it borrows from fiction, across Chapters 1–4.</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SYNTHESIZE THE WEEK — BIOGRAPHY AS LITERATURE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Now put the week together. Across Chapters 1–4 you have met a real boy whose story is being shaped by a writer. Say what you have learned about how biography works: what it owes to the facts, and what it borrows from fiction to make a life readable.</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 Remember it happened: This was a real life. Ask what Latham could actually have known, and where she must be filling in.</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 Watch for story shape: A biography still uses scenes, dialogue and suspense. Notice where Latham writes like a novelist.</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 Separate record from craft: Ask which details are the historical record, and which are the author’s choices about how to tell it.</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When school started again, </a:t>
            </a:r>
            <a:pPr indent="0" marL="0">
              <a:buNone/>
            </a:pPr>
            <a:r>
              <a:rPr lang="en-US" sz="2600" b="1" u="sng" dirty="0">
                <a:solidFill>
                  <a:srgbClr val="1E8E52"/>
                </a:solidFill>
                <a:latin typeface="Calibri" pitchFamily="34" charset="0"/>
                <a:ea typeface="Calibri" pitchFamily="34" charset="-122"/>
                <a:cs typeface="Calibri" pitchFamily="34" charset="-120"/>
              </a:rPr>
              <a:t>Nathaniel</a:t>
            </a:r>
            <a:pPr indent="0" marL="0">
              <a:buNone/>
            </a:pPr>
            <a:r>
              <a:rPr lang="en-US" sz="2600" dirty="0">
                <a:solidFill>
                  <a:srgbClr val="1E293B"/>
                </a:solidFill>
                <a:latin typeface="Calibri" pitchFamily="34" charset="0"/>
                <a:ea typeface="Calibri" pitchFamily="34" charset="-122"/>
                <a:cs typeface="Calibri" pitchFamily="34" charset="-120"/>
              </a:rPr>
              <a:t> had to mind the shop while </a:t>
            </a:r>
            <a:pPr indent="0" marL="0">
              <a:buNone/>
            </a:pPr>
            <a:r>
              <a:rPr lang="en-US" sz="2600" b="1" u="sng" dirty="0">
                <a:solidFill>
                  <a:srgbClr val="1E8E52"/>
                </a:solidFill>
                <a:latin typeface="Calibri" pitchFamily="34" charset="0"/>
                <a:ea typeface="Calibri" pitchFamily="34" charset="-122"/>
                <a:cs typeface="Calibri" pitchFamily="34" charset="-120"/>
              </a:rPr>
              <a:t>Father</a:t>
            </a:r>
            <a:pPr indent="0" marL="0">
              <a:buNone/>
            </a:pPr>
            <a:r>
              <a:rPr lang="en-US" sz="2600" dirty="0">
                <a:solidFill>
                  <a:srgbClr val="1E293B"/>
                </a:solidFill>
                <a:latin typeface="Calibri" pitchFamily="34" charset="0"/>
                <a:ea typeface="Calibri" pitchFamily="34" charset="-122"/>
                <a:cs typeface="Calibri" pitchFamily="34" charset="-120"/>
              </a:rPr>
              <a:t> went to </a:t>
            </a:r>
            <a:pPr indent="0" marL="0">
              <a:buNone/>
            </a:pPr>
            <a:r>
              <a:rPr lang="en-US" sz="2600" b="1" u="sng" dirty="0">
                <a:solidFill>
                  <a:srgbClr val="1E8E52"/>
                </a:solidFill>
                <a:latin typeface="Calibri" pitchFamily="34" charset="0"/>
                <a:ea typeface="Calibri" pitchFamily="34" charset="-122"/>
                <a:cs typeface="Calibri" pitchFamily="34" charset="-120"/>
              </a:rPr>
              <a:t>Beverly</a:t>
            </a:r>
            <a:pPr indent="0" marL="0">
              <a:buNone/>
            </a:pPr>
            <a:r>
              <a:rPr lang="en-US" sz="2600" dirty="0">
                <a:solidFill>
                  <a:srgbClr val="1E293B"/>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Nathaniel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Nathaniel is a person's given name — a proper noun — so it always starts with a capital letter.</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Father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Father is capitalized here because Nat uses it as a name, the way you might say Dad. If it said his father, it would stay lowercase.</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Beverly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Beverly is the name of a town across the water from Salem — a proper noun — so it gets a capital letter.</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at the salem docks nat watched the ships that sailed for the east indies each spring</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at the salem docks nat watched the ships that sailed for the east indies each spring</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At the Salem docks, Nat watched the ships that sailed for the East Indies each spring.</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400" i="1" dirty="0">
                <a:solidFill>
                  <a:srgbClr val="475569"/>
                </a:solidFill>
                <a:latin typeface="Calibri" pitchFamily="34" charset="0"/>
                <a:ea typeface="Calibri" pitchFamily="34" charset="-122"/>
                <a:cs typeface="Calibri" pitchFamily="34" charset="-120"/>
              </a:rPr>
              <a:t>This is a different sentence from the model, but it follows the same rules. Four corrections: At starts the sentence (capital for the first word), Salem is the name of a town (proper noun), Nat is a person’s name (proper noun), and East Indies is the name of a region — both words capitalized. The words docks and ships stay lowercase — they are common nouns, not names.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THERE IS NO FRIGATE LIKE A BOOK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by Emily Dickinson (c. 1873)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1700" i="1" dirty="0">
                <a:solidFill>
                  <a:srgbClr val="1E293B"/>
                </a:solidFill>
                <a:latin typeface="Georgia" pitchFamily="34" charset="0"/>
                <a:ea typeface="Georgia" pitchFamily="34" charset="-122"/>
                <a:cs typeface="Georgia" pitchFamily="34" charset="-120"/>
              </a:rPr>
              <a:t>There is no Frigate like a Book</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To take us Lands away,</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Nor any Coursers like a Page</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Of prancing Poetry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This Traverse may the poorest take</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Without oppress of Toll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How frugal is the Chariot</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That bears the Human Soul.</a:t>
            </a:r>
            <a:endParaRPr lang="en-US" sz="17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900"/>
              </a:spcAft>
              <a:buNone/>
            </a:pPr>
            <a:r>
              <a:rPr lang="en-US" sz="2000" dirty="0">
                <a:solidFill>
                  <a:srgbClr val="1E293B"/>
                </a:solidFill>
                <a:latin typeface="Calibri" pitchFamily="34" charset="0"/>
                <a:ea typeface="Calibri" pitchFamily="34" charset="-122"/>
                <a:cs typeface="Calibri" pitchFamily="34" charset="-120"/>
              </a:rPr>
              <a:t>Dickinson chose grand, formal words: frigate, coursers, traverse, chariot. She could have written boat, horses, trip, cart — but she didn’t. Why do you think she chose those bigger words? And after four chapters with Nat — his harbor, his losses, his lost schooling — does this poem feel different to you now than it did on Day 2?</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600" dirty="0">
                <a:solidFill>
                  <a:srgbClr val="1E293B"/>
                </a:solidFill>
                <a:latin typeface="Calibri" pitchFamily="34" charset="0"/>
                <a:ea typeface="Calibri" pitchFamily="34" charset="-122"/>
                <a:cs typeface="Calibri" pitchFamily="34" charset="-120"/>
              </a:rPr>
              <a:t>When Father takes Nat out of school, Nat doesn't cry. Is his silence a sign of strength, or is he holding in something that will need to come out someday? Defend your answer with evidence from Chapter 4. Then answer someone who disagrees.</a:t>
            </a:r>
            <a:endParaRPr lang="en-US" sz="26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When Father takes Nat out of school, Nat doesn't cry. Is his silence a sign of strength, or is he holding in something that will need to come out someday? Defend your answer with evidence from Chapter 4. Then answer someone who disagrees.</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WHICH ROOT BUILT THIS WORD?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 Detective — Explain the Connection</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Before you start: predict what the shared root has to do with, then check.</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 The Roots at a Glance</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naut- (Greek) — sailor, sea | nav- (Latin) — ship, guide | -port- (Latin) — carry</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These three roots show up in dozens of English words. Once you know them, you can crack open an unfamiliar word and find its meaning hiding inside.</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Each word below contains one of the three roots. Click the root that built the word.</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 You can read a word’s DNA now. These three roots will keep showing up — in this book and far beyond it.</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WHICH ROOT BUILT THIS WORD?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 Detective — Explain the Connection (1/2)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transportation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naut-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-port-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nautical</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naut-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-port-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WHICH ROOT BUILT THIS WORD?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 Detective — Explain the Connection (1/2)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transportation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naut-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-port-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nautical</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naut-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-port-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WHICH ROOT BUILT THIS WORD?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 Detective — Explain the Connection (2/2)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navigate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naut-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-port-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portable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naut-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-port-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WHICH ROOT BUILT THIS WORD?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 Detective — Explain the Connection (2/2)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navigate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naut-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nav-</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-port-</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portable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naut-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-port-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Morphology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Pick two words from the game above. For each word, explain: (1) which root is inside it (naut-, nav-, or -port-), (2) what that root means, and (3) how the root gives the whole word its meaning. Then name one new word you know that contains one of these roots — explain the connection.</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Explain two words from the game and name one new word with the same roots.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CHOOSE — ONE WAY TO DEMONSTRATE THE WORDS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Show What You Know — Your Choice</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This week’s words describe the world Nat moves through: privateer, chandlery, wharf, cooperage, expectation, indenture. Pick one of the six tasks below and write your response in the journal space. This is your Word Study Show What You Know for the week.</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CHOOSE ONE WAY TO SHOW WHAT YOU KNOW</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Show What You Know — Your Choice</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5501488" cy="1508760"/>
          </a:xfrm>
          <a:prstGeom prst="roundRect">
            <a:avLst>
              <a:gd name="adj" fmla="val 4848"/>
            </a:avLst>
          </a:prstGeom>
          <a:solidFill>
            <a:srgbClr val="F8FAFC"/>
          </a:solidFill>
          <a:ln w="15875">
            <a:solidFill>
              <a:srgbClr val="CBD5E1"/>
            </a:solidFill>
            <a:prstDash val="solid"/>
          </a:ln>
        </p:spPr>
      </p:sp>
      <p:sp>
        <p:nvSpPr>
          <p:cNvPr id="7" name="Text 5"/>
          <p:cNvSpPr/>
          <p:nvPr/>
        </p:nvSpPr>
        <p:spPr>
          <a:xfrm>
            <a:off x="685800" y="1627632"/>
            <a:ext cx="5135728" cy="136245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1: Use It in Sentences</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Choose one word. Write 2 original sentences that show its meaning clearly — not just a definition.</a:t>
            </a:r>
            <a:endParaRPr lang="en-US" sz="2100" dirty="0"/>
          </a:p>
        </p:txBody>
      </p:sp>
      <p:sp>
        <p:nvSpPr>
          <p:cNvPr id="8" name="Shape 6"/>
          <p:cNvSpPr/>
          <p:nvPr/>
        </p:nvSpPr>
        <p:spPr>
          <a:xfrm>
            <a:off x="6187288" y="1554480"/>
            <a:ext cx="5501488" cy="1508760"/>
          </a:xfrm>
          <a:prstGeom prst="roundRect">
            <a:avLst>
              <a:gd name="adj" fmla="val 4848"/>
            </a:avLst>
          </a:prstGeom>
          <a:solidFill>
            <a:srgbClr val="F8FAFC"/>
          </a:solidFill>
          <a:ln w="15875">
            <a:solidFill>
              <a:srgbClr val="CBD5E1"/>
            </a:solidFill>
            <a:prstDash val="solid"/>
          </a:ln>
        </p:spPr>
      </p:sp>
      <p:sp>
        <p:nvSpPr>
          <p:cNvPr id="9" name="Text 7"/>
          <p:cNvSpPr/>
          <p:nvPr/>
        </p:nvSpPr>
        <p:spPr>
          <a:xfrm>
            <a:off x="6370168" y="1627632"/>
            <a:ext cx="5135728" cy="136245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2: Find It in the Reading</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Name the word. Quote or describe the passage where you found it this week. Explain why it mattered there.</a:t>
            </a:r>
            <a:endParaRPr lang="en-US" sz="2100" dirty="0"/>
          </a:p>
        </p:txBody>
      </p:sp>
      <p:sp>
        <p:nvSpPr>
          <p:cNvPr id="10" name="Shape 8"/>
          <p:cNvSpPr/>
          <p:nvPr/>
        </p:nvSpPr>
        <p:spPr>
          <a:xfrm>
            <a:off x="502920" y="3246120"/>
            <a:ext cx="5501488" cy="1508760"/>
          </a:xfrm>
          <a:prstGeom prst="roundRect">
            <a:avLst>
              <a:gd name="adj" fmla="val 4848"/>
            </a:avLst>
          </a:prstGeom>
          <a:solidFill>
            <a:srgbClr val="F8FAFC"/>
          </a:solidFill>
          <a:ln w="15875">
            <a:solidFill>
              <a:srgbClr val="CBD5E1"/>
            </a:solidFill>
            <a:prstDash val="solid"/>
          </a:ln>
        </p:spPr>
      </p:sp>
      <p:sp>
        <p:nvSpPr>
          <p:cNvPr id="11" name="Text 9"/>
          <p:cNvSpPr/>
          <p:nvPr/>
        </p:nvSpPr>
        <p:spPr>
          <a:xfrm>
            <a:off x="685800" y="3319272"/>
            <a:ext cx="5135728" cy="136245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3: Connect to a Root</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Pick a word that has a root, prefix, or suffix you recognize. Explain the connection and what it tells you about meaning.</a:t>
            </a:r>
            <a:endParaRPr lang="en-US" sz="2100" dirty="0"/>
          </a:p>
        </p:txBody>
      </p:sp>
      <p:sp>
        <p:nvSpPr>
          <p:cNvPr id="12" name="Shape 10"/>
          <p:cNvSpPr/>
          <p:nvPr/>
        </p:nvSpPr>
        <p:spPr>
          <a:xfrm>
            <a:off x="6187288" y="3246120"/>
            <a:ext cx="5501488" cy="1508760"/>
          </a:xfrm>
          <a:prstGeom prst="roundRect">
            <a:avLst>
              <a:gd name="adj" fmla="val 4848"/>
            </a:avLst>
          </a:prstGeom>
          <a:solidFill>
            <a:srgbClr val="F8FAFC"/>
          </a:solidFill>
          <a:ln w="15875">
            <a:solidFill>
              <a:srgbClr val="CBD5E1"/>
            </a:solidFill>
            <a:prstDash val="solid"/>
          </a:ln>
        </p:spPr>
      </p:sp>
      <p:sp>
        <p:nvSpPr>
          <p:cNvPr id="13" name="Text 11"/>
          <p:cNvSpPr/>
          <p:nvPr/>
        </p:nvSpPr>
        <p:spPr>
          <a:xfrm>
            <a:off x="6370168" y="3319272"/>
            <a:ext cx="5135728" cy="136245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4: Sort and Explain</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Sort all six words into 2 or 3 groups of your own making. Name each group and explain why those words belong together.</a:t>
            </a:r>
            <a:endParaRPr lang="en-US" sz="2100" dirty="0"/>
          </a:p>
        </p:txBody>
      </p:sp>
      <p:sp>
        <p:nvSpPr>
          <p:cNvPr id="14" name="Shape 12"/>
          <p:cNvSpPr/>
          <p:nvPr/>
        </p:nvSpPr>
        <p:spPr>
          <a:xfrm>
            <a:off x="502920" y="4937760"/>
            <a:ext cx="5501488" cy="1508760"/>
          </a:xfrm>
          <a:prstGeom prst="roundRect">
            <a:avLst>
              <a:gd name="adj" fmla="val 4848"/>
            </a:avLst>
          </a:prstGeom>
          <a:solidFill>
            <a:srgbClr val="F8FAFC"/>
          </a:solidFill>
          <a:ln w="15875">
            <a:solidFill>
              <a:srgbClr val="CBD5E1"/>
            </a:solidFill>
            <a:prstDash val="solid"/>
          </a:ln>
        </p:spPr>
      </p:sp>
      <p:sp>
        <p:nvSpPr>
          <p:cNvPr id="15" name="Text 13"/>
          <p:cNvSpPr/>
          <p:nvPr/>
        </p:nvSpPr>
        <p:spPr>
          <a:xfrm>
            <a:off x="685800" y="5010912"/>
            <a:ext cx="5135728" cy="136245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5: Teach It</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Explain one word as if you’re talking to a younger student who has never heard it. Make it clear and real.</a:t>
            </a:r>
            <a:endParaRPr lang="en-US" sz="2100" dirty="0"/>
          </a:p>
        </p:txBody>
      </p:sp>
      <p:sp>
        <p:nvSpPr>
          <p:cNvPr id="16" name="Shape 14"/>
          <p:cNvSpPr/>
          <p:nvPr/>
        </p:nvSpPr>
        <p:spPr>
          <a:xfrm>
            <a:off x="6187288" y="4937760"/>
            <a:ext cx="5501488" cy="1508760"/>
          </a:xfrm>
          <a:prstGeom prst="roundRect">
            <a:avLst>
              <a:gd name="adj" fmla="val 4848"/>
            </a:avLst>
          </a:prstGeom>
          <a:solidFill>
            <a:srgbClr val="F8FAFC"/>
          </a:solidFill>
          <a:ln w="15875">
            <a:solidFill>
              <a:srgbClr val="CBD5E1"/>
            </a:solidFill>
            <a:prstDash val="solid"/>
          </a:ln>
        </p:spPr>
      </p:sp>
      <p:sp>
        <p:nvSpPr>
          <p:cNvPr id="17" name="Text 15"/>
          <p:cNvSpPr/>
          <p:nvPr/>
        </p:nvSpPr>
        <p:spPr>
          <a:xfrm>
            <a:off x="6370168" y="5010912"/>
            <a:ext cx="5135728" cy="1362456"/>
          </a:xfrm>
          <a:prstGeom prst="rect">
            <a:avLst/>
          </a:prstGeom>
          <a:noFill/>
          <a:ln/>
        </p:spPr>
        <p:txBody>
          <a:bodyPr wrap="square" lIns="0" tIns="0" rIns="0" bIns="0" rtlCol="0" anchor="ctr">
            <a:normAutofit/>
          </a:bodyPr>
          <a:lstStyle/>
          <a:p>
            <a:pPr indent="0" marL="0">
              <a:buNone/>
            </a:pPr>
            <a:r>
              <a:rPr lang="en-US" sz="2100" b="1" dirty="0">
                <a:solidFill>
                  <a:srgbClr val="0E1C42"/>
                </a:solidFill>
                <a:latin typeface="Calibri" pitchFamily="34" charset="0"/>
                <a:ea typeface="Calibri" pitchFamily="34" charset="-122"/>
                <a:cs typeface="Calibri" pitchFamily="34" charset="-120"/>
              </a:rPr>
              <a:t>Option 6: Two Words in a Response</a:t>
            </a:r>
            <a:endParaRPr lang="en-US" sz="2100" dirty="0"/>
          </a:p>
          <a:p>
            <a:pPr indent="0" marL="0">
              <a:buNone/>
            </a:pPr>
            <a:r>
              <a:rPr lang="en-US" sz="1800" dirty="0">
                <a:solidFill>
                  <a:srgbClr val="1E293B"/>
                </a:solidFill>
                <a:latin typeface="Calibri" pitchFamily="34" charset="0"/>
                <a:ea typeface="Calibri" pitchFamily="34" charset="-122"/>
                <a:cs typeface="Calibri" pitchFamily="34" charset="-120"/>
              </a:rPr>
              <a:t>Write 3–4 sentences about something that happened this week in the reading. Use two vocabulary words accurately in your response.</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Vocabulary (Week 9)</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Click the option you chose above, then write your response here. Be specific — show that you understand the word, not just its definition.</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Select an option above, then write your response below.</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WHICH SENTENCE CARRIES MORE?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Before you start: find the extra piece and the punctuation holding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the Commas Actually Do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commas tell the reader: this part can be lifted out. That is why a missing comma confuses rather than merely looks untidy.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Nat’s brother Hab went to sea. — no commas: he had more than one brother, and this is the one named Hab.</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Nat’s brother, Hab, went to sea. — commas: Hab is his only brother.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Two commas change the fact the sentence states. That is how much work the punctuation is doing.</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WHICH SENTENCE CARRIES MORE?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Last day with appositives. Now explain why a biographer reaches for them constantly. Latham has four chapters to introduce a family, a town, a trade and a boy’s entire education. She cannot spare a paragraph for every person — so she hands the reader each fact in passing and keeps moving.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You can see what an appositive buys a writer now — a whole sentence saved, and nothing lost.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WHICH SENTENCE CARRIES MORE?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Pair 1</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Hab, Nat’s brother, had signed on to a ship before the indenture papers ever came.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Hab had signed on to a ship before the indenture papers ever came. Hab was Nat’s brother.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Pair 2</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Captain John Derby brought the news of the peace to America. Captain John Derby was a Salem sea captain.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Captain John Derby, a Salem sea captain, brought the news of the peace to America.</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Pair 3</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Salem, a harbour town that lived by its ships, had no other trade to offer a boy.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Salem had no other trade to offer a boy, and Salem was a harbour town that lived by its ships.</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EXPLAIN — WHICH SENTENCE CARRIES MORE?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Appositives &amp; Descriptive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Pair 1</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Hab, Nat’s brother, had signed on to a ship before the indenture papers ever came.</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Hab had signed on to a ship before the indenture papers ever came. Hab was Nat’s brother.</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Pair 2</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Captain John Derby brought the news of the peace to America. Captain John Derby was a Salem sea captain.</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Captain John Derby, a Salem sea captain, brought the news of the peace to America.</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Pair 3</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Salem, a harbour town that lived by its ships, had no other trade to offer a boy.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Salem had no other trade to offer a boy, and Salem was a harbour town that lived by its ships.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Pick one of the pairs above. Explain what the appositive version does that the two-sentence version does not — what the commas tell the reader, and what Latham gains by writing it that way with four chapters to cover a whole childhood. Then write one sentence of your own about Chapter 4 that uses an appositive.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Name the pair, explain what the appositive does, then write your own sentence using one.</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UTILIZE — ODD ONE OUT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find the lazy beat and notice its vowel is not what it looks like.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Each group below has three words. Two of them put the accent on the same syllable. One does not. Say each word aloud with the stress exaggerated, then pick the odd one out and explain what gives it away.</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Pattern master. You can look at a word and know which vowel rule built it — that’s a skill you’ll use for life.</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UTILIZE — ODD ONE OUT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 (1/2)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Group 1 — which one breaks the pattern?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mariner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latitude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horizon</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Group 2 — which one breaks the pattern?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equator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almanac</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barometer</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UTILIZE — ODD ONE OUT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 (1/2)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Group 1 — which one breaks the pattern?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mariner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latitude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horizon</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Group 2 — which one breaks the pattern?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equator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almanac</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barometer</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UTILIZE — ODD ONE OUT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 (2/2)</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Group 3 — which one breaks the pattern?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navigation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calculation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compass</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Group 4 — which one breaks the pattern?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harbor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anchor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meridian</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UTILIZE — ODD ONE OUT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Accent &amp; Schwa in Nautical Words (2/2)</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2281428"/>
          </a:xfrm>
          <a:prstGeom prst="roundRect">
            <a:avLst>
              <a:gd name="adj" fmla="val 3206"/>
            </a:avLst>
          </a:prstGeom>
          <a:solidFill>
            <a:srgbClr val="F8FAFC"/>
          </a:solidFill>
          <a:ln w="15875">
            <a:solidFill>
              <a:srgbClr val="CBD5E1"/>
            </a:solidFill>
            <a:prstDash val="solid"/>
          </a:ln>
        </p:spPr>
      </p:sp>
      <p:sp>
        <p:nvSpPr>
          <p:cNvPr id="9" name="Text 7"/>
          <p:cNvSpPr/>
          <p:nvPr/>
        </p:nvSpPr>
        <p:spPr>
          <a:xfrm>
            <a:off x="731520" y="162763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Group 3 — which one breaks the pattern?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navigation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calculation</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compass</a:t>
            </a:r>
            <a:endParaRPr lang="en-US" sz="2000" dirty="0"/>
          </a:p>
        </p:txBody>
      </p:sp>
      <p:sp>
        <p:nvSpPr>
          <p:cNvPr id="10" name="Shape 8"/>
          <p:cNvSpPr/>
          <p:nvPr/>
        </p:nvSpPr>
        <p:spPr>
          <a:xfrm>
            <a:off x="502920" y="4000500"/>
            <a:ext cx="11185855" cy="2281428"/>
          </a:xfrm>
          <a:prstGeom prst="roundRect">
            <a:avLst>
              <a:gd name="adj" fmla="val 3206"/>
            </a:avLst>
          </a:prstGeom>
          <a:solidFill>
            <a:srgbClr val="F8FAFC"/>
          </a:solidFill>
          <a:ln w="15875">
            <a:solidFill>
              <a:srgbClr val="CBD5E1"/>
            </a:solidFill>
            <a:prstDash val="solid"/>
          </a:ln>
        </p:spPr>
      </p:sp>
      <p:sp>
        <p:nvSpPr>
          <p:cNvPr id="11" name="Text 9"/>
          <p:cNvSpPr/>
          <p:nvPr/>
        </p:nvSpPr>
        <p:spPr>
          <a:xfrm>
            <a:off x="731520" y="4073652"/>
            <a:ext cx="10728655" cy="213512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4. Group 4 — which one breaks the pattern?</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harbor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anchor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meridian</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4 — “BOYS DON’T BLUBBER”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Chapter 4 — Boys Don’t Blubber</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Hab is gone. The war ends and prices climb. Nat outgrows his coat and watches the family struggle. Then Father takes him out of school to work in the cooperage. That night, Mother shows him the stars. He doesn’t cry. Boys don’t blubber.</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4</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300" b="1" dirty="0">
                <a:solidFill>
                  <a:srgbClr val="0E1C42"/>
                </a:solidFill>
                <a:latin typeface="Calibri" pitchFamily="34" charset="0"/>
                <a:ea typeface="Calibri" pitchFamily="34" charset="-122"/>
                <a:cs typeface="Calibri" pitchFamily="34" charset="-120"/>
              </a:rPr>
              <a:t>Pause &amp; Think — After Hab Leaves: </a:t>
            </a:r>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Hab signs on with a ship and leaves. In just a few pages, Nat has lost his closest companion on top of everything else. How does losing Hab feel different from the other losses Nat has faced this week — the shilling, the expectation slip, Tom Perry? What does this loss take that the others didn’t?</a:t>
            </a:r>
            <a:endParaRPr lang="en-US" sz="2300" dirty="0"/>
          </a:p>
          <a:p>
            <a:pPr indent="0" marL="0">
              <a:spcAft>
                <a:spcPts val="1000"/>
              </a:spcAft>
              <a:buNone/>
            </a:pPr>
            <a:r>
              <a:rPr lang="en-US" sz="2300" b="1" dirty="0">
                <a:solidFill>
                  <a:srgbClr val="0E1C42"/>
                </a:solidFill>
                <a:latin typeface="Calibri" pitchFamily="34" charset="0"/>
                <a:ea typeface="Calibri" pitchFamily="34" charset="-122"/>
                <a:cs typeface="Calibri" pitchFamily="34" charset="-120"/>
              </a:rPr>
              <a:t>Pause &amp; Think — After Father Takes Nat Out of School: </a:t>
            </a:r>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“No more school! … Boys don’t blubber. He must remember that.” Nat doesn’t cry when Father takes him out of school. Who first said those words to Nat, and what do they mean to him tonight? Is Nat’s silence a sign of strength — or is he holding something in that needs to come out someday?</a:t>
            </a:r>
            <a:endParaRPr lang="en-US" sz="2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After Hab leaves and the war ends, prices keep rising and the family struggles. What does Father ask of Nat at the end of the chapter — and why do you think Nat goes along with it? What does it cost Nat, beyond just his time?</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The chapter is called “Boys Don’t Blubber.” Who says this phrase first, and what do you think it means when Nat repeats it to himself after leaving school? Does the phrase sound like something to be proud of — or does it make you feel something else?</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 Looking Back Across the Week. Think about all four chapters: from Salem harbor in Chapter 1 to the cooperage in Chapter 4. Nat faced one loss after another. What quality in him appears again and again, no matter what he faces? Use at least two examples from different chapters to support your thinking.</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RESEARCH CLAIM · FINALIZE YOUR CLAIM BEFORE MOVING TO PLANNING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9 · RESEARCH CLAIM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After a week of reading and testing, it’s time to write your FINAL version of the claim. This goes at the end of your introduction. It should be the clearest, most specific sentence you’ve written all week.</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compares the Week 1 claim with the Week 1 Day 4 finalized version. BEFORE Week 1 Day 1 claim: What made Bowditch extraordinary was not just his genius, but his belief that navigation was learnable. AFTER Finalized claim after reading Chs. 1–4: What made Nathaniel Bowditch extraordinary was not his mathematical talent alone, but the fact that he treated every obstacle — poverty, lost schooling, a teacher who doubted him — as fuel, and directed everything he learned toward making navigation safer for sailors who depended on it. Notice: Alex’s finalized claim is longer and more specific. Reading Chs. 1–4 gave Alex concrete details (poverty, losing his schooling, his love of arithmetic) that make the claim provable. Your claim should grow richer as you read.</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RESEARCH CLAIM · FINALIZE YOUR CLAIM BEFORE MOVING TO PLANNING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9 · RESEARCH CLAIM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Claim Revision: Before and After: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Write your Day 1 claim and your Day 4 version side by side. Note what changed and why. Alex’s example (filled): Day 1 claim What made Bowditch extraordinary was not just his genius, but his belief that navigation was learnable. Day 4 final claim What made Bowditch extraordinary was not his talent alone, but the way he turned every obstacle into fuel and directed it all toward making navigation accessible. What changed: Added specifics from reading (obstacles, lost schooling, fuel metaphor). Cut the vague word “just.” Your turn — do the same in your reading journal: Day 1 claim: ____________________ Day 4 claim: ____________________ What changed (and why it’s stronger now):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“What made Nathaniel Bowditch truly extraordinary was ___.” “More than just ___, Bowditch was defined by his commitment to ___.” “Throughout his life, Bowditch demonstrated that ___...”</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9.4 — Carry On, Mr. Bowditch, Chapter 4</dc:title>
  <dc:subject>PptxGenJS Presentation</dc:subject>
  <dc:creator>Optima Academy Online</dc:creator>
  <cp:lastModifiedBy>Optima Academy Online</cp:lastModifiedBy>
  <cp:revision>1</cp:revision>
  <dcterms:created xsi:type="dcterms:W3CDTF">2026-10-29T19:41:21Z</dcterms:created>
  <dcterms:modified xsi:type="dcterms:W3CDTF">2026-10-29T19:41:21Z</dcterms:modified>
</cp:coreProperties>
</file>