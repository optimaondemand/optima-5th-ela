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11.4: Chapter 12, "Down to the Sea". Banner quote: “I believe you can work a lunar, Mr. Bowditch.” (Captain Prince, Chapter 12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The sea tests what the chandlery built. Today you read Chapter 12 and continue drafting your expository research piece. Keep asking: How do events in this chapter develop Nat’s character?
Objectives:
- 🌱 Morphology: Explain meter and scope/spect — the instruments of a science.
- 🔤 Vocab SWYK: Choice board — show what you know your way.
- ✏️ Grammar: I will explain the importance of commas in changing what a clause means.
- 📖 Reading: I will explain the theme of Chapters 9–12 in one full sentence about people, not a single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stars, along with the moon, gives nat the information he needs to find the ship's position
Corrected: The stars, along with the moon, give Nat the information he needs to find the ship's position.
Fixes: capitalize “The”; subject is “stars” (plural — “along with the moon” is a phrase) → “give.” Possessive apostrophe: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stars, along with the moon, gives nat the information he needs to find the ship's position
Corrected: The stars, along with the moon, give Nat the information he needs to find the ship's position.
Fixes: capitalize “The”; subject is “stars” (plural — “along with the moon” is a phrase) → “give.” Possessive apostrophe: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Alfred, Lord Tennyson wrote “Ulysses” about the ancient hero who couldn’t stop exploring. Its final lines have echoed through centuries as a call to those who never stop pushing. Read them today, the week Nat first goes to sea. Write your response in your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what I'm trying to say,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meter/metr + scope/spect — Explain — the instruments of a science.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barometer = It measures — root meter
thermometer = It measures — root meter
telescope = It looks — root scope
microscope = It looks — root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telescope
2. diameter
3. chronometer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SWYK: Choice Board — Show What You Know — your way.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Choice board. Students pick one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Relative Pronouns &amp; Clauses — Explain the importance.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Relative Pronouns &amp; Clauses — Explain the importance.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Put a fact in without making it the main point. — g11d4gs1
2. The ship that carried him was the Henry. — g11d4gs2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Dividing Long Words by Their Parts — Explain — why parts beat syllables.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Because parts carry meaning and syllables do not. — g11d4ss1
2. baro · meter — g11d4ss2
3. tele · scope — g11d4ss3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Close Body 1 and evaluate your draft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Close Body 1 and evaluate your draft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11  ·  DAY 4  ·  LESSON 11.4</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12 — Down to the Sea</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“I believe you can work a lunar, Mr. Bowditch.”</a:t>
            </a:r>
            <a:pPr indent="0" marL="0">
              <a:buNone/>
            </a:pPr>
            <a:r>
              <a:rPr lang="en-US" sz="1600" dirty="0">
                <a:solidFill>
                  <a:srgbClr val="55C8E8"/>
                </a:solidFill>
                <a:latin typeface="Calibri" pitchFamily="34" charset="0"/>
                <a:ea typeface="Calibri" pitchFamily="34" charset="-122"/>
                <a:cs typeface="Calibri" pitchFamily="34" charset="-120"/>
              </a:rPr>
              <a:t>  — Captain Prince, Chapter 12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EXPLAIN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12</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The sea tests what the chandlery built.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12 and continue drafting your expository research piece. Keep asking: How do events in this chapter develop Nat’s character?</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Explain meter and scope/spect — the instruments of a science.</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Vocab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Choice board — show what you know your way.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explain the importance of commas in changing what a clause means.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explain the theme of Chapters 9–12 in one full sentence about people, not a single word.</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WEEK — NAME THE THEME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Now put the week together. The chapter titles across Chapters 9–12 make a sentence of their own: Anchor to Windward, Freedom, What Next?, Down to the Sea. Say in one full sentence what this book argues about perseverance — not the word, the claim.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Whole-book thinking: State the theme of this book about perseverance as one full sentence about people. Then find the chapter from 1–12 that gives you the strongest evidence for it, and the one that complicates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Find the moment quitting was an option: Perseverance only shows where giving up was genuinely available.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Ask what keeps him going: Look for the reason the text gives, not the one you would supply yourself.</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Name the theme as a sentence: Say what the book argues about people who keep going. “Perseverance” is a topic; a theme is a full sentence.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WEEK — NAME THE THEME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Put together: “Anchor to Windward” + “Freedom” + “What Next?” + “Down to the Sea.” What story do these titles tell, in sequence?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Chapter 12 tests whether Nat’s mathematics works in real conditions. As you read, ask: does it work? And what does that mean for everything that came before?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a:t>
            </a:r>
            <a:pPr indent="0" marL="0">
              <a:buNone/>
            </a:pPr>
            <a:r>
              <a:rPr lang="en-US" sz="2600" b="1" u="sng" dirty="0">
                <a:solidFill>
                  <a:srgbClr val="1E8E52"/>
                </a:solidFill>
                <a:latin typeface="Calibri" pitchFamily="34" charset="0"/>
                <a:ea typeface="Calibri" pitchFamily="34" charset="-122"/>
                <a:cs typeface="Calibri" pitchFamily="34" charset="-120"/>
              </a:rPr>
              <a:t>precision</a:t>
            </a:r>
            <a:pPr indent="0" marL="0">
              <a:buNone/>
            </a:pPr>
            <a:r>
              <a:rPr lang="en-US" sz="2600" dirty="0">
                <a:solidFill>
                  <a:srgbClr val="1E293B"/>
                </a:solidFill>
                <a:latin typeface="Calibri" pitchFamily="34" charset="0"/>
                <a:ea typeface="Calibri" pitchFamily="34" charset="-122"/>
                <a:cs typeface="Calibri" pitchFamily="34" charset="-120"/>
              </a:rPr>
              <a:t> of his star observations </a:t>
            </a:r>
            <a:pPr indent="0" marL="0">
              <a:buNone/>
            </a:pPr>
            <a:r>
              <a:rPr lang="en-US" sz="2600" b="1" u="sng" dirty="0">
                <a:solidFill>
                  <a:srgbClr val="1E8E52"/>
                </a:solidFill>
                <a:latin typeface="Calibri" pitchFamily="34" charset="0"/>
                <a:ea typeface="Calibri" pitchFamily="34" charset="-122"/>
                <a:cs typeface="Calibri" pitchFamily="34" charset="-120"/>
              </a:rPr>
              <a:t>was</a:t>
            </a:r>
            <a:pPr indent="0" marL="0">
              <a:buNone/>
            </a:pPr>
            <a:r>
              <a:rPr lang="en-US" sz="2600" dirty="0">
                <a:solidFill>
                  <a:srgbClr val="1E293B"/>
                </a:solidFill>
                <a:latin typeface="Calibri" pitchFamily="34" charset="0"/>
                <a:ea typeface="Calibri" pitchFamily="34" charset="-122"/>
                <a:cs typeface="Calibri" pitchFamily="34" charset="-120"/>
              </a:rPr>
              <a:t> the proof that all his years of study had been worth it.</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precision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Subject: “precision” (singular). The phrase “of his star observations” is between subject and verb but doesn’t change it.</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was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“was” agrees with the singular subject “precision.”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stars, along with the moon, gives nat the information he needs to find the ship's position</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stars, along with the moon, gives nat the information he needs to find the ship's position</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The stars, along with the moon, give Nat the information he needs to find the ship's position.</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“The”; subject is “stars” (plural — “along with the moon” is a phrase) → “give.” Possessive apostrophe: “ship's.”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FROM “ULYSSES”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Poetry Corner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Alfred, Lord Tennyson, 1842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Tho’ much is taken, much abides; and tho’</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We are not now that strength which in old days</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Moved earth and heaven, that which we are, we are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One equal temper of heroic hearts,</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Made weak by time and fate, but strong in will</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To strive, to seek, to find, and not to yield.</a:t>
            </a:r>
            <a:endParaRPr lang="en-US" sz="22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 Abides means remains or persists. Temper here means character or spirit. The final line — “to strive, to seek, to find, and not to yield” — uses parallelism: four infinitives in a row, building to the final refusal.</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Which of Tennyson’s four words best describes Nat Bowditch through these chapters — strive, seek, find, or not to yield? What evidence from Chapters 9–12 supports your choice?</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700" dirty="0">
                <a:solidFill>
                  <a:srgbClr val="1E293B"/>
                </a:solidFill>
                <a:latin typeface="Calibri" pitchFamily="34" charset="0"/>
                <a:ea typeface="Calibri" pitchFamily="34" charset="-122"/>
                <a:cs typeface="Calibri" pitchFamily="34" charset="-120"/>
              </a:rPr>
              <a:t>On the Henry, Nat works a lunar and starts teaching the crew to take sights, even though nobody asked him to. Which earns Captain Prince's respect more: Nat's skill, or his teaching? Defend your answer with evidence from Chapter 12.</a:t>
            </a:r>
            <a:endParaRPr lang="en-US" sz="27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On the Henry, Nat works a lunar and starts teaching the crew to take sights, even though nobody asked him to. Which earns Captain Prince's respect more: Nat's skill, or his teaching? Defend your answer with evidence from Chapter 12.</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Does this detail actually support what I'm trying to say, or is it just filler?</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THE INSTRUMENTS OF A SCIENCE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Odd One Out — three words share a root. One does not. Click the word that does not belong.</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Match each instrument to what its root says it does.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THE INSTRUMENTS OF A SCIENCE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982980"/>
          </a:xfrm>
          <a:prstGeom prst="roundRect">
            <a:avLst>
              <a:gd name="adj" fmla="val 7442"/>
            </a:avLst>
          </a:prstGeom>
          <a:solidFill>
            <a:srgbClr val="F0E8FF"/>
          </a:solidFill>
          <a:ln w="15875">
            <a:solidFill>
              <a:srgbClr val="D6C8F0"/>
            </a:solidFill>
            <a:prstDash val="solid"/>
          </a:ln>
        </p:spPr>
      </p:sp>
      <p:sp>
        <p:nvSpPr>
          <p:cNvPr id="10" name="Text 8"/>
          <p:cNvSpPr/>
          <p:nvPr/>
        </p:nvSpPr>
        <p:spPr>
          <a:xfrm>
            <a:off x="685800" y="196596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barometer</a:t>
            </a:r>
            <a:endParaRPr lang="en-US" sz="2200" dirty="0"/>
          </a:p>
        </p:txBody>
      </p:sp>
      <p:sp>
        <p:nvSpPr>
          <p:cNvPr id="11" name="Shape 9"/>
          <p:cNvSpPr/>
          <p:nvPr/>
        </p:nvSpPr>
        <p:spPr>
          <a:xfrm>
            <a:off x="4069080" y="1965960"/>
            <a:ext cx="7619695" cy="982980"/>
          </a:xfrm>
          <a:prstGeom prst="roundRect">
            <a:avLst>
              <a:gd name="adj" fmla="val 7442"/>
            </a:avLst>
          </a:prstGeom>
          <a:solidFill>
            <a:srgbClr val="F8FAFC"/>
          </a:solidFill>
          <a:ln w="15875">
            <a:solidFill>
              <a:srgbClr val="CBD5E1"/>
            </a:solidFill>
            <a:prstDash val="solid"/>
          </a:ln>
        </p:spPr>
      </p:sp>
      <p:sp>
        <p:nvSpPr>
          <p:cNvPr id="12" name="Text 10"/>
          <p:cNvSpPr/>
          <p:nvPr/>
        </p:nvSpPr>
        <p:spPr>
          <a:xfrm>
            <a:off x="4251960" y="196596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It looks — root scope</a:t>
            </a:r>
            <a:endParaRPr lang="en-US" sz="1900" dirty="0"/>
          </a:p>
        </p:txBody>
      </p:sp>
      <p:sp>
        <p:nvSpPr>
          <p:cNvPr id="13" name="Shape 11"/>
          <p:cNvSpPr/>
          <p:nvPr/>
        </p:nvSpPr>
        <p:spPr>
          <a:xfrm>
            <a:off x="502920" y="3086100"/>
            <a:ext cx="3291840" cy="982980"/>
          </a:xfrm>
          <a:prstGeom prst="roundRect">
            <a:avLst>
              <a:gd name="adj" fmla="val 7442"/>
            </a:avLst>
          </a:prstGeom>
          <a:solidFill>
            <a:srgbClr val="F0E8FF"/>
          </a:solidFill>
          <a:ln w="15875">
            <a:solidFill>
              <a:srgbClr val="D6C8F0"/>
            </a:solidFill>
            <a:prstDash val="solid"/>
          </a:ln>
        </p:spPr>
      </p:sp>
      <p:sp>
        <p:nvSpPr>
          <p:cNvPr id="14" name="Text 12"/>
          <p:cNvSpPr/>
          <p:nvPr/>
        </p:nvSpPr>
        <p:spPr>
          <a:xfrm>
            <a:off x="685800" y="308610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thermometer</a:t>
            </a:r>
            <a:endParaRPr lang="en-US" sz="2200" dirty="0"/>
          </a:p>
        </p:txBody>
      </p:sp>
      <p:sp>
        <p:nvSpPr>
          <p:cNvPr id="15" name="Shape 13"/>
          <p:cNvSpPr/>
          <p:nvPr/>
        </p:nvSpPr>
        <p:spPr>
          <a:xfrm>
            <a:off x="4069080" y="3086100"/>
            <a:ext cx="7619695" cy="982980"/>
          </a:xfrm>
          <a:prstGeom prst="roundRect">
            <a:avLst>
              <a:gd name="adj" fmla="val 7442"/>
            </a:avLst>
          </a:prstGeom>
          <a:solidFill>
            <a:srgbClr val="F8FAFC"/>
          </a:solidFill>
          <a:ln w="15875">
            <a:solidFill>
              <a:srgbClr val="CBD5E1"/>
            </a:solidFill>
            <a:prstDash val="solid"/>
          </a:ln>
        </p:spPr>
      </p:sp>
      <p:sp>
        <p:nvSpPr>
          <p:cNvPr id="16" name="Text 14"/>
          <p:cNvSpPr/>
          <p:nvPr/>
        </p:nvSpPr>
        <p:spPr>
          <a:xfrm>
            <a:off x="4251960" y="308610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It looks — root scope</a:t>
            </a:r>
            <a:endParaRPr lang="en-US" sz="1900" dirty="0"/>
          </a:p>
        </p:txBody>
      </p:sp>
      <p:sp>
        <p:nvSpPr>
          <p:cNvPr id="17" name="Shape 15"/>
          <p:cNvSpPr/>
          <p:nvPr/>
        </p:nvSpPr>
        <p:spPr>
          <a:xfrm>
            <a:off x="502920" y="4206240"/>
            <a:ext cx="3291840" cy="982980"/>
          </a:xfrm>
          <a:prstGeom prst="roundRect">
            <a:avLst>
              <a:gd name="adj" fmla="val 7442"/>
            </a:avLst>
          </a:prstGeom>
          <a:solidFill>
            <a:srgbClr val="F0E8FF"/>
          </a:solidFill>
          <a:ln w="15875">
            <a:solidFill>
              <a:srgbClr val="D6C8F0"/>
            </a:solidFill>
            <a:prstDash val="solid"/>
          </a:ln>
        </p:spPr>
      </p:sp>
      <p:sp>
        <p:nvSpPr>
          <p:cNvPr id="18" name="Text 16"/>
          <p:cNvSpPr/>
          <p:nvPr/>
        </p:nvSpPr>
        <p:spPr>
          <a:xfrm>
            <a:off x="685800" y="420624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telescope</a:t>
            </a:r>
            <a:endParaRPr lang="en-US" sz="2200" dirty="0"/>
          </a:p>
        </p:txBody>
      </p:sp>
      <p:sp>
        <p:nvSpPr>
          <p:cNvPr id="19" name="Shape 17"/>
          <p:cNvSpPr/>
          <p:nvPr/>
        </p:nvSpPr>
        <p:spPr>
          <a:xfrm>
            <a:off x="4069080" y="4206240"/>
            <a:ext cx="7619695" cy="982980"/>
          </a:xfrm>
          <a:prstGeom prst="roundRect">
            <a:avLst>
              <a:gd name="adj" fmla="val 7442"/>
            </a:avLst>
          </a:prstGeom>
          <a:solidFill>
            <a:srgbClr val="F8FAFC"/>
          </a:solidFill>
          <a:ln w="15875">
            <a:solidFill>
              <a:srgbClr val="CBD5E1"/>
            </a:solidFill>
            <a:prstDash val="solid"/>
          </a:ln>
        </p:spPr>
      </p:sp>
      <p:sp>
        <p:nvSpPr>
          <p:cNvPr id="20" name="Text 18"/>
          <p:cNvSpPr/>
          <p:nvPr/>
        </p:nvSpPr>
        <p:spPr>
          <a:xfrm>
            <a:off x="4251960" y="420624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It measures — root meter</a:t>
            </a:r>
            <a:endParaRPr lang="en-US" sz="1900" dirty="0"/>
          </a:p>
        </p:txBody>
      </p:sp>
      <p:sp>
        <p:nvSpPr>
          <p:cNvPr id="21" name="Shape 19"/>
          <p:cNvSpPr/>
          <p:nvPr/>
        </p:nvSpPr>
        <p:spPr>
          <a:xfrm>
            <a:off x="502920" y="5326380"/>
            <a:ext cx="3291840" cy="982980"/>
          </a:xfrm>
          <a:prstGeom prst="roundRect">
            <a:avLst>
              <a:gd name="adj" fmla="val 7442"/>
            </a:avLst>
          </a:prstGeom>
          <a:solidFill>
            <a:srgbClr val="F0E8FF"/>
          </a:solidFill>
          <a:ln w="15875">
            <a:solidFill>
              <a:srgbClr val="D6C8F0"/>
            </a:solidFill>
            <a:prstDash val="solid"/>
          </a:ln>
        </p:spPr>
      </p:sp>
      <p:sp>
        <p:nvSpPr>
          <p:cNvPr id="22" name="Text 20"/>
          <p:cNvSpPr/>
          <p:nvPr/>
        </p:nvSpPr>
        <p:spPr>
          <a:xfrm>
            <a:off x="685800" y="532638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microscope</a:t>
            </a:r>
            <a:endParaRPr lang="en-US" sz="2200" dirty="0"/>
          </a:p>
        </p:txBody>
      </p:sp>
      <p:sp>
        <p:nvSpPr>
          <p:cNvPr id="23" name="Shape 21"/>
          <p:cNvSpPr/>
          <p:nvPr/>
        </p:nvSpPr>
        <p:spPr>
          <a:xfrm>
            <a:off x="4069080" y="5326380"/>
            <a:ext cx="7619695" cy="982980"/>
          </a:xfrm>
          <a:prstGeom prst="roundRect">
            <a:avLst>
              <a:gd name="adj" fmla="val 7442"/>
            </a:avLst>
          </a:prstGeom>
          <a:solidFill>
            <a:srgbClr val="F8FAFC"/>
          </a:solidFill>
          <a:ln w="15875">
            <a:solidFill>
              <a:srgbClr val="CBD5E1"/>
            </a:solidFill>
            <a:prstDash val="solid"/>
          </a:ln>
        </p:spPr>
      </p:sp>
      <p:sp>
        <p:nvSpPr>
          <p:cNvPr id="24" name="Text 22"/>
          <p:cNvSpPr/>
          <p:nvPr/>
        </p:nvSpPr>
        <p:spPr>
          <a:xfrm>
            <a:off x="4251960" y="532638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It measures — root meter</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THE INSTRUMENTS OF A SCIENCE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982980"/>
          </a:xfrm>
          <a:prstGeom prst="roundRect">
            <a:avLst>
              <a:gd name="adj" fmla="val 7442"/>
            </a:avLst>
          </a:prstGeom>
          <a:solidFill>
            <a:srgbClr val="E8F8EF"/>
          </a:solidFill>
          <a:ln w="15875">
            <a:solidFill>
              <a:srgbClr val="9ED9B5"/>
            </a:solidFill>
            <a:prstDash val="solid"/>
          </a:ln>
        </p:spPr>
      </p:sp>
      <p:sp>
        <p:nvSpPr>
          <p:cNvPr id="10" name="Text 8"/>
          <p:cNvSpPr/>
          <p:nvPr/>
        </p:nvSpPr>
        <p:spPr>
          <a:xfrm>
            <a:off x="731520" y="196596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barometer  =  </a:t>
            </a:r>
            <a:pPr indent="0" marL="0">
              <a:buNone/>
            </a:pPr>
            <a:r>
              <a:rPr lang="en-US" sz="2000" dirty="0">
                <a:solidFill>
                  <a:srgbClr val="1E293B"/>
                </a:solidFill>
                <a:latin typeface="Calibri" pitchFamily="34" charset="0"/>
                <a:ea typeface="Calibri" pitchFamily="34" charset="-122"/>
                <a:cs typeface="Calibri" pitchFamily="34" charset="-120"/>
              </a:rPr>
              <a:t>It measures — root meter</a:t>
            </a:r>
            <a:endParaRPr lang="en-US" sz="2200" dirty="0"/>
          </a:p>
        </p:txBody>
      </p:sp>
      <p:sp>
        <p:nvSpPr>
          <p:cNvPr id="11" name="Shape 9"/>
          <p:cNvSpPr/>
          <p:nvPr/>
        </p:nvSpPr>
        <p:spPr>
          <a:xfrm>
            <a:off x="502920" y="3086100"/>
            <a:ext cx="11185855" cy="982980"/>
          </a:xfrm>
          <a:prstGeom prst="roundRect">
            <a:avLst>
              <a:gd name="adj" fmla="val 7442"/>
            </a:avLst>
          </a:prstGeom>
          <a:solidFill>
            <a:srgbClr val="E8F8EF"/>
          </a:solidFill>
          <a:ln w="15875">
            <a:solidFill>
              <a:srgbClr val="9ED9B5"/>
            </a:solidFill>
            <a:prstDash val="solid"/>
          </a:ln>
        </p:spPr>
      </p:sp>
      <p:sp>
        <p:nvSpPr>
          <p:cNvPr id="12" name="Text 10"/>
          <p:cNvSpPr/>
          <p:nvPr/>
        </p:nvSpPr>
        <p:spPr>
          <a:xfrm>
            <a:off x="731520" y="308610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thermometer  =  </a:t>
            </a:r>
            <a:pPr indent="0" marL="0">
              <a:buNone/>
            </a:pPr>
            <a:r>
              <a:rPr lang="en-US" sz="2000" dirty="0">
                <a:solidFill>
                  <a:srgbClr val="1E293B"/>
                </a:solidFill>
                <a:latin typeface="Calibri" pitchFamily="34" charset="0"/>
                <a:ea typeface="Calibri" pitchFamily="34" charset="-122"/>
                <a:cs typeface="Calibri" pitchFamily="34" charset="-120"/>
              </a:rPr>
              <a:t>It measures — root meter</a:t>
            </a:r>
            <a:endParaRPr lang="en-US" sz="2200" dirty="0"/>
          </a:p>
        </p:txBody>
      </p:sp>
      <p:sp>
        <p:nvSpPr>
          <p:cNvPr id="13" name="Shape 11"/>
          <p:cNvSpPr/>
          <p:nvPr/>
        </p:nvSpPr>
        <p:spPr>
          <a:xfrm>
            <a:off x="502920" y="4206240"/>
            <a:ext cx="11185855" cy="982980"/>
          </a:xfrm>
          <a:prstGeom prst="roundRect">
            <a:avLst>
              <a:gd name="adj" fmla="val 7442"/>
            </a:avLst>
          </a:prstGeom>
          <a:solidFill>
            <a:srgbClr val="E8F8EF"/>
          </a:solidFill>
          <a:ln w="15875">
            <a:solidFill>
              <a:srgbClr val="9ED9B5"/>
            </a:solidFill>
            <a:prstDash val="solid"/>
          </a:ln>
        </p:spPr>
      </p:sp>
      <p:sp>
        <p:nvSpPr>
          <p:cNvPr id="14" name="Text 12"/>
          <p:cNvSpPr/>
          <p:nvPr/>
        </p:nvSpPr>
        <p:spPr>
          <a:xfrm>
            <a:off x="731520" y="420624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telescope  =  </a:t>
            </a:r>
            <a:pPr indent="0" marL="0">
              <a:buNone/>
            </a:pPr>
            <a:r>
              <a:rPr lang="en-US" sz="2000" dirty="0">
                <a:solidFill>
                  <a:srgbClr val="1E293B"/>
                </a:solidFill>
                <a:latin typeface="Calibri" pitchFamily="34" charset="0"/>
                <a:ea typeface="Calibri" pitchFamily="34" charset="-122"/>
                <a:cs typeface="Calibri" pitchFamily="34" charset="-120"/>
              </a:rPr>
              <a:t>It looks — root scope</a:t>
            </a:r>
            <a:endParaRPr lang="en-US" sz="2200" dirty="0"/>
          </a:p>
        </p:txBody>
      </p:sp>
      <p:sp>
        <p:nvSpPr>
          <p:cNvPr id="15" name="Shape 13"/>
          <p:cNvSpPr/>
          <p:nvPr/>
        </p:nvSpPr>
        <p:spPr>
          <a:xfrm>
            <a:off x="502920" y="5326380"/>
            <a:ext cx="11185855" cy="982980"/>
          </a:xfrm>
          <a:prstGeom prst="roundRect">
            <a:avLst>
              <a:gd name="adj" fmla="val 7442"/>
            </a:avLst>
          </a:prstGeom>
          <a:solidFill>
            <a:srgbClr val="E8F8EF"/>
          </a:solidFill>
          <a:ln w="15875">
            <a:solidFill>
              <a:srgbClr val="9ED9B5"/>
            </a:solidFill>
            <a:prstDash val="solid"/>
          </a:ln>
        </p:spPr>
      </p:sp>
      <p:sp>
        <p:nvSpPr>
          <p:cNvPr id="16" name="Text 14"/>
          <p:cNvSpPr/>
          <p:nvPr/>
        </p:nvSpPr>
        <p:spPr>
          <a:xfrm>
            <a:off x="731520" y="532638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microscope  =  </a:t>
            </a:r>
            <a:pPr indent="0" marL="0">
              <a:buNone/>
            </a:pPr>
            <a:r>
              <a:rPr lang="en-US" sz="2000" dirty="0">
                <a:solidFill>
                  <a:srgbClr val="1E293B"/>
                </a:solidFill>
                <a:latin typeface="Calibri" pitchFamily="34" charset="0"/>
                <a:ea typeface="Calibri" pitchFamily="34" charset="-122"/>
                <a:cs typeface="Calibri" pitchFamily="34" charset="-120"/>
              </a:rPr>
              <a:t>It looks — root scope</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THE INSTRUMENTS OF A SCIENCE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Root family: meter — measure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thermometer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barometer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telescope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perimeter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Root family: scope / spect — look</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microscope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inspect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spectator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diameter</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one gives you a number rather than a view?</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periscope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chronometer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perspective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spectacle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THE INSTRUMENTS OF A SCIENCE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Root family: meter — measure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thermometer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barometer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telescope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perimeter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Root family: scope / spect — look</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microscope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inspect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spectator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diameter</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one gives you a number rather than a view?</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periscope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chronometer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perspective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spectacle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SHOW WHAT YOU KNOW — YOUR WAY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SWYK: Choice Board</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Choose one activity from the board to show what you know about this week’s words: longitude · supercargo · terrestrial · observation · navigate · prospect</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CHOOSE ONE WAY TO SHOW WHAT YOU KNOW</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SWYK: Choice Board</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5501488" cy="2354580"/>
          </a:xfrm>
          <a:prstGeom prst="roundRect">
            <a:avLst>
              <a:gd name="adj" fmla="val 3107"/>
            </a:avLst>
          </a:prstGeom>
          <a:solidFill>
            <a:srgbClr val="F8FAFC"/>
          </a:solidFill>
          <a:ln w="15875">
            <a:solidFill>
              <a:srgbClr val="CBD5E1"/>
            </a:solidFill>
            <a:prstDash val="solid"/>
          </a:ln>
        </p:spPr>
      </p:sp>
      <p:sp>
        <p:nvSpPr>
          <p:cNvPr id="7" name="Text 5"/>
          <p:cNvSpPr/>
          <p:nvPr/>
        </p:nvSpPr>
        <p:spPr>
          <a:xfrm>
            <a:off x="685800" y="162763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1: ✍️ Write a Scene</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Write a 4–6 sentence scene with Nat at sea. Use at least four vocabulary words naturally. Underline each one.</a:t>
            </a:r>
            <a:endParaRPr lang="en-US" sz="2100" dirty="0"/>
          </a:p>
        </p:txBody>
      </p:sp>
      <p:sp>
        <p:nvSpPr>
          <p:cNvPr id="8" name="Shape 6"/>
          <p:cNvSpPr/>
          <p:nvPr/>
        </p:nvSpPr>
        <p:spPr>
          <a:xfrm>
            <a:off x="6187288" y="1554480"/>
            <a:ext cx="5501488" cy="2354580"/>
          </a:xfrm>
          <a:prstGeom prst="roundRect">
            <a:avLst>
              <a:gd name="adj" fmla="val 3107"/>
            </a:avLst>
          </a:prstGeom>
          <a:solidFill>
            <a:srgbClr val="F8FAFC"/>
          </a:solidFill>
          <a:ln w="15875">
            <a:solidFill>
              <a:srgbClr val="CBD5E1"/>
            </a:solidFill>
            <a:prstDash val="solid"/>
          </a:ln>
        </p:spPr>
      </p:sp>
      <p:sp>
        <p:nvSpPr>
          <p:cNvPr id="9" name="Text 7"/>
          <p:cNvSpPr/>
          <p:nvPr/>
        </p:nvSpPr>
        <p:spPr>
          <a:xfrm>
            <a:off x="6370168" y="162763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2: 📊 Two-Column Chart</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For five words: write the word, its definition in your own words, and one way Nat encounters or uses it. Use chart format.</a:t>
            </a:r>
            <a:endParaRPr lang="en-US" sz="2100" dirty="0"/>
          </a:p>
        </p:txBody>
      </p:sp>
      <p:sp>
        <p:nvSpPr>
          <p:cNvPr id="10" name="Shape 8"/>
          <p:cNvSpPr/>
          <p:nvPr/>
        </p:nvSpPr>
        <p:spPr>
          <a:xfrm>
            <a:off x="502920" y="4091940"/>
            <a:ext cx="5501488" cy="2354580"/>
          </a:xfrm>
          <a:prstGeom prst="roundRect">
            <a:avLst>
              <a:gd name="adj" fmla="val 3107"/>
            </a:avLst>
          </a:prstGeom>
          <a:solidFill>
            <a:srgbClr val="F8FAFC"/>
          </a:solidFill>
          <a:ln w="15875">
            <a:solidFill>
              <a:srgbClr val="CBD5E1"/>
            </a:solidFill>
            <a:prstDash val="solid"/>
          </a:ln>
        </p:spPr>
      </p:sp>
      <p:sp>
        <p:nvSpPr>
          <p:cNvPr id="11" name="Text 9"/>
          <p:cNvSpPr/>
          <p:nvPr/>
        </p:nvSpPr>
        <p:spPr>
          <a:xfrm>
            <a:off x="685800" y="416509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3: 🧠 Explain the Connection</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Choose three words and explain how they are all connected to each other in Nat’s work as a navigator. How do longitude, observation, and navigate work together?</a:t>
            </a:r>
            <a:endParaRPr lang="en-US" sz="2100" dirty="0"/>
          </a:p>
        </p:txBody>
      </p:sp>
      <p:sp>
        <p:nvSpPr>
          <p:cNvPr id="12" name="Shape 10"/>
          <p:cNvSpPr/>
          <p:nvPr/>
        </p:nvSpPr>
        <p:spPr>
          <a:xfrm>
            <a:off x="6187288" y="4091940"/>
            <a:ext cx="5501488" cy="2354580"/>
          </a:xfrm>
          <a:prstGeom prst="roundRect">
            <a:avLst>
              <a:gd name="adj" fmla="val 3107"/>
            </a:avLst>
          </a:prstGeom>
          <a:solidFill>
            <a:srgbClr val="F8FAFC"/>
          </a:solidFill>
          <a:ln w="15875">
            <a:solidFill>
              <a:srgbClr val="CBD5E1"/>
            </a:solidFill>
            <a:prstDash val="solid"/>
          </a:ln>
        </p:spPr>
      </p:sp>
      <p:sp>
        <p:nvSpPr>
          <p:cNvPr id="13" name="Text 11"/>
          <p:cNvSpPr/>
          <p:nvPr/>
        </p:nvSpPr>
        <p:spPr>
          <a:xfrm>
            <a:off x="6370168" y="416509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4: 📝 Three Questions</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Write three questions that could only be answered correctly by someone who truly understood these words — then answer them.</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Vocabulary</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Complete your chosen option above using this week’s words.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Identify which option you chose at the top. Then complete it.</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Before you start: hunt for the noun each pronoun replaced.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Last day. Now explain what the commas are really deciding. The men who could not read learned anyway means only some of the men. The men, who could not read, learned anyway means all of them could not read. Two commas, two different crews.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Write in Your Reading Journal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 classmate says: “Commas around a clause are just for a pause. It doesn’t matter if I leave them out.” Write a 3–4 sentence explanation of why they are wrong. Use the two crews above, or your own example from this week’s novel sentences.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Write your explanation in your reading journal.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Before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Nat had no schooling after age ten. Nat taught himself Latin.</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After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Nat, who had no schooling after age ten, taught himself Latin.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relative clause folds one fact inside the other and says which one is the point. The teaching-himself is the sentence; the schooling is the background.</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What does a relative clause let a writer do?</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Make sentences longer.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Put a fact in without making it the main point.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correct?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ship who carried him was the Henry.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ship that carried him was the Henry.</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What does a relative clause let a writer do?</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Make sentences longer.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Put a fact in without making it the main point.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correct?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 ship who carried him was the Henry.</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ship that carried him was the Henry.</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PARTS BEAT SYLLABLES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Dividing Long Words by Their Parts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clap the beats, then decide where the splits go.</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A classmate says: “Why bother splitting a word up? I just sound it out.” In your reading journal, explain why cutting at the meaning-seams beats sounding out — and give two long words from this unit where knowing the parts told you both the meaning and the spelling.</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PARTS BEAT SYLLABLES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Dividing Long Words by Their Parts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break a long word into parts rather than syllables?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Because parts carry meaning and syllables do not.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Because it is faster.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split follows the parts?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baro · meter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ba · rom · eter</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split follows the parts?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tel · es · cope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tele · scope</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PARTS BEAT SYLLABLES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Dividing Long Words by Their Parts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break a long word into parts rather than syllables?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Because parts carry meaning and syllables do not.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Because it is faster.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split follows the parts?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baro · meter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ba · rom · eter</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split follows the parts?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tel · es · cope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tele · scope</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12 — “DOWN TO THE SEA”</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11 — Chapter 12 — Down to the Sea</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12 is the proof. Nat’s mathematics, his self-education, his nine years of ash-breeze rowing — all of it is tested against the actual sea, the actual stars, and the actual problem of getting a ship safely from one port to another.</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12</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The Proof: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How does Nat demonstrate his navigation skill in Chapter 12 — with his lunar observation, and by teaching the crew to sight stars during the dog watch when nobody asked him to? What does the captain’s reaction tell you about how significant Nat’s abilities are? What has been proved here?</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Reflective Pause — Chs. 9–12: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Look back across all four chapters this week. The arc was: Anchor to Windward → Freedom → What Next? → Down to the Sea. In 2–3 sentences, explain what this arc says about how character develops. How does Nat at the end of Chapter 12 compare to Nat at the beginning of Chapter 9?</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In Chapter 12, Nat’s navigation is tested under actual sea conditions. Explain: what does he do, and how does it prove the value of his years of self-education? Connect specifically to something from Chapters 5–8.</a:t>
            </a:r>
            <a:endParaRPr lang="en-US" sz="1900" dirty="0"/>
          </a:p>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Chapter 10 is titled “Freedom” and Chapter 12 is “Down to the Sea.” Together they complete a movement that began in Chapter 5 with a dying whistle. How do events in Chapters 10–12 develop Nat’s character — not just his circumstances, but who he is?</a:t>
            </a:r>
            <a:endParaRPr lang="en-US" sz="1900" dirty="0"/>
          </a:p>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 Week Reflective Question (Chs. 9–12): These four chapters show Nat completing one arc and beginning another — from the end of his indenture to the first leg of his first voyage. In your research claim, you identified one quality that made him extraordinary. How do Chapters 9–12 provide your strongest evidence for that claim? Cite at least two moments from two different chapters.</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CLOSE BODY 1 AND EVALUATE YOUR DRAFT SO FAR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11 · DRAFT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Body 1 is almost done. Today you write the closing sentence that circles back to the claim, then use the Draft Checkpoint to see how you’re doing so far.</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writes the closing sentence for Body 1 and runs the Draft Checkpoint. BEFORE Alex’s attempt: So that’s why Nat was extraordinary. (Too weak — just says it, doesn’t show it.) AFTER Alex’s revised closing: Together, these examples show that Bowditch’s self-education was not passive accumulation of facts — it was deliberate, disciplined, and entirely self-directed, exactly the kind of character that would later transform navigation for thousands of sailors he would never meet. Notice: The closing sentence doesn’t just summarize — it interprets. It tells the reader WHAT the evidence means and connects back to the claim without just repeating it.</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CLOSE BODY 1 AND EVALUATE YOUR DRAFT SO FAR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11 · DRAFT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Draft Checkpoint: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Check your draft so far against the four questions. Be honest — this is how you improve before you get stuck. Alex’s example (filled): ✓ Introduction: Does it have a hook, context, and claim? → Alex: YES (fog scene + who is Nat + claim) ✓ Body 1 topic sentence: Does it name the subtopic? → Alex: YES ✓ Body 1 evidence: Is there a Fact + Explanation + Significance? → Alex: YES (chandlery nights F+E+S) ✓ Body 1 closing: Does it interpret the evidence and connect to the claim? → Alex: YES (revised version) Your turn — do the same in your reading journal: My intro has hook? ___ Context? ___ Claim? ___ My Body 1 has topic sentence? ___ F+E+S evidence? ___ Closing? ___ What I still need to add or fix: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“Both of these examples demonstrate that Bowditch ___.” “Together, these details show that his ___ was not accidental but ___.” “This is precisely the quality that would later allow him to...”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11.4 — Carry On, Mr. Bowditch, Chapter 12</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