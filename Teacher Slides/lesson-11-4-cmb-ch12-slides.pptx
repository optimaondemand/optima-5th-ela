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11, Day 4, Chapter 12 — Down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12 and continue drafting your expository research piece. Keep asking: How do events in this chapter develop Nat’s character?
Morphology: Explain geo/terr roots — Odd One Out + teaching exercise.
Vocab SWYK: Choice board — show what you know your way.
Grammar: Explain S-V agreement — teach the rule to someone else.
Reading: Chapter 12 + week reflective question spanning Chs. 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stars, along with the chronometer, gives nat the information he needs to find the ship's position"
Corrected: "The stars, along with the chronometer, give Nat the information he needs to find the ship's position."
Fixes: capitalize “The”; subject is “stars” (plural — “along with the chronometer” is a phrase) → “give.” Possessive apostrophe: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stars, along with the chronometer, gives nat the information he needs to find the ship's position"
Corrected: "The stars, along with the chronometer, give Nat the information he needs to find the ship's position."
Fixes: capitalize “The”; subject is “stars” (plural — “along with the chronometer” is a phrase) → “give.” Possessive apostrophe: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Does this detail actually support what I'm trying to say, or is it just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Choice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Explain the Schwa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11 — Chapter 12 — Down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DRAFT: Close Body 1 and evaluate your draft so far
Focus: Body 1 is almost done. Today you write the closing sentence that circles back to the claim, then use the Draft Checkpoint to see how you’re doing so far.
Before: BEFORE Alex’s attempt: So that’s why Nat was extraordinary. (Too weak — just says it, doesn’t show it.)
After: AFTER Alex’s revised closing: Together, these examples show that Bowditch’s self-education was not passive accumulation of facts — it was deliberate, disciplined, and entirely self-directed, exactly the kind of character that would later transform navigation for thousands of sailors he would never meet.
Notice: Notice: The closing sentence doesn’t just summarize — it interprets. It tells the reader WHAT the evidence means and connects back to the claim without just repeating it.
Tool: Today’s Tool: Draft Checkpoint — Check your draft so far against the four questions. Be honest — this is how you improve before you get stuck.
Frames: “Both of these examples demonstrate that Bowditch ___.” | “Together, these details show that his ___ was not accidental but ___.” | “This is precisely the quality that would later allow him to...”
Prompt: Write the closing sentence for your Body 1 section. It should interpret the evidence and connect back to your claim — not just summarize.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11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12 — Down to the Sea</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11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12 and continue drafting your expository research piece. Keep asking: How do events in this chapter develop Nat’s character?</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Explain geo/terr roots — Odd One Out + teaching exercise.</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Vocab SWYK: </a:t>
            </a:r>
            <a:pPr indent="0" marL="0">
              <a:buNone/>
            </a:pPr>
            <a:r>
              <a:rPr lang="en-US" sz="1250" dirty="0">
                <a:solidFill>
                  <a:srgbClr val="1E293B"/>
                </a:solidFill>
                <a:latin typeface="Calibri" pitchFamily="34" charset="0"/>
                <a:ea typeface="Calibri" pitchFamily="34" charset="-122"/>
                <a:cs typeface="Calibri" pitchFamily="34" charset="-120"/>
              </a:rPr>
              <a:t>Choice board — show what you know your way.</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Explain S-V agreement — teach the rule to someone else.</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12 + week reflective question spanning Chs. 9–12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This is your last chapter of Week 11. Before you read, look back across the arc of Chapters 9–12: Anchor to Windward → Freedom → What Next? → Down to the Sea. Each title tells a part of the same story. Good readers notice how a sequence of chapter titles itself creates meaning.</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Put together: “Anchor to Windward” + “Freedom” + “What Next?” + “Down to the Sea.” What story do these titles tell, in sequence?</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Chapter 12 tests whether Nat’s mathematics works in real conditions. As you read, ask: does it work? And what does that mean for everything that came before?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precision of his star observations was the proof that all his years of study had been worth it.</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precision  </a:t>
            </a:r>
            <a:pPr indent="0" marL="0">
              <a:buNone/>
            </a:pPr>
            <a:r>
              <a:rPr lang="en-US" sz="1200" dirty="0">
                <a:solidFill>
                  <a:srgbClr val="1E293B"/>
                </a:solidFill>
                <a:latin typeface="Calibri" pitchFamily="34" charset="0"/>
                <a:ea typeface="Calibri" pitchFamily="34" charset="-122"/>
                <a:cs typeface="Calibri" pitchFamily="34" charset="-120"/>
              </a:rPr>
              <a:t>Subject: “precision” (singular). The phrase “of his star observations” is between subject and verb but doesn't change it.</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was  </a:t>
            </a:r>
            <a:pPr indent="0" marL="0">
              <a:buNone/>
            </a:pPr>
            <a:r>
              <a:rPr lang="en-US" sz="1200" dirty="0">
                <a:solidFill>
                  <a:srgbClr val="1E293B"/>
                </a:solidFill>
                <a:latin typeface="Calibri" pitchFamily="34" charset="0"/>
                <a:ea typeface="Calibri" pitchFamily="34" charset="-122"/>
                <a:cs typeface="Calibri" pitchFamily="34" charset="-120"/>
              </a:rPr>
              <a:t>“was” agrees with the singular subject “precision.”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stars, along with the chronometer, gives nat the information he needs to find the ship's position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stars, along with the chronometer, gives nat the information he needs to find the ship's position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stars, along with the chronometer, give Nat the information he needs to find the ship's position.</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subject is “stars” (plural — “along with the chronometer” is a phrase) → “give.” Possessive apostrophe: “ship's.”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from “Ulysses”</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Alfred, Lord Tennyson, 1842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Tho’ much is taken, much abides; and tho’</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We are not now that strength which in old days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Moved earth and heaven, that which we are, we are —</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One equal temper of heroic hearts,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Made weak by time and fate, but strong in will</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To strive, to seek, to find, and not to yield.</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of Tennyson’s four words best describes Nat Bowditch through these chapters — strive, seek, find, or not to yield? What evidence from Chapters 9–12 supports your choice?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Looking back at Chapters 9-12, has Nat's biggest fight been against the sea, against poverty, or against people who doubted him? Pick one and defend it with evidence.</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Looking back at Chapters 9-12, has Nat's biggest fight been against the sea, against poverty, or against people who doubted him? Pick one and defend it with evidence.</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Does this detail actually support what I'm trying to say, or is it just filler?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Choice Menu</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Show What You Know — your way</a:t>
            </a:r>
            <a:endParaRPr lang="en-US" sz="1100" dirty="0"/>
          </a:p>
        </p:txBody>
      </p:sp>
      <p:sp>
        <p:nvSpPr>
          <p:cNvPr id="5" name="Text 3"/>
          <p:cNvSpPr/>
          <p:nvPr/>
        </p:nvSpPr>
        <p:spPr>
          <a:xfrm>
            <a:off x="365760" y="1097280"/>
            <a:ext cx="8412480" cy="365760"/>
          </a:xfrm>
          <a:prstGeom prst="rect">
            <a:avLst/>
          </a:prstGeom>
          <a:noFill/>
          <a:ln/>
        </p:spPr>
        <p:txBody>
          <a:bodyPr wrap="square" lIns="0" tIns="0" rIns="0" bIns="0" rtlCol="0" anchor="ctr"/>
          <a:lstStyle/>
          <a:p>
            <a:pPr indent="0" marL="0">
              <a:buNone/>
            </a:pPr>
            <a:r>
              <a:rPr lang="en-US" sz="1200" b="1" dirty="0">
                <a:solidFill>
                  <a:srgbClr val="0E1C42"/>
                </a:solidFill>
                <a:latin typeface="Calibri" pitchFamily="34" charset="0"/>
                <a:ea typeface="Calibri" pitchFamily="34" charset="-122"/>
                <a:cs typeface="Calibri" pitchFamily="34" charset="-120"/>
              </a:rPr>
              <a:t>Words: longitude · supercargo · terrestrial · observation · navigate · prospect</a:t>
            </a:r>
            <a:endParaRPr lang="en-US" sz="1200" dirty="0"/>
          </a:p>
        </p:txBody>
      </p:sp>
      <p:sp>
        <p:nvSpPr>
          <p:cNvPr id="6" name="Shape 4"/>
          <p:cNvSpPr/>
          <p:nvPr/>
        </p:nvSpPr>
        <p:spPr>
          <a:xfrm>
            <a:off x="365760" y="15544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600200"/>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A: ✍️ Write a Scene — Write a 4–6 sentence scene with Nat at sea. Use at least four vocabulary words naturally. Underline each one.</a:t>
            </a:r>
            <a:endParaRPr lang="en-US" sz="1050" dirty="0"/>
          </a:p>
        </p:txBody>
      </p:sp>
      <p:sp>
        <p:nvSpPr>
          <p:cNvPr id="8" name="Shape 6"/>
          <p:cNvSpPr/>
          <p:nvPr/>
        </p:nvSpPr>
        <p:spPr>
          <a:xfrm>
            <a:off x="365760" y="21122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157984"/>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B: 📊 Two-Column Chart — For five words: write the word, its definition in your own words, and one way Nat encounters or uses it. Use chart format.</a:t>
            </a:r>
            <a:endParaRPr lang="en-US" sz="1050" dirty="0"/>
          </a:p>
        </p:txBody>
      </p:sp>
      <p:sp>
        <p:nvSpPr>
          <p:cNvPr id="10" name="Shape 8"/>
          <p:cNvSpPr/>
          <p:nvPr/>
        </p:nvSpPr>
        <p:spPr>
          <a:xfrm>
            <a:off x="365760" y="2670048"/>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715768"/>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C: 🧠 Explain the Connection — Choose three words and explain how they are all connected to each other in Nat’s work as a navigator. How do longitude , observation , and navigate work together?</a:t>
            </a:r>
            <a:endParaRPr lang="en-US" sz="1050" dirty="0"/>
          </a:p>
        </p:txBody>
      </p:sp>
      <p:sp>
        <p:nvSpPr>
          <p:cNvPr id="12" name="Shape 10"/>
          <p:cNvSpPr/>
          <p:nvPr/>
        </p:nvSpPr>
        <p:spPr>
          <a:xfrm>
            <a:off x="365760" y="3227832"/>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73552"/>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D: 📝 Three Questions — Write three questions that could only be answered correctly by someone who truly understood these words — then answer them.</a:t>
            </a:r>
            <a:endParaRPr lang="en-US" sz="1050" dirty="0"/>
          </a:p>
        </p:txBody>
      </p:sp>
      <p:sp>
        <p:nvSpPr>
          <p:cNvPr id="14" name="Shape 12"/>
          <p:cNvSpPr/>
          <p:nvPr/>
        </p:nvSpPr>
        <p:spPr>
          <a:xfrm>
            <a:off x="365760" y="3831336"/>
            <a:ext cx="8412480" cy="640080"/>
          </a:xfrm>
          <a:prstGeom prst="roundRect">
            <a:avLst>
              <a:gd name="adj" fmla="val 14286"/>
            </a:avLst>
          </a:prstGeom>
          <a:solidFill>
            <a:srgbClr val="FEF6E8"/>
          </a:solidFill>
          <a:ln w="12700">
            <a:solidFill>
              <a:srgbClr val="C7922C"/>
            </a:solidFill>
            <a:prstDash val="solid"/>
          </a:ln>
        </p:spPr>
      </p:sp>
      <p:sp>
        <p:nvSpPr>
          <p:cNvPr id="15" name="Text 13"/>
          <p:cNvSpPr/>
          <p:nvPr/>
        </p:nvSpPr>
        <p:spPr>
          <a:xfrm>
            <a:off x="548640" y="3877056"/>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Vocabulary
</a:t>
            </a:r>
            <a:pPr indent="0" marL="0">
              <a:buNone/>
            </a:pPr>
            <a:r>
              <a:rPr lang="en-US" sz="1000" i="1" dirty="0">
                <a:solidFill>
                  <a:srgbClr val="1E293B"/>
                </a:solidFill>
                <a:latin typeface="Calibri" pitchFamily="34" charset="0"/>
                <a:ea typeface="Calibri" pitchFamily="34" charset="-122"/>
                <a:cs typeface="Calibri" pitchFamily="34" charset="-120"/>
              </a:rPr>
              <a:t>Complete your chosen option above using this week’s words.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Explain Subject-Verb Agreement</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Explain — teach the rule</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A classmate says: “I always get confused when there are extra words between the subject and the verb. How do I know which noun is really the subject?” Write a 3–4 sentence explanation with a clear example from this week’s novel sentences.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Explain the Schwa</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Explain — why is the schwa tricky?</a:t>
            </a:r>
            <a:endParaRPr lang="en-US" sz="1100" dirty="0"/>
          </a:p>
        </p:txBody>
      </p:sp>
      <p:sp>
        <p:nvSpPr>
          <p:cNvPr id="7" name="Text 5"/>
          <p:cNvSpPr/>
          <p:nvPr/>
        </p:nvSpPr>
        <p:spPr>
          <a:xfrm>
            <a:off x="365760" y="1143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8" name="Shape 6"/>
          <p:cNvSpPr/>
          <p:nvPr/>
        </p:nvSpPr>
        <p:spPr>
          <a:xfrm>
            <a:off x="365760" y="1417320"/>
            <a:ext cx="8412480" cy="1188720"/>
          </a:xfrm>
          <a:prstGeom prst="roundRect">
            <a:avLst>
              <a:gd name="adj" fmla="val 7692"/>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508760"/>
            <a:ext cx="8046720" cy="1042416"/>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A classmate says: “Why can’t I just sound out every vowel?” In your reading journal, explain why the schwa makes this impossible — and give two examples of schwa words where the letter and the sound don’t match.</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11 — Chapter 12 — Down to the Sea</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12 — Down to the Sea</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Put together: “Anchor to Windward” + “Freedom” + “What Next?” + “Down to the Sea.” What story do these titles tell, in sequence?</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Chapter 12 tests whether Nat’s mathematics works in real conditions. As you read, ask: does it work? And what does that mean for everything that came before?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In Chapter 12, Nat’s navigation is tested under actual sea conditions. Explain: what does he do, and how does it prove the value of his years of self-education? Connect specifically to something from Chapters 5–8.</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Chapter 10 is titled “Freedom” and Chapter 12 is “Down to the Sea.” Together they complete a movement that began in Chapter 5 with a dying whistle. How do events in Chapters 10–12 develop Nat’s character — not just his circumstances, but who he is ?</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 Week Reflective Question (Chs. 9–12): These four chapters show Nat completing one arc and beginning another — from the end of his indenture to his first successful voyage. In your research claim, you identified one quality that made him extraordinary. How do Chapters 9–12 provide your strongest evidence for that claim? Cite at least two moments from two different chapters.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DRAFT  ·  Close Body 1 and evaluate your draft so far</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Body 1 is almost done. Today you write the closing sentence that circles back to the claim, then use the Draft Checkpoint to see how you’re doing so far.</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attempt: So that’s why Nat was extraordinary. (Too weak — just says it, doesn’t show it.)</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revised closing: Together, these examples show that Bowditch’s self-education was not passive accumulation of facts — it was deliberate, disciplined, and entirely self-directed, exactly the kind of character that would later transform navigation for thousands of sailors he would never meet.</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The closing sentence doesn’t just summarize — it interprets. It tells the reader WHAT the evidence means and connects back to the claim without just repeating it.</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DRAFT CHECKPOINT</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Check your draft so far against the four questions. Be honest — this is how you improve before you get stuck.</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the closing sentence for your Body 1 section. It should interpret the evidence and connect back to your claim — not just summarize.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