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2, Week 30 — Chapter 17: The Fifteenth of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In Chapter 17, Praiseworthy strikes gold and in his excitement calls Jack “Jack” — not “Master Jack.” Just Jack. Plain Jack — “the way he’d always wanted it to be.” This tiny moment — one word dropped — carries the weight of the entire novel.
Grammar SWYK: I will edit a passage for all convention errors and identify each type.
Vocabulary: I will practice flip cards for the final chapter words.
Reading: I will analyze the gold discovery and the boxing match in Ch.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two partners flung their hats in the air in sheer exuberance they clasped arms and swung around and around in the oblong pit we've done it jack we've done it praiseworthy roared we've struck it rich"
Corrected: "The two partners flung their hats in the air. In sheer exuberance, they clasped arms and swung around and around in the oblong pit. “We’ve done it, Jack — we’ve done it!” Praiseworthy roared. “We’ve struck it rich!”"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two partners flung their hats in the air in sheer exuberance they clasped arms and swung around and around in the oblong pit we've done it jack we've done it praiseworthy roared we've struck it rich"
Corrected: "The two partners flung their hats in the air. In sheer exuberance, they clasped arms and swung around and around in the oblong pit. “We’ve done it, Jack — we’ve done it!” Praiseworthy roared. “We’ve struck it rich!”"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Grade-Level Editing — Identify.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30 — Chapter 17: The Fifteenth of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PUBLISH
Focus: Edit and finalize — this is your penultimate session
Task: Write the final published version of your adventure story. Give it a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30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30 — Chapter 17: The Fifteenth of August</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Chapter 17, Praiseworthy strikes gold and in his excitement calls Jack “Jack” — not “Master Jack.” Just Jack. Plain Jack — “the way he’d always wanted it to be.” This tiny moment — one word dropped — carries the weight of the entire novel.</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50" dirty="0">
                <a:solidFill>
                  <a:srgbClr val="1E293B"/>
                </a:solidFill>
                <a:latin typeface="Calibri" pitchFamily="34" charset="0"/>
                <a:ea typeface="Calibri" pitchFamily="34" charset="-122"/>
                <a:cs typeface="Calibri" pitchFamily="34" charset="-120"/>
              </a:rPr>
              <a:t>I will edit a passage for all convention errors and identify each type.</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practice flip cards for the final chapter words.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gold discovery and the boxing match in Ch. 17.</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 was a moment before Jack, in his excitement, realized that Praiseworthy had called him Jack.</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 moment before Jack, in his excitement, realized that Praiseworthy had called him Jack.  </a:t>
            </a:r>
            <a:pPr indent="0" marL="0">
              <a:buNone/>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two partners flung their hats in the air in sheer exuberance they clasped arms and swung around and around in the oblong pit we've done it jack we've done it praiseworthy roared we've struck it rich</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two partners flung their hats in the air in sheer exuberance they clasped arms and swung around and around in the oblong pit we've done it jack we've done it praiseworthy roared we've struck it rich</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two partners flung their hats in the air. In sheer exuberance, they clasped arms and swung around and around in the oblong pit. “We’ve done it, Jack — we’ve done it!” Praiseworthy roared. “We’ve struck it rich!”</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strikes gold and, in his excitement, calls Jack by his first name instead of 'Master Jack.' Is a small slip like that a bigger moment than it seems? Defend your answer with evidence from Chapter 17.</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Praiseworthy strikes gold and, in his excitement, calls Jack by his first name instead of 'Master Jack.' Is a small slip like that a bigger moment than it seems? Defend your answer with evidence from Chapter 17.</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Unit Root Review — Identify</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Week 25: aud/or (hear/speak) → audience, audible, auditory, oral, orator, oration</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Week 26: rid/ris + lud/lus (laugh / play) → ridiculous, derisive, risible | ludicrous, elude, prelude, illusion, interlude</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Week 27: curr/curs + tract (run / pull) → current, occur, excursion, cursor | tractor, attract, distract, extract, contract, retract</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Week 28: fort + val/valid (strong / worth) → fortify, fortitude, effort, comfort | valor, valid, validate, prevail, evaluate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exuberance  </a:t>
            </a:r>
            <a:pPr indent="0" marL="0">
              <a:buNone/>
            </a:pPr>
            <a:r>
              <a:rPr lang="en-US" sz="1150" dirty="0">
                <a:solidFill>
                  <a:srgbClr val="1E293B"/>
                </a:solidFill>
                <a:latin typeface="Calibri" pitchFamily="34" charset="0"/>
                <a:ea typeface="Calibri" pitchFamily="34" charset="-122"/>
                <a:cs typeface="Calibri" pitchFamily="34" charset="-120"/>
              </a:rPr>
              <a:t>Joyful overflowing energy and enthusiasm. From Latin exuberare (to overflow). In sheer exuberance, Praiseworthy and Jack clasped arms and swung around in the pit when they struck gold.</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reprieve  </a:t>
            </a:r>
            <a:pPr indent="0" marL="0">
              <a:buNone/>
            </a:pPr>
            <a:r>
              <a:rPr lang="en-US" sz="1150" dirty="0">
                <a:solidFill>
                  <a:srgbClr val="1E293B"/>
                </a:solidFill>
                <a:latin typeface="Calibri" pitchFamily="34" charset="0"/>
                <a:ea typeface="Calibri" pitchFamily="34" charset="-122"/>
                <a:cs typeface="Calibri" pitchFamily="34" charset="-120"/>
              </a:rPr>
              <a:t>A cancellation or postponement of a punishment. From Old French reprendre (to take back). The Justice of Shirt-tail Camp gives Cut-Eye Higgins a temporary reprieve — until another dentist shows up.</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spirited  </a:t>
            </a:r>
            <a:pPr indent="0" marL="0">
              <a:buNone/>
            </a:pPr>
            <a:r>
              <a:rPr lang="en-US" sz="1150" dirty="0">
                <a:solidFill>
                  <a:srgbClr val="1E293B"/>
                </a:solidFill>
                <a:latin typeface="Calibri" pitchFamily="34" charset="0"/>
                <a:ea typeface="Calibri" pitchFamily="34" charset="-122"/>
                <a:cs typeface="Calibri" pitchFamily="34" charset="-120"/>
              </a:rPr>
              <a:t>Lively, energetic, and full of determination. From Latin spiritus (breath/spirit). The cat auction drew a crowd and the bidding was spirited.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counsel  </a:t>
            </a:r>
            <a:pPr indent="0" marL="0">
              <a:buNone/>
            </a:pPr>
            <a:r>
              <a:rPr lang="en-US" sz="1150" dirty="0">
                <a:solidFill>
                  <a:srgbClr val="1E293B"/>
                </a:solidFill>
                <a:latin typeface="Calibri" pitchFamily="34" charset="0"/>
                <a:ea typeface="Calibri" pitchFamily="34" charset="-122"/>
                <a:cs typeface="Calibri" pitchFamily="34" charset="-120"/>
              </a:rPr>
              <a:t>A legal advisor; also means advice or guidance. Praiseworthy “appointed himself counsel for the defense” and delivered a courtroom speech to save Cut-Eye Higgins.</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reunion  </a:t>
            </a:r>
            <a:pPr indent="0" marL="0">
              <a:buNone/>
            </a:pPr>
            <a:r>
              <a:rPr lang="en-US" sz="1150" dirty="0">
                <a:solidFill>
                  <a:srgbClr val="1E293B"/>
                </a:solidFill>
                <a:latin typeface="Calibri" pitchFamily="34" charset="0"/>
                <a:ea typeface="Calibri" pitchFamily="34" charset="-122"/>
                <a:cs typeface="Calibri" pitchFamily="34" charset="-120"/>
              </a:rPr>
              <a:t>A gathering of people who have been separated. From French réunion . When Aunt Arabella appears on the Long Wharf, it is the most joyful reunion of the novel.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Editing Conventions — SWYK</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Punctuation:</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Commas in compound sentences (before FANBOYS joining two independent clauses)</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Commas after introductory phrases and dependent clauses</a:t>
            </a:r>
            <a:endParaRPr lang="en-US" sz="1150" dirty="0"/>
          </a:p>
        </p:txBody>
      </p:sp>
      <p:sp>
        <p:nvSpPr>
          <p:cNvPr id="11" name="Shape 9"/>
          <p:cNvSpPr/>
          <p:nvPr/>
        </p:nvSpPr>
        <p:spPr>
          <a:xfrm>
            <a:off x="365760" y="3026664"/>
            <a:ext cx="8412480" cy="777240"/>
          </a:xfrm>
          <a:prstGeom prst="roundRect">
            <a:avLst>
              <a:gd name="adj" fmla="val 11765"/>
            </a:avLst>
          </a:prstGeom>
          <a:solidFill>
            <a:srgbClr val="FEF6E8"/>
          </a:solidFill>
          <a:ln w="12700">
            <a:solidFill>
              <a:srgbClr val="C7922C"/>
            </a:solidFill>
            <a:prstDash val="solid"/>
          </a:ln>
        </p:spPr>
      </p:sp>
      <p:sp>
        <p:nvSpPr>
          <p:cNvPr id="12" name="Text 10"/>
          <p:cNvSpPr/>
          <p:nvPr/>
        </p:nvSpPr>
        <p:spPr>
          <a:xfrm>
            <a:off x="548640" y="309981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Grammar  Editing
</a:t>
            </a:r>
            <a:pPr indent="0" marL="0">
              <a:buNone/>
            </a:pPr>
            <a:r>
              <a:rPr lang="en-US" sz="1050" i="1" dirty="0">
                <a:solidFill>
                  <a:srgbClr val="1E293B"/>
                </a:solidFill>
                <a:latin typeface="Calibri" pitchFamily="34" charset="0"/>
                <a:ea typeface="Calibri" pitchFamily="34" charset="-122"/>
                <a:cs typeface="Calibri" pitchFamily="34" charset="-120"/>
              </a:rPr>
              <a:t>Edit this passage from a student adventure story. Find and correct every error in punctuation, capitalization, and clarity. Then write the corrected version in full. Identify each type of error you fixed in parentheses afterward.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Grade-Level Editing — Identify</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These are the words 5th graders most often misspell. Know them cold: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receive, believe, achieve, their/there/they’re, your/you’re, its/it’s, separate, necessary, definitely, occurred, immediately, beginning, persistence, resistance, exuberance, courage, whether, equipment, knowledge, conscience</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Unit words to check: fortitude, tenacious, ludicrous, extraction, notoriety, validity, consequently, nevertheless — make sure you can spell every word from this unit.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30 — Chapter 17: The Fifteenth of August</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30 — Chapter 17: The Fifteenth of August</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17 is the joy chapter — the emotional peak of the whole novel. They find gold. They stake their claim with the tattered umbrella. They work for weeks. Then Praiseworthy is challenged to fight the Mountain Ox. He wins — not with brute strength, but with patience, footwork, and study of The Gentleman’s Book of Boxing . Both victories say the same thing: preparation and intelligence win.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17 — “The Fifteenth of August”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They stake their claim using Praiseworthy’s tattered umbrella as a corner post. Trace the history of that umbrella through the novel — what has happened to it, and what does using it as a claim post symbolize about their journey?</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Praiseworthy wins the boxing match by patience, footwork, study, and planning — not by outmuscling the Mountain Ox. How does this victory reflect the novel’s larger theme about the kind of intelligence Praiseworthy represents?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Chapter 17 is the climax of the novel. What combination of events and details makes this the emotional peak? Identify at least three specific moments and explain what each contributes to the feeling of triumph.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PUBLISH</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Edit and finalize — this is your penultimate session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the final published version of your adventure story. Give it a title.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