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Week 14, Day 4, Chapter 24 — Man Against the Fog.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Q: Today you read Chapter 24. Ask: How does theme develop across the whole book?
Vocab SWYK: Choice board using all 6 unit vocabulary words.
Grammar: Final conventions check before essay submission.
Closing Poem: Longfellow “A Psalm of Life” closing stanza.
Reading: Chapter 24 + whole-book synthesis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lens aloud before students open their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 needed — tap-and-notice only. Discuss why each highlighted word/punctuation mark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"in man against the fog nat bowditch proves everything he has worked toward since chapter one: that the information in his corrected navigator can guide a ship anywhere on earth"
Corrected: "In “Man Against the Fog,” Nat Bowditch proves everything he has worked toward since Chapter 1: that the information in his corrected Navigator can guide a ship anywhere on earth."
Fixes: chapter title in quotes; capitalize “Nat Bowditch” and “Chapter”; colon after the independent clause; Navigator (book title) italicized;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"in man against the fog nat bowditch proves everything he has worked toward since chapter one: that the information in his corrected navigator can guide a ship anywhere on earth"
Corrected: "In “Man Against the Fog,” Nat Bowditch proves everything he has worked toward since Chapter 1: that the information in his corrected Navigator can guide a ship anywhere on earth."
Fixes: chapter title in quotes; capitalize “Nat Bowditch” and “Chapter”; colon after the independent clause; Navigator (book title) italicized;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poem aloud. Give students a moment to notice before discussing.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routine — use if time allows. Read the prompt aloud. Remind students: pick a side, defend with evidence, anticipate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Remind: choose a side, defend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Does my ending sentence actually capture my strongest point, or should I move a stronger idea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3-4 students. Encourage respectful disagreement about their choice/defense.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mode: Choice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Reflection/journal-based grammar task today — no quiz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focus: 🔤 Spelling: Unit Synthesis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Tracker: Nat's Path Through Carry On, Mr. Bowditch — 📍 UNIT COMPLETE: Six Weeks with Nat Bowditch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only — students answer these after reading, in the Assignment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Connection — PUBLISH: Plan your 2-minute presentation
Focus: Your essay is submitted. Now you plan a short presentation sharing your argument. The presentation has 5 moves — each timed.
Before: BEFORE Alex's first idea: I'll just read my essay out loud.
After: AFTER Alex's 5-move plan: (1) Hook spoken aloud [20 sec]: 'A ship navigated blind into Salem Harbor on December 25, 1803...' (2) Claim [10 sec]: 'What made Nat Bowditch extraordinary was...' (3) Body 1 highlight [30 sec]: One piece of evidence from Body 1, paraphrased. (4) Body 2 highlight [30 sec]: One piece from Body 2, paraphrased. (5) Closing [30 sec]: Return to the fog, why it matters.
Notice: Notice: Reading the essay aloud is NOT a presentation — it's a recitation. Alex's 5-move plan is spoken, paced, and SELECTED. You don't present every paragraph — you present the heart of your argument.
Tool: Today’s Tool: 5-Move Presentation Map (2 minutes) — Plan all 5 moves with timing. You will speak, not read.
Frames: “On December 25, 1803, a ship navigated blind into ___ guided only by ___.” | “What made Nat Bowditch extraordinary was ___.” | “I’ll close with the question his story asks all of us: what do you do with knowledge?”
Prompt: Write your presentation hook — the first 20 seconds you will speak aloud. Make it memorable enough to pull your audience in before you mention Nat Bowditch’s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55C8E8">
              <a:alpha val="15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55C8E8"/>
                </a:solidFill>
                <a:latin typeface="Calibri" pitchFamily="34" charset="0"/>
                <a:ea typeface="Calibri" pitchFamily="34" charset="-122"/>
                <a:cs typeface="Calibri" pitchFamily="34" charset="-120"/>
              </a:rPr>
              <a:t>WEEK 14  ·  DAY 4</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Carry On, Mr. Bowditch</a:t>
            </a:r>
            <a:endParaRPr lang="en-US" sz="3000" dirty="0"/>
          </a:p>
          <a:p>
            <a:pPr algn="l" indent="0" marL="0">
              <a:buNone/>
            </a:pPr>
            <a:r>
              <a:rPr lang="en-US" sz="3000" b="1" dirty="0">
                <a:solidFill>
                  <a:srgbClr val="FFFFFF"/>
                </a:solidFill>
                <a:latin typeface="Calibri" pitchFamily="34" charset="0"/>
                <a:ea typeface="Calibri" pitchFamily="34" charset="-122"/>
                <a:cs typeface="Calibri" pitchFamily="34" charset="-120"/>
              </a:rPr>
              <a:t>Chapter 24 — Man Against the Fog</a:t>
            </a:r>
            <a:endParaRPr lang="en-US" sz="3000" dirty="0"/>
          </a:p>
        </p:txBody>
      </p:sp>
      <p:sp>
        <p:nvSpPr>
          <p:cNvPr id="5" name="Text 3"/>
          <p:cNvSpPr/>
          <p:nvPr/>
        </p:nvSpPr>
        <p:spPr>
          <a:xfrm>
            <a:off x="457200" y="443484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  Week 14  ·  Virtue: Perseverance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Today's Objectives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686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BIG QUESTION</a:t>
            </a:r>
            <a:endParaRPr lang="en-US" sz="1100" dirty="0"/>
          </a:p>
        </p:txBody>
      </p:sp>
      <p:sp>
        <p:nvSpPr>
          <p:cNvPr id="5" name="Shape 3"/>
          <p:cNvSpPr/>
          <p:nvPr/>
        </p:nvSpPr>
        <p:spPr>
          <a:xfrm>
            <a:off x="365760" y="1115568"/>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07008"/>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Today you read Chapter 24. Ask: How does theme develop across the whole book?</a:t>
            </a:r>
            <a:endParaRPr lang="en-US" sz="1300" dirty="0"/>
          </a:p>
        </p:txBody>
      </p:sp>
      <p:sp>
        <p:nvSpPr>
          <p:cNvPr id="7" name="Text 5"/>
          <p:cNvSpPr/>
          <p:nvPr/>
        </p:nvSpPr>
        <p:spPr>
          <a:xfrm>
            <a:off x="365760" y="20116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BY THE END OF THIS LESSON...</a:t>
            </a:r>
            <a:endParaRPr lang="en-US" sz="1100" dirty="0"/>
          </a:p>
        </p:txBody>
      </p:sp>
      <p:sp>
        <p:nvSpPr>
          <p:cNvPr id="8" name="Shape 6"/>
          <p:cNvSpPr/>
          <p:nvPr/>
        </p:nvSpPr>
        <p:spPr>
          <a:xfrm>
            <a:off x="365760" y="2286000"/>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359152"/>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Vocab SWYK: </a:t>
            </a:r>
            <a:pPr indent="0" marL="0">
              <a:buNone/>
            </a:pPr>
            <a:r>
              <a:rPr lang="en-US" sz="1250" dirty="0">
                <a:solidFill>
                  <a:srgbClr val="1E293B"/>
                </a:solidFill>
                <a:latin typeface="Calibri" pitchFamily="34" charset="0"/>
                <a:ea typeface="Calibri" pitchFamily="34" charset="-122"/>
                <a:cs typeface="Calibri" pitchFamily="34" charset="-120"/>
              </a:rPr>
              <a:t>Choice board using all 6 unit vocabulary words.</a:t>
            </a:r>
            <a:endParaRPr lang="en-US" sz="1500" dirty="0"/>
          </a:p>
        </p:txBody>
      </p:sp>
      <p:sp>
        <p:nvSpPr>
          <p:cNvPr id="10" name="Shape 8"/>
          <p:cNvSpPr/>
          <p:nvPr/>
        </p:nvSpPr>
        <p:spPr>
          <a:xfrm>
            <a:off x="365760" y="3090672"/>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163824"/>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Grammar: </a:t>
            </a:r>
            <a:pPr indent="0" marL="0">
              <a:buNone/>
            </a:pPr>
            <a:r>
              <a:rPr lang="en-US" sz="1250" dirty="0">
                <a:solidFill>
                  <a:srgbClr val="1E293B"/>
                </a:solidFill>
                <a:latin typeface="Calibri" pitchFamily="34" charset="0"/>
                <a:ea typeface="Calibri" pitchFamily="34" charset="-122"/>
                <a:cs typeface="Calibri" pitchFamily="34" charset="-120"/>
              </a:rPr>
              <a:t>Final conventions check before essay submission.</a:t>
            </a:r>
            <a:endParaRPr lang="en-US" sz="1500" dirty="0"/>
          </a:p>
        </p:txBody>
      </p:sp>
      <p:sp>
        <p:nvSpPr>
          <p:cNvPr id="12" name="Shape 10"/>
          <p:cNvSpPr/>
          <p:nvPr/>
        </p:nvSpPr>
        <p:spPr>
          <a:xfrm>
            <a:off x="365760" y="3895344"/>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968496"/>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Closing Poem: </a:t>
            </a:r>
            <a:pPr indent="0" marL="0">
              <a:buNone/>
            </a:pPr>
            <a:r>
              <a:rPr lang="en-US" sz="1250" dirty="0">
                <a:solidFill>
                  <a:srgbClr val="1E293B"/>
                </a:solidFill>
                <a:latin typeface="Calibri" pitchFamily="34" charset="0"/>
                <a:ea typeface="Calibri" pitchFamily="34" charset="-122"/>
                <a:cs typeface="Calibri" pitchFamily="34" charset="-120"/>
              </a:rPr>
              <a:t>Longfellow “A Psalm of Life” closing stanza.</a:t>
            </a:r>
            <a:endParaRPr lang="en-US" sz="1500" dirty="0"/>
          </a:p>
        </p:txBody>
      </p:sp>
      <p:sp>
        <p:nvSpPr>
          <p:cNvPr id="14" name="Shape 12"/>
          <p:cNvSpPr/>
          <p:nvPr/>
        </p:nvSpPr>
        <p:spPr>
          <a:xfrm>
            <a:off x="365760" y="4700016"/>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4773168"/>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Reading: </a:t>
            </a:r>
            <a:pPr indent="0" marL="0">
              <a:buNone/>
            </a:pPr>
            <a:r>
              <a:rPr lang="en-US" sz="1250" dirty="0">
                <a:solidFill>
                  <a:srgbClr val="1E293B"/>
                </a:solidFill>
                <a:latin typeface="Calibri" pitchFamily="34" charset="0"/>
                <a:ea typeface="Calibri" pitchFamily="34" charset="-122"/>
                <a:cs typeface="Calibri" pitchFamily="34" charset="-120"/>
              </a:rPr>
              <a:t>Chapter 24 + whole-book synthesis question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What Good Readers Do</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SET YOUR READING LENS</a:t>
            </a:r>
            <a:endParaRPr lang="en-US" sz="1100" dirty="0"/>
          </a:p>
        </p:txBody>
      </p:sp>
      <p:sp>
        <p:nvSpPr>
          <p:cNvPr id="5" name="Shape 3"/>
          <p:cNvSpPr/>
          <p:nvPr/>
        </p:nvSpPr>
        <p:spPr>
          <a:xfrm>
            <a:off x="365760" y="1078992"/>
            <a:ext cx="8412480" cy="1051560"/>
          </a:xfrm>
          <a:prstGeom prst="roundRect">
            <a:avLst>
              <a:gd name="adj" fmla="val 869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70432"/>
            <a:ext cx="7955280" cy="86868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This is Day 4 of Week 14 — the final day of the unit. Chapter 24 is the climax and resolution of everything. As you read it today, you are not reading a chapter; you are completing a six-week conversation with a book. The question for Day 4 is not “what happened in Chapter 24” but “what does the whole story mean?” and “how does the last chapter prove it?”</a:t>
            </a:r>
            <a:endParaRPr lang="en-US" sz="1300" dirty="0"/>
          </a:p>
        </p:txBody>
      </p:sp>
      <p:sp>
        <p:nvSpPr>
          <p:cNvPr id="7" name="Text 5"/>
          <p:cNvSpPr/>
          <p:nvPr/>
        </p:nvSpPr>
        <p:spPr>
          <a:xfrm>
            <a:off x="365760" y="228600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FOR THIS AS YOU READ</a:t>
            </a:r>
            <a:endParaRPr lang="en-US" sz="1100" dirty="0"/>
          </a:p>
        </p:txBody>
      </p:sp>
      <p:sp>
        <p:nvSpPr>
          <p:cNvPr id="8" name="Shape 6"/>
          <p:cNvSpPr/>
          <p:nvPr/>
        </p:nvSpPr>
        <p:spPr>
          <a:xfrm>
            <a:off x="365760" y="2606040"/>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679192"/>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If the whole book is about Nat proving that navigation is “a simple matter of mathematics,” what kind of final test would perfectly prove it? What conditions would make the proof most dramatic and undeniable?</a:t>
            </a:r>
            <a:endParaRPr lang="en-US" sz="1300" dirty="0"/>
          </a:p>
        </p:txBody>
      </p:sp>
      <p:sp>
        <p:nvSpPr>
          <p:cNvPr id="10" name="Shape 8"/>
          <p:cNvSpPr/>
          <p:nvPr/>
        </p:nvSpPr>
        <p:spPr>
          <a:xfrm>
            <a:off x="365760" y="3319272"/>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392424"/>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As you read, ask: how does the fog function as more than just weather? What does the fog represent in the context of the whole book’s themes?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Study What's Right</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TAP TO NOTICE</a:t>
            </a:r>
            <a:endParaRPr lang="en-US" sz="1100" dirty="0"/>
          </a:p>
        </p:txBody>
      </p:sp>
      <p:sp>
        <p:nvSpPr>
          <p:cNvPr id="5" name="Shape 3"/>
          <p:cNvSpPr/>
          <p:nvPr/>
        </p:nvSpPr>
        <p:spPr>
          <a:xfrm>
            <a:off x="365760" y="1078992"/>
            <a:ext cx="841248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68580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final chapter, “Man Against the Fog,” ends exactly where the book’s argument began — with the claim that a reliable navigator needs no luck, only mathematics.</a:t>
            </a:r>
            <a:endParaRPr lang="en-US" sz="1600" dirty="0"/>
          </a:p>
        </p:txBody>
      </p:sp>
      <p:sp>
        <p:nvSpPr>
          <p:cNvPr id="7" name="Text 5"/>
          <p:cNvSpPr/>
          <p:nvPr/>
        </p:nvSpPr>
        <p:spPr>
          <a:xfrm>
            <a:off x="365760" y="210312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EACH TAPPED WORD TEACHES</a:t>
            </a:r>
            <a:endParaRPr lang="en-US" sz="1100" dirty="0"/>
          </a:p>
        </p:txBody>
      </p:sp>
      <p:sp>
        <p:nvSpPr>
          <p:cNvPr id="8" name="Shape 6"/>
          <p:cNvSpPr/>
          <p:nvPr/>
        </p:nvSpPr>
        <p:spPr>
          <a:xfrm>
            <a:off x="365760" y="2377440"/>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432304"/>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“Man Against the Fog,”  </a:t>
            </a:r>
            <a:pPr indent="0" marL="0">
              <a:buNone/>
            </a:pPr>
            <a:r>
              <a:rPr lang="en-US" sz="1200" dirty="0">
                <a:solidFill>
                  <a:srgbClr val="1E293B"/>
                </a:solidFill>
                <a:latin typeface="Calibri" pitchFamily="34" charset="0"/>
                <a:ea typeface="Calibri" pitchFamily="34" charset="-122"/>
                <a:cs typeface="Calibri" pitchFamily="34" charset="-120"/>
              </a:rPr>
              <a:t>Chapter title in quotation marks.</a:t>
            </a:r>
            <a:endParaRPr lang="en-US" sz="1300" dirty="0"/>
          </a:p>
        </p:txBody>
      </p:sp>
      <p:sp>
        <p:nvSpPr>
          <p:cNvPr id="10" name="Shape 8"/>
          <p:cNvSpPr/>
          <p:nvPr/>
        </p:nvSpPr>
        <p:spPr>
          <a:xfrm>
            <a:off x="365760" y="2953512"/>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008376"/>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navigator  </a:t>
            </a:r>
            <a:pPr indent="0" marL="0">
              <a:buNone/>
            </a:pPr>
            <a:r>
              <a:rPr lang="en-US" sz="1200" dirty="0">
                <a:solidFill>
                  <a:srgbClr val="1E293B"/>
                </a:solidFill>
                <a:latin typeface="Calibri" pitchFamily="34" charset="0"/>
                <a:ea typeface="Calibri" pitchFamily="34" charset="-122"/>
                <a:cs typeface="Calibri" pitchFamily="34" charset="-120"/>
              </a:rPr>
              <a:t>Navigator is a noun formed from navig- (sail) + -ator (one who): the one who guides.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in man against the fog nat bowditch proves everything he has worked toward since chapter one: that the information in his corrected navigator can guide a ship anywhere on earth</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in man against the fog nat bowditch proves everything he has worked toward since chapter one: that the information in his corrected navigator can guide a ship anywhere on earth</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
        <p:nvSpPr>
          <p:cNvPr id="10" name="Shape 8"/>
          <p:cNvSpPr/>
          <p:nvPr/>
        </p:nvSpPr>
        <p:spPr>
          <a:xfrm>
            <a:off x="365760" y="2468880"/>
            <a:ext cx="8412480" cy="1371600"/>
          </a:xfrm>
          <a:prstGeom prst="roundRect">
            <a:avLst>
              <a:gd name="adj" fmla="val 6667"/>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56032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2" name="Text 10"/>
          <p:cNvSpPr/>
          <p:nvPr/>
        </p:nvSpPr>
        <p:spPr>
          <a:xfrm>
            <a:off x="594360" y="2834640"/>
            <a:ext cx="7955280" cy="457200"/>
          </a:xfrm>
          <a:prstGeom prst="rect">
            <a:avLst/>
          </a:prstGeom>
          <a:noFill/>
          <a:ln/>
        </p:spPr>
        <p:txBody>
          <a:bodyPr wrap="square" lIns="0" tIns="0" rIns="0" bIns="0" rtlCol="0" anchor="ctr"/>
          <a:lstStyle/>
          <a:p>
            <a:pPr indent="0" marL="0">
              <a:buNone/>
            </a:pPr>
            <a:r>
              <a:rPr lang="en-US" sz="1500" b="1" i="1" dirty="0">
                <a:solidFill>
                  <a:srgbClr val="1E293B"/>
                </a:solidFill>
                <a:latin typeface="Calibri" pitchFamily="34" charset="0"/>
                <a:ea typeface="Calibri" pitchFamily="34" charset="-122"/>
                <a:cs typeface="Calibri" pitchFamily="34" charset="-120"/>
              </a:rPr>
              <a:t>In “Man Against the Fog,” Nat Bowditch proves everything he has worked toward since Chapter 1: that the information in his corrected Navigator can guide a ship anywhere on earth.</a:t>
            </a:r>
            <a:endParaRPr lang="en-US" sz="1500" dirty="0"/>
          </a:p>
        </p:txBody>
      </p:sp>
      <p:sp>
        <p:nvSpPr>
          <p:cNvPr id="13" name="Text 11"/>
          <p:cNvSpPr/>
          <p:nvPr/>
        </p:nvSpPr>
        <p:spPr>
          <a:xfrm>
            <a:off x="594360" y="3310128"/>
            <a:ext cx="7955280" cy="45720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Fixes: chapter title in quotes; capitalize “Nat Bowditch” and “Chapter”; colon after the independent clause; Navigator (book title) italicized; period.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Poetry Corner</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365760" y="868680"/>
            <a:ext cx="8412480" cy="2423160"/>
          </a:xfrm>
          <a:prstGeom prst="roundRect">
            <a:avLst>
              <a:gd name="adj" fmla="val 3774"/>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960120"/>
            <a:ext cx="79552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from “A Psalm of Life” (closing stanza)</a:t>
            </a:r>
            <a:endParaRPr lang="en-US" sz="2000" dirty="0"/>
          </a:p>
        </p:txBody>
      </p:sp>
      <p:sp>
        <p:nvSpPr>
          <p:cNvPr id="6" name="Text 4"/>
          <p:cNvSpPr/>
          <p:nvPr/>
        </p:nvSpPr>
        <p:spPr>
          <a:xfrm>
            <a:off x="594360" y="1325880"/>
            <a:ext cx="7955280" cy="2743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by Henry Wadsworth Longfellow, 1838 — public domain</a:t>
            </a:r>
            <a:endParaRPr lang="en-US" sz="1300" dirty="0"/>
          </a:p>
        </p:txBody>
      </p:sp>
      <p:sp>
        <p:nvSpPr>
          <p:cNvPr id="7" name="Text 5"/>
          <p:cNvSpPr/>
          <p:nvPr/>
        </p:nvSpPr>
        <p:spPr>
          <a:xfrm>
            <a:off x="594360" y="1645920"/>
            <a:ext cx="7955280" cy="1554480"/>
          </a:xfrm>
          <a:prstGeom prst="rect">
            <a:avLst/>
          </a:prstGeom>
          <a:noFill/>
          <a:ln/>
        </p:spPr>
        <p:txBody>
          <a:bodyPr wrap="square" lIns="0" tIns="0" rIns="0" bIns="0" rtlCol="0" anchor="t"/>
          <a:lstStyle/>
          <a:p>
            <a:pPr indent="0" marL="0">
              <a:buNone/>
            </a:pPr>
            <a:r>
              <a:rPr lang="en-US" sz="1500" i="1" dirty="0">
                <a:solidFill>
                  <a:srgbClr val="1E293B"/>
                </a:solidFill>
                <a:latin typeface="Georgia" pitchFamily="34" charset="0"/>
                <a:ea typeface="Georgia" pitchFamily="34" charset="-122"/>
                <a:cs typeface="Georgia" pitchFamily="34" charset="-120"/>
              </a:rPr>
              <a:t>Let us, then, be up and doing,</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With a heart for any fate;</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Still achieving, still pursuing,</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Learn to labor and to wait.</a:t>
            </a:r>
            <a:endParaRPr lang="en-US" sz="1500" dirty="0"/>
          </a:p>
        </p:txBody>
      </p:sp>
      <p:sp>
        <p:nvSpPr>
          <p:cNvPr id="8" name="Text 6"/>
          <p:cNvSpPr/>
          <p:nvPr/>
        </p:nvSpPr>
        <p:spPr>
          <a:xfrm>
            <a:off x="36576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THINK ABOUT THIS</a:t>
            </a:r>
            <a:endParaRPr lang="en-US" sz="1100" dirty="0"/>
          </a:p>
        </p:txBody>
      </p:sp>
      <p:sp>
        <p:nvSpPr>
          <p:cNvPr id="9" name="Shape 7"/>
          <p:cNvSpPr/>
          <p:nvPr/>
        </p:nvSpPr>
        <p:spPr>
          <a:xfrm>
            <a:off x="365760" y="3685032"/>
            <a:ext cx="8412480" cy="914400"/>
          </a:xfrm>
          <a:prstGeom prst="roundRect">
            <a:avLst>
              <a:gd name="adj" fmla="val 1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3776472"/>
            <a:ext cx="795528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Which of Longfellow’s four lines fits Nat Bowditch most perfectly, and why? Use specific evidence from the novel to support your choice.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Quick Write (Optional)</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280160"/>
            <a:ext cx="8229600" cy="1463040"/>
          </a:xfrm>
          <a:prstGeom prst="roundRect">
            <a:avLst>
              <a:gd name="adj" fmla="val 625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389888"/>
            <a:ext cx="7863840" cy="12344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Looking back across the whole book, what is Nat Bowditch's greatest achievement: solving the fog and finding his way home in the final chapter, or everything he did in the twenty-three chapters before it that made that moment possible? Defend your answer with evidence from the whole novel.</a:t>
            </a:r>
            <a:endParaRPr lang="en-US" sz="1600" dirty="0"/>
          </a:p>
        </p:txBody>
      </p:sp>
      <p:sp>
        <p:nvSpPr>
          <p:cNvPr id="7" name="Text 5"/>
          <p:cNvSpPr/>
          <p:nvPr/>
        </p:nvSpPr>
        <p:spPr>
          <a:xfrm>
            <a:off x="457200" y="2926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SENTENCE SCAFFOLD (USE WHAT HELPS)</a:t>
            </a:r>
            <a:endParaRPr lang="en-US" sz="1100" dirty="0"/>
          </a:p>
        </p:txBody>
      </p:sp>
      <p:sp>
        <p:nvSpPr>
          <p:cNvPr id="8" name="Text 6"/>
          <p:cNvSpPr/>
          <p:nvPr/>
        </p:nvSpPr>
        <p:spPr>
          <a:xfrm>
            <a:off x="457200" y="3218688"/>
            <a:ext cx="8229600" cy="822960"/>
          </a:xfrm>
          <a:prstGeom prst="rect">
            <a:avLst/>
          </a:prstGeom>
          <a:noFill/>
          <a:ln/>
        </p:spPr>
        <p:txBody>
          <a:bodyPr wrap="square" lIns="0" tIns="0" rIns="0" bIns="0" rtlCol="0" anchor="ctr"/>
          <a:lstStyle/>
          <a:p>
            <a:pPr indent="0" marL="0">
              <a:buNone/>
            </a:pPr>
            <a:r>
              <a:rPr lang="en-US" sz="1150" i="1" dirty="0">
                <a:solidFill>
                  <a:srgbClr val="0E1C42"/>
                </a:solidFill>
                <a:latin typeface="Calibri" pitchFamily="34" charset="0"/>
                <a:ea typeface="Calibri" pitchFamily="34" charset="-122"/>
                <a:cs typeface="Calibri" pitchFamily="34" charset="-120"/>
              </a:rPr>
              <a:t>I think...   →   because...   →   One piece of evidence is...   →   This matters because...   →   Someone might disagree, but...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  Writing Time</a:t>
            </a:r>
            <a:endParaRPr lang="en-US" sz="3000" dirty="0"/>
          </a:p>
        </p:txBody>
      </p:sp>
      <p:sp>
        <p:nvSpPr>
          <p:cNvPr id="3" name="Text 1"/>
          <p:cNvSpPr/>
          <p:nvPr/>
        </p:nvSpPr>
        <p:spPr>
          <a:xfrm>
            <a:off x="914400" y="804672"/>
            <a:ext cx="7315200" cy="365760"/>
          </a:xfrm>
          <a:prstGeom prst="rect">
            <a:avLst/>
          </a:prstGeom>
          <a:noFill/>
          <a:ln/>
        </p:spPr>
        <p:txBody>
          <a:bodyPr wrap="square" lIns="0" tIns="0" rIns="0" bIns="0" rtlCol="0" anchor="ctr"/>
          <a:lstStyle/>
          <a:p>
            <a:pPr algn="ctr" indent="0" marL="0">
              <a:buNone/>
            </a:pPr>
            <a:r>
              <a:rPr lang="en-US" sz="1500" dirty="0">
                <a:solidFill>
                  <a:srgbClr val="C7922C"/>
                </a:solidFill>
                <a:latin typeface="Calibri" pitchFamily="34" charset="0"/>
                <a:ea typeface="Calibri" pitchFamily="34" charset="-122"/>
                <a:cs typeface="Calibri" pitchFamily="34" charset="-120"/>
              </a:rPr>
              <a:t>5 minutes — keep your pencil moving!</a:t>
            </a:r>
            <a:endParaRPr lang="en-US" sz="1500" dirty="0"/>
          </a:p>
        </p:txBody>
      </p:sp>
      <p:sp>
        <p:nvSpPr>
          <p:cNvPr id="4" name="Shape 2"/>
          <p:cNvSpPr/>
          <p:nvPr/>
        </p:nvSpPr>
        <p:spPr>
          <a:xfrm>
            <a:off x="457200" y="1325880"/>
            <a:ext cx="8229600" cy="1188720"/>
          </a:xfrm>
          <a:prstGeom prst="roundRect">
            <a:avLst>
              <a:gd name="adj" fmla="val 7692"/>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371600"/>
            <a:ext cx="7863840" cy="109728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Looking back across the whole book, what is Nat Bowditch's greatest achievement: solving the fog and finding his way home in the final chapter, or everything he did in the twenty-three chapters before it that made that moment possible? Defend your answer with evidence from the whole novel.</a:t>
            </a:r>
            <a:endParaRPr lang="en-US" sz="1200" dirty="0"/>
          </a:p>
        </p:txBody>
      </p:sp>
      <p:sp>
        <p:nvSpPr>
          <p:cNvPr id="6" name="Shape 4"/>
          <p:cNvSpPr/>
          <p:nvPr/>
        </p:nvSpPr>
        <p:spPr>
          <a:xfrm>
            <a:off x="1554480" y="2743200"/>
            <a:ext cx="6035040" cy="1600200"/>
          </a:xfrm>
          <a:prstGeom prst="roundRect">
            <a:avLst>
              <a:gd name="adj" fmla="val 6857"/>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1737360" y="2834640"/>
            <a:ext cx="5669280" cy="14173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Scaffold, if you need it:
</a:t>
            </a:r>
            <a:pPr indent="0" marL="0">
              <a:buNone/>
            </a:pPr>
            <a:r>
              <a:rPr lang="en-US" sz="1150" dirty="0">
                <a:solidFill>
                  <a:srgbClr val="1E293B"/>
                </a:solidFill>
                <a:latin typeface="Calibri" pitchFamily="34" charset="0"/>
                <a:ea typeface="Calibri" pitchFamily="34" charset="-122"/>
                <a:cs typeface="Calibri" pitchFamily="34" charset="-120"/>
              </a:rPr>
              <a:t>I think...</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because...</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One piece of evidence is...</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This matters because...</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Someone might disagree, but...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20040"/>
            <a:ext cx="1828800" cy="548640"/>
          </a:xfrm>
          <a:prstGeom prst="rect">
            <a:avLst/>
          </a:prstGeom>
          <a:noFill/>
          <a:ln/>
        </p:spPr>
        <p:txBody>
          <a:bodyPr wrap="square" lIns="0" tIns="0" rIns="0" bIns="0" rtlCol="0" anchor="ctr"/>
          <a:lstStyle/>
          <a:p>
            <a:pPr algn="ctr" indent="0" marL="0">
              <a:buNone/>
            </a:pPr>
            <a:r>
              <a:rPr lang="en-US" sz="3600" dirty="0">
                <a:solidFill>
                  <a:srgbClr val="000000"/>
                </a:solidFill>
              </a:rPr>
              <a:t>🔍</a:t>
            </a:r>
            <a:endParaRPr lang="en-US" sz="3600" dirty="0"/>
          </a:p>
        </p:txBody>
      </p:sp>
      <p:sp>
        <p:nvSpPr>
          <p:cNvPr id="3" name="Text 1"/>
          <p:cNvSpPr/>
          <p:nvPr/>
        </p:nvSpPr>
        <p:spPr>
          <a:xfrm>
            <a:off x="914400" y="822960"/>
            <a:ext cx="7315200" cy="594360"/>
          </a:xfrm>
          <a:prstGeom prst="rect">
            <a:avLst/>
          </a:prstGeom>
          <a:noFill/>
          <a:ln/>
        </p:spPr>
        <p:txBody>
          <a:bodyPr wrap="square" lIns="0" tIns="0" rIns="0" bIns="0" rtlCol="0" anchor="ctr"/>
          <a:lstStyle/>
          <a:p>
            <a:pPr algn="ctr" indent="0" marL="0">
              <a:buNone/>
            </a:pPr>
            <a:r>
              <a:rPr lang="en-US" sz="2800" b="1" dirty="0">
                <a:solidFill>
                  <a:srgbClr val="0E1C42"/>
                </a:solidFill>
                <a:latin typeface="Calibri" pitchFamily="34" charset="0"/>
                <a:ea typeface="Calibri" pitchFamily="34" charset="-122"/>
                <a:cs typeface="Calibri" pitchFamily="34" charset="-120"/>
              </a:rPr>
              <a:t>Edit &amp; Revise</a:t>
            </a:r>
            <a:endParaRPr lang="en-US" sz="2800" dirty="0"/>
          </a:p>
        </p:txBody>
      </p:sp>
      <p:sp>
        <p:nvSpPr>
          <p:cNvPr id="4" name="Text 2"/>
          <p:cNvSpPr/>
          <p:nvPr/>
        </p:nvSpPr>
        <p:spPr>
          <a:xfrm>
            <a:off x="914400" y="1371600"/>
            <a:ext cx="7315200" cy="411480"/>
          </a:xfrm>
          <a:prstGeom prst="rect">
            <a:avLst/>
          </a:prstGeom>
          <a:noFill/>
          <a:ln/>
        </p:spPr>
        <p:txBody>
          <a:bodyPr wrap="square" lIns="0" tIns="0" rIns="0" bIns="0" rtlCol="0" anchor="ctr"/>
          <a:lstStyle/>
          <a:p>
            <a:pPr algn="ctr" indent="0" marL="0">
              <a:buNone/>
            </a:pPr>
            <a:r>
              <a:rPr lang="en-US" sz="1400" dirty="0">
                <a:solidFill>
                  <a:srgbClr val="34B76F"/>
                </a:solidFill>
                <a:latin typeface="Calibri" pitchFamily="34" charset="0"/>
                <a:ea typeface="Calibri" pitchFamily="34" charset="-122"/>
                <a:cs typeface="Calibri" pitchFamily="34" charset="-120"/>
              </a:rPr>
              <a:t>1 minute — one deliberate decision, not a full edit pass</a:t>
            </a:r>
            <a:endParaRPr lang="en-US" sz="1400" dirty="0"/>
          </a:p>
        </p:txBody>
      </p:sp>
      <p:sp>
        <p:nvSpPr>
          <p:cNvPr id="5" name="Shape 3"/>
          <p:cNvSpPr/>
          <p:nvPr/>
        </p:nvSpPr>
        <p:spPr>
          <a:xfrm>
            <a:off x="1188720" y="2011680"/>
            <a:ext cx="676656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371600" y="2084832"/>
            <a:ext cx="6400800" cy="640080"/>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Today's revision check: </a:t>
            </a:r>
            <a:pPr indent="0" marL="0">
              <a:buNone/>
            </a:pPr>
            <a:r>
              <a:rPr lang="en-US" sz="1300" dirty="0">
                <a:solidFill>
                  <a:srgbClr val="1E293B"/>
                </a:solidFill>
                <a:latin typeface="Calibri" pitchFamily="34" charset="0"/>
                <a:ea typeface="Calibri" pitchFamily="34" charset="-122"/>
                <a:cs typeface="Calibri" pitchFamily="34" charset="-120"/>
              </a:rPr>
              <a:t>Does my ending sentence actually capture my strongest point, or should I move a stronger idea there?</a:t>
            </a:r>
            <a:endParaRPr lang="en-US" sz="1300" dirty="0"/>
          </a:p>
        </p:txBody>
      </p:sp>
      <p:sp>
        <p:nvSpPr>
          <p:cNvPr id="7" name="Text 5"/>
          <p:cNvSpPr/>
          <p:nvPr/>
        </p:nvSpPr>
        <p:spPr>
          <a:xfrm>
            <a:off x="1188720" y="3017520"/>
            <a:ext cx="6766560" cy="457200"/>
          </a:xfrm>
          <a:prstGeom prst="rect">
            <a:avLst/>
          </a:prstGeom>
          <a:noFill/>
          <a:ln/>
        </p:spPr>
        <p:txBody>
          <a:bodyPr wrap="square" lIns="0" tIns="0" rIns="0" bIns="0" rtlCol="0" anchor="ctr"/>
          <a:lstStyle/>
          <a:p>
            <a:pPr algn="ctr" indent="0" marL="0">
              <a:buNone/>
            </a:pPr>
            <a:r>
              <a:rPr lang="en-US" sz="1200" i="1" dirty="0">
                <a:solidFill>
                  <a:srgbClr val="64748B"/>
                </a:solidFill>
                <a:latin typeface="Calibri" pitchFamily="34" charset="0"/>
                <a:ea typeface="Calibri" pitchFamily="34" charset="-122"/>
                <a:cs typeface="Calibri" pitchFamily="34" charset="-120"/>
              </a:rPr>
              <a:t>Revision = improving ideas. Editing = fixing conventions. Pick ONE thing.</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1005840"/>
            <a:ext cx="7315200" cy="59436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Share Time</a:t>
            </a:r>
            <a:endParaRPr lang="en-US" sz="3000" dirty="0"/>
          </a:p>
        </p:txBody>
      </p:sp>
      <p:sp>
        <p:nvSpPr>
          <p:cNvPr id="4" name="Text 2"/>
          <p:cNvSpPr/>
          <p:nvPr/>
        </p:nvSpPr>
        <p:spPr>
          <a:xfrm>
            <a:off x="914400" y="1554480"/>
            <a:ext cx="7315200" cy="411480"/>
          </a:xfrm>
          <a:prstGeom prst="rect">
            <a:avLst/>
          </a:prstGeom>
          <a:noFill/>
          <a:ln/>
        </p:spPr>
        <p:txBody>
          <a:bodyPr wrap="square" lIns="0" tIns="0" rIns="0" bIns="0" rtlCol="0" anchor="ctr"/>
          <a:lstStyle/>
          <a:p>
            <a:pPr algn="ctr" indent="0" marL="0">
              <a:buNone/>
            </a:pPr>
            <a:r>
              <a:rPr lang="en-US" sz="1500" dirty="0">
                <a:solidFill>
                  <a:srgbClr val="55C8E8"/>
                </a:solidFill>
                <a:latin typeface="Calibri" pitchFamily="34" charset="0"/>
                <a:ea typeface="Calibri" pitchFamily="34" charset="-122"/>
                <a:cs typeface="Calibri" pitchFamily="34" charset="-120"/>
              </a:rPr>
              <a:t>3 minutes — let's hear your thinking!</a:t>
            </a:r>
            <a:endParaRPr lang="en-US" sz="1500" dirty="0"/>
          </a:p>
        </p:txBody>
      </p:sp>
      <p:sp>
        <p:nvSpPr>
          <p:cNvPr id="5" name="Shape 3"/>
          <p:cNvSpPr/>
          <p:nvPr/>
        </p:nvSpPr>
        <p:spPr>
          <a:xfrm>
            <a:off x="1828800" y="2194560"/>
            <a:ext cx="5486400" cy="1371600"/>
          </a:xfrm>
          <a:prstGeom prst="roundRect">
            <a:avLst>
              <a:gd name="adj" fmla="val 8000"/>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011680" y="2286000"/>
            <a:ext cx="5120640" cy="11887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Raise your hand </a:t>
            </a:r>
            <a:pPr indent="0" marL="0">
              <a:buNone/>
            </a:pPr>
            <a:r>
              <a:rPr lang="en-US" sz="1300" dirty="0">
                <a:solidFill>
                  <a:srgbClr val="1E293B"/>
                </a:solidFill>
                <a:latin typeface="Calibri" pitchFamily="34" charset="0"/>
                <a:ea typeface="Calibri" pitchFamily="34" charset="-122"/>
                <a:cs typeface="Calibri" pitchFamily="34" charset="-120"/>
              </a:rPr>
              <a:t>to share, or paste your writing in the chat.
</a:t>
            </a:r>
            <a:pPr indent="0" marL="0">
              <a:buNone/>
            </a:pPr>
            <a:r>
              <a:rPr lang="en-US" sz="1200" i="1" dirty="0">
                <a:solidFill>
                  <a:srgbClr val="64748B"/>
                </a:solidFill>
                <a:latin typeface="Calibri" pitchFamily="34" charset="0"/>
                <a:ea typeface="Calibri" pitchFamily="34" charset="-122"/>
                <a:cs typeface="Calibri" pitchFamily="34" charset="-120"/>
              </a:rPr>
              <a:t>If you disagree with a classmate's choice, say so respectfully — that's part of the thinking.</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Vocabulary — Choice Menu</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Show What You Know — your way</a:t>
            </a:r>
            <a:endParaRPr lang="en-US" sz="1100" dirty="0"/>
          </a:p>
        </p:txBody>
      </p:sp>
      <p:sp>
        <p:nvSpPr>
          <p:cNvPr id="5" name="Shape 3"/>
          <p:cNvSpPr/>
          <p:nvPr/>
        </p:nvSpPr>
        <p:spPr>
          <a:xfrm>
            <a:off x="365760" y="1097280"/>
            <a:ext cx="8412480" cy="502920"/>
          </a:xfrm>
          <a:prstGeom prst="roundRect">
            <a:avLst>
              <a:gd name="adj" fmla="val 18182"/>
            </a:avLst>
          </a:prstGeom>
          <a:solidFill>
            <a:srgbClr val="E5F7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43000"/>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Option A: 📋 Nat’s Biography Entry — Write a 5–6 sentence encyclopedia entry about Nat Bowditch using all six words naturally. Write in third person as if for a reference book.</a:t>
            </a:r>
            <a:endParaRPr lang="en-US" sz="1050" dirty="0"/>
          </a:p>
        </p:txBody>
      </p:sp>
      <p:sp>
        <p:nvSpPr>
          <p:cNvPr id="7" name="Shape 5"/>
          <p:cNvSpPr/>
          <p:nvPr/>
        </p:nvSpPr>
        <p:spPr>
          <a:xfrm>
            <a:off x="365760" y="1655064"/>
            <a:ext cx="8412480" cy="502920"/>
          </a:xfrm>
          <a:prstGeom prst="roundRect">
            <a:avLst>
              <a:gd name="adj" fmla="val 18182"/>
            </a:avLst>
          </a:prstGeom>
          <a:solidFill>
            <a:srgbClr val="EAF6FA"/>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700784"/>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Option B: 📊 Word Family Tree — Draw or describe a word family tree showing how navigate and inform each branch into noun, verb, and adjective forms. Label each branch with the suffix and what it contributes.</a:t>
            </a:r>
            <a:endParaRPr lang="en-US" sz="1050" dirty="0"/>
          </a:p>
        </p:txBody>
      </p:sp>
      <p:sp>
        <p:nvSpPr>
          <p:cNvPr id="9" name="Shape 7"/>
          <p:cNvSpPr/>
          <p:nvPr/>
        </p:nvSpPr>
        <p:spPr>
          <a:xfrm>
            <a:off x="365760" y="2212848"/>
            <a:ext cx="8412480" cy="502920"/>
          </a:xfrm>
          <a:prstGeom prst="roundRect">
            <a:avLst>
              <a:gd name="adj" fmla="val 18182"/>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258568"/>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Option C: 🧠 Before &amp; After — Write two paragraphs: (1) how navigation worked BEFORE Nat’s corrections, (2) how it worked AFTER. Use all six words across both paragraphs.</a:t>
            </a:r>
            <a:endParaRPr lang="en-US" sz="1050" dirty="0"/>
          </a:p>
        </p:txBody>
      </p:sp>
      <p:sp>
        <p:nvSpPr>
          <p:cNvPr id="11" name="Shape 9"/>
          <p:cNvSpPr/>
          <p:nvPr/>
        </p:nvSpPr>
        <p:spPr>
          <a:xfrm>
            <a:off x="365760" y="2770632"/>
            <a:ext cx="8412480" cy="502920"/>
          </a:xfrm>
          <a:prstGeom prst="roundRect">
            <a:avLst>
              <a:gd name="adj" fmla="val 18182"/>
            </a:avLst>
          </a:prstGeom>
          <a:solidFill>
            <a:srgbClr val="EAF6FA"/>
          </a:solidFill>
          <a:ln/>
          <a:effectLst>
            <a:outerShdw sx="100000" sy="100000" kx="0" ky="0" algn="bl" rotWithShape="0" blurRad="101600" dist="38100" dir="2700000">
              <a:srgbClr val="000000">
                <a:alpha val="12000"/>
              </a:srgbClr>
            </a:outerShdw>
          </a:effectLst>
        </p:spPr>
      </p:sp>
      <p:sp>
        <p:nvSpPr>
          <p:cNvPr id="12" name="Text 10"/>
          <p:cNvSpPr/>
          <p:nvPr/>
        </p:nvSpPr>
        <p:spPr>
          <a:xfrm>
            <a:off x="548640" y="2816352"/>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Option D: ✍️ The Fog Scene — Write a 5–6 sentence description of the Chapter 24 fog scene using all six vocabulary words. Stay in Nat’s perspective.</a:t>
            </a:r>
            <a:endParaRPr lang="en-US" sz="1050" dirty="0"/>
          </a:p>
        </p:txBody>
      </p:sp>
      <p:sp>
        <p:nvSpPr>
          <p:cNvPr id="13" name="Shape 11"/>
          <p:cNvSpPr/>
          <p:nvPr/>
        </p:nvSpPr>
        <p:spPr>
          <a:xfrm>
            <a:off x="365760" y="3374136"/>
            <a:ext cx="8412480" cy="640080"/>
          </a:xfrm>
          <a:prstGeom prst="roundRect">
            <a:avLst>
              <a:gd name="adj" fmla="val 14286"/>
            </a:avLst>
          </a:prstGeom>
          <a:solidFill>
            <a:srgbClr val="FEF6E8"/>
          </a:solidFill>
          <a:ln w="12700">
            <a:solidFill>
              <a:srgbClr val="C7922C"/>
            </a:solidFill>
            <a:prstDash val="solid"/>
          </a:ln>
        </p:spPr>
      </p:sp>
      <p:sp>
        <p:nvSpPr>
          <p:cNvPr id="14" name="Text 12"/>
          <p:cNvSpPr/>
          <p:nvPr/>
        </p:nvSpPr>
        <p:spPr>
          <a:xfrm>
            <a:off x="548640" y="3419856"/>
            <a:ext cx="8046720" cy="548640"/>
          </a:xfrm>
          <a:prstGeom prst="rect">
            <a:avLst/>
          </a:prstGeom>
          <a:noFill/>
          <a:ln/>
        </p:spPr>
        <p:txBody>
          <a:bodyPr wrap="square" lIns="0" tIns="0" rIns="0" bIns="0" rtlCol="0" anchor="t"/>
          <a:lstStyle/>
          <a:p>
            <a:pPr indent="0" marL="0">
              <a:buNone/>
            </a:pPr>
            <a:r>
              <a:rPr lang="en-US" sz="1000" b="1" dirty="0">
                <a:solidFill>
                  <a:srgbClr val="C7922C"/>
                </a:solidFill>
                <a:latin typeface="Calibri" pitchFamily="34" charset="0"/>
                <a:ea typeface="Calibri" pitchFamily="34" charset="-122"/>
                <a:cs typeface="Calibri" pitchFamily="34" charset="-120"/>
              </a:rPr>
              <a:t>🫖 Show What You Know · Vocabulary Choice Board
</a:t>
            </a:r>
            <a:pPr indent="0" marL="0">
              <a:buNone/>
            </a:pP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Conventions in Your Final Essay</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Last check before submission</a:t>
            </a:r>
            <a:endParaRPr lang="en-US" sz="1100" dirty="0"/>
          </a:p>
        </p:txBody>
      </p:sp>
      <p:sp>
        <p:nvSpPr>
          <p:cNvPr id="5" name="Text 3"/>
          <p:cNvSpPr/>
          <p:nvPr/>
        </p:nvSpPr>
        <p:spPr>
          <a:xfrm>
            <a:off x="365760" y="10972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REFLECT IN YOUR READING JOURNAL</a:t>
            </a:r>
            <a:endParaRPr lang="en-US" sz="1100" dirty="0"/>
          </a:p>
        </p:txBody>
      </p:sp>
      <p:sp>
        <p:nvSpPr>
          <p:cNvPr id="6" name="Shape 4"/>
          <p:cNvSpPr/>
          <p:nvPr/>
        </p:nvSpPr>
        <p:spPr>
          <a:xfrm>
            <a:off x="365760" y="1371600"/>
            <a:ext cx="8412480" cy="1463040"/>
          </a:xfrm>
          <a:prstGeom prst="roundRect">
            <a:avLst>
              <a:gd name="adj" fmla="val 625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463040"/>
            <a:ext cx="8046720" cy="1280160"/>
          </a:xfrm>
          <a:prstGeom prst="rect">
            <a:avLst/>
          </a:prstGeom>
          <a:noFill/>
          <a:ln/>
        </p:spPr>
        <p:txBody>
          <a:bodyPr wrap="square" lIns="0" tIns="0" rIns="0" bIns="0" rtlCol="0" anchor="t"/>
          <a:lstStyle/>
          <a:p>
            <a:pPr indent="0" marL="0">
              <a:buNone/>
            </a:pPr>
            <a:r>
              <a:rPr lang="en-US" sz="1250" i="1" dirty="0">
                <a:solidFill>
                  <a:srgbClr val="1E293B"/>
                </a:solidFill>
                <a:latin typeface="Calibri" pitchFamily="34" charset="0"/>
                <a:ea typeface="Calibri" pitchFamily="34" charset="-122"/>
                <a:cs typeface="Calibri" pitchFamily="34" charset="-120"/>
              </a:rPr>
              <a:t>☐ No sentence fragments. Every “sentence” has a subject and a verb.</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Spelling — 🔤 Spelling: Unit Synthesis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0E1C42"/>
                </a:solidFill>
                <a:latin typeface="Calibri" pitchFamily="34" charset="0"/>
                <a:ea typeface="Calibri" pitchFamily="34" charset="-122"/>
                <a:cs typeface="Calibri" pitchFamily="34" charset="-120"/>
              </a:rPr>
              <a:t>What patterns will you remember?</a:t>
            </a:r>
            <a:endParaRPr lang="en-US" sz="1100" dirty="0"/>
          </a:p>
        </p:txBody>
      </p:sp>
      <p:sp>
        <p:nvSpPr>
          <p:cNvPr id="7" name="Text 5"/>
          <p:cNvSpPr/>
          <p:nvPr/>
        </p:nvSpPr>
        <p:spPr>
          <a:xfrm>
            <a:off x="365760" y="1143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REFLECT IN YOUR READING JOURNAL</a:t>
            </a:r>
            <a:endParaRPr lang="en-US" sz="1100" dirty="0"/>
          </a:p>
        </p:txBody>
      </p:sp>
      <p:sp>
        <p:nvSpPr>
          <p:cNvPr id="8" name="Shape 6"/>
          <p:cNvSpPr/>
          <p:nvPr/>
        </p:nvSpPr>
        <p:spPr>
          <a:xfrm>
            <a:off x="365760" y="1417320"/>
            <a:ext cx="8412480" cy="1188720"/>
          </a:xfrm>
          <a:prstGeom prst="roundRect">
            <a:avLst>
              <a:gd name="adj" fmla="val 7692"/>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548640" y="1508760"/>
            <a:ext cx="8046720" cy="1042416"/>
          </a:xfrm>
          <a:prstGeom prst="rect">
            <a:avLst/>
          </a:prstGeom>
          <a:noFill/>
          <a:ln/>
        </p:spPr>
        <p:txBody>
          <a:bodyPr wrap="square" lIns="0" tIns="0" rIns="0" bIns="0" rtlCol="0" anchor="t"/>
          <a:lstStyle/>
          <a:p>
            <a:pPr indent="0" marL="0">
              <a:buNone/>
            </a:pPr>
            <a:r>
              <a:rPr lang="en-US" sz="1200" i="1" dirty="0">
                <a:solidFill>
                  <a:srgbClr val="1E293B"/>
                </a:solidFill>
                <a:latin typeface="Calibri" pitchFamily="34" charset="0"/>
                <a:ea typeface="Calibri" pitchFamily="34" charset="-122"/>
                <a:cs typeface="Calibri" pitchFamily="34" charset="-120"/>
              </a:rPr>
              <a:t>In your reading journal: of the four spelling patterns studied this unit (schwa vowels, -ous/-ious/-eous, assimilation, word families), which one will you use most in your own writing? Why? Give two examples from your daily writing or other classes where this pattern appears.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Reading Focus + Story Journey</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YOUR STORY JOURNEY</a:t>
            </a:r>
            <a:endParaRPr lang="en-US" sz="1100" dirty="0"/>
          </a:p>
        </p:txBody>
      </p:sp>
      <p:sp>
        <p:nvSpPr>
          <p:cNvPr id="7" name="Shape 5"/>
          <p:cNvSpPr/>
          <p:nvPr/>
        </p:nvSpPr>
        <p:spPr>
          <a:xfrm>
            <a:off x="365760" y="1078992"/>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Nat's Path Through Carry On, Mr. Bowditch — 📍 UNIT COMPLETE: Six Weeks with Nat Bowditch</a:t>
            </a:r>
            <a:endParaRPr lang="en-US" sz="1250" dirty="0"/>
          </a:p>
        </p:txBody>
      </p:sp>
      <p:sp>
        <p:nvSpPr>
          <p:cNvPr id="9" name="Text 7"/>
          <p:cNvSpPr/>
          <p:nvPr/>
        </p:nvSpPr>
        <p:spPr>
          <a:xfrm>
            <a:off x="365760" y="1975104"/>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TODAY YOU ARE READING</a:t>
            </a:r>
            <a:endParaRPr lang="en-US" sz="1100" dirty="0"/>
          </a:p>
        </p:txBody>
      </p:sp>
      <p:sp>
        <p:nvSpPr>
          <p:cNvPr id="10" name="Shape 8"/>
          <p:cNvSpPr/>
          <p:nvPr/>
        </p:nvSpPr>
        <p:spPr>
          <a:xfrm>
            <a:off x="365760" y="2231136"/>
            <a:ext cx="8412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04288"/>
            <a:ext cx="7955280" cy="493776"/>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Chapter 24 — Man Against the Fog</a:t>
            </a:r>
            <a:endParaRPr lang="en-US" sz="1500" dirty="0"/>
          </a:p>
        </p:txBody>
      </p:sp>
      <p:sp>
        <p:nvSpPr>
          <p:cNvPr id="12" name="Text 10"/>
          <p:cNvSpPr/>
          <p:nvPr/>
        </p:nvSpPr>
        <p:spPr>
          <a:xfrm>
            <a:off x="365760" y="299923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KEEP YOUR READING LENS IN MIND</a:t>
            </a:r>
            <a:endParaRPr lang="en-US" sz="1100" dirty="0"/>
          </a:p>
        </p:txBody>
      </p:sp>
      <p:sp>
        <p:nvSpPr>
          <p:cNvPr id="13" name="Shape 11"/>
          <p:cNvSpPr/>
          <p:nvPr/>
        </p:nvSpPr>
        <p:spPr>
          <a:xfrm>
            <a:off x="365760" y="3255264"/>
            <a:ext cx="84124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346704"/>
            <a:ext cx="7955280" cy="1097280"/>
          </a:xfrm>
          <a:prstGeom prst="rect">
            <a:avLst/>
          </a:prstGeom>
          <a:noFill/>
          <a:ln/>
        </p:spPr>
        <p:txBody>
          <a:bodyPr wrap="square" lIns="0" tIns="0" rIns="0" bIns="0" rtlCol="0" anchor="t"/>
          <a:lstStyle/>
          <a:p>
            <a:pPr indent="0" marL="0">
              <a:buNone/>
            </a:pPr>
            <a:r>
              <a:rPr lang="en-US" sz="1200" i="1" dirty="0">
                <a:solidFill>
                  <a:srgbClr val="1E293B"/>
                </a:solidFill>
                <a:latin typeface="Calibri" pitchFamily="34" charset="0"/>
                <a:ea typeface="Calibri" pitchFamily="34" charset="-122"/>
                <a:cs typeface="Calibri" pitchFamily="34" charset="-120"/>
              </a:rPr>
              <a:t>If the whole book is about Nat proving that navigation is “a simple matter of mathematics,” what kind of final test would perfectly prove it? What conditions would make the proof most dramatic and undeniable?</a:t>
            </a:r>
            <a:endParaRPr lang="en-US" sz="1200" dirty="0"/>
          </a:p>
          <a:p>
            <a:pPr indent="0" marL="0">
              <a:buNone/>
            </a:pPr>
            <a:endParaRPr lang="en-US" sz="1200" dirty="0"/>
          </a:p>
          <a:p>
            <a:pPr indent="0" marL="0">
              <a:buNone/>
            </a:pPr>
            <a:r>
              <a:rPr lang="en-US" sz="1200" i="1" dirty="0">
                <a:solidFill>
                  <a:srgbClr val="1E293B"/>
                </a:solidFill>
                <a:latin typeface="Calibri" pitchFamily="34" charset="0"/>
                <a:ea typeface="Calibri" pitchFamily="34" charset="-122"/>
                <a:cs typeface="Calibri" pitchFamily="34" charset="-120"/>
              </a:rPr>
              <a:t>As you read, ask: how does the fog function as more than just weather? What does the fog represent in the context of the whole book’s themes?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Comprehension Questions — Preview</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YOU'LL ANSWER (PART A)</a:t>
            </a:r>
            <a:endParaRPr lang="en-US" sz="1100" dirty="0"/>
          </a:p>
        </p:txBody>
      </p:sp>
      <p:sp>
        <p:nvSpPr>
          <p:cNvPr id="5" name="Shape 3"/>
          <p:cNvSpPr/>
          <p:nvPr/>
        </p:nvSpPr>
        <p:spPr>
          <a:xfrm>
            <a:off x="365760" y="1097280"/>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70432"/>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1.  </a:t>
            </a:r>
            <a:pPr indent="0" marL="0">
              <a:buNone/>
            </a:pPr>
            <a:r>
              <a:rPr lang="en-US" sz="1150" dirty="0">
                <a:solidFill>
                  <a:srgbClr val="1E293B"/>
                </a:solidFill>
                <a:latin typeface="Calibri" pitchFamily="34" charset="0"/>
                <a:ea typeface="Calibri" pitchFamily="34" charset="-122"/>
                <a:cs typeface="Calibri" pitchFamily="34" charset="-120"/>
              </a:rPr>
              <a:t>Describe exactly how Nat navigates into Salem Harbor in the fog. What does he use, what process does he follow, and why is zero visibility not actually a problem for him? Connect his method to what he has been learning since Chapter 5.</a:t>
            </a:r>
            <a:endParaRPr lang="en-US" sz="1300" dirty="0"/>
          </a:p>
        </p:txBody>
      </p:sp>
      <p:sp>
        <p:nvSpPr>
          <p:cNvPr id="7" name="Shape 5"/>
          <p:cNvSpPr/>
          <p:nvPr/>
        </p:nvSpPr>
        <p:spPr>
          <a:xfrm>
            <a:off x="365760" y="2084832"/>
            <a:ext cx="8412480" cy="914400"/>
          </a:xfrm>
          <a:prstGeom prst="roundRect">
            <a:avLst>
              <a:gd name="adj" fmla="val 10000"/>
            </a:avLst>
          </a:prstGeom>
          <a:solidFill>
            <a:srgbClr val="F4F7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2157984"/>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2.  </a:t>
            </a:r>
            <a:pPr indent="0" marL="0">
              <a:buNone/>
            </a:pPr>
            <a:r>
              <a:rPr lang="en-US" sz="1150" dirty="0">
                <a:solidFill>
                  <a:srgbClr val="1E293B"/>
                </a:solidFill>
                <a:latin typeface="Calibri" pitchFamily="34" charset="0"/>
                <a:ea typeface="Calibri" pitchFamily="34" charset="-122"/>
                <a:cs typeface="Calibri" pitchFamily="34" charset="-120"/>
              </a:rPr>
              <a:t>The fog in Chapter 24 functions as both literal weather and a symbol. What does it represent? What has Nat been working to cut through for all 24 chapters — and how does navigating blind in December fog perfectly capture the book’s central argument?</a:t>
            </a:r>
            <a:endParaRPr lang="en-US" sz="1300" dirty="0"/>
          </a:p>
        </p:txBody>
      </p:sp>
      <p:sp>
        <p:nvSpPr>
          <p:cNvPr id="9" name="Shape 7"/>
          <p:cNvSpPr/>
          <p:nvPr/>
        </p:nvSpPr>
        <p:spPr>
          <a:xfrm>
            <a:off x="365760" y="3072384"/>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3145536"/>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3.  </a:t>
            </a:r>
            <a:pPr indent="0" marL="0">
              <a:buNone/>
            </a:pPr>
            <a:r>
              <a:rPr lang="en-US" sz="1150" dirty="0">
                <a:solidFill>
                  <a:srgbClr val="1E293B"/>
                </a:solidFill>
                <a:latin typeface="Calibri" pitchFamily="34" charset="0"/>
                <a:ea typeface="Calibri" pitchFamily="34" charset="-122"/>
                <a:cs typeface="Calibri" pitchFamily="34" charset="-120"/>
              </a:rPr>
              <a:t>💡 Whole-Book Reflective Question: Trace ONE theme from Carry On, Mr. Bowditch across the entire book. Choose one of these: (a) “Sail by ash breeze” — what it means to keep working when conditions are against you. (b) “An anchor to windward” — preparing for difficulty before it arrives. (c) “A simple matter of mathematics” — that complex things become accessible when explained clearly. Trace your chosen theme through at least four chapters from at least three different weeks.</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Writing Connection — Research Essay</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STAGE: PUBLISH  ·  Plan your 2-minute presentation</a:t>
            </a:r>
            <a:endParaRPr lang="en-US" sz="1100" dirty="0"/>
          </a:p>
        </p:txBody>
      </p:sp>
      <p:sp>
        <p:nvSpPr>
          <p:cNvPr id="5" name="Shape 3"/>
          <p:cNvSpPr/>
          <p:nvPr/>
        </p:nvSpPr>
        <p:spPr>
          <a:xfrm>
            <a:off x="365760" y="1097280"/>
            <a:ext cx="8412480" cy="548640"/>
          </a:xfrm>
          <a:prstGeom prst="roundRect">
            <a:avLst>
              <a:gd name="adj" fmla="val 16667"/>
            </a:avLst>
          </a:prstGeom>
          <a:solidFill>
            <a:srgbClr val="E8F8E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438912"/>
          </a:xfrm>
          <a:prstGeom prst="rect">
            <a:avLst/>
          </a:prstGeom>
          <a:noFill/>
          <a:ln/>
        </p:spPr>
        <p:txBody>
          <a:bodyPr wrap="square" lIns="0" tIns="0" rIns="0" bIns="0" rtlCol="0" anchor="ctr"/>
          <a:lstStyle/>
          <a:p>
            <a:pPr indent="0" marL="0">
              <a:buNone/>
            </a:pPr>
            <a:r>
              <a:rPr lang="en-US" sz="1150" b="1" dirty="0">
                <a:solidFill>
                  <a:srgbClr val="1E293B"/>
                </a:solidFill>
                <a:latin typeface="Calibri" pitchFamily="34" charset="0"/>
                <a:ea typeface="Calibri" pitchFamily="34" charset="-122"/>
                <a:cs typeface="Calibri" pitchFamily="34" charset="-120"/>
              </a:rPr>
              <a:t>Your essay is submitted. Now you plan a short presentation sharing your argument. The presentation has 5 moves — each timed.</a:t>
            </a:r>
            <a:endParaRPr lang="en-US" sz="1150" dirty="0"/>
          </a:p>
        </p:txBody>
      </p:sp>
      <p:sp>
        <p:nvSpPr>
          <p:cNvPr id="7" name="Text 5"/>
          <p:cNvSpPr/>
          <p:nvPr/>
        </p:nvSpPr>
        <p:spPr>
          <a:xfrm>
            <a:off x="365760" y="1783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HOW ALEX DOES IT</a:t>
            </a:r>
            <a:endParaRPr lang="en-US" sz="1100" dirty="0"/>
          </a:p>
        </p:txBody>
      </p:sp>
      <p:sp>
        <p:nvSpPr>
          <p:cNvPr id="8" name="Shape 6"/>
          <p:cNvSpPr/>
          <p:nvPr/>
        </p:nvSpPr>
        <p:spPr>
          <a:xfrm>
            <a:off x="365760" y="2029968"/>
            <a:ext cx="4114800" cy="1051560"/>
          </a:xfrm>
          <a:prstGeom prst="roundRect">
            <a:avLst>
              <a:gd name="adj" fmla="val 869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0292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BEFORE Alex's first idea: I'll just read my essay out loud.</a:t>
            </a:r>
            <a:endParaRPr lang="en-US" sz="950" dirty="0"/>
          </a:p>
        </p:txBody>
      </p:sp>
      <p:sp>
        <p:nvSpPr>
          <p:cNvPr id="10" name="Shape 8"/>
          <p:cNvSpPr/>
          <p:nvPr/>
        </p:nvSpPr>
        <p:spPr>
          <a:xfrm>
            <a:off x="4663440" y="2029968"/>
            <a:ext cx="4114800" cy="1051560"/>
          </a:xfrm>
          <a:prstGeom prst="roundRect">
            <a:avLst>
              <a:gd name="adj" fmla="val 8696"/>
            </a:avLst>
          </a:prstGeom>
          <a:solidFill>
            <a:srgbClr val="EAF6FA"/>
          </a:solidFill>
          <a:ln/>
          <a:effectLst>
            <a:outerShdw sx="100000" sy="100000" kx="0" ky="0" algn="bl" rotWithShape="0" blurRad="101600" dist="38100" dir="2700000">
              <a:srgbClr val="000000">
                <a:alpha val="12000"/>
              </a:srgbClr>
            </a:outerShdw>
          </a:effectLst>
        </p:spPr>
      </p:sp>
      <p:sp>
        <p:nvSpPr>
          <p:cNvPr id="11" name="Text 9"/>
          <p:cNvSpPr/>
          <p:nvPr/>
        </p:nvSpPr>
        <p:spPr>
          <a:xfrm>
            <a:off x="480060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AFTER Alex's 5-move plan: (1) Hook spoken aloud [20 sec]: 'A ship navigated blind into Salem Harbor on December 25, 1803...' (2) Claim [10 sec]: 'What made Nat Bowditch extraordinary was...' (3) Body 1 highlight [30 sec]: One piece of evidence from Body 1, paraphrased. (4) Body 2 highlight [30 sec]: One piece from Body 2, paraphrased. (5) Closing [30 sec]: Return to the fog, why it matters.</a:t>
            </a:r>
            <a:endParaRPr lang="en-US" sz="950" dirty="0"/>
          </a:p>
        </p:txBody>
      </p:sp>
      <p:sp>
        <p:nvSpPr>
          <p:cNvPr id="12" name="Text 10"/>
          <p:cNvSpPr/>
          <p:nvPr/>
        </p:nvSpPr>
        <p:spPr>
          <a:xfrm>
            <a:off x="365760" y="3127248"/>
            <a:ext cx="8412480" cy="457200"/>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Notice: Reading the essay aloud is NOT a presentation — it's a recitation. Alex's 5-move plan is spoken, paced, and SELECTED. You don't present every paragraph — you present the heart of your argument.</a:t>
            </a:r>
            <a:endParaRPr lang="en-US" sz="950" dirty="0"/>
          </a:p>
        </p:txBody>
      </p:sp>
      <p:sp>
        <p:nvSpPr>
          <p:cNvPr id="13" name="Text 11"/>
          <p:cNvSpPr/>
          <p:nvPr/>
        </p:nvSpPr>
        <p:spPr>
          <a:xfrm>
            <a:off x="365760" y="363931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TODAY’S TOOL: 5-MOVE PRESENTATION MAP (2 MINUTES)</a:t>
            </a:r>
            <a:endParaRPr lang="en-US" sz="1100" dirty="0"/>
          </a:p>
        </p:txBody>
      </p:sp>
      <p:sp>
        <p:nvSpPr>
          <p:cNvPr id="14" name="Shape 12"/>
          <p:cNvSpPr/>
          <p:nvPr/>
        </p:nvSpPr>
        <p:spPr>
          <a:xfrm>
            <a:off x="365760" y="387705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3922776"/>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Plan all 5 moves with timing. You will speak, not read.</a:t>
            </a:r>
            <a:endParaRPr lang="en-US" sz="1050" dirty="0"/>
          </a:p>
        </p:txBody>
      </p:sp>
      <p:sp>
        <p:nvSpPr>
          <p:cNvPr id="16" name="Text 14"/>
          <p:cNvSpPr/>
          <p:nvPr/>
        </p:nvSpPr>
        <p:spPr>
          <a:xfrm>
            <a:off x="365760" y="4462272"/>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NOW YOU TRY</a:t>
            </a:r>
            <a:endParaRPr lang="en-US" sz="1100" dirty="0"/>
          </a:p>
        </p:txBody>
      </p:sp>
      <p:sp>
        <p:nvSpPr>
          <p:cNvPr id="17" name="Shape 15"/>
          <p:cNvSpPr/>
          <p:nvPr/>
        </p:nvSpPr>
        <p:spPr>
          <a:xfrm>
            <a:off x="365760" y="4681728"/>
            <a:ext cx="8412480" cy="384048"/>
          </a:xfrm>
          <a:prstGeom prst="roundRect">
            <a:avLst>
              <a:gd name="adj" fmla="val 23810"/>
            </a:avLst>
          </a:prstGeom>
          <a:solidFill>
            <a:srgbClr val="FEF6E8"/>
          </a:solidFill>
          <a:ln/>
          <a:effectLst>
            <a:outerShdw sx="100000" sy="100000" kx="0" ky="0" algn="bl" rotWithShape="0" blurRad="101600" dist="38100" dir="2700000">
              <a:srgbClr val="000000">
                <a:alpha val="12000"/>
              </a:srgbClr>
            </a:outerShdw>
          </a:effectLst>
        </p:spPr>
      </p:sp>
      <p:sp>
        <p:nvSpPr>
          <p:cNvPr id="18" name="Text 16"/>
          <p:cNvSpPr/>
          <p:nvPr/>
        </p:nvSpPr>
        <p:spPr>
          <a:xfrm>
            <a:off x="548640" y="4700016"/>
            <a:ext cx="8046720" cy="347472"/>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Write your presentation hook — the first 20 seconds you will speak aloud. Make it memorable enough to pull your audience in before you mention Nat Bowditch’s name.</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2026-07-13T16:49:17Z</dcterms:created>
  <dcterms:modified xsi:type="dcterms:W3CDTF">2026-07-13T16:49:17Z</dcterms:modified>
</cp:coreProperties>
</file>