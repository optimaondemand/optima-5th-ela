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25, Day 2, Week 25 — Chapter 1: The Stowaways.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and Praiseworthy have nothing — no money, no cabin, no plan. But they have each other. In Chapter 1 you will watch them choose loyalty over comfort, and courage over common sense. What makes their partnership worth rooting for?
Grammar SWYK: I will write a sentence using at least two prepositional phrases to describe a setting from Chapter 1.
Vocabulary: I will practice this week’s five words using flip cards.
Reading: I will analyze character, plot, and Fleischman’s use of humor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"praiseworthy removed his bowler hat his white gloves and the umbrella from the crook of his arm."
Corrected: "Praiseworthy removed his bowler hat, his white gloves, and the umbrella from the crook of his arm."
Fixes: Capitalize Praiseworthy (proper name); add a comma after hat and after gloves to separate items in a series. Also note the prepositional phrase: “from the crook of his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"praiseworthy removed his bowler hat his white gloves and the umbrella from the crook of his arm."
Corrected: "Praiseworthy removed his bowler hat, his white gloves, and the umbrella from the crook of his arm."
Fixes: Capitalize Praiseworthy (proper name); add a comma after hat and after gloves to separate items in a series. Also note the prepositional phrase: “from the crook of his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short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Geography Words — Identify.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25 — Chapter 1: The Stowaways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(Day 2)
Focus: Refine your adventure story plan now that you’ve met Jack
Task: Write or continue your adventure story plan. Include: Hero, Problem/Goal, Setting, Stakes, and one hard choice your hero must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25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25 — Chapter 1: The Stowaways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25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and Praiseworthy have nothing — no money, no cabin, no plan. But they have each other. In Chapter 1 you will watch them choose loyalty over comfort, and courage over common sense. What makes their partnership worth rooting for?</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50" dirty="0">
                <a:solidFill>
                  <a:srgbClr val="1E293B"/>
                </a:solidFill>
                <a:latin typeface="Calibri" pitchFamily="34" charset="0"/>
                <a:ea typeface="Calibri" pitchFamily="34" charset="-122"/>
                <a:cs typeface="Calibri" pitchFamily="34" charset="-120"/>
              </a:rPr>
              <a:t>I will write a sentence using at least two prepositional phrases to describe a setting from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practice this week’s five words using flip cards.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character, plot, and Fleischman’s use of humor in Chapter 1.</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Fleischman’s humor works by putting two worlds that should never touch right next to each other. A butler — the most formal, rule-bound profession in Victorian society — ends up shoveling coal in a boiler room at the bottom of a Gold Rush ship. The comedy is the contrast. But something serious runs underneath: Jack and Praiseworthy choose each other over comfort, twice in the same chapter. That’s not comedy. That’s character.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Captain Swain stood bent over a long table , trying to thaw the ice in his curly black whiskers over a lighted candle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over a long table  </a:t>
            </a:r>
            <a:pPr indent="0" marL="0">
              <a:buNone/>
            </a:pPr>
            <a:r>
              <a:rPr lang="en-US" sz="1150" dirty="0">
                <a:solidFill>
                  <a:srgbClr val="1E293B"/>
                </a:solidFill>
                <a:latin typeface="Calibri" pitchFamily="34" charset="0"/>
                <a:ea typeface="Calibri" pitchFamily="34" charset="-122"/>
                <a:cs typeface="Calibri" pitchFamily="34" charset="-120"/>
              </a:rPr>
              <a:t>“over a long table” = prepositional phrase. Preposition: over. Object: table. Tells WHERE the captain is leaning.</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in his curly black whiskers  </a:t>
            </a:r>
            <a:pPr indent="0" marL="0">
              <a:buNone/>
            </a:pPr>
            <a:r>
              <a:rPr lang="en-US" sz="1150" dirty="0">
                <a:solidFill>
                  <a:srgbClr val="1E293B"/>
                </a:solidFill>
                <a:latin typeface="Calibri" pitchFamily="34" charset="0"/>
                <a:ea typeface="Calibri" pitchFamily="34" charset="-122"/>
                <a:cs typeface="Calibri" pitchFamily="34" charset="-120"/>
              </a:rPr>
              <a:t>“in his curly black whiskers” = prepositional phrase. Preposition: in. Object: whiskers. Tells WHERE the ice is — hilariously specific detail!</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over a lighted candle  </a:t>
            </a:r>
            <a:pPr indent="0" marL="0">
              <a:buNone/>
            </a:pPr>
            <a:r>
              <a:rPr lang="en-US" sz="1150" dirty="0">
                <a:solidFill>
                  <a:srgbClr val="1E293B"/>
                </a:solidFill>
                <a:latin typeface="Calibri" pitchFamily="34" charset="0"/>
                <a:ea typeface="Calibri" pitchFamily="34" charset="-122"/>
                <a:cs typeface="Calibri" pitchFamily="34" charset="-120"/>
              </a:rPr>
              <a:t>“over a lighted candle” = third prepositional phrase! Preposition: over. Object: candle. Tells HOW he is thawing the ice. Three prep phrases in one sentence = vivid setting.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removed his bowler hat his white gloves and the umbrella from the crook of his arm.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removed his bowler hat his white gloves and the umbrella from the crook of his arm.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Praiseworthy removed his bowler hat, his white gloves, and the umbrella from the crook of his arm.</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Capitalize Praiseworthy (proper name); add a comma after hat and after gloves to separate items in a series. Also note the prepositional phrase: “from the crook of his arm.”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“O Captain! My Captain!” (first stanza)</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Walt Whitman, 1865 — public domain</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O Captain! my Captain! our fearful trip is done,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 ship has weather’d every rack, the prize we sought is won,</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 port is near, the bells I hear, the people all exulting,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While follow eyes the steady keel, the vessel grim and daring;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O heart! heart! heart!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 the bleeding drops of red,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Where on the deck my Captain lies,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Fallen cold and dead.</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Both Whitman’s poem and Chapter 1 involve a captain and a voyage. How is Captain Swain in By the Great Horn Spoon! similar to Whitman’s captain — and how is he different? Write 2–3 sentences in your reading journal.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chooses to stay in the coal bunkers instead of taking the easy job as ship's boy. Was that the smart choice, or the foolish one? Defend your answer with evidence from Chapter 1.</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Jack chooses to stay in the coal bunkers instead of taking the easy job as ship's boy. Was that the smart choice, or the foolish one? Defend your answer with evidence from Chapter 1.</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short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aud + oral/or — Identify</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You know aud means hear and or means speak/mouth . Now find these roots hiding in less familiar words.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Identify — see the word, flip to confirm the meaning</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expedition  </a:t>
            </a:r>
            <a:pPr indent="0" marL="0">
              <a:buNone/>
            </a:pPr>
            <a:r>
              <a:rPr lang="en-US" sz="1150" dirty="0">
                <a:solidFill>
                  <a:srgbClr val="1E293B"/>
                </a:solidFill>
                <a:latin typeface="Calibri" pitchFamily="34" charset="0"/>
                <a:ea typeface="Calibri" pitchFamily="34" charset="-122"/>
                <a:cs typeface="Calibri" pitchFamily="34" charset="-120"/>
              </a:rPr>
              <a:t>A journey undertaken for a specific purpose, especially a long or organized one. From ex- (out) + ped (foot).</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argonaut  </a:t>
            </a:r>
            <a:pPr indent="0" marL="0">
              <a:buNone/>
            </a:pPr>
            <a:r>
              <a:rPr lang="en-US" sz="1150" dirty="0">
                <a:solidFill>
                  <a:srgbClr val="1E293B"/>
                </a:solidFill>
                <a:latin typeface="Calibri" pitchFamily="34" charset="0"/>
                <a:ea typeface="Calibri" pitchFamily="34" charset="-122"/>
                <a:cs typeface="Calibri" pitchFamily="34" charset="-120"/>
              </a:rPr>
              <a:t>A Gold Rush seeker of 1849; originally, one of Jason’s crew who sailed for the Golden Fleece in Greek myth.</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stowaway  </a:t>
            </a:r>
            <a:pPr indent="0" marL="0">
              <a:buNone/>
            </a:pPr>
            <a:r>
              <a:rPr lang="en-US" sz="1150" dirty="0">
                <a:solidFill>
                  <a:srgbClr val="1E293B"/>
                </a:solidFill>
                <a:latin typeface="Calibri" pitchFamily="34" charset="0"/>
                <a:ea typeface="Calibri" pitchFamily="34" charset="-122"/>
                <a:cs typeface="Calibri" pitchFamily="34" charset="-120"/>
              </a:rPr>
              <a:t>A person who hides on a ship or vehicle to travel without paying or being detected.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paddlewheel  </a:t>
            </a:r>
            <a:pPr indent="0" marL="0">
              <a:buNone/>
            </a:pPr>
            <a:r>
              <a:rPr lang="en-US" sz="1150" dirty="0">
                <a:solidFill>
                  <a:srgbClr val="1E293B"/>
                </a:solidFill>
                <a:latin typeface="Calibri" pitchFamily="34" charset="0"/>
                <a:ea typeface="Calibri" pitchFamily="34" charset="-122"/>
                <a:cs typeface="Calibri" pitchFamily="34" charset="-120"/>
              </a:rPr>
              <a:t>A large wheel with flat paddles that rotates to propel a steamship through water.</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porthole  </a:t>
            </a:r>
            <a:pPr indent="0" marL="0">
              <a:buNone/>
            </a:pPr>
            <a:r>
              <a:rPr lang="en-US" sz="1150" dirty="0">
                <a:solidFill>
                  <a:srgbClr val="1E293B"/>
                </a:solidFill>
                <a:latin typeface="Calibri" pitchFamily="34" charset="0"/>
                <a:ea typeface="Calibri" pitchFamily="34" charset="-122"/>
                <a:cs typeface="Calibri" pitchFamily="34" charset="-120"/>
              </a:rPr>
              <a:t>A small circular window built into the side of a ship, sealed with thick glass.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Prepositional Phrases — Identify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 spot them and use them yourself</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prepositional phrase starts with a preposition and ends with its object. To find one, ask: where? when? how? in what way?</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From Chapter 1: “ in the creaking darkness / of her cargo hold ” — “ out of Boston harbor ” — “ with a bowler hat balanced on his knees ”</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Each phrase gives you a piece of the picture. Stack them and the setting comes alive.</a:t>
            </a:r>
            <a:endParaRPr lang="en-US" sz="1150" dirty="0"/>
          </a:p>
        </p:txBody>
      </p:sp>
      <p:sp>
        <p:nvSpPr>
          <p:cNvPr id="11" name="Text 9"/>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TAP TO NOTICE</a:t>
            </a:r>
            <a:endParaRPr lang="en-US" sz="1100" dirty="0"/>
          </a:p>
        </p:txBody>
      </p:sp>
      <p:sp>
        <p:nvSpPr>
          <p:cNvPr id="12" name="Shape 10"/>
          <p:cNvSpPr/>
          <p:nvPr/>
        </p:nvSpPr>
        <p:spPr>
          <a:xfrm>
            <a:off x="365760" y="3255264"/>
            <a:ext cx="8412480" cy="640080"/>
          </a:xfrm>
          <a:prstGeom prst="roundRect">
            <a:avLst>
              <a:gd name="adj" fmla="val 1428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48640" y="3364992"/>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hooked a black umbrella on his arm and pulled on a pair of spotless white gloves .</a:t>
            </a:r>
            <a:endParaRPr lang="en-US" sz="1600" dirty="0"/>
          </a:p>
        </p:txBody>
      </p:sp>
      <p:sp>
        <p:nvSpPr>
          <p:cNvPr id="14" name="Shape 12"/>
          <p:cNvSpPr/>
          <p:nvPr/>
        </p:nvSpPr>
        <p:spPr>
          <a:xfrm>
            <a:off x="365760" y="3986784"/>
            <a:ext cx="8412480" cy="777240"/>
          </a:xfrm>
          <a:prstGeom prst="roundRect">
            <a:avLst>
              <a:gd name="adj" fmla="val 11765"/>
            </a:avLst>
          </a:prstGeom>
          <a:solidFill>
            <a:srgbClr val="FEF6E8"/>
          </a:solidFill>
          <a:ln w="12700">
            <a:solidFill>
              <a:srgbClr val="C7922C"/>
            </a:solidFill>
            <a:prstDash val="solid"/>
          </a:ln>
        </p:spPr>
      </p:sp>
      <p:sp>
        <p:nvSpPr>
          <p:cNvPr id="15" name="Text 13"/>
          <p:cNvSpPr/>
          <p:nvPr/>
        </p:nvSpPr>
        <p:spPr>
          <a:xfrm>
            <a:off x="548640" y="405993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50" i="1" dirty="0">
                <a:solidFill>
                  <a:srgbClr val="1E293B"/>
                </a:solidFill>
                <a:latin typeface="Calibri" pitchFamily="34" charset="0"/>
                <a:ea typeface="Calibri" pitchFamily="34" charset="-122"/>
                <a:cs typeface="Calibri" pitchFamily="34" charset="-120"/>
              </a:rPr>
              <a:t>Write one original sentence about Jack and Praiseworthy emerging from their potato barrels. Use at least two prepositional phrases to make the setting vivid. Underline your prepositional phrases.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Geography Words — Identify</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Identify which syllable carries the stress</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Cal•i•FOR•ni•a , the third syllable (FOR) is the loudest. In Sac•ra•MEN•to , the third syllable (MEN) carries the stress. Say each word aloud and feel which syllable you emphasize.</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Cal•i•for•ni•a — Sac•ra•men•to — Pat•a•go•ni•a — e•qua•tor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25 — Chapter 1: The Stowaways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25 — Chapter 1: The Stowaways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 introduces Fleischman’s voice: comic, fast, and full of surprises . Watch for how he builds humor through contrast — the elegant butler vs. the coal bunkers, the “wild bull of the seas” who turns out to have a heart. Pay attention to Jack’s one bold speech that changes everything.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 — “The Stowaways”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How do Jack and Praiseworthy end up as stowaways on the Lady Wilma? What happened to their money, and who is responsible?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Captain Swain offers Jack a job as ship’s boy — comfortable compared to the coal bunkers. But Jack refuses. Why? What does his refusal tell us about his character?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Praiseworthy says to the captain: “It is not the beginning of a race that counts, sir, but the end.” What does he mean? How does this quote apply to their situation in Chapter 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 (Day 2)</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Refine your adventure story plan now that you’ve met Jack</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or continue your adventure story plan. Include: Hero, Problem/Goal, Setting, Stakes, and one hard choice your hero must face.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