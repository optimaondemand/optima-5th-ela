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7, Day 1, Chapter 5 — The Boston Observer.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it mean to be the best at something—and what can that pride cost you?
Reading: I will define how the author introduces Johnny as a character through setting and behavior.
Grammar: I will define what an appositive is and find examples from the novel.
Spelling: I will define the Latin roots dict (say) and scrib/script (write) and build word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patriot and merchant of the town refused to let british soldier unload the ship at the docks"
Corrected: "The boy, a talented silversmith, worked in Mr. Lapham’s shop on Hancock’s Wharf in Boston."
Compare with the model: “The boy” is not a proper noun, so no capital. “Mr. Lapham’s” and “Hancock’s Wharf” and “Boston” are proper nouns—capital letters. “A talented silversmith” is an appositive renaming “the boy”—it needs commas on both sides.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patriot and merchant of the town refused to let british soldier unload the ship at the docks"
Corrected: "The boy, a talented silversmith, worked in Mr. Lapham’s shop on Hancock’s Wharf in Boston."
Compare with the model: “The boy” is not a proper noun, so no capital. “Mr. Lapham’s” and “Hancock’s Wharf” and “Boston” are proper nouns—capital letters. “A talented silversmith” is an appositive renaming “the boy”—it needs commas on both sides.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this detail necessary, or can I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dict &amp; scrib/script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5 — The Boston Observer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(n/a). Focus: Learn what a CLAIM is and write one about Johnny.
Prompt: Write a claim about Johnny based on Chapter 5. Write one strong claim sentence. Take a position—don’t just describe what happened. A reader should be able to agree or disagree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7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5 — The Boston Observer</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7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does it mean to be the best at something—and what can that pride cost you?</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define how the author introduces Johnny as a character through setting and behavior.</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define what an appositive is and find examples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define the Latin roots dict (say) and scrib/script (write) and build word families.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how a story introduces its main character. Today, ask yourself: What does Johnny value most? How does his talent shape the way he treats others? What hints does the author give that this pride might cause problems?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the author show you who is in charge among the three apprentices without simply telling you?</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Johnny’s mother told him a secret about the Lyte family. Why has Johnny kept this secret—and from whom?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Johnny Tremain, the most skilled apprentice in the shop, handled the silver with steady hands.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Johnny Tremain,  </a:t>
            </a:r>
            <a:pPr indent="0" marL="0">
              <a:buNone/>
            </a:pPr>
            <a:r>
              <a:rPr lang="en-US" sz="1200" dirty="0">
                <a:solidFill>
                  <a:srgbClr val="1E293B"/>
                </a:solidFill>
                <a:latin typeface="Calibri" pitchFamily="34" charset="0"/>
                <a:ea typeface="Calibri" pitchFamily="34" charset="-122"/>
                <a:cs typeface="Calibri" pitchFamily="34" charset="-120"/>
              </a:rPr>
              <a:t>“Johnny Tremain” is a proper name—both words start with capital letters.</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 most skilled apprentice in the shop,  </a:t>
            </a:r>
            <a:pPr indent="0" marL="0">
              <a:buNone/>
            </a:pPr>
            <a:r>
              <a:rPr lang="en-US" sz="1200" dirty="0">
                <a:solidFill>
                  <a:srgbClr val="1E293B"/>
                </a:solidFill>
                <a:latin typeface="Calibri" pitchFamily="34" charset="0"/>
                <a:ea typeface="Calibri" pitchFamily="34" charset="-122"/>
                <a:cs typeface="Calibri" pitchFamily="34" charset="-120"/>
              </a:rPr>
              <a:t>“The most skilled apprentice in the shop” is an appositive phrase. It renames Johnny. Commas come before and after it.</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handled  </a:t>
            </a:r>
            <a:pPr indent="0" marL="0">
              <a:buNone/>
            </a:pPr>
            <a:r>
              <a:rPr lang="en-US" sz="1200" dirty="0">
                <a:solidFill>
                  <a:srgbClr val="1E293B"/>
                </a:solidFill>
                <a:latin typeface="Calibri" pitchFamily="34" charset="0"/>
                <a:ea typeface="Calibri" pitchFamily="34" charset="-122"/>
                <a:cs typeface="Calibri" pitchFamily="34" charset="-120"/>
              </a:rPr>
              <a:t>“Handled” is past tense, matching the rest of the narrative.</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silver  </a:t>
            </a:r>
            <a:pPr indent="0" marL="0">
              <a:buNone/>
            </a:pPr>
            <a:r>
              <a:rPr lang="en-US" sz="1200" dirty="0">
                <a:solidFill>
                  <a:srgbClr val="1E293B"/>
                </a:solidFill>
                <a:latin typeface="Calibri" pitchFamily="34" charset="0"/>
                <a:ea typeface="Calibri" pitchFamily="34" charset="-122"/>
                <a:cs typeface="Calibri" pitchFamily="34" charset="-120"/>
              </a:rPr>
              <a:t>“Silver” is an adjective describing the noun “basin.”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patriot and merchant of the town refused to let british soldier unload the ship at the docks</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patriot and merchant of the town refused to let british soldier unload the ship at the docks</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boy, a talented silversmith, worked in Mr. Lapham’s shop on Hancock’s Wharf in Boston.</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“The boy” is not a proper noun, so no capital. “Mr. Lapham’s” and “Hancock’s Wharf” and “Boston” are proper nouns—capital letters. “A talented silversmith” is an appositive renaming “the boy”—it needs commas on both sides. Add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detail shows more about how divided Boston has become — the way Whigs and Tories are described at the Observer, or the way ordinary people react to the silver cup trial? Defend your choice with evidence from Chapter 5.</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detail shows more about how divided Boston has become — the way Whigs and Tories are described at the Observer, or the way ordinary people react to the silver cup trial? Defend your choice with evidence from Chapter 5.</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this detail necessary, or can I cut it?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The prefix con- and com- come from Latin and mean “together” or “with.” | Use com- before words starting with b, m, or p. Use con- everywhere else. | connect — to join things together | compose — to put parts together to make a whole | conflict — a clash or struggle between opposing forces | convene — to come together for a meeting | compress — to press or squeeze things together</a:t>
            </a:r>
            <a:endParaRPr lang="en-US" sz="1200" dirty="0"/>
          </a:p>
        </p:txBody>
      </p:sp>
      <p:sp>
        <p:nvSpPr>
          <p:cNvPr id="7" name="Shape 5"/>
          <p:cNvSpPr/>
          <p:nvPr/>
        </p:nvSpPr>
        <p:spPr>
          <a:xfrm>
            <a:off x="365760" y="1664208"/>
            <a:ext cx="8412480" cy="502920"/>
          </a:xfrm>
          <a:prstGeom prst="roundRect">
            <a:avLst>
              <a:gd name="adj" fmla="val 18182"/>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19072"/>
            <a:ext cx="8046720" cy="393192"/>
          </a:xfrm>
          <a:prstGeom prst="rect">
            <a:avLst/>
          </a:prstGeom>
          <a:noFill/>
          <a:ln/>
        </p:spPr>
        <p:txBody>
          <a:bodyPr wrap="square" lIns="0" tIns="0" rIns="0" bIns="0" rtlCol="0" anchor="ctr"/>
          <a:lstStyle/>
          <a:p>
            <a:pPr indent="0" marL="0">
              <a:buNone/>
            </a:pPr>
            <a:endParaRPr lang="en-US" sz="1200" dirty="0"/>
          </a:p>
        </p:txBody>
      </p:sp>
      <p:sp>
        <p:nvSpPr>
          <p:cNvPr id="9" name="Shape 7"/>
          <p:cNvSpPr/>
          <p:nvPr/>
        </p:nvSpPr>
        <p:spPr>
          <a:xfrm>
            <a:off x="365760" y="2231136"/>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86000"/>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man → men | woman → women | child → children | ox → oxen | tooth → teeth | goose → geese | deer → deer (no change!) | sheep → sheep (no change!) | From Chapter 5: “The men of Boston came and went”—not “the mans.” Irregular plurals must be memorized; they do not follow a rule.</a:t>
            </a:r>
            <a:endParaRPr lang="en-US" sz="1200" dirty="0"/>
          </a:p>
        </p:txBody>
      </p:sp>
      <p:sp>
        <p:nvSpPr>
          <p:cNvPr id="11" name="Shape 9"/>
          <p:cNvSpPr/>
          <p:nvPr/>
        </p:nvSpPr>
        <p:spPr>
          <a:xfrm>
            <a:off x="365760" y="2798064"/>
            <a:ext cx="8412480" cy="502920"/>
          </a:xfrm>
          <a:prstGeom prst="roundRect">
            <a:avLst>
              <a:gd name="adj" fmla="val 18182"/>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52928"/>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dict (say, declare): dictate • predict • verdict • contradict • edict | scrib / script (write): inscribe • describe • prescribe • manuscript • scripture • description | Think: When you dictate , you say words. When you inscribe , you write words. The root carries the meaning.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Decode &amp; Discover</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5 · Decode &amp; Discover</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Whig  </a:t>
            </a:r>
            <a:pPr indent="0" marL="0">
              <a:buNone/>
            </a:pPr>
            <a:r>
              <a:rPr lang="en-US" sz="1100" dirty="0">
                <a:solidFill>
                  <a:srgbClr val="1E293B"/>
                </a:solidFill>
                <a:latin typeface="Calibri" pitchFamily="34" charset="0"/>
                <a:ea typeface="Calibri" pitchFamily="34" charset="-122"/>
                <a:cs typeface="Calibri" pitchFamily="34" charset="-120"/>
              </a:rPr>
              <a:t>A colonist who supported colonial independence from Britain. Whigs believed Parliament had no right to tax the colonies without their consent.</a:t>
            </a: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treason  </a:t>
            </a:r>
            <a:pPr indent="0" marL="0">
              <a:buNone/>
            </a:pPr>
            <a:r>
              <a:rPr lang="en-US" sz="1100" dirty="0">
                <a:solidFill>
                  <a:srgbClr val="1E293B"/>
                </a:solidFill>
                <a:latin typeface="Calibri" pitchFamily="34" charset="0"/>
                <a:ea typeface="Calibri" pitchFamily="34" charset="-122"/>
                <a:cs typeface="Calibri" pitchFamily="34" charset="-120"/>
              </a:rPr>
              <a:t>The crime of betraying your country or ruler. In Boston, the Patriots called their meetings political discussion; the Tories called it treason.</a:t>
            </a: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atrophy  </a:t>
            </a:r>
            <a:pPr indent="0" marL="0">
              <a:buNone/>
            </a:pPr>
            <a:r>
              <a:rPr lang="en-US" sz="1100" dirty="0">
                <a:solidFill>
                  <a:srgbClr val="1E293B"/>
                </a:solidFill>
                <a:latin typeface="Calibri" pitchFamily="34" charset="0"/>
                <a:ea typeface="Calibri" pitchFamily="34" charset="-122"/>
                <a:cs typeface="Calibri" pitchFamily="34" charset="-120"/>
              </a:rPr>
              <a:t>To waste away or weaken gradually from lack of use. A muscle that never moves begins to atrophy.</a:t>
            </a: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subscriber  </a:t>
            </a:r>
            <a:pPr indent="0" marL="0">
              <a:buNone/>
            </a:pPr>
            <a:r>
              <a:rPr lang="en-US" sz="1100" dirty="0">
                <a:solidFill>
                  <a:srgbClr val="1E293B"/>
                </a:solidFill>
                <a:latin typeface="Calibri" pitchFamily="34" charset="0"/>
                <a:ea typeface="Calibri" pitchFamily="34" charset="-122"/>
                <a:cs typeface="Calibri" pitchFamily="34" charset="-120"/>
              </a:rPr>
              <a:t>A person who pays regularly to receive a newspaper, magazine, or other publication.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Irregular Plural Nouns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Define · When plurals change more than just an ending</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man → men | woman → women | child → children ox → oxen | tooth → teeth | goose → geese deer → deer (no change!) | sheep → sheep (no change!) From Chapter 5: “The men of Boston came and went”—not “the mans.” Irregular plurals must be memorized; they do not follow a rule.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men and womans of Boston gathered at the wharf.</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childs watched as the children ran to the harbor.</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oxen pulled the heavy carts away from the closed port.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Irregular Plural Nouns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Define · When plurals change more than just an ending</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man → men | woman → women | child → children ox → oxen | tooth → teeth | goose → geese deer → deer (no change!) | sheep → sheep (no change!) From Chapter 5: “The men of Boston came and went”—not “the mans.” Irregular plurals must be memorized; they do not follow a rule.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men and womans of Boston gathered at the wharf.
</a:t>
            </a:r>
            <a:pPr indent="0" marL="0">
              <a:buNone/>
            </a:pPr>
            <a:r>
              <a:rPr lang="en-US" sz="1200" b="1" dirty="0">
                <a:solidFill>
                  <a:srgbClr val="34B76F"/>
                </a:solidFill>
                <a:latin typeface="Calibri" pitchFamily="34" charset="0"/>
                <a:ea typeface="Calibri" pitchFamily="34" charset="-122"/>
                <a:cs typeface="Calibri" pitchFamily="34" charset="-120"/>
              </a:rPr>
              <a:t>✅ men</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childs watched as the children ran to the harbor.
</a:t>
            </a:r>
            <a:pPr indent="0" marL="0">
              <a:buNone/>
            </a:pPr>
            <a:r>
              <a:rPr lang="en-US" sz="1200" b="1" dirty="0">
                <a:solidFill>
                  <a:srgbClr val="34B76F"/>
                </a:solidFill>
                <a:latin typeface="Calibri" pitchFamily="34" charset="0"/>
                <a:ea typeface="Calibri" pitchFamily="34" charset="-122"/>
                <a:cs typeface="Calibri" pitchFamily="34" charset="-120"/>
              </a:rPr>
              <a:t>✅ children</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oxen pulled the heavy carts away from the closed port.
</a:t>
            </a:r>
            <a:pPr indent="0" marL="0">
              <a:buNone/>
            </a:pPr>
            <a:r>
              <a:rPr lang="en-US" sz="1200" b="1" dirty="0">
                <a:solidFill>
                  <a:srgbClr val="34B76F"/>
                </a:solidFill>
                <a:latin typeface="Calibri" pitchFamily="34" charset="0"/>
                <a:ea typeface="Calibri" pitchFamily="34" charset="-122"/>
                <a:cs typeface="Calibri" pitchFamily="34" charset="-120"/>
              </a:rPr>
              <a:t>✅ oxen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dict &amp; scrib/script Roots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Define · Build word families from Latin roots</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dict (say / declare)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dictate  ·  predict  ·  verdict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scrib / script (write)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prescribe  ·  scripture  ·  inscribe  ·  description  ·  manuscript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5 — The Boston Observer</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5 — The Boston Observer</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How does the author show you who is in charge among the three apprentices without simply telling you?</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Johnny’s mother told him a secret about the Lyte family. Why has Johnny kept this secret—and from whom?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does Mr. Lapham mean when he warns Johnny about pride? Use a detail from the chapter to support your answer.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Why does Dove hand Johnny the cracked crucible? What does this tell you about how the other apprentices feel about Johnny?</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How does the accident change Johnny’s future? What has he lost, and what might he face now?</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F8FAFC"/>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F8FAFC"/>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F8FAFC"/>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Revise</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what a CLAIM is and write one about Johnny.</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Write a claim about Johnny based on Chapter 5. Write one strong claim sentence. Take a position—don’t just describe what happened. A reader should be able to agree or disagree with you.</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a claim about Johnny based on Chapter 5. Write one strong claim sentence. Take a position—don’t just describe what happened. A reader should be able to agree or disagree with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2026-07-12T13:39:51Z</dcterms:created>
  <dcterms:modified xsi:type="dcterms:W3CDTF">2026-07-12T13:39:51Z</dcterms:modified>
</cp:coreProperties>
</file>