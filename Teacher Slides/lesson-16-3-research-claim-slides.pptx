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Week 16 Day 3 — Claim, Evidence &amp;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makes an argument convincing? Today we learn how a claim, evidence, and reasoning work together — and use this week’s research to build one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lens before students dive into today's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no answer required — discuss why each part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"for generations the choctaw nation farmed the land and built strong communities in mississippi"
Corrected: "For generations, the Choctaw Nation farmed the land and built strong communities in Mississippi."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"for generations the choctaw nation farmed the land and built strong communities in mississippi"
Corrected: "For generations, the Choctaw Nation farmed the land and built strong communities in Mississippi."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discuss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labels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The Prefix 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passage aloud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paragraph broken into its Claim, Evidence, and Reasoning 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no single right answer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today's study,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writing time — this is the day's graded writing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817"/>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4AF6A">
              <a:alpha val="15000"/>
            </a:srgbClr>
          </a:solidFill>
          <a:ln/>
        </p:spPr>
      </p:sp>
      <p:sp>
        <p:nvSpPr>
          <p:cNvPr id="3" name="Text 1"/>
          <p:cNvSpPr/>
          <p:nvPr/>
        </p:nvSpPr>
        <p:spPr>
          <a:xfrm>
            <a:off x="457200" y="502920"/>
            <a:ext cx="8229600" cy="365760"/>
          </a:xfrm>
          <a:prstGeom prst="rect">
            <a:avLst/>
          </a:prstGeom>
          <a:noFill/>
          <a:ln/>
        </p:spPr>
        <p:txBody>
          <a:bodyPr wrap="square" lIns="0" tIns="0" rIns="0" bIns="0" rtlCol="0" anchor="ctr"/>
          <a:lstStyle/>
          <a:p>
            <a:pPr algn="l" indent="0" marL="0">
              <a:buNone/>
            </a:pPr>
            <a:r>
              <a:rPr lang="en-US" sz="1300" b="1" spc="400" kern="0" dirty="0">
                <a:solidFill>
                  <a:srgbClr val="D4AF6A"/>
                </a:solidFill>
                <a:latin typeface="Calibri" pitchFamily="34" charset="0"/>
                <a:ea typeface="Calibri" pitchFamily="34" charset="-122"/>
                <a:cs typeface="Calibri" pitchFamily="34" charset="-120"/>
              </a:rPr>
              <a:t>WEEK 16  ·  DAY 3</a:t>
            </a:r>
            <a:endParaRPr lang="en-US" sz="1300" dirty="0"/>
          </a:p>
        </p:txBody>
      </p:sp>
      <p:sp>
        <p:nvSpPr>
          <p:cNvPr id="4" name="Text 2"/>
          <p:cNvSpPr/>
          <p:nvPr/>
        </p:nvSpPr>
        <p:spPr>
          <a:xfrm>
            <a:off x="457200" y="868680"/>
            <a:ext cx="822960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Week 16 · Research + Perspective</a:t>
            </a:r>
            <a:endParaRPr lang="en-US" sz="1400" dirty="0"/>
          </a:p>
        </p:txBody>
      </p:sp>
      <p:sp>
        <p:nvSpPr>
          <p:cNvPr id="5" name="Text 3"/>
          <p:cNvSpPr/>
          <p:nvPr/>
        </p:nvSpPr>
        <p:spPr>
          <a:xfrm>
            <a:off x="457200" y="1280160"/>
            <a:ext cx="8229600" cy="137160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Claim, Evidence &amp; Reasoning</a:t>
            </a:r>
            <a:endParaRPr lang="en-US" sz="3000" dirty="0"/>
          </a:p>
        </p:txBody>
      </p:sp>
      <p:sp>
        <p:nvSpPr>
          <p:cNvPr id="6" name="Text 4"/>
          <p:cNvSpPr/>
          <p:nvPr/>
        </p:nvSpPr>
        <p:spPr>
          <a:xfrm>
            <a:off x="457200" y="2514600"/>
            <a:ext cx="8229600" cy="457200"/>
          </a:xfrm>
          <a:prstGeom prst="rect">
            <a:avLst/>
          </a:prstGeom>
          <a:noFill/>
          <a:ln/>
        </p:spPr>
        <p:txBody>
          <a:bodyPr wrap="square" lIns="0" tIns="0" rIns="0" bIns="0" rtlCol="0" anchor="ctr"/>
          <a:lstStyle/>
          <a:p>
            <a:pPr algn="l" indent="0" marL="0">
              <a:buNone/>
            </a:pPr>
            <a:r>
              <a:rPr lang="en-US" sz="1300" i="1" dirty="0">
                <a:solidFill>
                  <a:srgbClr val="D4AF6A"/>
                </a:solidFill>
                <a:latin typeface="Georgia" pitchFamily="34" charset="0"/>
                <a:ea typeface="Georgia" pitchFamily="34" charset="-122"/>
                <a:cs typeface="Georgia" pitchFamily="34" charset="-120"/>
              </a:rPr>
              <a:t>Model Paragraph: Claim, Evidence &amp; Reasoning</a:t>
            </a:r>
            <a:endParaRPr lang="en-US" sz="1300" dirty="0"/>
          </a:p>
        </p:txBody>
      </p:sp>
      <p:sp>
        <p:nvSpPr>
          <p:cNvPr id="7" name="Text 5"/>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Writer's Bridge  ·  Voice &amp; Craft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Today's Big Question</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365760" y="914400"/>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51560"/>
            <a:ext cx="7955280" cy="10058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What makes an argument convincing? Today we learn how a claim, evidence, and reasoning work together — and use this week’s research to build one ourselves.</a:t>
            </a:r>
            <a:endParaRPr lang="en-US" sz="1600" dirty="0"/>
          </a:p>
        </p:txBody>
      </p:sp>
      <p:sp>
        <p:nvSpPr>
          <p:cNvPr id="6" name="Text 4"/>
          <p:cNvSpPr/>
          <p:nvPr/>
        </p:nvSpPr>
        <p:spPr>
          <a:xfrm>
            <a:off x="365760" y="237744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7" name="Shape 5"/>
          <p:cNvSpPr/>
          <p:nvPr/>
        </p:nvSpPr>
        <p:spPr>
          <a:xfrm>
            <a:off x="365760" y="2670048"/>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724912"/>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300" dirty="0">
                <a:solidFill>
                  <a:srgbClr val="1E293B"/>
                </a:solidFill>
                <a:latin typeface="Calibri" pitchFamily="34" charset="0"/>
                <a:ea typeface="Calibri" pitchFamily="34" charset="-122"/>
                <a:cs typeface="Calibri" pitchFamily="34" charset="-120"/>
              </a:rPr>
              <a:t>I will track an argument by identifying its claim, evidence, and reasoning.</a:t>
            </a:r>
            <a:endParaRPr lang="en-US" sz="1500" dirty="0"/>
          </a:p>
        </p:txBody>
      </p:sp>
      <p:sp>
        <p:nvSpPr>
          <p:cNvPr id="9" name="Shape 7"/>
          <p:cNvSpPr/>
          <p:nvPr/>
        </p:nvSpPr>
        <p:spPr>
          <a:xfrm>
            <a:off x="365760" y="336499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419856"/>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300" dirty="0">
                <a:solidFill>
                  <a:srgbClr val="1E293B"/>
                </a:solidFill>
                <a:latin typeface="Calibri" pitchFamily="34" charset="0"/>
                <a:ea typeface="Calibri" pitchFamily="34" charset="-122"/>
                <a:cs typeface="Calibri" pitchFamily="34" charset="-120"/>
              </a:rPr>
              <a:t>I will use sentence variety in my own explanatory writing.</a:t>
            </a:r>
            <a:endParaRPr lang="en-US" sz="1500" dirty="0"/>
          </a:p>
        </p:txBody>
      </p:sp>
      <p:sp>
        <p:nvSpPr>
          <p:cNvPr id="11" name="Shape 9"/>
          <p:cNvSpPr/>
          <p:nvPr/>
        </p:nvSpPr>
        <p:spPr>
          <a:xfrm>
            <a:off x="365760" y="405993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4114800"/>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300" dirty="0">
                <a:solidFill>
                  <a:srgbClr val="1E293B"/>
                </a:solidFill>
                <a:latin typeface="Calibri" pitchFamily="34" charset="0"/>
                <a:ea typeface="Calibri" pitchFamily="34" charset="-122"/>
                <a:cs typeface="Calibri" pitchFamily="34" charset="-120"/>
              </a:rPr>
              <a:t>I will apply the historical-vocabulary decoding pattern to new words.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What Good Readers Do</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5943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track an argument by noticing three parts: a claim (what the writer believes), evidence (facts that support it), and reasoning (why the evidence matters).</a:t>
            </a:r>
            <a:endParaRPr lang="en-US" sz="1300" dirty="0"/>
          </a:p>
        </p:txBody>
      </p:sp>
      <p:sp>
        <p:nvSpPr>
          <p:cNvPr id="6" name="Text 4"/>
          <p:cNvSpPr/>
          <p:nvPr/>
        </p:nvSpPr>
        <p:spPr>
          <a:xfrm>
            <a:off x="365760" y="1783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 WATCH FOR THIS</a:t>
            </a:r>
            <a:endParaRPr lang="en-US" sz="1100" dirty="0"/>
          </a:p>
        </p:txBody>
      </p:sp>
      <p:sp>
        <p:nvSpPr>
          <p:cNvPr id="7" name="Shape 5"/>
          <p:cNvSpPr/>
          <p:nvPr/>
        </p:nvSpPr>
        <p:spPr>
          <a:xfrm>
            <a:off x="365760" y="208483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is the writer’s claim?</a:t>
            </a:r>
            <a:endParaRPr lang="en-US" sz="1300" dirty="0"/>
          </a:p>
        </p:txBody>
      </p:sp>
      <p:sp>
        <p:nvSpPr>
          <p:cNvPr id="9" name="Shape 7"/>
          <p:cNvSpPr/>
          <p:nvPr/>
        </p:nvSpPr>
        <p:spPr>
          <a:xfrm>
            <a:off x="365760" y="2798064"/>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871216"/>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What evidence does the writer use to support it?</a:t>
            </a:r>
            <a:endParaRPr lang="en-US" sz="1300" dirty="0"/>
          </a:p>
        </p:txBody>
      </p:sp>
      <p:sp>
        <p:nvSpPr>
          <p:cNvPr id="11" name="Shape 9"/>
          <p:cNvSpPr/>
          <p:nvPr/>
        </p:nvSpPr>
        <p:spPr>
          <a:xfrm>
            <a:off x="365760" y="351129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84448"/>
            <a:ext cx="8046720" cy="47548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does the reasoning connect the evidence back to the claim?</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Study What's Right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MODEL SENTENCE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By the early 1830s, the United States government pushed for a treaty that would exchange the Choctaw Nation's ancestral homeland for land in the west.</a:t>
            </a:r>
            <a:endParaRPr lang="en-US" sz="15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SPOT TEACHES</a:t>
            </a:r>
            <a:endParaRPr lang="en-US" sz="1100" dirty="0"/>
          </a:p>
        </p:txBody>
      </p:sp>
      <p:sp>
        <p:nvSpPr>
          <p:cNvPr id="8" name="Shape 6"/>
          <p:cNvSpPr/>
          <p:nvPr/>
        </p:nvSpPr>
        <p:spPr>
          <a:xfrm>
            <a:off x="365760" y="237744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32304"/>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"United States" — official country name, capitalized</a:t>
            </a:r>
            <a:endParaRPr lang="en-US" sz="1200" dirty="0"/>
          </a:p>
        </p:txBody>
      </p:sp>
      <p:sp>
        <p:nvSpPr>
          <p:cNvPr id="10" name="Shape 8"/>
          <p:cNvSpPr/>
          <p:nvPr/>
        </p:nvSpPr>
        <p:spPr>
          <a:xfrm>
            <a:off x="365760" y="295351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008376"/>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"Choctaw Nation's" — capitalized nation name + possessive apostrophe</a:t>
            </a:r>
            <a:endParaRPr lang="en-US" sz="1200" dirty="0"/>
          </a:p>
        </p:txBody>
      </p:sp>
      <p:sp>
        <p:nvSpPr>
          <p:cNvPr id="12" name="Shape 10"/>
          <p:cNvSpPr/>
          <p:nvPr/>
        </p:nvSpPr>
        <p:spPr>
          <a:xfrm>
            <a:off x="365760" y="3529584"/>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584448"/>
            <a:ext cx="8046720" cy="402336"/>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period ends the statement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for generations the choctaw nation farmed the land and built strong communities in mississippi</a:t>
            </a:r>
            <a:endParaRPr lang="en-US" sz="15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for generations the choctaw nation farmed the land and built strong communities in mississippi</a:t>
            </a:r>
            <a:endParaRPr lang="en-US" sz="15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400" b="1" i="1" dirty="0">
                <a:solidFill>
                  <a:srgbClr val="1E293B"/>
                </a:solidFill>
                <a:latin typeface="Calibri" pitchFamily="34" charset="0"/>
                <a:ea typeface="Calibri" pitchFamily="34" charset="-122"/>
                <a:cs typeface="Calibri" pitchFamily="34" charset="-120"/>
              </a:rPr>
              <a:t>For generations, the Choctaw Nation farmed the land and built strong communities in Mississippi.</a:t>
            </a:r>
            <a:endParaRPr lang="en-US" sz="14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Capital letters for proper nouns, plus a comma after the introductory phrase "For generations," — sentence variety in action.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Morphology: migr / mov / mot</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Use: write your own sentence with a root word</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Write one complete sentence about this week’s research using migrate, migration, movement, motion, or remove/removal correctly.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Vocabulary — Use It</a:t>
            </a:r>
            <a:endParaRPr lang="en-US" sz="24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Shape 2"/>
          <p:cNvSpPr/>
          <p:nvPr/>
        </p:nvSpPr>
        <p:spPr>
          <a:xfrm>
            <a:off x="365760" y="914400"/>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60120"/>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homeland  </a:t>
            </a:r>
            <a:pPr indent="0" marL="0">
              <a:buNone/>
            </a:pPr>
            <a:r>
              <a:rPr lang="en-US" sz="1150" dirty="0">
                <a:solidFill>
                  <a:srgbClr val="1E293B"/>
                </a:solidFill>
                <a:latin typeface="Calibri" pitchFamily="34" charset="0"/>
                <a:ea typeface="Calibri" pitchFamily="34" charset="-122"/>
                <a:cs typeface="Calibri" pitchFamily="34" charset="-120"/>
              </a:rPr>
              <a:t>Before 1830, Mississippi was the homeland of the Choctaw Nation.</a:t>
            </a:r>
            <a:endParaRPr lang="en-US" sz="1300" dirty="0"/>
          </a:p>
        </p:txBody>
      </p:sp>
      <p:sp>
        <p:nvSpPr>
          <p:cNvPr id="6" name="Shape 4"/>
          <p:cNvSpPr/>
          <p:nvPr/>
        </p:nvSpPr>
        <p:spPr>
          <a:xfrm>
            <a:off x="365760" y="1517904"/>
            <a:ext cx="8412480" cy="548640"/>
          </a:xfrm>
          <a:prstGeom prst="roundRect">
            <a:avLst>
              <a:gd name="adj" fmla="val 16667"/>
            </a:avLst>
          </a:prstGeom>
          <a:solidFill>
            <a:srgbClr val="EAF6FA"/>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563624"/>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treaty is an official written agreement between two or more groups.</a:t>
            </a:r>
            <a:endParaRPr lang="en-US" sz="1300" dirty="0"/>
          </a:p>
        </p:txBody>
      </p:sp>
      <p:sp>
        <p:nvSpPr>
          <p:cNvPr id="8" name="Shape 6"/>
          <p:cNvSpPr/>
          <p:nvPr/>
        </p:nvSpPr>
        <p:spPr>
          <a:xfrm>
            <a:off x="365760" y="2121408"/>
            <a:ext cx="8412480" cy="548640"/>
          </a:xfrm>
          <a:prstGeom prst="roundRect">
            <a:avLst>
              <a:gd name="adj" fmla="val 16667"/>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67128"/>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The Indian Removal Act of 1830 forced many Native nations to leave their land.</a:t>
            </a:r>
            <a:endParaRPr lang="en-US" sz="1300" dirty="0"/>
          </a:p>
        </p:txBody>
      </p:sp>
      <p:sp>
        <p:nvSpPr>
          <p:cNvPr id="10" name="Shape 8"/>
          <p:cNvSpPr/>
          <p:nvPr/>
        </p:nvSpPr>
        <p:spPr>
          <a:xfrm>
            <a:off x="365760" y="2724912"/>
            <a:ext cx="8412480" cy="548640"/>
          </a:xfrm>
          <a:prstGeom prst="roundRect">
            <a:avLst>
              <a:gd name="adj" fmla="val 16667"/>
            </a:avLst>
          </a:prstGeom>
          <a:solidFill>
            <a:srgbClr val="EAF6FA"/>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770632"/>
            <a:ext cx="8046720" cy="45720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ancestral  </a:t>
            </a:r>
            <a:pPr indent="0" marL="0">
              <a:buNone/>
            </a:pPr>
            <a:r>
              <a:rPr lang="en-US" sz="1150" dirty="0">
                <a:solidFill>
                  <a:srgbClr val="1E293B"/>
                </a:solidFill>
                <a:latin typeface="Calibri" pitchFamily="34" charset="0"/>
                <a:ea typeface="Calibri" pitchFamily="34" charset="-122"/>
                <a:cs typeface="Calibri" pitchFamily="34" charset="-120"/>
              </a:rPr>
              <a:t>The Choctaw Nation’s ancestral land had supported their communities for centuries.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 Sentence Variety</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Use: write your own varied sentences</a:t>
            </a:r>
            <a:endParaRPr lang="en-US" sz="1100" dirty="0"/>
          </a:p>
        </p:txBody>
      </p:sp>
      <p:sp>
        <p:nvSpPr>
          <p:cNvPr id="7" name="Text 5"/>
          <p:cNvSpPr/>
          <p:nvPr/>
        </p:nvSpPr>
        <p:spPr>
          <a:xfrm>
            <a:off x="365760" y="1078992"/>
            <a:ext cx="84124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Write two sentences about this week’s research — one short sentence starting with the subject, one longer sentence opening with an introductory phrase.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 Sentence Variety</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Use: write your own varied sentences</a:t>
            </a:r>
            <a:endParaRPr lang="en-US" sz="1100" dirty="0"/>
          </a:p>
        </p:txBody>
      </p:sp>
      <p:sp>
        <p:nvSpPr>
          <p:cNvPr id="7" name="Text 5"/>
          <p:cNvSpPr/>
          <p:nvPr/>
        </p:nvSpPr>
        <p:spPr>
          <a:xfrm>
            <a:off x="365760" y="1078992"/>
            <a:ext cx="8412480" cy="56692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Write two sentences about this week’s research — one short sentence starting with the subject, one longer sentence opening with an introductory phrase.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Spelling — The Prefix re-</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Apply: write your own examples</a:t>
            </a:r>
            <a:endParaRPr lang="en-US" sz="1100" dirty="0"/>
          </a:p>
        </p:txBody>
      </p:sp>
      <p:sp>
        <p:nvSpPr>
          <p:cNvPr id="7" name="Shape 5"/>
          <p:cNvSpPr/>
          <p:nvPr/>
        </p:nvSpPr>
        <p:spPr>
          <a:xfrm>
            <a:off x="365760" y="1143000"/>
            <a:ext cx="8412480" cy="640080"/>
          </a:xfrm>
          <a:prstGeom prst="roundRect">
            <a:avLst>
              <a:gd name="adj" fmla="val 14286"/>
            </a:avLst>
          </a:prstGeom>
          <a:solidFill>
            <a:srgbClr val="FEF6E8"/>
          </a:solidFill>
          <a:ln w="12700">
            <a:solidFill>
              <a:srgbClr val="C7922C"/>
            </a:solidFill>
            <a:prstDash val="solid"/>
          </a:ln>
        </p:spPr>
      </p:sp>
      <p:sp>
        <p:nvSpPr>
          <p:cNvPr id="8" name="Text 6"/>
          <p:cNvSpPr/>
          <p:nvPr/>
        </p:nvSpPr>
        <p:spPr>
          <a:xfrm>
            <a:off x="548640" y="1216152"/>
            <a:ext cx="8046720" cy="502920"/>
          </a:xfrm>
          <a:prstGeom prst="rect">
            <a:avLst/>
          </a:prstGeom>
          <a:noFill/>
          <a:ln/>
        </p:spPr>
        <p:txBody>
          <a:bodyPr wrap="square" lIns="0" tIns="0" rIns="0" bIns="0" rtlCol="0" anchor="t"/>
          <a:lstStyle/>
          <a:p>
            <a:pPr indent="0" marL="0">
              <a:buNone/>
            </a:pPr>
            <a:r>
              <a:rPr lang="en-US" sz="1000" b="1" dirty="0">
                <a:solidFill>
                  <a:srgbClr val="C7922C"/>
                </a:solidFill>
                <a:latin typeface="Calibri" pitchFamily="34" charset="0"/>
                <a:ea typeface="Calibri" pitchFamily="34" charset="-122"/>
                <a:cs typeface="Calibri" pitchFamily="34" charset="-120"/>
              </a:rPr>
              <a:t>🫖 Show What You Know
</a:t>
            </a:r>
            <a:pPr indent="0" marL="0">
              <a:buNone/>
            </a:pPr>
            <a:r>
              <a:rPr lang="en-US" sz="1000" i="1" dirty="0">
                <a:solidFill>
                  <a:srgbClr val="1E293B"/>
                </a:solidFill>
                <a:latin typeface="Calibri" pitchFamily="34" charset="0"/>
                <a:ea typeface="Calibri" pitchFamily="34" charset="-122"/>
                <a:cs typeface="Calibri" pitchFamily="34" charset="-120"/>
              </a:rPr>
              <a:t>Write two words of your own: one that starts with the prefix re- (not already used this week), and one multisyllabic word without re- that you decode by breaking into syllables.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Open the Source Table</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Text 2"/>
          <p:cNvSpPr/>
          <p:nvPr/>
        </p:nvSpPr>
        <p:spPr>
          <a:xfrm>
            <a:off x="365760" y="822960"/>
            <a:ext cx="8412480" cy="45720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This week you’ve read about daily life in the Choctaw homeland and compared a government argument with the Choctaw Nation of Oklahoma’s own reflection. Today, use that research to build an argument.</a:t>
            </a:r>
            <a:endParaRPr lang="en-US" sz="1200" dirty="0"/>
          </a:p>
        </p:txBody>
      </p:sp>
      <p:sp>
        <p:nvSpPr>
          <p:cNvPr id="5" name="Shape 3"/>
          <p:cNvSpPr/>
          <p:nvPr/>
        </p:nvSpPr>
        <p:spPr>
          <a:xfrm>
            <a:off x="365760" y="1325880"/>
            <a:ext cx="8412480" cy="2103120"/>
          </a:xfrm>
          <a:prstGeom prst="roundRect">
            <a:avLst>
              <a:gd name="adj" fmla="val 4348"/>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435608"/>
            <a:ext cx="8046720" cy="1883664"/>
          </a:xfrm>
          <a:prstGeom prst="rect">
            <a:avLst/>
          </a:prstGeom>
          <a:noFill/>
          <a:ln/>
        </p:spPr>
        <p:txBody>
          <a:bodyPr wrap="square" lIns="0" tIns="0" rIns="0" bIns="0" rtlCol="0" anchor="t"/>
          <a:lstStyle/>
          <a:p>
            <a:pPr indent="0" marL="0">
              <a:buNone/>
            </a:pPr>
            <a:r>
              <a:rPr lang="en-US" sz="1200" i="1" dirty="0">
                <a:solidFill>
                  <a:srgbClr val="1E293B"/>
                </a:solidFill>
                <a:latin typeface="Georgia" pitchFamily="34" charset="0"/>
                <a:ea typeface="Georgia" pitchFamily="34" charset="-122"/>
                <a:cs typeface="Georgia" pitchFamily="34" charset="-120"/>
              </a:rPr>
              <a:t>Understanding more than one perspective helps us see history more completely. Before 1830, Choctaw families farmed corn, beans, and squash in Mississippi and made decisions together through community leaders—and the Choctaw Nation of Oklahoma says today that the Treaty of Dancing Rabbit Creek "forever changed our Chahta people’s story." If we only read a report describing a treaty, we might not realize how much daily life, land, and identity were affected. Reading both the facts of the treaty and the Choctaw Nation’s own reflection helps us understand the full impact of this event on real people.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Claim, Evidence &amp; Reasoning</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1005840"/>
          </a:xfrm>
          <a:prstGeom prst="roundRect">
            <a:avLst>
              <a:gd name="adj" fmla="val 9091"/>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41832"/>
            <a:ext cx="8046720" cy="859536"/>
          </a:xfrm>
          <a:prstGeom prst="rect">
            <a:avLst/>
          </a:prstGeom>
          <a:noFill/>
          <a:ln/>
        </p:spPr>
        <p:txBody>
          <a:bodyPr wrap="square" lIns="0" tIns="0" rIns="0" bIns="0" rtlCol="0" anchor="ctr"/>
          <a:lstStyle/>
          <a:p>
            <a:pPr indent="0" marL="0">
              <a:buNone/>
            </a:pPr>
            <a:r>
              <a:rPr lang="en-US" sz="1200" b="1" spc="100" kern="0" dirty="0">
                <a:solidFill>
                  <a:srgbClr val="0E1C42"/>
                </a:solidFill>
                <a:latin typeface="Calibri" pitchFamily="34" charset="0"/>
                <a:ea typeface="Calibri" pitchFamily="34" charset="-122"/>
                <a:cs typeface="Calibri" pitchFamily="34" charset="-120"/>
              </a:rPr>
              <a:t>CLAIM
</a:t>
            </a:r>
            <a:pPr indent="0" marL="0">
              <a:buNone/>
            </a:pPr>
            <a:r>
              <a:rPr lang="en-US" sz="1200" i="1" dirty="0">
                <a:solidFill>
                  <a:srgbClr val="1E293B"/>
                </a:solidFill>
                <a:latin typeface="Calibri" pitchFamily="34" charset="0"/>
                <a:ea typeface="Calibri" pitchFamily="34" charset="-122"/>
                <a:cs typeface="Calibri" pitchFamily="34" charset="-120"/>
              </a:rPr>
              <a:t>"Understanding more than one perspective helps us see history more completely."</a:t>
            </a:r>
            <a:endParaRPr lang="en-US" sz="1200" dirty="0"/>
          </a:p>
        </p:txBody>
      </p:sp>
      <p:sp>
        <p:nvSpPr>
          <p:cNvPr id="6" name="Shape 4"/>
          <p:cNvSpPr/>
          <p:nvPr/>
        </p:nvSpPr>
        <p:spPr>
          <a:xfrm>
            <a:off x="365760" y="1965960"/>
            <a:ext cx="8412480" cy="1005840"/>
          </a:xfrm>
          <a:prstGeom prst="roundRect">
            <a:avLst>
              <a:gd name="adj" fmla="val 9091"/>
            </a:avLst>
          </a:prstGeom>
          <a:solidFill>
            <a:srgbClr val="E5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2039112"/>
            <a:ext cx="8046720" cy="859536"/>
          </a:xfrm>
          <a:prstGeom prst="rect">
            <a:avLst/>
          </a:prstGeom>
          <a:noFill/>
          <a:ln/>
        </p:spPr>
        <p:txBody>
          <a:bodyPr wrap="square" lIns="0" tIns="0" rIns="0" bIns="0" rtlCol="0" anchor="ctr"/>
          <a:lstStyle/>
          <a:p>
            <a:pPr indent="0" marL="0">
              <a:buNone/>
            </a:pPr>
            <a:r>
              <a:rPr lang="en-US" sz="1200" b="1" spc="100" kern="0" dirty="0">
                <a:solidFill>
                  <a:srgbClr val="0E1C42"/>
                </a:solidFill>
                <a:latin typeface="Calibri" pitchFamily="34" charset="0"/>
                <a:ea typeface="Calibri" pitchFamily="34" charset="-122"/>
                <a:cs typeface="Calibri" pitchFamily="34" charset="-120"/>
              </a:rPr>
              <a:t>EVIDENCE
</a:t>
            </a:r>
            <a:pPr indent="0" marL="0">
              <a:buNone/>
            </a:pPr>
            <a:r>
              <a:rPr lang="en-US" sz="1200" i="1" dirty="0">
                <a:solidFill>
                  <a:srgbClr val="1E293B"/>
                </a:solidFill>
                <a:latin typeface="Calibri" pitchFamily="34" charset="0"/>
                <a:ea typeface="Calibri" pitchFamily="34" charset="-122"/>
                <a:cs typeface="Calibri" pitchFamily="34" charset="-120"/>
              </a:rPr>
              <a:t>Choctaw families farmed and governed their own communities before 1830—and the Choctaw Nation of Oklahoma says the treaty "forever changed our Chahta people’s story."</a:t>
            </a:r>
            <a:endParaRPr lang="en-US" sz="1200" dirty="0"/>
          </a:p>
        </p:txBody>
      </p:sp>
      <p:sp>
        <p:nvSpPr>
          <p:cNvPr id="8" name="Shape 6"/>
          <p:cNvSpPr/>
          <p:nvPr/>
        </p:nvSpPr>
        <p:spPr>
          <a:xfrm>
            <a:off x="365760" y="3063240"/>
            <a:ext cx="8412480" cy="1005840"/>
          </a:xfrm>
          <a:prstGeom prst="roundRect">
            <a:avLst>
              <a:gd name="adj" fmla="val 9091"/>
            </a:avLst>
          </a:prstGeom>
          <a:solidFill>
            <a:srgbClr val="E8F8E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3136392"/>
            <a:ext cx="8046720" cy="859536"/>
          </a:xfrm>
          <a:prstGeom prst="rect">
            <a:avLst/>
          </a:prstGeom>
          <a:noFill/>
          <a:ln/>
        </p:spPr>
        <p:txBody>
          <a:bodyPr wrap="square" lIns="0" tIns="0" rIns="0" bIns="0" rtlCol="0" anchor="ctr"/>
          <a:lstStyle/>
          <a:p>
            <a:pPr indent="0" marL="0">
              <a:buNone/>
            </a:pPr>
            <a:r>
              <a:rPr lang="en-US" sz="1200" b="1" spc="100" kern="0" dirty="0">
                <a:solidFill>
                  <a:srgbClr val="0E1C42"/>
                </a:solidFill>
                <a:latin typeface="Calibri" pitchFamily="34" charset="0"/>
                <a:ea typeface="Calibri" pitchFamily="34" charset="-122"/>
                <a:cs typeface="Calibri" pitchFamily="34" charset="-120"/>
              </a:rPr>
              <a:t>REASONING
</a:t>
            </a:r>
            <a:pPr indent="0" marL="0">
              <a:buNone/>
            </a:pPr>
            <a:r>
              <a:rPr lang="en-US" sz="1200" i="1" dirty="0">
                <a:solidFill>
                  <a:srgbClr val="1E293B"/>
                </a:solidFill>
                <a:latin typeface="Calibri" pitchFamily="34" charset="0"/>
                <a:ea typeface="Calibri" pitchFamily="34" charset="-122"/>
                <a:cs typeface="Calibri" pitchFamily="34" charset="-120"/>
              </a:rPr>
              <a:t>A report about a treaty alone might not show how much daily life, land, and identity were affected, so reading both kinds of sources gives a fuller picture.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Notice &amp; Discuss</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Shape 2"/>
          <p:cNvSpPr/>
          <p:nvPr/>
        </p:nvSpPr>
        <p:spPr>
          <a:xfrm>
            <a:off x="6492240" y="173736"/>
            <a:ext cx="2286000" cy="502920"/>
          </a:xfrm>
          <a:prstGeom prst="roundRect">
            <a:avLst>
              <a:gd name="adj" fmla="val 21818"/>
            </a:avLst>
          </a:prstGeom>
          <a:solidFill>
            <a:srgbClr val="D4AF6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TALK ABOUT IT</a:t>
            </a:r>
            <a:endParaRPr lang="en-US" sz="1100" dirty="0"/>
          </a:p>
        </p:txBody>
      </p:sp>
      <p:sp>
        <p:nvSpPr>
          <p:cNvPr id="7" name="Shape 5"/>
          <p:cNvSpPr/>
          <p:nvPr/>
        </p:nvSpPr>
        <p:spPr>
          <a:xfrm>
            <a:off x="365760" y="109728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170432"/>
            <a:ext cx="8046720" cy="630936"/>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Which sentence in the model paragraph states the claim most directly?</a:t>
            </a:r>
            <a:endParaRPr lang="en-US" sz="1300" dirty="0"/>
          </a:p>
        </p:txBody>
      </p:sp>
      <p:sp>
        <p:nvSpPr>
          <p:cNvPr id="9" name="Shape 7"/>
          <p:cNvSpPr/>
          <p:nvPr/>
        </p:nvSpPr>
        <p:spPr>
          <a:xfrm>
            <a:off x="365760" y="1965960"/>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039112"/>
            <a:ext cx="8046720" cy="630936"/>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  How does the last sentence connect the evidence back to the claim?</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Craft Questions — Preview</a:t>
            </a:r>
            <a:endParaRPr lang="en-US" sz="2400" dirty="0"/>
          </a:p>
        </p:txBody>
      </p:sp>
      <p:sp>
        <p:nvSpPr>
          <p:cNvPr id="3" name="Shape 1"/>
          <p:cNvSpPr/>
          <p:nvPr/>
        </p:nvSpPr>
        <p:spPr>
          <a:xfrm>
            <a:off x="365760" y="749808"/>
            <a:ext cx="8412480" cy="0"/>
          </a:xfrm>
          <a:prstGeom prst="line">
            <a:avLst/>
          </a:prstGeom>
          <a:noFill/>
          <a:ln w="19050">
            <a:solidFill>
              <a:srgbClr val="D4AF6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a:t>
            </a:r>
            <a:endParaRPr lang="en-US" sz="1100" dirty="0"/>
          </a:p>
        </p:txBody>
      </p:sp>
      <p:sp>
        <p:nvSpPr>
          <p:cNvPr id="5" name="Shape 3"/>
          <p:cNvSpPr/>
          <p:nvPr/>
        </p:nvSpPr>
        <p:spPr>
          <a:xfrm>
            <a:off x="365760" y="1097280"/>
            <a:ext cx="8412480" cy="868680"/>
          </a:xfrm>
          <a:prstGeom prst="roundRect">
            <a:avLst>
              <a:gd name="adj" fmla="val 10526"/>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1.  </a:t>
            </a:r>
            <a:pPr indent="0" marL="0">
              <a:buNone/>
            </a:pPr>
            <a:r>
              <a:rPr lang="en-US" sz="1200" dirty="0">
                <a:solidFill>
                  <a:srgbClr val="1E293B"/>
                </a:solidFill>
                <a:latin typeface="Calibri" pitchFamily="34" charset="0"/>
                <a:ea typeface="Calibri" pitchFamily="34" charset="-122"/>
                <a:cs typeface="Calibri" pitchFamily="34" charset="-120"/>
              </a:rPr>
              <a:t>Which sentence in the model paragraph is the claim? Rewrite it in your own words.</a:t>
            </a:r>
            <a:endParaRPr lang="en-US" sz="1300" dirty="0"/>
          </a:p>
        </p:txBody>
      </p:sp>
      <p:sp>
        <p:nvSpPr>
          <p:cNvPr id="7" name="Shape 5"/>
          <p:cNvSpPr/>
          <p:nvPr/>
        </p:nvSpPr>
        <p:spPr>
          <a:xfrm>
            <a:off x="365760" y="2039112"/>
            <a:ext cx="8412480" cy="868680"/>
          </a:xfrm>
          <a:prstGeom prst="roundRect">
            <a:avLst>
              <a:gd name="adj" fmla="val 10526"/>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12264"/>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2.  </a:t>
            </a:r>
            <a:pPr indent="0" marL="0">
              <a:buNone/>
            </a:pPr>
            <a:r>
              <a:rPr lang="en-US" sz="1200" dirty="0">
                <a:solidFill>
                  <a:srgbClr val="1E293B"/>
                </a:solidFill>
                <a:latin typeface="Calibri" pitchFamily="34" charset="0"/>
                <a:ea typeface="Calibri" pitchFamily="34" charset="-122"/>
                <a:cs typeface="Calibri" pitchFamily="34" charset="-120"/>
              </a:rPr>
              <a:t>What evidence does the model paragraph use to support its claim? Name at least one piece of evidence.</a:t>
            </a:r>
            <a:endParaRPr lang="en-US" sz="1300" dirty="0"/>
          </a:p>
        </p:txBody>
      </p:sp>
      <p:sp>
        <p:nvSpPr>
          <p:cNvPr id="9" name="Shape 7"/>
          <p:cNvSpPr/>
          <p:nvPr/>
        </p:nvSpPr>
        <p:spPr>
          <a:xfrm>
            <a:off x="365760" y="2980944"/>
            <a:ext cx="8412480" cy="868680"/>
          </a:xfrm>
          <a:prstGeom prst="roundRect">
            <a:avLst>
              <a:gd name="adj" fmla="val 1052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054096"/>
            <a:ext cx="8046720" cy="722376"/>
          </a:xfrm>
          <a:prstGeom prst="rect">
            <a:avLst/>
          </a:prstGeom>
          <a:noFill/>
          <a:ln/>
        </p:spPr>
        <p:txBody>
          <a:bodyPr wrap="square" lIns="0" tIns="0" rIns="0" bIns="0" rtlCol="0" anchor="ctr"/>
          <a:lstStyle/>
          <a:p>
            <a:pPr indent="0" marL="0">
              <a:buNone/>
            </a:pPr>
            <a:r>
              <a:rPr lang="en-US" sz="1300" b="1" dirty="0">
                <a:solidFill>
                  <a:srgbClr val="D4AF6A"/>
                </a:solidFill>
                <a:latin typeface="Calibri" pitchFamily="34" charset="0"/>
                <a:ea typeface="Calibri" pitchFamily="34" charset="-122"/>
                <a:cs typeface="Calibri" pitchFamily="34" charset="-120"/>
              </a:rPr>
              <a:t>3.  </a:t>
            </a:r>
            <a:pPr indent="0" marL="0">
              <a:buNone/>
            </a:pPr>
            <a:r>
              <a:rPr lang="en-US" sz="1200" dirty="0">
                <a:solidFill>
                  <a:srgbClr val="1E293B"/>
                </a:solidFill>
                <a:latin typeface="Calibri" pitchFamily="34" charset="0"/>
                <a:ea typeface="Calibri" pitchFamily="34" charset="-122"/>
                <a:cs typeface="Calibri" pitchFamily="34" charset="-120"/>
              </a:rPr>
              <a:t>How does the reasoning sentence connect the evidence back to the claim? Explain in your own words.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Writing Connection</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TODAY'S WRITING TASK</a:t>
            </a:r>
            <a:endParaRPr lang="en-US" sz="1100" dirty="0"/>
          </a:p>
        </p:txBody>
      </p:sp>
      <p:sp>
        <p:nvSpPr>
          <p:cNvPr id="5" name="Shape 3"/>
          <p:cNvSpPr/>
          <p:nvPr/>
        </p:nvSpPr>
        <p:spPr>
          <a:xfrm>
            <a:off x="365760" y="1097280"/>
            <a:ext cx="8412480" cy="2011680"/>
          </a:xfrm>
          <a:prstGeom prst="roundRect">
            <a:avLst>
              <a:gd name="adj" fmla="val 4545"/>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73736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a claim sentence about why perspective matters when studying history, with one piece of supporting evidence from this week’s reading.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2026-07-13T03:04:01Z</dcterms:created>
  <dcterms:modified xsi:type="dcterms:W3CDTF">2026-07-13T03:04:01Z</dcterms:modified>
</cp:coreProperties>
</file>