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15 Day 1 — Sensory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How do writers make a made-up character feel like a real person living in real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lens before students dive into today's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bells rang out over fish street but no one in the crooked little house even stirred"
Corrected: "The bells rang out over Fish Street, but no one in the crooked little house even stirred."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bells rang out over fish street but no one in the crooked little house even stirred"
Corrected: "The bells rang out over Fish Street, but no one in the crooked little house even stirred."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Decode &amp;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Historical Vocabulary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no single right answer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today's study,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817"/>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4AF6A">
              <a:alpha val="15000"/>
            </a:srgbClr>
          </a:solidFill>
          <a:ln/>
        </p:spPr>
      </p:sp>
      <p:sp>
        <p:nvSpPr>
          <p:cNvPr id="3" name="Text 1"/>
          <p:cNvSpPr/>
          <p:nvPr/>
        </p:nvSpPr>
        <p:spPr>
          <a:xfrm>
            <a:off x="457200" y="502920"/>
            <a:ext cx="8229600" cy="365760"/>
          </a:xfrm>
          <a:prstGeom prst="rect">
            <a:avLst/>
          </a:prstGeom>
          <a:noFill/>
          <a:ln/>
        </p:spPr>
        <p:txBody>
          <a:bodyPr wrap="square" lIns="0" tIns="0" rIns="0" bIns="0" rtlCol="0" anchor="ctr"/>
          <a:lstStyle/>
          <a:p>
            <a:pPr algn="l" indent="0" marL="0">
              <a:buNone/>
            </a:pPr>
            <a:r>
              <a:rPr lang="en-US" sz="1300" b="1" spc="400" kern="0" dirty="0">
                <a:solidFill>
                  <a:srgbClr val="D4AF6A"/>
                </a:solidFill>
                <a:latin typeface="Calibri" pitchFamily="34" charset="0"/>
                <a:ea typeface="Calibri" pitchFamily="34" charset="-122"/>
                <a:cs typeface="Calibri" pitchFamily="34" charset="-120"/>
              </a:rPr>
              <a:t>WEEK 15  ·  DAY 1</a:t>
            </a:r>
            <a:endParaRPr lang="en-US" sz="1300" dirty="0"/>
          </a:p>
        </p:txBody>
      </p:sp>
      <p:sp>
        <p:nvSpPr>
          <p:cNvPr id="4" name="Text 2"/>
          <p:cNvSpPr/>
          <p:nvPr/>
        </p:nvSpPr>
        <p:spPr>
          <a:xfrm>
            <a:off x="457200" y="86868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Week 15 · Becoming a Historical Writer</a:t>
            </a:r>
            <a:endParaRPr lang="en-US" sz="1400" dirty="0"/>
          </a:p>
        </p:txBody>
      </p:sp>
      <p:sp>
        <p:nvSpPr>
          <p:cNvPr id="5" name="Text 3"/>
          <p:cNvSpPr/>
          <p:nvPr/>
        </p:nvSpPr>
        <p:spPr>
          <a:xfrm>
            <a:off x="457200" y="1280160"/>
            <a:ext cx="8229600" cy="13716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Sensory Detail</a:t>
            </a:r>
            <a:endParaRPr lang="en-US" sz="3000" dirty="0"/>
          </a:p>
        </p:txBody>
      </p:sp>
      <p:sp>
        <p:nvSpPr>
          <p:cNvPr id="6" name="Text 4"/>
          <p:cNvSpPr/>
          <p:nvPr/>
        </p:nvSpPr>
        <p:spPr>
          <a:xfrm>
            <a:off x="457200" y="2514600"/>
            <a:ext cx="8229600" cy="457200"/>
          </a:xfrm>
          <a:prstGeom prst="rect">
            <a:avLst/>
          </a:prstGeom>
          <a:noFill/>
          <a:ln/>
        </p:spPr>
        <p:txBody>
          <a:bodyPr wrap="square" lIns="0" tIns="0" rIns="0" bIns="0" rtlCol="0" anchor="ctr"/>
          <a:lstStyle/>
          <a:p>
            <a:pPr algn="l" indent="0" marL="0">
              <a:buNone/>
            </a:pPr>
            <a:r>
              <a:rPr lang="en-US" sz="1300" i="1" dirty="0">
                <a:solidFill>
                  <a:srgbClr val="D4AF6A"/>
                </a:solidFill>
                <a:latin typeface="Georgia" pitchFamily="34" charset="0"/>
                <a:ea typeface="Georgia" pitchFamily="34" charset="-122"/>
                <a:cs typeface="Georgia" pitchFamily="34" charset="-120"/>
              </a:rPr>
              <a:t>Johnny Tremain, Ch. I — "Up and About"</a:t>
            </a:r>
            <a:endParaRPr lang="en-US" sz="13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Writer's Bridge  ·  Voice &amp; Craft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365760" y="914400"/>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51560"/>
            <a:ext cx="7955280" cy="10058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How do writers make a made-up character feel like a real person living in real history?</a:t>
            </a:r>
            <a:endParaRPr lang="en-US" sz="1600" dirty="0"/>
          </a:p>
        </p:txBody>
      </p:sp>
      <p:sp>
        <p:nvSpPr>
          <p:cNvPr id="6" name="Text 4"/>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7" name="Shape 5"/>
          <p:cNvSpPr/>
          <p:nvPr/>
        </p:nvSpPr>
        <p:spPr>
          <a:xfrm>
            <a:off x="365760" y="267004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72491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Mentor Text: </a:t>
            </a:r>
            <a:pPr indent="0" marL="0">
              <a:buNone/>
            </a:pPr>
            <a:r>
              <a:rPr lang="en-US" sz="1300" dirty="0">
                <a:solidFill>
                  <a:srgbClr val="1E293B"/>
                </a:solidFill>
                <a:latin typeface="Calibri" pitchFamily="34" charset="0"/>
                <a:ea typeface="Calibri" pitchFamily="34" charset="-122"/>
                <a:cs typeface="Calibri" pitchFamily="34" charset="-120"/>
              </a:rPr>
              <a:t>I will study how Esther Forbes uses sensory detail to make 1773 Boston feel real, and answer craft questions about her choices.</a:t>
            </a:r>
            <a:endParaRPr lang="en-US" sz="1500" dirty="0"/>
          </a:p>
        </p:txBody>
      </p:sp>
      <p:sp>
        <p:nvSpPr>
          <p:cNvPr id="9" name="Shape 7"/>
          <p:cNvSpPr/>
          <p:nvPr/>
        </p:nvSpPr>
        <p:spPr>
          <a:xfrm>
            <a:off x="365760" y="336499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41985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300" dirty="0">
                <a:solidFill>
                  <a:srgbClr val="1E293B"/>
                </a:solidFill>
                <a:latin typeface="Calibri" pitchFamily="34" charset="0"/>
                <a:ea typeface="Calibri" pitchFamily="34" charset="-122"/>
                <a:cs typeface="Calibri" pitchFamily="34" charset="-120"/>
              </a:rPr>
              <a:t>I will define how dialogue punctuation works — quotation marks, tags, and commas.</a:t>
            </a:r>
            <a:endParaRPr lang="en-US" sz="1500" dirty="0"/>
          </a:p>
        </p:txBody>
      </p:sp>
      <p:sp>
        <p:nvSpPr>
          <p:cNvPr id="11" name="Shape 9"/>
          <p:cNvSpPr/>
          <p:nvPr/>
        </p:nvSpPr>
        <p:spPr>
          <a:xfrm>
            <a:off x="365760" y="405993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11480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300" dirty="0">
                <a:solidFill>
                  <a:srgbClr val="1E293B"/>
                </a:solidFill>
                <a:latin typeface="Calibri" pitchFamily="34" charset="0"/>
                <a:ea typeface="Calibri" pitchFamily="34" charset="-122"/>
                <a:cs typeface="Calibri" pitchFamily="34" charset="-120"/>
              </a:rPr>
              <a:t>I will define the syllable patterns in historical vocabulary like apprentice and silversmith.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What Good Readers Do</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5943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historical fiction writers notice small daily-life details before they notice big historical events.</a:t>
            </a:r>
            <a:endParaRPr lang="en-US" sz="1300" dirty="0"/>
          </a:p>
        </p:txBody>
      </p:sp>
      <p:sp>
        <p:nvSpPr>
          <p:cNvPr id="6" name="Text 4"/>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a:t>
            </a:r>
            <a:endParaRPr lang="en-US" sz="1100" dirty="0"/>
          </a:p>
        </p:txBody>
      </p:sp>
      <p:sp>
        <p:nvSpPr>
          <p:cNvPr id="7" name="Shape 5"/>
          <p:cNvSpPr/>
          <p:nvPr/>
        </p:nvSpPr>
        <p:spPr>
          <a:xfrm>
            <a:off x="365760" y="208483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senses does the author use?</a:t>
            </a:r>
            <a:endParaRPr lang="en-US" sz="1300" dirty="0"/>
          </a:p>
        </p:txBody>
      </p:sp>
      <p:sp>
        <p:nvSpPr>
          <p:cNvPr id="9" name="Shape 7"/>
          <p:cNvSpPr/>
          <p:nvPr/>
        </p:nvSpPr>
        <p:spPr>
          <a:xfrm>
            <a:off x="365760" y="279806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87121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ordinary task is happening?</a:t>
            </a:r>
            <a:endParaRPr lang="en-US" sz="1300" dirty="0"/>
          </a:p>
        </p:txBody>
      </p:sp>
      <p:sp>
        <p:nvSpPr>
          <p:cNvPr id="11" name="Shape 9"/>
          <p:cNvSpPr/>
          <p:nvPr/>
        </p:nvSpPr>
        <p:spPr>
          <a:xfrm>
            <a:off x="365760" y="35112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84448"/>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this make 1773 Boston feel real?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"Silently they floated in on the town, but when their icy eyes sighted the first dead fish, first bits of garbage about the ships and wharves, they began to scream and quarrel."</a:t>
            </a:r>
            <a:endParaRPr lang="en-US" sz="15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SPOT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Silently — capital letter starts the sentence</a:t>
            </a:r>
            <a:endParaRPr lang="en-US" sz="12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comma before "but" joins two complete sentences</a:t>
            </a:r>
            <a:endParaRPr lang="en-US" sz="12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wharves — -f/-fe nouns often become -ves in the plural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bells rang out over fish street but no one in the crooked little house even stirred</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bells rang out over fish street but no one in the crooked little house even stirred</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400" b="1" i="1" dirty="0">
                <a:solidFill>
                  <a:srgbClr val="1E293B"/>
                </a:solidFill>
                <a:latin typeface="Calibri" pitchFamily="34" charset="0"/>
                <a:ea typeface="Calibri" pitchFamily="34" charset="-122"/>
                <a:cs typeface="Calibri" pitchFamily="34" charset="-120"/>
              </a:rPr>
              <a:t>The bells rang out over Fish Street, but no one in the crooked little house even stirred.</a:t>
            </a:r>
            <a:endParaRPr lang="en-US" sz="14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Capital letters for proper nouns (Fish Street), and a comma before "but" joining two complete sentences.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scrib / script</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Latin · "to write"</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This week's root means “to write.” Watch for scrib and script hiding inside words.</a:t>
            </a:r>
            <a:endParaRPr lang="en-US" sz="1200" dirty="0"/>
          </a:p>
        </p:txBody>
      </p:sp>
      <p:sp>
        <p:nvSpPr>
          <p:cNvPr id="7" name="Shape 5"/>
          <p:cNvSpPr/>
          <p:nvPr/>
        </p:nvSpPr>
        <p:spPr>
          <a:xfrm>
            <a:off x="365760" y="175564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01368"/>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describe — to write or tell details about something</a:t>
            </a:r>
            <a:endParaRPr lang="en-US" sz="1200" dirty="0"/>
          </a:p>
        </p:txBody>
      </p:sp>
      <p:sp>
        <p:nvSpPr>
          <p:cNvPr id="9" name="Shape 7"/>
          <p:cNvSpPr/>
          <p:nvPr/>
        </p:nvSpPr>
        <p:spPr>
          <a:xfrm>
            <a:off x="365760" y="2276856"/>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22576"/>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subscribe — to sign your name (write it) to agree to something</a:t>
            </a:r>
            <a:endParaRPr lang="en-US" sz="1200" dirty="0"/>
          </a:p>
        </p:txBody>
      </p:sp>
      <p:sp>
        <p:nvSpPr>
          <p:cNvPr id="11" name="Shape 9"/>
          <p:cNvSpPr/>
          <p:nvPr/>
        </p:nvSpPr>
        <p:spPr>
          <a:xfrm>
            <a:off x="365760" y="279806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manuscript — a document written by hand</a:t>
            </a:r>
            <a:endParaRPr lang="en-US" sz="1200" dirty="0"/>
          </a:p>
        </p:txBody>
      </p:sp>
      <p:sp>
        <p:nvSpPr>
          <p:cNvPr id="13" name="Shape 11"/>
          <p:cNvSpPr/>
          <p:nvPr/>
        </p:nvSpPr>
        <p:spPr>
          <a:xfrm>
            <a:off x="365760" y="3319272"/>
            <a:ext cx="8412480" cy="457200"/>
          </a:xfrm>
          <a:prstGeom prst="roundRect">
            <a:avLst>
              <a:gd name="adj" fmla="val 20000"/>
            </a:avLst>
          </a:prstGeom>
          <a:solidFill>
            <a:srgbClr val="F8F4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364992"/>
            <a:ext cx="8046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inscription — words written or carved onto something</a:t>
            </a:r>
            <a:endParaRPr lang="en-US" sz="1200" dirty="0"/>
          </a:p>
        </p:txBody>
      </p:sp>
      <p:sp>
        <p:nvSpPr>
          <p:cNvPr id="15" name="Shape 13"/>
          <p:cNvSpPr/>
          <p:nvPr/>
        </p:nvSpPr>
        <p:spPr>
          <a:xfrm>
            <a:off x="365760" y="3886200"/>
            <a:ext cx="8412480" cy="685800"/>
          </a:xfrm>
          <a:prstGeom prst="roundRect">
            <a:avLst>
              <a:gd name="adj" fmla="val 13333"/>
            </a:avLst>
          </a:prstGeom>
          <a:solidFill>
            <a:srgbClr val="FEF6E8"/>
          </a:solidFill>
          <a:ln w="12700">
            <a:solidFill>
              <a:srgbClr val="C7922C"/>
            </a:solidFill>
            <a:prstDash val="solid"/>
          </a:ln>
        </p:spPr>
      </p:sp>
      <p:sp>
        <p:nvSpPr>
          <p:cNvPr id="16" name="Text 14"/>
          <p:cNvSpPr/>
          <p:nvPr/>
        </p:nvSpPr>
        <p:spPr>
          <a:xfrm>
            <a:off x="548640" y="3931920"/>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describe, subscribe, manuscript, or inscription. Explain what the word part contributes to its meaning, then use it in a sentence.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 Decode &amp; Discover</a:t>
            </a:r>
            <a:endParaRPr lang="en-US" sz="24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Shape 2"/>
          <p:cNvSpPr/>
          <p:nvPr/>
        </p:nvSpPr>
        <p:spPr>
          <a:xfrm>
            <a:off x="365760" y="914400"/>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60120"/>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wharf  </a:t>
            </a:r>
            <a:pPr indent="0" marL="0">
              <a:buNone/>
            </a:pPr>
            <a:r>
              <a:rPr lang="en-US" sz="1150" dirty="0">
                <a:solidFill>
                  <a:srgbClr val="1E293B"/>
                </a:solidFill>
                <a:latin typeface="Calibri" pitchFamily="34" charset="0"/>
                <a:ea typeface="Calibri" pitchFamily="34" charset="-122"/>
                <a:cs typeface="Calibri" pitchFamily="34" charset="-120"/>
              </a:rPr>
              <a:t>a structure built along the shore where ships load and unload cargo</a:t>
            </a:r>
            <a:endParaRPr lang="en-US" sz="1300" dirty="0"/>
          </a:p>
        </p:txBody>
      </p:sp>
      <p:sp>
        <p:nvSpPr>
          <p:cNvPr id="6" name="Shape 4"/>
          <p:cNvSpPr/>
          <p:nvPr/>
        </p:nvSpPr>
        <p:spPr>
          <a:xfrm>
            <a:off x="365760" y="1517904"/>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563624"/>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silversmith  </a:t>
            </a:r>
            <a:pPr indent="0" marL="0">
              <a:buNone/>
            </a:pPr>
            <a:r>
              <a:rPr lang="en-US" sz="1150" dirty="0">
                <a:solidFill>
                  <a:srgbClr val="1E293B"/>
                </a:solidFill>
                <a:latin typeface="Calibri" pitchFamily="34" charset="0"/>
                <a:ea typeface="Calibri" pitchFamily="34" charset="-122"/>
                <a:cs typeface="Calibri" pitchFamily="34" charset="-120"/>
              </a:rPr>
              <a:t>a craftsperson who makes cups, spoons, and other objects out of silver</a:t>
            </a:r>
            <a:endParaRPr lang="en-US" sz="1300" dirty="0"/>
          </a:p>
        </p:txBody>
      </p:sp>
      <p:sp>
        <p:nvSpPr>
          <p:cNvPr id="8" name="Shape 6"/>
          <p:cNvSpPr/>
          <p:nvPr/>
        </p:nvSpPr>
        <p:spPr>
          <a:xfrm>
            <a:off x="365760" y="212140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67128"/>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crucible  </a:t>
            </a:r>
            <a:pPr indent="0" marL="0">
              <a:buNone/>
            </a:pPr>
            <a:r>
              <a:rPr lang="en-US" sz="1150" dirty="0">
                <a:solidFill>
                  <a:srgbClr val="1E293B"/>
                </a:solidFill>
                <a:latin typeface="Calibri" pitchFamily="34" charset="0"/>
                <a:ea typeface="Calibri" pitchFamily="34" charset="-122"/>
                <a:cs typeface="Calibri" pitchFamily="34" charset="-120"/>
              </a:rPr>
              <a:t>a container used to melt metal at very high heat</a:t>
            </a:r>
            <a:endParaRPr lang="en-US" sz="1300" dirty="0"/>
          </a:p>
        </p:txBody>
      </p:sp>
      <p:sp>
        <p:nvSpPr>
          <p:cNvPr id="10" name="Shape 8"/>
          <p:cNvSpPr/>
          <p:nvPr/>
        </p:nvSpPr>
        <p:spPr>
          <a:xfrm>
            <a:off x="365760" y="2724912"/>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770632"/>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artisan  </a:t>
            </a:r>
            <a:pPr indent="0" marL="0">
              <a:buNone/>
            </a:pPr>
            <a:r>
              <a:rPr lang="en-US" sz="1150" dirty="0">
                <a:solidFill>
                  <a:srgbClr val="1E293B"/>
                </a:solidFill>
                <a:latin typeface="Calibri" pitchFamily="34" charset="0"/>
                <a:ea typeface="Calibri" pitchFamily="34" charset="-122"/>
                <a:cs typeface="Calibri" pitchFamily="34" charset="-120"/>
              </a:rPr>
              <a:t>a skilled worker who makes things by hand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Dialogue Punctuation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the skill</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Spoken words go inside quotation marks. A dialogue tag (like said Johnny) tells us who is speaking. A comma usually separates the spoken words from the tag.</a:t>
            </a:r>
            <a:endParaRPr lang="en-US" sz="1100" dirty="0"/>
          </a:p>
        </p:txBody>
      </p:sp>
      <p:sp>
        <p:nvSpPr>
          <p:cNvPr id="8" name="Text 6"/>
          <p:cNvSpPr/>
          <p:nvPr/>
        </p:nvSpPr>
        <p:spPr>
          <a:xfrm>
            <a:off x="365760" y="1737360"/>
            <a:ext cx="8412480" cy="320040"/>
          </a:xfrm>
          <a:prstGeom prst="rect">
            <a:avLst/>
          </a:prstGeom>
          <a:noFill/>
          <a:ln/>
        </p:spPr>
        <p:txBody>
          <a:bodyPr wrap="square" lIns="0" tIns="0" rIns="0" bIns="0" rtlCol="0" anchor="ctr"/>
          <a:lstStyle/>
          <a:p>
            <a:pPr indent="0" marL="0">
              <a:buNone/>
            </a:pPr>
            <a:r>
              <a:rPr lang="en-US" sz="1100" b="1" i="1" dirty="0">
                <a:solidFill>
                  <a:srgbClr val="64748B"/>
                </a:solidFill>
                <a:latin typeface="Calibri" pitchFamily="34" charset="0"/>
                <a:ea typeface="Calibri" pitchFamily="34" charset="-122"/>
                <a:cs typeface="Calibri" pitchFamily="34" charset="-120"/>
              </a:rPr>
              <a:t>Tap the word that is the dialogue tag verb.</a:t>
            </a:r>
            <a:endParaRPr lang="en-US" sz="1100" dirty="0"/>
          </a:p>
        </p:txBody>
      </p:sp>
      <p:sp>
        <p:nvSpPr>
          <p:cNvPr id="9" name="Shape 7"/>
          <p:cNvSpPr/>
          <p:nvPr/>
        </p:nvSpPr>
        <p:spPr>
          <a:xfrm>
            <a:off x="365760" y="2121408"/>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176272"/>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'Coming, ma'am,' Dove [turned] over for one more snooze.</a:t>
            </a:r>
            <a:endParaRPr lang="en-US" sz="1200" dirty="0"/>
          </a:p>
        </p:txBody>
      </p:sp>
      <p:sp>
        <p:nvSpPr>
          <p:cNvPr id="11" name="Shape 9"/>
          <p:cNvSpPr/>
          <p:nvPr/>
        </p:nvSpPr>
        <p:spPr>
          <a:xfrm>
            <a:off x="365760" y="2816352"/>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71216"/>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'Here it is,' [piped] Dusty pertly.</a:t>
            </a:r>
            <a:endParaRPr lang="en-US" sz="1200" dirty="0"/>
          </a:p>
        </p:txBody>
      </p:sp>
      <p:sp>
        <p:nvSpPr>
          <p:cNvPr id="13" name="Shape 11"/>
          <p:cNvSpPr/>
          <p:nvPr/>
        </p:nvSpPr>
        <p:spPr>
          <a:xfrm>
            <a:off x="365760" y="3511296"/>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66160"/>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'Gosh, Johnny. I'm sorry,' [snickered] Dove.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Dialogue Punctuation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Define the skill</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Spoken words go inside quotation marks. A dialogue tag (like said Johnny) tells us who is speaking. A comma usually separates the spoken words from the tag.</a:t>
            </a:r>
            <a:endParaRPr lang="en-US" sz="1100" dirty="0"/>
          </a:p>
        </p:txBody>
      </p:sp>
      <p:sp>
        <p:nvSpPr>
          <p:cNvPr id="8" name="Shape 6"/>
          <p:cNvSpPr/>
          <p:nvPr/>
        </p:nvSpPr>
        <p:spPr>
          <a:xfrm>
            <a:off x="365760" y="1737360"/>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'Coming, ma'am,' Dove turned over for one more snooze.
</a:t>
            </a:r>
            <a:pPr indent="0" marL="0">
              <a:buNone/>
            </a:pPr>
            <a:r>
              <a:rPr lang="en-US" sz="1200" b="1" dirty="0">
                <a:solidFill>
                  <a:srgbClr val="34B76F"/>
                </a:solidFill>
                <a:latin typeface="Calibri" pitchFamily="34" charset="0"/>
                <a:ea typeface="Calibri" pitchFamily="34" charset="-122"/>
                <a:cs typeface="Calibri" pitchFamily="34" charset="-120"/>
              </a:rPr>
              <a:t>✅ turned</a:t>
            </a:r>
            <a:endParaRPr lang="en-US" sz="1200" dirty="0"/>
          </a:p>
        </p:txBody>
      </p:sp>
      <p:sp>
        <p:nvSpPr>
          <p:cNvPr id="10" name="Shape 8"/>
          <p:cNvSpPr/>
          <p:nvPr/>
        </p:nvSpPr>
        <p:spPr>
          <a:xfrm>
            <a:off x="365760" y="2432304"/>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487168"/>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'Here it is,' piped Dusty pertly.
</a:t>
            </a:r>
            <a:pPr indent="0" marL="0">
              <a:buNone/>
            </a:pPr>
            <a:r>
              <a:rPr lang="en-US" sz="1200" b="1" dirty="0">
                <a:solidFill>
                  <a:srgbClr val="34B76F"/>
                </a:solidFill>
                <a:latin typeface="Calibri" pitchFamily="34" charset="0"/>
                <a:ea typeface="Calibri" pitchFamily="34" charset="-122"/>
                <a:cs typeface="Calibri" pitchFamily="34" charset="-120"/>
              </a:rPr>
              <a:t>✅ piped</a:t>
            </a:r>
            <a:endParaRPr lang="en-US" sz="1200" dirty="0"/>
          </a:p>
        </p:txBody>
      </p:sp>
      <p:sp>
        <p:nvSpPr>
          <p:cNvPr id="12" name="Shape 10"/>
          <p:cNvSpPr/>
          <p:nvPr/>
        </p:nvSpPr>
        <p:spPr>
          <a:xfrm>
            <a:off x="365760" y="3127248"/>
            <a:ext cx="8412480" cy="621792"/>
          </a:xfrm>
          <a:prstGeom prst="roundRect">
            <a:avLst>
              <a:gd name="adj" fmla="val 14706"/>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182112"/>
            <a:ext cx="8046720" cy="512064"/>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'Gosh, Johnny. I'm sorry,' snickered Dove.
</a:t>
            </a:r>
            <a:pPr indent="0" marL="0">
              <a:buNone/>
            </a:pPr>
            <a:r>
              <a:rPr lang="en-US" sz="1200" b="1" dirty="0">
                <a:solidFill>
                  <a:srgbClr val="34B76F"/>
                </a:solidFill>
                <a:latin typeface="Calibri" pitchFamily="34" charset="0"/>
                <a:ea typeface="Calibri" pitchFamily="34" charset="-122"/>
                <a:cs typeface="Calibri" pitchFamily="34" charset="-120"/>
              </a:rPr>
              <a:t>✅ snickered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 Historical Vocabulary Syllables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Discover the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Multisyllable Words</a:t>
            </a:r>
            <a:endParaRPr lang="en-US" sz="1300" dirty="0"/>
          </a:p>
        </p:txBody>
      </p:sp>
      <p:sp>
        <p:nvSpPr>
          <p:cNvPr id="8" name="Text 6"/>
          <p:cNvSpPr/>
          <p:nvPr/>
        </p:nvSpPr>
        <p:spPr>
          <a:xfrm>
            <a:off x="36576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apprentice, colonial, mariner, historical</a:t>
            </a:r>
            <a:endParaRPr lang="en-US" sz="12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Compound Words</a:t>
            </a:r>
            <a:endParaRPr lang="en-US" sz="1300" dirty="0"/>
          </a:p>
        </p:txBody>
      </p:sp>
      <p:sp>
        <p:nvSpPr>
          <p:cNvPr id="10" name="Text 8"/>
          <p:cNvSpPr/>
          <p:nvPr/>
        </p:nvSpPr>
        <p:spPr>
          <a:xfrm>
            <a:off x="4663440" y="1508760"/>
            <a:ext cx="4023360" cy="14630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silversmith, wharfside, blacksmith, storehouse</a:t>
            </a:r>
            <a:endParaRPr lang="en-US" sz="1200" dirty="0"/>
          </a:p>
        </p:txBody>
      </p:sp>
      <p:sp>
        <p:nvSpPr>
          <p:cNvPr id="11" name="Shape 9"/>
          <p:cNvSpPr/>
          <p:nvPr/>
        </p:nvSpPr>
        <p:spPr>
          <a:xfrm>
            <a:off x="365760" y="3063240"/>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118104"/>
            <a:ext cx="8046720" cy="530352"/>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Historical/academic vocabulary is often multisyllabic (3+ beats); many trade words are compound words (silver+smith, wharf+side).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Study: Chapter I, "Up and About"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Returning to the very beginning of the book — not as a reader, but as a writer studying how Esther Forbes builds her world.</a:t>
            </a:r>
            <a:endParaRPr lang="en-US" sz="1200" dirty="0"/>
          </a:p>
        </p:txBody>
      </p:sp>
      <p:sp>
        <p:nvSpPr>
          <p:cNvPr id="5" name="Shape 3"/>
          <p:cNvSpPr/>
          <p:nvPr/>
        </p:nvSpPr>
        <p:spPr>
          <a:xfrm>
            <a:off x="365760" y="1325880"/>
            <a:ext cx="8412480" cy="2103120"/>
          </a:xfrm>
          <a:prstGeom prst="roundRect">
            <a:avLst>
              <a:gd name="adj" fmla="val 4348"/>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435608"/>
            <a:ext cx="8046720" cy="1883664"/>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"ON ROCKY ISLANDS gulls woke. Time to be about their business. Silently they floated in on the town... In hundreds of houses sleepy women woke sleepier children. Get up and to work..."</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Notice &amp; Discuss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TALK ABOUT IT</a:t>
            </a:r>
            <a:endParaRPr lang="en-US" sz="1100" dirty="0"/>
          </a:p>
        </p:txBody>
      </p:sp>
      <p:sp>
        <p:nvSpPr>
          <p:cNvPr id="7" name="Shape 5"/>
          <p:cNvSpPr/>
          <p:nvPr/>
        </p:nvSpPr>
        <p:spPr>
          <a:xfrm>
            <a:off x="365760" y="10972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sense (sight, sound, smell) does Forbes use first? Why might she start there?</a:t>
            </a:r>
            <a:endParaRPr lang="en-US" sz="1300" dirty="0"/>
          </a:p>
        </p:txBody>
      </p:sp>
      <p:sp>
        <p:nvSpPr>
          <p:cNvPr id="9" name="Shape 7"/>
          <p:cNvSpPr/>
          <p:nvPr/>
        </p:nvSpPr>
        <p:spPr>
          <a:xfrm>
            <a:off x="365760" y="196596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03911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chapter opens with gulls and chores, not a historical event — what does this tell you about what Forbes wants you to notice first?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Craft Questions — Preview</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a:t>
            </a:r>
            <a:endParaRPr lang="en-US" sz="1100" dirty="0"/>
          </a:p>
        </p:txBody>
      </p:sp>
      <p:sp>
        <p:nvSpPr>
          <p:cNvPr id="5" name="Shape 3"/>
          <p:cNvSpPr/>
          <p:nvPr/>
        </p:nvSpPr>
        <p:spPr>
          <a:xfrm>
            <a:off x="365760" y="1097280"/>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What sensory details does Forbes use to show morning in Boston? Cite at least two.</a:t>
            </a:r>
            <a:endParaRPr lang="en-US" sz="1300" dirty="0"/>
          </a:p>
        </p:txBody>
      </p:sp>
      <p:sp>
        <p:nvSpPr>
          <p:cNvPr id="7" name="Shape 5"/>
          <p:cNvSpPr/>
          <p:nvPr/>
        </p:nvSpPr>
        <p:spPr>
          <a:xfrm>
            <a:off x="365760" y="2039112"/>
            <a:ext cx="8412480" cy="868680"/>
          </a:xfrm>
          <a:prstGeom prst="roundRect">
            <a:avLst>
              <a:gd name="adj" fmla="val 10526"/>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12264"/>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Why does starting with animals and ordinary chores instead of a historical event help the reader believe in this world?</a:t>
            </a:r>
            <a:endParaRPr lang="en-US" sz="1300" dirty="0"/>
          </a:p>
        </p:txBody>
      </p:sp>
      <p:sp>
        <p:nvSpPr>
          <p:cNvPr id="9" name="Shape 7"/>
          <p:cNvSpPr/>
          <p:nvPr/>
        </p:nvSpPr>
        <p:spPr>
          <a:xfrm>
            <a:off x="365760" y="2980944"/>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054096"/>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What does the household dialogue reveal about daily apprentice life?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Your Journal Entry</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TODAY'S WRITING TASK</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a historical journal entry (5–7 sentences) from the perspective of a young person living in 1773 Boston, waking up on an ordinary morning. Include at least 2 sensory details and 1 line of dialogue with correct punctuation.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2026-07-13T03:04:00Z</dcterms:created>
  <dcterms:modified xsi:type="dcterms:W3CDTF">2026-07-13T03:04:00Z</dcterms:modified>
</cp:coreProperties>
</file>