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Lst>
  <p:notesMasterIdLst>
    <p:notesMasterId r:id="rId19"/>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notesMaster" Target="notesMasters/notesMaster1.xml"/><Relationship Id="rId20" Type="http://schemas.openxmlformats.org/officeDocument/2006/relationships/presProps" Target="presProps.xml"/><Relationship Id="rId21" Type="http://schemas.openxmlformats.org/officeDocument/2006/relationships/viewProps" Target="viewProps.xml"/><Relationship Id="rId22" Type="http://schemas.openxmlformats.org/officeDocument/2006/relationships/theme" Target="theme/theme1.xml"/><Relationship Id="rId2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Title slide: Week 13, Day 4, Chapter 20 — Book Sailing.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Big Q: Today you read Chapter 20 and continue revising your expository piece. Keep asking: How does figurative language contribute to meaning?
Morphology: Explain trans-/inter-/sub- — Odd One Out + teach the rule.
Vocab SWYK: Choice board — show what you know your way.
Grammar: Explain which vs. that in relative clauses.
Reading: Chapter 20 + week reflective question (Chs. 17–20)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this lens aloud before students open their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 answer needed — tap-and-notice only. Discuss why each highlighted word/punctuation mark is correct.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Fix-it: "book sailing which was nats way of describing navigation by written principle would inter sect the worlds of mathematics and practical seamanship"
Corrected: "Book sailing, which was Nat’s way of describing navigation by written principle, would intersect the worlds of mathematics and practical seamanship."
Fixes: capitalize “Book”; commas around non-restrictive relative clause; intersect is one word (no space); apostrophe in “Nat’s”; period.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Fix-it: "book sailing which was nats way of describing navigation by written principle would inter sect the worlds of mathematics and practical seamanship"
Corrected: "Book sailing, which was Nat’s way of describing navigation by written principle, would intersect the worlds of mathematics and practical seamanship."
Fixes: capitalize “Book”; commas around non-restrictive relative clause; intersect is one word (no space); apostrophe in “Nat’s”; period.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the poem aloud. Give students a moment to notice before discussing.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Optional routine — use if time allows. Read the prompt aloud. Remind students: pick a side, defend with evidence, anticipate disagreement.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Set a 5-minute timer. Remind: choose a side, defend with evidence.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Focus: Does this detail actually support what I'm trying to say, or is it just filler?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Call on 3-4 students. Encourage respectful disagreement about their choice/defense.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Vocabulary mode: Choice Menu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Reflection/journal-based grammar task today — no quiz reveal.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Spelling focus: 🔤 Spelling: Explain Assimilated Prefixes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Tracker: Six Weeks with Carry On, Mr. Bowditch — 📍 You are here: Week 13 — Chapter 20 — Book Sailing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Preview only — students answer these after reading, in the Assignment tab.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Writing Connection — REVISE &amp; EDIT: Final revision check before publishing
Focus: This is your last revision day. Read your whole essay once through and run the Final Revision Checklist. After today, you move to Publish.
Before: BEFORE Alex’s self-assessment before the checklist: I think it’s done. I said everything I wanted to say.
After: AFTER Alex’s checklist results: Hook ✓. Claim ✓. Body 1 F+E+S ✓. Body 2 F+E+S ✓. Transitions: one still says “Also” — fix. Technical terms defined: one term left undefined — fix. Conclusion synthesizes, doesn’t repeat: ✓. Citation: needs checking.
Notice: Notice: Alex thought the essay was done, but the checklist found two real issues. The checklist isn’t about finding faults — it’s about finding the specific, fixable things that matter.
Tool: Today’s Tool: Final Revision Checklist — Run through all 8 items. Note which ones pass and which need a quick fix.
Frames: “The one thing I still need to fix is ___.” | “After this revision, my essay argues that ___.” | “The part I’m most proud of is ___...”
Prompt: Run the Final Revision Checklist. Write which items pass and which need a fix. Then describe the one most important thing you’re changing before you publish.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E1C42"/>
        </a:solidFill>
      </p:bgPr>
    </p:bg>
    <p:spTree>
      <p:nvGrpSpPr>
        <p:cNvPr id="1" name=""/>
        <p:cNvGrpSpPr/>
        <p:nvPr/>
      </p:nvGrpSpPr>
      <p:grpSpPr>
        <a:xfrm>
          <a:off x="0" y="0"/>
          <a:ext cx="0" cy="0"/>
          <a:chOff x="0" y="0"/>
          <a:chExt cx="0" cy="0"/>
        </a:xfrm>
      </p:grpSpPr>
      <p:sp>
        <p:nvSpPr>
          <p:cNvPr id="2" name="Shape 0"/>
          <p:cNvSpPr/>
          <p:nvPr/>
        </p:nvSpPr>
        <p:spPr>
          <a:xfrm>
            <a:off x="0" y="4114800"/>
            <a:ext cx="9144000" cy="1028700"/>
          </a:xfrm>
          <a:prstGeom prst="rect">
            <a:avLst/>
          </a:prstGeom>
          <a:solidFill>
            <a:srgbClr val="55C8E8">
              <a:alpha val="15000"/>
            </a:srgbClr>
          </a:solidFill>
          <a:ln/>
        </p:spPr>
      </p:sp>
      <p:sp>
        <p:nvSpPr>
          <p:cNvPr id="3" name="Text 1"/>
          <p:cNvSpPr/>
          <p:nvPr/>
        </p:nvSpPr>
        <p:spPr>
          <a:xfrm>
            <a:off x="457200" y="640080"/>
            <a:ext cx="8229600" cy="365760"/>
          </a:xfrm>
          <a:prstGeom prst="rect">
            <a:avLst/>
          </a:prstGeom>
          <a:noFill/>
          <a:ln/>
        </p:spPr>
        <p:txBody>
          <a:bodyPr wrap="square" lIns="0" tIns="0" rIns="0" bIns="0" rtlCol="0" anchor="ctr"/>
          <a:lstStyle/>
          <a:p>
            <a:pPr algn="l" indent="0" marL="0">
              <a:buNone/>
            </a:pPr>
            <a:r>
              <a:rPr lang="en-US" sz="1300" b="1" spc="400" kern="0" dirty="0">
                <a:solidFill>
                  <a:srgbClr val="55C8E8"/>
                </a:solidFill>
                <a:latin typeface="Calibri" pitchFamily="34" charset="0"/>
                <a:ea typeface="Calibri" pitchFamily="34" charset="-122"/>
                <a:cs typeface="Calibri" pitchFamily="34" charset="-120"/>
              </a:rPr>
              <a:t>WEEK 13  ·  DAY 4</a:t>
            </a:r>
            <a:endParaRPr lang="en-US" sz="1300" dirty="0"/>
          </a:p>
        </p:txBody>
      </p:sp>
      <p:sp>
        <p:nvSpPr>
          <p:cNvPr id="4" name="Text 2"/>
          <p:cNvSpPr/>
          <p:nvPr/>
        </p:nvSpPr>
        <p:spPr>
          <a:xfrm>
            <a:off x="457200" y="1097280"/>
            <a:ext cx="8229600" cy="1645920"/>
          </a:xfrm>
          <a:prstGeom prst="rect">
            <a:avLst/>
          </a:prstGeom>
          <a:noFill/>
          <a:ln/>
        </p:spPr>
        <p:txBody>
          <a:bodyPr wrap="square" lIns="0" tIns="0" rIns="0" bIns="0" rtlCol="0" anchor="ctr"/>
          <a:lstStyle/>
          <a:p>
            <a:pPr algn="l" indent="0" marL="0">
              <a:buNone/>
            </a:pPr>
            <a:r>
              <a:rPr lang="en-US" sz="3000" b="1" dirty="0">
                <a:solidFill>
                  <a:srgbClr val="FFFFFF"/>
                </a:solidFill>
                <a:latin typeface="Calibri" pitchFamily="34" charset="0"/>
                <a:ea typeface="Calibri" pitchFamily="34" charset="-122"/>
                <a:cs typeface="Calibri" pitchFamily="34" charset="-120"/>
              </a:rPr>
              <a:t>Carry On, Mr. Bowditch</a:t>
            </a:r>
            <a:endParaRPr lang="en-US" sz="3000" dirty="0"/>
          </a:p>
          <a:p>
            <a:pPr algn="l" indent="0" marL="0">
              <a:buNone/>
            </a:pPr>
            <a:r>
              <a:rPr lang="en-US" sz="3000" b="1" dirty="0">
                <a:solidFill>
                  <a:srgbClr val="FFFFFF"/>
                </a:solidFill>
                <a:latin typeface="Calibri" pitchFamily="34" charset="0"/>
                <a:ea typeface="Calibri" pitchFamily="34" charset="-122"/>
                <a:cs typeface="Calibri" pitchFamily="34" charset="-120"/>
              </a:rPr>
              <a:t>Chapter 20 — Book Sailing</a:t>
            </a:r>
            <a:endParaRPr lang="en-US" sz="3000" dirty="0"/>
          </a:p>
        </p:txBody>
      </p:sp>
      <p:sp>
        <p:nvSpPr>
          <p:cNvPr id="5" name="Text 3"/>
          <p:cNvSpPr/>
          <p:nvPr/>
        </p:nvSpPr>
        <p:spPr>
          <a:xfrm>
            <a:off x="457200" y="4434840"/>
            <a:ext cx="8229600" cy="365760"/>
          </a:xfrm>
          <a:prstGeom prst="rect">
            <a:avLst/>
          </a:prstGeom>
          <a:noFill/>
          <a:ln/>
        </p:spPr>
        <p:txBody>
          <a:bodyPr wrap="square" lIns="0" tIns="0" rIns="0" bIns="0" rtlCol="0" anchor="ctr"/>
          <a:lstStyle/>
          <a:p>
            <a:pPr algn="l" indent="0" marL="0">
              <a:buNone/>
            </a:pPr>
            <a:r>
              <a:rPr lang="en-US" sz="1200" dirty="0">
                <a:solidFill>
                  <a:srgbClr val="FFFFFF"/>
                </a:solidFill>
                <a:latin typeface="Calibri" pitchFamily="34" charset="0"/>
                <a:ea typeface="Calibri" pitchFamily="34" charset="-122"/>
                <a:cs typeface="Calibri" pitchFamily="34" charset="-120"/>
              </a:rPr>
              <a:t>🧭  Week 13  ·  Virtue: Perseverance</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164592"/>
            <a:ext cx="8412480" cy="566928"/>
          </a:xfrm>
          <a:prstGeom prst="rect">
            <a:avLst/>
          </a:prstGeom>
          <a:noFill/>
          <a:ln/>
        </p:spPr>
        <p:txBody>
          <a:bodyPr wrap="square" lIns="0" tIns="0" rIns="0" bIns="0" rtlCol="0" anchor="ctr"/>
          <a:lstStyle/>
          <a:p>
            <a:pPr algn="l" indent="0" marL="0">
              <a:buNone/>
            </a:pPr>
            <a:r>
              <a:rPr lang="en-US" sz="2600" b="1" dirty="0">
                <a:solidFill>
                  <a:srgbClr val="0E1C42"/>
                </a:solidFill>
                <a:latin typeface="Calibri" pitchFamily="34" charset="0"/>
                <a:ea typeface="Calibri" pitchFamily="34" charset="-122"/>
                <a:cs typeface="Calibri" pitchFamily="34" charset="-120"/>
              </a:rPr>
              <a:t>Today's Objectives</a:t>
            </a:r>
            <a:endParaRPr lang="en-US" sz="2600" dirty="0"/>
          </a:p>
        </p:txBody>
      </p:sp>
      <p:sp>
        <p:nvSpPr>
          <p:cNvPr id="3" name="Shape 1"/>
          <p:cNvSpPr/>
          <p:nvPr/>
        </p:nvSpPr>
        <p:spPr>
          <a:xfrm>
            <a:off x="365760" y="749808"/>
            <a:ext cx="8412480" cy="0"/>
          </a:xfrm>
          <a:prstGeom prst="line">
            <a:avLst/>
          </a:prstGeom>
          <a:noFill/>
          <a:ln w="19050">
            <a:solidFill>
              <a:srgbClr val="55C8E8"/>
            </a:solidFill>
            <a:prstDash val="solid"/>
          </a:ln>
        </p:spPr>
      </p:sp>
      <p:sp>
        <p:nvSpPr>
          <p:cNvPr id="4" name="Text 2"/>
          <p:cNvSpPr/>
          <p:nvPr/>
        </p:nvSpPr>
        <p:spPr>
          <a:xfrm>
            <a:off x="365760" y="868680"/>
            <a:ext cx="8046720" cy="292608"/>
          </a:xfrm>
          <a:prstGeom prst="rect">
            <a:avLst/>
          </a:prstGeom>
          <a:noFill/>
          <a:ln/>
        </p:spPr>
        <p:txBody>
          <a:bodyPr wrap="square" lIns="0" tIns="0" rIns="0" bIns="0" rtlCol="0" anchor="ctr"/>
          <a:lstStyle/>
          <a:p>
            <a:pPr indent="0" marL="0">
              <a:buNone/>
            </a:pPr>
            <a:r>
              <a:rPr lang="en-US" sz="1100" b="1" spc="200" kern="0" dirty="0">
                <a:solidFill>
                  <a:srgbClr val="8B6FC0"/>
                </a:solidFill>
                <a:latin typeface="Calibri" pitchFamily="34" charset="0"/>
                <a:ea typeface="Calibri" pitchFamily="34" charset="-122"/>
                <a:cs typeface="Calibri" pitchFamily="34" charset="-120"/>
              </a:rPr>
              <a:t>BIG QUESTION</a:t>
            </a:r>
            <a:endParaRPr lang="en-US" sz="1100" dirty="0"/>
          </a:p>
        </p:txBody>
      </p:sp>
      <p:sp>
        <p:nvSpPr>
          <p:cNvPr id="5" name="Shape 3"/>
          <p:cNvSpPr/>
          <p:nvPr/>
        </p:nvSpPr>
        <p:spPr>
          <a:xfrm>
            <a:off x="365760" y="1115568"/>
            <a:ext cx="8412480" cy="777240"/>
          </a:xfrm>
          <a:prstGeom prst="roundRect">
            <a:avLst>
              <a:gd name="adj" fmla="val 11765"/>
            </a:avLst>
          </a:prstGeom>
          <a:solidFill>
            <a:srgbClr val="F0E8FF"/>
          </a:solidFill>
          <a:ln/>
          <a:effectLst>
            <a:outerShdw sx="100000" sy="100000" kx="0" ky="0" algn="bl" rotWithShape="0" blurRad="101600" dist="38100" dir="2700000">
              <a:srgbClr val="000000">
                <a:alpha val="12000"/>
              </a:srgbClr>
            </a:outerShdw>
          </a:effectLst>
        </p:spPr>
      </p:sp>
      <p:sp>
        <p:nvSpPr>
          <p:cNvPr id="6" name="Text 4"/>
          <p:cNvSpPr/>
          <p:nvPr/>
        </p:nvSpPr>
        <p:spPr>
          <a:xfrm>
            <a:off x="594360" y="1207008"/>
            <a:ext cx="7955280" cy="594360"/>
          </a:xfrm>
          <a:prstGeom prst="rect">
            <a:avLst/>
          </a:prstGeom>
          <a:noFill/>
          <a:ln/>
        </p:spPr>
        <p:txBody>
          <a:bodyPr wrap="square" lIns="0" tIns="0" rIns="0" bIns="0" rtlCol="0" anchor="ctr"/>
          <a:lstStyle/>
          <a:p>
            <a:pPr indent="0" marL="0">
              <a:buNone/>
            </a:pPr>
            <a:r>
              <a:rPr lang="en-US" sz="1300" i="1" dirty="0">
                <a:solidFill>
                  <a:srgbClr val="1E293B"/>
                </a:solidFill>
                <a:latin typeface="Calibri" pitchFamily="34" charset="0"/>
                <a:ea typeface="Calibri" pitchFamily="34" charset="-122"/>
                <a:cs typeface="Calibri" pitchFamily="34" charset="-120"/>
              </a:rPr>
              <a:t>Today you read Chapter 20 and continue revising your expository piece. Keep asking: How does figurative language contribute to meaning?</a:t>
            </a:r>
            <a:endParaRPr lang="en-US" sz="1300" dirty="0"/>
          </a:p>
        </p:txBody>
      </p:sp>
      <p:sp>
        <p:nvSpPr>
          <p:cNvPr id="7" name="Text 5"/>
          <p:cNvSpPr/>
          <p:nvPr/>
        </p:nvSpPr>
        <p:spPr>
          <a:xfrm>
            <a:off x="365760" y="2011680"/>
            <a:ext cx="8046720" cy="292608"/>
          </a:xfrm>
          <a:prstGeom prst="rect">
            <a:avLst/>
          </a:prstGeom>
          <a:noFill/>
          <a:ln/>
        </p:spPr>
        <p:txBody>
          <a:bodyPr wrap="square" lIns="0" tIns="0" rIns="0" bIns="0" rtlCol="0" anchor="ctr"/>
          <a:lstStyle/>
          <a:p>
            <a:pPr indent="0" marL="0">
              <a:buNone/>
            </a:pPr>
            <a:r>
              <a:rPr lang="en-US" sz="1100" b="1" spc="200" kern="0" dirty="0">
                <a:solidFill>
                  <a:srgbClr val="64748B"/>
                </a:solidFill>
                <a:latin typeface="Calibri" pitchFamily="34" charset="0"/>
                <a:ea typeface="Calibri" pitchFamily="34" charset="-122"/>
                <a:cs typeface="Calibri" pitchFamily="34" charset="-120"/>
              </a:rPr>
              <a:t>BY THE END OF THIS LESSON...</a:t>
            </a:r>
            <a:endParaRPr lang="en-US" sz="1100" dirty="0"/>
          </a:p>
        </p:txBody>
      </p:sp>
      <p:sp>
        <p:nvSpPr>
          <p:cNvPr id="8" name="Shape 6"/>
          <p:cNvSpPr/>
          <p:nvPr/>
        </p:nvSpPr>
        <p:spPr>
          <a:xfrm>
            <a:off x="365760" y="2286000"/>
            <a:ext cx="8412480" cy="713232"/>
          </a:xfrm>
          <a:prstGeom prst="roundRect">
            <a:avLst>
              <a:gd name="adj" fmla="val 12821"/>
            </a:avLst>
          </a:prstGeom>
          <a:solidFill>
            <a:srgbClr val="F8FAFC"/>
          </a:solidFill>
          <a:ln/>
          <a:effectLst>
            <a:outerShdw sx="100000" sy="100000" kx="0" ky="0" algn="bl" rotWithShape="0" blurRad="101600" dist="38100" dir="2700000">
              <a:srgbClr val="000000">
                <a:alpha val="12000"/>
              </a:srgbClr>
            </a:outerShdw>
          </a:effectLst>
        </p:spPr>
      </p:sp>
      <p:sp>
        <p:nvSpPr>
          <p:cNvPr id="9" name="Text 7"/>
          <p:cNvSpPr/>
          <p:nvPr/>
        </p:nvSpPr>
        <p:spPr>
          <a:xfrm>
            <a:off x="548640" y="2359152"/>
            <a:ext cx="8046720" cy="566928"/>
          </a:xfrm>
          <a:prstGeom prst="rect">
            <a:avLst/>
          </a:prstGeom>
          <a:noFill/>
          <a:ln/>
        </p:spPr>
        <p:txBody>
          <a:bodyPr wrap="square" lIns="0" tIns="0" rIns="0" bIns="0" rtlCol="0" anchor="ctr"/>
          <a:lstStyle/>
          <a:p>
            <a:pPr indent="0" marL="0">
              <a:buNone/>
            </a:pPr>
            <a:r>
              <a:rPr lang="en-US" sz="1500" dirty="0">
                <a:solidFill>
                  <a:srgbClr val="000000"/>
                </a:solidFill>
              </a:rPr>
              <a:t>🌱  </a:t>
            </a:r>
            <a:pPr indent="0" marL="0">
              <a:buNone/>
            </a:pPr>
            <a:r>
              <a:rPr lang="en-US" sz="1300" b="1" dirty="0">
                <a:solidFill>
                  <a:srgbClr val="0E1C42"/>
                </a:solidFill>
                <a:latin typeface="Calibri" pitchFamily="34" charset="0"/>
                <a:ea typeface="Calibri" pitchFamily="34" charset="-122"/>
                <a:cs typeface="Calibri" pitchFamily="34" charset="-120"/>
              </a:rPr>
              <a:t>Morphology: </a:t>
            </a:r>
            <a:pPr indent="0" marL="0">
              <a:buNone/>
            </a:pPr>
            <a:r>
              <a:rPr lang="en-US" sz="1250" dirty="0">
                <a:solidFill>
                  <a:srgbClr val="1E293B"/>
                </a:solidFill>
                <a:latin typeface="Calibri" pitchFamily="34" charset="0"/>
                <a:ea typeface="Calibri" pitchFamily="34" charset="-122"/>
                <a:cs typeface="Calibri" pitchFamily="34" charset="-120"/>
              </a:rPr>
              <a:t>Explain trans-/inter-/sub- — Odd One Out + teach the rule.</a:t>
            </a:r>
            <a:endParaRPr lang="en-US" sz="1500" dirty="0"/>
          </a:p>
        </p:txBody>
      </p:sp>
      <p:sp>
        <p:nvSpPr>
          <p:cNvPr id="10" name="Shape 8"/>
          <p:cNvSpPr/>
          <p:nvPr/>
        </p:nvSpPr>
        <p:spPr>
          <a:xfrm>
            <a:off x="365760" y="3090672"/>
            <a:ext cx="8412480" cy="713232"/>
          </a:xfrm>
          <a:prstGeom prst="roundRect">
            <a:avLst>
              <a:gd name="adj" fmla="val 12821"/>
            </a:avLst>
          </a:prstGeom>
          <a:solidFill>
            <a:srgbClr val="F8FAFC"/>
          </a:solidFill>
          <a:ln/>
          <a:effectLst>
            <a:outerShdw sx="100000" sy="100000" kx="0" ky="0" algn="bl" rotWithShape="0" blurRad="101600" dist="38100" dir="2700000">
              <a:srgbClr val="000000">
                <a:alpha val="12000"/>
              </a:srgbClr>
            </a:outerShdw>
          </a:effectLst>
        </p:spPr>
      </p:sp>
      <p:sp>
        <p:nvSpPr>
          <p:cNvPr id="11" name="Text 9"/>
          <p:cNvSpPr/>
          <p:nvPr/>
        </p:nvSpPr>
        <p:spPr>
          <a:xfrm>
            <a:off x="548640" y="3163824"/>
            <a:ext cx="8046720" cy="566928"/>
          </a:xfrm>
          <a:prstGeom prst="rect">
            <a:avLst/>
          </a:prstGeom>
          <a:noFill/>
          <a:ln/>
        </p:spPr>
        <p:txBody>
          <a:bodyPr wrap="square" lIns="0" tIns="0" rIns="0" bIns="0" rtlCol="0" anchor="ctr"/>
          <a:lstStyle/>
          <a:p>
            <a:pPr indent="0" marL="0">
              <a:buNone/>
            </a:pPr>
            <a:r>
              <a:rPr lang="en-US" sz="1500" dirty="0">
                <a:solidFill>
                  <a:srgbClr val="000000"/>
                </a:solidFill>
              </a:rPr>
              <a:t>📚  </a:t>
            </a:r>
            <a:pPr indent="0" marL="0">
              <a:buNone/>
            </a:pPr>
            <a:r>
              <a:rPr lang="en-US" sz="1300" b="1" dirty="0">
                <a:solidFill>
                  <a:srgbClr val="0E1C42"/>
                </a:solidFill>
                <a:latin typeface="Calibri" pitchFamily="34" charset="0"/>
                <a:ea typeface="Calibri" pitchFamily="34" charset="-122"/>
                <a:cs typeface="Calibri" pitchFamily="34" charset="-120"/>
              </a:rPr>
              <a:t>Vocab SWYK: </a:t>
            </a:r>
            <a:pPr indent="0" marL="0">
              <a:buNone/>
            </a:pPr>
            <a:r>
              <a:rPr lang="en-US" sz="1250" dirty="0">
                <a:solidFill>
                  <a:srgbClr val="1E293B"/>
                </a:solidFill>
                <a:latin typeface="Calibri" pitchFamily="34" charset="0"/>
                <a:ea typeface="Calibri" pitchFamily="34" charset="-122"/>
                <a:cs typeface="Calibri" pitchFamily="34" charset="-120"/>
              </a:rPr>
              <a:t>Choice board — show what you know your way.</a:t>
            </a:r>
            <a:endParaRPr lang="en-US" sz="1500" dirty="0"/>
          </a:p>
        </p:txBody>
      </p:sp>
      <p:sp>
        <p:nvSpPr>
          <p:cNvPr id="12" name="Shape 10"/>
          <p:cNvSpPr/>
          <p:nvPr/>
        </p:nvSpPr>
        <p:spPr>
          <a:xfrm>
            <a:off x="365760" y="3895344"/>
            <a:ext cx="8412480" cy="713232"/>
          </a:xfrm>
          <a:prstGeom prst="roundRect">
            <a:avLst>
              <a:gd name="adj" fmla="val 12821"/>
            </a:avLst>
          </a:prstGeom>
          <a:solidFill>
            <a:srgbClr val="F8FAFC"/>
          </a:solidFill>
          <a:ln/>
          <a:effectLst>
            <a:outerShdw sx="100000" sy="100000" kx="0" ky="0" algn="bl" rotWithShape="0" blurRad="101600" dist="38100" dir="2700000">
              <a:srgbClr val="000000">
                <a:alpha val="12000"/>
              </a:srgbClr>
            </a:outerShdw>
          </a:effectLst>
        </p:spPr>
      </p:sp>
      <p:sp>
        <p:nvSpPr>
          <p:cNvPr id="13" name="Text 11"/>
          <p:cNvSpPr/>
          <p:nvPr/>
        </p:nvSpPr>
        <p:spPr>
          <a:xfrm>
            <a:off x="548640" y="3968496"/>
            <a:ext cx="8046720" cy="566928"/>
          </a:xfrm>
          <a:prstGeom prst="rect">
            <a:avLst/>
          </a:prstGeom>
          <a:noFill/>
          <a:ln/>
        </p:spPr>
        <p:txBody>
          <a:bodyPr wrap="square" lIns="0" tIns="0" rIns="0" bIns="0" rtlCol="0" anchor="ctr"/>
          <a:lstStyle/>
          <a:p>
            <a:pPr indent="0" marL="0">
              <a:buNone/>
            </a:pPr>
            <a:r>
              <a:rPr lang="en-US" sz="1500" dirty="0">
                <a:solidFill>
                  <a:srgbClr val="000000"/>
                </a:solidFill>
              </a:rPr>
              <a:t>✏️  </a:t>
            </a:r>
            <a:pPr indent="0" marL="0">
              <a:buNone/>
            </a:pPr>
            <a:r>
              <a:rPr lang="en-US" sz="1300" b="1" dirty="0">
                <a:solidFill>
                  <a:srgbClr val="0E1C42"/>
                </a:solidFill>
                <a:latin typeface="Calibri" pitchFamily="34" charset="0"/>
                <a:ea typeface="Calibri" pitchFamily="34" charset="-122"/>
                <a:cs typeface="Calibri" pitchFamily="34" charset="-120"/>
              </a:rPr>
              <a:t>Grammar: </a:t>
            </a:r>
            <a:pPr indent="0" marL="0">
              <a:buNone/>
            </a:pPr>
            <a:r>
              <a:rPr lang="en-US" sz="1250" dirty="0">
                <a:solidFill>
                  <a:srgbClr val="1E293B"/>
                </a:solidFill>
                <a:latin typeface="Calibri" pitchFamily="34" charset="0"/>
                <a:ea typeface="Calibri" pitchFamily="34" charset="-122"/>
                <a:cs typeface="Calibri" pitchFamily="34" charset="-120"/>
              </a:rPr>
              <a:t>Explain which vs. that in relative clauses.</a:t>
            </a:r>
            <a:endParaRPr lang="en-US" sz="1500" dirty="0"/>
          </a:p>
        </p:txBody>
      </p:sp>
      <p:sp>
        <p:nvSpPr>
          <p:cNvPr id="14" name="Shape 12"/>
          <p:cNvSpPr/>
          <p:nvPr/>
        </p:nvSpPr>
        <p:spPr>
          <a:xfrm>
            <a:off x="365760" y="4700016"/>
            <a:ext cx="8412480" cy="713232"/>
          </a:xfrm>
          <a:prstGeom prst="roundRect">
            <a:avLst>
              <a:gd name="adj" fmla="val 12821"/>
            </a:avLst>
          </a:prstGeom>
          <a:solidFill>
            <a:srgbClr val="F8FAFC"/>
          </a:solidFill>
          <a:ln/>
          <a:effectLst>
            <a:outerShdw sx="100000" sy="100000" kx="0" ky="0" algn="bl" rotWithShape="0" blurRad="101600" dist="38100" dir="2700000">
              <a:srgbClr val="000000">
                <a:alpha val="12000"/>
              </a:srgbClr>
            </a:outerShdw>
          </a:effectLst>
        </p:spPr>
      </p:sp>
      <p:sp>
        <p:nvSpPr>
          <p:cNvPr id="15" name="Text 13"/>
          <p:cNvSpPr/>
          <p:nvPr/>
        </p:nvSpPr>
        <p:spPr>
          <a:xfrm>
            <a:off x="548640" y="4773168"/>
            <a:ext cx="8046720" cy="566928"/>
          </a:xfrm>
          <a:prstGeom prst="rect">
            <a:avLst/>
          </a:prstGeom>
          <a:noFill/>
          <a:ln/>
        </p:spPr>
        <p:txBody>
          <a:bodyPr wrap="square" lIns="0" tIns="0" rIns="0" bIns="0" rtlCol="0" anchor="ctr"/>
          <a:lstStyle/>
          <a:p>
            <a:pPr indent="0" marL="0">
              <a:buNone/>
            </a:pPr>
            <a:r>
              <a:rPr lang="en-US" sz="1500" dirty="0">
                <a:solidFill>
                  <a:srgbClr val="000000"/>
                </a:solidFill>
              </a:rPr>
              <a:t>📖  </a:t>
            </a:r>
            <a:pPr indent="0" marL="0">
              <a:buNone/>
            </a:pPr>
            <a:r>
              <a:rPr lang="en-US" sz="1300" b="1" dirty="0">
                <a:solidFill>
                  <a:srgbClr val="0E1C42"/>
                </a:solidFill>
                <a:latin typeface="Calibri" pitchFamily="34" charset="0"/>
                <a:ea typeface="Calibri" pitchFamily="34" charset="-122"/>
                <a:cs typeface="Calibri" pitchFamily="34" charset="-120"/>
              </a:rPr>
              <a:t>Reading: </a:t>
            </a:r>
            <a:pPr indent="0" marL="0">
              <a:buNone/>
            </a:pPr>
            <a:r>
              <a:rPr lang="en-US" sz="1250" dirty="0">
                <a:solidFill>
                  <a:srgbClr val="1E293B"/>
                </a:solidFill>
                <a:latin typeface="Calibri" pitchFamily="34" charset="0"/>
                <a:ea typeface="Calibri" pitchFamily="34" charset="-122"/>
                <a:cs typeface="Calibri" pitchFamily="34" charset="-120"/>
              </a:rPr>
              <a:t>Chapter 20 + week reflective question (Chs. 17–20)</a:t>
            </a:r>
            <a:endParaRPr lang="en-US" sz="15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164592"/>
            <a:ext cx="8412480" cy="566928"/>
          </a:xfrm>
          <a:prstGeom prst="rect">
            <a:avLst/>
          </a:prstGeom>
          <a:noFill/>
          <a:ln/>
        </p:spPr>
        <p:txBody>
          <a:bodyPr wrap="square" lIns="0" tIns="0" rIns="0" bIns="0" rtlCol="0" anchor="ctr"/>
          <a:lstStyle/>
          <a:p>
            <a:pPr algn="l" indent="0" marL="0">
              <a:buNone/>
            </a:pPr>
            <a:r>
              <a:rPr lang="en-US" sz="2600" b="1" dirty="0">
                <a:solidFill>
                  <a:srgbClr val="0E1C42"/>
                </a:solidFill>
                <a:latin typeface="Calibri" pitchFamily="34" charset="0"/>
                <a:ea typeface="Calibri" pitchFamily="34" charset="-122"/>
                <a:cs typeface="Calibri" pitchFamily="34" charset="-120"/>
              </a:rPr>
              <a:t>📚 What Good Readers Do</a:t>
            </a:r>
            <a:endParaRPr lang="en-US" sz="2600" dirty="0"/>
          </a:p>
        </p:txBody>
      </p:sp>
      <p:sp>
        <p:nvSpPr>
          <p:cNvPr id="3" name="Shape 1"/>
          <p:cNvSpPr/>
          <p:nvPr/>
        </p:nvSpPr>
        <p:spPr>
          <a:xfrm>
            <a:off x="365760" y="749808"/>
            <a:ext cx="8412480" cy="0"/>
          </a:xfrm>
          <a:prstGeom prst="line">
            <a:avLst/>
          </a:prstGeom>
          <a:noFill/>
          <a:ln w="19050">
            <a:solidFill>
              <a:srgbClr val="8B6FC0"/>
            </a:solidFill>
            <a:prstDash val="solid"/>
          </a:ln>
        </p:spPr>
      </p:sp>
      <p:sp>
        <p:nvSpPr>
          <p:cNvPr id="4" name="Text 2"/>
          <p:cNvSpPr/>
          <p:nvPr/>
        </p:nvSpPr>
        <p:spPr>
          <a:xfrm>
            <a:off x="365760" y="822960"/>
            <a:ext cx="8046720" cy="292608"/>
          </a:xfrm>
          <a:prstGeom prst="rect">
            <a:avLst/>
          </a:prstGeom>
          <a:noFill/>
          <a:ln/>
        </p:spPr>
        <p:txBody>
          <a:bodyPr wrap="square" lIns="0" tIns="0" rIns="0" bIns="0" rtlCol="0" anchor="ctr"/>
          <a:lstStyle/>
          <a:p>
            <a:pPr indent="0" marL="0">
              <a:buNone/>
            </a:pPr>
            <a:r>
              <a:rPr lang="en-US" sz="1100" b="1" spc="200" kern="0" dirty="0">
                <a:solidFill>
                  <a:srgbClr val="8B6FC0"/>
                </a:solidFill>
                <a:latin typeface="Calibri" pitchFamily="34" charset="0"/>
                <a:ea typeface="Calibri" pitchFamily="34" charset="-122"/>
                <a:cs typeface="Calibri" pitchFamily="34" charset="-120"/>
              </a:rPr>
              <a:t>SET YOUR READING LENS</a:t>
            </a:r>
            <a:endParaRPr lang="en-US" sz="1100" dirty="0"/>
          </a:p>
        </p:txBody>
      </p:sp>
      <p:sp>
        <p:nvSpPr>
          <p:cNvPr id="5" name="Shape 3"/>
          <p:cNvSpPr/>
          <p:nvPr/>
        </p:nvSpPr>
        <p:spPr>
          <a:xfrm>
            <a:off x="365760" y="1078992"/>
            <a:ext cx="8412480" cy="1051560"/>
          </a:xfrm>
          <a:prstGeom prst="roundRect">
            <a:avLst>
              <a:gd name="adj" fmla="val 8696"/>
            </a:avLst>
          </a:prstGeom>
          <a:solidFill>
            <a:srgbClr val="F0E8FF"/>
          </a:solidFill>
          <a:ln/>
          <a:effectLst>
            <a:outerShdw sx="100000" sy="100000" kx="0" ky="0" algn="bl" rotWithShape="0" blurRad="101600" dist="38100" dir="2700000">
              <a:srgbClr val="000000">
                <a:alpha val="12000"/>
              </a:srgbClr>
            </a:outerShdw>
          </a:effectLst>
        </p:spPr>
      </p:sp>
      <p:sp>
        <p:nvSpPr>
          <p:cNvPr id="6" name="Text 4"/>
          <p:cNvSpPr/>
          <p:nvPr/>
        </p:nvSpPr>
        <p:spPr>
          <a:xfrm>
            <a:off x="594360" y="1170432"/>
            <a:ext cx="7955280" cy="868680"/>
          </a:xfrm>
          <a:prstGeom prst="rect">
            <a:avLst/>
          </a:prstGeom>
          <a:noFill/>
          <a:ln/>
        </p:spPr>
        <p:txBody>
          <a:bodyPr wrap="square" lIns="0" tIns="0" rIns="0" bIns="0" rtlCol="0" anchor="ctr"/>
          <a:lstStyle/>
          <a:p>
            <a:pPr indent="0" marL="0">
              <a:buNone/>
            </a:pPr>
            <a:r>
              <a:rPr lang="en-US" sz="1300" dirty="0">
                <a:solidFill>
                  <a:srgbClr val="1E293B"/>
                </a:solidFill>
                <a:latin typeface="Calibri" pitchFamily="34" charset="0"/>
                <a:ea typeface="Calibri" pitchFamily="34" charset="-122"/>
                <a:cs typeface="Calibri" pitchFamily="34" charset="-120"/>
              </a:rPr>
              <a:t>Chapter 20 is called “Book Sailing” — and the title is itself a piece of figurative language. “Sailing” is what you do on water. “Book sailing” is navigating by the principles written down in a book. Nat is both writing the book and sailing by it simultaneously. This chapter closes the arc of Chapters 17–20: from the moon as instrument to the book that makes the instrument available to everyone.</a:t>
            </a:r>
            <a:endParaRPr lang="en-US" sz="1300" dirty="0"/>
          </a:p>
        </p:txBody>
      </p:sp>
      <p:sp>
        <p:nvSpPr>
          <p:cNvPr id="7" name="Text 5"/>
          <p:cNvSpPr/>
          <p:nvPr/>
        </p:nvSpPr>
        <p:spPr>
          <a:xfrm>
            <a:off x="365760" y="2286000"/>
            <a:ext cx="8046720" cy="292608"/>
          </a:xfrm>
          <a:prstGeom prst="rect">
            <a:avLst/>
          </a:prstGeom>
          <a:noFill/>
          <a:ln/>
        </p:spPr>
        <p:txBody>
          <a:bodyPr wrap="square" lIns="0" tIns="0" rIns="0" bIns="0" rtlCol="0" anchor="ctr"/>
          <a:lstStyle/>
          <a:p>
            <a:pPr indent="0" marL="0">
              <a:buNone/>
            </a:pPr>
            <a:r>
              <a:rPr lang="en-US" sz="1100" b="1" spc="200" kern="0" dirty="0">
                <a:solidFill>
                  <a:srgbClr val="64748B"/>
                </a:solidFill>
                <a:latin typeface="Calibri" pitchFamily="34" charset="0"/>
                <a:ea typeface="Calibri" pitchFamily="34" charset="-122"/>
                <a:cs typeface="Calibri" pitchFamily="34" charset="-120"/>
              </a:rPr>
              <a:t>🧠 WATCH FOR THIS AS YOU READ</a:t>
            </a:r>
            <a:endParaRPr lang="en-US" sz="1100" dirty="0"/>
          </a:p>
        </p:txBody>
      </p:sp>
      <p:sp>
        <p:nvSpPr>
          <p:cNvPr id="8" name="Shape 6"/>
          <p:cNvSpPr/>
          <p:nvPr/>
        </p:nvSpPr>
        <p:spPr>
          <a:xfrm>
            <a:off x="365760" y="2606040"/>
            <a:ext cx="8412480" cy="621792"/>
          </a:xfrm>
          <a:prstGeom prst="roundRect">
            <a:avLst>
              <a:gd name="adj" fmla="val 14706"/>
            </a:avLst>
          </a:prstGeom>
          <a:solidFill>
            <a:srgbClr val="F8FAFC"/>
          </a:solidFill>
          <a:ln/>
          <a:effectLst>
            <a:outerShdw sx="100000" sy="100000" kx="0" ky="0" algn="bl" rotWithShape="0" blurRad="101600" dist="38100" dir="2700000">
              <a:srgbClr val="000000">
                <a:alpha val="12000"/>
              </a:srgbClr>
            </a:outerShdw>
          </a:effectLst>
        </p:spPr>
      </p:sp>
      <p:sp>
        <p:nvSpPr>
          <p:cNvPr id="9" name="Text 7"/>
          <p:cNvSpPr/>
          <p:nvPr/>
        </p:nvSpPr>
        <p:spPr>
          <a:xfrm>
            <a:off x="548640" y="2679192"/>
            <a:ext cx="8046720" cy="475488"/>
          </a:xfrm>
          <a:prstGeom prst="rect">
            <a:avLst/>
          </a:prstGeom>
          <a:noFill/>
          <a:ln/>
        </p:spPr>
        <p:txBody>
          <a:bodyPr wrap="square" lIns="0" tIns="0" rIns="0" bIns="0" rtlCol="0" anchor="ctr"/>
          <a:lstStyle/>
          <a:p>
            <a:pPr indent="0" marL="0">
              <a:buNone/>
            </a:pPr>
            <a:r>
              <a:rPr lang="en-US" sz="1300" i="1" dirty="0">
                <a:solidFill>
                  <a:srgbClr val="1E293B"/>
                </a:solidFill>
                <a:latin typeface="Calibri" pitchFamily="34" charset="0"/>
                <a:ea typeface="Calibri" pitchFamily="34" charset="-122"/>
                <a:cs typeface="Calibri" pitchFamily="34" charset="-120"/>
              </a:rPr>
              <a:t>•  “Book Sailing” is a metaphor. What two things does it connect? What does it suggest about Nat’s philosophy?</a:t>
            </a:r>
            <a:endParaRPr lang="en-US" sz="1300" dirty="0"/>
          </a:p>
        </p:txBody>
      </p:sp>
      <p:sp>
        <p:nvSpPr>
          <p:cNvPr id="10" name="Shape 8"/>
          <p:cNvSpPr/>
          <p:nvPr/>
        </p:nvSpPr>
        <p:spPr>
          <a:xfrm>
            <a:off x="365760" y="3319272"/>
            <a:ext cx="8412480" cy="621792"/>
          </a:xfrm>
          <a:prstGeom prst="roundRect">
            <a:avLst>
              <a:gd name="adj" fmla="val 14706"/>
            </a:avLst>
          </a:prstGeom>
          <a:solidFill>
            <a:srgbClr val="F8FAFC"/>
          </a:solidFill>
          <a:ln/>
          <a:effectLst>
            <a:outerShdw sx="100000" sy="100000" kx="0" ky="0" algn="bl" rotWithShape="0" blurRad="101600" dist="38100" dir="2700000">
              <a:srgbClr val="000000">
                <a:alpha val="12000"/>
              </a:srgbClr>
            </a:outerShdw>
          </a:effectLst>
        </p:spPr>
      </p:sp>
      <p:sp>
        <p:nvSpPr>
          <p:cNvPr id="11" name="Text 9"/>
          <p:cNvSpPr/>
          <p:nvPr/>
        </p:nvSpPr>
        <p:spPr>
          <a:xfrm>
            <a:off x="548640" y="3392424"/>
            <a:ext cx="8046720" cy="475488"/>
          </a:xfrm>
          <a:prstGeom prst="rect">
            <a:avLst/>
          </a:prstGeom>
          <a:noFill/>
          <a:ln/>
        </p:spPr>
        <p:txBody>
          <a:bodyPr wrap="square" lIns="0" tIns="0" rIns="0" bIns="0" rtlCol="0" anchor="ctr"/>
          <a:lstStyle/>
          <a:p>
            <a:pPr indent="0" marL="0">
              <a:buNone/>
            </a:pPr>
            <a:r>
              <a:rPr lang="en-US" sz="1300" i="1" dirty="0">
                <a:solidFill>
                  <a:srgbClr val="1E293B"/>
                </a:solidFill>
                <a:latin typeface="Calibri" pitchFamily="34" charset="0"/>
                <a:ea typeface="Calibri" pitchFamily="34" charset="-122"/>
                <a:cs typeface="Calibri" pitchFamily="34" charset="-120"/>
              </a:rPr>
              <a:t>•  Chapter 20 closes the arc of Chs. 17–20. Look back: Lunars and Moonlight → The Astrea to the Rescue → Strange Sailing Orders → Book Sailing. What story have these four chapters told together?</a:t>
            </a:r>
            <a:endParaRPr lang="en-US" sz="13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164592"/>
            <a:ext cx="8412480" cy="566928"/>
          </a:xfrm>
          <a:prstGeom prst="rect">
            <a:avLst/>
          </a:prstGeom>
          <a:noFill/>
          <a:ln/>
        </p:spPr>
        <p:txBody>
          <a:bodyPr wrap="square" lIns="0" tIns="0" rIns="0" bIns="0" rtlCol="0" anchor="ctr"/>
          <a:lstStyle/>
          <a:p>
            <a:pPr algn="l" indent="0" marL="0">
              <a:buNone/>
            </a:pPr>
            <a:r>
              <a:rPr lang="en-US" sz="2600" b="1" dirty="0">
                <a:solidFill>
                  <a:srgbClr val="0E1C42"/>
                </a:solidFill>
                <a:latin typeface="Calibri" pitchFamily="34" charset="0"/>
                <a:ea typeface="Calibri" pitchFamily="34" charset="-122"/>
                <a:cs typeface="Calibri" pitchFamily="34" charset="-120"/>
              </a:rPr>
              <a:t>📝 Daily Oral Language — Study What's Right</a:t>
            </a:r>
            <a:endParaRPr lang="en-US" sz="2600" dirty="0"/>
          </a:p>
        </p:txBody>
      </p:sp>
      <p:sp>
        <p:nvSpPr>
          <p:cNvPr id="3" name="Shape 1"/>
          <p:cNvSpPr/>
          <p:nvPr/>
        </p:nvSpPr>
        <p:spPr>
          <a:xfrm>
            <a:off x="365760" y="749808"/>
            <a:ext cx="8412480" cy="0"/>
          </a:xfrm>
          <a:prstGeom prst="line">
            <a:avLst/>
          </a:prstGeom>
          <a:noFill/>
          <a:ln w="19050">
            <a:solidFill>
              <a:srgbClr val="34B76F"/>
            </a:solidFill>
            <a:prstDash val="solid"/>
          </a:ln>
        </p:spPr>
      </p:sp>
      <p:sp>
        <p:nvSpPr>
          <p:cNvPr id="4" name="Text 2"/>
          <p:cNvSpPr/>
          <p:nvPr/>
        </p:nvSpPr>
        <p:spPr>
          <a:xfrm>
            <a:off x="365760" y="822960"/>
            <a:ext cx="8046720" cy="292608"/>
          </a:xfrm>
          <a:prstGeom prst="rect">
            <a:avLst/>
          </a:prstGeom>
          <a:noFill/>
          <a:ln/>
        </p:spPr>
        <p:txBody>
          <a:bodyPr wrap="square" lIns="0" tIns="0" rIns="0" bIns="0" rtlCol="0" anchor="ctr"/>
          <a:lstStyle/>
          <a:p>
            <a:pPr indent="0" marL="0">
              <a:buNone/>
            </a:pPr>
            <a:r>
              <a:rPr lang="en-US" sz="1100" b="1" spc="200" kern="0" dirty="0">
                <a:solidFill>
                  <a:srgbClr val="34B76F"/>
                </a:solidFill>
                <a:latin typeface="Calibri" pitchFamily="34" charset="0"/>
                <a:ea typeface="Calibri" pitchFamily="34" charset="-122"/>
                <a:cs typeface="Calibri" pitchFamily="34" charset="-120"/>
              </a:rPr>
              <a:t>CORRECT MODEL — TAP TO NOTICE</a:t>
            </a:r>
            <a:endParaRPr lang="en-US" sz="1100" dirty="0"/>
          </a:p>
        </p:txBody>
      </p:sp>
      <p:sp>
        <p:nvSpPr>
          <p:cNvPr id="5" name="Shape 3"/>
          <p:cNvSpPr/>
          <p:nvPr/>
        </p:nvSpPr>
        <p:spPr>
          <a:xfrm>
            <a:off x="365760" y="1078992"/>
            <a:ext cx="8412480" cy="914400"/>
          </a:xfrm>
          <a:prstGeom prst="roundRect">
            <a:avLst>
              <a:gd name="adj" fmla="val 10000"/>
            </a:avLst>
          </a:prstGeom>
          <a:solidFill>
            <a:srgbClr val="E8F8EF"/>
          </a:solidFill>
          <a:ln w="12700">
            <a:solidFill>
              <a:srgbClr val="34B76F"/>
            </a:solidFill>
            <a:prstDash val="solid"/>
          </a:ln>
          <a:effectLst>
            <a:outerShdw sx="100000" sy="100000" kx="0" ky="0" algn="bl" rotWithShape="0" blurRad="101600" dist="38100" dir="2700000">
              <a:srgbClr val="000000">
                <a:alpha val="12000"/>
              </a:srgbClr>
            </a:outerShdw>
          </a:effectLst>
        </p:spPr>
      </p:sp>
      <p:sp>
        <p:nvSpPr>
          <p:cNvPr id="6" name="Text 4"/>
          <p:cNvSpPr/>
          <p:nvPr/>
        </p:nvSpPr>
        <p:spPr>
          <a:xfrm>
            <a:off x="548640" y="1188720"/>
            <a:ext cx="8046720" cy="685800"/>
          </a:xfrm>
          <a:prstGeom prst="rect">
            <a:avLst/>
          </a:prstGeom>
          <a:noFill/>
          <a:ln/>
        </p:spPr>
        <p:txBody>
          <a:bodyPr wrap="square" lIns="0" tIns="0" rIns="0" bIns="0" rtlCol="0" anchor="ctr"/>
          <a:lstStyle/>
          <a:p>
            <a:pPr indent="0" marL="0">
              <a:buNone/>
            </a:pPr>
            <a:r>
              <a:rPr lang="en-US" sz="1600" i="1" dirty="0">
                <a:solidFill>
                  <a:srgbClr val="1E293B"/>
                </a:solidFill>
                <a:latin typeface="Calibri" pitchFamily="34" charset="0"/>
                <a:ea typeface="Calibri" pitchFamily="34" charset="-122"/>
                <a:cs typeface="Calibri" pitchFamily="34" charset="-120"/>
              </a:rPr>
              <a:t>Nat’s book, which would eventually be called the American Practical Navigator , would translate the most precise navigation methods into a form that could transfer knowledge to every sailor who read it.</a:t>
            </a:r>
            <a:endParaRPr lang="en-US" sz="1600" dirty="0"/>
          </a:p>
        </p:txBody>
      </p:sp>
      <p:sp>
        <p:nvSpPr>
          <p:cNvPr id="7" name="Text 5"/>
          <p:cNvSpPr/>
          <p:nvPr/>
        </p:nvSpPr>
        <p:spPr>
          <a:xfrm>
            <a:off x="365760" y="2103120"/>
            <a:ext cx="8046720" cy="292608"/>
          </a:xfrm>
          <a:prstGeom prst="rect">
            <a:avLst/>
          </a:prstGeom>
          <a:noFill/>
          <a:ln/>
        </p:spPr>
        <p:txBody>
          <a:bodyPr wrap="square" lIns="0" tIns="0" rIns="0" bIns="0" rtlCol="0" anchor="ctr"/>
          <a:lstStyle/>
          <a:p>
            <a:pPr indent="0" marL="0">
              <a:buNone/>
            </a:pPr>
            <a:r>
              <a:rPr lang="en-US" sz="1100" b="1" spc="200" kern="0" dirty="0">
                <a:solidFill>
                  <a:srgbClr val="64748B"/>
                </a:solidFill>
                <a:latin typeface="Calibri" pitchFamily="34" charset="0"/>
                <a:ea typeface="Calibri" pitchFamily="34" charset="-122"/>
                <a:cs typeface="Calibri" pitchFamily="34" charset="-120"/>
              </a:rPr>
              <a:t>WHAT EACH TAPPED WORD TEACHES</a:t>
            </a:r>
            <a:endParaRPr lang="en-US" sz="1100" dirty="0"/>
          </a:p>
        </p:txBody>
      </p:sp>
      <p:sp>
        <p:nvSpPr>
          <p:cNvPr id="8" name="Shape 6"/>
          <p:cNvSpPr/>
          <p:nvPr/>
        </p:nvSpPr>
        <p:spPr>
          <a:xfrm>
            <a:off x="365760" y="2377440"/>
            <a:ext cx="8412480" cy="512064"/>
          </a:xfrm>
          <a:prstGeom prst="roundRect">
            <a:avLst>
              <a:gd name="adj" fmla="val 17857"/>
            </a:avLst>
          </a:prstGeom>
          <a:solidFill>
            <a:srgbClr val="F8FAFC"/>
          </a:solidFill>
          <a:ln/>
          <a:effectLst>
            <a:outerShdw sx="100000" sy="100000" kx="0" ky="0" algn="bl" rotWithShape="0" blurRad="101600" dist="38100" dir="2700000">
              <a:srgbClr val="000000">
                <a:alpha val="12000"/>
              </a:srgbClr>
            </a:outerShdw>
          </a:effectLst>
        </p:spPr>
      </p:sp>
      <p:sp>
        <p:nvSpPr>
          <p:cNvPr id="9" name="Text 7"/>
          <p:cNvSpPr/>
          <p:nvPr/>
        </p:nvSpPr>
        <p:spPr>
          <a:xfrm>
            <a:off x="548640" y="2432304"/>
            <a:ext cx="8046720" cy="402336"/>
          </a:xfrm>
          <a:prstGeom prst="rect">
            <a:avLst/>
          </a:prstGeom>
          <a:noFill/>
          <a:ln/>
        </p:spPr>
        <p:txBody>
          <a:bodyPr wrap="square" lIns="0" tIns="0" rIns="0" bIns="0" rtlCol="0" anchor="ctr"/>
          <a:lstStyle/>
          <a:p>
            <a:pPr indent="0" marL="0">
              <a:buNone/>
            </a:pPr>
            <a:r>
              <a:rPr lang="en-US" sz="1300" b="1" dirty="0">
                <a:solidFill>
                  <a:srgbClr val="34B76F"/>
                </a:solidFill>
                <a:latin typeface="Calibri" pitchFamily="34" charset="0"/>
                <a:ea typeface="Calibri" pitchFamily="34" charset="-122"/>
                <a:cs typeface="Calibri" pitchFamily="34" charset="-120"/>
              </a:rPr>
              <a:t>which would eventually be called the American Practical Navigator  </a:t>
            </a:r>
            <a:pPr indent="0" marL="0">
              <a:buNone/>
            </a:pPr>
            <a:r>
              <a:rPr lang="en-US" sz="1200" dirty="0">
                <a:solidFill>
                  <a:srgbClr val="1E293B"/>
                </a:solidFill>
                <a:latin typeface="Calibri" pitchFamily="34" charset="0"/>
                <a:ea typeface="Calibri" pitchFamily="34" charset="-122"/>
                <a:cs typeface="Calibri" pitchFamily="34" charset="-120"/>
              </a:rPr>
              <a:t>Non-restrictive relative clause: the book is already identified, so this adds extra info.</a:t>
            </a:r>
            <a:endParaRPr lang="en-US" sz="1300" dirty="0"/>
          </a:p>
        </p:txBody>
      </p:sp>
      <p:sp>
        <p:nvSpPr>
          <p:cNvPr id="10" name="Shape 8"/>
          <p:cNvSpPr/>
          <p:nvPr/>
        </p:nvSpPr>
        <p:spPr>
          <a:xfrm>
            <a:off x="365760" y="2953512"/>
            <a:ext cx="8412480" cy="512064"/>
          </a:xfrm>
          <a:prstGeom prst="roundRect">
            <a:avLst>
              <a:gd name="adj" fmla="val 17857"/>
            </a:avLst>
          </a:prstGeom>
          <a:solidFill>
            <a:srgbClr val="F8FAFC"/>
          </a:solidFill>
          <a:ln/>
          <a:effectLst>
            <a:outerShdw sx="100000" sy="100000" kx="0" ky="0" algn="bl" rotWithShape="0" blurRad="101600" dist="38100" dir="2700000">
              <a:srgbClr val="000000">
                <a:alpha val="12000"/>
              </a:srgbClr>
            </a:outerShdw>
          </a:effectLst>
        </p:spPr>
      </p:sp>
      <p:sp>
        <p:nvSpPr>
          <p:cNvPr id="11" name="Text 9"/>
          <p:cNvSpPr/>
          <p:nvPr/>
        </p:nvSpPr>
        <p:spPr>
          <a:xfrm>
            <a:off x="548640" y="3008376"/>
            <a:ext cx="8046720" cy="402336"/>
          </a:xfrm>
          <a:prstGeom prst="rect">
            <a:avLst/>
          </a:prstGeom>
          <a:noFill/>
          <a:ln/>
        </p:spPr>
        <p:txBody>
          <a:bodyPr wrap="square" lIns="0" tIns="0" rIns="0" bIns="0" rtlCol="0" anchor="ctr"/>
          <a:lstStyle/>
          <a:p>
            <a:pPr indent="0" marL="0">
              <a:buNone/>
            </a:pPr>
            <a:r>
              <a:rPr lang="en-US" sz="1300" b="1" dirty="0">
                <a:solidFill>
                  <a:srgbClr val="34B76F"/>
                </a:solidFill>
                <a:latin typeface="Calibri" pitchFamily="34" charset="0"/>
                <a:ea typeface="Calibri" pitchFamily="34" charset="-122"/>
                <a:cs typeface="Calibri" pitchFamily="34" charset="-120"/>
              </a:rPr>
              <a:t>translate  </a:t>
            </a:r>
            <a:pPr indent="0" marL="0">
              <a:buNone/>
            </a:pPr>
            <a:r>
              <a:rPr lang="en-US" sz="1200" dirty="0">
                <a:solidFill>
                  <a:srgbClr val="1E293B"/>
                </a:solidFill>
                <a:latin typeface="Calibri" pitchFamily="34" charset="0"/>
                <a:ea typeface="Calibri" pitchFamily="34" charset="-122"/>
                <a:cs typeface="Calibri" pitchFamily="34" charset="-120"/>
              </a:rPr>
              <a:t>trans- = across. Translate: carry meaning across barriers.</a:t>
            </a:r>
            <a:endParaRPr lang="en-US" sz="1300" dirty="0"/>
          </a:p>
        </p:txBody>
      </p:sp>
      <p:sp>
        <p:nvSpPr>
          <p:cNvPr id="12" name="Shape 10"/>
          <p:cNvSpPr/>
          <p:nvPr/>
        </p:nvSpPr>
        <p:spPr>
          <a:xfrm>
            <a:off x="365760" y="3529584"/>
            <a:ext cx="8412480" cy="512064"/>
          </a:xfrm>
          <a:prstGeom prst="roundRect">
            <a:avLst>
              <a:gd name="adj" fmla="val 17857"/>
            </a:avLst>
          </a:prstGeom>
          <a:solidFill>
            <a:srgbClr val="F8FAFC"/>
          </a:solidFill>
          <a:ln/>
          <a:effectLst>
            <a:outerShdw sx="100000" sy="100000" kx="0" ky="0" algn="bl" rotWithShape="0" blurRad="101600" dist="38100" dir="2700000">
              <a:srgbClr val="000000">
                <a:alpha val="12000"/>
              </a:srgbClr>
            </a:outerShdw>
          </a:effectLst>
        </p:spPr>
      </p:sp>
      <p:sp>
        <p:nvSpPr>
          <p:cNvPr id="13" name="Text 11"/>
          <p:cNvSpPr/>
          <p:nvPr/>
        </p:nvSpPr>
        <p:spPr>
          <a:xfrm>
            <a:off x="548640" y="3584448"/>
            <a:ext cx="8046720" cy="402336"/>
          </a:xfrm>
          <a:prstGeom prst="rect">
            <a:avLst/>
          </a:prstGeom>
          <a:noFill/>
          <a:ln/>
        </p:spPr>
        <p:txBody>
          <a:bodyPr wrap="square" lIns="0" tIns="0" rIns="0" bIns="0" rtlCol="0" anchor="ctr"/>
          <a:lstStyle/>
          <a:p>
            <a:pPr indent="0" marL="0">
              <a:buNone/>
            </a:pPr>
            <a:r>
              <a:rPr lang="en-US" sz="1300" b="1" dirty="0">
                <a:solidFill>
                  <a:srgbClr val="34B76F"/>
                </a:solidFill>
                <a:latin typeface="Calibri" pitchFamily="34" charset="0"/>
                <a:ea typeface="Calibri" pitchFamily="34" charset="-122"/>
                <a:cs typeface="Calibri" pitchFamily="34" charset="-120"/>
              </a:rPr>
              <a:t>transfer  </a:t>
            </a:r>
            <a:pPr indent="0" marL="0">
              <a:buNone/>
            </a:pPr>
            <a:r>
              <a:rPr lang="en-US" sz="1200" dirty="0">
                <a:solidFill>
                  <a:srgbClr val="1E293B"/>
                </a:solidFill>
                <a:latin typeface="Calibri" pitchFamily="34" charset="0"/>
                <a:ea typeface="Calibri" pitchFamily="34" charset="-122"/>
                <a:cs typeface="Calibri" pitchFamily="34" charset="-120"/>
              </a:rPr>
              <a:t>trans- = across. Transfer: carry across to another person.</a:t>
            </a:r>
            <a:endParaRPr lang="en-US" sz="13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E5F7FC"/>
        </a:solidFill>
      </p:bgPr>
    </p:bg>
    <p:spTree>
      <p:nvGrpSpPr>
        <p:cNvPr id="1" name=""/>
        <p:cNvGrpSpPr/>
        <p:nvPr/>
      </p:nvGrpSpPr>
      <p:grpSpPr>
        <a:xfrm>
          <a:off x="0" y="0"/>
          <a:ext cx="0" cy="0"/>
          <a:chOff x="0" y="0"/>
          <a:chExt cx="0" cy="0"/>
        </a:xfrm>
      </p:grpSpPr>
      <p:sp>
        <p:nvSpPr>
          <p:cNvPr id="2" name="Text 0"/>
          <p:cNvSpPr/>
          <p:nvPr/>
        </p:nvSpPr>
        <p:spPr>
          <a:xfrm>
            <a:off x="365760" y="164592"/>
            <a:ext cx="5943600" cy="566928"/>
          </a:xfrm>
          <a:prstGeom prst="rect">
            <a:avLst/>
          </a:prstGeom>
          <a:noFill/>
          <a:ln/>
        </p:spPr>
        <p:txBody>
          <a:bodyPr wrap="square" lIns="0" tIns="0" rIns="0" bIns="0" rtlCol="0" anchor="ctr"/>
          <a:lstStyle/>
          <a:p>
            <a:pPr algn="l" indent="0" marL="0">
              <a:buNone/>
            </a:pPr>
            <a:r>
              <a:rPr lang="en-US" sz="2600" b="1" dirty="0">
                <a:solidFill>
                  <a:srgbClr val="0E1C42"/>
                </a:solidFill>
                <a:latin typeface="Calibri" pitchFamily="34" charset="0"/>
                <a:ea typeface="Calibri" pitchFamily="34" charset="-122"/>
                <a:cs typeface="Calibri" pitchFamily="34" charset="-120"/>
              </a:rPr>
              <a:t>📝 Daily Oral Language — Fix It</a:t>
            </a:r>
            <a:endParaRPr lang="en-US" sz="2600" dirty="0"/>
          </a:p>
        </p:txBody>
      </p:sp>
      <p:sp>
        <p:nvSpPr>
          <p:cNvPr id="3" name="Shape 1"/>
          <p:cNvSpPr/>
          <p:nvPr/>
        </p:nvSpPr>
        <p:spPr>
          <a:xfrm>
            <a:off x="365760" y="749808"/>
            <a:ext cx="8412480" cy="0"/>
          </a:xfrm>
          <a:prstGeom prst="line">
            <a:avLst/>
          </a:prstGeom>
          <a:noFill/>
          <a:ln w="19050">
            <a:solidFill>
              <a:srgbClr val="55C8E8"/>
            </a:solidFill>
            <a:prstDash val="solid"/>
          </a:ln>
        </p:spPr>
      </p:sp>
      <p:sp>
        <p:nvSpPr>
          <p:cNvPr id="4" name="Shape 2"/>
          <p:cNvSpPr/>
          <p:nvPr/>
        </p:nvSpPr>
        <p:spPr>
          <a:xfrm>
            <a:off x="6492240" y="173736"/>
            <a:ext cx="2286000" cy="502920"/>
          </a:xfrm>
          <a:prstGeom prst="roundRect">
            <a:avLst>
              <a:gd name="adj" fmla="val 21818"/>
            </a:avLst>
          </a:prstGeom>
          <a:solidFill>
            <a:srgbClr val="55C8E8"/>
          </a:solidFill>
          <a:ln/>
        </p:spPr>
      </p:sp>
      <p:sp>
        <p:nvSpPr>
          <p:cNvPr id="5" name="Text 3"/>
          <p:cNvSpPr/>
          <p:nvPr/>
        </p:nvSpPr>
        <p:spPr>
          <a:xfrm>
            <a:off x="6492240" y="173736"/>
            <a:ext cx="2286000" cy="502920"/>
          </a:xfrm>
          <a:prstGeom prst="rect">
            <a:avLst/>
          </a:prstGeom>
          <a:noFill/>
          <a:ln/>
        </p:spPr>
        <p:txBody>
          <a:bodyPr wrap="square" lIns="0" tIns="0" rIns="0" bIns="0" rtlCol="0" anchor="ctr"/>
          <a:lstStyle/>
          <a:p>
            <a:pPr algn="ctr" indent="0" marL="0">
              <a:buNone/>
            </a:pPr>
            <a:r>
              <a:rPr lang="en-US" sz="1100" b="1" dirty="0">
                <a:solidFill>
                  <a:srgbClr val="0E1C42"/>
                </a:solidFill>
                <a:latin typeface="Calibri" pitchFamily="34" charset="0"/>
                <a:ea typeface="Calibri" pitchFamily="34" charset="-122"/>
                <a:cs typeface="Calibri" pitchFamily="34" charset="-120"/>
              </a:rPr>
              <a:t>CHAT PROMPT</a:t>
            </a:r>
            <a:endParaRPr lang="en-US" sz="1100" dirty="0"/>
          </a:p>
        </p:txBody>
      </p:sp>
      <p:sp>
        <p:nvSpPr>
          <p:cNvPr id="6" name="Text 4"/>
          <p:cNvSpPr/>
          <p:nvPr/>
        </p:nvSpPr>
        <p:spPr>
          <a:xfrm>
            <a:off x="365760" y="822960"/>
            <a:ext cx="8046720" cy="292608"/>
          </a:xfrm>
          <a:prstGeom prst="rect">
            <a:avLst/>
          </a:prstGeom>
          <a:noFill/>
          <a:ln/>
        </p:spPr>
        <p:txBody>
          <a:bodyPr wrap="square" lIns="0" tIns="0" rIns="0" bIns="0" rtlCol="0" anchor="ctr"/>
          <a:lstStyle/>
          <a:p>
            <a:pPr indent="0" marL="0">
              <a:buNone/>
            </a:pPr>
            <a:r>
              <a:rPr lang="en-US" sz="1100" b="1" spc="200" kern="0" dirty="0">
                <a:solidFill>
                  <a:srgbClr val="C7922C"/>
                </a:solidFill>
                <a:latin typeface="Calibri" pitchFamily="34" charset="0"/>
                <a:ea typeface="Calibri" pitchFamily="34" charset="-122"/>
                <a:cs typeface="Calibri" pitchFamily="34" charset="-120"/>
              </a:rPr>
              <a:t>NEEDS FIXING</a:t>
            </a:r>
            <a:endParaRPr lang="en-US" sz="1100" dirty="0"/>
          </a:p>
        </p:txBody>
      </p:sp>
      <p:sp>
        <p:nvSpPr>
          <p:cNvPr id="7" name="Shape 5"/>
          <p:cNvSpPr/>
          <p:nvPr/>
        </p:nvSpPr>
        <p:spPr>
          <a:xfrm>
            <a:off x="365760" y="1078992"/>
            <a:ext cx="8412480" cy="777240"/>
          </a:xfrm>
          <a:prstGeom prst="roundRect">
            <a:avLst>
              <a:gd name="adj" fmla="val 11765"/>
            </a:avLst>
          </a:prstGeom>
          <a:solidFill>
            <a:srgbClr val="FEF6E8"/>
          </a:solidFill>
          <a:ln w="12700">
            <a:solidFill>
              <a:srgbClr val="C7922C"/>
            </a:solidFill>
            <a:prstDash val="solid"/>
          </a:ln>
          <a:effectLst>
            <a:outerShdw sx="100000" sy="100000" kx="0" ky="0" algn="bl" rotWithShape="0" blurRad="101600" dist="38100" dir="2700000">
              <a:srgbClr val="000000">
                <a:alpha val="12000"/>
              </a:srgbClr>
            </a:outerShdw>
          </a:effectLst>
        </p:spPr>
      </p:sp>
      <p:sp>
        <p:nvSpPr>
          <p:cNvPr id="8" name="Text 6"/>
          <p:cNvSpPr/>
          <p:nvPr/>
        </p:nvSpPr>
        <p:spPr>
          <a:xfrm>
            <a:off x="548640" y="1188720"/>
            <a:ext cx="8046720" cy="548640"/>
          </a:xfrm>
          <a:prstGeom prst="rect">
            <a:avLst/>
          </a:prstGeom>
          <a:noFill/>
          <a:ln/>
        </p:spPr>
        <p:txBody>
          <a:bodyPr wrap="square" lIns="0" tIns="0" rIns="0" bIns="0" rtlCol="0" anchor="ctr"/>
          <a:lstStyle/>
          <a:p>
            <a:pPr indent="0" marL="0">
              <a:buNone/>
            </a:pPr>
            <a:r>
              <a:rPr lang="en-US" sz="1600" i="1" dirty="0">
                <a:solidFill>
                  <a:srgbClr val="1E293B"/>
                </a:solidFill>
                <a:latin typeface="Calibri" pitchFamily="34" charset="0"/>
                <a:ea typeface="Calibri" pitchFamily="34" charset="-122"/>
                <a:cs typeface="Calibri" pitchFamily="34" charset="-120"/>
              </a:rPr>
              <a:t>book sailing which was nats way of describing navigation by written principle would inter sect the worlds of mathematics and practical seamanship</a:t>
            </a:r>
            <a:endParaRPr lang="en-US" sz="1600" dirty="0"/>
          </a:p>
        </p:txBody>
      </p:sp>
      <p:sp>
        <p:nvSpPr>
          <p:cNvPr id="9" name="Text 7"/>
          <p:cNvSpPr/>
          <p:nvPr/>
        </p:nvSpPr>
        <p:spPr>
          <a:xfrm>
            <a:off x="457200" y="1965960"/>
            <a:ext cx="8229600" cy="384048"/>
          </a:xfrm>
          <a:prstGeom prst="rect">
            <a:avLst/>
          </a:prstGeom>
          <a:noFill/>
          <a:ln/>
        </p:spPr>
        <p:txBody>
          <a:bodyPr wrap="square" lIns="0" tIns="0" rIns="0" bIns="0" rtlCol="0" anchor="ctr"/>
          <a:lstStyle/>
          <a:p>
            <a:pPr indent="0" marL="0">
              <a:buNone/>
            </a:pPr>
            <a:r>
              <a:rPr lang="en-US" sz="1500" b="1" dirty="0">
                <a:solidFill>
                  <a:srgbClr val="0E1C42"/>
                </a:solidFill>
                <a:latin typeface="Calibri" pitchFamily="34" charset="0"/>
                <a:ea typeface="Calibri" pitchFamily="34" charset="-122"/>
                <a:cs typeface="Calibri" pitchFamily="34" charset="-120"/>
              </a:rPr>
              <a:t>Rewrite the corrected sentence in your notebook.</a:t>
            </a:r>
            <a:endParaRPr lang="en-US" sz="15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E5F7FC"/>
        </a:solidFill>
      </p:bgPr>
    </p:bg>
    <p:spTree>
      <p:nvGrpSpPr>
        <p:cNvPr id="1" name=""/>
        <p:cNvGrpSpPr/>
        <p:nvPr/>
      </p:nvGrpSpPr>
      <p:grpSpPr>
        <a:xfrm>
          <a:off x="0" y="0"/>
          <a:ext cx="0" cy="0"/>
          <a:chOff x="0" y="0"/>
          <a:chExt cx="0" cy="0"/>
        </a:xfrm>
      </p:grpSpPr>
      <p:sp>
        <p:nvSpPr>
          <p:cNvPr id="2" name="Text 0"/>
          <p:cNvSpPr/>
          <p:nvPr/>
        </p:nvSpPr>
        <p:spPr>
          <a:xfrm>
            <a:off x="365760" y="164592"/>
            <a:ext cx="5943600" cy="566928"/>
          </a:xfrm>
          <a:prstGeom prst="rect">
            <a:avLst/>
          </a:prstGeom>
          <a:noFill/>
          <a:ln/>
        </p:spPr>
        <p:txBody>
          <a:bodyPr wrap="square" lIns="0" tIns="0" rIns="0" bIns="0" rtlCol="0" anchor="ctr"/>
          <a:lstStyle/>
          <a:p>
            <a:pPr algn="l" indent="0" marL="0">
              <a:buNone/>
            </a:pPr>
            <a:r>
              <a:rPr lang="en-US" sz="2600" b="1" dirty="0">
                <a:solidFill>
                  <a:srgbClr val="0E1C42"/>
                </a:solidFill>
                <a:latin typeface="Calibri" pitchFamily="34" charset="0"/>
                <a:ea typeface="Calibri" pitchFamily="34" charset="-122"/>
                <a:cs typeface="Calibri" pitchFamily="34" charset="-120"/>
              </a:rPr>
              <a:t>📝 Daily Oral Language — Fix It</a:t>
            </a:r>
            <a:endParaRPr lang="en-US" sz="2600" dirty="0"/>
          </a:p>
        </p:txBody>
      </p:sp>
      <p:sp>
        <p:nvSpPr>
          <p:cNvPr id="3" name="Shape 1"/>
          <p:cNvSpPr/>
          <p:nvPr/>
        </p:nvSpPr>
        <p:spPr>
          <a:xfrm>
            <a:off x="365760" y="749808"/>
            <a:ext cx="8412480" cy="0"/>
          </a:xfrm>
          <a:prstGeom prst="line">
            <a:avLst/>
          </a:prstGeom>
          <a:noFill/>
          <a:ln w="19050">
            <a:solidFill>
              <a:srgbClr val="55C8E8"/>
            </a:solidFill>
            <a:prstDash val="solid"/>
          </a:ln>
        </p:spPr>
      </p:sp>
      <p:sp>
        <p:nvSpPr>
          <p:cNvPr id="4" name="Shape 2"/>
          <p:cNvSpPr/>
          <p:nvPr/>
        </p:nvSpPr>
        <p:spPr>
          <a:xfrm>
            <a:off x="6492240" y="173736"/>
            <a:ext cx="2286000" cy="502920"/>
          </a:xfrm>
          <a:prstGeom prst="roundRect">
            <a:avLst>
              <a:gd name="adj" fmla="val 21818"/>
            </a:avLst>
          </a:prstGeom>
          <a:solidFill>
            <a:srgbClr val="55C8E8"/>
          </a:solidFill>
          <a:ln/>
        </p:spPr>
      </p:sp>
      <p:sp>
        <p:nvSpPr>
          <p:cNvPr id="5" name="Text 3"/>
          <p:cNvSpPr/>
          <p:nvPr/>
        </p:nvSpPr>
        <p:spPr>
          <a:xfrm>
            <a:off x="6492240" y="173736"/>
            <a:ext cx="2286000" cy="502920"/>
          </a:xfrm>
          <a:prstGeom prst="rect">
            <a:avLst/>
          </a:prstGeom>
          <a:noFill/>
          <a:ln/>
        </p:spPr>
        <p:txBody>
          <a:bodyPr wrap="square" lIns="0" tIns="0" rIns="0" bIns="0" rtlCol="0" anchor="ctr"/>
          <a:lstStyle/>
          <a:p>
            <a:pPr algn="ctr" indent="0" marL="0">
              <a:buNone/>
            </a:pPr>
            <a:r>
              <a:rPr lang="en-US" sz="1100" b="1" dirty="0">
                <a:solidFill>
                  <a:srgbClr val="0E1C42"/>
                </a:solidFill>
                <a:latin typeface="Calibri" pitchFamily="34" charset="0"/>
                <a:ea typeface="Calibri" pitchFamily="34" charset="-122"/>
                <a:cs typeface="Calibri" pitchFamily="34" charset="-120"/>
              </a:rPr>
              <a:t>CHAT PROMPT</a:t>
            </a:r>
            <a:endParaRPr lang="en-US" sz="1100" dirty="0"/>
          </a:p>
        </p:txBody>
      </p:sp>
      <p:sp>
        <p:nvSpPr>
          <p:cNvPr id="6" name="Text 4"/>
          <p:cNvSpPr/>
          <p:nvPr/>
        </p:nvSpPr>
        <p:spPr>
          <a:xfrm>
            <a:off x="365760" y="822960"/>
            <a:ext cx="8046720" cy="292608"/>
          </a:xfrm>
          <a:prstGeom prst="rect">
            <a:avLst/>
          </a:prstGeom>
          <a:noFill/>
          <a:ln/>
        </p:spPr>
        <p:txBody>
          <a:bodyPr wrap="square" lIns="0" tIns="0" rIns="0" bIns="0" rtlCol="0" anchor="ctr"/>
          <a:lstStyle/>
          <a:p>
            <a:pPr indent="0" marL="0">
              <a:buNone/>
            </a:pPr>
            <a:r>
              <a:rPr lang="en-US" sz="1100" b="1" spc="200" kern="0" dirty="0">
                <a:solidFill>
                  <a:srgbClr val="C7922C"/>
                </a:solidFill>
                <a:latin typeface="Calibri" pitchFamily="34" charset="0"/>
                <a:ea typeface="Calibri" pitchFamily="34" charset="-122"/>
                <a:cs typeface="Calibri" pitchFamily="34" charset="-120"/>
              </a:rPr>
              <a:t>NEEDS FIXING</a:t>
            </a:r>
            <a:endParaRPr lang="en-US" sz="1100" dirty="0"/>
          </a:p>
        </p:txBody>
      </p:sp>
      <p:sp>
        <p:nvSpPr>
          <p:cNvPr id="7" name="Shape 5"/>
          <p:cNvSpPr/>
          <p:nvPr/>
        </p:nvSpPr>
        <p:spPr>
          <a:xfrm>
            <a:off x="365760" y="1078992"/>
            <a:ext cx="8412480" cy="777240"/>
          </a:xfrm>
          <a:prstGeom prst="roundRect">
            <a:avLst>
              <a:gd name="adj" fmla="val 11765"/>
            </a:avLst>
          </a:prstGeom>
          <a:solidFill>
            <a:srgbClr val="FEF6E8"/>
          </a:solidFill>
          <a:ln w="12700">
            <a:solidFill>
              <a:srgbClr val="C7922C"/>
            </a:solidFill>
            <a:prstDash val="solid"/>
          </a:ln>
          <a:effectLst>
            <a:outerShdw sx="100000" sy="100000" kx="0" ky="0" algn="bl" rotWithShape="0" blurRad="101600" dist="38100" dir="2700000">
              <a:srgbClr val="000000">
                <a:alpha val="12000"/>
              </a:srgbClr>
            </a:outerShdw>
          </a:effectLst>
        </p:spPr>
      </p:sp>
      <p:sp>
        <p:nvSpPr>
          <p:cNvPr id="8" name="Text 6"/>
          <p:cNvSpPr/>
          <p:nvPr/>
        </p:nvSpPr>
        <p:spPr>
          <a:xfrm>
            <a:off x="548640" y="1188720"/>
            <a:ext cx="8046720" cy="548640"/>
          </a:xfrm>
          <a:prstGeom prst="rect">
            <a:avLst/>
          </a:prstGeom>
          <a:noFill/>
          <a:ln/>
        </p:spPr>
        <p:txBody>
          <a:bodyPr wrap="square" lIns="0" tIns="0" rIns="0" bIns="0" rtlCol="0" anchor="ctr"/>
          <a:lstStyle/>
          <a:p>
            <a:pPr indent="0" marL="0">
              <a:buNone/>
            </a:pPr>
            <a:r>
              <a:rPr lang="en-US" sz="1600" i="1" dirty="0">
                <a:solidFill>
                  <a:srgbClr val="1E293B"/>
                </a:solidFill>
                <a:latin typeface="Calibri" pitchFamily="34" charset="0"/>
                <a:ea typeface="Calibri" pitchFamily="34" charset="-122"/>
                <a:cs typeface="Calibri" pitchFamily="34" charset="-120"/>
              </a:rPr>
              <a:t>book sailing which was nats way of describing navigation by written principle would inter sect the worlds of mathematics and practical seamanship</a:t>
            </a:r>
            <a:endParaRPr lang="en-US" sz="1600" dirty="0"/>
          </a:p>
        </p:txBody>
      </p:sp>
      <p:sp>
        <p:nvSpPr>
          <p:cNvPr id="9" name="Text 7"/>
          <p:cNvSpPr/>
          <p:nvPr/>
        </p:nvSpPr>
        <p:spPr>
          <a:xfrm>
            <a:off x="457200" y="1965960"/>
            <a:ext cx="8229600" cy="384048"/>
          </a:xfrm>
          <a:prstGeom prst="rect">
            <a:avLst/>
          </a:prstGeom>
          <a:noFill/>
          <a:ln/>
        </p:spPr>
        <p:txBody>
          <a:bodyPr wrap="square" lIns="0" tIns="0" rIns="0" bIns="0" rtlCol="0" anchor="ctr"/>
          <a:lstStyle/>
          <a:p>
            <a:pPr indent="0" marL="0">
              <a:buNone/>
            </a:pPr>
            <a:r>
              <a:rPr lang="en-US" sz="1500" b="1" dirty="0">
                <a:solidFill>
                  <a:srgbClr val="0E1C42"/>
                </a:solidFill>
                <a:latin typeface="Calibri" pitchFamily="34" charset="0"/>
                <a:ea typeface="Calibri" pitchFamily="34" charset="-122"/>
                <a:cs typeface="Calibri" pitchFamily="34" charset="-120"/>
              </a:rPr>
              <a:t>Rewrite the corrected sentence in your notebook.</a:t>
            </a:r>
            <a:endParaRPr lang="en-US" sz="1500" dirty="0"/>
          </a:p>
        </p:txBody>
      </p:sp>
      <p:sp>
        <p:nvSpPr>
          <p:cNvPr id="10" name="Shape 8"/>
          <p:cNvSpPr/>
          <p:nvPr/>
        </p:nvSpPr>
        <p:spPr>
          <a:xfrm>
            <a:off x="365760" y="2468880"/>
            <a:ext cx="8412480" cy="1371600"/>
          </a:xfrm>
          <a:prstGeom prst="roundRect">
            <a:avLst>
              <a:gd name="adj" fmla="val 6667"/>
            </a:avLst>
          </a:prstGeom>
          <a:solidFill>
            <a:srgbClr val="E8F8EF"/>
          </a:solidFill>
          <a:ln/>
          <a:effectLst>
            <a:outerShdw sx="100000" sy="100000" kx="0" ky="0" algn="bl" rotWithShape="0" blurRad="101600" dist="38100" dir="2700000">
              <a:srgbClr val="000000">
                <a:alpha val="12000"/>
              </a:srgbClr>
            </a:outerShdw>
          </a:effectLst>
        </p:spPr>
      </p:sp>
      <p:sp>
        <p:nvSpPr>
          <p:cNvPr id="11" name="Text 9"/>
          <p:cNvSpPr/>
          <p:nvPr/>
        </p:nvSpPr>
        <p:spPr>
          <a:xfrm>
            <a:off x="594360" y="2560320"/>
            <a:ext cx="8046720" cy="292608"/>
          </a:xfrm>
          <a:prstGeom prst="rect">
            <a:avLst/>
          </a:prstGeom>
          <a:noFill/>
          <a:ln/>
        </p:spPr>
        <p:txBody>
          <a:bodyPr wrap="square" lIns="0" tIns="0" rIns="0" bIns="0" rtlCol="0" anchor="ctr"/>
          <a:lstStyle/>
          <a:p>
            <a:pPr indent="0" marL="0">
              <a:buNone/>
            </a:pPr>
            <a:r>
              <a:rPr lang="en-US" sz="1100" b="1" spc="200" kern="0" dirty="0">
                <a:solidFill>
                  <a:srgbClr val="34B76F"/>
                </a:solidFill>
                <a:latin typeface="Calibri" pitchFamily="34" charset="0"/>
                <a:ea typeface="Calibri" pitchFamily="34" charset="-122"/>
                <a:cs typeface="Calibri" pitchFamily="34" charset="-120"/>
              </a:rPr>
              <a:t>✅  CORRECTED</a:t>
            </a:r>
            <a:endParaRPr lang="en-US" sz="1100" dirty="0"/>
          </a:p>
        </p:txBody>
      </p:sp>
      <p:sp>
        <p:nvSpPr>
          <p:cNvPr id="12" name="Text 10"/>
          <p:cNvSpPr/>
          <p:nvPr/>
        </p:nvSpPr>
        <p:spPr>
          <a:xfrm>
            <a:off x="594360" y="2834640"/>
            <a:ext cx="7955280" cy="457200"/>
          </a:xfrm>
          <a:prstGeom prst="rect">
            <a:avLst/>
          </a:prstGeom>
          <a:noFill/>
          <a:ln/>
        </p:spPr>
        <p:txBody>
          <a:bodyPr wrap="square" lIns="0" tIns="0" rIns="0" bIns="0" rtlCol="0" anchor="ctr"/>
          <a:lstStyle/>
          <a:p>
            <a:pPr indent="0" marL="0">
              <a:buNone/>
            </a:pPr>
            <a:r>
              <a:rPr lang="en-US" sz="1500" b="1" i="1" dirty="0">
                <a:solidFill>
                  <a:srgbClr val="1E293B"/>
                </a:solidFill>
                <a:latin typeface="Calibri" pitchFamily="34" charset="0"/>
                <a:ea typeface="Calibri" pitchFamily="34" charset="-122"/>
                <a:cs typeface="Calibri" pitchFamily="34" charset="-120"/>
              </a:rPr>
              <a:t>Book sailing, which was Nat’s way of describing navigation by written principle, would intersect the worlds of mathematics and practical seamanship.</a:t>
            </a:r>
            <a:endParaRPr lang="en-US" sz="1500" dirty="0"/>
          </a:p>
        </p:txBody>
      </p:sp>
      <p:sp>
        <p:nvSpPr>
          <p:cNvPr id="13" name="Text 11"/>
          <p:cNvSpPr/>
          <p:nvPr/>
        </p:nvSpPr>
        <p:spPr>
          <a:xfrm>
            <a:off x="594360" y="3310128"/>
            <a:ext cx="7955280" cy="457200"/>
          </a:xfrm>
          <a:prstGeom prst="rect">
            <a:avLst/>
          </a:prstGeom>
          <a:noFill/>
          <a:ln/>
        </p:spPr>
        <p:txBody>
          <a:bodyPr wrap="square" lIns="0" tIns="0" rIns="0" bIns="0" rtlCol="0" anchor="ctr"/>
          <a:lstStyle/>
          <a:p>
            <a:pPr indent="0" marL="0">
              <a:buNone/>
            </a:pPr>
            <a:r>
              <a:rPr lang="en-US" sz="1100" i="1" dirty="0">
                <a:solidFill>
                  <a:srgbClr val="64748B"/>
                </a:solidFill>
                <a:latin typeface="Calibri" pitchFamily="34" charset="0"/>
                <a:ea typeface="Calibri" pitchFamily="34" charset="-122"/>
                <a:cs typeface="Calibri" pitchFamily="34" charset="-120"/>
              </a:rPr>
              <a:t>Fixes: capitalize “Book”; commas around non-restrictive relative clause; intersect is one word (no space); apostrophe in “Nat’s”; period.</a:t>
            </a:r>
            <a:endParaRPr lang="en-US" sz="11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164592"/>
            <a:ext cx="8412480" cy="566928"/>
          </a:xfrm>
          <a:prstGeom prst="rect">
            <a:avLst/>
          </a:prstGeom>
          <a:noFill/>
          <a:ln/>
        </p:spPr>
        <p:txBody>
          <a:bodyPr wrap="square" lIns="0" tIns="0" rIns="0" bIns="0" rtlCol="0" anchor="ctr"/>
          <a:lstStyle/>
          <a:p>
            <a:pPr algn="l" indent="0" marL="0">
              <a:buNone/>
            </a:pPr>
            <a:r>
              <a:rPr lang="en-US" sz="2600" b="1" dirty="0">
                <a:solidFill>
                  <a:srgbClr val="0E1C42"/>
                </a:solidFill>
                <a:latin typeface="Calibri" pitchFamily="34" charset="0"/>
                <a:ea typeface="Calibri" pitchFamily="34" charset="-122"/>
                <a:cs typeface="Calibri" pitchFamily="34" charset="-120"/>
              </a:rPr>
              <a:t>🪶 Poetry Corner</a:t>
            </a:r>
            <a:endParaRPr lang="en-US" sz="2600" dirty="0"/>
          </a:p>
        </p:txBody>
      </p:sp>
      <p:sp>
        <p:nvSpPr>
          <p:cNvPr id="3" name="Shape 1"/>
          <p:cNvSpPr/>
          <p:nvPr/>
        </p:nvSpPr>
        <p:spPr>
          <a:xfrm>
            <a:off x="365760" y="749808"/>
            <a:ext cx="8412480" cy="0"/>
          </a:xfrm>
          <a:prstGeom prst="line">
            <a:avLst/>
          </a:prstGeom>
          <a:noFill/>
          <a:ln w="19050">
            <a:solidFill>
              <a:srgbClr val="C7922C"/>
            </a:solidFill>
            <a:prstDash val="solid"/>
          </a:ln>
        </p:spPr>
      </p:sp>
      <p:sp>
        <p:nvSpPr>
          <p:cNvPr id="4" name="Shape 2"/>
          <p:cNvSpPr/>
          <p:nvPr/>
        </p:nvSpPr>
        <p:spPr>
          <a:xfrm>
            <a:off x="365760" y="868680"/>
            <a:ext cx="8412480" cy="2423160"/>
          </a:xfrm>
          <a:prstGeom prst="roundRect">
            <a:avLst>
              <a:gd name="adj" fmla="val 3774"/>
            </a:avLst>
          </a:prstGeom>
          <a:solidFill>
            <a:srgbClr val="FEF6E8"/>
          </a:solidFill>
          <a:ln/>
          <a:effectLst>
            <a:outerShdw sx="100000" sy="100000" kx="0" ky="0" algn="bl" rotWithShape="0" blurRad="101600" dist="38100" dir="2700000">
              <a:srgbClr val="000000">
                <a:alpha val="12000"/>
              </a:srgbClr>
            </a:outerShdw>
          </a:effectLst>
        </p:spPr>
      </p:sp>
      <p:sp>
        <p:nvSpPr>
          <p:cNvPr id="5" name="Text 3"/>
          <p:cNvSpPr/>
          <p:nvPr/>
        </p:nvSpPr>
        <p:spPr>
          <a:xfrm>
            <a:off x="594360" y="960120"/>
            <a:ext cx="7955280" cy="365760"/>
          </a:xfrm>
          <a:prstGeom prst="rect">
            <a:avLst/>
          </a:prstGeom>
          <a:noFill/>
          <a:ln/>
        </p:spPr>
        <p:txBody>
          <a:bodyPr wrap="square" lIns="0" tIns="0" rIns="0" bIns="0" rtlCol="0" anchor="ctr"/>
          <a:lstStyle/>
          <a:p>
            <a:pPr indent="0" marL="0">
              <a:buNone/>
            </a:pPr>
            <a:r>
              <a:rPr lang="en-US" sz="2000" b="1" dirty="0">
                <a:solidFill>
                  <a:srgbClr val="0E1C42"/>
                </a:solidFill>
                <a:latin typeface="Calibri" pitchFamily="34" charset="0"/>
                <a:ea typeface="Calibri" pitchFamily="34" charset="-122"/>
                <a:cs typeface="Calibri" pitchFamily="34" charset="-120"/>
              </a:rPr>
              <a:t>from “Of Studies”</a:t>
            </a:r>
            <a:endParaRPr lang="en-US" sz="2000" dirty="0"/>
          </a:p>
        </p:txBody>
      </p:sp>
      <p:sp>
        <p:nvSpPr>
          <p:cNvPr id="6" name="Text 4"/>
          <p:cNvSpPr/>
          <p:nvPr/>
        </p:nvSpPr>
        <p:spPr>
          <a:xfrm>
            <a:off x="594360" y="1325880"/>
            <a:ext cx="7955280" cy="274320"/>
          </a:xfrm>
          <a:prstGeom prst="rect">
            <a:avLst/>
          </a:prstGeom>
          <a:noFill/>
          <a:ln/>
        </p:spPr>
        <p:txBody>
          <a:bodyPr wrap="square" lIns="0" tIns="0" rIns="0" bIns="0" rtlCol="0" anchor="ctr"/>
          <a:lstStyle/>
          <a:p>
            <a:pPr indent="0" marL="0">
              <a:buNone/>
            </a:pPr>
            <a:r>
              <a:rPr lang="en-US" sz="1300" i="1" dirty="0">
                <a:solidFill>
                  <a:srgbClr val="64748B"/>
                </a:solidFill>
                <a:latin typeface="Calibri" pitchFamily="34" charset="0"/>
                <a:ea typeface="Calibri" pitchFamily="34" charset="-122"/>
                <a:cs typeface="Calibri" pitchFamily="34" charset="-120"/>
              </a:rPr>
              <a:t>by Francis Bacon, 1597 — public domain</a:t>
            </a:r>
            <a:endParaRPr lang="en-US" sz="1300" dirty="0"/>
          </a:p>
        </p:txBody>
      </p:sp>
      <p:sp>
        <p:nvSpPr>
          <p:cNvPr id="7" name="Text 5"/>
          <p:cNvSpPr/>
          <p:nvPr/>
        </p:nvSpPr>
        <p:spPr>
          <a:xfrm>
            <a:off x="594360" y="1645920"/>
            <a:ext cx="7955280" cy="1554480"/>
          </a:xfrm>
          <a:prstGeom prst="rect">
            <a:avLst/>
          </a:prstGeom>
          <a:noFill/>
          <a:ln/>
        </p:spPr>
        <p:txBody>
          <a:bodyPr wrap="square" lIns="0" tIns="0" rIns="0" bIns="0" rtlCol="0" anchor="t"/>
          <a:lstStyle/>
          <a:p>
            <a:pPr indent="0" marL="0">
              <a:buNone/>
            </a:pPr>
            <a:r>
              <a:rPr lang="en-US" sz="1500" i="1" dirty="0">
                <a:solidFill>
                  <a:srgbClr val="1E293B"/>
                </a:solidFill>
                <a:latin typeface="Georgia" pitchFamily="34" charset="0"/>
                <a:ea typeface="Georgia" pitchFamily="34" charset="-122"/>
                <a:cs typeface="Georgia" pitchFamily="34" charset="-120"/>
              </a:rPr>
              <a:t>Reading maketh a full man; conference a ready man;</a:t>
            </a:r>
            <a:endParaRPr lang="en-US" sz="1500" dirty="0"/>
          </a:p>
          <a:p>
            <a:pPr indent="0" marL="0">
              <a:buNone/>
            </a:pPr>
            <a:r>
              <a:rPr lang="en-US" sz="1500" i="1" dirty="0">
                <a:solidFill>
                  <a:srgbClr val="1E293B"/>
                </a:solidFill>
                <a:latin typeface="Georgia" pitchFamily="34" charset="0"/>
                <a:ea typeface="Georgia" pitchFamily="34" charset="-122"/>
                <a:cs typeface="Georgia" pitchFamily="34" charset="-120"/>
              </a:rPr>
              <a:t>and writing an exact man. And, therefore, if a man write little,</a:t>
            </a:r>
            <a:endParaRPr lang="en-US" sz="1500" dirty="0"/>
          </a:p>
          <a:p>
            <a:pPr indent="0" marL="0">
              <a:buNone/>
            </a:pPr>
            <a:r>
              <a:rPr lang="en-US" sz="1500" i="1" dirty="0">
                <a:solidFill>
                  <a:srgbClr val="1E293B"/>
                </a:solidFill>
                <a:latin typeface="Georgia" pitchFamily="34" charset="0"/>
                <a:ea typeface="Georgia" pitchFamily="34" charset="-122"/>
                <a:cs typeface="Georgia" pitchFamily="34" charset="-120"/>
              </a:rPr>
              <a:t>he had need have a great memory; if he confer little,</a:t>
            </a:r>
            <a:endParaRPr lang="en-US" sz="1500" dirty="0"/>
          </a:p>
          <a:p>
            <a:pPr indent="0" marL="0">
              <a:buNone/>
            </a:pPr>
            <a:r>
              <a:rPr lang="en-US" sz="1500" i="1" dirty="0">
                <a:solidFill>
                  <a:srgbClr val="1E293B"/>
                </a:solidFill>
                <a:latin typeface="Georgia" pitchFamily="34" charset="0"/>
                <a:ea typeface="Georgia" pitchFamily="34" charset="-122"/>
                <a:cs typeface="Georgia" pitchFamily="34" charset="-120"/>
              </a:rPr>
              <a:t>he had need have a present wit; and if he read little,</a:t>
            </a:r>
            <a:endParaRPr lang="en-US" sz="1500" dirty="0"/>
          </a:p>
          <a:p>
            <a:pPr indent="0" marL="0">
              <a:buNone/>
            </a:pPr>
            <a:r>
              <a:rPr lang="en-US" sz="1500" i="1" dirty="0">
                <a:solidFill>
                  <a:srgbClr val="1E293B"/>
                </a:solidFill>
                <a:latin typeface="Georgia" pitchFamily="34" charset="0"/>
                <a:ea typeface="Georgia" pitchFamily="34" charset="-122"/>
                <a:cs typeface="Georgia" pitchFamily="34" charset="-120"/>
              </a:rPr>
              <a:t>he had need have much cunning, to seem to know that he doth not.</a:t>
            </a:r>
            <a:endParaRPr lang="en-US" sz="1500" dirty="0"/>
          </a:p>
        </p:txBody>
      </p:sp>
      <p:sp>
        <p:nvSpPr>
          <p:cNvPr id="8" name="Text 6"/>
          <p:cNvSpPr/>
          <p:nvPr/>
        </p:nvSpPr>
        <p:spPr>
          <a:xfrm>
            <a:off x="365760" y="3429000"/>
            <a:ext cx="8046720" cy="292608"/>
          </a:xfrm>
          <a:prstGeom prst="rect">
            <a:avLst/>
          </a:prstGeom>
          <a:noFill/>
          <a:ln/>
        </p:spPr>
        <p:txBody>
          <a:bodyPr wrap="square" lIns="0" tIns="0" rIns="0" bIns="0" rtlCol="0" anchor="ctr"/>
          <a:lstStyle/>
          <a:p>
            <a:pPr indent="0" marL="0">
              <a:buNone/>
            </a:pPr>
            <a:r>
              <a:rPr lang="en-US" sz="1100" b="1" spc="200" kern="0" dirty="0">
                <a:solidFill>
                  <a:srgbClr val="8B6FC0"/>
                </a:solidFill>
                <a:latin typeface="Calibri" pitchFamily="34" charset="0"/>
                <a:ea typeface="Calibri" pitchFamily="34" charset="-122"/>
                <a:cs typeface="Calibri" pitchFamily="34" charset="-120"/>
              </a:rPr>
              <a:t>🧠 THINK ABOUT THIS</a:t>
            </a:r>
            <a:endParaRPr lang="en-US" sz="1100" dirty="0"/>
          </a:p>
        </p:txBody>
      </p:sp>
      <p:sp>
        <p:nvSpPr>
          <p:cNvPr id="9" name="Shape 7"/>
          <p:cNvSpPr/>
          <p:nvPr/>
        </p:nvSpPr>
        <p:spPr>
          <a:xfrm>
            <a:off x="365760" y="3685032"/>
            <a:ext cx="8412480" cy="914400"/>
          </a:xfrm>
          <a:prstGeom prst="roundRect">
            <a:avLst>
              <a:gd name="adj" fmla="val 10000"/>
            </a:avLst>
          </a:prstGeom>
          <a:solidFill>
            <a:srgbClr val="F0E8FF"/>
          </a:solidFill>
          <a:ln/>
          <a:effectLst>
            <a:outerShdw sx="100000" sy="100000" kx="0" ky="0" algn="bl" rotWithShape="0" blurRad="101600" dist="38100" dir="2700000">
              <a:srgbClr val="000000">
                <a:alpha val="12000"/>
              </a:srgbClr>
            </a:outerShdw>
          </a:effectLst>
        </p:spPr>
      </p:sp>
      <p:sp>
        <p:nvSpPr>
          <p:cNvPr id="10" name="Text 8"/>
          <p:cNvSpPr/>
          <p:nvPr/>
        </p:nvSpPr>
        <p:spPr>
          <a:xfrm>
            <a:off x="594360" y="3776472"/>
            <a:ext cx="7955280" cy="731520"/>
          </a:xfrm>
          <a:prstGeom prst="rect">
            <a:avLst/>
          </a:prstGeom>
          <a:noFill/>
          <a:ln/>
        </p:spPr>
        <p:txBody>
          <a:bodyPr wrap="square" lIns="0" tIns="0" rIns="0" bIns="0" rtlCol="0" anchor="ctr"/>
          <a:lstStyle/>
          <a:p>
            <a:pPr indent="0" marL="0">
              <a:buNone/>
            </a:pPr>
            <a:r>
              <a:rPr lang="en-US" sz="1200" i="1" dirty="0">
                <a:solidFill>
                  <a:srgbClr val="1E293B"/>
                </a:solidFill>
                <a:latin typeface="Calibri" pitchFamily="34" charset="0"/>
                <a:ea typeface="Calibri" pitchFamily="34" charset="-122"/>
                <a:cs typeface="Calibri" pitchFamily="34" charset="-120"/>
              </a:rPr>
              <a:t>Bacon says “writing maketh an exact man.” How does Chapter 20 prove this? What does Nat’s act of writing his navigation guide do to his own thinking — and to the world of sailors who will read it?</a:t>
            </a:r>
            <a:endParaRPr lang="en-US" sz="1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164592"/>
            <a:ext cx="8412480" cy="566928"/>
          </a:xfrm>
          <a:prstGeom prst="rect">
            <a:avLst/>
          </a:prstGeom>
          <a:noFill/>
          <a:ln/>
        </p:spPr>
        <p:txBody>
          <a:bodyPr wrap="square" lIns="0" tIns="0" rIns="0" bIns="0" rtlCol="0" anchor="ctr"/>
          <a:lstStyle/>
          <a:p>
            <a:pPr algn="l" indent="0" marL="0">
              <a:buNone/>
            </a:pPr>
            <a:r>
              <a:rPr lang="en-US" sz="2600" b="1" dirty="0">
                <a:solidFill>
                  <a:srgbClr val="0E1C42"/>
                </a:solidFill>
                <a:latin typeface="Calibri" pitchFamily="34" charset="0"/>
                <a:ea typeface="Calibri" pitchFamily="34" charset="-122"/>
                <a:cs typeface="Calibri" pitchFamily="34" charset="-120"/>
              </a:rPr>
              <a:t>✏️ Quick Write (Optional)</a:t>
            </a:r>
            <a:endParaRPr lang="en-US" sz="2600" dirty="0"/>
          </a:p>
        </p:txBody>
      </p:sp>
      <p:sp>
        <p:nvSpPr>
          <p:cNvPr id="3" name="Shape 1"/>
          <p:cNvSpPr/>
          <p:nvPr/>
        </p:nvSpPr>
        <p:spPr>
          <a:xfrm>
            <a:off x="365760" y="749808"/>
            <a:ext cx="8412480" cy="0"/>
          </a:xfrm>
          <a:prstGeom prst="line">
            <a:avLst/>
          </a:prstGeom>
          <a:noFill/>
          <a:ln w="19050">
            <a:solidFill>
              <a:srgbClr val="C7922C"/>
            </a:solidFill>
            <a:prstDash val="solid"/>
          </a:ln>
        </p:spPr>
      </p:sp>
      <p:sp>
        <p:nvSpPr>
          <p:cNvPr id="4" name="Text 2"/>
          <p:cNvSpPr/>
          <p:nvPr/>
        </p:nvSpPr>
        <p:spPr>
          <a:xfrm>
            <a:off x="457200" y="914400"/>
            <a:ext cx="8046720" cy="292608"/>
          </a:xfrm>
          <a:prstGeom prst="rect">
            <a:avLst/>
          </a:prstGeom>
          <a:noFill/>
          <a:ln/>
        </p:spPr>
        <p:txBody>
          <a:bodyPr wrap="square" lIns="0" tIns="0" rIns="0" bIns="0" rtlCol="0" anchor="ctr"/>
          <a:lstStyle/>
          <a:p>
            <a:pPr indent="0" marL="0">
              <a:buNone/>
            </a:pPr>
            <a:r>
              <a:rPr lang="en-US" sz="1100" b="1" spc="200" kern="0" dirty="0">
                <a:solidFill>
                  <a:srgbClr val="C7922C"/>
                </a:solidFill>
                <a:latin typeface="Calibri" pitchFamily="34" charset="0"/>
                <a:ea typeface="Calibri" pitchFamily="34" charset="-122"/>
                <a:cs typeface="Calibri" pitchFamily="34" charset="-120"/>
              </a:rPr>
              <a:t>📖 READ THE PROMPT — 1 MINUTE</a:t>
            </a:r>
            <a:endParaRPr lang="en-US" sz="1100" dirty="0"/>
          </a:p>
        </p:txBody>
      </p:sp>
      <p:sp>
        <p:nvSpPr>
          <p:cNvPr id="5" name="Shape 3"/>
          <p:cNvSpPr/>
          <p:nvPr/>
        </p:nvSpPr>
        <p:spPr>
          <a:xfrm>
            <a:off x="457200" y="1280160"/>
            <a:ext cx="8229600" cy="1463040"/>
          </a:xfrm>
          <a:prstGeom prst="roundRect">
            <a:avLst>
              <a:gd name="adj" fmla="val 6250"/>
            </a:avLst>
          </a:prstGeom>
          <a:solidFill>
            <a:srgbClr val="FEF6E8"/>
          </a:solidFill>
          <a:ln w="12700">
            <a:solidFill>
              <a:srgbClr val="C7922C"/>
            </a:solidFill>
            <a:prstDash val="solid"/>
          </a:ln>
          <a:effectLst>
            <a:outerShdw sx="100000" sy="100000" kx="0" ky="0" algn="bl" rotWithShape="0" blurRad="101600" dist="38100" dir="2700000">
              <a:srgbClr val="000000">
                <a:alpha val="12000"/>
              </a:srgbClr>
            </a:outerShdw>
          </a:effectLst>
        </p:spPr>
      </p:sp>
      <p:sp>
        <p:nvSpPr>
          <p:cNvPr id="6" name="Text 4"/>
          <p:cNvSpPr/>
          <p:nvPr/>
        </p:nvSpPr>
        <p:spPr>
          <a:xfrm>
            <a:off x="640080" y="1389888"/>
            <a:ext cx="7863840" cy="1234440"/>
          </a:xfrm>
          <a:prstGeom prst="rect">
            <a:avLst/>
          </a:prstGeom>
          <a:noFill/>
          <a:ln/>
        </p:spPr>
        <p:txBody>
          <a:bodyPr wrap="square" lIns="0" tIns="0" rIns="0" bIns="0" rtlCol="0" anchor="ctr"/>
          <a:lstStyle/>
          <a:p>
            <a:pPr indent="0" marL="0">
              <a:buNone/>
            </a:pPr>
            <a:r>
              <a:rPr lang="en-US" sz="1600" i="1" dirty="0">
                <a:solidFill>
                  <a:srgbClr val="1E293B"/>
                </a:solidFill>
                <a:latin typeface="Calibri" pitchFamily="34" charset="0"/>
                <a:ea typeface="Calibri" pitchFamily="34" charset="-122"/>
                <a:cs typeface="Calibri" pitchFamily="34" charset="-120"/>
              </a:rPr>
              <a:t>Nat is now known for "book sailing" — navigating by mathematics instead of instinct alone. Looking back at Chapters 17-20, is book sailing making Nat safer, or making the crew too dependent on him? Defend your answer.</a:t>
            </a:r>
            <a:endParaRPr lang="en-US" sz="1600" dirty="0"/>
          </a:p>
        </p:txBody>
      </p:sp>
      <p:sp>
        <p:nvSpPr>
          <p:cNvPr id="7" name="Text 5"/>
          <p:cNvSpPr/>
          <p:nvPr/>
        </p:nvSpPr>
        <p:spPr>
          <a:xfrm>
            <a:off x="457200" y="2926080"/>
            <a:ext cx="8046720" cy="292608"/>
          </a:xfrm>
          <a:prstGeom prst="rect">
            <a:avLst/>
          </a:prstGeom>
          <a:noFill/>
          <a:ln/>
        </p:spPr>
        <p:txBody>
          <a:bodyPr wrap="square" lIns="0" tIns="0" rIns="0" bIns="0" rtlCol="0" anchor="ctr"/>
          <a:lstStyle/>
          <a:p>
            <a:pPr indent="0" marL="0">
              <a:buNone/>
            </a:pPr>
            <a:r>
              <a:rPr lang="en-US" sz="1100" b="1" spc="200" kern="0" dirty="0">
                <a:solidFill>
                  <a:srgbClr val="64748B"/>
                </a:solidFill>
                <a:latin typeface="Calibri" pitchFamily="34" charset="0"/>
                <a:ea typeface="Calibri" pitchFamily="34" charset="-122"/>
                <a:cs typeface="Calibri" pitchFamily="34" charset="-120"/>
              </a:rPr>
              <a:t>SENTENCE SCAFFOLD (USE WHAT HELPS)</a:t>
            </a:r>
            <a:endParaRPr lang="en-US" sz="1100" dirty="0"/>
          </a:p>
        </p:txBody>
      </p:sp>
      <p:sp>
        <p:nvSpPr>
          <p:cNvPr id="8" name="Text 6"/>
          <p:cNvSpPr/>
          <p:nvPr/>
        </p:nvSpPr>
        <p:spPr>
          <a:xfrm>
            <a:off x="457200" y="3218688"/>
            <a:ext cx="8229600" cy="822960"/>
          </a:xfrm>
          <a:prstGeom prst="rect">
            <a:avLst/>
          </a:prstGeom>
          <a:noFill/>
          <a:ln/>
        </p:spPr>
        <p:txBody>
          <a:bodyPr wrap="square" lIns="0" tIns="0" rIns="0" bIns="0" rtlCol="0" anchor="ctr"/>
          <a:lstStyle/>
          <a:p>
            <a:pPr indent="0" marL="0">
              <a:buNone/>
            </a:pPr>
            <a:r>
              <a:rPr lang="en-US" sz="1150" i="1" dirty="0">
                <a:solidFill>
                  <a:srgbClr val="0E1C42"/>
                </a:solidFill>
                <a:latin typeface="Calibri" pitchFamily="34" charset="0"/>
                <a:ea typeface="Calibri" pitchFamily="34" charset="-122"/>
                <a:cs typeface="Calibri" pitchFamily="34" charset="-120"/>
              </a:rPr>
              <a:t>I think...   →   because...   →   One piece of evidence is...   →   Someone might disagree, but...</a:t>
            </a:r>
            <a:endParaRPr lang="en-US" sz="11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EF6E8"/>
        </a:solidFill>
      </p:bgPr>
    </p:bg>
    <p:spTree>
      <p:nvGrpSpPr>
        <p:cNvPr id="1" name=""/>
        <p:cNvGrpSpPr/>
        <p:nvPr/>
      </p:nvGrpSpPr>
      <p:grpSpPr>
        <a:xfrm>
          <a:off x="0" y="0"/>
          <a:ext cx="0" cy="0"/>
          <a:chOff x="0" y="0"/>
          <a:chExt cx="0" cy="0"/>
        </a:xfrm>
      </p:grpSpPr>
      <p:sp>
        <p:nvSpPr>
          <p:cNvPr id="2" name="Text 0"/>
          <p:cNvSpPr/>
          <p:nvPr/>
        </p:nvSpPr>
        <p:spPr>
          <a:xfrm>
            <a:off x="457200" y="228600"/>
            <a:ext cx="8229600" cy="640080"/>
          </a:xfrm>
          <a:prstGeom prst="rect">
            <a:avLst/>
          </a:prstGeom>
          <a:noFill/>
          <a:ln/>
        </p:spPr>
        <p:txBody>
          <a:bodyPr wrap="square" lIns="0" tIns="0" rIns="0" bIns="0" rtlCol="0" anchor="ctr"/>
          <a:lstStyle/>
          <a:p>
            <a:pPr algn="ctr" indent="0" marL="0">
              <a:buNone/>
            </a:pPr>
            <a:r>
              <a:rPr lang="en-US" sz="3000" b="1" dirty="0">
                <a:solidFill>
                  <a:srgbClr val="0E1C42"/>
                </a:solidFill>
                <a:latin typeface="Calibri" pitchFamily="34" charset="0"/>
                <a:ea typeface="Calibri" pitchFamily="34" charset="-122"/>
                <a:cs typeface="Calibri" pitchFamily="34" charset="-120"/>
              </a:rPr>
              <a:t>✏️  Writing Time</a:t>
            </a:r>
            <a:endParaRPr lang="en-US" sz="3000" dirty="0"/>
          </a:p>
        </p:txBody>
      </p:sp>
      <p:sp>
        <p:nvSpPr>
          <p:cNvPr id="3" name="Text 1"/>
          <p:cNvSpPr/>
          <p:nvPr/>
        </p:nvSpPr>
        <p:spPr>
          <a:xfrm>
            <a:off x="914400" y="804672"/>
            <a:ext cx="7315200" cy="365760"/>
          </a:xfrm>
          <a:prstGeom prst="rect">
            <a:avLst/>
          </a:prstGeom>
          <a:noFill/>
          <a:ln/>
        </p:spPr>
        <p:txBody>
          <a:bodyPr wrap="square" lIns="0" tIns="0" rIns="0" bIns="0" rtlCol="0" anchor="ctr"/>
          <a:lstStyle/>
          <a:p>
            <a:pPr algn="ctr" indent="0" marL="0">
              <a:buNone/>
            </a:pPr>
            <a:r>
              <a:rPr lang="en-US" sz="1500" dirty="0">
                <a:solidFill>
                  <a:srgbClr val="C7922C"/>
                </a:solidFill>
                <a:latin typeface="Calibri" pitchFamily="34" charset="0"/>
                <a:ea typeface="Calibri" pitchFamily="34" charset="-122"/>
                <a:cs typeface="Calibri" pitchFamily="34" charset="-120"/>
              </a:rPr>
              <a:t>5 minutes — keep your pencil moving!</a:t>
            </a:r>
            <a:endParaRPr lang="en-US" sz="1500" dirty="0"/>
          </a:p>
        </p:txBody>
      </p:sp>
      <p:sp>
        <p:nvSpPr>
          <p:cNvPr id="4" name="Shape 2"/>
          <p:cNvSpPr/>
          <p:nvPr/>
        </p:nvSpPr>
        <p:spPr>
          <a:xfrm>
            <a:off x="457200" y="1325880"/>
            <a:ext cx="8229600" cy="1188720"/>
          </a:xfrm>
          <a:prstGeom prst="roundRect">
            <a:avLst>
              <a:gd name="adj" fmla="val 7692"/>
            </a:avLst>
          </a:prstGeom>
          <a:solidFill>
            <a:srgbClr val="FFFFFF"/>
          </a:solidFill>
          <a:ln w="12700">
            <a:solidFill>
              <a:srgbClr val="C7922C"/>
            </a:solidFill>
            <a:prstDash val="solid"/>
          </a:ln>
          <a:effectLst>
            <a:outerShdw sx="100000" sy="100000" kx="0" ky="0" algn="bl" rotWithShape="0" blurRad="101600" dist="38100" dir="2700000">
              <a:srgbClr val="000000">
                <a:alpha val="12000"/>
              </a:srgbClr>
            </a:outerShdw>
          </a:effectLst>
        </p:spPr>
      </p:sp>
      <p:sp>
        <p:nvSpPr>
          <p:cNvPr id="5" name="Text 3"/>
          <p:cNvSpPr/>
          <p:nvPr/>
        </p:nvSpPr>
        <p:spPr>
          <a:xfrm>
            <a:off x="640080" y="1371600"/>
            <a:ext cx="7863840" cy="1097280"/>
          </a:xfrm>
          <a:prstGeom prst="rect">
            <a:avLst/>
          </a:prstGeom>
          <a:noFill/>
          <a:ln/>
        </p:spPr>
        <p:txBody>
          <a:bodyPr wrap="square" lIns="0" tIns="0" rIns="0" bIns="0" rtlCol="0" anchor="t"/>
          <a:lstStyle/>
          <a:p>
            <a:pPr indent="0" marL="0">
              <a:buNone/>
            </a:pPr>
            <a:r>
              <a:rPr lang="en-US" sz="1200" b="1" dirty="0">
                <a:solidFill>
                  <a:srgbClr val="C7922C"/>
                </a:solidFill>
                <a:latin typeface="Calibri" pitchFamily="34" charset="0"/>
                <a:ea typeface="Calibri" pitchFamily="34" charset="-122"/>
                <a:cs typeface="Calibri" pitchFamily="34" charset="-120"/>
              </a:rPr>
              <a:t>📖 Prompt: </a:t>
            </a:r>
            <a:pPr indent="0" marL="0">
              <a:buNone/>
            </a:pPr>
            <a:r>
              <a:rPr lang="en-US" sz="1200" i="1" dirty="0">
                <a:solidFill>
                  <a:srgbClr val="1E293B"/>
                </a:solidFill>
                <a:latin typeface="Calibri" pitchFamily="34" charset="0"/>
                <a:ea typeface="Calibri" pitchFamily="34" charset="-122"/>
                <a:cs typeface="Calibri" pitchFamily="34" charset="-120"/>
              </a:rPr>
              <a:t>Nat is now known for "book sailing" — navigating by mathematics instead of instinct alone. Looking back at Chapters 17-20, is book sailing making Nat safer, or making the crew too dependent on him? Defend your answer.</a:t>
            </a:r>
            <a:endParaRPr lang="en-US" sz="1200" dirty="0"/>
          </a:p>
        </p:txBody>
      </p:sp>
      <p:sp>
        <p:nvSpPr>
          <p:cNvPr id="6" name="Shape 4"/>
          <p:cNvSpPr/>
          <p:nvPr/>
        </p:nvSpPr>
        <p:spPr>
          <a:xfrm>
            <a:off x="1554480" y="2743200"/>
            <a:ext cx="6035040" cy="1600200"/>
          </a:xfrm>
          <a:prstGeom prst="roundRect">
            <a:avLst>
              <a:gd name="adj" fmla="val 6857"/>
            </a:avLst>
          </a:prstGeom>
          <a:solidFill>
            <a:srgbClr val="FFFFFF"/>
          </a:solidFill>
          <a:ln/>
          <a:effectLst>
            <a:outerShdw sx="100000" sy="100000" kx="0" ky="0" algn="bl" rotWithShape="0" blurRad="101600" dist="38100" dir="2700000">
              <a:srgbClr val="000000">
                <a:alpha val="12000"/>
              </a:srgbClr>
            </a:outerShdw>
          </a:effectLst>
        </p:spPr>
      </p:sp>
      <p:sp>
        <p:nvSpPr>
          <p:cNvPr id="7" name="Text 5"/>
          <p:cNvSpPr/>
          <p:nvPr/>
        </p:nvSpPr>
        <p:spPr>
          <a:xfrm>
            <a:off x="1737360" y="2834640"/>
            <a:ext cx="5669280" cy="1417320"/>
          </a:xfrm>
          <a:prstGeom prst="rect">
            <a:avLst/>
          </a:prstGeom>
          <a:noFill/>
          <a:ln/>
        </p:spPr>
        <p:txBody>
          <a:bodyPr wrap="square" lIns="0" tIns="0" rIns="0" bIns="0" rtlCol="0" anchor="t"/>
          <a:lstStyle/>
          <a:p>
            <a:pPr indent="0" marL="0">
              <a:buNone/>
            </a:pPr>
            <a:r>
              <a:rPr lang="en-US" sz="1300" b="1" dirty="0">
                <a:solidFill>
                  <a:srgbClr val="0E1C42"/>
                </a:solidFill>
                <a:latin typeface="Calibri" pitchFamily="34" charset="0"/>
                <a:ea typeface="Calibri" pitchFamily="34" charset="-122"/>
                <a:cs typeface="Calibri" pitchFamily="34" charset="-120"/>
              </a:rPr>
              <a:t>Scaffold, if you need it:
</a:t>
            </a:r>
            <a:pPr indent="0" marL="0">
              <a:buNone/>
            </a:pPr>
            <a:r>
              <a:rPr lang="en-US" sz="1150" dirty="0">
                <a:solidFill>
                  <a:srgbClr val="1E293B"/>
                </a:solidFill>
                <a:latin typeface="Calibri" pitchFamily="34" charset="0"/>
                <a:ea typeface="Calibri" pitchFamily="34" charset="-122"/>
                <a:cs typeface="Calibri" pitchFamily="34" charset="-120"/>
              </a:rPr>
              <a:t>I think...</a:t>
            </a:r>
            <a:endParaRPr lang="en-US" sz="1300" dirty="0"/>
          </a:p>
          <a:p>
            <a:pPr indent="0" marL="0">
              <a:buNone/>
            </a:pPr>
            <a:r>
              <a:rPr lang="en-US" sz="1150" dirty="0">
                <a:solidFill>
                  <a:srgbClr val="1E293B"/>
                </a:solidFill>
                <a:latin typeface="Calibri" pitchFamily="34" charset="0"/>
                <a:ea typeface="Calibri" pitchFamily="34" charset="-122"/>
                <a:cs typeface="Calibri" pitchFamily="34" charset="-120"/>
              </a:rPr>
              <a:t>because...</a:t>
            </a:r>
            <a:endParaRPr lang="en-US" sz="1300" dirty="0"/>
          </a:p>
          <a:p>
            <a:pPr indent="0" marL="0">
              <a:buNone/>
            </a:pPr>
            <a:r>
              <a:rPr lang="en-US" sz="1150" dirty="0">
                <a:solidFill>
                  <a:srgbClr val="1E293B"/>
                </a:solidFill>
                <a:latin typeface="Calibri" pitchFamily="34" charset="0"/>
                <a:ea typeface="Calibri" pitchFamily="34" charset="-122"/>
                <a:cs typeface="Calibri" pitchFamily="34" charset="-120"/>
              </a:rPr>
              <a:t>One piece of evidence is...</a:t>
            </a:r>
            <a:endParaRPr lang="en-US" sz="1300" dirty="0"/>
          </a:p>
          <a:p>
            <a:pPr indent="0" marL="0">
              <a:buNone/>
            </a:pPr>
            <a:r>
              <a:rPr lang="en-US" sz="1150" dirty="0">
                <a:solidFill>
                  <a:srgbClr val="1E293B"/>
                </a:solidFill>
                <a:latin typeface="Calibri" pitchFamily="34" charset="0"/>
                <a:ea typeface="Calibri" pitchFamily="34" charset="-122"/>
                <a:cs typeface="Calibri" pitchFamily="34" charset="-120"/>
              </a:rPr>
              <a:t>Someone might disagree, but...</a:t>
            </a:r>
            <a:endParaRPr lang="en-US" sz="13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E8F8EF"/>
        </a:solidFill>
      </p:bgPr>
    </p:bg>
    <p:spTree>
      <p:nvGrpSpPr>
        <p:cNvPr id="1" name=""/>
        <p:cNvGrpSpPr/>
        <p:nvPr/>
      </p:nvGrpSpPr>
      <p:grpSpPr>
        <a:xfrm>
          <a:off x="0" y="0"/>
          <a:ext cx="0" cy="0"/>
          <a:chOff x="0" y="0"/>
          <a:chExt cx="0" cy="0"/>
        </a:xfrm>
      </p:grpSpPr>
      <p:sp>
        <p:nvSpPr>
          <p:cNvPr id="2" name="Text 0"/>
          <p:cNvSpPr/>
          <p:nvPr/>
        </p:nvSpPr>
        <p:spPr>
          <a:xfrm>
            <a:off x="3657600" y="320040"/>
            <a:ext cx="1828800" cy="548640"/>
          </a:xfrm>
          <a:prstGeom prst="rect">
            <a:avLst/>
          </a:prstGeom>
          <a:noFill/>
          <a:ln/>
        </p:spPr>
        <p:txBody>
          <a:bodyPr wrap="square" lIns="0" tIns="0" rIns="0" bIns="0" rtlCol="0" anchor="ctr"/>
          <a:lstStyle/>
          <a:p>
            <a:pPr algn="ctr" indent="0" marL="0">
              <a:buNone/>
            </a:pPr>
            <a:r>
              <a:rPr lang="en-US" sz="3600" dirty="0">
                <a:solidFill>
                  <a:srgbClr val="000000"/>
                </a:solidFill>
              </a:rPr>
              <a:t>🔍</a:t>
            </a:r>
            <a:endParaRPr lang="en-US" sz="3600" dirty="0"/>
          </a:p>
        </p:txBody>
      </p:sp>
      <p:sp>
        <p:nvSpPr>
          <p:cNvPr id="3" name="Text 1"/>
          <p:cNvSpPr/>
          <p:nvPr/>
        </p:nvSpPr>
        <p:spPr>
          <a:xfrm>
            <a:off x="914400" y="822960"/>
            <a:ext cx="7315200" cy="594360"/>
          </a:xfrm>
          <a:prstGeom prst="rect">
            <a:avLst/>
          </a:prstGeom>
          <a:noFill/>
          <a:ln/>
        </p:spPr>
        <p:txBody>
          <a:bodyPr wrap="square" lIns="0" tIns="0" rIns="0" bIns="0" rtlCol="0" anchor="ctr"/>
          <a:lstStyle/>
          <a:p>
            <a:pPr algn="ctr" indent="0" marL="0">
              <a:buNone/>
            </a:pPr>
            <a:r>
              <a:rPr lang="en-US" sz="2800" b="1" dirty="0">
                <a:solidFill>
                  <a:srgbClr val="0E1C42"/>
                </a:solidFill>
                <a:latin typeface="Calibri" pitchFamily="34" charset="0"/>
                <a:ea typeface="Calibri" pitchFamily="34" charset="-122"/>
                <a:cs typeface="Calibri" pitchFamily="34" charset="-120"/>
              </a:rPr>
              <a:t>Edit &amp; Revise</a:t>
            </a:r>
            <a:endParaRPr lang="en-US" sz="2800" dirty="0"/>
          </a:p>
        </p:txBody>
      </p:sp>
      <p:sp>
        <p:nvSpPr>
          <p:cNvPr id="4" name="Text 2"/>
          <p:cNvSpPr/>
          <p:nvPr/>
        </p:nvSpPr>
        <p:spPr>
          <a:xfrm>
            <a:off x="914400" y="1371600"/>
            <a:ext cx="7315200" cy="411480"/>
          </a:xfrm>
          <a:prstGeom prst="rect">
            <a:avLst/>
          </a:prstGeom>
          <a:noFill/>
          <a:ln/>
        </p:spPr>
        <p:txBody>
          <a:bodyPr wrap="square" lIns="0" tIns="0" rIns="0" bIns="0" rtlCol="0" anchor="ctr"/>
          <a:lstStyle/>
          <a:p>
            <a:pPr algn="ctr" indent="0" marL="0">
              <a:buNone/>
            </a:pPr>
            <a:r>
              <a:rPr lang="en-US" sz="1400" dirty="0">
                <a:solidFill>
                  <a:srgbClr val="34B76F"/>
                </a:solidFill>
                <a:latin typeface="Calibri" pitchFamily="34" charset="0"/>
                <a:ea typeface="Calibri" pitchFamily="34" charset="-122"/>
                <a:cs typeface="Calibri" pitchFamily="34" charset="-120"/>
              </a:rPr>
              <a:t>1 minute — one deliberate decision, not a full edit pass</a:t>
            </a:r>
            <a:endParaRPr lang="en-US" sz="1400" dirty="0"/>
          </a:p>
        </p:txBody>
      </p:sp>
      <p:sp>
        <p:nvSpPr>
          <p:cNvPr id="5" name="Shape 3"/>
          <p:cNvSpPr/>
          <p:nvPr/>
        </p:nvSpPr>
        <p:spPr>
          <a:xfrm>
            <a:off x="1188720" y="2011680"/>
            <a:ext cx="6766560" cy="777240"/>
          </a:xfrm>
          <a:prstGeom prst="roundRect">
            <a:avLst>
              <a:gd name="adj" fmla="val 11765"/>
            </a:avLst>
          </a:prstGeom>
          <a:solidFill>
            <a:srgbClr val="FFFFFF"/>
          </a:solidFill>
          <a:ln w="19050">
            <a:solidFill>
              <a:srgbClr val="34B76F"/>
            </a:solidFill>
            <a:prstDash val="solid"/>
          </a:ln>
          <a:effectLst>
            <a:outerShdw sx="100000" sy="100000" kx="0" ky="0" algn="bl" rotWithShape="0" blurRad="101600" dist="38100" dir="2700000">
              <a:srgbClr val="000000">
                <a:alpha val="12000"/>
              </a:srgbClr>
            </a:outerShdw>
          </a:effectLst>
        </p:spPr>
      </p:sp>
      <p:sp>
        <p:nvSpPr>
          <p:cNvPr id="6" name="Text 4"/>
          <p:cNvSpPr/>
          <p:nvPr/>
        </p:nvSpPr>
        <p:spPr>
          <a:xfrm>
            <a:off x="1371600" y="2084832"/>
            <a:ext cx="6400800" cy="640080"/>
          </a:xfrm>
          <a:prstGeom prst="rect">
            <a:avLst/>
          </a:prstGeom>
          <a:noFill/>
          <a:ln/>
        </p:spPr>
        <p:txBody>
          <a:bodyPr wrap="square" lIns="0" tIns="0" rIns="0" bIns="0" rtlCol="0" anchor="ctr"/>
          <a:lstStyle/>
          <a:p>
            <a:pPr indent="0" marL="0">
              <a:buNone/>
            </a:pPr>
            <a:r>
              <a:rPr lang="en-US" sz="1300" b="1" dirty="0">
                <a:solidFill>
                  <a:srgbClr val="34B76F"/>
                </a:solidFill>
                <a:latin typeface="Calibri" pitchFamily="34" charset="0"/>
                <a:ea typeface="Calibri" pitchFamily="34" charset="-122"/>
                <a:cs typeface="Calibri" pitchFamily="34" charset="-120"/>
              </a:rPr>
              <a:t>Today's revision check: </a:t>
            </a:r>
            <a:pPr indent="0" marL="0">
              <a:buNone/>
            </a:pPr>
            <a:r>
              <a:rPr lang="en-US" sz="1300" dirty="0">
                <a:solidFill>
                  <a:srgbClr val="1E293B"/>
                </a:solidFill>
                <a:latin typeface="Calibri" pitchFamily="34" charset="0"/>
                <a:ea typeface="Calibri" pitchFamily="34" charset="-122"/>
                <a:cs typeface="Calibri" pitchFamily="34" charset="-120"/>
              </a:rPr>
              <a:t>Does this detail actually support what I'm trying to say, or is it just filler?</a:t>
            </a:r>
            <a:endParaRPr lang="en-US" sz="1300" dirty="0"/>
          </a:p>
        </p:txBody>
      </p:sp>
      <p:sp>
        <p:nvSpPr>
          <p:cNvPr id="7" name="Text 5"/>
          <p:cNvSpPr/>
          <p:nvPr/>
        </p:nvSpPr>
        <p:spPr>
          <a:xfrm>
            <a:off x="1188720" y="3017520"/>
            <a:ext cx="6766560" cy="457200"/>
          </a:xfrm>
          <a:prstGeom prst="rect">
            <a:avLst/>
          </a:prstGeom>
          <a:noFill/>
          <a:ln/>
        </p:spPr>
        <p:txBody>
          <a:bodyPr wrap="square" lIns="0" tIns="0" rIns="0" bIns="0" rtlCol="0" anchor="ctr"/>
          <a:lstStyle/>
          <a:p>
            <a:pPr algn="ctr" indent="0" marL="0">
              <a:buNone/>
            </a:pPr>
            <a:r>
              <a:rPr lang="en-US" sz="1200" i="1" dirty="0">
                <a:solidFill>
                  <a:srgbClr val="64748B"/>
                </a:solidFill>
                <a:latin typeface="Calibri" pitchFamily="34" charset="0"/>
                <a:ea typeface="Calibri" pitchFamily="34" charset="-122"/>
                <a:cs typeface="Calibri" pitchFamily="34" charset="-120"/>
              </a:rPr>
              <a:t>Revision = improving ideas. Editing = fixing conventions. Pick ONE thing.</a:t>
            </a:r>
            <a:endParaRPr lang="en-US" sz="12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E5F7FC"/>
        </a:solidFill>
      </p:bgPr>
    </p:bg>
    <p:spTree>
      <p:nvGrpSpPr>
        <p:cNvPr id="1" name=""/>
        <p:cNvGrpSpPr/>
        <p:nvPr/>
      </p:nvGrpSpPr>
      <p:grpSpPr>
        <a:xfrm>
          <a:off x="0" y="0"/>
          <a:ext cx="0" cy="0"/>
          <a:chOff x="0" y="0"/>
          <a:chExt cx="0" cy="0"/>
        </a:xfrm>
      </p:grpSpPr>
      <p:sp>
        <p:nvSpPr>
          <p:cNvPr id="2" name="Text 0"/>
          <p:cNvSpPr/>
          <p:nvPr/>
        </p:nvSpPr>
        <p:spPr>
          <a:xfrm>
            <a:off x="3657600" y="457200"/>
            <a:ext cx="1828800" cy="640080"/>
          </a:xfrm>
          <a:prstGeom prst="rect">
            <a:avLst/>
          </a:prstGeom>
          <a:noFill/>
          <a:ln/>
        </p:spPr>
        <p:txBody>
          <a:bodyPr wrap="square" lIns="0" tIns="0" rIns="0" bIns="0" rtlCol="0" anchor="ctr"/>
          <a:lstStyle/>
          <a:p>
            <a:pPr algn="ctr" indent="0" marL="0">
              <a:buNone/>
            </a:pPr>
            <a:r>
              <a:rPr lang="en-US" sz="4000" dirty="0">
                <a:solidFill>
                  <a:srgbClr val="000000"/>
                </a:solidFill>
              </a:rPr>
              <a:t>🗣️</a:t>
            </a:r>
            <a:endParaRPr lang="en-US" sz="4000" dirty="0"/>
          </a:p>
        </p:txBody>
      </p:sp>
      <p:sp>
        <p:nvSpPr>
          <p:cNvPr id="3" name="Text 1"/>
          <p:cNvSpPr/>
          <p:nvPr/>
        </p:nvSpPr>
        <p:spPr>
          <a:xfrm>
            <a:off x="914400" y="1005840"/>
            <a:ext cx="7315200" cy="594360"/>
          </a:xfrm>
          <a:prstGeom prst="rect">
            <a:avLst/>
          </a:prstGeom>
          <a:noFill/>
          <a:ln/>
        </p:spPr>
        <p:txBody>
          <a:bodyPr wrap="square" lIns="0" tIns="0" rIns="0" bIns="0" rtlCol="0" anchor="ctr"/>
          <a:lstStyle/>
          <a:p>
            <a:pPr algn="ctr" indent="0" marL="0">
              <a:buNone/>
            </a:pPr>
            <a:r>
              <a:rPr lang="en-US" sz="3000" b="1" dirty="0">
                <a:solidFill>
                  <a:srgbClr val="0E1C42"/>
                </a:solidFill>
                <a:latin typeface="Calibri" pitchFamily="34" charset="0"/>
                <a:ea typeface="Calibri" pitchFamily="34" charset="-122"/>
                <a:cs typeface="Calibri" pitchFamily="34" charset="-120"/>
              </a:rPr>
              <a:t>Share Time</a:t>
            </a:r>
            <a:endParaRPr lang="en-US" sz="3000" dirty="0"/>
          </a:p>
        </p:txBody>
      </p:sp>
      <p:sp>
        <p:nvSpPr>
          <p:cNvPr id="4" name="Text 2"/>
          <p:cNvSpPr/>
          <p:nvPr/>
        </p:nvSpPr>
        <p:spPr>
          <a:xfrm>
            <a:off x="914400" y="1554480"/>
            <a:ext cx="7315200" cy="411480"/>
          </a:xfrm>
          <a:prstGeom prst="rect">
            <a:avLst/>
          </a:prstGeom>
          <a:noFill/>
          <a:ln/>
        </p:spPr>
        <p:txBody>
          <a:bodyPr wrap="square" lIns="0" tIns="0" rIns="0" bIns="0" rtlCol="0" anchor="ctr"/>
          <a:lstStyle/>
          <a:p>
            <a:pPr algn="ctr" indent="0" marL="0">
              <a:buNone/>
            </a:pPr>
            <a:r>
              <a:rPr lang="en-US" sz="1500" dirty="0">
                <a:solidFill>
                  <a:srgbClr val="55C8E8"/>
                </a:solidFill>
                <a:latin typeface="Calibri" pitchFamily="34" charset="0"/>
                <a:ea typeface="Calibri" pitchFamily="34" charset="-122"/>
                <a:cs typeface="Calibri" pitchFamily="34" charset="-120"/>
              </a:rPr>
              <a:t>3 minutes — let's hear your thinking!</a:t>
            </a:r>
            <a:endParaRPr lang="en-US" sz="1500" dirty="0"/>
          </a:p>
        </p:txBody>
      </p:sp>
      <p:sp>
        <p:nvSpPr>
          <p:cNvPr id="5" name="Shape 3"/>
          <p:cNvSpPr/>
          <p:nvPr/>
        </p:nvSpPr>
        <p:spPr>
          <a:xfrm>
            <a:off x="1828800" y="2194560"/>
            <a:ext cx="5486400" cy="1371600"/>
          </a:xfrm>
          <a:prstGeom prst="roundRect">
            <a:avLst>
              <a:gd name="adj" fmla="val 8000"/>
            </a:avLst>
          </a:prstGeom>
          <a:solidFill>
            <a:srgbClr val="FFFFFF"/>
          </a:solidFill>
          <a:ln/>
          <a:effectLst>
            <a:outerShdw sx="100000" sy="100000" kx="0" ky="0" algn="bl" rotWithShape="0" blurRad="101600" dist="38100" dir="2700000">
              <a:srgbClr val="000000">
                <a:alpha val="12000"/>
              </a:srgbClr>
            </a:outerShdw>
          </a:effectLst>
        </p:spPr>
      </p:sp>
      <p:sp>
        <p:nvSpPr>
          <p:cNvPr id="6" name="Text 4"/>
          <p:cNvSpPr/>
          <p:nvPr/>
        </p:nvSpPr>
        <p:spPr>
          <a:xfrm>
            <a:off x="2011680" y="2286000"/>
            <a:ext cx="5120640" cy="1188720"/>
          </a:xfrm>
          <a:prstGeom prst="rect">
            <a:avLst/>
          </a:prstGeom>
          <a:noFill/>
          <a:ln/>
        </p:spPr>
        <p:txBody>
          <a:bodyPr wrap="square" lIns="0" tIns="0" rIns="0" bIns="0" rtlCol="0" anchor="t"/>
          <a:lstStyle/>
          <a:p>
            <a:pPr indent="0" marL="0">
              <a:buNone/>
            </a:pPr>
            <a:r>
              <a:rPr lang="en-US" sz="1300" b="1" dirty="0">
                <a:solidFill>
                  <a:srgbClr val="0E1C42"/>
                </a:solidFill>
                <a:latin typeface="Calibri" pitchFamily="34" charset="0"/>
                <a:ea typeface="Calibri" pitchFamily="34" charset="-122"/>
                <a:cs typeface="Calibri" pitchFamily="34" charset="-120"/>
              </a:rPr>
              <a:t>Raise your hand </a:t>
            </a:r>
            <a:pPr indent="0" marL="0">
              <a:buNone/>
            </a:pPr>
            <a:r>
              <a:rPr lang="en-US" sz="1300" dirty="0">
                <a:solidFill>
                  <a:srgbClr val="1E293B"/>
                </a:solidFill>
                <a:latin typeface="Calibri" pitchFamily="34" charset="0"/>
                <a:ea typeface="Calibri" pitchFamily="34" charset="-122"/>
                <a:cs typeface="Calibri" pitchFamily="34" charset="-120"/>
              </a:rPr>
              <a:t>to share, or paste your writing in the chat.
</a:t>
            </a:r>
            <a:pPr indent="0" marL="0">
              <a:buNone/>
            </a:pPr>
            <a:r>
              <a:rPr lang="en-US" sz="1200" i="1" dirty="0">
                <a:solidFill>
                  <a:srgbClr val="64748B"/>
                </a:solidFill>
                <a:latin typeface="Calibri" pitchFamily="34" charset="0"/>
                <a:ea typeface="Calibri" pitchFamily="34" charset="-122"/>
                <a:cs typeface="Calibri" pitchFamily="34" charset="-120"/>
              </a:rPr>
              <a:t>If you disagree with a classmate's choice, say so respectfully — that's part of the thinking.</a:t>
            </a:r>
            <a:endParaRPr lang="en-US" sz="13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164592"/>
            <a:ext cx="8412480" cy="566928"/>
          </a:xfrm>
          <a:prstGeom prst="rect">
            <a:avLst/>
          </a:prstGeom>
          <a:noFill/>
          <a:ln/>
        </p:spPr>
        <p:txBody>
          <a:bodyPr wrap="square" lIns="0" tIns="0" rIns="0" bIns="0" rtlCol="0" anchor="ctr"/>
          <a:lstStyle/>
          <a:p>
            <a:pPr algn="l" indent="0" marL="0">
              <a:buNone/>
            </a:pPr>
            <a:r>
              <a:rPr lang="en-US" sz="2600" b="1" dirty="0">
                <a:solidFill>
                  <a:srgbClr val="0E1C42"/>
                </a:solidFill>
                <a:latin typeface="Calibri" pitchFamily="34" charset="0"/>
                <a:ea typeface="Calibri" pitchFamily="34" charset="-122"/>
                <a:cs typeface="Calibri" pitchFamily="34" charset="-120"/>
              </a:rPr>
              <a:t>🔤 Vocabulary — Choice Menu</a:t>
            </a:r>
            <a:endParaRPr lang="en-US" sz="2600" dirty="0"/>
          </a:p>
        </p:txBody>
      </p:sp>
      <p:sp>
        <p:nvSpPr>
          <p:cNvPr id="3" name="Shape 1"/>
          <p:cNvSpPr/>
          <p:nvPr/>
        </p:nvSpPr>
        <p:spPr>
          <a:xfrm>
            <a:off x="365760" y="749808"/>
            <a:ext cx="8412480" cy="0"/>
          </a:xfrm>
          <a:prstGeom prst="line">
            <a:avLst/>
          </a:prstGeom>
          <a:noFill/>
          <a:ln w="19050">
            <a:solidFill>
              <a:srgbClr val="55C8E8"/>
            </a:solidFill>
            <a:prstDash val="solid"/>
          </a:ln>
        </p:spPr>
      </p:sp>
      <p:sp>
        <p:nvSpPr>
          <p:cNvPr id="4" name="Text 2"/>
          <p:cNvSpPr/>
          <p:nvPr/>
        </p:nvSpPr>
        <p:spPr>
          <a:xfrm>
            <a:off x="365760" y="822960"/>
            <a:ext cx="8046720" cy="292608"/>
          </a:xfrm>
          <a:prstGeom prst="rect">
            <a:avLst/>
          </a:prstGeom>
          <a:noFill/>
          <a:ln/>
        </p:spPr>
        <p:txBody>
          <a:bodyPr wrap="square" lIns="0" tIns="0" rIns="0" bIns="0" rtlCol="0" anchor="ctr"/>
          <a:lstStyle/>
          <a:p>
            <a:pPr indent="0" marL="0">
              <a:buNone/>
            </a:pPr>
            <a:r>
              <a:rPr lang="en-US" sz="1100" b="1" spc="200" kern="0" dirty="0">
                <a:solidFill>
                  <a:srgbClr val="64748B"/>
                </a:solidFill>
                <a:latin typeface="Calibri" pitchFamily="34" charset="0"/>
                <a:ea typeface="Calibri" pitchFamily="34" charset="-122"/>
                <a:cs typeface="Calibri" pitchFamily="34" charset="-120"/>
              </a:rPr>
              <a:t>Show What You Know — your way</a:t>
            </a:r>
            <a:endParaRPr lang="en-US" sz="1100" dirty="0"/>
          </a:p>
        </p:txBody>
      </p:sp>
      <p:sp>
        <p:nvSpPr>
          <p:cNvPr id="5" name="Text 3"/>
          <p:cNvSpPr/>
          <p:nvPr/>
        </p:nvSpPr>
        <p:spPr>
          <a:xfrm>
            <a:off x="365760" y="1097280"/>
            <a:ext cx="8412480" cy="365760"/>
          </a:xfrm>
          <a:prstGeom prst="rect">
            <a:avLst/>
          </a:prstGeom>
          <a:noFill/>
          <a:ln/>
        </p:spPr>
        <p:txBody>
          <a:bodyPr wrap="square" lIns="0" tIns="0" rIns="0" bIns="0" rtlCol="0" anchor="ctr"/>
          <a:lstStyle/>
          <a:p>
            <a:pPr indent="0" marL="0">
              <a:buNone/>
            </a:pPr>
            <a:r>
              <a:rPr lang="en-US" sz="1200" b="1" dirty="0">
                <a:solidFill>
                  <a:srgbClr val="0E1C42"/>
                </a:solidFill>
                <a:latin typeface="Calibri" pitchFamily="34" charset="0"/>
                <a:ea typeface="Calibri" pitchFamily="34" charset="-122"/>
                <a:cs typeface="Calibri" pitchFamily="34" charset="-120"/>
              </a:rPr>
              <a:t>Words: translate · intersect · submarine · interval · transfer · subscribe</a:t>
            </a:r>
            <a:endParaRPr lang="en-US" sz="1200" dirty="0"/>
          </a:p>
        </p:txBody>
      </p:sp>
      <p:sp>
        <p:nvSpPr>
          <p:cNvPr id="6" name="Shape 4"/>
          <p:cNvSpPr/>
          <p:nvPr/>
        </p:nvSpPr>
        <p:spPr>
          <a:xfrm>
            <a:off x="365760" y="1554480"/>
            <a:ext cx="8412480" cy="502920"/>
          </a:xfrm>
          <a:prstGeom prst="roundRect">
            <a:avLst>
              <a:gd name="adj" fmla="val 18182"/>
            </a:avLst>
          </a:prstGeom>
          <a:solidFill>
            <a:srgbClr val="E5F7FC"/>
          </a:solidFill>
          <a:ln/>
          <a:effectLst>
            <a:outerShdw sx="100000" sy="100000" kx="0" ky="0" algn="bl" rotWithShape="0" blurRad="101600" dist="38100" dir="2700000">
              <a:srgbClr val="000000">
                <a:alpha val="12000"/>
              </a:srgbClr>
            </a:outerShdw>
          </a:effectLst>
        </p:spPr>
      </p:sp>
      <p:sp>
        <p:nvSpPr>
          <p:cNvPr id="7" name="Text 5"/>
          <p:cNvSpPr/>
          <p:nvPr/>
        </p:nvSpPr>
        <p:spPr>
          <a:xfrm>
            <a:off x="548640" y="1600200"/>
            <a:ext cx="8046720" cy="411480"/>
          </a:xfrm>
          <a:prstGeom prst="rect">
            <a:avLst/>
          </a:prstGeom>
          <a:noFill/>
          <a:ln/>
        </p:spPr>
        <p:txBody>
          <a:bodyPr wrap="square" lIns="0" tIns="0" rIns="0" bIns="0" rtlCol="0" anchor="ctr"/>
          <a:lstStyle/>
          <a:p>
            <a:pPr indent="0" marL="0">
              <a:buNone/>
            </a:pPr>
            <a:r>
              <a:rPr lang="en-US" sz="1050" dirty="0">
                <a:solidFill>
                  <a:srgbClr val="1E293B"/>
                </a:solidFill>
                <a:latin typeface="Calibri" pitchFamily="34" charset="0"/>
                <a:ea typeface="Calibri" pitchFamily="34" charset="-122"/>
                <a:cs typeface="Calibri" pitchFamily="34" charset="-120"/>
              </a:rPr>
              <a:t>•  Option A: ✍️ Navigator’s Glossary — Write a six-entry glossary, as if for the front matter of Nat’s navigation book. Define each word precisely and usefully, the way a navigator would need it defined at sea.</a:t>
            </a:r>
            <a:endParaRPr lang="en-US" sz="1050" dirty="0"/>
          </a:p>
        </p:txBody>
      </p:sp>
      <p:sp>
        <p:nvSpPr>
          <p:cNvPr id="8" name="Shape 6"/>
          <p:cNvSpPr/>
          <p:nvPr/>
        </p:nvSpPr>
        <p:spPr>
          <a:xfrm>
            <a:off x="365760" y="2112264"/>
            <a:ext cx="8412480" cy="502920"/>
          </a:xfrm>
          <a:prstGeom prst="roundRect">
            <a:avLst>
              <a:gd name="adj" fmla="val 18182"/>
            </a:avLst>
          </a:prstGeom>
          <a:solidFill>
            <a:srgbClr val="EAF6FA"/>
          </a:solidFill>
          <a:ln/>
          <a:effectLst>
            <a:outerShdw sx="100000" sy="100000" kx="0" ky="0" algn="bl" rotWithShape="0" blurRad="101600" dist="38100" dir="2700000">
              <a:srgbClr val="000000">
                <a:alpha val="12000"/>
              </a:srgbClr>
            </a:outerShdw>
          </a:effectLst>
        </p:spPr>
      </p:sp>
      <p:sp>
        <p:nvSpPr>
          <p:cNvPr id="9" name="Text 7"/>
          <p:cNvSpPr/>
          <p:nvPr/>
        </p:nvSpPr>
        <p:spPr>
          <a:xfrm>
            <a:off x="548640" y="2157984"/>
            <a:ext cx="8046720" cy="411480"/>
          </a:xfrm>
          <a:prstGeom prst="rect">
            <a:avLst/>
          </a:prstGeom>
          <a:noFill/>
          <a:ln/>
        </p:spPr>
        <p:txBody>
          <a:bodyPr wrap="square" lIns="0" tIns="0" rIns="0" bIns="0" rtlCol="0" anchor="ctr"/>
          <a:lstStyle/>
          <a:p>
            <a:pPr indent="0" marL="0">
              <a:buNone/>
            </a:pPr>
            <a:r>
              <a:rPr lang="en-US" sz="1050" dirty="0">
                <a:solidFill>
                  <a:srgbClr val="1E293B"/>
                </a:solidFill>
                <a:latin typeface="Calibri" pitchFamily="34" charset="0"/>
                <a:ea typeface="Calibri" pitchFamily="34" charset="-122"/>
                <a:cs typeface="Calibri" pitchFamily="34" charset="-120"/>
              </a:rPr>
              <a:t>•  Option B: 🧠 Prefix Analysis — For all six words: show prefix + root = full word. Explain how the prefix shifts the meaning of the root. Use a table format.</a:t>
            </a:r>
            <a:endParaRPr lang="en-US" sz="1050" dirty="0"/>
          </a:p>
        </p:txBody>
      </p:sp>
      <p:sp>
        <p:nvSpPr>
          <p:cNvPr id="10" name="Shape 8"/>
          <p:cNvSpPr/>
          <p:nvPr/>
        </p:nvSpPr>
        <p:spPr>
          <a:xfrm>
            <a:off x="365760" y="2670048"/>
            <a:ext cx="8412480" cy="502920"/>
          </a:xfrm>
          <a:prstGeom prst="roundRect">
            <a:avLst>
              <a:gd name="adj" fmla="val 18182"/>
            </a:avLst>
          </a:prstGeom>
          <a:solidFill>
            <a:srgbClr val="E5F7FC"/>
          </a:solidFill>
          <a:ln/>
          <a:effectLst>
            <a:outerShdw sx="100000" sy="100000" kx="0" ky="0" algn="bl" rotWithShape="0" blurRad="101600" dist="38100" dir="2700000">
              <a:srgbClr val="000000">
                <a:alpha val="12000"/>
              </a:srgbClr>
            </a:outerShdw>
          </a:effectLst>
        </p:spPr>
      </p:sp>
      <p:sp>
        <p:nvSpPr>
          <p:cNvPr id="11" name="Text 9"/>
          <p:cNvSpPr/>
          <p:nvPr/>
        </p:nvSpPr>
        <p:spPr>
          <a:xfrm>
            <a:off x="548640" y="2715768"/>
            <a:ext cx="8046720" cy="411480"/>
          </a:xfrm>
          <a:prstGeom prst="rect">
            <a:avLst/>
          </a:prstGeom>
          <a:noFill/>
          <a:ln/>
        </p:spPr>
        <p:txBody>
          <a:bodyPr wrap="square" lIns="0" tIns="0" rIns="0" bIns="0" rtlCol="0" anchor="ctr"/>
          <a:lstStyle/>
          <a:p>
            <a:pPr indent="0" marL="0">
              <a:buNone/>
            </a:pPr>
            <a:r>
              <a:rPr lang="en-US" sz="1050" dirty="0">
                <a:solidFill>
                  <a:srgbClr val="1E293B"/>
                </a:solidFill>
                <a:latin typeface="Calibri" pitchFamily="34" charset="0"/>
                <a:ea typeface="Calibri" pitchFamily="34" charset="-122"/>
                <a:cs typeface="Calibri" pitchFamily="34" charset="-120"/>
              </a:rPr>
              <a:t>•  Option C: 📝 The Navigator’s Scene — Write a 5–7 sentence scene with Nat at sea, using all six vocabulary words naturally. Underline each vocabulary word.</a:t>
            </a:r>
            <a:endParaRPr lang="en-US" sz="1050" dirty="0"/>
          </a:p>
        </p:txBody>
      </p:sp>
      <p:sp>
        <p:nvSpPr>
          <p:cNvPr id="12" name="Shape 10"/>
          <p:cNvSpPr/>
          <p:nvPr/>
        </p:nvSpPr>
        <p:spPr>
          <a:xfrm>
            <a:off x="365760" y="3227832"/>
            <a:ext cx="8412480" cy="502920"/>
          </a:xfrm>
          <a:prstGeom prst="roundRect">
            <a:avLst>
              <a:gd name="adj" fmla="val 18182"/>
            </a:avLst>
          </a:prstGeom>
          <a:solidFill>
            <a:srgbClr val="EAF6FA"/>
          </a:solidFill>
          <a:ln/>
          <a:effectLst>
            <a:outerShdw sx="100000" sy="100000" kx="0" ky="0" algn="bl" rotWithShape="0" blurRad="101600" dist="38100" dir="2700000">
              <a:srgbClr val="000000">
                <a:alpha val="12000"/>
              </a:srgbClr>
            </a:outerShdw>
          </a:effectLst>
        </p:spPr>
      </p:sp>
      <p:sp>
        <p:nvSpPr>
          <p:cNvPr id="13" name="Text 11"/>
          <p:cNvSpPr/>
          <p:nvPr/>
        </p:nvSpPr>
        <p:spPr>
          <a:xfrm>
            <a:off x="548640" y="3273552"/>
            <a:ext cx="8046720" cy="411480"/>
          </a:xfrm>
          <a:prstGeom prst="rect">
            <a:avLst/>
          </a:prstGeom>
          <a:noFill/>
          <a:ln/>
        </p:spPr>
        <p:txBody>
          <a:bodyPr wrap="square" lIns="0" tIns="0" rIns="0" bIns="0" rtlCol="0" anchor="ctr"/>
          <a:lstStyle/>
          <a:p>
            <a:pPr indent="0" marL="0">
              <a:buNone/>
            </a:pPr>
            <a:r>
              <a:rPr lang="en-US" sz="1050" dirty="0">
                <a:solidFill>
                  <a:srgbClr val="1E293B"/>
                </a:solidFill>
                <a:latin typeface="Calibri" pitchFamily="34" charset="0"/>
                <a:ea typeface="Calibri" pitchFamily="34" charset="-122"/>
                <a:cs typeface="Calibri" pitchFamily="34" charset="-120"/>
              </a:rPr>
              <a:t>•  Option D: 📊 Connection Web — Explain: how are translate , transfer , and intersect all connected in Nat’s mission? How does each word describe a different aspect of what he is trying to do?</a:t>
            </a:r>
            <a:endParaRPr lang="en-US" sz="1050" dirty="0"/>
          </a:p>
        </p:txBody>
      </p:sp>
      <p:sp>
        <p:nvSpPr>
          <p:cNvPr id="14" name="Shape 12"/>
          <p:cNvSpPr/>
          <p:nvPr/>
        </p:nvSpPr>
        <p:spPr>
          <a:xfrm>
            <a:off x="365760" y="3831336"/>
            <a:ext cx="8412480" cy="640080"/>
          </a:xfrm>
          <a:prstGeom prst="roundRect">
            <a:avLst>
              <a:gd name="adj" fmla="val 14286"/>
            </a:avLst>
          </a:prstGeom>
          <a:solidFill>
            <a:srgbClr val="FEF6E8"/>
          </a:solidFill>
          <a:ln w="12700">
            <a:solidFill>
              <a:srgbClr val="C7922C"/>
            </a:solidFill>
            <a:prstDash val="solid"/>
          </a:ln>
        </p:spPr>
      </p:sp>
      <p:sp>
        <p:nvSpPr>
          <p:cNvPr id="15" name="Text 13"/>
          <p:cNvSpPr/>
          <p:nvPr/>
        </p:nvSpPr>
        <p:spPr>
          <a:xfrm>
            <a:off x="548640" y="3877056"/>
            <a:ext cx="8046720" cy="548640"/>
          </a:xfrm>
          <a:prstGeom prst="rect">
            <a:avLst/>
          </a:prstGeom>
          <a:noFill/>
          <a:ln/>
        </p:spPr>
        <p:txBody>
          <a:bodyPr wrap="square" lIns="0" tIns="0" rIns="0" bIns="0" rtlCol="0" anchor="t"/>
          <a:lstStyle/>
          <a:p>
            <a:pPr indent="0" marL="0">
              <a:buNone/>
            </a:pPr>
            <a:r>
              <a:rPr lang="en-US" sz="1000" b="1" dirty="0">
                <a:solidFill>
                  <a:srgbClr val="C7922C"/>
                </a:solidFill>
                <a:latin typeface="Calibri" pitchFamily="34" charset="0"/>
                <a:ea typeface="Calibri" pitchFamily="34" charset="-122"/>
                <a:cs typeface="Calibri" pitchFamily="34" charset="-120"/>
              </a:rPr>
              <a:t>🫖 Show What You Know · Vocabulary
</a:t>
            </a:r>
            <a:pPr indent="0" marL="0">
              <a:buNone/>
            </a:pPr>
            <a:r>
              <a:rPr lang="en-US" sz="1000" i="1" dirty="0">
                <a:solidFill>
                  <a:srgbClr val="1E293B"/>
                </a:solidFill>
                <a:latin typeface="Calibri" pitchFamily="34" charset="0"/>
                <a:ea typeface="Calibri" pitchFamily="34" charset="-122"/>
                <a:cs typeface="Calibri" pitchFamily="34" charset="-120"/>
              </a:rPr>
              <a:t>Complete your chosen option above.</a:t>
            </a:r>
            <a:endParaRPr lang="en-US" sz="10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164592"/>
            <a:ext cx="8412480" cy="566928"/>
          </a:xfrm>
          <a:prstGeom prst="rect">
            <a:avLst/>
          </a:prstGeom>
          <a:noFill/>
          <a:ln/>
        </p:spPr>
        <p:txBody>
          <a:bodyPr wrap="square" lIns="0" tIns="0" rIns="0" bIns="0" rtlCol="0" anchor="ctr"/>
          <a:lstStyle/>
          <a:p>
            <a:pPr algn="l" indent="0" marL="0">
              <a:buNone/>
            </a:pPr>
            <a:r>
              <a:rPr lang="en-US" sz="2600" b="1" dirty="0">
                <a:solidFill>
                  <a:srgbClr val="0E1C42"/>
                </a:solidFill>
                <a:latin typeface="Calibri" pitchFamily="34" charset="0"/>
                <a:ea typeface="Calibri" pitchFamily="34" charset="-122"/>
                <a:cs typeface="Calibri" pitchFamily="34" charset="-120"/>
              </a:rPr>
              <a:t>✏️ Grammar — ✏️ Grammar: Explain Relative Clauses</a:t>
            </a:r>
            <a:endParaRPr lang="en-US" sz="2600" dirty="0"/>
          </a:p>
        </p:txBody>
      </p:sp>
      <p:sp>
        <p:nvSpPr>
          <p:cNvPr id="3" name="Shape 1"/>
          <p:cNvSpPr/>
          <p:nvPr/>
        </p:nvSpPr>
        <p:spPr>
          <a:xfrm>
            <a:off x="365760" y="749808"/>
            <a:ext cx="8412480" cy="0"/>
          </a:xfrm>
          <a:prstGeom prst="line">
            <a:avLst/>
          </a:prstGeom>
          <a:noFill/>
          <a:ln w="19050">
            <a:solidFill>
              <a:srgbClr val="C7922C"/>
            </a:solidFill>
            <a:prstDash val="solid"/>
          </a:ln>
        </p:spPr>
      </p:sp>
      <p:sp>
        <p:nvSpPr>
          <p:cNvPr id="4" name="Text 2"/>
          <p:cNvSpPr/>
          <p:nvPr/>
        </p:nvSpPr>
        <p:spPr>
          <a:xfrm>
            <a:off x="365760" y="822960"/>
            <a:ext cx="8046720" cy="292608"/>
          </a:xfrm>
          <a:prstGeom prst="rect">
            <a:avLst/>
          </a:prstGeom>
          <a:noFill/>
          <a:ln/>
        </p:spPr>
        <p:txBody>
          <a:bodyPr wrap="square" lIns="0" tIns="0" rIns="0" bIns="0" rtlCol="0" anchor="ctr"/>
          <a:lstStyle/>
          <a:p>
            <a:pPr indent="0" marL="0">
              <a:buNone/>
            </a:pPr>
            <a:r>
              <a:rPr lang="en-US" sz="1100" b="1" spc="200" kern="0" dirty="0">
                <a:solidFill>
                  <a:srgbClr val="64748B"/>
                </a:solidFill>
                <a:latin typeface="Calibri" pitchFamily="34" charset="0"/>
                <a:ea typeface="Calibri" pitchFamily="34" charset="-122"/>
                <a:cs typeface="Calibri" pitchFamily="34" charset="-120"/>
              </a:rPr>
              <a:t>Explain — teach the rule</a:t>
            </a:r>
            <a:endParaRPr lang="en-US" sz="1100" dirty="0"/>
          </a:p>
        </p:txBody>
      </p:sp>
      <p:sp>
        <p:nvSpPr>
          <p:cNvPr id="5" name="Text 3"/>
          <p:cNvSpPr/>
          <p:nvPr/>
        </p:nvSpPr>
        <p:spPr>
          <a:xfrm>
            <a:off x="365760" y="1097280"/>
            <a:ext cx="8046720" cy="292608"/>
          </a:xfrm>
          <a:prstGeom prst="rect">
            <a:avLst/>
          </a:prstGeom>
          <a:noFill/>
          <a:ln/>
        </p:spPr>
        <p:txBody>
          <a:bodyPr wrap="square" lIns="0" tIns="0" rIns="0" bIns="0" rtlCol="0" anchor="ctr"/>
          <a:lstStyle/>
          <a:p>
            <a:pPr indent="0" marL="0">
              <a:buNone/>
            </a:pPr>
            <a:r>
              <a:rPr lang="en-US" sz="1100" b="1" spc="200" kern="0" dirty="0">
                <a:solidFill>
                  <a:srgbClr val="8B6FC0"/>
                </a:solidFill>
                <a:latin typeface="Calibri" pitchFamily="34" charset="0"/>
                <a:ea typeface="Calibri" pitchFamily="34" charset="-122"/>
                <a:cs typeface="Calibri" pitchFamily="34" charset="-120"/>
              </a:rPr>
              <a:t>📓 REFLECT IN YOUR READING JOURNAL</a:t>
            </a:r>
            <a:endParaRPr lang="en-US" sz="1100" dirty="0"/>
          </a:p>
        </p:txBody>
      </p:sp>
      <p:sp>
        <p:nvSpPr>
          <p:cNvPr id="6" name="Shape 4"/>
          <p:cNvSpPr/>
          <p:nvPr/>
        </p:nvSpPr>
        <p:spPr>
          <a:xfrm>
            <a:off x="365760" y="1371600"/>
            <a:ext cx="8412480" cy="1463040"/>
          </a:xfrm>
          <a:prstGeom prst="roundRect">
            <a:avLst>
              <a:gd name="adj" fmla="val 6250"/>
            </a:avLst>
          </a:prstGeom>
          <a:solidFill>
            <a:srgbClr val="F0E8FF"/>
          </a:solidFill>
          <a:ln/>
          <a:effectLst>
            <a:outerShdw sx="100000" sy="100000" kx="0" ky="0" algn="bl" rotWithShape="0" blurRad="101600" dist="38100" dir="2700000">
              <a:srgbClr val="000000">
                <a:alpha val="12000"/>
              </a:srgbClr>
            </a:outerShdw>
          </a:effectLst>
        </p:spPr>
      </p:sp>
      <p:sp>
        <p:nvSpPr>
          <p:cNvPr id="7" name="Text 5"/>
          <p:cNvSpPr/>
          <p:nvPr/>
        </p:nvSpPr>
        <p:spPr>
          <a:xfrm>
            <a:off x="548640" y="1463040"/>
            <a:ext cx="8046720" cy="1280160"/>
          </a:xfrm>
          <a:prstGeom prst="rect">
            <a:avLst/>
          </a:prstGeom>
          <a:noFill/>
          <a:ln/>
        </p:spPr>
        <p:txBody>
          <a:bodyPr wrap="square" lIns="0" tIns="0" rIns="0" bIns="0" rtlCol="0" anchor="t"/>
          <a:lstStyle/>
          <a:p>
            <a:pPr indent="0" marL="0">
              <a:buNone/>
            </a:pPr>
            <a:r>
              <a:rPr lang="en-US" sz="1250" i="1" dirty="0">
                <a:solidFill>
                  <a:srgbClr val="1E293B"/>
                </a:solidFill>
                <a:latin typeface="Calibri" pitchFamily="34" charset="0"/>
                <a:ea typeface="Calibri" pitchFamily="34" charset="-122"/>
                <a:cs typeface="Calibri" pitchFamily="34" charset="-120"/>
              </a:rPr>
              <a:t>A classmate asks: “When do I use which vs. that in a relative clause?” Write a clear explanation with one example of each from this week’s novel content.</a:t>
            </a:r>
            <a:endParaRPr lang="en-US" sz="12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E5F7FC"/>
        </a:solidFill>
      </p:bgPr>
    </p:bg>
    <p:spTree>
      <p:nvGrpSpPr>
        <p:cNvPr id="1" name=""/>
        <p:cNvGrpSpPr/>
        <p:nvPr/>
      </p:nvGrpSpPr>
      <p:grpSpPr>
        <a:xfrm>
          <a:off x="0" y="0"/>
          <a:ext cx="0" cy="0"/>
          <a:chOff x="0" y="0"/>
          <a:chExt cx="0" cy="0"/>
        </a:xfrm>
      </p:grpSpPr>
      <p:sp>
        <p:nvSpPr>
          <p:cNvPr id="2" name="Text 0"/>
          <p:cNvSpPr/>
          <p:nvPr/>
        </p:nvSpPr>
        <p:spPr>
          <a:xfrm>
            <a:off x="365760" y="164592"/>
            <a:ext cx="5943600" cy="566928"/>
          </a:xfrm>
          <a:prstGeom prst="rect">
            <a:avLst/>
          </a:prstGeom>
          <a:noFill/>
          <a:ln/>
        </p:spPr>
        <p:txBody>
          <a:bodyPr wrap="square" lIns="0" tIns="0" rIns="0" bIns="0" rtlCol="0" anchor="ctr"/>
          <a:lstStyle/>
          <a:p>
            <a:pPr algn="l" indent="0" marL="0">
              <a:buNone/>
            </a:pPr>
            <a:r>
              <a:rPr lang="en-US" sz="2600" b="1" dirty="0">
                <a:solidFill>
                  <a:srgbClr val="0E1C42"/>
                </a:solidFill>
                <a:latin typeface="Calibri" pitchFamily="34" charset="0"/>
                <a:ea typeface="Calibri" pitchFamily="34" charset="-122"/>
                <a:cs typeface="Calibri" pitchFamily="34" charset="-120"/>
              </a:rPr>
              <a:t>🔤 Spelling — 🔤 Spelling: Explain Assimilated Prefixes</a:t>
            </a:r>
            <a:endParaRPr lang="en-US" sz="2600" dirty="0"/>
          </a:p>
        </p:txBody>
      </p:sp>
      <p:sp>
        <p:nvSpPr>
          <p:cNvPr id="3" name="Shape 1"/>
          <p:cNvSpPr/>
          <p:nvPr/>
        </p:nvSpPr>
        <p:spPr>
          <a:xfrm>
            <a:off x="365760" y="749808"/>
            <a:ext cx="8412480" cy="0"/>
          </a:xfrm>
          <a:prstGeom prst="line">
            <a:avLst/>
          </a:prstGeom>
          <a:noFill/>
          <a:ln w="19050">
            <a:solidFill>
              <a:srgbClr val="55C8E8"/>
            </a:solidFill>
            <a:prstDash val="solid"/>
          </a:ln>
        </p:spPr>
      </p:sp>
      <p:sp>
        <p:nvSpPr>
          <p:cNvPr id="4" name="Shape 2"/>
          <p:cNvSpPr/>
          <p:nvPr/>
        </p:nvSpPr>
        <p:spPr>
          <a:xfrm>
            <a:off x="6492240" y="173736"/>
            <a:ext cx="2286000" cy="502920"/>
          </a:xfrm>
          <a:prstGeom prst="roundRect">
            <a:avLst>
              <a:gd name="adj" fmla="val 21818"/>
            </a:avLst>
          </a:prstGeom>
          <a:solidFill>
            <a:srgbClr val="55C8E8"/>
          </a:solidFill>
          <a:ln/>
        </p:spPr>
      </p:sp>
      <p:sp>
        <p:nvSpPr>
          <p:cNvPr id="5" name="Text 3"/>
          <p:cNvSpPr/>
          <p:nvPr/>
        </p:nvSpPr>
        <p:spPr>
          <a:xfrm>
            <a:off x="6492240" y="173736"/>
            <a:ext cx="2286000" cy="502920"/>
          </a:xfrm>
          <a:prstGeom prst="rect">
            <a:avLst/>
          </a:prstGeom>
          <a:noFill/>
          <a:ln/>
        </p:spPr>
        <p:txBody>
          <a:bodyPr wrap="square" lIns="0" tIns="0" rIns="0" bIns="0" rtlCol="0" anchor="ctr"/>
          <a:lstStyle/>
          <a:p>
            <a:pPr algn="ctr" indent="0" marL="0">
              <a:buNone/>
            </a:pPr>
            <a:r>
              <a:rPr lang="en-US" sz="1100" b="1" dirty="0">
                <a:solidFill>
                  <a:srgbClr val="0E1C42"/>
                </a:solidFill>
                <a:latin typeface="Calibri" pitchFamily="34" charset="0"/>
                <a:ea typeface="Calibri" pitchFamily="34" charset="-122"/>
                <a:cs typeface="Calibri" pitchFamily="34" charset="-120"/>
              </a:rPr>
              <a:t>CHAT PROMPT</a:t>
            </a:r>
            <a:endParaRPr lang="en-US" sz="1100" dirty="0"/>
          </a:p>
        </p:txBody>
      </p:sp>
      <p:sp>
        <p:nvSpPr>
          <p:cNvPr id="6" name="Text 4"/>
          <p:cNvSpPr/>
          <p:nvPr/>
        </p:nvSpPr>
        <p:spPr>
          <a:xfrm>
            <a:off x="365760" y="822960"/>
            <a:ext cx="8046720" cy="292608"/>
          </a:xfrm>
          <a:prstGeom prst="rect">
            <a:avLst/>
          </a:prstGeom>
          <a:noFill/>
          <a:ln/>
        </p:spPr>
        <p:txBody>
          <a:bodyPr wrap="square" lIns="0" tIns="0" rIns="0" bIns="0" rtlCol="0" anchor="ctr"/>
          <a:lstStyle/>
          <a:p>
            <a:pPr indent="0" marL="0">
              <a:buNone/>
            </a:pPr>
            <a:r>
              <a:rPr lang="en-US" sz="1100" b="1" spc="200" kern="0" dirty="0">
                <a:solidFill>
                  <a:srgbClr val="0E1C42"/>
                </a:solidFill>
                <a:latin typeface="Calibri" pitchFamily="34" charset="0"/>
                <a:ea typeface="Calibri" pitchFamily="34" charset="-122"/>
                <a:cs typeface="Calibri" pitchFamily="34" charset="-120"/>
              </a:rPr>
              <a:t>Explain — why do prefixes change?</a:t>
            </a:r>
            <a:endParaRPr lang="en-US" sz="1100" dirty="0"/>
          </a:p>
        </p:txBody>
      </p:sp>
      <p:sp>
        <p:nvSpPr>
          <p:cNvPr id="7" name="Text 5"/>
          <p:cNvSpPr/>
          <p:nvPr/>
        </p:nvSpPr>
        <p:spPr>
          <a:xfrm>
            <a:off x="365760" y="1143000"/>
            <a:ext cx="8046720" cy="292608"/>
          </a:xfrm>
          <a:prstGeom prst="rect">
            <a:avLst/>
          </a:prstGeom>
          <a:noFill/>
          <a:ln/>
        </p:spPr>
        <p:txBody>
          <a:bodyPr wrap="square" lIns="0" tIns="0" rIns="0" bIns="0" rtlCol="0" anchor="ctr"/>
          <a:lstStyle/>
          <a:p>
            <a:pPr indent="0" marL="0">
              <a:buNone/>
            </a:pPr>
            <a:r>
              <a:rPr lang="en-US" sz="1100" b="1" spc="200" kern="0" dirty="0">
                <a:solidFill>
                  <a:srgbClr val="8B6FC0"/>
                </a:solidFill>
                <a:latin typeface="Calibri" pitchFamily="34" charset="0"/>
                <a:ea typeface="Calibri" pitchFamily="34" charset="-122"/>
                <a:cs typeface="Calibri" pitchFamily="34" charset="-120"/>
              </a:rPr>
              <a:t>📓 REFLECT IN YOUR READING JOURNAL</a:t>
            </a:r>
            <a:endParaRPr lang="en-US" sz="1100" dirty="0"/>
          </a:p>
        </p:txBody>
      </p:sp>
      <p:sp>
        <p:nvSpPr>
          <p:cNvPr id="8" name="Shape 6"/>
          <p:cNvSpPr/>
          <p:nvPr/>
        </p:nvSpPr>
        <p:spPr>
          <a:xfrm>
            <a:off x="365760" y="1417320"/>
            <a:ext cx="8412480" cy="1188720"/>
          </a:xfrm>
          <a:prstGeom prst="roundRect">
            <a:avLst>
              <a:gd name="adj" fmla="val 7692"/>
            </a:avLst>
          </a:prstGeom>
          <a:solidFill>
            <a:srgbClr val="F0E8FF"/>
          </a:solidFill>
          <a:ln/>
          <a:effectLst>
            <a:outerShdw sx="100000" sy="100000" kx="0" ky="0" algn="bl" rotWithShape="0" blurRad="101600" dist="38100" dir="2700000">
              <a:srgbClr val="000000">
                <a:alpha val="12000"/>
              </a:srgbClr>
            </a:outerShdw>
          </a:effectLst>
        </p:spPr>
      </p:sp>
      <p:sp>
        <p:nvSpPr>
          <p:cNvPr id="9" name="Text 7"/>
          <p:cNvSpPr/>
          <p:nvPr/>
        </p:nvSpPr>
        <p:spPr>
          <a:xfrm>
            <a:off x="548640" y="1508760"/>
            <a:ext cx="8046720" cy="1042416"/>
          </a:xfrm>
          <a:prstGeom prst="rect">
            <a:avLst/>
          </a:prstGeom>
          <a:noFill/>
          <a:ln/>
        </p:spPr>
        <p:txBody>
          <a:bodyPr wrap="square" lIns="0" tIns="0" rIns="0" bIns="0" rtlCol="0" anchor="t"/>
          <a:lstStyle/>
          <a:p>
            <a:pPr indent="0" marL="0">
              <a:buNone/>
            </a:pPr>
            <a:r>
              <a:rPr lang="en-US" sz="1200" i="1" dirty="0">
                <a:solidFill>
                  <a:srgbClr val="1E293B"/>
                </a:solidFill>
                <a:latin typeface="Calibri" pitchFamily="34" charset="0"/>
                <a:ea typeface="Calibri" pitchFamily="34" charset="-122"/>
                <a:cs typeface="Calibri" pitchFamily="34" charset="-120"/>
              </a:rPr>
              <a:t>In your reading journal: explain WHY prefixes assimilate. What phonological reason causes sub- to become sup- in support ? Then give two more examples of words where this assimilation happens.</a:t>
            </a:r>
            <a:endParaRPr lang="en-US" sz="12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E5F7FC"/>
        </a:solidFill>
      </p:bgPr>
    </p:bg>
    <p:spTree>
      <p:nvGrpSpPr>
        <p:cNvPr id="1" name=""/>
        <p:cNvGrpSpPr/>
        <p:nvPr/>
      </p:nvGrpSpPr>
      <p:grpSpPr>
        <a:xfrm>
          <a:off x="0" y="0"/>
          <a:ext cx="0" cy="0"/>
          <a:chOff x="0" y="0"/>
          <a:chExt cx="0" cy="0"/>
        </a:xfrm>
      </p:grpSpPr>
      <p:sp>
        <p:nvSpPr>
          <p:cNvPr id="2" name="Text 0"/>
          <p:cNvSpPr/>
          <p:nvPr/>
        </p:nvSpPr>
        <p:spPr>
          <a:xfrm>
            <a:off x="365760" y="164592"/>
            <a:ext cx="5943600" cy="566928"/>
          </a:xfrm>
          <a:prstGeom prst="rect">
            <a:avLst/>
          </a:prstGeom>
          <a:noFill/>
          <a:ln/>
        </p:spPr>
        <p:txBody>
          <a:bodyPr wrap="square" lIns="0" tIns="0" rIns="0" bIns="0" rtlCol="0" anchor="ctr"/>
          <a:lstStyle/>
          <a:p>
            <a:pPr algn="l" indent="0" marL="0">
              <a:buNone/>
            </a:pPr>
            <a:r>
              <a:rPr lang="en-US" sz="2600" b="1" dirty="0">
                <a:solidFill>
                  <a:srgbClr val="0E1C42"/>
                </a:solidFill>
                <a:latin typeface="Calibri" pitchFamily="34" charset="0"/>
                <a:ea typeface="Calibri" pitchFamily="34" charset="-122"/>
                <a:cs typeface="Calibri" pitchFamily="34" charset="-120"/>
              </a:rPr>
              <a:t>📖 Reading Focus + Story Journey</a:t>
            </a:r>
            <a:endParaRPr lang="en-US" sz="2600" dirty="0"/>
          </a:p>
        </p:txBody>
      </p:sp>
      <p:sp>
        <p:nvSpPr>
          <p:cNvPr id="3" name="Shape 1"/>
          <p:cNvSpPr/>
          <p:nvPr/>
        </p:nvSpPr>
        <p:spPr>
          <a:xfrm>
            <a:off x="365760" y="749808"/>
            <a:ext cx="8412480" cy="0"/>
          </a:xfrm>
          <a:prstGeom prst="line">
            <a:avLst/>
          </a:prstGeom>
          <a:noFill/>
          <a:ln w="19050">
            <a:solidFill>
              <a:srgbClr val="55C8E8"/>
            </a:solidFill>
            <a:prstDash val="solid"/>
          </a:ln>
        </p:spPr>
      </p:sp>
      <p:sp>
        <p:nvSpPr>
          <p:cNvPr id="4" name="Shape 2"/>
          <p:cNvSpPr/>
          <p:nvPr/>
        </p:nvSpPr>
        <p:spPr>
          <a:xfrm>
            <a:off x="6492240" y="173736"/>
            <a:ext cx="2286000" cy="502920"/>
          </a:xfrm>
          <a:prstGeom prst="roundRect">
            <a:avLst>
              <a:gd name="adj" fmla="val 21818"/>
            </a:avLst>
          </a:prstGeom>
          <a:solidFill>
            <a:srgbClr val="55C8E8"/>
          </a:solidFill>
          <a:ln/>
        </p:spPr>
      </p:sp>
      <p:sp>
        <p:nvSpPr>
          <p:cNvPr id="5" name="Text 3"/>
          <p:cNvSpPr/>
          <p:nvPr/>
        </p:nvSpPr>
        <p:spPr>
          <a:xfrm>
            <a:off x="6492240" y="173736"/>
            <a:ext cx="2286000" cy="502920"/>
          </a:xfrm>
          <a:prstGeom prst="rect">
            <a:avLst/>
          </a:prstGeom>
          <a:noFill/>
          <a:ln/>
        </p:spPr>
        <p:txBody>
          <a:bodyPr wrap="square" lIns="0" tIns="0" rIns="0" bIns="0" rtlCol="0" anchor="ctr"/>
          <a:lstStyle/>
          <a:p>
            <a:pPr algn="ctr" indent="0" marL="0">
              <a:buNone/>
            </a:pPr>
            <a:r>
              <a:rPr lang="en-US" sz="1100" b="1" dirty="0">
                <a:solidFill>
                  <a:srgbClr val="0E1C42"/>
                </a:solidFill>
                <a:latin typeface="Calibri" pitchFamily="34" charset="0"/>
                <a:ea typeface="Calibri" pitchFamily="34" charset="-122"/>
                <a:cs typeface="Calibri" pitchFamily="34" charset="-120"/>
              </a:rPr>
              <a:t>CHAT PROMPT</a:t>
            </a:r>
            <a:endParaRPr lang="en-US" sz="1100" dirty="0"/>
          </a:p>
        </p:txBody>
      </p:sp>
      <p:sp>
        <p:nvSpPr>
          <p:cNvPr id="6" name="Text 4"/>
          <p:cNvSpPr/>
          <p:nvPr/>
        </p:nvSpPr>
        <p:spPr>
          <a:xfrm>
            <a:off x="365760" y="822960"/>
            <a:ext cx="8046720" cy="292608"/>
          </a:xfrm>
          <a:prstGeom prst="rect">
            <a:avLst/>
          </a:prstGeom>
          <a:noFill/>
          <a:ln/>
        </p:spPr>
        <p:txBody>
          <a:bodyPr wrap="square" lIns="0" tIns="0" rIns="0" bIns="0" rtlCol="0" anchor="ctr"/>
          <a:lstStyle/>
          <a:p>
            <a:pPr indent="0" marL="0">
              <a:buNone/>
            </a:pPr>
            <a:r>
              <a:rPr lang="en-US" sz="1100" b="1" spc="200" kern="0" dirty="0">
                <a:solidFill>
                  <a:srgbClr val="64748B"/>
                </a:solidFill>
                <a:latin typeface="Calibri" pitchFamily="34" charset="0"/>
                <a:ea typeface="Calibri" pitchFamily="34" charset="-122"/>
                <a:cs typeface="Calibri" pitchFamily="34" charset="-120"/>
              </a:rPr>
              <a:t>YOUR STORY JOURNEY</a:t>
            </a:r>
            <a:endParaRPr lang="en-US" sz="1100" dirty="0"/>
          </a:p>
        </p:txBody>
      </p:sp>
      <p:sp>
        <p:nvSpPr>
          <p:cNvPr id="7" name="Shape 5"/>
          <p:cNvSpPr/>
          <p:nvPr/>
        </p:nvSpPr>
        <p:spPr>
          <a:xfrm>
            <a:off x="365760" y="1078992"/>
            <a:ext cx="8412480" cy="777240"/>
          </a:xfrm>
          <a:prstGeom prst="roundRect">
            <a:avLst>
              <a:gd name="adj" fmla="val 11765"/>
            </a:avLst>
          </a:prstGeom>
          <a:solidFill>
            <a:srgbClr val="F8FAFC"/>
          </a:solidFill>
          <a:ln/>
          <a:effectLst>
            <a:outerShdw sx="100000" sy="100000" kx="0" ky="0" algn="bl" rotWithShape="0" blurRad="101600" dist="38100" dir="2700000">
              <a:srgbClr val="000000">
                <a:alpha val="12000"/>
              </a:srgbClr>
            </a:outerShdw>
          </a:effectLst>
        </p:spPr>
      </p:sp>
      <p:sp>
        <p:nvSpPr>
          <p:cNvPr id="8" name="Text 6"/>
          <p:cNvSpPr/>
          <p:nvPr/>
        </p:nvSpPr>
        <p:spPr>
          <a:xfrm>
            <a:off x="594360" y="1170432"/>
            <a:ext cx="7955280" cy="594360"/>
          </a:xfrm>
          <a:prstGeom prst="rect">
            <a:avLst/>
          </a:prstGeom>
          <a:noFill/>
          <a:ln/>
        </p:spPr>
        <p:txBody>
          <a:bodyPr wrap="square" lIns="0" tIns="0" rIns="0" bIns="0" rtlCol="0" anchor="ctr"/>
          <a:lstStyle/>
          <a:p>
            <a:pPr indent="0" marL="0">
              <a:buNone/>
            </a:pPr>
            <a:r>
              <a:rPr lang="en-US" sz="1250" b="1" dirty="0">
                <a:solidFill>
                  <a:srgbClr val="1E293B"/>
                </a:solidFill>
                <a:latin typeface="Calibri" pitchFamily="34" charset="0"/>
                <a:ea typeface="Calibri" pitchFamily="34" charset="-122"/>
                <a:cs typeface="Calibri" pitchFamily="34" charset="-120"/>
              </a:rPr>
              <a:t>Six Weeks with Carry On, Mr. Bowditch — 📍 You are here: Week 13 — Chapter 20 — Book Sailing</a:t>
            </a:r>
            <a:endParaRPr lang="en-US" sz="1250" dirty="0"/>
          </a:p>
        </p:txBody>
      </p:sp>
      <p:sp>
        <p:nvSpPr>
          <p:cNvPr id="9" name="Text 7"/>
          <p:cNvSpPr/>
          <p:nvPr/>
        </p:nvSpPr>
        <p:spPr>
          <a:xfrm>
            <a:off x="365760" y="1975104"/>
            <a:ext cx="8046720" cy="292608"/>
          </a:xfrm>
          <a:prstGeom prst="rect">
            <a:avLst/>
          </a:prstGeom>
          <a:noFill/>
          <a:ln/>
        </p:spPr>
        <p:txBody>
          <a:bodyPr wrap="square" lIns="0" tIns="0" rIns="0" bIns="0" rtlCol="0" anchor="ctr"/>
          <a:lstStyle/>
          <a:p>
            <a:pPr indent="0" marL="0">
              <a:buNone/>
            </a:pPr>
            <a:r>
              <a:rPr lang="en-US" sz="1100" b="1" spc="200" kern="0" dirty="0">
                <a:solidFill>
                  <a:srgbClr val="55C8E8"/>
                </a:solidFill>
                <a:latin typeface="Calibri" pitchFamily="34" charset="0"/>
                <a:ea typeface="Calibri" pitchFamily="34" charset="-122"/>
                <a:cs typeface="Calibri" pitchFamily="34" charset="-120"/>
              </a:rPr>
              <a:t>TODAY YOU ARE READING</a:t>
            </a:r>
            <a:endParaRPr lang="en-US" sz="1100" dirty="0"/>
          </a:p>
        </p:txBody>
      </p:sp>
      <p:sp>
        <p:nvSpPr>
          <p:cNvPr id="10" name="Shape 8"/>
          <p:cNvSpPr/>
          <p:nvPr/>
        </p:nvSpPr>
        <p:spPr>
          <a:xfrm>
            <a:off x="365760" y="2231136"/>
            <a:ext cx="8412480" cy="640080"/>
          </a:xfrm>
          <a:prstGeom prst="roundRect">
            <a:avLst>
              <a:gd name="adj" fmla="val 14286"/>
            </a:avLst>
          </a:prstGeom>
          <a:solidFill>
            <a:srgbClr val="FEF6E8"/>
          </a:solidFill>
          <a:ln/>
          <a:effectLst>
            <a:outerShdw sx="100000" sy="100000" kx="0" ky="0" algn="bl" rotWithShape="0" blurRad="101600" dist="38100" dir="2700000">
              <a:srgbClr val="000000">
                <a:alpha val="12000"/>
              </a:srgbClr>
            </a:outerShdw>
          </a:effectLst>
        </p:spPr>
      </p:sp>
      <p:sp>
        <p:nvSpPr>
          <p:cNvPr id="11" name="Text 9"/>
          <p:cNvSpPr/>
          <p:nvPr/>
        </p:nvSpPr>
        <p:spPr>
          <a:xfrm>
            <a:off x="594360" y="2304288"/>
            <a:ext cx="7955280" cy="493776"/>
          </a:xfrm>
          <a:prstGeom prst="rect">
            <a:avLst/>
          </a:prstGeom>
          <a:noFill/>
          <a:ln/>
        </p:spPr>
        <p:txBody>
          <a:bodyPr wrap="square" lIns="0" tIns="0" rIns="0" bIns="0" rtlCol="0" anchor="ctr"/>
          <a:lstStyle/>
          <a:p>
            <a:pPr indent="0" marL="0">
              <a:buNone/>
            </a:pPr>
            <a:r>
              <a:rPr lang="en-US" sz="1500" b="1" dirty="0">
                <a:solidFill>
                  <a:srgbClr val="0E1C42"/>
                </a:solidFill>
                <a:latin typeface="Calibri" pitchFamily="34" charset="0"/>
                <a:ea typeface="Calibri" pitchFamily="34" charset="-122"/>
                <a:cs typeface="Calibri" pitchFamily="34" charset="-120"/>
              </a:rPr>
              <a:t>Chapter 20 — Book Sailing</a:t>
            </a:r>
            <a:endParaRPr lang="en-US" sz="1500" dirty="0"/>
          </a:p>
        </p:txBody>
      </p:sp>
      <p:sp>
        <p:nvSpPr>
          <p:cNvPr id="12" name="Text 10"/>
          <p:cNvSpPr/>
          <p:nvPr/>
        </p:nvSpPr>
        <p:spPr>
          <a:xfrm>
            <a:off x="365760" y="2999232"/>
            <a:ext cx="8046720" cy="292608"/>
          </a:xfrm>
          <a:prstGeom prst="rect">
            <a:avLst/>
          </a:prstGeom>
          <a:noFill/>
          <a:ln/>
        </p:spPr>
        <p:txBody>
          <a:bodyPr wrap="square" lIns="0" tIns="0" rIns="0" bIns="0" rtlCol="0" anchor="ctr"/>
          <a:lstStyle/>
          <a:p>
            <a:pPr indent="0" marL="0">
              <a:buNone/>
            </a:pPr>
            <a:r>
              <a:rPr lang="en-US" sz="1100" b="1" spc="200" kern="0" dirty="0">
                <a:solidFill>
                  <a:srgbClr val="8B6FC0"/>
                </a:solidFill>
                <a:latin typeface="Calibri" pitchFamily="34" charset="0"/>
                <a:ea typeface="Calibri" pitchFamily="34" charset="-122"/>
                <a:cs typeface="Calibri" pitchFamily="34" charset="-120"/>
              </a:rPr>
              <a:t>🧠 KEEP YOUR READING LENS IN MIND</a:t>
            </a:r>
            <a:endParaRPr lang="en-US" sz="1100" dirty="0"/>
          </a:p>
        </p:txBody>
      </p:sp>
      <p:sp>
        <p:nvSpPr>
          <p:cNvPr id="13" name="Shape 11"/>
          <p:cNvSpPr/>
          <p:nvPr/>
        </p:nvSpPr>
        <p:spPr>
          <a:xfrm>
            <a:off x="365760" y="3255264"/>
            <a:ext cx="8412480" cy="1280160"/>
          </a:xfrm>
          <a:prstGeom prst="roundRect">
            <a:avLst>
              <a:gd name="adj" fmla="val 7143"/>
            </a:avLst>
          </a:prstGeom>
          <a:solidFill>
            <a:srgbClr val="F0E8FF"/>
          </a:solidFill>
          <a:ln/>
          <a:effectLst>
            <a:outerShdw sx="100000" sy="100000" kx="0" ky="0" algn="bl" rotWithShape="0" blurRad="101600" dist="38100" dir="2700000">
              <a:srgbClr val="000000">
                <a:alpha val="12000"/>
              </a:srgbClr>
            </a:outerShdw>
          </a:effectLst>
        </p:spPr>
      </p:sp>
      <p:sp>
        <p:nvSpPr>
          <p:cNvPr id="14" name="Text 12"/>
          <p:cNvSpPr/>
          <p:nvPr/>
        </p:nvSpPr>
        <p:spPr>
          <a:xfrm>
            <a:off x="594360" y="3346704"/>
            <a:ext cx="7955280" cy="1097280"/>
          </a:xfrm>
          <a:prstGeom prst="rect">
            <a:avLst/>
          </a:prstGeom>
          <a:noFill/>
          <a:ln/>
        </p:spPr>
        <p:txBody>
          <a:bodyPr wrap="square" lIns="0" tIns="0" rIns="0" bIns="0" rtlCol="0" anchor="t"/>
          <a:lstStyle/>
          <a:p>
            <a:pPr indent="0" marL="0">
              <a:buNone/>
            </a:pPr>
            <a:r>
              <a:rPr lang="en-US" sz="1200" i="1" dirty="0">
                <a:solidFill>
                  <a:srgbClr val="1E293B"/>
                </a:solidFill>
                <a:latin typeface="Calibri" pitchFamily="34" charset="0"/>
                <a:ea typeface="Calibri" pitchFamily="34" charset="-122"/>
                <a:cs typeface="Calibri" pitchFamily="34" charset="-120"/>
              </a:rPr>
              <a:t>“Book Sailing” is a metaphor. What two things does it connect? What does it suggest about Nat’s philosophy?</a:t>
            </a:r>
            <a:endParaRPr lang="en-US" sz="1200" dirty="0"/>
          </a:p>
          <a:p>
            <a:pPr indent="0" marL="0">
              <a:buNone/>
            </a:pPr>
            <a:endParaRPr lang="en-US" sz="1200" dirty="0"/>
          </a:p>
          <a:p>
            <a:pPr indent="0" marL="0">
              <a:buNone/>
            </a:pPr>
            <a:r>
              <a:rPr lang="en-US" sz="1200" i="1" dirty="0">
                <a:solidFill>
                  <a:srgbClr val="1E293B"/>
                </a:solidFill>
                <a:latin typeface="Calibri" pitchFamily="34" charset="0"/>
                <a:ea typeface="Calibri" pitchFamily="34" charset="-122"/>
                <a:cs typeface="Calibri" pitchFamily="34" charset="-120"/>
              </a:rPr>
              <a:t>Chapter 20 closes the arc of Chs. 17–20. Look back: Lunars and Moonlight → The Astrea to the Rescue → Strange Sailing Orders → Book Sailing. What story have these four chapters told together?</a:t>
            </a:r>
            <a:endParaRPr lang="en-US" sz="12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164592"/>
            <a:ext cx="8412480" cy="566928"/>
          </a:xfrm>
          <a:prstGeom prst="rect">
            <a:avLst/>
          </a:prstGeom>
          <a:noFill/>
          <a:ln/>
        </p:spPr>
        <p:txBody>
          <a:bodyPr wrap="square" lIns="0" tIns="0" rIns="0" bIns="0" rtlCol="0" anchor="ctr"/>
          <a:lstStyle/>
          <a:p>
            <a:pPr algn="l" indent="0" marL="0">
              <a:buNone/>
            </a:pPr>
            <a:r>
              <a:rPr lang="en-US" sz="2600" b="1" dirty="0">
                <a:solidFill>
                  <a:srgbClr val="0E1C42"/>
                </a:solidFill>
                <a:latin typeface="Calibri" pitchFamily="34" charset="0"/>
                <a:ea typeface="Calibri" pitchFamily="34" charset="-122"/>
                <a:cs typeface="Calibri" pitchFamily="34" charset="-120"/>
              </a:rPr>
              <a:t>Comprehension Questions — Preview</a:t>
            </a:r>
            <a:endParaRPr lang="en-US" sz="2600" dirty="0"/>
          </a:p>
        </p:txBody>
      </p:sp>
      <p:sp>
        <p:nvSpPr>
          <p:cNvPr id="3" name="Shape 1"/>
          <p:cNvSpPr/>
          <p:nvPr/>
        </p:nvSpPr>
        <p:spPr>
          <a:xfrm>
            <a:off x="365760" y="749808"/>
            <a:ext cx="8412480" cy="0"/>
          </a:xfrm>
          <a:prstGeom prst="line">
            <a:avLst/>
          </a:prstGeom>
          <a:noFill/>
          <a:ln w="19050">
            <a:solidFill>
              <a:srgbClr val="55C8E8"/>
            </a:solidFill>
            <a:prstDash val="solid"/>
          </a:ln>
        </p:spPr>
      </p:sp>
      <p:sp>
        <p:nvSpPr>
          <p:cNvPr id="4" name="Text 2"/>
          <p:cNvSpPr/>
          <p:nvPr/>
        </p:nvSpPr>
        <p:spPr>
          <a:xfrm>
            <a:off x="365760" y="822960"/>
            <a:ext cx="8046720" cy="292608"/>
          </a:xfrm>
          <a:prstGeom prst="rect">
            <a:avLst/>
          </a:prstGeom>
          <a:noFill/>
          <a:ln/>
        </p:spPr>
        <p:txBody>
          <a:bodyPr wrap="square" lIns="0" tIns="0" rIns="0" bIns="0" rtlCol="0" anchor="ctr"/>
          <a:lstStyle/>
          <a:p>
            <a:pPr indent="0" marL="0">
              <a:buNone/>
            </a:pPr>
            <a:r>
              <a:rPr lang="en-US" sz="1100" b="1" spc="200" kern="0" dirty="0">
                <a:solidFill>
                  <a:srgbClr val="64748B"/>
                </a:solidFill>
                <a:latin typeface="Calibri" pitchFamily="34" charset="0"/>
                <a:ea typeface="Calibri" pitchFamily="34" charset="-122"/>
                <a:cs typeface="Calibri" pitchFamily="34" charset="-120"/>
              </a:rPr>
              <a:t>WHAT YOU'LL ANSWER (PART A)</a:t>
            </a:r>
            <a:endParaRPr lang="en-US" sz="1100" dirty="0"/>
          </a:p>
        </p:txBody>
      </p:sp>
      <p:sp>
        <p:nvSpPr>
          <p:cNvPr id="5" name="Shape 3"/>
          <p:cNvSpPr/>
          <p:nvPr/>
        </p:nvSpPr>
        <p:spPr>
          <a:xfrm>
            <a:off x="365760" y="1097280"/>
            <a:ext cx="8412480" cy="914400"/>
          </a:xfrm>
          <a:prstGeom prst="roundRect">
            <a:avLst>
              <a:gd name="adj" fmla="val 10000"/>
            </a:avLst>
          </a:prstGeom>
          <a:solidFill>
            <a:srgbClr val="F8FAFC"/>
          </a:solidFill>
          <a:ln/>
          <a:effectLst>
            <a:outerShdw sx="100000" sy="100000" kx="0" ky="0" algn="bl" rotWithShape="0" blurRad="101600" dist="38100" dir="2700000">
              <a:srgbClr val="000000">
                <a:alpha val="12000"/>
              </a:srgbClr>
            </a:outerShdw>
          </a:effectLst>
        </p:spPr>
      </p:sp>
      <p:sp>
        <p:nvSpPr>
          <p:cNvPr id="6" name="Text 4"/>
          <p:cNvSpPr/>
          <p:nvPr/>
        </p:nvSpPr>
        <p:spPr>
          <a:xfrm>
            <a:off x="548640" y="1170432"/>
            <a:ext cx="8046720" cy="768096"/>
          </a:xfrm>
          <a:prstGeom prst="rect">
            <a:avLst/>
          </a:prstGeom>
          <a:noFill/>
          <a:ln/>
        </p:spPr>
        <p:txBody>
          <a:bodyPr wrap="square" lIns="0" tIns="0" rIns="0" bIns="0" rtlCol="0" anchor="ctr"/>
          <a:lstStyle/>
          <a:p>
            <a:pPr indent="0" marL="0">
              <a:buNone/>
            </a:pPr>
            <a:r>
              <a:rPr lang="en-US" sz="1300" b="1" dirty="0">
                <a:solidFill>
                  <a:srgbClr val="55C8E8"/>
                </a:solidFill>
                <a:latin typeface="Calibri" pitchFamily="34" charset="0"/>
                <a:ea typeface="Calibri" pitchFamily="34" charset="-122"/>
                <a:cs typeface="Calibri" pitchFamily="34" charset="-120"/>
              </a:rPr>
              <a:t>1.  </a:t>
            </a:r>
            <a:pPr indent="0" marL="0">
              <a:buNone/>
            </a:pPr>
            <a:r>
              <a:rPr lang="en-US" sz="1150" dirty="0">
                <a:solidFill>
                  <a:srgbClr val="1E293B"/>
                </a:solidFill>
                <a:latin typeface="Calibri" pitchFamily="34" charset="0"/>
                <a:ea typeface="Calibri" pitchFamily="34" charset="-122"/>
                <a:cs typeface="Calibri" pitchFamily="34" charset="-120"/>
              </a:rPr>
              <a:t>The title “Book Sailing” is itself figurative language. Explain the metaphor: what two things does it connect, and what does this metaphor reveal about Nat’s philosophy about knowledge and action?</a:t>
            </a:r>
            <a:endParaRPr lang="en-US" sz="1300" dirty="0"/>
          </a:p>
        </p:txBody>
      </p:sp>
      <p:sp>
        <p:nvSpPr>
          <p:cNvPr id="7" name="Shape 5"/>
          <p:cNvSpPr/>
          <p:nvPr/>
        </p:nvSpPr>
        <p:spPr>
          <a:xfrm>
            <a:off x="365760" y="2084832"/>
            <a:ext cx="8412480" cy="914400"/>
          </a:xfrm>
          <a:prstGeom prst="roundRect">
            <a:avLst>
              <a:gd name="adj" fmla="val 10000"/>
            </a:avLst>
          </a:prstGeom>
          <a:solidFill>
            <a:srgbClr val="F4F7FC"/>
          </a:solidFill>
          <a:ln/>
          <a:effectLst>
            <a:outerShdw sx="100000" sy="100000" kx="0" ky="0" algn="bl" rotWithShape="0" blurRad="101600" dist="38100" dir="2700000">
              <a:srgbClr val="000000">
                <a:alpha val="12000"/>
              </a:srgbClr>
            </a:outerShdw>
          </a:effectLst>
        </p:spPr>
      </p:sp>
      <p:sp>
        <p:nvSpPr>
          <p:cNvPr id="8" name="Text 6"/>
          <p:cNvSpPr/>
          <p:nvPr/>
        </p:nvSpPr>
        <p:spPr>
          <a:xfrm>
            <a:off x="548640" y="2157984"/>
            <a:ext cx="8046720" cy="768096"/>
          </a:xfrm>
          <a:prstGeom prst="rect">
            <a:avLst/>
          </a:prstGeom>
          <a:noFill/>
          <a:ln/>
        </p:spPr>
        <p:txBody>
          <a:bodyPr wrap="square" lIns="0" tIns="0" rIns="0" bIns="0" rtlCol="0" anchor="ctr"/>
          <a:lstStyle/>
          <a:p>
            <a:pPr indent="0" marL="0">
              <a:buNone/>
            </a:pPr>
            <a:r>
              <a:rPr lang="en-US" sz="1300" b="1" dirty="0">
                <a:solidFill>
                  <a:srgbClr val="55C8E8"/>
                </a:solidFill>
                <a:latin typeface="Calibri" pitchFamily="34" charset="0"/>
                <a:ea typeface="Calibri" pitchFamily="34" charset="-122"/>
                <a:cs typeface="Calibri" pitchFamily="34" charset="-120"/>
              </a:rPr>
              <a:t>2.  </a:t>
            </a:r>
            <a:pPr indent="0" marL="0">
              <a:buNone/>
            </a:pPr>
            <a:r>
              <a:rPr lang="en-US" sz="1150" dirty="0">
                <a:solidFill>
                  <a:srgbClr val="1E293B"/>
                </a:solidFill>
                <a:latin typeface="Calibri" pitchFamily="34" charset="0"/>
                <a:ea typeface="Calibri" pitchFamily="34" charset="-122"/>
                <a:cs typeface="Calibri" pitchFamily="34" charset="-120"/>
              </a:rPr>
              <a:t>Chapter 20 shows Nat beginning the work that will become the American Practical Navigator. How does Latham use figurative language in this chapter to convey the significance of Nat’s act of writing? What does writing represent in this chapter?</a:t>
            </a:r>
            <a:endParaRPr lang="en-US" sz="1300" dirty="0"/>
          </a:p>
        </p:txBody>
      </p:sp>
      <p:sp>
        <p:nvSpPr>
          <p:cNvPr id="9" name="Shape 7"/>
          <p:cNvSpPr/>
          <p:nvPr/>
        </p:nvSpPr>
        <p:spPr>
          <a:xfrm>
            <a:off x="365760" y="3072384"/>
            <a:ext cx="8412480" cy="914400"/>
          </a:xfrm>
          <a:prstGeom prst="roundRect">
            <a:avLst>
              <a:gd name="adj" fmla="val 10000"/>
            </a:avLst>
          </a:prstGeom>
          <a:solidFill>
            <a:srgbClr val="F8FAFC"/>
          </a:solidFill>
          <a:ln/>
          <a:effectLst>
            <a:outerShdw sx="100000" sy="100000" kx="0" ky="0" algn="bl" rotWithShape="0" blurRad="101600" dist="38100" dir="2700000">
              <a:srgbClr val="000000">
                <a:alpha val="12000"/>
              </a:srgbClr>
            </a:outerShdw>
          </a:effectLst>
        </p:spPr>
      </p:sp>
      <p:sp>
        <p:nvSpPr>
          <p:cNvPr id="10" name="Text 8"/>
          <p:cNvSpPr/>
          <p:nvPr/>
        </p:nvSpPr>
        <p:spPr>
          <a:xfrm>
            <a:off x="548640" y="3145536"/>
            <a:ext cx="8046720" cy="768096"/>
          </a:xfrm>
          <a:prstGeom prst="rect">
            <a:avLst/>
          </a:prstGeom>
          <a:noFill/>
          <a:ln/>
        </p:spPr>
        <p:txBody>
          <a:bodyPr wrap="square" lIns="0" tIns="0" rIns="0" bIns="0" rtlCol="0" anchor="ctr"/>
          <a:lstStyle/>
          <a:p>
            <a:pPr indent="0" marL="0">
              <a:buNone/>
            </a:pPr>
            <a:r>
              <a:rPr lang="en-US" sz="1300" b="1" dirty="0">
                <a:solidFill>
                  <a:srgbClr val="55C8E8"/>
                </a:solidFill>
                <a:latin typeface="Calibri" pitchFamily="34" charset="0"/>
                <a:ea typeface="Calibri" pitchFamily="34" charset="-122"/>
                <a:cs typeface="Calibri" pitchFamily="34" charset="-120"/>
              </a:rPr>
              <a:t>3.  </a:t>
            </a:r>
            <a:pPr indent="0" marL="0">
              <a:buNone/>
            </a:pPr>
            <a:r>
              <a:rPr lang="en-US" sz="1150" dirty="0">
                <a:solidFill>
                  <a:srgbClr val="1E293B"/>
                </a:solidFill>
                <a:latin typeface="Calibri" pitchFamily="34" charset="0"/>
                <a:ea typeface="Calibri" pitchFamily="34" charset="-122"/>
                <a:cs typeface="Calibri" pitchFamily="34" charset="-120"/>
              </a:rPr>
              <a:t>💡 Week Reflective Question (Chs. 17–20): The four chapter titles form an arc: Lunars and Moonlight → The Astrea to the Rescue → Strange Sailing Orders → Book Sailing. Explain how figurative language in each of these chapters contributes to the week’s overall theme. What is that theme? Use evidence from at least two chapters.</a:t>
            </a:r>
            <a:endParaRPr lang="en-US" sz="13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164592"/>
            <a:ext cx="8412480" cy="566928"/>
          </a:xfrm>
          <a:prstGeom prst="rect">
            <a:avLst/>
          </a:prstGeom>
          <a:noFill/>
          <a:ln/>
        </p:spPr>
        <p:txBody>
          <a:bodyPr wrap="square" lIns="0" tIns="0" rIns="0" bIns="0" rtlCol="0" anchor="ctr"/>
          <a:lstStyle/>
          <a:p>
            <a:pPr algn="l" indent="0" marL="0">
              <a:buNone/>
            </a:pPr>
            <a:r>
              <a:rPr lang="en-US" sz="2600" b="1" dirty="0">
                <a:solidFill>
                  <a:srgbClr val="0E1C42"/>
                </a:solidFill>
                <a:latin typeface="Calibri" pitchFamily="34" charset="0"/>
                <a:ea typeface="Calibri" pitchFamily="34" charset="-122"/>
                <a:cs typeface="Calibri" pitchFamily="34" charset="-120"/>
              </a:rPr>
              <a:t>✍️ Writing Connection — Research Essay</a:t>
            </a:r>
            <a:endParaRPr lang="en-US" sz="2600" dirty="0"/>
          </a:p>
        </p:txBody>
      </p:sp>
      <p:sp>
        <p:nvSpPr>
          <p:cNvPr id="3" name="Shape 1"/>
          <p:cNvSpPr/>
          <p:nvPr/>
        </p:nvSpPr>
        <p:spPr>
          <a:xfrm>
            <a:off x="365760" y="749808"/>
            <a:ext cx="8412480" cy="0"/>
          </a:xfrm>
          <a:prstGeom prst="line">
            <a:avLst/>
          </a:prstGeom>
          <a:noFill/>
          <a:ln w="19050">
            <a:solidFill>
              <a:srgbClr val="34B76F"/>
            </a:solidFill>
            <a:prstDash val="solid"/>
          </a:ln>
        </p:spPr>
      </p:sp>
      <p:sp>
        <p:nvSpPr>
          <p:cNvPr id="4" name="Text 2"/>
          <p:cNvSpPr/>
          <p:nvPr/>
        </p:nvSpPr>
        <p:spPr>
          <a:xfrm>
            <a:off x="365760" y="841248"/>
            <a:ext cx="8046720" cy="292608"/>
          </a:xfrm>
          <a:prstGeom prst="rect">
            <a:avLst/>
          </a:prstGeom>
          <a:noFill/>
          <a:ln/>
        </p:spPr>
        <p:txBody>
          <a:bodyPr wrap="square" lIns="0" tIns="0" rIns="0" bIns="0" rtlCol="0" anchor="ctr"/>
          <a:lstStyle/>
          <a:p>
            <a:pPr indent="0" marL="0">
              <a:buNone/>
            </a:pPr>
            <a:r>
              <a:rPr lang="en-US" sz="1100" b="1" spc="200" kern="0" dirty="0">
                <a:solidFill>
                  <a:srgbClr val="34B76F"/>
                </a:solidFill>
                <a:latin typeface="Calibri" pitchFamily="34" charset="0"/>
                <a:ea typeface="Calibri" pitchFamily="34" charset="-122"/>
                <a:cs typeface="Calibri" pitchFamily="34" charset="-120"/>
              </a:rPr>
              <a:t>STAGE: REVISE &amp; EDIT  ·  Final revision check before publishing</a:t>
            </a:r>
            <a:endParaRPr lang="en-US" sz="1100" dirty="0"/>
          </a:p>
        </p:txBody>
      </p:sp>
      <p:sp>
        <p:nvSpPr>
          <p:cNvPr id="5" name="Shape 3"/>
          <p:cNvSpPr/>
          <p:nvPr/>
        </p:nvSpPr>
        <p:spPr>
          <a:xfrm>
            <a:off x="365760" y="1097280"/>
            <a:ext cx="8412480" cy="548640"/>
          </a:xfrm>
          <a:prstGeom prst="roundRect">
            <a:avLst>
              <a:gd name="adj" fmla="val 16667"/>
            </a:avLst>
          </a:prstGeom>
          <a:solidFill>
            <a:srgbClr val="E8F8EF"/>
          </a:solidFill>
          <a:ln/>
          <a:effectLst>
            <a:outerShdw sx="100000" sy="100000" kx="0" ky="0" algn="bl" rotWithShape="0" blurRad="101600" dist="38100" dir="2700000">
              <a:srgbClr val="000000">
                <a:alpha val="12000"/>
              </a:srgbClr>
            </a:outerShdw>
          </a:effectLst>
        </p:spPr>
      </p:sp>
      <p:sp>
        <p:nvSpPr>
          <p:cNvPr id="6" name="Text 4"/>
          <p:cNvSpPr/>
          <p:nvPr/>
        </p:nvSpPr>
        <p:spPr>
          <a:xfrm>
            <a:off x="548640" y="1152144"/>
            <a:ext cx="8046720" cy="438912"/>
          </a:xfrm>
          <a:prstGeom prst="rect">
            <a:avLst/>
          </a:prstGeom>
          <a:noFill/>
          <a:ln/>
        </p:spPr>
        <p:txBody>
          <a:bodyPr wrap="square" lIns="0" tIns="0" rIns="0" bIns="0" rtlCol="0" anchor="ctr"/>
          <a:lstStyle/>
          <a:p>
            <a:pPr indent="0" marL="0">
              <a:buNone/>
            </a:pPr>
            <a:r>
              <a:rPr lang="en-US" sz="1150" b="1" dirty="0">
                <a:solidFill>
                  <a:srgbClr val="1E293B"/>
                </a:solidFill>
                <a:latin typeface="Calibri" pitchFamily="34" charset="0"/>
                <a:ea typeface="Calibri" pitchFamily="34" charset="-122"/>
                <a:cs typeface="Calibri" pitchFamily="34" charset="-120"/>
              </a:rPr>
              <a:t>This is your last revision day. Read your whole essay once through and run the Final Revision Checklist. After today, you move to Publish.</a:t>
            </a:r>
            <a:endParaRPr lang="en-US" sz="1150" dirty="0"/>
          </a:p>
        </p:txBody>
      </p:sp>
      <p:sp>
        <p:nvSpPr>
          <p:cNvPr id="7" name="Text 5"/>
          <p:cNvSpPr/>
          <p:nvPr/>
        </p:nvSpPr>
        <p:spPr>
          <a:xfrm>
            <a:off x="365760" y="1783080"/>
            <a:ext cx="8046720" cy="292608"/>
          </a:xfrm>
          <a:prstGeom prst="rect">
            <a:avLst/>
          </a:prstGeom>
          <a:noFill/>
          <a:ln/>
        </p:spPr>
        <p:txBody>
          <a:bodyPr wrap="square" lIns="0" tIns="0" rIns="0" bIns="0" rtlCol="0" anchor="ctr"/>
          <a:lstStyle/>
          <a:p>
            <a:pPr indent="0" marL="0">
              <a:buNone/>
            </a:pPr>
            <a:r>
              <a:rPr lang="en-US" sz="1100" b="1" spc="200" kern="0" dirty="0">
                <a:solidFill>
                  <a:srgbClr val="64748B"/>
                </a:solidFill>
                <a:latin typeface="Calibri" pitchFamily="34" charset="0"/>
                <a:ea typeface="Calibri" pitchFamily="34" charset="-122"/>
                <a:cs typeface="Calibri" pitchFamily="34" charset="-120"/>
              </a:rPr>
              <a:t>👀 WATCH HOW ALEX DOES IT</a:t>
            </a:r>
            <a:endParaRPr lang="en-US" sz="1100" dirty="0"/>
          </a:p>
        </p:txBody>
      </p:sp>
      <p:sp>
        <p:nvSpPr>
          <p:cNvPr id="8" name="Shape 6"/>
          <p:cNvSpPr/>
          <p:nvPr/>
        </p:nvSpPr>
        <p:spPr>
          <a:xfrm>
            <a:off x="365760" y="2029968"/>
            <a:ext cx="4114800" cy="1051560"/>
          </a:xfrm>
          <a:prstGeom prst="roundRect">
            <a:avLst>
              <a:gd name="adj" fmla="val 8696"/>
            </a:avLst>
          </a:prstGeom>
          <a:solidFill>
            <a:srgbClr val="F8FAFC"/>
          </a:solidFill>
          <a:ln/>
          <a:effectLst>
            <a:outerShdw sx="100000" sy="100000" kx="0" ky="0" algn="bl" rotWithShape="0" blurRad="101600" dist="38100" dir="2700000">
              <a:srgbClr val="000000">
                <a:alpha val="12000"/>
              </a:srgbClr>
            </a:outerShdw>
          </a:effectLst>
        </p:spPr>
      </p:sp>
      <p:sp>
        <p:nvSpPr>
          <p:cNvPr id="9" name="Text 7"/>
          <p:cNvSpPr/>
          <p:nvPr/>
        </p:nvSpPr>
        <p:spPr>
          <a:xfrm>
            <a:off x="502920" y="2084832"/>
            <a:ext cx="3840480" cy="941832"/>
          </a:xfrm>
          <a:prstGeom prst="rect">
            <a:avLst/>
          </a:prstGeom>
          <a:noFill/>
          <a:ln/>
        </p:spPr>
        <p:txBody>
          <a:bodyPr wrap="square" lIns="0" tIns="0" rIns="0" bIns="0" rtlCol="0" anchor="t"/>
          <a:lstStyle/>
          <a:p>
            <a:pPr indent="0" marL="0">
              <a:buNone/>
            </a:pPr>
            <a:r>
              <a:rPr lang="en-US" sz="950" dirty="0">
                <a:solidFill>
                  <a:srgbClr val="1E293B"/>
                </a:solidFill>
                <a:latin typeface="Calibri" pitchFamily="34" charset="0"/>
                <a:ea typeface="Calibri" pitchFamily="34" charset="-122"/>
                <a:cs typeface="Calibri" pitchFamily="34" charset="-120"/>
              </a:rPr>
              <a:t>BEFORE Alex’s self-assessment before the checklist: I think it’s done. I said everything I wanted to say.</a:t>
            </a:r>
            <a:endParaRPr lang="en-US" sz="950" dirty="0"/>
          </a:p>
        </p:txBody>
      </p:sp>
      <p:sp>
        <p:nvSpPr>
          <p:cNvPr id="10" name="Shape 8"/>
          <p:cNvSpPr/>
          <p:nvPr/>
        </p:nvSpPr>
        <p:spPr>
          <a:xfrm>
            <a:off x="4663440" y="2029968"/>
            <a:ext cx="4114800" cy="1051560"/>
          </a:xfrm>
          <a:prstGeom prst="roundRect">
            <a:avLst>
              <a:gd name="adj" fmla="val 8696"/>
            </a:avLst>
          </a:prstGeom>
          <a:solidFill>
            <a:srgbClr val="EAF6FA"/>
          </a:solidFill>
          <a:ln/>
          <a:effectLst>
            <a:outerShdw sx="100000" sy="100000" kx="0" ky="0" algn="bl" rotWithShape="0" blurRad="101600" dist="38100" dir="2700000">
              <a:srgbClr val="000000">
                <a:alpha val="12000"/>
              </a:srgbClr>
            </a:outerShdw>
          </a:effectLst>
        </p:spPr>
      </p:sp>
      <p:sp>
        <p:nvSpPr>
          <p:cNvPr id="11" name="Text 9"/>
          <p:cNvSpPr/>
          <p:nvPr/>
        </p:nvSpPr>
        <p:spPr>
          <a:xfrm>
            <a:off x="4800600" y="2084832"/>
            <a:ext cx="3840480" cy="941832"/>
          </a:xfrm>
          <a:prstGeom prst="rect">
            <a:avLst/>
          </a:prstGeom>
          <a:noFill/>
          <a:ln/>
        </p:spPr>
        <p:txBody>
          <a:bodyPr wrap="square" lIns="0" tIns="0" rIns="0" bIns="0" rtlCol="0" anchor="t"/>
          <a:lstStyle/>
          <a:p>
            <a:pPr indent="0" marL="0">
              <a:buNone/>
            </a:pPr>
            <a:r>
              <a:rPr lang="en-US" sz="950" dirty="0">
                <a:solidFill>
                  <a:srgbClr val="1E293B"/>
                </a:solidFill>
                <a:latin typeface="Calibri" pitchFamily="34" charset="0"/>
                <a:ea typeface="Calibri" pitchFamily="34" charset="-122"/>
                <a:cs typeface="Calibri" pitchFamily="34" charset="-120"/>
              </a:rPr>
              <a:t>AFTER Alex’s checklist results: Hook ✓. Claim ✓. Body 1 F+E+S ✓. Body 2 F+E+S ✓. Transitions: one still says “Also” — fix. Technical terms defined: one term left undefined — fix. Conclusion synthesizes, doesn’t repeat: ✓. Citation: needs checking.</a:t>
            </a:r>
            <a:endParaRPr lang="en-US" sz="950" dirty="0"/>
          </a:p>
        </p:txBody>
      </p:sp>
      <p:sp>
        <p:nvSpPr>
          <p:cNvPr id="12" name="Text 10"/>
          <p:cNvSpPr/>
          <p:nvPr/>
        </p:nvSpPr>
        <p:spPr>
          <a:xfrm>
            <a:off x="365760" y="3127248"/>
            <a:ext cx="8412480" cy="457200"/>
          </a:xfrm>
          <a:prstGeom prst="rect">
            <a:avLst/>
          </a:prstGeom>
          <a:noFill/>
          <a:ln/>
        </p:spPr>
        <p:txBody>
          <a:bodyPr wrap="square" lIns="0" tIns="0" rIns="0" bIns="0" rtlCol="0" anchor="ctr"/>
          <a:lstStyle/>
          <a:p>
            <a:pPr indent="0" marL="0">
              <a:buNone/>
            </a:pPr>
            <a:r>
              <a:rPr lang="en-US" sz="950" i="1" dirty="0">
                <a:solidFill>
                  <a:srgbClr val="64748B"/>
                </a:solidFill>
                <a:latin typeface="Calibri" pitchFamily="34" charset="0"/>
                <a:ea typeface="Calibri" pitchFamily="34" charset="-122"/>
                <a:cs typeface="Calibri" pitchFamily="34" charset="-120"/>
              </a:rPr>
              <a:t>Notice: Alex thought the essay was done, but the checklist found two real issues. The checklist isn’t about finding faults — it’s about finding the specific, fixable things that matter.</a:t>
            </a:r>
            <a:endParaRPr lang="en-US" sz="950" dirty="0"/>
          </a:p>
        </p:txBody>
      </p:sp>
      <p:sp>
        <p:nvSpPr>
          <p:cNvPr id="13" name="Text 11"/>
          <p:cNvSpPr/>
          <p:nvPr/>
        </p:nvSpPr>
        <p:spPr>
          <a:xfrm>
            <a:off x="365760" y="3639312"/>
            <a:ext cx="8046720" cy="292608"/>
          </a:xfrm>
          <a:prstGeom prst="rect">
            <a:avLst/>
          </a:prstGeom>
          <a:noFill/>
          <a:ln/>
        </p:spPr>
        <p:txBody>
          <a:bodyPr wrap="square" lIns="0" tIns="0" rIns="0" bIns="0" rtlCol="0" anchor="ctr"/>
          <a:lstStyle/>
          <a:p>
            <a:pPr indent="0" marL="0">
              <a:buNone/>
            </a:pPr>
            <a:r>
              <a:rPr lang="en-US" sz="1100" b="1" spc="200" kern="0" dirty="0">
                <a:solidFill>
                  <a:srgbClr val="8B6FC0"/>
                </a:solidFill>
                <a:latin typeface="Calibri" pitchFamily="34" charset="0"/>
                <a:ea typeface="Calibri" pitchFamily="34" charset="-122"/>
                <a:cs typeface="Calibri" pitchFamily="34" charset="-120"/>
              </a:rPr>
              <a:t>🛠️ TODAY’S TOOL: FINAL REVISION CHECKLIST</a:t>
            </a:r>
            <a:endParaRPr lang="en-US" sz="1100" dirty="0"/>
          </a:p>
        </p:txBody>
      </p:sp>
      <p:sp>
        <p:nvSpPr>
          <p:cNvPr id="14" name="Shape 12"/>
          <p:cNvSpPr/>
          <p:nvPr/>
        </p:nvSpPr>
        <p:spPr>
          <a:xfrm>
            <a:off x="365760" y="3877056"/>
            <a:ext cx="8412480" cy="502920"/>
          </a:xfrm>
          <a:prstGeom prst="roundRect">
            <a:avLst>
              <a:gd name="adj" fmla="val 18182"/>
            </a:avLst>
          </a:prstGeom>
          <a:solidFill>
            <a:srgbClr val="F0E8FF"/>
          </a:solidFill>
          <a:ln/>
          <a:effectLst>
            <a:outerShdw sx="100000" sy="100000" kx="0" ky="0" algn="bl" rotWithShape="0" blurRad="101600" dist="38100" dir="2700000">
              <a:srgbClr val="000000">
                <a:alpha val="12000"/>
              </a:srgbClr>
            </a:outerShdw>
          </a:effectLst>
        </p:spPr>
      </p:sp>
      <p:sp>
        <p:nvSpPr>
          <p:cNvPr id="15" name="Text 13"/>
          <p:cNvSpPr/>
          <p:nvPr/>
        </p:nvSpPr>
        <p:spPr>
          <a:xfrm>
            <a:off x="548640" y="3922776"/>
            <a:ext cx="8046720" cy="411480"/>
          </a:xfrm>
          <a:prstGeom prst="rect">
            <a:avLst/>
          </a:prstGeom>
          <a:noFill/>
          <a:ln/>
        </p:spPr>
        <p:txBody>
          <a:bodyPr wrap="square" lIns="0" tIns="0" rIns="0" bIns="0" rtlCol="0" anchor="ctr"/>
          <a:lstStyle/>
          <a:p>
            <a:pPr indent="0" marL="0">
              <a:buNone/>
            </a:pPr>
            <a:r>
              <a:rPr lang="en-US" sz="1050" dirty="0">
                <a:solidFill>
                  <a:srgbClr val="1E293B"/>
                </a:solidFill>
                <a:latin typeface="Calibri" pitchFamily="34" charset="0"/>
                <a:ea typeface="Calibri" pitchFamily="34" charset="-122"/>
                <a:cs typeface="Calibri" pitchFamily="34" charset="-120"/>
              </a:rPr>
              <a:t>Run through all 8 items. Note which ones pass and which need a quick fix.</a:t>
            </a:r>
            <a:endParaRPr lang="en-US" sz="1050" dirty="0"/>
          </a:p>
        </p:txBody>
      </p:sp>
      <p:sp>
        <p:nvSpPr>
          <p:cNvPr id="16" name="Text 14"/>
          <p:cNvSpPr/>
          <p:nvPr/>
        </p:nvSpPr>
        <p:spPr>
          <a:xfrm>
            <a:off x="365760" y="4462272"/>
            <a:ext cx="8046720" cy="292608"/>
          </a:xfrm>
          <a:prstGeom prst="rect">
            <a:avLst/>
          </a:prstGeom>
          <a:noFill/>
          <a:ln/>
        </p:spPr>
        <p:txBody>
          <a:bodyPr wrap="square" lIns="0" tIns="0" rIns="0" bIns="0" rtlCol="0" anchor="ctr"/>
          <a:lstStyle/>
          <a:p>
            <a:pPr indent="0" marL="0">
              <a:buNone/>
            </a:pPr>
            <a:r>
              <a:rPr lang="en-US" sz="1100" b="1" spc="200" kern="0" dirty="0">
                <a:solidFill>
                  <a:srgbClr val="34B76F"/>
                </a:solidFill>
                <a:latin typeface="Calibri" pitchFamily="34" charset="0"/>
                <a:ea typeface="Calibri" pitchFamily="34" charset="-122"/>
                <a:cs typeface="Calibri" pitchFamily="34" charset="-120"/>
              </a:rPr>
              <a:t>📝 NOW YOU TRY</a:t>
            </a:r>
            <a:endParaRPr lang="en-US" sz="1100" dirty="0"/>
          </a:p>
        </p:txBody>
      </p:sp>
      <p:sp>
        <p:nvSpPr>
          <p:cNvPr id="17" name="Shape 15"/>
          <p:cNvSpPr/>
          <p:nvPr/>
        </p:nvSpPr>
        <p:spPr>
          <a:xfrm>
            <a:off x="365760" y="4681728"/>
            <a:ext cx="8412480" cy="384048"/>
          </a:xfrm>
          <a:prstGeom prst="roundRect">
            <a:avLst>
              <a:gd name="adj" fmla="val 23810"/>
            </a:avLst>
          </a:prstGeom>
          <a:solidFill>
            <a:srgbClr val="FEF6E8"/>
          </a:solidFill>
          <a:ln/>
          <a:effectLst>
            <a:outerShdw sx="100000" sy="100000" kx="0" ky="0" algn="bl" rotWithShape="0" blurRad="101600" dist="38100" dir="2700000">
              <a:srgbClr val="000000">
                <a:alpha val="12000"/>
              </a:srgbClr>
            </a:outerShdw>
          </a:effectLst>
        </p:spPr>
      </p:sp>
      <p:sp>
        <p:nvSpPr>
          <p:cNvPr id="18" name="Text 16"/>
          <p:cNvSpPr/>
          <p:nvPr/>
        </p:nvSpPr>
        <p:spPr>
          <a:xfrm>
            <a:off x="548640" y="4700016"/>
            <a:ext cx="8046720" cy="347472"/>
          </a:xfrm>
          <a:prstGeom prst="rect">
            <a:avLst/>
          </a:prstGeom>
          <a:noFill/>
          <a:ln/>
        </p:spPr>
        <p:txBody>
          <a:bodyPr wrap="square" lIns="0" tIns="0" rIns="0" bIns="0" rtlCol="0" anchor="ctr"/>
          <a:lstStyle/>
          <a:p>
            <a:pPr indent="0" marL="0">
              <a:buNone/>
            </a:pPr>
            <a:r>
              <a:rPr lang="en-US" sz="1000" dirty="0">
                <a:solidFill>
                  <a:srgbClr val="1E293B"/>
                </a:solidFill>
                <a:latin typeface="Calibri" pitchFamily="34" charset="0"/>
                <a:ea typeface="Calibri" pitchFamily="34" charset="-122"/>
                <a:cs typeface="Calibri" pitchFamily="34" charset="-120"/>
              </a:rPr>
              <a:t>Run the Final Revision Checklist. Write which items pass and which need a fix. Then describe the one most important thing you’re changing before you publish.</a:t>
            </a:r>
            <a:endParaRPr lang="en-US" sz="10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17</Slides>
  <Notes>17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17</vt:i4>
      </vt:variant>
    </vt:vector>
  </HeadingPairs>
  <TitlesOfParts>
    <vt:vector size="2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2026-07-13T16:49:17Z</dcterms:created>
  <dcterms:modified xsi:type="dcterms:W3CDTF">2026-07-13T16:49:17Z</dcterms:modified>
</cp:coreProperties>
</file>