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13.4: Chapter 20, "Book Sailing". Banner quote: “If I can teach Lupe to take a lunar, I can do anything!” (Chapter 20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Who blames “book sailing” — and what does Nat do about it? Today you read Chapter 20 and continue revising your expository piece. Keep asking: How does figurative language contribute to meaning?
Objectives:
- 🧭 Morphology: Explain how a root survives translation, using fer and duct/duce.
- 🔤 Vocab SWYK: Choice board — show what you know your way.
- ✏️ Grammar: I will explain the importance of complex sentences in explanatory writing.
- 📖 Reading: I will explain Latham’s perspective on Nathaniel Bowditch and point to evidence in Chapters 17–20.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book sailing which was zack selbys scornful name for navigating by tables was what zack blamed when the betsy went aground
Corrected: Book sailing, which was Zack Selby’s scornful name for navigating by tables, was what Zack blamed when the Betsy went aground.
Fixes: capitalize “Book,” “Zack Selby,” “Zack,” and “Betsy”; commas around non-restrictive relative clause; apostrophe in “Selby’s”;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book sailing which was zack selbys scornful name for navigating by tables was what zack blamed when the betsy went aground
Corrected: Book sailing, which was Zack Selby’s scornful name for navigating by tables, was what Zack blamed when the Betsy went aground.
Fixes: capitalize “Book,” “Zack Selby,” “Zack,” and “Betsy”; commas around non-restrictive relative clause; apostrophe in “Selby’s”;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
Francis Bacon wrote “Of Studies” as a prose essay in 1597, but these famous lines read as philosophy — and they speak directly to what Nat is doing in Chapter 20. Read them as Nat begins to write his book. Write your response in your reading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 and answer someone who disagrees.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detail actually support what I'm trying to say, or is it just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fer + duct/duce — Explain — how a root survives translation.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The root fer, meaning carry. — g13d4ms1
2. Latin verbs changed shape depending on their ending. — g13d4ms2
3. The root usually keeps its meaning across many languages. — g13d4ms3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conduct
2. conference
3. fracture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SWYK: Choice Board — Show What You Know — your way.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Choice board. Students pick one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Compound &amp; Complex Sentences for Explanation — Explain the importance.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Compound &amp; Complex Sentences for Explanation — Explain the importance.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The relationship between the facts. — g13d4gs1
2. When you want each fact to land separately. — g13d4gs2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Prefixes trans-, sub-, inter- — Explain — why the prefix never changes.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Because it carries a meaning, and changing it would lose the meaning. — g13d4ss1
2. transferred — g13d4ss2
3. interrupt — g13d4ss3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Revise &amp; Edit: Final revision check before publishing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Revise &amp; Edit: Final revision check before publishing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13  ·  DAY 4  ·  LESSON 13.4</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20 — Book Sailing</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“If I can teach Lupe to take a lunar, I can do anything!”</a:t>
            </a:r>
            <a:pPr indent="0" marL="0">
              <a:buNone/>
            </a:pPr>
            <a:r>
              <a:rPr lang="en-US" sz="1600" dirty="0">
                <a:solidFill>
                  <a:srgbClr val="55C8E8"/>
                </a:solidFill>
                <a:latin typeface="Calibri" pitchFamily="34" charset="0"/>
                <a:ea typeface="Calibri" pitchFamily="34" charset="-122"/>
                <a:cs typeface="Calibri" pitchFamily="34" charset="-120"/>
              </a:rPr>
              <a:t>  — Chapter 20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 — EXPLAIN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CHAPTER 20</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100"/>
              </a:spcAft>
              <a:buNone/>
            </a:pPr>
            <a:r>
              <a:rPr lang="en-US" sz="2400" b="1" dirty="0">
                <a:solidFill>
                  <a:srgbClr val="6B4FA8"/>
                </a:solidFill>
                <a:latin typeface="Calibri" pitchFamily="34" charset="0"/>
                <a:ea typeface="Calibri" pitchFamily="34" charset="-122"/>
                <a:cs typeface="Calibri" pitchFamily="34" charset="-120"/>
              </a:rPr>
              <a:t>Who blames “book sailing” — and what does Nat do about it?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Today you read Chapter 20 and continue revising your expository piece. Keep asking: How does figurative language contribute to meaning?</a:t>
            </a:r>
            <a:endParaRPr lang="en-US" sz="24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Explain how a root survives translation, using fer and duct/duce.</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Vocab SWYK: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Choice board — show what you know your way.</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explain the importance of complex sentences in explanatory writing.</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explain Latham’s perspective on Nathaniel Bowditch and point to evidence in Chapters 17–20.</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SYNTHESIZE THE WEEK — THE BIOGRAPHER’S POINT OF VIEW</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Now put the week together. Chapter 20 is called “Book Sailing,” and the phrase is itself an opinion about what Nat did — first a sneer from his critics, then the title Latham chose for the chapter. Say what Latham’s perspective on Nathaniel Bowditch is, and point to three places in Chapters 17–20 where you can see it.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Whole-book thinking: Latham admires Nat. Find one place in the book where that admiration makes the story stronger, and one place where you would like to have heard from someone who disagreed with him.</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Find the author in the sentence: Look for words that judge, admire or explain. Those are Latham, not the record.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Ask what she includes and leaves out: Perspective shows in what gets a whole chapter and what gets a sentence.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SYNTHESIZE THE WEEK — THE BIOGRAPHER’S POINT OF VIEW</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Test it against another telling: Ask how a different biographer — or Nat himself — might have written the same event.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“Sailing by book” was Zack Selby’s sneer back in Chapter 17. As you read, watch who uses the phrase now, and what Nat does in answer.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Chapter 20 closes the arc of Chs. 17–20. Look back: Lunars and Moonlight → The Astrea to the Rescue → Strange Sailing Orders → Book Sailing. What story have these four chapters told together?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Nat’s book, </a:t>
            </a:r>
            <a:pPr indent="0" marL="0">
              <a:buNone/>
            </a:pPr>
            <a:r>
              <a:rPr lang="en-US" sz="2600" b="1" u="sng" dirty="0">
                <a:solidFill>
                  <a:srgbClr val="1E8E52"/>
                </a:solidFill>
                <a:latin typeface="Calibri" pitchFamily="34" charset="0"/>
                <a:ea typeface="Calibri" pitchFamily="34" charset="-122"/>
                <a:cs typeface="Calibri" pitchFamily="34" charset="-120"/>
              </a:rPr>
              <a:t>which would eventually be called the American Practical Navigator</a:t>
            </a:r>
            <a:pPr indent="0" marL="0">
              <a:buNone/>
            </a:pPr>
            <a:r>
              <a:rPr lang="en-US" sz="2600" dirty="0">
                <a:solidFill>
                  <a:srgbClr val="1E293B"/>
                </a:solidFill>
                <a:latin typeface="Calibri" pitchFamily="34" charset="0"/>
                <a:ea typeface="Calibri" pitchFamily="34" charset="-122"/>
                <a:cs typeface="Calibri" pitchFamily="34" charset="-120"/>
              </a:rPr>
              <a:t>, would </a:t>
            </a:r>
            <a:pPr indent="0" marL="0">
              <a:buNone/>
            </a:pPr>
            <a:r>
              <a:rPr lang="en-US" sz="2600" b="1" u="sng" dirty="0">
                <a:solidFill>
                  <a:srgbClr val="1E8E52"/>
                </a:solidFill>
                <a:latin typeface="Calibri" pitchFamily="34" charset="0"/>
                <a:ea typeface="Calibri" pitchFamily="34" charset="-122"/>
                <a:cs typeface="Calibri" pitchFamily="34" charset="-120"/>
              </a:rPr>
              <a:t>translate</a:t>
            </a:r>
            <a:pPr indent="0" marL="0">
              <a:buNone/>
            </a:pPr>
            <a:r>
              <a:rPr lang="en-US" sz="2600" dirty="0">
                <a:solidFill>
                  <a:srgbClr val="1E293B"/>
                </a:solidFill>
                <a:latin typeface="Calibri" pitchFamily="34" charset="0"/>
                <a:ea typeface="Calibri" pitchFamily="34" charset="-122"/>
                <a:cs typeface="Calibri" pitchFamily="34" charset="-120"/>
              </a:rPr>
              <a:t> the most precise navigation methods into a form that could </a:t>
            </a:r>
            <a:pPr indent="0" marL="0">
              <a:buNone/>
            </a:pPr>
            <a:r>
              <a:rPr lang="en-US" sz="2600" b="1" u="sng" dirty="0">
                <a:solidFill>
                  <a:srgbClr val="1E8E52"/>
                </a:solidFill>
                <a:latin typeface="Calibri" pitchFamily="34" charset="0"/>
                <a:ea typeface="Calibri" pitchFamily="34" charset="-122"/>
                <a:cs typeface="Calibri" pitchFamily="34" charset="-120"/>
              </a:rPr>
              <a:t>transfer</a:t>
            </a:r>
            <a:pPr indent="0" marL="0">
              <a:buNone/>
            </a:pPr>
            <a:r>
              <a:rPr lang="en-US" sz="2600" dirty="0">
                <a:solidFill>
                  <a:srgbClr val="1E293B"/>
                </a:solidFill>
                <a:latin typeface="Calibri" pitchFamily="34" charset="0"/>
                <a:ea typeface="Calibri" pitchFamily="34" charset="-122"/>
                <a:cs typeface="Calibri" pitchFamily="34" charset="-120"/>
              </a:rPr>
              <a:t> knowledge to every sailor who read it.</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which would eventually be called the American Practical Navigator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Non-restrictive relative clause: the book is already identified, so this adds extra info.</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translate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trans- = across. Translate: carry meaning across barriers.</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transfer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trans- = across. Transfer: carry across to another person.</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book sailing which was zack selbys scornful name for navigating by tables was what zack blamed when the betsy went aground</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book sailing which was zack selbys scornful name for navigating by tables was what zack blamed when the betsy went aground</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Book sailing, which was Zack Selby’s scornful name for navigating by tables, was what Zack blamed when the Betsy went aground.</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capitalize “Book,” “Zack Selby,” “Zack,” and “Betsy”; commas around non-restrictive relative clause; apostrophe in “Selby’s”; period.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FROM “OF STUDIES”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Poetry Corner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6035040"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691640"/>
            <a:ext cx="5577840" cy="365760"/>
          </a:xfrm>
          <a:prstGeom prst="rect">
            <a:avLst/>
          </a:prstGeom>
          <a:noFill/>
          <a:ln/>
        </p:spPr>
        <p:txBody>
          <a:bodyPr wrap="square" lIns="0" tIns="0" rIns="0" bIns="0"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Francis Bacon, 1597 — public domain</a:t>
            </a:r>
            <a:endParaRPr lang="en-US" sz="1500" dirty="0"/>
          </a:p>
        </p:txBody>
      </p:sp>
      <p:sp>
        <p:nvSpPr>
          <p:cNvPr id="8" name="Text 6"/>
          <p:cNvSpPr/>
          <p:nvPr/>
        </p:nvSpPr>
        <p:spPr>
          <a:xfrm>
            <a:off x="731520" y="2103120"/>
            <a:ext cx="5577840" cy="4206240"/>
          </a:xfrm>
          <a:prstGeom prst="rect">
            <a:avLst/>
          </a:prstGeom>
          <a:noFill/>
          <a:ln/>
        </p:spPr>
        <p:txBody>
          <a:bodyPr wrap="square" lIns="0" tIns="0" rIns="0" bIns="0" rtlCol="0" anchor="t">
            <a:normAutofit/>
          </a:bodyPr>
          <a:lstStyle/>
          <a:p>
            <a:pPr indent="0" marL="0">
              <a:buNone/>
            </a:pPr>
            <a:r>
              <a:rPr lang="en-US" sz="2200" i="1" dirty="0">
                <a:solidFill>
                  <a:srgbClr val="1E293B"/>
                </a:solidFill>
                <a:latin typeface="Georgia" pitchFamily="34" charset="0"/>
                <a:ea typeface="Georgia" pitchFamily="34" charset="-122"/>
                <a:cs typeface="Georgia" pitchFamily="34" charset="-120"/>
              </a:rPr>
              <a:t>Reading maketh a full man; conference a ready man;</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and writing an exact man. And, therefore, if a man write little,</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he had need have a great memory; if he confer little,</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he had need have a present wit; and if he read little,</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he had need have much cunning, to seem to know that he doth not.</a:t>
            </a:r>
            <a:endParaRPr lang="en-US" sz="2200" dirty="0"/>
          </a:p>
        </p:txBody>
      </p:sp>
      <p:sp>
        <p:nvSpPr>
          <p:cNvPr id="9" name="Shape 7"/>
          <p:cNvSpPr/>
          <p:nvPr/>
        </p:nvSpPr>
        <p:spPr>
          <a:xfrm>
            <a:off x="6812280" y="1554480"/>
            <a:ext cx="4876495" cy="4892040"/>
          </a:xfrm>
          <a:prstGeom prst="roundRect">
            <a:avLst>
              <a:gd name="adj" fmla="val 1500"/>
            </a:avLst>
          </a:prstGeom>
          <a:solidFill>
            <a:srgbClr val="F0E8FF"/>
          </a:solidFill>
          <a:ln w="15875">
            <a:solidFill>
              <a:srgbClr val="D6C8F0"/>
            </a:solidFill>
            <a:prstDash val="solid"/>
          </a:ln>
        </p:spPr>
      </p:sp>
      <p:sp>
        <p:nvSpPr>
          <p:cNvPr id="10" name="Text 8"/>
          <p:cNvSpPr/>
          <p:nvPr/>
        </p:nvSpPr>
        <p:spPr>
          <a:xfrm>
            <a:off x="7040880" y="1737360"/>
            <a:ext cx="4419295"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 THINK ABOUT THIS</a:t>
            </a:r>
            <a:endParaRPr lang="en-US" sz="1300" dirty="0"/>
          </a:p>
        </p:txBody>
      </p:sp>
      <p:sp>
        <p:nvSpPr>
          <p:cNvPr id="11" name="Text 9"/>
          <p:cNvSpPr/>
          <p:nvPr/>
        </p:nvSpPr>
        <p:spPr>
          <a:xfrm>
            <a:off x="7040880" y="2103120"/>
            <a:ext cx="4419295" cy="4160520"/>
          </a:xfrm>
          <a:prstGeom prst="rect">
            <a:avLst/>
          </a:prstGeom>
          <a:noFill/>
          <a:ln/>
        </p:spPr>
        <p:txBody>
          <a:bodyPr wrap="square" lIns="0" tIns="0" rIns="0" bIns="0" rtlCol="0" anchor="t"/>
          <a:lstStyle/>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 Bacon uses parallel structure (“Reading maketh… conference… writing…”) to make his three ideas feel equal and inevitable. Notice also the old English grammar: “maketh” (makes), “he doth not” (he does not). His central claim: writing makes you exact. This is exactly what Nat is doing.</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Bacon says “writing maketh an exact man.” How does Chapter 20 prove this? What does Nat’s act of writing his navigation guide do to his own thinking — and to the world of sailors who will read it?</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400" dirty="0">
                <a:solidFill>
                  <a:srgbClr val="1E293B"/>
                </a:solidFill>
                <a:latin typeface="Calibri" pitchFamily="34" charset="0"/>
                <a:ea typeface="Calibri" pitchFamily="34" charset="-122"/>
                <a:cs typeface="Calibri" pitchFamily="34" charset="-120"/>
              </a:rPr>
              <a:t>Zack Selby sneers at "book sailing," but by Chapter 20 the whole foc's'le is learning to work lunars and Nat decides to write a book of his own. Was the sneer actually a compliment in disguise? Defend your answer with evidence. Then answer someone who disagrees.</a:t>
            </a:r>
            <a:endParaRPr lang="en-US" sz="24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Zack Selby sneers at "book sailing," but by Chapter 20 the whole foc's'le is learning to work lunars and Nat decides to write a book of his own. Was the sneer actually a compliment in disguise? Defend your answer with evidence. Then answer someone who disagrees.</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Someone might disagree, but...</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Does this detail actually support what I'm trying to say, or is it just filler?</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HOW A ROOT SURVIVES TRANSLATION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fer + duct/duce</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In your reading journal: explain the three prefixes to a classmate. For each, give the meaning, two examples, and one sentence connecting it to Nat’s work.</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HOW A ROOT SURVIVES TRANSLATION</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fer + duct/duce</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Transfer, refer, infer, offer — what do they share?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root fer, meaning carry.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They all end the same way by coincidence.</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Why does duct become duce in introduce?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Latin verbs changed shape depending on their ending.</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They are two unrelated roots.</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How does knowing a root survive translation help a reader?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root usually keeps its meaning across many languages.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It does not; roots only work in English.</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HOW A ROOT SURVIVES TRANSLATION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fer + duct/duce</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Transfer, refer, infer, offer — what do they share?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The root fer, meaning carry.</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They all end the same way by coincidence.</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Why does duct become duce in introduce?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Latin verbs changed shape depending on their ending.</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They are two unrelated roots.</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How does knowing a root survive translation help a reader?</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The root usually keeps its meaning across many languages.</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It does not; roots only work in English.</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HOW A ROOT SURVIVES TRANSLATION</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fer + duct/duce</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Root family: fer — carry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transfer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refer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conduct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ferry</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Root family: duct / duce — lead</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produce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aqueduct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reduce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conference</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word does not mean carrying or leading?</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introduce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transfer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fracture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deduce</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HOW A ROOT SURVIVES TRANSLATION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fer + duct/duce</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Root family: fer — carry</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transfer</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refer</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conduct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ferry</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Root family: duct / duce — lead</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produce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aqueduct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reduce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conference</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word does not mean carrying or leading?</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introduce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transfer</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fracture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deduce</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SHOW WHAT YOU KNOW — YOUR WAY</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SWYK: Choice Board</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Show what you know about: translate · intersect · submarine · interval · transfer · subscribe</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CHOOSE ONE WAY TO SHOW WHAT YOU KNOW</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SWYK: Choice Board</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5501488" cy="2354580"/>
          </a:xfrm>
          <a:prstGeom prst="roundRect">
            <a:avLst>
              <a:gd name="adj" fmla="val 3107"/>
            </a:avLst>
          </a:prstGeom>
          <a:solidFill>
            <a:srgbClr val="F8FAFC"/>
          </a:solidFill>
          <a:ln w="15875">
            <a:solidFill>
              <a:srgbClr val="CBD5E1"/>
            </a:solidFill>
            <a:prstDash val="solid"/>
          </a:ln>
        </p:spPr>
      </p:sp>
      <p:sp>
        <p:nvSpPr>
          <p:cNvPr id="7" name="Text 5"/>
          <p:cNvSpPr/>
          <p:nvPr/>
        </p:nvSpPr>
        <p:spPr>
          <a:xfrm>
            <a:off x="685800" y="162763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1: ✍️ Navigator’s Glossary</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Write a six-entry glossary, as if for the front matter of Nat’s navigation book. Define each word precisely and usefully, the way a navigator would need it defined at sea.</a:t>
            </a:r>
            <a:endParaRPr lang="en-US" sz="2100" dirty="0"/>
          </a:p>
        </p:txBody>
      </p:sp>
      <p:sp>
        <p:nvSpPr>
          <p:cNvPr id="8" name="Shape 6"/>
          <p:cNvSpPr/>
          <p:nvPr/>
        </p:nvSpPr>
        <p:spPr>
          <a:xfrm>
            <a:off x="6187288" y="1554480"/>
            <a:ext cx="5501488" cy="2354580"/>
          </a:xfrm>
          <a:prstGeom prst="roundRect">
            <a:avLst>
              <a:gd name="adj" fmla="val 3107"/>
            </a:avLst>
          </a:prstGeom>
          <a:solidFill>
            <a:srgbClr val="F8FAFC"/>
          </a:solidFill>
          <a:ln w="15875">
            <a:solidFill>
              <a:srgbClr val="CBD5E1"/>
            </a:solidFill>
            <a:prstDash val="solid"/>
          </a:ln>
        </p:spPr>
      </p:sp>
      <p:sp>
        <p:nvSpPr>
          <p:cNvPr id="9" name="Text 7"/>
          <p:cNvSpPr/>
          <p:nvPr/>
        </p:nvSpPr>
        <p:spPr>
          <a:xfrm>
            <a:off x="6370168" y="162763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2: 🧠 Prefix Analysis</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For all six words: show prefix + root = full word. Explain how the prefix shifts the meaning of the root. Use a table format.</a:t>
            </a:r>
            <a:endParaRPr lang="en-US" sz="2100" dirty="0"/>
          </a:p>
        </p:txBody>
      </p:sp>
      <p:sp>
        <p:nvSpPr>
          <p:cNvPr id="10" name="Shape 8"/>
          <p:cNvSpPr/>
          <p:nvPr/>
        </p:nvSpPr>
        <p:spPr>
          <a:xfrm>
            <a:off x="502920" y="4091940"/>
            <a:ext cx="5501488" cy="2354580"/>
          </a:xfrm>
          <a:prstGeom prst="roundRect">
            <a:avLst>
              <a:gd name="adj" fmla="val 3107"/>
            </a:avLst>
          </a:prstGeom>
          <a:solidFill>
            <a:srgbClr val="F8FAFC"/>
          </a:solidFill>
          <a:ln w="15875">
            <a:solidFill>
              <a:srgbClr val="CBD5E1"/>
            </a:solidFill>
            <a:prstDash val="solid"/>
          </a:ln>
        </p:spPr>
      </p:sp>
      <p:sp>
        <p:nvSpPr>
          <p:cNvPr id="11" name="Text 9"/>
          <p:cNvSpPr/>
          <p:nvPr/>
        </p:nvSpPr>
        <p:spPr>
          <a:xfrm>
            <a:off x="685800" y="416509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3: 📝 The Navigator’s Scene</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Write a 5–7 sentence scene with Nat at sea, using all six vocabulary words naturally. Underline each vocabulary word.</a:t>
            </a:r>
            <a:endParaRPr lang="en-US" sz="2100" dirty="0"/>
          </a:p>
        </p:txBody>
      </p:sp>
      <p:sp>
        <p:nvSpPr>
          <p:cNvPr id="12" name="Shape 10"/>
          <p:cNvSpPr/>
          <p:nvPr/>
        </p:nvSpPr>
        <p:spPr>
          <a:xfrm>
            <a:off x="6187288" y="4091940"/>
            <a:ext cx="5501488" cy="2354580"/>
          </a:xfrm>
          <a:prstGeom prst="roundRect">
            <a:avLst>
              <a:gd name="adj" fmla="val 3107"/>
            </a:avLst>
          </a:prstGeom>
          <a:solidFill>
            <a:srgbClr val="F8FAFC"/>
          </a:solidFill>
          <a:ln w="15875">
            <a:solidFill>
              <a:srgbClr val="CBD5E1"/>
            </a:solidFill>
            <a:prstDash val="solid"/>
          </a:ln>
        </p:spPr>
      </p:sp>
      <p:sp>
        <p:nvSpPr>
          <p:cNvPr id="13" name="Text 11"/>
          <p:cNvSpPr/>
          <p:nvPr/>
        </p:nvSpPr>
        <p:spPr>
          <a:xfrm>
            <a:off x="6370168" y="4165092"/>
            <a:ext cx="5135728" cy="220827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4: 📊 Connection Web</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Explain: how are translate, transfer, and intersect all connected in Nat’s mission? How does each word describe a different aspect of what he is trying to do?</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Vocabulary</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Complete your chosen option above.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Identify which option you chose at the top. Then complete it.</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THE IMPORTANCE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Compound &amp; Complex Sentences for Explanation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Before you start: find the joint, then test each half on its own.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Write in Your Reading Journal</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Last day of the week. Now explain why expository writing leans on complex sentences. A compound sentence says this happened and that happened. A complex sentence says this happened because that happened — and explanation is entirely made of because.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Write in your reading journal.</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Before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tables were wrong. Ships ran aground. Nat checked every figure. His book could be trusted.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After</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THE IMPORTANCE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Compound &amp; Complex Sentences for Explanation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tables were wrong, so ships ran aground. Because Nat checked every figure, his book could be trusted.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Four facts became two sentences. The compound one says these two are equal; the complex one says the checking is the reason and the trust is the point.</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THE IMPORTANCE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Compound &amp; Complex Sentences for Explanation</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What does joining sentences actually add?</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relationship between the facts.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Nothing — it just looks better.</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When would you keep the four short sentences?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When you want each fact to land separately.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Never.</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THE IMPORTANCE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Compound &amp; Complex Sentences for Explanation</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What does joining sentences actually add?</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The relationship between the facts.</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Nothing — it just looks better.</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When would you keep the four short sentences?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When you want each fact to land separately.</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Never.</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THE PREFIX NEVER CHANGES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Prefixes trans-, sub-, inter-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In your reading journal: explain WHY prefixes assimilate. What phonological reason causes sub- to become sup- in support? Then give two more examples of words where this assimilation happens.</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THE PREFIX NEVER CHANGES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Prefixes trans-, sub-, inter-</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Why does the prefix sub– never change its spelling?</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Because it carries a meaning, and changing it would lose the meaning.</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Because it is short.</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is right?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transfered</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transferred</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is right?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interupt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interrupt</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WHY THE PREFIX NEVER CHANGES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Prefixes trans-, sub-, inter-</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Why does the prefix sub– never change its spelling?</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Because it carries a meaning, and changing it would lose the meaning.</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Because it is short.</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is right?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transfered</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transferred</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is right?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interupt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interrupt</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20 — “BOOK SAILING”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Week 13 — Chapter 20 — Book Sailing</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Chapter 20 is a turning point. Nat makes a bargain with Lupe, the crew member he feared, and soon the whole foc’s’le is learning to work lunars. He finds so many errors in Moore that he decides to write a book of his own. But “book sailing” is not Nat’s phrase — Zack Selby sneered at “sailing by book” back in Chapter 17. Watch who uses it in this chapter, and why. Look for the figurative language that makes this decision to write feel as significant as the act of sailing.</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20</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“Book Sailing” as Metaphor: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Who says “book sailing” in this chapter, and what do they mean by it? Is it praise or a sneer? What two things does the phrase connect?</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Reflective Pause — Chs. 17–20: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The arc: Lunars and Moonlight → The Astrea to the Rescue → Strange Sailing Orders → Book Sailing. What single theme connects all four chapters? Use figurative language in your answer if you can.</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1.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Who uses the phrase “book sailing,” and what do they mean by it? How does the wreck of the Betsy give the chapter title a double meaning?</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2.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Chapter 20 shows Nat deciding to write the book that will become the American Practical Navigator. How does Latham use figurative language in this chapter to convey the significance of Nat’s act of writing? What does writing represent in this chapter?</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3.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 Week Reflective Question (Chs. 17–20): The four chapter titles form an arc: Lunars and Moonlight → The Astrea to the Rescue → Strange Sailing Orders → Book Sailing. Explain how figurative language in each of these chapters contributes to the week’s overall theme. What is that theme? Use evidence from at least two chapters.</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REVISE &amp; EDIT · FINAL REVISION CHECK BEFORE PUBLISHING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13 · REVISE &amp; EDIT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This is your last revision day. Read your whole essay once through and run the Final Revision Checklist. After today, you move to Publish.</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runs the full Final Revision Checklist on the completed essay. BEFORE Alex’s self-assessment before the checklist: I think it’s done. I said everything I wanted to say. AFTER Alex’s checklist results: Hook ✓. Claim ✓. Body 1 F+E+S ✓. Body 2 F+E+S ✓. Transitions: one still says “Also” — fix. Technical terms defined: one term left undefined — fix. Conclusion synthesizes, doesn’t repeat: ✓. Citation: needs checking. Notice: Alex thought the essay was done, but the checklist found two real issues. The checklist isn’t about finding faults — it’s about finding the specific, fixable things that matter.</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REVISE &amp; EDIT · FINAL REVISION CHECK BEFORE PUBLISHING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13 · REVISE &amp; EDIT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Final Revision Checklist: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Run through all 8 items. Note which ones pass and which need a quick fix. Alex’s example (filled): 1. Hook: pulls the reader in before introducing Nat? ___ 2. Claim: specific, arguable, in the introduction? ___ 3. Body 1: has topic sentence + F+E+S + closing? ___ 4. Body 2: has varied transition + F+E+S + closing? ___ 5. Transitions: no “also,” “then,” or “another reason”? ___ 6. Technical terms: every one defined for a reader who hasn’t read the book? ___ 7. Conclusion: synthesizes (doesn’t just repeat)? ___ 8. Citation: Latham citation in sources? ___ Your turn — do the same in your reading journal: Items that pass: ___ Items that need fixing: ___ The ONE most important fix before I publish is: ____________________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one thing I still need to fix is ___.” “After this revision, my essay argues that ___.” “The part I’m most proud of is ___...”</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13.4 — Carry On, Mr. Bowditch, Chapter 20</dc:title>
  <dc:subject>PptxGenJS Presentation</dc:subject>
  <dc:creator>Optima Academy Online</dc:creator>
  <cp:lastModifiedBy>Optima Academy Online</cp:lastModifiedBy>
  <cp:revision>1</cp:revision>
  <dcterms:created xsi:type="dcterms:W3CDTF">2026-10-29T19:41:22Z</dcterms:created>
  <dcterms:modified xsi:type="dcterms:W3CDTF">2026-10-29T19:41:22Z</dcterms:modified>
</cp:coreProperties>
</file>