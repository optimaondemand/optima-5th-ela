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 Day 1,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the way you look tells everyone you don’t belong — before you even say a word?
Reading: I will describe how the author develops Kit’s perspective through her choices and reactions in Chapter 5.
Grammar: I will define compound subjects and compound predicates.
Spelling: I will define the suffix spelling rules: drop e, double consonant, and y to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"reverend bulkeley said the sermon was truly inspired but kit thought it was dreadfully long"
Corrected: "Reverend Bulkeley said the sermon was truly inspired, but Kit thought it was dreadfully long."
Compare with the model: “Reverend Bulkeley” is a proper name and title, so both words are capitalized. “Kit” is a name. A comma goes before “but” when it joins two complete thoughts. End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"reverend bulkeley said the sermon was truly inspired but kit thought it was dreadfully long"
Corrected: "Reverend Bulkeley said the sermon was truly inspired, but Kit thought it was dreadfully long."
Compare with the model: “Reverend Bulkeley” is a proper name and title, so both words are capitalized. “Kit” is a name. A comma goes before “but” when it joins two complete thoughts. End with a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Graded SWYK strand today: Morphology.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Decode &amp;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Suffix Spelling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5 — Kit’s first Sabbath in Wethersfield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2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5 — Kit's first Sabbath</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the way you look tells everyone you don’t belong — before you even say a word?</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describe how the author develops Kit’s perspective through her choices and reactions in Chapter 5.</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define compound subjects and compound predicates.</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define the suffix spelling rules: drop e, double consonant, and y to i.</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how an author develops a character’s perspective through their choices and reactions. Perspective isn’t just what a character thinks — it’s shaped by everything they’ve experienced before this moment. Today, notice how Kit sees Wethersfield differently than the people who live there. Her reactions to the Meeting House, the sermon, and the congregation reveal her perspective as an outsider. Ask yourself:</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Kit react to things the Puritans consider normal?</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do Kit’s choices — her dress, her smile, her silence — reveal about how she sees this world?</a:t>
            </a:r>
            <a:endParaRPr lang="en-US" sz="1300" dirty="0"/>
          </a:p>
        </p:txBody>
      </p:sp>
      <p:sp>
        <p:nvSpPr>
          <p:cNvPr id="12" name="Shape 10"/>
          <p:cNvSpPr/>
          <p:nvPr/>
        </p:nvSpPr>
        <p:spPr>
          <a:xfrm>
            <a:off x="365760" y="403250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10565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When do Kit’s reactions clash with what the community expects?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Rachel and Judith waited by the Meeting House on Sabbath morning.</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Rachel  </a:t>
            </a:r>
            <a:pPr indent="0" marL="0">
              <a:buNone/>
            </a:pPr>
            <a:r>
              <a:rPr lang="en-US" sz="1200" dirty="0">
                <a:solidFill>
                  <a:srgbClr val="1E293B"/>
                </a:solidFill>
                <a:latin typeface="Calibri" pitchFamily="34" charset="0"/>
                <a:ea typeface="Calibri" pitchFamily="34" charset="-122"/>
                <a:cs typeface="Calibri" pitchFamily="34" charset="-120"/>
              </a:rPr>
              <a:t>"Rachel" is a proper name, so it starts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Judith  </a:t>
            </a:r>
            <a:pPr indent="0" marL="0">
              <a:buNone/>
            </a:pPr>
            <a:r>
              <a:rPr lang="en-US" sz="1200" dirty="0">
                <a:solidFill>
                  <a:srgbClr val="1E293B"/>
                </a:solidFill>
                <a:latin typeface="Calibri" pitchFamily="34" charset="0"/>
                <a:ea typeface="Calibri" pitchFamily="34" charset="-122"/>
                <a:cs typeface="Calibri" pitchFamily="34" charset="-120"/>
              </a:rPr>
              <a:t>"Judith" is also a proper name — always capitalized.</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Meeting House  </a:t>
            </a:r>
            <a:pPr indent="0" marL="0">
              <a:buNone/>
            </a:pPr>
            <a:r>
              <a:rPr lang="en-US" sz="1200" dirty="0">
                <a:solidFill>
                  <a:srgbClr val="1E293B"/>
                </a:solidFill>
                <a:latin typeface="Calibri" pitchFamily="34" charset="0"/>
                <a:ea typeface="Calibri" pitchFamily="34" charset="-122"/>
                <a:cs typeface="Calibri" pitchFamily="34" charset="-120"/>
              </a:rPr>
              <a:t>"Meeting House" is capitalized because it is the name of a specific place in the community.</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Sabbath  </a:t>
            </a:r>
            <a:pPr indent="0" marL="0">
              <a:buNone/>
            </a:pPr>
            <a:r>
              <a:rPr lang="en-US" sz="1200" dirty="0">
                <a:solidFill>
                  <a:srgbClr val="1E293B"/>
                </a:solidFill>
                <a:latin typeface="Calibri" pitchFamily="34" charset="0"/>
                <a:ea typeface="Calibri" pitchFamily="34" charset="-122"/>
                <a:cs typeface="Calibri" pitchFamily="34" charset="-120"/>
              </a:rPr>
              <a:t>"Sabbath" is capitalized because it names a specific religious day.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reverend bulkeley said the sermon was truly inspired but kit thought it was dreadfully long</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reverend bulkeley said the sermon was truly inspired but kit thought it was dreadfully long</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Reverend Bulkeley said the sermon was truly inspired, but Kit thought it was dreadfully long.</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“Reverend Bulkeley” is a proper name and title, so both words are capitalized. “Kit” is a name. A comma goes before “but” when it joins two complete thoughts. End with a period.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reaction to Kit's differentness reveals more about Puritan values — Uncle Matthew's anger at her bonnet, or the congregation's stares during the service? Defend your answer with evidence from Chapter 5.</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reaction to Kit's differentness reveals more about Puritan values — Uncle Matthew's anger at her bonnet, or the congregation's stares during the service? Defend your answer with evidence from Chapter 5.</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-ion / -ation</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prepare (verb) → preparation (noun) — the act of preparing | admire (verb) → admiration (noun) — the feeling of admiring | frustrate (verb) → frustration (noun) — the result of being frustrated | inspect (verb) → inspection (noun) — the act of inspecting</a:t>
            </a:r>
            <a:endParaRPr lang="en-US" sz="1200" dirty="0"/>
          </a:p>
        </p:txBody>
      </p:sp>
      <p:sp>
        <p:nvSpPr>
          <p:cNvPr id="7" name="Shape 5"/>
          <p:cNvSpPr/>
          <p:nvPr/>
        </p:nvSpPr>
        <p:spPr>
          <a:xfrm>
            <a:off x="365760" y="1709928"/>
            <a:ext cx="8412480" cy="777240"/>
          </a:xfrm>
          <a:prstGeom prst="roundRect">
            <a:avLst>
              <a:gd name="adj" fmla="val 11765"/>
            </a:avLst>
          </a:prstGeom>
          <a:solidFill>
            <a:srgbClr val="FEF6E8"/>
          </a:solidFill>
          <a:ln w="12700">
            <a:solidFill>
              <a:srgbClr val="C7922C"/>
            </a:solidFill>
            <a:prstDash val="solid"/>
          </a:ln>
        </p:spPr>
      </p:sp>
      <p:sp>
        <p:nvSpPr>
          <p:cNvPr id="8" name="Text 6"/>
          <p:cNvSpPr/>
          <p:nvPr/>
        </p:nvSpPr>
        <p:spPr>
          <a:xfrm>
            <a:off x="548640" y="1783080"/>
            <a:ext cx="8046720" cy="640080"/>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 Morphology
</a:t>
            </a:r>
            <a:pPr indent="0" marL="0">
              <a:buNone/>
            </a:pPr>
            <a:r>
              <a:rPr lang="en-US" sz="1100" i="1" dirty="0">
                <a:solidFill>
                  <a:srgbClr val="1E293B"/>
                </a:solidFill>
                <a:latin typeface="Calibri" pitchFamily="34" charset="0"/>
                <a:ea typeface="Calibri" pitchFamily="34" charset="-122"/>
                <a:cs typeface="Calibri" pitchFamily="34" charset="-120"/>
              </a:rPr>
              <a:t>Pick two words from the list (prepare/preparation, admire/admiration, frustrate/frustration, inspect/inspection) and explain how adding -ion or -ation changes the word’s meaning and part of speech.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Decode &amp; Discover</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Decode &amp; Discover — words from Chapter 5</a:t>
            </a:r>
            <a:endParaRPr lang="en-US" sz="1100" dirty="0"/>
          </a:p>
        </p:txBody>
      </p:sp>
      <p:sp>
        <p:nvSpPr>
          <p:cNvPr id="5" name="Shape 3"/>
          <p:cNvSpPr/>
          <p:nvPr/>
        </p:nvSpPr>
        <p:spPr>
          <a:xfrm>
            <a:off x="365760" y="10972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affront  </a:t>
            </a:r>
            <a:pPr indent="0" marL="0">
              <a:buNone/>
            </a:pPr>
            <a:r>
              <a:rPr lang="en-US" sz="1100" dirty="0">
                <a:solidFill>
                  <a:srgbClr val="1E293B"/>
                </a:solidFill>
                <a:latin typeface="Calibri" pitchFamily="34" charset="0"/>
                <a:ea typeface="Calibri" pitchFamily="34" charset="-122"/>
                <a:cs typeface="Calibri" pitchFamily="34" charset="-120"/>
              </a:rPr>
              <a:t>An insult or offense, especially a public one. The bonnet is the final straw — Matthew sees it as a deliberate insult to the church.</a:t>
            </a:r>
            <a:endParaRPr lang="en-US" sz="1300" dirty="0"/>
          </a:p>
        </p:txBody>
      </p:sp>
      <p:sp>
        <p:nvSpPr>
          <p:cNvPr id="7" name="Shape 5"/>
          <p:cNvSpPr/>
          <p:nvPr/>
        </p:nvSpPr>
        <p:spPr>
          <a:xfrm>
            <a:off x="365760" y="17830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379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conspicuous  </a:t>
            </a:r>
            <a:pPr indent="0" marL="0">
              <a:buNone/>
            </a:pPr>
            <a:r>
              <a:rPr lang="en-US" sz="1100" dirty="0">
                <a:solidFill>
                  <a:srgbClr val="1E293B"/>
                </a:solidFill>
                <a:latin typeface="Calibri" pitchFamily="34" charset="0"/>
                <a:ea typeface="Calibri" pitchFamily="34" charset="-122"/>
                <a:cs typeface="Calibri" pitchFamily="34" charset="-120"/>
              </a:rPr>
              <a:t>Standing out in a way that attracts attention. Kit already draws stares — she is impossible to miss in her bright clothes.</a:t>
            </a:r>
            <a:endParaRPr lang="en-US" sz="1300" dirty="0"/>
          </a:p>
        </p:txBody>
      </p:sp>
      <p:sp>
        <p:nvSpPr>
          <p:cNvPr id="9" name="Shape 7"/>
          <p:cNvSpPr/>
          <p:nvPr/>
        </p:nvSpPr>
        <p:spPr>
          <a:xfrm>
            <a:off x="365760" y="24688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5237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condescension  </a:t>
            </a:r>
            <a:pPr indent="0" marL="0">
              <a:buNone/>
            </a:pPr>
            <a:r>
              <a:rPr lang="en-US" sz="1100" dirty="0">
                <a:solidFill>
                  <a:srgbClr val="1E293B"/>
                </a:solidFill>
                <a:latin typeface="Calibri" pitchFamily="34" charset="0"/>
                <a:ea typeface="Calibri" pitchFamily="34" charset="-122"/>
                <a:cs typeface="Calibri" pitchFamily="34" charset="-120"/>
              </a:rPr>
              <a:t>Acting as though you are better or more important than someone else. Reverend Bulkeley treats Kit with a kind of superior kindness.</a:t>
            </a:r>
            <a:endParaRPr lang="en-US" sz="1300" dirty="0"/>
          </a:p>
        </p:txBody>
      </p:sp>
      <p:sp>
        <p:nvSpPr>
          <p:cNvPr id="11" name="Shape 9"/>
          <p:cNvSpPr/>
          <p:nvPr/>
        </p:nvSpPr>
        <p:spPr>
          <a:xfrm>
            <a:off x="365760" y="31546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2095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demurely  </a:t>
            </a:r>
            <a:pPr indent="0" marL="0">
              <a:buNone/>
            </a:pPr>
            <a:r>
              <a:rPr lang="en-US" sz="1100" dirty="0">
                <a:solidFill>
                  <a:srgbClr val="1E293B"/>
                </a:solidFill>
                <a:latin typeface="Calibri" pitchFamily="34" charset="0"/>
                <a:ea typeface="Calibri" pitchFamily="34" charset="-122"/>
                <a:cs typeface="Calibri" pitchFamily="34" charset="-120"/>
              </a:rPr>
              <a:t>In a quiet, modest, reserved way. Kit says this calmly, but the context suggests she may be hiding her real thoughts behind polite words.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Compound Subjects &amp; Predicates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 define sentence combining</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Compound subject: “ Rachel and Judith waited by the door.” Two subjects (Rachel, Judith) share one verb (waited). Compound predicate: “Kit curtsied and smiled .” One subject (Kit) performs two actions (curtsied, smiled). Why it matters: Instead of writing “Rachel waited. Judith waited.” — two choppy sentences — the author combines them into one smooth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and Judith walked along the path to the Meeting House.”
</a:t>
            </a:r>
            <a:pPr indent="0" marL="0">
              <a:buNone/>
            </a:pPr>
            <a:r>
              <a:rPr lang="en-US" sz="1100" dirty="0">
                <a:solidFill>
                  <a:srgbClr val="64748B"/>
                </a:solidFill>
                <a:latin typeface="Calibri" pitchFamily="34" charset="0"/>
                <a:ea typeface="Calibri" pitchFamily="34" charset="-122"/>
                <a:cs typeface="Calibri" pitchFamily="34" charset="-120"/>
              </a:rPr>
              <a:t>Compound subject   /   Compound predicate</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tilted her chin and set herself to endure.”
</a:t>
            </a:r>
            <a:pPr indent="0" marL="0">
              <a:buNone/>
            </a:pPr>
            <a:r>
              <a:rPr lang="en-US" sz="1100" dirty="0">
                <a:solidFill>
                  <a:srgbClr val="64748B"/>
                </a:solidFill>
                <a:latin typeface="Calibri" pitchFamily="34" charset="0"/>
                <a:ea typeface="Calibri" pitchFamily="34" charset="-122"/>
                <a:cs typeface="Calibri" pitchFamily="34" charset="-120"/>
              </a:rPr>
              <a:t>Compound subject   /   Compound predicate</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“Reverend Bulkeley and Goodwife Cruff greeted Kit after the service.”
</a:t>
            </a:r>
            <a:pPr indent="0" marL="0">
              <a:buNone/>
            </a:pPr>
            <a:r>
              <a:rPr lang="en-US" sz="1100" dirty="0">
                <a:solidFill>
                  <a:srgbClr val="64748B"/>
                </a:solidFill>
                <a:latin typeface="Calibri" pitchFamily="34" charset="0"/>
                <a:ea typeface="Calibri" pitchFamily="34" charset="-122"/>
                <a:cs typeface="Calibri" pitchFamily="34" charset="-120"/>
              </a:rPr>
              <a:t>Compound subject   /   Compound predicate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Compound Subjects &amp; Predicates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Learn — define sentence combining</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Compound subject: “ Rachel and Judith waited by the door.” Two subjects (Rachel, Judith) share one verb (waited). Compound predicate: “Kit curtsied and smiled .” One subject (Kit) performs two actions (curtsied, smiled). Why it matters: Instead of writing “Rachel waited. Judith waited.” — two choppy sentences — the author combines them into one smooth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and Judith walked along the path to the Meeting House.”
</a:t>
            </a:r>
            <a:pPr indent="0" marL="0">
              <a:buNone/>
            </a:pPr>
            <a:r>
              <a:rPr lang="en-US" sz="1200" b="1" dirty="0">
                <a:solidFill>
                  <a:srgbClr val="34B76F"/>
                </a:solidFill>
                <a:latin typeface="Calibri" pitchFamily="34" charset="0"/>
                <a:ea typeface="Calibri" pitchFamily="34" charset="-122"/>
                <a:cs typeface="Calibri" pitchFamily="34" charset="-120"/>
              </a:rPr>
              <a:t>✅ Compound subject</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tilted her chin and set herself to endure.”
</a:t>
            </a:r>
            <a:pPr indent="0" marL="0">
              <a:buNone/>
            </a:pPr>
            <a:r>
              <a:rPr lang="en-US" sz="1200" b="1" dirty="0">
                <a:solidFill>
                  <a:srgbClr val="34B76F"/>
                </a:solidFill>
                <a:latin typeface="Calibri" pitchFamily="34" charset="0"/>
                <a:ea typeface="Calibri" pitchFamily="34" charset="-122"/>
                <a:cs typeface="Calibri" pitchFamily="34" charset="-120"/>
              </a:rPr>
              <a:t>✅ Compound predicate</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“Reverend Bulkeley and Goodwife Cruff greeted Kit after the service.”
</a:t>
            </a:r>
            <a:pPr indent="0" marL="0">
              <a:buNone/>
            </a:pPr>
            <a:r>
              <a:rPr lang="en-US" sz="1200" b="1" dirty="0">
                <a:solidFill>
                  <a:srgbClr val="34B76F"/>
                </a:solidFill>
                <a:latin typeface="Calibri" pitchFamily="34" charset="0"/>
                <a:ea typeface="Calibri" pitchFamily="34" charset="-122"/>
                <a:cs typeface="Calibri" pitchFamily="34" charset="-120"/>
              </a:rPr>
              <a:t>✅ Compound subject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Suffix Spelling Changes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Discover — notice the patterns in each group</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Drop the 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preparation  ·  exploration  ·  frustration</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Double consonant</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admission  ·  permission</a:t>
            </a:r>
            <a:endParaRPr lang="en-US" sz="1300" dirty="0"/>
          </a:p>
        </p:txBody>
      </p:sp>
      <p:sp>
        <p:nvSpPr>
          <p:cNvPr id="11" name="Text 9"/>
          <p:cNvSpPr/>
          <p:nvPr/>
        </p:nvSpPr>
        <p:spPr>
          <a:xfrm>
            <a:off x="896112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Y to I</a:t>
            </a:r>
            <a:endParaRPr lang="en-US" sz="1300" dirty="0"/>
          </a:p>
        </p:txBody>
      </p:sp>
      <p:sp>
        <p:nvSpPr>
          <p:cNvPr id="12" name="Text 10"/>
          <p:cNvSpPr/>
          <p:nvPr/>
        </p:nvSpPr>
        <p:spPr>
          <a:xfrm>
            <a:off x="896112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envious  ·  happily  ·  carried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5 — Kit’s first Sabbath in Wethersfield</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5 — Kit's first Sabbath</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How does Kit react to things the Puritans consider normal?</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What do Kit’s choices — her dress, her smile, her silence — reveal about how she sees this world?</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When do Kit’s reactions clash with what the community expects?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does Uncle Matthew react so strongly to Kit’s dress? What does his reaction tell you about what the Puritans value and how they see the world?</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How does Kit’s reaction to the Meeting service reveal her perspective as an outsider? Use at least two details from the chapter to support your answer.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Why does Kit smile at William Ashby? What does this small moment tell us about both characters and how they see each other?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3–4 sentences from Kit’s perspective describing her first Sabbath service. Use at least two details from the chapter to show how she feels about the experience.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2026-07-12T13:24:40Z</dcterms:created>
  <dcterms:modified xsi:type="dcterms:W3CDTF">2026-07-12T13:24:40Z</dcterms:modified>
</cp:coreProperties>
</file>