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 Day 1,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What happens when you step into a world where everything you know marks you as different?
Reading: I will make connections with Chapter 1 and answer comprehension questions.
Grammar: I will define complete sentences, fragments, and run-ons.
Spelling: I will define the six syllable types used to decode multisyllabic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"kit could barely see the wooden houses and the piles of fresh cut wood"
Corrected: "Kit could barely see the wooden houses and the piles of fresh-cut wood."
Compare with the model: both sentences need a capital letter at the start and a period at the end. “Kit” is a name, so it always gets a capital 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"kit could barely see the wooden houses and the piles of fresh cut wood"
Corrected: "Kit could barely see the wooden houses and the piles of fresh-cut wood."
Compare with the model: both sentences need a capital letter at the start and a period at the end. “Kit” is a name, so it always gets a capital 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note: this Quick Write sequence is optional every day. Use it when time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prompt aloud. Remind students: pick a side, defend it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there a detail here I could cut because it doesn't support my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 Graded SWYK strand today: Morphology.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Decode &amp; Discover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discuss and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labels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Syllable Types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Kit's Path Through The Witch of Blackbird Pond — Chapter 1: Kit arrives in Connecticut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distinct from the Quick Write — it is graded reading-response writing tied directly to today's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4A90D9">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4A90D9"/>
                </a:solidFill>
                <a:latin typeface="Calibri" pitchFamily="34" charset="0"/>
                <a:ea typeface="Calibri" pitchFamily="34" charset="-122"/>
                <a:cs typeface="Calibri" pitchFamily="34" charset="-120"/>
              </a:rPr>
              <a:t>WEEK 1  ·  DAY 1</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Witch of Blackbird Pond</a:t>
            </a:r>
            <a:endParaRPr lang="en-US" sz="3000" dirty="0"/>
          </a:p>
          <a:p>
            <a:pPr algn="l" indent="0" marL="0">
              <a:buNone/>
            </a:pPr>
            <a:r>
              <a:rPr lang="en-US" sz="3000" b="1" dirty="0">
                <a:solidFill>
                  <a:srgbClr val="FFFFFF"/>
                </a:solidFill>
                <a:latin typeface="Calibri" pitchFamily="34" charset="0"/>
                <a:ea typeface="Calibri" pitchFamily="34" charset="-122"/>
                <a:cs typeface="Calibri" pitchFamily="34" charset="-120"/>
              </a:rPr>
              <a:t>Chapter 1 — Kit arrives aboard the Dolphin</a:t>
            </a:r>
            <a:endParaRPr lang="en-US" sz="30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  ·  Virtue: Perseverance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What happens when you step into a world where everything you know marks you as different?</a:t>
            </a:r>
            <a:endParaRPr lang="en-US" sz="14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7744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Reading: </a:t>
            </a:r>
            <a:pPr indent="0" marL="0">
              <a:buNone/>
            </a:pPr>
            <a:r>
              <a:rPr lang="en-US" sz="1400" dirty="0">
                <a:solidFill>
                  <a:srgbClr val="1E293B"/>
                </a:solidFill>
                <a:latin typeface="Calibri" pitchFamily="34" charset="0"/>
                <a:ea typeface="Calibri" pitchFamily="34" charset="-122"/>
                <a:cs typeface="Calibri" pitchFamily="34" charset="-120"/>
              </a:rPr>
              <a:t>I will make connections with Chapter 1 and answer comprehension questions.</a:t>
            </a:r>
            <a:endParaRPr lang="en-US" sz="1600" dirty="0"/>
          </a:p>
        </p:txBody>
      </p:sp>
      <p:sp>
        <p:nvSpPr>
          <p:cNvPr id="10" name="Shape 8"/>
          <p:cNvSpPr/>
          <p:nvPr/>
        </p:nvSpPr>
        <p:spPr>
          <a:xfrm>
            <a:off x="365760" y="310896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20040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Grammar: </a:t>
            </a:r>
            <a:pPr indent="0" marL="0">
              <a:buNone/>
            </a:pPr>
            <a:r>
              <a:rPr lang="en-US" sz="1400" dirty="0">
                <a:solidFill>
                  <a:srgbClr val="1E293B"/>
                </a:solidFill>
                <a:latin typeface="Calibri" pitchFamily="34" charset="0"/>
                <a:ea typeface="Calibri" pitchFamily="34" charset="-122"/>
                <a:cs typeface="Calibri" pitchFamily="34" charset="-120"/>
              </a:rPr>
              <a:t>I will define complete sentences, fragments, and run-ons.</a:t>
            </a:r>
            <a:endParaRPr lang="en-US" sz="1600" dirty="0"/>
          </a:p>
        </p:txBody>
      </p:sp>
      <p:sp>
        <p:nvSpPr>
          <p:cNvPr id="12" name="Shape 10"/>
          <p:cNvSpPr/>
          <p:nvPr/>
        </p:nvSpPr>
        <p:spPr>
          <a:xfrm>
            <a:off x="365760" y="393192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402336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Spelling: </a:t>
            </a:r>
            <a:pPr indent="0" marL="0">
              <a:buNone/>
            </a:pPr>
            <a:r>
              <a:rPr lang="en-US" sz="1400" dirty="0">
                <a:solidFill>
                  <a:srgbClr val="1E293B"/>
                </a:solidFill>
                <a:latin typeface="Calibri" pitchFamily="34" charset="0"/>
                <a:ea typeface="Calibri" pitchFamily="34" charset="-122"/>
                <a:cs typeface="Calibri" pitchFamily="34" charset="-120"/>
              </a:rPr>
              <a:t>I will define the six syllable types used to decode multisyllabic words.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051560"/>
          </a:xfrm>
          <a:prstGeom prst="roundRect">
            <a:avLst>
              <a:gd name="adj" fmla="val 869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8686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Good readers pay attention to how an author introduces a new world. Notice the details the author chooses — what people wear, what they say, how they react. As you read Chapter 1, pay attention to the differences between Kit's old world and her new one.</a:t>
            </a:r>
            <a:endParaRPr lang="en-US" sz="1300" dirty="0"/>
          </a:p>
        </p:txBody>
      </p:sp>
      <p:sp>
        <p:nvSpPr>
          <p:cNvPr id="7" name="Text 5"/>
          <p:cNvSpPr/>
          <p:nvPr/>
        </p:nvSpPr>
        <p:spPr>
          <a:xfrm>
            <a:off x="365760" y="22860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WATCH FOR THIS AS YOU READ</a:t>
            </a:r>
            <a:endParaRPr lang="en-US" sz="1100" dirty="0"/>
          </a:p>
        </p:txBody>
      </p:sp>
      <p:sp>
        <p:nvSpPr>
          <p:cNvPr id="8" name="Shape 6"/>
          <p:cNvSpPr/>
          <p:nvPr/>
        </p:nvSpPr>
        <p:spPr>
          <a:xfrm>
            <a:off x="365760" y="2606040"/>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679192"/>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What details show Kit that Connecticut is very different from Barbados?</a:t>
            </a:r>
            <a:endParaRPr lang="en-US" sz="1300" dirty="0"/>
          </a:p>
        </p:txBody>
      </p:sp>
      <p:sp>
        <p:nvSpPr>
          <p:cNvPr id="10" name="Shape 8"/>
          <p:cNvSpPr/>
          <p:nvPr/>
        </p:nvSpPr>
        <p:spPr>
          <a:xfrm>
            <a:off x="365760" y="331927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392424"/>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How does the author make you feel that difference?</a:t>
            </a:r>
            <a:endParaRPr lang="en-US" sz="1300" dirty="0"/>
          </a:p>
        </p:txBody>
      </p:sp>
      <p:sp>
        <p:nvSpPr>
          <p:cNvPr id="12" name="Shape 10"/>
          <p:cNvSpPr/>
          <p:nvPr/>
        </p:nvSpPr>
        <p:spPr>
          <a:xfrm>
            <a:off x="365760" y="4032504"/>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4105656"/>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What do the other characters' reactions tell you about the world Kit is entering?</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“She” could just make out the row of unimpressive “shacks,” and the flash of raw new “lumber.”</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32304"/>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She  </a:t>
            </a:r>
            <a:pPr indent="0" marL="0">
              <a:buNone/>
            </a:pPr>
            <a:r>
              <a:rPr lang="en-US" sz="1200" dirty="0">
                <a:solidFill>
                  <a:srgbClr val="1E293B"/>
                </a:solidFill>
                <a:latin typeface="Calibri" pitchFamily="34" charset="0"/>
                <a:ea typeface="Calibri" pitchFamily="34" charset="-122"/>
                <a:cs typeface="Calibri" pitchFamily="34" charset="-120"/>
              </a:rPr>
              <a:t>“She” starts with a capital letter because it begins the sentence.</a:t>
            </a:r>
            <a:endParaRPr lang="en-US" sz="1300" dirty="0"/>
          </a:p>
        </p:txBody>
      </p:sp>
      <p:sp>
        <p:nvSpPr>
          <p:cNvPr id="10" name="Shape 8"/>
          <p:cNvSpPr/>
          <p:nvPr/>
        </p:nvSpPr>
        <p:spPr>
          <a:xfrm>
            <a:off x="365760" y="295351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008376"/>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shacks,  </a:t>
            </a:r>
            <a:pPr indent="0" marL="0">
              <a:buNone/>
            </a:pPr>
            <a:r>
              <a:rPr lang="en-US" sz="1200" dirty="0">
                <a:solidFill>
                  <a:srgbClr val="1E293B"/>
                </a:solidFill>
                <a:latin typeface="Calibri" pitchFamily="34" charset="0"/>
                <a:ea typeface="Calibri" pitchFamily="34" charset="-122"/>
                <a:cs typeface="Calibri" pitchFamily="34" charset="-120"/>
              </a:rPr>
              <a:t>A comma separates the two parts of the sentence before the word “and.”</a:t>
            </a:r>
            <a:endParaRPr lang="en-US" sz="1300" dirty="0"/>
          </a:p>
        </p:txBody>
      </p:sp>
      <p:sp>
        <p:nvSpPr>
          <p:cNvPr id="12" name="Shape 10"/>
          <p:cNvSpPr/>
          <p:nvPr/>
        </p:nvSpPr>
        <p:spPr>
          <a:xfrm>
            <a:off x="365760" y="3529584"/>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584448"/>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lumber.  </a:t>
            </a:r>
            <a:pPr indent="0" marL="0">
              <a:buNone/>
            </a:pPr>
            <a:r>
              <a:rPr lang="en-US" sz="1200" dirty="0">
                <a:solidFill>
                  <a:srgbClr val="1E293B"/>
                </a:solidFill>
                <a:latin typeface="Calibri" pitchFamily="34" charset="0"/>
                <a:ea typeface="Calibri" pitchFamily="34" charset="-122"/>
                <a:cs typeface="Calibri" pitchFamily="34" charset="-120"/>
              </a:rPr>
              <a:t>A period ends the sentence. Every complete sentence needs end punctuation.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kit could barely see the wooden houses and the piles of fresh cut wood</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kit could barely see the wooden houses and the piles of fresh cut wood</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Kit could barely see the wooden houses and the piles of fresh-cut wood.</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Compare with the model: both sentences need a capital letter at the start and a period at the end. “Kit” is a name, so it always gets a capital K.</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Welcome to the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457200" y="914400"/>
            <a:ext cx="8229600" cy="3566160"/>
          </a:xfrm>
          <a:prstGeom prst="roundRect">
            <a:avLst>
              <a:gd name="adj" fmla="val 2564"/>
            </a:avLst>
          </a:prstGeom>
          <a:solidFill>
            <a:srgbClr val="FEF6E8"/>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051560"/>
            <a:ext cx="7772400" cy="3291840"/>
          </a:xfrm>
          <a:prstGeom prst="rect">
            <a:avLst/>
          </a:prstGeom>
          <a:noFill/>
          <a:ln/>
        </p:spPr>
        <p:txBody>
          <a:bodyPr wrap="square" lIns="0" tIns="0" rIns="0" bIns="0" rtlCol="0" anchor="t"/>
          <a:lstStyle/>
          <a:p>
            <a:pPr indent="0" marL="0">
              <a:spcAft>
                <a:spcPts val="200"/>
              </a:spcAft>
              <a:buNone/>
            </a:pPr>
            <a:r>
              <a:rPr lang="en-US" sz="1600" b="1" dirty="0">
                <a:solidFill>
                  <a:srgbClr val="0E1C42"/>
                </a:solidFill>
                <a:latin typeface="Calibri" pitchFamily="34" charset="0"/>
                <a:ea typeface="Calibri" pitchFamily="34" charset="-122"/>
                <a:cs typeface="Calibri" pitchFamily="34" charset="-120"/>
              </a:rPr>
              <a:t>This is an OPTIONAL routine.
</a:t>
            </a:r>
            <a:pPr indent="0" marL="0">
              <a:spcAft>
                <a:spcPts val="200"/>
              </a:spcAft>
              <a:buNone/>
            </a:pPr>
            <a:r>
              <a:rPr lang="en-US" sz="1300" dirty="0">
                <a:solidFill>
                  <a:srgbClr val="1E293B"/>
                </a:solidFill>
                <a:latin typeface="Calibri" pitchFamily="34" charset="0"/>
                <a:ea typeface="Calibri" pitchFamily="34" charset="-122"/>
                <a:cs typeface="Calibri" pitchFamily="34" charset="-120"/>
              </a:rPr>
              <a:t>You can use it any day this week, skip it, or save it for days with extra time. It is not baked into every lesson — it is a tool you choose to use.
</a:t>
            </a:r>
            <a:pPr indent="0" marL="0">
              <a:spcAft>
                <a:spcPts val="200"/>
              </a:spcAft>
              <a:buNone/>
            </a:pPr>
            <a:r>
              <a:rPr lang="en-US" sz="1500" b="1" dirty="0">
                <a:solidFill>
                  <a:srgbClr val="0E1C42"/>
                </a:solidFill>
                <a:latin typeface="Calibri" pitchFamily="34" charset="0"/>
                <a:ea typeface="Calibri" pitchFamily="34" charset="-122"/>
                <a:cs typeface="Calibri" pitchFamily="34" charset="-120"/>
              </a:rPr>
              <a:t>What is different at 5th grade?
</a:t>
            </a:r>
            <a:pPr indent="0" marL="0">
              <a:spcAft>
                <a:spcPts val="200"/>
              </a:spcAft>
              <a:buNone/>
            </a:pPr>
            <a:r>
              <a:rPr lang="en-US" sz="1300" dirty="0">
                <a:solidFill>
                  <a:srgbClr val="1E293B"/>
                </a:solidFill>
                <a:latin typeface="Calibri" pitchFamily="34" charset="0"/>
                <a:ea typeface="Calibri" pitchFamily="34" charset="-122"/>
                <a:cs typeface="Calibri" pitchFamily="34" charset="-120"/>
              </a:rPr>
              <a:t>These prompts ask you to choose a side and defend it with evidence — not just describe what happened. Some days also ask you to consider someone who might disagree.
</a:t>
            </a:r>
            <a:pPr indent="0" marL="0">
              <a:spcAft>
                <a:spcPts val="200"/>
              </a:spcAft>
              <a:buNone/>
            </a:pPr>
            <a:r>
              <a:rPr lang="en-US" sz="1500" b="1" dirty="0">
                <a:solidFill>
                  <a:srgbClr val="0E1C42"/>
                </a:solidFill>
                <a:latin typeface="Calibri" pitchFamily="34" charset="0"/>
                <a:ea typeface="Calibri" pitchFamily="34" charset="-122"/>
                <a:cs typeface="Calibri" pitchFamily="34" charset="-120"/>
              </a:rPr>
              <a:t>How it works:
</a:t>
            </a:r>
            <a:pPr indent="0" marL="0">
              <a:spcAft>
                <a:spcPts val="200"/>
              </a:spcAft>
              <a:buNone/>
            </a:pPr>
            <a:r>
              <a:rPr lang="en-US" sz="1300" b="1" dirty="0">
                <a:solidFill>
                  <a:srgbClr val="C7922C"/>
                </a:solidFill>
                <a:latin typeface="Calibri" pitchFamily="34" charset="0"/>
                <a:ea typeface="Calibri" pitchFamily="34" charset="-122"/>
                <a:cs typeface="Calibri" pitchFamily="34" charset="-120"/>
              </a:rPr>
              <a:t>📖 1 min</a:t>
            </a:r>
            <a:pPr indent="0" marL="0">
              <a:spcAft>
                <a:spcPts val="200"/>
              </a:spcAft>
              <a:buNone/>
            </a:pPr>
            <a:r>
              <a:rPr lang="en-US" sz="1300" dirty="0">
                <a:solidFill>
                  <a:srgbClr val="1E293B"/>
                </a:solidFill>
                <a:latin typeface="Calibri" pitchFamily="34" charset="0"/>
                <a:ea typeface="Calibri" pitchFamily="34" charset="-122"/>
                <a:cs typeface="Calibri" pitchFamily="34" charset="-120"/>
              </a:rPr>
              <a:t> read the prompt   </a:t>
            </a:r>
            <a:pPr indent="0" marL="0">
              <a:spcAft>
                <a:spcPts val="200"/>
              </a:spcAft>
              <a:buNone/>
            </a:pPr>
            <a:r>
              <a:rPr lang="en-US" sz="1300" b="1" dirty="0">
                <a:solidFill>
                  <a:srgbClr val="C7922C"/>
                </a:solidFill>
                <a:latin typeface="Calibri" pitchFamily="34" charset="0"/>
                <a:ea typeface="Calibri" pitchFamily="34" charset="-122"/>
                <a:cs typeface="Calibri" pitchFamily="34" charset="-120"/>
              </a:rPr>
              <a:t>✏️ 5 min</a:t>
            </a:r>
            <a:pPr indent="0" marL="0">
              <a:spcAft>
                <a:spcPts val="200"/>
              </a:spcAft>
              <a:buNone/>
            </a:pPr>
            <a:r>
              <a:rPr lang="en-US" sz="1300" dirty="0">
                <a:solidFill>
                  <a:srgbClr val="1E293B"/>
                </a:solidFill>
                <a:latin typeface="Calibri" pitchFamily="34" charset="0"/>
                <a:ea typeface="Calibri" pitchFamily="34" charset="-122"/>
                <a:cs typeface="Calibri" pitchFamily="34" charset="-120"/>
              </a:rPr>
              <a:t> write   </a:t>
            </a:r>
            <a:pPr indent="0" marL="0">
              <a:spcAft>
                <a:spcPts val="200"/>
              </a:spcAft>
              <a:buNone/>
            </a:pPr>
            <a:r>
              <a:rPr lang="en-US" sz="1300" b="1" dirty="0">
                <a:solidFill>
                  <a:srgbClr val="C7922C"/>
                </a:solidFill>
                <a:latin typeface="Calibri" pitchFamily="34" charset="0"/>
                <a:ea typeface="Calibri" pitchFamily="34" charset="-122"/>
                <a:cs typeface="Calibri" pitchFamily="34" charset="-120"/>
              </a:rPr>
              <a:t>🔍 1 min</a:t>
            </a:r>
            <a:pPr indent="0" marL="0">
              <a:spcAft>
                <a:spcPts val="200"/>
              </a:spcAft>
              <a:buNone/>
            </a:pPr>
            <a:r>
              <a:rPr lang="en-US" sz="1300" dirty="0">
                <a:solidFill>
                  <a:srgbClr val="1E293B"/>
                </a:solidFill>
                <a:latin typeface="Calibri" pitchFamily="34" charset="0"/>
                <a:ea typeface="Calibri" pitchFamily="34" charset="-122"/>
                <a:cs typeface="Calibri" pitchFamily="34" charset="-120"/>
              </a:rPr>
              <a:t> revise   </a:t>
            </a:r>
            <a:pPr indent="0" marL="0">
              <a:spcAft>
                <a:spcPts val="200"/>
              </a:spcAft>
              <a:buNone/>
            </a:pPr>
            <a:r>
              <a:rPr lang="en-US" sz="1300" b="1" dirty="0">
                <a:solidFill>
                  <a:srgbClr val="C7922C"/>
                </a:solidFill>
                <a:latin typeface="Calibri" pitchFamily="34" charset="0"/>
                <a:ea typeface="Calibri" pitchFamily="34" charset="-122"/>
                <a:cs typeface="Calibri" pitchFamily="34" charset="-120"/>
              </a:rPr>
              <a:t>🗣️ 3 min</a:t>
            </a:r>
            <a:pPr indent="0" marL="0">
              <a:spcAft>
                <a:spcPts val="200"/>
              </a:spcAft>
              <a:buNone/>
            </a:pPr>
            <a:r>
              <a:rPr lang="en-US" sz="1300" dirty="0">
                <a:solidFill>
                  <a:srgbClr val="1E293B"/>
                </a:solidFill>
                <a:latin typeface="Calibri" pitchFamily="34" charset="0"/>
                <a:ea typeface="Calibri" pitchFamily="34" charset="-122"/>
                <a:cs typeface="Calibri" pitchFamily="34" charset="-120"/>
              </a:rPr>
              <a:t> share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371600"/>
          </a:xfrm>
          <a:prstGeom prst="roundRect">
            <a:avLst>
              <a:gd name="adj" fmla="val 6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1430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Which detail from Chapter 1 does the most work in showing Kit that Connecticut is nothing like Barbados? Defend your answer with evidence.</a:t>
            </a:r>
            <a:endParaRPr lang="en-US" sz="1600" dirty="0"/>
          </a:p>
        </p:txBody>
      </p:sp>
      <p:sp>
        <p:nvSpPr>
          <p:cNvPr id="7" name="Text 5"/>
          <p:cNvSpPr/>
          <p:nvPr/>
        </p:nvSpPr>
        <p:spPr>
          <a:xfrm>
            <a:off x="457200" y="283464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127248"/>
            <a:ext cx="8229600" cy="822960"/>
          </a:xfrm>
          <a:prstGeom prst="rect">
            <a:avLst/>
          </a:prstGeom>
          <a:noFill/>
          <a:ln/>
        </p:spPr>
        <p:txBody>
          <a:bodyPr wrap="square" lIns="0" tIns="0" rIns="0" bIns="0" rtlCol="0" anchor="ctr"/>
          <a:lstStyle/>
          <a:p>
            <a:pPr indent="0" marL="0">
              <a:buNone/>
            </a:pPr>
            <a:r>
              <a:rPr lang="en-US" sz="1200" i="1" dirty="0">
                <a:solidFill>
                  <a:srgbClr val="0E1C42"/>
                </a:solidFill>
                <a:latin typeface="Calibri" pitchFamily="34" charset="0"/>
                <a:ea typeface="Calibri" pitchFamily="34" charset="-122"/>
                <a:cs typeface="Calibri" pitchFamily="34" charset="-120"/>
              </a:rPr>
              <a:t>I think...   →   because...   →   One piece of evidence is...   →   This matters because...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Which detail from Chapter 1 does the most work in showing Kit that Connecticut is nothing like Barbados? Defend your answer with evidence.</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20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This matters because...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Is there a detail here I could cut because it doesn't support my point?</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Word Parts Launch — morpheme, base, root, prefix, suffix</a:t>
            </a:r>
            <a:endParaRPr lang="en-US" sz="1100" dirty="0"/>
          </a:p>
        </p:txBody>
      </p:sp>
      <p:sp>
        <p:nvSpPr>
          <p:cNvPr id="5" name="Shape 3"/>
          <p:cNvSpPr/>
          <p:nvPr/>
        </p:nvSpPr>
        <p:spPr>
          <a:xfrm>
            <a:off x="365760" y="1097280"/>
            <a:ext cx="8412480" cy="502920"/>
          </a:xfrm>
          <a:prstGeom prst="roundRect">
            <a:avLst>
              <a:gd name="adj" fmla="val 181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39319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un-impress-ive — prefix un- + base impress + suffix -ive (adjective)</a:t>
            </a:r>
            <a:endParaRPr lang="en-US" sz="1200" dirty="0"/>
          </a:p>
        </p:txBody>
      </p:sp>
      <p:sp>
        <p:nvSpPr>
          <p:cNvPr id="7" name="Shape 5"/>
          <p:cNvSpPr/>
          <p:nvPr/>
        </p:nvSpPr>
        <p:spPr>
          <a:xfrm>
            <a:off x="365760" y="1664208"/>
            <a:ext cx="8412480" cy="502920"/>
          </a:xfrm>
          <a:prstGeom prst="roundRect">
            <a:avLst>
              <a:gd name="adj" fmla="val 18182"/>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19072"/>
            <a:ext cx="8046720" cy="39319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dis-appoint-ing — prefix dis- + base appoint + suffix -ing (adjective/verb)</a:t>
            </a:r>
            <a:endParaRPr lang="en-US" sz="1200" dirty="0"/>
          </a:p>
        </p:txBody>
      </p:sp>
      <p:sp>
        <p:nvSpPr>
          <p:cNvPr id="9" name="Shape 7"/>
          <p:cNvSpPr/>
          <p:nvPr/>
        </p:nvSpPr>
        <p:spPr>
          <a:xfrm>
            <a:off x="365760" y="2231136"/>
            <a:ext cx="8412480" cy="502920"/>
          </a:xfrm>
          <a:prstGeom prst="roundRect">
            <a:avLst>
              <a:gd name="adj" fmla="val 18182"/>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286000"/>
            <a:ext cx="8046720" cy="39319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fortific-ation — base fortify + suffix -ation (noun)</a:t>
            </a:r>
            <a:endParaRPr lang="en-US" sz="1200" dirty="0"/>
          </a:p>
        </p:txBody>
      </p:sp>
      <p:sp>
        <p:nvSpPr>
          <p:cNvPr id="11" name="Shape 9"/>
          <p:cNvSpPr/>
          <p:nvPr/>
        </p:nvSpPr>
        <p:spPr>
          <a:xfrm>
            <a:off x="365760" y="2798064"/>
            <a:ext cx="8412480" cy="502920"/>
          </a:xfrm>
          <a:prstGeom prst="roundRect">
            <a:avLst>
              <a:gd name="adj" fmla="val 18182"/>
            </a:avLst>
          </a:prstGeom>
          <a:solidFill>
            <a:srgbClr val="F8F4FF"/>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852928"/>
            <a:ext cx="8046720" cy="39319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re-spect-able — prefix re- + base spect + suffix -able (adjective)</a:t>
            </a:r>
            <a:endParaRPr lang="en-US" sz="1200" dirty="0"/>
          </a:p>
        </p:txBody>
      </p:sp>
      <p:sp>
        <p:nvSpPr>
          <p:cNvPr id="13" name="Shape 11"/>
          <p:cNvSpPr/>
          <p:nvPr/>
        </p:nvSpPr>
        <p:spPr>
          <a:xfrm>
            <a:off x="365760" y="3410712"/>
            <a:ext cx="8412480" cy="777240"/>
          </a:xfrm>
          <a:prstGeom prst="roundRect">
            <a:avLst>
              <a:gd name="adj" fmla="val 11765"/>
            </a:avLst>
          </a:prstGeom>
          <a:solidFill>
            <a:srgbClr val="FEF6E8"/>
          </a:solidFill>
          <a:ln w="12700">
            <a:solidFill>
              <a:srgbClr val="C7922C"/>
            </a:solidFill>
            <a:prstDash val="solid"/>
          </a:ln>
        </p:spPr>
      </p:sp>
      <p:sp>
        <p:nvSpPr>
          <p:cNvPr id="14" name="Text 12"/>
          <p:cNvSpPr/>
          <p:nvPr/>
        </p:nvSpPr>
        <p:spPr>
          <a:xfrm>
            <a:off x="548640" y="3483864"/>
            <a:ext cx="8046720" cy="640080"/>
          </a:xfrm>
          <a:prstGeom prst="rect">
            <a:avLst/>
          </a:prstGeom>
          <a:noFill/>
          <a:ln/>
        </p:spPr>
        <p:txBody>
          <a:bodyPr wrap="square" lIns="0" tIns="0" rIns="0" bIns="0" rtlCol="0" anchor="t"/>
          <a:lstStyle/>
          <a:p>
            <a:pPr indent="0" marL="0">
              <a:buNone/>
            </a:pPr>
            <a:r>
              <a:rPr lang="en-US" sz="1100" b="1" dirty="0">
                <a:solidFill>
                  <a:srgbClr val="C7922C"/>
                </a:solidFill>
                <a:latin typeface="Calibri" pitchFamily="34" charset="0"/>
                <a:ea typeface="Calibri" pitchFamily="34" charset="-122"/>
                <a:cs typeface="Calibri" pitchFamily="34" charset="-120"/>
              </a:rPr>
              <a:t>🫖 Show What You Know · Morphology
</a:t>
            </a:r>
            <a:pPr indent="0" marL="0">
              <a:buNone/>
            </a:pPr>
            <a:r>
              <a:rPr lang="en-US" sz="1100" i="1" dirty="0">
                <a:solidFill>
                  <a:srgbClr val="1E293B"/>
                </a:solidFill>
                <a:latin typeface="Calibri" pitchFamily="34" charset="0"/>
                <a:ea typeface="Calibri" pitchFamily="34" charset="-122"/>
                <a:cs typeface="Calibri" pitchFamily="34" charset="-120"/>
              </a:rPr>
              <a:t>In your own words, explain what a morpheme is and why knowing prefixes and suffixes helps you figure out unfamiliar words. Use one example from the lesson.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 — Decode &amp; Discover</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nautical words from Chapter 1</a:t>
            </a:r>
            <a:endParaRPr lang="en-US" sz="1100" dirty="0"/>
          </a:p>
        </p:txBody>
      </p:sp>
      <p:sp>
        <p:nvSpPr>
          <p:cNvPr id="5" name="Shape 3"/>
          <p:cNvSpPr/>
          <p:nvPr/>
        </p:nvSpPr>
        <p:spPr>
          <a:xfrm>
            <a:off x="365760" y="1097280"/>
            <a:ext cx="8412480" cy="621792"/>
          </a:xfrm>
          <a:prstGeom prst="roundRect">
            <a:avLst>
              <a:gd name="adj" fmla="val 14706"/>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512064"/>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forecastle  </a:t>
            </a:r>
            <a:pPr indent="0" marL="0">
              <a:buNone/>
            </a:pPr>
            <a:r>
              <a:rPr lang="en-US" sz="1100" dirty="0">
                <a:solidFill>
                  <a:srgbClr val="1E293B"/>
                </a:solidFill>
                <a:latin typeface="Calibri" pitchFamily="34" charset="0"/>
                <a:ea typeface="Calibri" pitchFamily="34" charset="-122"/>
                <a:cs typeface="Calibri" pitchFamily="34" charset="-120"/>
              </a:rPr>
              <a:t>The forward part of a ship’s upper deck. Pronounced “FOK-sul.”</a:t>
            </a:r>
            <a:endParaRPr lang="en-US" sz="1300" dirty="0"/>
          </a:p>
        </p:txBody>
      </p:sp>
      <p:sp>
        <p:nvSpPr>
          <p:cNvPr id="7" name="Shape 5"/>
          <p:cNvSpPr/>
          <p:nvPr/>
        </p:nvSpPr>
        <p:spPr>
          <a:xfrm>
            <a:off x="365760" y="1783080"/>
            <a:ext cx="8412480" cy="621792"/>
          </a:xfrm>
          <a:prstGeom prst="roundRect">
            <a:avLst>
              <a:gd name="adj" fmla="val 14706"/>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837944"/>
            <a:ext cx="8046720" cy="512064"/>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pinnaces  </a:t>
            </a:r>
            <a:pPr indent="0" marL="0">
              <a:buNone/>
            </a:pPr>
            <a:r>
              <a:rPr lang="en-US" sz="1100" dirty="0">
                <a:solidFill>
                  <a:srgbClr val="1E293B"/>
                </a:solidFill>
                <a:latin typeface="Calibri" pitchFamily="34" charset="0"/>
                <a:ea typeface="Calibri" pitchFamily="34" charset="-122"/>
                <a:cs typeface="Calibri" pitchFamily="34" charset="-120"/>
              </a:rPr>
              <a:t>Small, light boats used for everyday use near shore.</a:t>
            </a:r>
            <a:endParaRPr lang="en-US" sz="1300" dirty="0"/>
          </a:p>
        </p:txBody>
      </p:sp>
      <p:sp>
        <p:nvSpPr>
          <p:cNvPr id="9" name="Shape 7"/>
          <p:cNvSpPr/>
          <p:nvPr/>
        </p:nvSpPr>
        <p:spPr>
          <a:xfrm>
            <a:off x="365760" y="2468880"/>
            <a:ext cx="8412480" cy="621792"/>
          </a:xfrm>
          <a:prstGeom prst="roundRect">
            <a:avLst>
              <a:gd name="adj" fmla="val 14706"/>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523744"/>
            <a:ext cx="8046720" cy="512064"/>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capstan  </a:t>
            </a:r>
            <a:pPr indent="0" marL="0">
              <a:buNone/>
            </a:pPr>
            <a:r>
              <a:rPr lang="en-US" sz="1100" dirty="0">
                <a:solidFill>
                  <a:srgbClr val="1E293B"/>
                </a:solidFill>
                <a:latin typeface="Calibri" pitchFamily="34" charset="0"/>
                <a:ea typeface="Calibri" pitchFamily="34" charset="-122"/>
                <a:cs typeface="Calibri" pitchFamily="34" charset="-120"/>
              </a:rPr>
              <a:t>A rotating drum on a ship used to wind in heavy ropes or raise the anchor.</a:t>
            </a:r>
            <a:endParaRPr lang="en-US" sz="1300" dirty="0"/>
          </a:p>
        </p:txBody>
      </p:sp>
      <p:sp>
        <p:nvSpPr>
          <p:cNvPr id="11" name="Shape 9"/>
          <p:cNvSpPr/>
          <p:nvPr/>
        </p:nvSpPr>
        <p:spPr>
          <a:xfrm>
            <a:off x="365760" y="3154680"/>
            <a:ext cx="8412480" cy="621792"/>
          </a:xfrm>
          <a:prstGeom prst="roundRect">
            <a:avLst>
              <a:gd name="adj" fmla="val 14706"/>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3209544"/>
            <a:ext cx="8046720" cy="512064"/>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hawser  </a:t>
            </a:r>
            <a:pPr indent="0" marL="0">
              <a:buNone/>
            </a:pPr>
            <a:r>
              <a:rPr lang="en-US" sz="1100" dirty="0">
                <a:solidFill>
                  <a:srgbClr val="1E293B"/>
                </a:solidFill>
                <a:latin typeface="Calibri" pitchFamily="34" charset="0"/>
                <a:ea typeface="Calibri" pitchFamily="34" charset="-122"/>
                <a:cs typeface="Calibri" pitchFamily="34" charset="-120"/>
              </a:rPr>
              <a:t>A thick rope or cable used to tie a ship to the dock.</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Sentences, Fragments, and Run-Ons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Learn — define what makes a sentence complete</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 complete sentence has a subject, a predicate, and expresses a complete thought. A fragment is missing one of those pieces. A run-on jams two complete sentences together without proper punctuation.</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“Nat Eaton climbed down from the rigging and stood beside Kit on the deck.”
</a:t>
            </a:r>
            <a:pPr indent="0" marL="0">
              <a:buNone/>
            </a:pPr>
            <a:r>
              <a:rPr lang="en-US" sz="1100" dirty="0">
                <a:solidFill>
                  <a:srgbClr val="64748B"/>
                </a:solidFill>
                <a:latin typeface="Calibri" pitchFamily="34" charset="0"/>
                <a:ea typeface="Calibri" pitchFamily="34" charset="-122"/>
                <a:cs typeface="Calibri" pitchFamily="34" charset="-120"/>
              </a:rPr>
              <a:t>Complete sentence   /   Fragment   /   Run-on</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“The cold gray water of the harbor.”
</a:t>
            </a:r>
            <a:pPr indent="0" marL="0">
              <a:buNone/>
            </a:pPr>
            <a:r>
              <a:rPr lang="en-US" sz="1100" dirty="0">
                <a:solidFill>
                  <a:srgbClr val="64748B"/>
                </a:solidFill>
                <a:latin typeface="Calibri" pitchFamily="34" charset="0"/>
                <a:ea typeface="Calibri" pitchFamily="34" charset="-122"/>
                <a:cs typeface="Calibri" pitchFamily="34" charset="-120"/>
              </a:rPr>
              <a:t>Complete sentence   /   Fragment   /   Run-on</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“Kit dove into the water the passengers stared in shock.”
</a:t>
            </a:r>
            <a:pPr indent="0" marL="0">
              <a:buNone/>
            </a:pPr>
            <a:r>
              <a:rPr lang="en-US" sz="1100" dirty="0">
                <a:solidFill>
                  <a:srgbClr val="64748B"/>
                </a:solidFill>
                <a:latin typeface="Calibri" pitchFamily="34" charset="0"/>
                <a:ea typeface="Calibri" pitchFamily="34" charset="-122"/>
                <a:cs typeface="Calibri" pitchFamily="34" charset="-120"/>
              </a:rPr>
              <a:t>Complete sentence   /   Fragment   /   Run-on</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Sentences, Fragments, and Run-Ons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Learn — define what makes a sentence complete</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 complete sentence has a subject, a predicate, and expresses a complete thought. A fragment is missing one of those pieces. A run-on jams two complete sentences together without proper punctuation.</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“Nat Eaton climbed down from the rigging and stood beside Kit on the deck.”
</a:t>
            </a:r>
            <a:pPr indent="0" marL="0">
              <a:buNone/>
            </a:pPr>
            <a:r>
              <a:rPr lang="en-US" sz="1200" b="1" dirty="0">
                <a:solidFill>
                  <a:srgbClr val="34B76F"/>
                </a:solidFill>
                <a:latin typeface="Calibri" pitchFamily="34" charset="0"/>
                <a:ea typeface="Calibri" pitchFamily="34" charset="-122"/>
                <a:cs typeface="Calibri" pitchFamily="34" charset="-120"/>
              </a:rPr>
              <a:t>✅ Complete sentence</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“The cold gray water of the harbor.”
</a:t>
            </a:r>
            <a:pPr indent="0" marL="0">
              <a:buNone/>
            </a:pPr>
            <a:r>
              <a:rPr lang="en-US" sz="1200" b="1" dirty="0">
                <a:solidFill>
                  <a:srgbClr val="34B76F"/>
                </a:solidFill>
                <a:latin typeface="Calibri" pitchFamily="34" charset="0"/>
                <a:ea typeface="Calibri" pitchFamily="34" charset="-122"/>
                <a:cs typeface="Calibri" pitchFamily="34" charset="-120"/>
              </a:rPr>
              <a:t>✅ Fragment</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“Kit dove into the water the passengers stared in shock.”
</a:t>
            </a:r>
            <a:pPr indent="0" marL="0">
              <a:buNone/>
            </a:pPr>
            <a:r>
              <a:rPr lang="en-US" sz="1200" b="1" dirty="0">
                <a:solidFill>
                  <a:srgbClr val="34B76F"/>
                </a:solidFill>
                <a:latin typeface="Calibri" pitchFamily="34" charset="0"/>
                <a:ea typeface="Calibri" pitchFamily="34" charset="-122"/>
                <a:cs typeface="Calibri" pitchFamily="34" charset="-120"/>
              </a:rPr>
              <a:t>✅ Run-on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Syllable Types Review</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Discover — notice the patterns in each group</a:t>
            </a:r>
            <a:endParaRPr lang="en-US" sz="1100" dirty="0"/>
          </a:p>
        </p:txBody>
      </p:sp>
      <p:sp>
        <p:nvSpPr>
          <p:cNvPr id="7" name="Text 5"/>
          <p:cNvSpPr/>
          <p:nvPr/>
        </p:nvSpPr>
        <p:spPr>
          <a:xfrm>
            <a:off x="36576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Closed (short vowel)</a:t>
            </a:r>
            <a:endParaRPr lang="en-US" sz="1300" dirty="0"/>
          </a:p>
        </p:txBody>
      </p:sp>
      <p:sp>
        <p:nvSpPr>
          <p:cNvPr id="8" name="Text 6"/>
          <p:cNvSpPr/>
          <p:nvPr/>
        </p:nvSpPr>
        <p:spPr>
          <a:xfrm>
            <a:off x="36576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capstan  ·  dolphin  ·  lumber  ·  bonnet</a:t>
            </a:r>
            <a:endParaRPr lang="en-US" sz="1300" dirty="0"/>
          </a:p>
        </p:txBody>
      </p:sp>
      <p:sp>
        <p:nvSpPr>
          <p:cNvPr id="9" name="Text 7"/>
          <p:cNvSpPr/>
          <p:nvPr/>
        </p:nvSpPr>
        <p:spPr>
          <a:xfrm>
            <a:off x="466344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Open (long vowel)</a:t>
            </a:r>
            <a:endParaRPr lang="en-US" sz="1300" dirty="0"/>
          </a:p>
        </p:txBody>
      </p:sp>
      <p:sp>
        <p:nvSpPr>
          <p:cNvPr id="10" name="Text 8"/>
          <p:cNvSpPr/>
          <p:nvPr/>
        </p:nvSpPr>
        <p:spPr>
          <a:xfrm>
            <a:off x="466344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open  ·  moment  ·  silent  ·  bridle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Kit's Path Through The Witch of Blackbird Pond — Chapter 1: Kit arrives in Connecticut</a:t>
            </a:r>
            <a:endParaRPr lang="en-US" sz="130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4A90D9"/>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1 — Kit arrives aboard the Dolphin</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200" i="1" dirty="0">
                <a:solidFill>
                  <a:srgbClr val="1E293B"/>
                </a:solidFill>
                <a:latin typeface="Calibri" pitchFamily="34" charset="0"/>
                <a:ea typeface="Calibri" pitchFamily="34" charset="-122"/>
                <a:cs typeface="Calibri" pitchFamily="34" charset="-120"/>
              </a:rPr>
              <a:t>What details show Kit that Connecticut is very different from Barbados?</a:t>
            </a:r>
            <a:endParaRPr lang="en-US" sz="1200" dirty="0"/>
          </a:p>
          <a:p>
            <a:pPr indent="0" marL="0">
              <a:buNone/>
            </a:pPr>
            <a:endParaRPr lang="en-US" sz="1200" dirty="0"/>
          </a:p>
          <a:p>
            <a:pPr indent="0" marL="0">
              <a:buNone/>
            </a:pPr>
            <a:r>
              <a:rPr lang="en-US" sz="1200" i="1" dirty="0">
                <a:solidFill>
                  <a:srgbClr val="1E293B"/>
                </a:solidFill>
                <a:latin typeface="Calibri" pitchFamily="34" charset="0"/>
                <a:ea typeface="Calibri" pitchFamily="34" charset="-122"/>
                <a:cs typeface="Calibri" pitchFamily="34" charset="-120"/>
              </a:rPr>
              <a:t>How does the author make you feel that difference?</a:t>
            </a:r>
            <a:endParaRPr lang="en-US" sz="1200" dirty="0"/>
          </a:p>
          <a:p>
            <a:pPr indent="0" marL="0">
              <a:buNone/>
            </a:pPr>
            <a:endParaRPr lang="en-US" sz="1200" dirty="0"/>
          </a:p>
          <a:p>
            <a:pPr indent="0" marL="0">
              <a:buNone/>
            </a:pPr>
            <a:r>
              <a:rPr lang="en-US" sz="1200" i="1" dirty="0">
                <a:solidFill>
                  <a:srgbClr val="1E293B"/>
                </a:solidFill>
                <a:latin typeface="Calibri" pitchFamily="34" charset="0"/>
                <a:ea typeface="Calibri" pitchFamily="34" charset="-122"/>
                <a:cs typeface="Calibri" pitchFamily="34" charset="-120"/>
              </a:rPr>
              <a:t>What do the other characters' reactions tell you about the world Kit is entering?</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1.  </a:t>
            </a:r>
            <a:pPr indent="0" marL="0">
              <a:buNone/>
            </a:pPr>
            <a:r>
              <a:rPr lang="en-US" sz="1200" dirty="0">
                <a:solidFill>
                  <a:srgbClr val="1E293B"/>
                </a:solidFill>
                <a:latin typeface="Calibri" pitchFamily="34" charset="0"/>
                <a:ea typeface="Calibri" pitchFamily="34" charset="-122"/>
                <a:cs typeface="Calibri" pitchFamily="34" charset="-120"/>
              </a:rPr>
              <a:t>Kit is disappointed by her first sight of Connecticut. What details does the author use to show the contrast between Barbados and Saybrook? Use at least two details from the chapter.</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2.  </a:t>
            </a:r>
            <a:pPr indent="0" marL="0">
              <a:buNone/>
            </a:pPr>
            <a:r>
              <a:rPr lang="en-US" sz="1200" dirty="0">
                <a:solidFill>
                  <a:srgbClr val="1E293B"/>
                </a:solidFill>
                <a:latin typeface="Calibri" pitchFamily="34" charset="0"/>
                <a:ea typeface="Calibri" pitchFamily="34" charset="-122"/>
                <a:cs typeface="Calibri" pitchFamily="34" charset="-120"/>
              </a:rPr>
              <a:t>When Kit jumps into the water to rescue Prudence's doll, the other passengers react with shock and anger. Why do you think they respond this way? What does their reaction reveal about the world Kit is entering?</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3.  </a:t>
            </a:r>
            <a:pPr indent="0" marL="0">
              <a:buNone/>
            </a:pPr>
            <a:r>
              <a:rPr lang="en-US" sz="1200" dirty="0">
                <a:solidFill>
                  <a:srgbClr val="1E293B"/>
                </a:solidFill>
                <a:latin typeface="Calibri" pitchFamily="34" charset="0"/>
                <a:ea typeface="Calibri" pitchFamily="34" charset="-122"/>
                <a:cs typeface="Calibri" pitchFamily="34" charset="-120"/>
              </a:rPr>
              <a:t>By the end of Chapter 1, Kit has received several warnings — from Nat, from John Holbrook, and from Goodwife Cruff. What do these warnings suggest about what Kit will face in Connecticut?</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 (Part C)</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SHORT CRAFT-FOCUSED RESPONSE</a:t>
            </a:r>
            <a:endParaRPr lang="en-US" sz="1100" dirty="0"/>
          </a:p>
        </p:txBody>
      </p:sp>
      <p:sp>
        <p:nvSpPr>
          <p:cNvPr id="5" name="Shape 3"/>
          <p:cNvSpPr/>
          <p:nvPr/>
        </p:nvSpPr>
        <p:spPr>
          <a:xfrm>
            <a:off x="365760" y="1097280"/>
            <a:ext cx="8412480" cy="2011680"/>
          </a:xfrm>
          <a:prstGeom prst="roundRect">
            <a:avLst>
              <a:gd name="adj" fmla="val 4545"/>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34440"/>
            <a:ext cx="7955280" cy="173736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Imagine you are Kit, standing on the deck of the Dolphin, seeing Connecticut for the first time. Write 2–3 sentences describing what you see and how you feel. Use at least one detail from the chapter.</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2026-07-12T02:51:38Z</dcterms:created>
  <dcterms:modified xsi:type="dcterms:W3CDTF">2026-07-12T02:51:38Z</dcterms:modified>
</cp:coreProperties>
</file>