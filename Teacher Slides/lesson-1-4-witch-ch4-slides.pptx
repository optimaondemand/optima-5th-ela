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 Day 4,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the world you expected and the world you find are nothing alike?
Reading: I will make connections with Chapter 4 and answer comprehension questions.
Grammar: I will explain the importance of complete sentences, fragments, and run-ons.
Spelling: I will utilize syllable types in a challenge to decode multisyllabic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"mercys fingers stroked the soft blue shawl gently"
Corrected: "Mercy's fingers stroked the soft blue shawl gently."
Compare with the model: both sentences need a capital letter for the character's name, an apostrophe to show possession, and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"mercys fingers stroked the soft blue shawl gently"
Corrected: "Mercy's fingers stroked the soft blue shawl gently."
Compare with the model: both sentences need a capital letter for the character's name, an apostrophe to show possession, and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Syllable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Chapter 4: Kit settles into the Wood household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1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4 — Kit settles into the Wood household</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the world you expected and the world you find are nothing alike?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Chapter 4 and answer comprehension questions.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the importance of complete sentences, fragments, and run-ons.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utilize syllable types in a challenge to decode multisyllabic words.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reflect on what they have read across a whole week. Before you answer today's questions, think about Kit's journey from Barbados to Wethersfield.</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is Kit different now than she was at the start of Chapter 1? What has she learned about herself and about this new world?</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moments across these four chapters surprised Kit the most, and how did each one change her understanding?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“Judith's” eyes narrowed as she reached to touch “Kit's” “glove”“.”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Judith's  </a:t>
            </a:r>
            <a:pPr indent="0" marL="0">
              <a:buNone/>
            </a:pPr>
            <a:r>
              <a:rPr lang="en-US" sz="1200" dirty="0">
                <a:solidFill>
                  <a:srgbClr val="1E293B"/>
                </a:solidFill>
                <a:latin typeface="Calibri" pitchFamily="34" charset="0"/>
                <a:ea typeface="Calibri" pitchFamily="34" charset="-122"/>
                <a:cs typeface="Calibri" pitchFamily="34" charset="-120"/>
              </a:rPr>
              <a:t>“Judith” is a name, so it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Kit's  </a:t>
            </a:r>
            <a:pPr indent="0" marL="0">
              <a:buNone/>
            </a:pPr>
            <a:r>
              <a:rPr lang="en-US" sz="1200" dirty="0">
                <a:solidFill>
                  <a:srgbClr val="1E293B"/>
                </a:solidFill>
                <a:latin typeface="Calibri" pitchFamily="34" charset="0"/>
                <a:ea typeface="Calibri" pitchFamily="34" charset="-122"/>
                <a:cs typeface="Calibri" pitchFamily="34" charset="-120"/>
              </a:rPr>
              <a:t>“Kit” is a name, so it starts with a capital letter. The apostrophe-s shows the glove belongs to Kit.</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glove  </a:t>
            </a:r>
            <a:pPr indent="0" marL="0">
              <a:buNone/>
            </a:pPr>
            <a:r>
              <a:rPr lang="en-US" sz="1200" dirty="0">
                <a:solidFill>
                  <a:srgbClr val="1E293B"/>
                </a:solidFill>
                <a:latin typeface="Calibri" pitchFamily="34" charset="0"/>
                <a:ea typeface="Calibri" pitchFamily="34" charset="-122"/>
                <a:cs typeface="Calibri" pitchFamily="34" charset="-120"/>
              </a:rPr>
              <a:t>No special convention here — just a regular noun.</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The period ends the sentence. Every complete sentence needs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mercys fingers stroked the soft blue shawl gently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mercys fingers stroked the soft blue shawl gently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Mercy's fingers stroked the soft blue shawl gently.</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both sentences need a capital letter for the character's name, an apostrophe to show possession, and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Sea Fever</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John Masefield</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I must go down to the seas again, for the call of the running tide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Is a wild call and a clear call that may not be denied;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all I ask is a windy day with the white clouds flying,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the flung spray and the blown spume, and the sea-gulls crying.</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How does the poet's word choice create a feeling of longing? Think about words like “wild call” and “may not be denied.” What does this poem have in common with Kit's journey from Barbados to Connecticut?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Looking back across all four chapters this week, which single moment did the most to change Kit's understanding of Connecticut? Defend your answer with evidence.</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Looking back across all four chapters this week, which single moment did the most to change Kit's understanding of Connecticut?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Morpheme Launch — word parts that carry meaning</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disapproval — dis (not) + approv (to favor) + al (noun suffix)</a:t>
            </a:r>
            <a:endParaRPr lang="en-US" sz="1200" dirty="0"/>
          </a:p>
        </p:txBody>
      </p:sp>
      <p:sp>
        <p:nvSpPr>
          <p:cNvPr id="7" name="Shape 5"/>
          <p:cNvSpPr/>
          <p:nvPr/>
        </p:nvSpPr>
        <p:spPr>
          <a:xfrm>
            <a:off x="365760" y="1664208"/>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19072"/>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uncomfortable — un (not) + comfort (ease) + able (capable of)</a:t>
            </a:r>
            <a:endParaRPr lang="en-US" sz="1200" dirty="0"/>
          </a:p>
        </p:txBody>
      </p:sp>
      <p:sp>
        <p:nvSpPr>
          <p:cNvPr id="9" name="Shape 7"/>
          <p:cNvSpPr/>
          <p:nvPr/>
        </p:nvSpPr>
        <p:spPr>
          <a:xfrm>
            <a:off x="365760" y="2231136"/>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86000"/>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impatiently — im (not) + patient (able to wait) + ly (in a way)</a:t>
            </a:r>
            <a:endParaRPr lang="en-US" sz="1200" dirty="0"/>
          </a:p>
        </p:txBody>
      </p:sp>
      <p:sp>
        <p:nvSpPr>
          <p:cNvPr id="11" name="Shape 9"/>
          <p:cNvSpPr/>
          <p:nvPr/>
        </p:nvSpPr>
        <p:spPr>
          <a:xfrm>
            <a:off x="365760" y="2798064"/>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52928"/>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respectably — respect (to honor) + able (worthy of) + ly (in a way)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This week's words from Chapters 1–4: paduasoy, clapboards, carding, indigo, calico, homespun</a:t>
            </a:r>
            <a:endParaRPr lang="en-US" sz="1100" dirty="0"/>
          </a:p>
        </p:txBody>
      </p:sp>
      <p:sp>
        <p:nvSpPr>
          <p:cNvPr id="5" name="Text 3"/>
          <p:cNvSpPr/>
          <p:nvPr/>
        </p:nvSpPr>
        <p:spPr>
          <a:xfrm>
            <a:off x="365760" y="1097280"/>
            <a:ext cx="84124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Words: paduasoy, clapboards, carding, indigo, calico, homespun</a:t>
            </a:r>
            <a:endParaRPr lang="en-US" sz="1200" dirty="0"/>
          </a:p>
        </p:txBody>
      </p:sp>
      <p:sp>
        <p:nvSpPr>
          <p:cNvPr id="6" name="Shape 4"/>
          <p:cNvSpPr/>
          <p:nvPr/>
        </p:nvSpPr>
        <p:spPr>
          <a:xfrm>
            <a:off x="365760" y="15544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00200"/>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Use two vocabulary words in original sentences that show their meaning.</a:t>
            </a:r>
            <a:endParaRPr lang="en-US" sz="1100" dirty="0"/>
          </a:p>
        </p:txBody>
      </p:sp>
      <p:sp>
        <p:nvSpPr>
          <p:cNvPr id="8" name="Shape 6"/>
          <p:cNvSpPr/>
          <p:nvPr/>
        </p:nvSpPr>
        <p:spPr>
          <a:xfrm>
            <a:off x="365760" y="2066544"/>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12264"/>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Find an example of one word (or a related word) in your reading this week. Copy the sentence and explain the word.</a:t>
            </a:r>
            <a:endParaRPr lang="en-US" sz="1100" dirty="0"/>
          </a:p>
        </p:txBody>
      </p:sp>
      <p:sp>
        <p:nvSpPr>
          <p:cNvPr id="10" name="Shape 8"/>
          <p:cNvSpPr/>
          <p:nvPr/>
        </p:nvSpPr>
        <p:spPr>
          <a:xfrm>
            <a:off x="365760" y="2578608"/>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24328"/>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Connect one word to a root, prefix, or suffix. Explain the connection.</a:t>
            </a:r>
            <a:endParaRPr lang="en-US" sz="1100" dirty="0"/>
          </a:p>
        </p:txBody>
      </p:sp>
      <p:sp>
        <p:nvSpPr>
          <p:cNvPr id="12" name="Shape 10"/>
          <p:cNvSpPr/>
          <p:nvPr/>
        </p:nvSpPr>
        <p:spPr>
          <a:xfrm>
            <a:off x="365760" y="3090672"/>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36392"/>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Sort the week's vocabulary words by meaning or category. Explain your groups.</a:t>
            </a:r>
            <a:endParaRPr lang="en-US" sz="1100" dirty="0"/>
          </a:p>
        </p:txBody>
      </p:sp>
      <p:sp>
        <p:nvSpPr>
          <p:cNvPr id="14" name="Shape 12"/>
          <p:cNvSpPr/>
          <p:nvPr/>
        </p:nvSpPr>
        <p:spPr>
          <a:xfrm>
            <a:off x="365760" y="3648456"/>
            <a:ext cx="8412480" cy="640080"/>
          </a:xfrm>
          <a:prstGeom prst="roundRect">
            <a:avLst>
              <a:gd name="adj" fmla="val 14286"/>
            </a:avLst>
          </a:prstGeom>
          <a:solidFill>
            <a:srgbClr val="FEF6E8"/>
          </a:solidFill>
          <a:ln w="12700">
            <a:solidFill>
              <a:srgbClr val="C7922C"/>
            </a:solidFill>
            <a:prstDash val="solid"/>
          </a:ln>
        </p:spPr>
      </p:sp>
      <p:sp>
        <p:nvSpPr>
          <p:cNvPr id="15" name="Text 13"/>
          <p:cNvSpPr/>
          <p:nvPr/>
        </p:nvSpPr>
        <p:spPr>
          <a:xfrm>
            <a:off x="548640" y="3694176"/>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00" i="1" dirty="0">
                <a:solidFill>
                  <a:srgbClr val="1E293B"/>
                </a:solidFill>
                <a:latin typeface="Calibri" pitchFamily="34" charset="0"/>
                <a:ea typeface="Calibri" pitchFamily="34" charset="-122"/>
                <a:cs typeface="Calibri" pitchFamily="34" charset="-120"/>
              </a:rPr>
              <a:t>Choose ONE activity from the board. Then write your response in the box below.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Complete Sentences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importance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complete sentence has a subject and a predicate and expresses a whole thought. Writers use complete sentences to make their ideas clear. Sometimes authors use fragments deliberately for effect, but they know the rules first.</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trunk of silk dresses.” vs. “Kit gave Judith the peacock blue dress.”
</a:t>
            </a:r>
            <a:pPr indent="0" marL="0">
              <a:buNone/>
            </a:pPr>
            <a:r>
              <a:rPr lang="en-US" sz="1100" dirty="0">
                <a:solidFill>
                  <a:srgbClr val="64748B"/>
                </a:solidFill>
                <a:latin typeface="Calibri" pitchFamily="34" charset="0"/>
                <a:ea typeface="Calibri" pitchFamily="34" charset="-122"/>
                <a:cs typeface="Calibri" pitchFamily="34" charset="-120"/>
              </a:rPr>
              <a:t>Fragment   /   Complete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“Matthew ordered Judith to return the dress.” vs. “Frippery and vanity in the household.”
</a:t>
            </a:r>
            <a:pPr indent="0" marL="0">
              <a:buNone/>
            </a:pPr>
            <a:r>
              <a:rPr lang="en-US" sz="1100" dirty="0">
                <a:solidFill>
                  <a:srgbClr val="64748B"/>
                </a:solidFill>
                <a:latin typeface="Calibri" pitchFamily="34" charset="0"/>
                <a:ea typeface="Calibri" pitchFamily="34" charset="-122"/>
                <a:cs typeface="Calibri" pitchFamily="34" charset="-120"/>
              </a:rPr>
              <a:t>Complete   /   Fragment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“Carding the wool all afternoon long.” vs. “Kit confided in Mercy about her reason for leaving.”
</a:t>
            </a:r>
            <a:pPr indent="0" marL="0">
              <a:buNone/>
            </a:pPr>
            <a:r>
              <a:rPr lang="en-US" sz="1100" dirty="0">
                <a:solidFill>
                  <a:srgbClr val="64748B"/>
                </a:solidFill>
                <a:latin typeface="Calibri" pitchFamily="34" charset="0"/>
                <a:ea typeface="Calibri" pitchFamily="34" charset="-122"/>
                <a:cs typeface="Calibri" pitchFamily="34" charset="-120"/>
              </a:rPr>
              <a:t>Fragment   /   Complete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Complete Sentences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importance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complete sentence has a subject and a predicate and expresses a whole thought. Writers use complete sentences to make their ideas clear. Sometimes authors use fragments deliberately for effect, but they know the rules first.</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trunk of silk dresses.” vs. “Kit gave Judith the peacock blue dress.”
</a:t>
            </a:r>
            <a:pPr indent="0" marL="0">
              <a:buNone/>
            </a:pPr>
            <a:r>
              <a:rPr lang="en-US" sz="1200" b="1" dirty="0">
                <a:solidFill>
                  <a:srgbClr val="34B76F"/>
                </a:solidFill>
                <a:latin typeface="Calibri" pitchFamily="34" charset="0"/>
                <a:ea typeface="Calibri" pitchFamily="34" charset="-122"/>
                <a:cs typeface="Calibri" pitchFamily="34" charset="-120"/>
              </a:rPr>
              <a:t>✅ Kit gave Judith the peacock blue dress.</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“Matthew ordered Judith to return the dress.” vs. “Frippery and vanity in the household.”
</a:t>
            </a:r>
            <a:pPr indent="0" marL="0">
              <a:buNone/>
            </a:pPr>
            <a:r>
              <a:rPr lang="en-US" sz="1200" b="1" dirty="0">
                <a:solidFill>
                  <a:srgbClr val="34B76F"/>
                </a:solidFill>
                <a:latin typeface="Calibri" pitchFamily="34" charset="0"/>
                <a:ea typeface="Calibri" pitchFamily="34" charset="-122"/>
                <a:cs typeface="Calibri" pitchFamily="34" charset="-120"/>
              </a:rPr>
              <a:t>✅ Matthew ordered Judith to return the dress.</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“Carding the wool all afternoon long.” vs. “Kit confided in Mercy about her reason for leaving.”
</a:t>
            </a:r>
            <a:pPr indent="0" marL="0">
              <a:buNone/>
            </a:pPr>
            <a:r>
              <a:rPr lang="en-US" sz="1200" b="1" dirty="0">
                <a:solidFill>
                  <a:srgbClr val="34B76F"/>
                </a:solidFill>
                <a:latin typeface="Calibri" pitchFamily="34" charset="0"/>
                <a:ea typeface="Calibri" pitchFamily="34" charset="-122"/>
                <a:cs typeface="Calibri" pitchFamily="34" charset="-120"/>
              </a:rPr>
              <a:t>✅ Kit confided in Mercy about her reason for leaving.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Syllable Types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Challenge — break apart multisyllabic words</a:t>
            </a:r>
            <a:endParaRPr lang="en-US" sz="1100" dirty="0"/>
          </a:p>
        </p:txBody>
      </p:sp>
      <p:sp>
        <p:nvSpPr>
          <p:cNvPr id="7" name="Shape 5"/>
          <p:cNvSpPr/>
          <p:nvPr/>
        </p:nvSpPr>
        <p:spPr>
          <a:xfrm>
            <a:off x="365760" y="1143000"/>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97864"/>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comfortable
</a:t>
            </a:r>
            <a:pPr indent="0" marL="0">
              <a:buNone/>
            </a:pPr>
            <a:r>
              <a:rPr lang="en-US" sz="1100" i="1" dirty="0">
                <a:solidFill>
                  <a:srgbClr val="64748B"/>
                </a:solidFill>
                <a:latin typeface="Calibri" pitchFamily="34" charset="0"/>
                <a:ea typeface="Calibri" pitchFamily="34" charset="-122"/>
                <a:cs typeface="Calibri" pitchFamily="34" charset="-120"/>
              </a:rPr>
              <a:t>com · for · ta · ble   (closed · r-controlled · open · consonant-le)</a:t>
            </a:r>
            <a:endParaRPr lang="en-US" sz="1400" dirty="0"/>
          </a:p>
        </p:txBody>
      </p:sp>
      <p:sp>
        <p:nvSpPr>
          <p:cNvPr id="9" name="Shape 7"/>
          <p:cNvSpPr/>
          <p:nvPr/>
        </p:nvSpPr>
        <p:spPr>
          <a:xfrm>
            <a:off x="365760" y="1901952"/>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1956816"/>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plantation
</a:t>
            </a:r>
            <a:pPr indent="0" marL="0">
              <a:buNone/>
            </a:pPr>
            <a:r>
              <a:rPr lang="en-US" sz="1100" i="1" dirty="0">
                <a:solidFill>
                  <a:srgbClr val="64748B"/>
                </a:solidFill>
                <a:latin typeface="Calibri" pitchFamily="34" charset="0"/>
                <a:ea typeface="Calibri" pitchFamily="34" charset="-122"/>
                <a:cs typeface="Calibri" pitchFamily="34" charset="-120"/>
              </a:rPr>
              <a:t>plan · ta · tion   (closed · open · closed)</a:t>
            </a:r>
            <a:endParaRPr lang="en-US" sz="1400" dirty="0"/>
          </a:p>
        </p:txBody>
      </p:sp>
      <p:sp>
        <p:nvSpPr>
          <p:cNvPr id="11" name="Shape 9"/>
          <p:cNvSpPr/>
          <p:nvPr/>
        </p:nvSpPr>
        <p:spPr>
          <a:xfrm>
            <a:off x="365760" y="2660904"/>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15768"/>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disappointment
</a:t>
            </a:r>
            <a:pPr indent="0" marL="0">
              <a:buNone/>
            </a:pPr>
            <a:r>
              <a:rPr lang="en-US" sz="1100" i="1" dirty="0">
                <a:solidFill>
                  <a:srgbClr val="64748B"/>
                </a:solidFill>
                <a:latin typeface="Calibri" pitchFamily="34" charset="0"/>
                <a:ea typeface="Calibri" pitchFamily="34" charset="-122"/>
                <a:cs typeface="Calibri" pitchFamily="34" charset="-120"/>
              </a:rPr>
              <a:t>dis · ap · point · ment   (closed · closed · vowel team · closed)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Chapter 4: Kit settles into the Wood household</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4 — Kit settles into the Wood household</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How is Kit different now than she was at the start of Chapter 1? What has she learned about herself and about this new world?</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What moments across these four chapters surprised Kit the most, and how did each one change her understanding?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Matthew orders Judith to return the dress and calls Kit's belongings “frippery” and “vanity.” What do his words and actions reveal about the values of this Puritan household?</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Kit confides in Mercy about the real reason she left Barbados. Why do you think she trusts Mercy with this secret but not the others?</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Cross-Week Question: Looking back across all four chapters, how has Kit's understanding of Connecticut changed from the moment she first saw the shore to the end of Chapter 4? Use at least two specific details from different chapters.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Think about Kit's first full day in the Wood household. What is one thing she has learned about her new life that she did not expect? Write 2–3 sentences explaining what surprised her most and why.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2026-07-12T02:51:38Z</dcterms:created>
  <dcterms:modified xsi:type="dcterms:W3CDTF">2026-07-12T02:51:38Z</dcterms:modified>
</cp:coreProperties>
</file>