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21, Day 3, Chapter 18 — Trail of Tears. Historical content note: this novel is narrated by a Choctaw boy during the Trail of Tears / removal era — handle with the same care as the source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Isaac tells you on the first page that he is already a ghost. How does knowing the ending change how you feel as you read the beginning?
Reading: I will analyze Isaac's first-person narrative voice in Chapter 1.
Grammar: I will identify appositives in sentences from Chapter 1.
Spelling: I will sort historical vocabulary words by syllable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"isaac and joseph knew they had to act before they took naomi farther away"
Corrected: "Isaac and Joseph knew they had to act before the soldiers took Naomi farther away."
First “they” = Isaac and Joseph (fine). Second “they” is unclear — replace with “the soldiers.” Capitalize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"isaac and joseph knew they had to act before they took naomi farther away"
Corrected: "Isaac and Joseph knew they had to act before the soldiers took Naomi farther away."
First “they” = Isaac and Joseph (fine). Second “they” is unclear — replace with “the soldiers.” Capitalize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 use if time allows. Read the prompt aloud. Remind students: pick a side, defend with evidence, anticipate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Is there a stronger, more specific word I could use here instead of a vague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review — same word set practiced across the week (match/identify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tap/discuss and guess the appositive.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word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Open &amp; Closed Syllables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 Reader / Writer / Mimic. Read the sentence aloud, then work through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Isaac’s Path — 📍 Chapter 18 — Trail of Tears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Connection — Stage: APPLY
Focus: Narrative Revision: Imagery &amp; Description
Task: Today is the Apply stage. Revise Moment 2 from your plan. This time focus on a comparison: something the moment is like . Tingle compares movement to fog, to smoke, to snow. Your comparison should fit the emotion of the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0A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8B6FC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8B6FC0"/>
                </a:solidFill>
                <a:latin typeface="Calibri" pitchFamily="34" charset="0"/>
                <a:ea typeface="Calibri" pitchFamily="34" charset="-122"/>
                <a:cs typeface="Calibri" pitchFamily="34" charset="-120"/>
              </a:rPr>
              <a:t>WEEK 21  ·  DAY 3</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How I Became a Ghost</a:t>
            </a:r>
            <a:endParaRPr lang="en-US" sz="2800" dirty="0"/>
          </a:p>
          <a:p>
            <a:pPr algn="l" indent="0" marL="0">
              <a:buNone/>
            </a:pPr>
            <a:r>
              <a:rPr lang="en-US" sz="2800" b="1" dirty="0">
                <a:solidFill>
                  <a:srgbClr val="FFFFFF"/>
                </a:solidFill>
                <a:latin typeface="Calibri" pitchFamily="34" charset="0"/>
                <a:ea typeface="Calibri" pitchFamily="34" charset="-122"/>
                <a:cs typeface="Calibri" pitchFamily="34" charset="-120"/>
              </a:rPr>
              <a:t>Chapter 18 — Trail of Tears</a:t>
            </a:r>
            <a:endParaRPr lang="en-US" sz="28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21  ·  Courage &amp; Remembrance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Isaac tells you on the first page that he is already a ghost. How does knowing the ending change how you feel as you read the beginning?</a:t>
            </a:r>
            <a:endParaRPr lang="en-US" sz="13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59152"/>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Reading: </a:t>
            </a:r>
            <a:pPr indent="0" marL="0">
              <a:buNone/>
            </a:pPr>
            <a:r>
              <a:rPr lang="en-US" sz="1250" dirty="0">
                <a:solidFill>
                  <a:srgbClr val="1E293B"/>
                </a:solidFill>
                <a:latin typeface="Calibri" pitchFamily="34" charset="0"/>
                <a:ea typeface="Calibri" pitchFamily="34" charset="-122"/>
                <a:cs typeface="Calibri" pitchFamily="34" charset="-120"/>
              </a:rPr>
              <a:t>I will analyze Isaac's first-person narrative voice in Chapter 1.</a:t>
            </a:r>
            <a:endParaRPr lang="en-US" sz="1500" dirty="0"/>
          </a:p>
        </p:txBody>
      </p:sp>
      <p:sp>
        <p:nvSpPr>
          <p:cNvPr id="10" name="Shape 8"/>
          <p:cNvSpPr/>
          <p:nvPr/>
        </p:nvSpPr>
        <p:spPr>
          <a:xfrm>
            <a:off x="365760" y="3090672"/>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163824"/>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Grammar: </a:t>
            </a:r>
            <a:pPr indent="0" marL="0">
              <a:buNone/>
            </a:pPr>
            <a:r>
              <a:rPr lang="en-US" sz="1250" dirty="0">
                <a:solidFill>
                  <a:srgbClr val="1E293B"/>
                </a:solidFill>
                <a:latin typeface="Calibri" pitchFamily="34" charset="0"/>
                <a:ea typeface="Calibri" pitchFamily="34" charset="-122"/>
                <a:cs typeface="Calibri" pitchFamily="34" charset="-120"/>
              </a:rPr>
              <a:t>I will identify appositives in sentences from Chapter 1.</a:t>
            </a:r>
            <a:endParaRPr lang="en-US" sz="1500" dirty="0"/>
          </a:p>
        </p:txBody>
      </p:sp>
      <p:sp>
        <p:nvSpPr>
          <p:cNvPr id="12" name="Shape 10"/>
          <p:cNvSpPr/>
          <p:nvPr/>
        </p:nvSpPr>
        <p:spPr>
          <a:xfrm>
            <a:off x="365760" y="3895344"/>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968496"/>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Spelling: </a:t>
            </a:r>
            <a:pPr indent="0" marL="0">
              <a:buNone/>
            </a:pPr>
            <a:r>
              <a:rPr lang="en-US" sz="1250" dirty="0">
                <a:solidFill>
                  <a:srgbClr val="1E293B"/>
                </a:solidFill>
                <a:latin typeface="Calibri" pitchFamily="34" charset="0"/>
                <a:ea typeface="Calibri" pitchFamily="34" charset="-122"/>
                <a:cs typeface="Calibri" pitchFamily="34" charset="-120"/>
              </a:rPr>
              <a:t>I will sort historical vocabulary words by syllable count.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554480"/>
          </a:xfrm>
          <a:prstGeom prst="roundRect">
            <a:avLst>
              <a:gd name="adj" fmla="val 58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13716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Good readers notice when historical context becomes part of the plot. In Chapter 18, the Trail of Tears is not just background — it shapes every decision Isaac makes. As you read: how does the scale of the suffering around him affect what Isaac chooses to do?</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Naomi watched the ghost and she understood that it meant her no harm.</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23160"/>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Naomi  </a:t>
            </a:r>
            <a:pPr indent="0" marL="0">
              <a:buNone/>
            </a:pPr>
            <a:r>
              <a:rPr lang="en-US" sz="1150" dirty="0">
                <a:solidFill>
                  <a:srgbClr val="1E293B"/>
                </a:solidFill>
                <a:latin typeface="Calibri" pitchFamily="34" charset="0"/>
                <a:ea typeface="Calibri" pitchFamily="34" charset="-122"/>
                <a:cs typeface="Calibri" pitchFamily="34" charset="-120"/>
              </a:rPr>
              <a:t>Antecedent.</a:t>
            </a:r>
            <a:endParaRPr lang="en-US" sz="1250" dirty="0"/>
          </a:p>
        </p:txBody>
      </p:sp>
      <p:sp>
        <p:nvSpPr>
          <p:cNvPr id="10" name="Shape 8"/>
          <p:cNvSpPr/>
          <p:nvPr/>
        </p:nvSpPr>
        <p:spPr>
          <a:xfrm>
            <a:off x="365760" y="2889504"/>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935224"/>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she  </a:t>
            </a:r>
            <a:pPr indent="0" marL="0">
              <a:buNone/>
            </a:pPr>
            <a:r>
              <a:rPr lang="en-US" sz="1150" dirty="0">
                <a:solidFill>
                  <a:srgbClr val="1E293B"/>
                </a:solidFill>
                <a:latin typeface="Calibri" pitchFamily="34" charset="0"/>
                <a:ea typeface="Calibri" pitchFamily="34" charset="-122"/>
                <a:cs typeface="Calibri" pitchFamily="34" charset="-120"/>
              </a:rPr>
              <a:t>She = Naomi.</a:t>
            </a:r>
            <a:endParaRPr lang="en-US" sz="1250" dirty="0"/>
          </a:p>
        </p:txBody>
      </p:sp>
      <p:sp>
        <p:nvSpPr>
          <p:cNvPr id="12" name="Shape 10"/>
          <p:cNvSpPr/>
          <p:nvPr/>
        </p:nvSpPr>
        <p:spPr>
          <a:xfrm>
            <a:off x="365760" y="3401568"/>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447288"/>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understood  </a:t>
            </a:r>
            <a:pPr indent="0" marL="0">
              <a:buNone/>
            </a:pPr>
            <a:r>
              <a:rPr lang="en-US" sz="1150" dirty="0">
                <a:solidFill>
                  <a:srgbClr val="1E293B"/>
                </a:solidFill>
                <a:latin typeface="Calibri" pitchFamily="34" charset="0"/>
                <a:ea typeface="Calibri" pitchFamily="34" charset="-122"/>
                <a:cs typeface="Calibri" pitchFamily="34" charset="-120"/>
              </a:rPr>
              <a:t>Strong verb.</a:t>
            </a:r>
            <a:endParaRPr lang="en-US" sz="1250" dirty="0"/>
          </a:p>
        </p:txBody>
      </p:sp>
      <p:sp>
        <p:nvSpPr>
          <p:cNvPr id="14" name="Shape 12"/>
          <p:cNvSpPr/>
          <p:nvPr/>
        </p:nvSpPr>
        <p:spPr>
          <a:xfrm>
            <a:off x="365760" y="3913632"/>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959352"/>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it  </a:t>
            </a:r>
            <a:pPr indent="0" marL="0">
              <a:buNone/>
            </a:pPr>
            <a:r>
              <a:rPr lang="en-US" sz="1150" dirty="0">
                <a:solidFill>
                  <a:srgbClr val="1E293B"/>
                </a:solidFill>
                <a:latin typeface="Calibri" pitchFamily="34" charset="0"/>
                <a:ea typeface="Calibri" pitchFamily="34" charset="-122"/>
                <a:cs typeface="Calibri" pitchFamily="34" charset="-120"/>
              </a:rPr>
              <a:t>It = ghost.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isaac and joseph knew they had to act before they took naomi farther away</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isaac and joseph knew they had to act before they took naomi farther away</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Isaac and Joseph knew they had to act before the soldiers took Naomi farther away.</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First “they” = Isaac and Joseph (fine). Second “they” is unclear — replace with “the soldiers.” Capitalize names.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463040"/>
          </a:xfrm>
          <a:prstGeom prst="roundRect">
            <a:avLst>
              <a:gd name="adj" fmla="val 6250"/>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2344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This chapter is titled 'Trail of Tears.' Which detail from Chapter 18 best captures why this name has stayed attached to this history for so long? Defend your answer with evidence.</a:t>
            </a:r>
            <a:endParaRPr lang="en-US" sz="1600" dirty="0"/>
          </a:p>
        </p:txBody>
      </p:sp>
      <p:sp>
        <p:nvSpPr>
          <p:cNvPr id="7" name="Text 5"/>
          <p:cNvSpPr/>
          <p:nvPr/>
        </p:nvSpPr>
        <p:spPr>
          <a:xfrm>
            <a:off x="457200" y="29260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218688"/>
            <a:ext cx="8229600" cy="822960"/>
          </a:xfrm>
          <a:prstGeom prst="rect">
            <a:avLst/>
          </a:prstGeom>
          <a:noFill/>
          <a:ln/>
        </p:spPr>
        <p:txBody>
          <a:bodyPr wrap="square" lIns="0" tIns="0" rIns="0" bIns="0" rtlCol="0" anchor="ctr"/>
          <a:lstStyle/>
          <a:p>
            <a:pPr indent="0" marL="0">
              <a:buNone/>
            </a:pPr>
            <a:r>
              <a:rPr lang="en-US" sz="1150" i="1" dirty="0">
                <a:solidFill>
                  <a:srgbClr val="0E1C42"/>
                </a:solidFill>
                <a:latin typeface="Calibri" pitchFamily="34" charset="0"/>
                <a:ea typeface="Calibri" pitchFamily="34" charset="-122"/>
                <a:cs typeface="Calibri" pitchFamily="34" charset="-120"/>
              </a:rPr>
              <a:t>I think...   →   because...   →   One piece of evidence is...   →   This matters because...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This chapter is titled 'Trail of Tears.' Which detail from Chapter 18 best captures why this name has stayed attached to this history for so long? Defend your answer with evidence.</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15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This matters because...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Is there a stronger, more specific word I could use here instead of a vague one?</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Morphology: Roots mem/memor + script</a:t>
            </a:r>
            <a:endParaRPr lang="en-US" sz="1100" dirty="0"/>
          </a:p>
        </p:txBody>
      </p:sp>
      <p:sp>
        <p:nvSpPr>
          <p:cNvPr id="5" name="Shape 3"/>
          <p:cNvSpPr/>
          <p:nvPr/>
        </p:nvSpPr>
        <p:spPr>
          <a:xfrm>
            <a:off x="365760" y="1097280"/>
            <a:ext cx="8412480" cy="566928"/>
          </a:xfrm>
          <a:prstGeom prst="roundRect">
            <a:avLst>
              <a:gd name="adj" fmla="val 16129"/>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mem / memor = memory → memoir, memorial, memorize, commemorate script = write → script, inscription, description, manuscript, prescribe</a:t>
            </a:r>
            <a:endParaRPr lang="en-US" sz="1150" dirty="0"/>
          </a:p>
        </p:txBody>
      </p:sp>
      <p:sp>
        <p:nvSpPr>
          <p:cNvPr id="7" name="Shape 5"/>
          <p:cNvSpPr/>
          <p:nvPr/>
        </p:nvSpPr>
        <p:spPr>
          <a:xfrm>
            <a:off x="365760" y="1737360"/>
            <a:ext cx="8412480" cy="566928"/>
          </a:xfrm>
          <a:prstGeom prst="roundRect">
            <a:avLst>
              <a:gd name="adj" fmla="val 16129"/>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9222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commemorate → Root: mem/memor (memory)</a:t>
            </a:r>
            <a:endParaRPr lang="en-US" sz="1150" dirty="0"/>
          </a:p>
        </p:txBody>
      </p:sp>
      <p:sp>
        <p:nvSpPr>
          <p:cNvPr id="9" name="Shape 7"/>
          <p:cNvSpPr/>
          <p:nvPr/>
        </p:nvSpPr>
        <p:spPr>
          <a:xfrm>
            <a:off x="365760" y="2377440"/>
            <a:ext cx="8412480" cy="566928"/>
          </a:xfrm>
          <a:prstGeom prst="roundRect">
            <a:avLst>
              <a:gd name="adj" fmla="val 16129"/>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43230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manuscript → Root: script (write)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Words from this week's chapters.</a:t>
            </a:r>
            <a:endParaRPr lang="en-US" sz="1100" dirty="0"/>
          </a:p>
        </p:txBody>
      </p:sp>
      <p:sp>
        <p:nvSpPr>
          <p:cNvPr id="5" name="Shape 3"/>
          <p:cNvSpPr/>
          <p:nvPr/>
        </p:nvSpPr>
        <p:spPr>
          <a:xfrm>
            <a:off x="365760" y="109728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narrator  </a:t>
            </a:r>
            <a:pPr indent="0" marL="0">
              <a:buNone/>
            </a:pPr>
            <a:r>
              <a:rPr lang="en-US" sz="1150" dirty="0">
                <a:solidFill>
                  <a:srgbClr val="1E293B"/>
                </a:solidFill>
                <a:latin typeface="Calibri" pitchFamily="34" charset="0"/>
                <a:ea typeface="Calibri" pitchFamily="34" charset="-122"/>
                <a:cs typeface="Calibri" pitchFamily="34" charset="-120"/>
              </a:rPr>
              <a:t>The person telling the story in their own words.</a:t>
            </a:r>
            <a:endParaRPr lang="en-US" sz="1300" dirty="0"/>
          </a:p>
        </p:txBody>
      </p:sp>
      <p:sp>
        <p:nvSpPr>
          <p:cNvPr id="7" name="Shape 5"/>
          <p:cNvSpPr/>
          <p:nvPr/>
        </p:nvSpPr>
        <p:spPr>
          <a:xfrm>
            <a:off x="365760" y="169164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3736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treaty  </a:t>
            </a:r>
            <a:pPr indent="0" marL="0">
              <a:buNone/>
            </a:pPr>
            <a:r>
              <a:rPr lang="en-US" sz="1150" dirty="0">
                <a:solidFill>
                  <a:srgbClr val="1E293B"/>
                </a:solidFill>
                <a:latin typeface="Calibri" pitchFamily="34" charset="0"/>
                <a:ea typeface="Calibri" pitchFamily="34" charset="-122"/>
                <a:cs typeface="Calibri" pitchFamily="34" charset="-120"/>
              </a:rPr>
              <a:t>A formal agreement between governments.</a:t>
            </a:r>
            <a:endParaRPr lang="en-US" sz="1300" dirty="0"/>
          </a:p>
        </p:txBody>
      </p:sp>
      <p:sp>
        <p:nvSpPr>
          <p:cNvPr id="9" name="Shape 7"/>
          <p:cNvSpPr/>
          <p:nvPr/>
        </p:nvSpPr>
        <p:spPr>
          <a:xfrm>
            <a:off x="365760" y="228600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33172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memoir  </a:t>
            </a:r>
            <a:pPr indent="0" marL="0">
              <a:buNone/>
            </a:pPr>
            <a:r>
              <a:rPr lang="en-US" sz="1150" dirty="0">
                <a:solidFill>
                  <a:srgbClr val="1E293B"/>
                </a:solidFill>
                <a:latin typeface="Calibri" pitchFamily="34" charset="0"/>
                <a:ea typeface="Calibri" pitchFamily="34" charset="-122"/>
                <a:cs typeface="Calibri" pitchFamily="34" charset="-120"/>
              </a:rPr>
              <a:t>A written account of events a person lived through.</a:t>
            </a:r>
            <a:endParaRPr lang="en-US" sz="1300" dirty="0"/>
          </a:p>
        </p:txBody>
      </p:sp>
      <p:sp>
        <p:nvSpPr>
          <p:cNvPr id="11" name="Shape 9"/>
          <p:cNvSpPr/>
          <p:nvPr/>
        </p:nvSpPr>
        <p:spPr>
          <a:xfrm>
            <a:off x="365760" y="288036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92608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removal  </a:t>
            </a:r>
            <a:pPr indent="0" marL="0">
              <a:buNone/>
            </a:pPr>
            <a:r>
              <a:rPr lang="en-US" sz="1150" dirty="0">
                <a:solidFill>
                  <a:srgbClr val="1E293B"/>
                </a:solidFill>
                <a:latin typeface="Calibri" pitchFamily="34" charset="0"/>
                <a:ea typeface="Calibri" pitchFamily="34" charset="-122"/>
                <a:cs typeface="Calibri" pitchFamily="34" charset="-120"/>
              </a:rPr>
              <a:t>Being forced from your homeland.</a:t>
            </a:r>
            <a:endParaRPr lang="en-US" sz="1300" dirty="0"/>
          </a:p>
        </p:txBody>
      </p:sp>
      <p:sp>
        <p:nvSpPr>
          <p:cNvPr id="13" name="Shape 11"/>
          <p:cNvSpPr/>
          <p:nvPr/>
        </p:nvSpPr>
        <p:spPr>
          <a:xfrm>
            <a:off x="365760" y="347472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52044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prophecy  </a:t>
            </a:r>
            <a:pPr indent="0" marL="0">
              <a:buNone/>
            </a:pPr>
            <a:r>
              <a:rPr lang="en-US" sz="1150" dirty="0">
                <a:solidFill>
                  <a:srgbClr val="1E293B"/>
                </a:solidFill>
                <a:latin typeface="Calibri" pitchFamily="34" charset="0"/>
                <a:ea typeface="Calibri" pitchFamily="34" charset="-122"/>
                <a:cs typeface="Calibri" pitchFamily="34" charset="-120"/>
              </a:rPr>
              <a:t>A prediction of what will happen in the future.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Grammar: Appositives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Day 2: Identify — tap the appositive in each sentence.</a:t>
            </a:r>
            <a:endParaRPr lang="en-US" sz="1100" dirty="0"/>
          </a:p>
        </p:txBody>
      </p:sp>
      <p:sp>
        <p:nvSpPr>
          <p:cNvPr id="7" name="Text 5"/>
          <p:cNvSpPr/>
          <p:nvPr/>
        </p:nvSpPr>
        <p:spPr>
          <a:xfrm>
            <a:off x="365760" y="1097280"/>
            <a:ext cx="841248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An appositive renames or describes the noun right before it. It is set off with commas on both sides.</a:t>
            </a:r>
            <a:endParaRPr lang="en-US" sz="1150" dirty="0"/>
          </a:p>
        </p:txBody>
      </p:sp>
      <p:sp>
        <p:nvSpPr>
          <p:cNvPr id="8" name="Shape 6"/>
          <p:cNvSpPr/>
          <p:nvPr/>
        </p:nvSpPr>
        <p:spPr>
          <a:xfrm>
            <a:off x="365760" y="1600200"/>
            <a:ext cx="8412480" cy="457200"/>
          </a:xfrm>
          <a:prstGeom prst="roundRect">
            <a:avLst>
              <a:gd name="adj" fmla="val 20000"/>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645920"/>
            <a:ext cx="8046720" cy="36576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Model: </a:t>
            </a:r>
            <a:pPr indent="0" marL="0">
              <a:buNone/>
            </a:pPr>
            <a:r>
              <a:rPr lang="en-US" sz="1100" i="1" dirty="0">
                <a:solidFill>
                  <a:srgbClr val="1E293B"/>
                </a:solidFill>
                <a:latin typeface="Calibri" pitchFamily="34" charset="0"/>
                <a:ea typeface="Calibri" pitchFamily="34" charset="-122"/>
                <a:cs typeface="Calibri" pitchFamily="34" charset="-120"/>
              </a:rPr>
              <a:t>Isaac, a ten-year-old Choctaw boy, lived in Mississippi.</a:t>
            </a:r>
            <a:endParaRPr lang="en-US" sz="1100" dirty="0"/>
          </a:p>
        </p:txBody>
      </p:sp>
      <p:sp>
        <p:nvSpPr>
          <p:cNvPr id="10" name="Shape 8"/>
          <p:cNvSpPr/>
          <p:nvPr/>
        </p:nvSpPr>
        <p:spPr>
          <a:xfrm>
            <a:off x="365760" y="2130552"/>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176272"/>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Jumper, my dog, was always by my side.</a:t>
            </a:r>
            <a:endParaRPr lang="en-US" sz="1150" dirty="0"/>
          </a:p>
        </p:txBody>
      </p:sp>
      <p:sp>
        <p:nvSpPr>
          <p:cNvPr id="12" name="Shape 10"/>
          <p:cNvSpPr/>
          <p:nvPr/>
        </p:nvSpPr>
        <p:spPr>
          <a:xfrm>
            <a:off x="365760" y="2752344"/>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2798064"/>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Luke, my big brother, left to play stickball.</a:t>
            </a:r>
            <a:endParaRPr lang="en-US" sz="1150" dirty="0"/>
          </a:p>
        </p:txBody>
      </p:sp>
      <p:sp>
        <p:nvSpPr>
          <p:cNvPr id="14" name="Shape 12"/>
          <p:cNvSpPr/>
          <p:nvPr/>
        </p:nvSpPr>
        <p:spPr>
          <a:xfrm>
            <a:off x="365760" y="3374136"/>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419856"/>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Treaty Talk, news from the Nahullos, had come to town.</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Grammar: Appositives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Day 2: Identify — tap the appositive in each sentence.</a:t>
            </a:r>
            <a:endParaRPr lang="en-US" sz="1100" dirty="0"/>
          </a:p>
        </p:txBody>
      </p:sp>
      <p:sp>
        <p:nvSpPr>
          <p:cNvPr id="7" name="Text 5"/>
          <p:cNvSpPr/>
          <p:nvPr/>
        </p:nvSpPr>
        <p:spPr>
          <a:xfrm>
            <a:off x="365760" y="1097280"/>
            <a:ext cx="841248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An appositive renames or describes the noun right before it. It is set off with commas on both sides.</a:t>
            </a:r>
            <a:endParaRPr lang="en-US" sz="1150" dirty="0"/>
          </a:p>
        </p:txBody>
      </p:sp>
      <p:sp>
        <p:nvSpPr>
          <p:cNvPr id="8" name="Shape 6"/>
          <p:cNvSpPr/>
          <p:nvPr/>
        </p:nvSpPr>
        <p:spPr>
          <a:xfrm>
            <a:off x="365760" y="1600200"/>
            <a:ext cx="8412480" cy="457200"/>
          </a:xfrm>
          <a:prstGeom prst="roundRect">
            <a:avLst>
              <a:gd name="adj" fmla="val 20000"/>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645920"/>
            <a:ext cx="8046720" cy="36576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Model: </a:t>
            </a:r>
            <a:pPr indent="0" marL="0">
              <a:buNone/>
            </a:pPr>
            <a:r>
              <a:rPr lang="en-US" sz="1100" i="1" dirty="0">
                <a:solidFill>
                  <a:srgbClr val="1E293B"/>
                </a:solidFill>
                <a:latin typeface="Calibri" pitchFamily="34" charset="0"/>
                <a:ea typeface="Calibri" pitchFamily="34" charset="-122"/>
                <a:cs typeface="Calibri" pitchFamily="34" charset="-120"/>
              </a:rPr>
              <a:t>Isaac, a ten-year-old Choctaw boy, lived in Mississippi.</a:t>
            </a:r>
            <a:endParaRPr lang="en-US" sz="1100" dirty="0"/>
          </a:p>
        </p:txBody>
      </p:sp>
      <p:sp>
        <p:nvSpPr>
          <p:cNvPr id="10" name="Shape 8"/>
          <p:cNvSpPr/>
          <p:nvPr/>
        </p:nvSpPr>
        <p:spPr>
          <a:xfrm>
            <a:off x="365760" y="2130552"/>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176272"/>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Jumper, my dog, was always by my side.
</a:t>
            </a:r>
            <a:pPr indent="0" marL="0">
              <a:buNone/>
            </a:pPr>
            <a:r>
              <a:rPr lang="en-US" sz="1200" b="1" dirty="0">
                <a:solidFill>
                  <a:srgbClr val="34B76F"/>
                </a:solidFill>
                <a:latin typeface="Calibri" pitchFamily="34" charset="0"/>
                <a:ea typeface="Calibri" pitchFamily="34" charset="-122"/>
                <a:cs typeface="Calibri" pitchFamily="34" charset="-120"/>
              </a:rPr>
              <a:t>✅ my</a:t>
            </a:r>
            <a:endParaRPr lang="en-US" sz="1150" dirty="0"/>
          </a:p>
        </p:txBody>
      </p:sp>
      <p:sp>
        <p:nvSpPr>
          <p:cNvPr id="12" name="Shape 10"/>
          <p:cNvSpPr/>
          <p:nvPr/>
        </p:nvSpPr>
        <p:spPr>
          <a:xfrm>
            <a:off x="365760" y="2752344"/>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2798064"/>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Luke, my big brother, left to play stickball.
</a:t>
            </a:r>
            <a:pPr indent="0" marL="0">
              <a:buNone/>
            </a:pPr>
            <a:r>
              <a:rPr lang="en-US" sz="1200" b="1" dirty="0">
                <a:solidFill>
                  <a:srgbClr val="34B76F"/>
                </a:solidFill>
                <a:latin typeface="Calibri" pitchFamily="34" charset="0"/>
                <a:ea typeface="Calibri" pitchFamily="34" charset="-122"/>
                <a:cs typeface="Calibri" pitchFamily="34" charset="-120"/>
              </a:rPr>
              <a:t>✅ my</a:t>
            </a:r>
            <a:endParaRPr lang="en-US" sz="1150" dirty="0"/>
          </a:p>
        </p:txBody>
      </p:sp>
      <p:sp>
        <p:nvSpPr>
          <p:cNvPr id="14" name="Shape 12"/>
          <p:cNvSpPr/>
          <p:nvPr/>
        </p:nvSpPr>
        <p:spPr>
          <a:xfrm>
            <a:off x="365760" y="3374136"/>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419856"/>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Treaty Talk, news from the Nahullos, had come to town.
</a:t>
            </a:r>
            <a:pPr indent="0" marL="0">
              <a:buNone/>
            </a:pPr>
            <a:r>
              <a:rPr lang="en-US" sz="1200" b="1" dirty="0">
                <a:solidFill>
                  <a:srgbClr val="34B76F"/>
                </a:solidFill>
                <a:latin typeface="Calibri" pitchFamily="34" charset="0"/>
                <a:ea typeface="Calibri" pitchFamily="34" charset="-122"/>
                <a:cs typeface="Calibri" pitchFamily="34" charset="-120"/>
              </a:rPr>
              <a:t>✅ news</a:t>
            </a:r>
            <a:endParaRPr lang="en-US" sz="1150" dirty="0"/>
          </a:p>
        </p:txBody>
      </p:sp>
      <p:sp>
        <p:nvSpPr>
          <p:cNvPr id="16" name="Shape 14"/>
          <p:cNvSpPr/>
          <p:nvPr/>
        </p:nvSpPr>
        <p:spPr>
          <a:xfrm>
            <a:off x="365760" y="4014216"/>
            <a:ext cx="8412480" cy="777240"/>
          </a:xfrm>
          <a:prstGeom prst="roundRect">
            <a:avLst>
              <a:gd name="adj" fmla="val 11765"/>
            </a:avLst>
          </a:prstGeom>
          <a:solidFill>
            <a:srgbClr val="FEF6E8"/>
          </a:solidFill>
          <a:ln w="12700">
            <a:solidFill>
              <a:srgbClr val="C7922C"/>
            </a:solidFill>
            <a:prstDash val="solid"/>
          </a:ln>
        </p:spPr>
      </p:sp>
      <p:sp>
        <p:nvSpPr>
          <p:cNvPr id="17" name="Text 15"/>
          <p:cNvSpPr/>
          <p:nvPr/>
        </p:nvSpPr>
        <p:spPr>
          <a:xfrm>
            <a:off x="548640" y="4087368"/>
            <a:ext cx="8046720" cy="640080"/>
          </a:xfrm>
          <a:prstGeom prst="rect">
            <a:avLst/>
          </a:prstGeom>
          <a:noFill/>
          <a:ln/>
        </p:spPr>
        <p:txBody>
          <a:bodyPr wrap="square" lIns="0" tIns="0" rIns="0" bIns="0" rtlCol="0" anchor="t"/>
          <a:lstStyle/>
          <a:p>
            <a:pPr indent="0" marL="0">
              <a:buNone/>
            </a:pPr>
            <a:r>
              <a:rPr lang="en-US" sz="1050" b="1" dirty="0">
                <a:solidFill>
                  <a:srgbClr val="C7922C"/>
                </a:solidFill>
                <a:latin typeface="Calibri" pitchFamily="34" charset="0"/>
                <a:ea typeface="Calibri" pitchFamily="34" charset="-122"/>
                <a:cs typeface="Calibri" pitchFamily="34" charset="-120"/>
              </a:rPr>
              <a:t>🫖 Show What You Know · Show What You Know
</a:t>
            </a:r>
            <a:pPr indent="0" marL="0">
              <a:buNone/>
            </a:pPr>
            <a:r>
              <a:rPr lang="en-US" sz="1050" i="1" dirty="0">
                <a:solidFill>
                  <a:srgbClr val="1E293B"/>
                </a:solidFill>
                <a:latin typeface="Calibri" pitchFamily="34" charset="0"/>
                <a:ea typeface="Calibri" pitchFamily="34" charset="-122"/>
                <a:cs typeface="Calibri" pitchFamily="34" charset="-120"/>
              </a:rPr>
              <a:t>Read this sentence: “Isaac’s father, a quiet and dignified man, held Mother’s hand.” What is the appositive? What does it tell you about Isaac’s father?</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Spelling: Open &amp; Closed Syllables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Sort the words by their first syllable.</a:t>
            </a:r>
            <a:endParaRPr lang="en-US" sz="1100" dirty="0"/>
          </a:p>
        </p:txBody>
      </p:sp>
      <p:sp>
        <p:nvSpPr>
          <p:cNvPr id="7" name="Text 5"/>
          <p:cNvSpPr/>
          <p:nvPr/>
        </p:nvSpPr>
        <p:spPr>
          <a:xfrm>
            <a:off x="36576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2 syllables</a:t>
            </a:r>
            <a:endParaRPr lang="en-US" sz="1300" dirty="0"/>
          </a:p>
        </p:txBody>
      </p:sp>
      <p:sp>
        <p:nvSpPr>
          <p:cNvPr id="8" name="Text 6"/>
          <p:cNvSpPr/>
          <p:nvPr/>
        </p:nvSpPr>
        <p:spPr>
          <a:xfrm>
            <a:off x="36576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Choctaw</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treaty</a:t>
            </a:r>
            <a:endParaRPr lang="en-US" sz="1300" dirty="0"/>
          </a:p>
        </p:txBody>
      </p:sp>
      <p:sp>
        <p:nvSpPr>
          <p:cNvPr id="9" name="Text 7"/>
          <p:cNvSpPr/>
          <p:nvPr/>
        </p:nvSpPr>
        <p:spPr>
          <a:xfrm>
            <a:off x="316992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4 syllables</a:t>
            </a:r>
            <a:endParaRPr lang="en-US" sz="1300" dirty="0"/>
          </a:p>
        </p:txBody>
      </p:sp>
      <p:sp>
        <p:nvSpPr>
          <p:cNvPr id="10" name="Text 8"/>
          <p:cNvSpPr/>
          <p:nvPr/>
        </p:nvSpPr>
        <p:spPr>
          <a:xfrm>
            <a:off x="316992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Mississippi</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territory</a:t>
            </a:r>
            <a:endParaRPr lang="en-US" sz="1300" dirty="0"/>
          </a:p>
        </p:txBody>
      </p:sp>
      <p:sp>
        <p:nvSpPr>
          <p:cNvPr id="11" name="Text 9"/>
          <p:cNvSpPr/>
          <p:nvPr/>
        </p:nvSpPr>
        <p:spPr>
          <a:xfrm>
            <a:off x="597408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3 syllables</a:t>
            </a:r>
            <a:endParaRPr lang="en-US" sz="1300" dirty="0"/>
          </a:p>
        </p:txBody>
      </p:sp>
      <p:sp>
        <p:nvSpPr>
          <p:cNvPr id="12" name="Text 10"/>
          <p:cNvSpPr/>
          <p:nvPr/>
        </p:nvSpPr>
        <p:spPr>
          <a:xfrm>
            <a:off x="597408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removal</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government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RWM — Read · Notice · Try</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THE SENTENCE</a:t>
            </a:r>
            <a:endParaRPr lang="en-US" sz="1100" dirty="0"/>
          </a:p>
        </p:txBody>
      </p:sp>
      <p:sp>
        <p:nvSpPr>
          <p:cNvPr id="5" name="Shape 3"/>
          <p:cNvSpPr/>
          <p:nvPr/>
        </p:nvSpPr>
        <p:spPr>
          <a:xfrm>
            <a:off x="365760" y="1078992"/>
            <a:ext cx="8412480" cy="685800"/>
          </a:xfrm>
          <a:prstGeom prst="roundRect">
            <a:avLst>
              <a:gd name="adj" fmla="val 13333"/>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panther moved through the dark, silent as smoke.”</a:t>
            </a:r>
            <a:endParaRPr lang="en-US" sz="1600" dirty="0"/>
          </a:p>
        </p:txBody>
      </p:sp>
      <p:sp>
        <p:nvSpPr>
          <p:cNvPr id="7" name="Shape 5"/>
          <p:cNvSpPr/>
          <p:nvPr/>
        </p:nvSpPr>
        <p:spPr>
          <a:xfrm>
            <a:off x="365760" y="187452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929384"/>
            <a:ext cx="8046720" cy="603504"/>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As a Reader
</a:t>
            </a:r>
            <a:pPr indent="0" marL="0">
              <a:buNone/>
            </a:pPr>
            <a:r>
              <a:rPr lang="en-US" sz="1100" dirty="0">
                <a:solidFill>
                  <a:srgbClr val="1E293B"/>
                </a:solidFill>
                <a:latin typeface="Calibri" pitchFamily="34" charset="0"/>
                <a:ea typeface="Calibri" pitchFamily="34" charset="-122"/>
                <a:cs typeface="Calibri" pitchFamily="34" charset="-120"/>
              </a:rPr>
              <a:t>What does this sentence make you see or feel?</a:t>
            </a:r>
            <a:endParaRPr lang="en-US" sz="1150" dirty="0"/>
          </a:p>
        </p:txBody>
      </p:sp>
      <p:sp>
        <p:nvSpPr>
          <p:cNvPr id="9" name="Shape 7"/>
          <p:cNvSpPr/>
          <p:nvPr/>
        </p:nvSpPr>
        <p:spPr>
          <a:xfrm>
            <a:off x="365760" y="2660904"/>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715768"/>
            <a:ext cx="8046720" cy="603504"/>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As a Writer
</a:t>
            </a:r>
            <a:pPr indent="0" marL="0">
              <a:buNone/>
            </a:pPr>
            <a:r>
              <a:rPr lang="en-US" sz="1100" dirty="0">
                <a:solidFill>
                  <a:srgbClr val="1E293B"/>
                </a:solidFill>
                <a:latin typeface="Calibri" pitchFamily="34" charset="0"/>
                <a:ea typeface="Calibri" pitchFamily="34" charset="-122"/>
                <a:cs typeface="Calibri" pitchFamily="34" charset="-120"/>
              </a:rPr>
              <a:t>A simile: “silent as smoke.” Tingle chooses smoke — something you can’t hold, that passes through things. It fits a ghost story perfectly.</a:t>
            </a:r>
            <a:endParaRPr lang="en-US" sz="1150" dirty="0"/>
          </a:p>
        </p:txBody>
      </p:sp>
      <p:sp>
        <p:nvSpPr>
          <p:cNvPr id="11" name="Shape 9"/>
          <p:cNvSpPr/>
          <p:nvPr/>
        </p:nvSpPr>
        <p:spPr>
          <a:xfrm>
            <a:off x="365760" y="3447288"/>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3502152"/>
            <a:ext cx="8046720" cy="603504"/>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Try It
</a:t>
            </a:r>
            <a:pPr indent="0" marL="0">
              <a:buNone/>
            </a:pPr>
            <a:r>
              <a:rPr lang="en-US" sz="1100" dirty="0">
                <a:solidFill>
                  <a:srgbClr val="1E293B"/>
                </a:solidFill>
                <a:latin typeface="Calibri" pitchFamily="34" charset="0"/>
                <a:ea typeface="Calibri" pitchFamily="34" charset="-122"/>
                <a:cs typeface="Calibri" pitchFamily="34" charset="-120"/>
              </a:rPr>
              <a:t>Write a sentence describing someone or something using a simile that fits the mood of the moment.</a:t>
            </a:r>
            <a:endParaRPr lang="en-US" sz="1150" dirty="0"/>
          </a:p>
        </p:txBody>
      </p:sp>
      <p:sp>
        <p:nvSpPr>
          <p:cNvPr id="13" name="Shape 11"/>
          <p:cNvSpPr/>
          <p:nvPr/>
        </p:nvSpPr>
        <p:spPr>
          <a:xfrm>
            <a:off x="365760" y="4251960"/>
            <a:ext cx="8412480" cy="457200"/>
          </a:xfrm>
          <a:prstGeom prst="roundRect">
            <a:avLst>
              <a:gd name="adj" fmla="val 20000"/>
            </a:avLst>
          </a:prstGeom>
          <a:solidFill>
            <a:srgbClr val="F0E8FF"/>
          </a:solidFill>
          <a:ln w="12700">
            <a:solidFill>
              <a:srgbClr val="8B6FC0"/>
            </a:solidFill>
            <a:prstDash val="solid"/>
          </a:ln>
        </p:spPr>
      </p:sp>
      <p:sp>
        <p:nvSpPr>
          <p:cNvPr id="14" name="Text 12"/>
          <p:cNvSpPr/>
          <p:nvPr/>
        </p:nvSpPr>
        <p:spPr>
          <a:xfrm>
            <a:off x="548640" y="4288536"/>
            <a:ext cx="8046720" cy="365760"/>
          </a:xfrm>
          <a:prstGeom prst="rect">
            <a:avLst/>
          </a:prstGeom>
          <a:noFill/>
          <a:ln/>
        </p:spPr>
        <p:txBody>
          <a:bodyPr wrap="square" lIns="0" tIns="0" rIns="0" bIns="0" rtlCol="0" anchor="ctr"/>
          <a:lstStyle/>
          <a:p>
            <a:pPr indent="0" marL="0">
              <a:buNone/>
            </a:pPr>
            <a:r>
              <a:rPr lang="en-US" sz="1050" b="1" dirty="0">
                <a:solidFill>
                  <a:srgbClr val="8B6FC0"/>
                </a:solidFill>
                <a:latin typeface="Calibri" pitchFamily="34" charset="0"/>
                <a:ea typeface="Calibri" pitchFamily="34" charset="-122"/>
                <a:cs typeface="Calibri" pitchFamily="34" charset="-120"/>
              </a:rPr>
              <a:t>Sentence frame: </a:t>
            </a:r>
            <a:pPr indent="0" marL="0">
              <a:buNone/>
            </a:pPr>
            <a:r>
              <a:rPr lang="en-US" sz="1050" i="1" dirty="0">
                <a:solidFill>
                  <a:srgbClr val="1E293B"/>
                </a:solidFill>
                <a:latin typeface="Calibri" pitchFamily="34" charset="0"/>
                <a:ea typeface="Calibri" pitchFamily="34" charset="-122"/>
                <a:cs typeface="Calibri" pitchFamily="34" charset="-120"/>
              </a:rPr>
              <a:t>The ___ moved through the ___, ___ as ___.</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955280" cy="594360"/>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Isaac’s Path — 📍 Chapter 18 — Trail of Tears</a:t>
            </a:r>
            <a:endParaRPr lang="en-US" sz="1250" dirty="0"/>
          </a:p>
        </p:txBody>
      </p:sp>
      <p:sp>
        <p:nvSpPr>
          <p:cNvPr id="9" name="Text 7"/>
          <p:cNvSpPr/>
          <p:nvPr/>
        </p:nvSpPr>
        <p:spPr>
          <a:xfrm>
            <a:off x="365760" y="1975104"/>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231136"/>
            <a:ext cx="8412480" cy="640080"/>
          </a:xfrm>
          <a:prstGeom prst="roundRect">
            <a:avLst>
              <a:gd name="adj" fmla="val 14286"/>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304288"/>
            <a:ext cx="7955280" cy="493776"/>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Chapter 18 — Trail of Tears</a:t>
            </a:r>
            <a:endParaRPr lang="en-US" sz="1500" dirty="0"/>
          </a:p>
        </p:txBody>
      </p:sp>
      <p:sp>
        <p:nvSpPr>
          <p:cNvPr id="12" name="Text 10"/>
          <p:cNvSpPr/>
          <p:nvPr/>
        </p:nvSpPr>
        <p:spPr>
          <a:xfrm>
            <a:off x="365760" y="2999232"/>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KEEP YOUR READING LENS IN MIND</a:t>
            </a:r>
            <a:endParaRPr lang="en-US" sz="1100" dirty="0"/>
          </a:p>
        </p:txBody>
      </p:sp>
      <p:sp>
        <p:nvSpPr>
          <p:cNvPr id="13" name="Shape 11"/>
          <p:cNvSpPr/>
          <p:nvPr/>
        </p:nvSpPr>
        <p:spPr>
          <a:xfrm>
            <a:off x="365760" y="3255264"/>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46704"/>
            <a:ext cx="7955280" cy="1097280"/>
          </a:xfrm>
          <a:prstGeom prst="rect">
            <a:avLst/>
          </a:prstGeom>
          <a:noFill/>
          <a:ln/>
        </p:spPr>
        <p:txBody>
          <a:bodyPr wrap="square" lIns="0" tIns="0" rIns="0" bIns="0" rtlCol="0" anchor="t"/>
          <a:lstStyle/>
          <a:p>
            <a:pPr indent="0" marL="0">
              <a:buNone/>
            </a:pPr>
            <a:r>
              <a:rPr lang="en-US" sz="1150" i="1" dirty="0">
                <a:solidFill>
                  <a:srgbClr val="1E293B"/>
                </a:solidFill>
                <a:latin typeface="Calibri" pitchFamily="34" charset="0"/>
                <a:ea typeface="Calibri" pitchFamily="34" charset="-122"/>
                <a:cs typeface="Calibri" pitchFamily="34" charset="-120"/>
              </a:rPr>
              <a:t>Good readers notice when historical context becomes part of the plot. In Chapter 18, the Trail of Tears is not just background — it shapes every decision Isaac makes. As you read: how does the scale of the suffering around him affect what Isaac chooses to do?</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Questions — Preview</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(PART A)</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1.  </a:t>
            </a:r>
            <a:pPr indent="0" marL="0">
              <a:buNone/>
            </a:pPr>
            <a:r>
              <a:rPr lang="en-US" sz="1150" dirty="0">
                <a:solidFill>
                  <a:srgbClr val="1E293B"/>
                </a:solidFill>
                <a:latin typeface="Calibri" pitchFamily="34" charset="0"/>
                <a:ea typeface="Calibri" pitchFamily="34" charset="-122"/>
                <a:cs typeface="Calibri" pitchFamily="34" charset="-120"/>
              </a:rPr>
              <a:t>What does Isaac observe about the state of the walkers and the scale of suffering in Chapter 18? Use at least two specific details.</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2.  </a:t>
            </a:r>
            <a:pPr indent="0" marL="0">
              <a:buNone/>
            </a:pPr>
            <a:r>
              <a:rPr lang="en-US" sz="1150" dirty="0">
                <a:solidFill>
                  <a:srgbClr val="1E293B"/>
                </a:solidFill>
                <a:latin typeface="Calibri" pitchFamily="34" charset="0"/>
                <a:ea typeface="Calibri" pitchFamily="34" charset="-122"/>
                <a:cs typeface="Calibri" pitchFamily="34" charset="-120"/>
              </a:rPr>
              <a:t>Isaac cannot save everyone. He focuses on Naomi. Is this the right choice? What does it say about justice — can you pursue justice for one person while others still suffer?</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45536"/>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3.  </a:t>
            </a:r>
            <a:pPr indent="0" marL="0">
              <a:buNone/>
            </a:pPr>
            <a:r>
              <a:rPr lang="en-US" sz="1150" dirty="0">
                <a:solidFill>
                  <a:srgbClr val="1E293B"/>
                </a:solidFill>
                <a:latin typeface="Calibri" pitchFamily="34" charset="0"/>
                <a:ea typeface="Calibri" pitchFamily="34" charset="-122"/>
                <a:cs typeface="Calibri" pitchFamily="34" charset="-120"/>
              </a:rPr>
              <a:t>🌟 Week Closer. In Chapters 16, 17, and 18, Isaac transitions fully into ghost life. What has he gained from this transition? What has he lost? And what does Tingle suggest about what it means to “live” beyond death?</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4124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STAGE: APPLY</a:t>
            </a:r>
            <a:endParaRPr lang="en-US" sz="1100" dirty="0"/>
          </a:p>
        </p:txBody>
      </p:sp>
      <p:sp>
        <p:nvSpPr>
          <p:cNvPr id="5" name="Shape 3"/>
          <p:cNvSpPr/>
          <p:nvPr/>
        </p:nvSpPr>
        <p:spPr>
          <a:xfrm>
            <a:off x="365760" y="1097280"/>
            <a:ext cx="8412480" cy="502920"/>
          </a:xfrm>
          <a:prstGeom prst="roundRect">
            <a:avLst>
              <a:gd name="adj" fmla="val 18182"/>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1148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Narrative Revision: Imagery &amp; Description</a:t>
            </a:r>
            <a:endParaRPr lang="en-US" sz="1300" dirty="0"/>
          </a:p>
        </p:txBody>
      </p:sp>
      <p:sp>
        <p:nvSpPr>
          <p:cNvPr id="7" name="Text 5"/>
          <p:cNvSpPr/>
          <p:nvPr/>
        </p:nvSpPr>
        <p:spPr>
          <a:xfrm>
            <a:off x="365760" y="175564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TODAY'S TASK</a:t>
            </a:r>
            <a:endParaRPr lang="en-US" sz="1100" dirty="0"/>
          </a:p>
        </p:txBody>
      </p:sp>
      <p:sp>
        <p:nvSpPr>
          <p:cNvPr id="8" name="Shape 6"/>
          <p:cNvSpPr/>
          <p:nvPr/>
        </p:nvSpPr>
        <p:spPr>
          <a:xfrm>
            <a:off x="365760" y="2011680"/>
            <a:ext cx="8412480" cy="2377440"/>
          </a:xfrm>
          <a:prstGeom prst="roundRect">
            <a:avLst>
              <a:gd name="adj" fmla="val 3846"/>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103120"/>
            <a:ext cx="8046720" cy="21945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Today is the Apply stage. Revise Moment 2 from your plan. This time focus on a comparison: something the moment is like . Tingle compares movement to fog, to smoke, to snow. Your comparison should fit the emotion of the moment.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2026-07-13T17:32:03Z</dcterms:created>
  <dcterms:modified xsi:type="dcterms:W3CDTF">2026-07-13T17:32:03Z</dcterms:modified>
</cp:coreProperties>
</file>