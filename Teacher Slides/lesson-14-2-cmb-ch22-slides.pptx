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14.2: Chapter 22, "Science and Sumatra". Banner quote: “To see a World in a Grain of Sand / And a Heaven in a Wild Flower…” (William Blake, 1803 • Auguries of Innocence).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does it mean for a method to be truly scientific? Today you read Chapter 22. Ask: How does theme develop across the whole book?
Objectives:
- 🧭 Morphology: Word family sort by part of speech.
- ✏️ Grammar SWYK: Title formatting and MLA citation.
- 📜 Poetry: Blake “Auguries of Innocence” — seeing the world in a grain of sand.
- 📖 Reading: I will synthesize by tracing how Nat’s science finally earns trust — in London and at Harvard.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in science and sumatra latham describes how nat bowditch earned an honorary degree from Harvard before sailing as captain of the putnam
Corrected: In “Science and Sumatra,” Latham describes how Nat Bowditch earned an honorary degree from Harvard before sailing as captain of the Putnam.
Fixes: chapter title in quotes; capitalize “In” and “Nat Bowditch”; ship name Putnam italicized;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in science and sumatra latham describes how nat bowditch earned an honorary degree from Harvard before sailing as captain of the putnam
Corrected: In “Science and Sumatra,” Latham describes how Nat Bowditch earned an honorary degree from Harvard before sailing as captain of the Putnam.
Fixes: chapter title in quotes; capitalize “In” and “Nat Bowditch”; ship name Putnam italicized;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
In Chapter 22, the world begins to notice Nat’s careful science — his book sells in London, and Harvard honors him. William Blake wrote this famous opening in 1803, the same era, about seeing the universe in a grain of sand. It connects to the way Nat sees every celestial observation: a small measurement that contains the whole cosmos.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 and answer someone who disagrees.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Word Family Sort — Sort by part of speech.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Verb action or state: navigate, inform
Noun person, place, thing, idea: navigation, navigator, information
Adjective describes a noun: informative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navigate  2. information  3. navigator  4. informative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Editing for Conventions — Identify — find the convention error.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Apply Patterns — Cumulative review — apply all four patterns.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support
2. navigator
3. hazardous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aloud twice. Work through Reader → Writer →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their own sentence in the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Publish: Revise your conclusion &amp; write your 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Publish: Revise your conclusion &amp; write your 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14  ·  DAY 2  ·  LESSON 14.2</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22 — Science and Sumatra</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“To see a World in a Grain of Sand / And a Heaven in a Wild Flower…”</a:t>
            </a:r>
            <a:pPr indent="0" marL="0">
              <a:buNone/>
            </a:pPr>
            <a:r>
              <a:rPr lang="en-US" sz="1600" dirty="0">
                <a:solidFill>
                  <a:srgbClr val="55C8E8"/>
                </a:solidFill>
                <a:latin typeface="Calibri" pitchFamily="34" charset="0"/>
                <a:ea typeface="Calibri" pitchFamily="34" charset="-122"/>
                <a:cs typeface="Calibri" pitchFamily="34" charset="-120"/>
              </a:rPr>
              <a:t>  — William Blake, 1803 • Auguries of Innocence</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PUBLISH</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22</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What does it mean for a method to be truly scientific?</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22. Ask: How does theme develop across the whole book?</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Word family sort by part of speech.</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Title formatting and MLA citation.</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Poetry: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Blake “Auguries of Innocence” — seeing the world in a grain of sand.</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synthesize by tracing how Nat’s science finally earns trust — in London and at Harvard.</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HOW DOES SCIENCE TRAVEL?</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Chapter 22 stays at home in Salem, Boston and Cambridge — but it looks ahead to Sumatra. Dr. Holyoke compares seafaring to medicine: superstition on one side, the scientist on the other. Then the world starts to take notice of Nat’s book. As you read, notice how the chapter extends the novel’s central claim (that careful science can win out over superstition) and how it sets up the voyage to come.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Put the threads together: Hold the events, the problem-solving, the perseverance and the technical work in one view.</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State the significance: Say why this life mattered beyond itself. That is what expository writing about a person has to do.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Support every claim: For each thing you say about the whole book, name the chapter you would send a reader to.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HOW DOES SCIENCE TRAVEL?</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Dr. Holyoke says that people have always “believed the superstitions and doubted the scientist.” How does Chapter 22 show the world starting to believe Nat’s science anyway?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Science is in the chapter title. How does Latham use Chapter 22 to argue that navigation is a science, not an art?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chapter </a:t>
            </a:r>
            <a:pPr indent="0" marL="0">
              <a:buNone/>
            </a:pPr>
            <a:r>
              <a:rPr lang="en-US" sz="2600" b="1" u="sng" dirty="0">
                <a:solidFill>
                  <a:srgbClr val="1E8E52"/>
                </a:solidFill>
                <a:latin typeface="Calibri" pitchFamily="34" charset="0"/>
                <a:ea typeface="Calibri" pitchFamily="34" charset="-122"/>
                <a:cs typeface="Calibri" pitchFamily="34" charset="-120"/>
              </a:rPr>
              <a:t>“Science and Sumatra”</a:t>
            </a:r>
            <a:pPr indent="0" marL="0">
              <a:buNone/>
            </a:pPr>
            <a:r>
              <a:rPr lang="en-US" sz="2600" dirty="0">
                <a:solidFill>
                  <a:srgbClr val="1E293B"/>
                </a:solidFill>
                <a:latin typeface="Calibri" pitchFamily="34" charset="0"/>
                <a:ea typeface="Calibri" pitchFamily="34" charset="-122"/>
                <a:cs typeface="Calibri" pitchFamily="34" charset="-120"/>
              </a:rPr>
              <a:t> proves that </a:t>
            </a:r>
            <a:pPr indent="0" marL="0">
              <a:buNone/>
            </a:pPr>
            <a:r>
              <a:rPr lang="en-US" sz="2600" b="1" u="sng" dirty="0">
                <a:solidFill>
                  <a:srgbClr val="1E8E52"/>
                </a:solidFill>
                <a:latin typeface="Calibri" pitchFamily="34" charset="0"/>
                <a:ea typeface="Calibri" pitchFamily="34" charset="-122"/>
                <a:cs typeface="Calibri" pitchFamily="34" charset="-120"/>
              </a:rPr>
              <a:t>Carry On, Mr. Bowditch</a:t>
            </a:r>
            <a:pPr indent="0" marL="0">
              <a:buNone/>
            </a:pPr>
            <a:r>
              <a:rPr lang="en-US" sz="2600" dirty="0">
                <a:solidFill>
                  <a:srgbClr val="1E293B"/>
                </a:solidFill>
                <a:latin typeface="Calibri" pitchFamily="34" charset="0"/>
                <a:ea typeface="Calibri" pitchFamily="34" charset="-122"/>
                <a:cs typeface="Calibri" pitchFamily="34" charset="-120"/>
              </a:rPr>
              <a:t> is not just a story about one harbor — it is a story about science winning out over superstition.</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“Science and Sumatra”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Chapter titles need quotation marks.</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Carry On, Mr. Bowditch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Book/ship titles are italicized.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in science and sumatra latham describes how nat bowditch earned an honorary degree from Harvard before sailing as captain of the putnam</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in science and sumatra latham describes how nat bowditch earned an honorary degree from Harvard before sailing as captain of the putnam</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In “Science and Sumatra,” Latham describes how Nat Bowditch earned an honorary degree from Harvard before sailing as captain of the Putnam.</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chapter title in quotes; capitalize “In” and “Nat Bowditch”; ship name Putnam italicized; period.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FROM “AUGURIES OF INNOCENCE”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Poetry Corner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6035040"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691640"/>
            <a:ext cx="5577840" cy="36576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William Blake, 1803 — public domain</a:t>
            </a:r>
            <a:endParaRPr lang="en-US" sz="1500" dirty="0"/>
          </a:p>
        </p:txBody>
      </p:sp>
      <p:sp>
        <p:nvSpPr>
          <p:cNvPr id="8" name="Text 6"/>
          <p:cNvSpPr/>
          <p:nvPr/>
        </p:nvSpPr>
        <p:spPr>
          <a:xfrm>
            <a:off x="731520" y="2103120"/>
            <a:ext cx="5577840" cy="4206240"/>
          </a:xfrm>
          <a:prstGeom prst="rect">
            <a:avLst/>
          </a:prstGeom>
          <a:noFill/>
          <a:ln/>
        </p:spPr>
        <p:txBody>
          <a:bodyPr wrap="square" lIns="0" tIns="0" rIns="0" bIns="0" rtlCol="0" anchor="t">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To see a World in a Grain of Sand</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And a Heaven in a Wild Flower,</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Hold Infinity in the palm of your hand</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And Eternity in an hour.</a:t>
            </a:r>
            <a:endParaRPr lang="en-US" sz="2200" dirty="0"/>
          </a:p>
        </p:txBody>
      </p:sp>
      <p:sp>
        <p:nvSpPr>
          <p:cNvPr id="9" name="Shape 7"/>
          <p:cNvSpPr/>
          <p:nvPr/>
        </p:nvSpPr>
        <p:spPr>
          <a:xfrm>
            <a:off x="6812280" y="1554480"/>
            <a:ext cx="4876495" cy="4892040"/>
          </a:xfrm>
          <a:prstGeom prst="roundRect">
            <a:avLst>
              <a:gd name="adj" fmla="val 1500"/>
            </a:avLst>
          </a:prstGeom>
          <a:solidFill>
            <a:srgbClr val="F0E8FF"/>
          </a:solidFill>
          <a:ln w="15875">
            <a:solidFill>
              <a:srgbClr val="D6C8F0"/>
            </a:solidFill>
            <a:prstDash val="solid"/>
          </a:ln>
        </p:spPr>
      </p:sp>
      <p:sp>
        <p:nvSpPr>
          <p:cNvPr id="10" name="Text 8"/>
          <p:cNvSpPr/>
          <p:nvPr/>
        </p:nvSpPr>
        <p:spPr>
          <a:xfrm>
            <a:off x="7040880" y="1737360"/>
            <a:ext cx="4419295"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 THINK ABOUT THIS</a:t>
            </a:r>
            <a:endParaRPr lang="en-US" sz="1300" dirty="0"/>
          </a:p>
        </p:txBody>
      </p:sp>
      <p:sp>
        <p:nvSpPr>
          <p:cNvPr id="11" name="Text 9"/>
          <p:cNvSpPr/>
          <p:nvPr/>
        </p:nvSpPr>
        <p:spPr>
          <a:xfrm>
            <a:off x="7040880" y="2103120"/>
            <a:ext cx="4419295" cy="4160520"/>
          </a:xfrm>
          <a:prstGeom prst="rect">
            <a:avLst/>
          </a:prstGeom>
          <a:noFill/>
          <a:ln/>
        </p:spPr>
        <p:txBody>
          <a:bodyPr wrap="square" lIns="0" tIns="0" rIns="0" bIns="0" rtlCol="0" anchor="t"/>
          <a:lstStyle/>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 Blake uses paradox — a seemingly impossible statement that contains truth. Infinity in a palm? Eternity in an hour? For Nat, a lunar angle of 61 degrees and 42 minutes contains the ship’s exact position anywhere on earth. He holds the world in a number. That is the same paradox Blake is describing.</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Blake says “hold Infinity in the palm of your hand.” How does Nat’s navigation work actually do something like this? What is the “grain of sand” in his work, and what is the “world” it contains?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300" dirty="0">
                <a:solidFill>
                  <a:srgbClr val="1E293B"/>
                </a:solidFill>
                <a:latin typeface="Calibri" pitchFamily="34" charset="0"/>
                <a:ea typeface="Calibri" pitchFamily="34" charset="-122"/>
                <a:cs typeface="Calibri" pitchFamily="34" charset="-120"/>
              </a:rPr>
              <a:t>Dr. Holyoke says people have always believed the superstitions and doubted the scientist. In Chapter 22, which event does the most to change people's minds about Nat's science: the book selling in London, the command of the Putnam, or the Harvard degree? Defend your answer. Then answer someone who picks another.</a:t>
            </a:r>
            <a:endParaRPr lang="en-US" sz="23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000" b="1" dirty="0">
                <a:solidFill>
                  <a:srgbClr val="C7922C"/>
                </a:solidFill>
                <a:latin typeface="Calibri" pitchFamily="34" charset="0"/>
                <a:ea typeface="Calibri" pitchFamily="34" charset="-122"/>
                <a:cs typeface="Calibri" pitchFamily="34" charset="-120"/>
              </a:rPr>
              <a:t>Prompt: </a:t>
            </a:r>
            <a:pPr indent="0" marL="0">
              <a:buNone/>
            </a:pPr>
            <a:r>
              <a:rPr lang="en-US" sz="2000" dirty="0">
                <a:solidFill>
                  <a:srgbClr val="1E293B"/>
                </a:solidFill>
                <a:latin typeface="Calibri" pitchFamily="34" charset="0"/>
                <a:ea typeface="Calibri" pitchFamily="34" charset="-122"/>
                <a:cs typeface="Calibri" pitchFamily="34" charset="-120"/>
              </a:rPr>
              <a:t>Dr. Holyoke says people have always believed the superstitions and doubted the scientist. In Chapter 22, which event does the most to change people's minds about Nat's science: the book selling in London, the command of the Putnam, or the Harvard degree? Defend your answer. Then answer someone who picks another.</a:t>
            </a:r>
            <a:endParaRPr lang="en-US" sz="20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Someone might disagree, but...</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Could I combine two of these sentences to make my thinking clearer?</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SORT BY PART OF SPEECH</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Word Family Sort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find the family resemblance.</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SORT BY PART OF SPEECH</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Word Family Sort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navigate     ·     navigation     ·     navigator     ·     inform     ·     information     ·     informative</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360669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Verb action or state</a:t>
            </a:r>
            <a:endParaRPr lang="en-US" sz="2200" dirty="0"/>
          </a:p>
        </p:txBody>
      </p:sp>
      <p:sp>
        <p:nvSpPr>
          <p:cNvPr id="14" name="Shape 12"/>
          <p:cNvSpPr/>
          <p:nvPr/>
        </p:nvSpPr>
        <p:spPr>
          <a:xfrm>
            <a:off x="4292498" y="3977640"/>
            <a:ext cx="360669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4475378"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Noun person, place, thing, idea</a:t>
            </a:r>
            <a:endParaRPr lang="en-US" sz="2200" dirty="0"/>
          </a:p>
        </p:txBody>
      </p:sp>
      <p:sp>
        <p:nvSpPr>
          <p:cNvPr id="16" name="Shape 14"/>
          <p:cNvSpPr/>
          <p:nvPr/>
        </p:nvSpPr>
        <p:spPr>
          <a:xfrm>
            <a:off x="8082077" y="3977640"/>
            <a:ext cx="3606698" cy="1097280"/>
          </a:xfrm>
          <a:prstGeom prst="roundRect">
            <a:avLst>
              <a:gd name="adj" fmla="val 6667"/>
            </a:avLst>
          </a:prstGeom>
          <a:solidFill>
            <a:srgbClr val="F8FAFC"/>
          </a:solidFill>
          <a:ln w="15875">
            <a:solidFill>
              <a:srgbClr val="CBD5E1"/>
            </a:solidFill>
            <a:prstDash val="solid"/>
          </a:ln>
        </p:spPr>
      </p:sp>
      <p:sp>
        <p:nvSpPr>
          <p:cNvPr id="17" name="Text 15"/>
          <p:cNvSpPr/>
          <p:nvPr/>
        </p:nvSpPr>
        <p:spPr>
          <a:xfrm>
            <a:off x="8264957"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Adjective describes a noun</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SORT BY PART OF SPEECH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Word Family Sort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3606698" cy="4892040"/>
          </a:xfrm>
          <a:prstGeom prst="roundRect">
            <a:avLst>
              <a:gd name="adj" fmla="val 2028"/>
            </a:avLst>
          </a:prstGeom>
          <a:solidFill>
            <a:srgbClr val="E8F8EF"/>
          </a:solidFill>
          <a:ln w="15875">
            <a:solidFill>
              <a:srgbClr val="9ED9B5"/>
            </a:solidFill>
            <a:prstDash val="solid"/>
          </a:ln>
        </p:spPr>
      </p:sp>
      <p:sp>
        <p:nvSpPr>
          <p:cNvPr id="9" name="Text 7"/>
          <p:cNvSpPr/>
          <p:nvPr/>
        </p:nvSpPr>
        <p:spPr>
          <a:xfrm>
            <a:off x="685800"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Verb action or state</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navigate</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inform</a:t>
            </a:r>
            <a:endParaRPr lang="en-US" sz="2100" dirty="0"/>
          </a:p>
        </p:txBody>
      </p:sp>
      <p:sp>
        <p:nvSpPr>
          <p:cNvPr id="10" name="Shape 8"/>
          <p:cNvSpPr/>
          <p:nvPr/>
        </p:nvSpPr>
        <p:spPr>
          <a:xfrm>
            <a:off x="4292498" y="1554480"/>
            <a:ext cx="3606698" cy="4892040"/>
          </a:xfrm>
          <a:prstGeom prst="roundRect">
            <a:avLst>
              <a:gd name="adj" fmla="val 2028"/>
            </a:avLst>
          </a:prstGeom>
          <a:solidFill>
            <a:srgbClr val="E8F8EF"/>
          </a:solidFill>
          <a:ln w="15875">
            <a:solidFill>
              <a:srgbClr val="9ED9B5"/>
            </a:solidFill>
            <a:prstDash val="solid"/>
          </a:ln>
        </p:spPr>
      </p:sp>
      <p:sp>
        <p:nvSpPr>
          <p:cNvPr id="11" name="Text 9"/>
          <p:cNvSpPr/>
          <p:nvPr/>
        </p:nvSpPr>
        <p:spPr>
          <a:xfrm>
            <a:off x="4475378"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Noun person, place, thing, idea</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navigation</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navigator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information</a:t>
            </a:r>
            <a:endParaRPr lang="en-US" sz="2100" dirty="0"/>
          </a:p>
        </p:txBody>
      </p:sp>
      <p:sp>
        <p:nvSpPr>
          <p:cNvPr id="12" name="Shape 10"/>
          <p:cNvSpPr/>
          <p:nvPr/>
        </p:nvSpPr>
        <p:spPr>
          <a:xfrm>
            <a:off x="8082077" y="1554480"/>
            <a:ext cx="3606698" cy="4892040"/>
          </a:xfrm>
          <a:prstGeom prst="roundRect">
            <a:avLst>
              <a:gd name="adj" fmla="val 2028"/>
            </a:avLst>
          </a:prstGeom>
          <a:solidFill>
            <a:srgbClr val="E8F8EF"/>
          </a:solidFill>
          <a:ln w="15875">
            <a:solidFill>
              <a:srgbClr val="9ED9B5"/>
            </a:solidFill>
            <a:prstDash val="solid"/>
          </a:ln>
        </p:spPr>
      </p:sp>
      <p:sp>
        <p:nvSpPr>
          <p:cNvPr id="13" name="Text 11"/>
          <p:cNvSpPr/>
          <p:nvPr/>
        </p:nvSpPr>
        <p:spPr>
          <a:xfrm>
            <a:off x="8264957"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Adjective describes a noun</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informative</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THE WORD THAT FITS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Fill-in-the-Blank</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F8FAFC"/>
          </a:solidFill>
          <a:ln w="15875">
            <a:solidFill>
              <a:srgbClr val="CBD5E1"/>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Nat would soon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the Putnam all the way to Sumatra, using his own corrected tables.</a:t>
            </a:r>
            <a:endParaRPr lang="en-US" sz="2200" dirty="0"/>
          </a:p>
        </p:txBody>
      </p:sp>
      <p:sp>
        <p:nvSpPr>
          <p:cNvPr id="10" name="Shape 8"/>
          <p:cNvSpPr/>
          <p:nvPr/>
        </p:nvSpPr>
        <p:spPr>
          <a:xfrm>
            <a:off x="502920" y="2777490"/>
            <a:ext cx="11185855" cy="1085850"/>
          </a:xfrm>
          <a:prstGeom prst="roundRect">
            <a:avLst>
              <a:gd name="adj" fmla="val 6737"/>
            </a:avLst>
          </a:prstGeom>
          <a:solidFill>
            <a:srgbClr val="F8FAFC"/>
          </a:solidFill>
          <a:ln w="15875">
            <a:solidFill>
              <a:srgbClr val="CBD5E1"/>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The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in Nat’s book could be trusted because he had checked and rechecked every figure himself.</a:t>
            </a:r>
            <a:endParaRPr lang="en-US" sz="2200" dirty="0"/>
          </a:p>
        </p:txBody>
      </p:sp>
      <p:sp>
        <p:nvSpPr>
          <p:cNvPr id="12" name="Shape 10"/>
          <p:cNvSpPr/>
          <p:nvPr/>
        </p:nvSpPr>
        <p:spPr>
          <a:xfrm>
            <a:off x="502920" y="4000500"/>
            <a:ext cx="11185855" cy="1085850"/>
          </a:xfrm>
          <a:prstGeom prst="roundRect">
            <a:avLst>
              <a:gd name="adj" fmla="val 6737"/>
            </a:avLst>
          </a:prstGeom>
          <a:solidFill>
            <a:srgbClr val="F8FAFC"/>
          </a:solidFill>
          <a:ln w="15875">
            <a:solidFill>
              <a:srgbClr val="CBD5E1"/>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As both captain and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Nat no longer needed anyone else to set the course — he was entirely self-sufficient at sea.</a:t>
            </a:r>
            <a:endParaRPr lang="en-US" sz="2200" dirty="0"/>
          </a:p>
        </p:txBody>
      </p:sp>
      <p:sp>
        <p:nvSpPr>
          <p:cNvPr id="14" name="Shape 12"/>
          <p:cNvSpPr/>
          <p:nvPr/>
        </p:nvSpPr>
        <p:spPr>
          <a:xfrm>
            <a:off x="502920" y="5223510"/>
            <a:ext cx="11185855" cy="1085850"/>
          </a:xfrm>
          <a:prstGeom prst="roundRect">
            <a:avLst>
              <a:gd name="adj" fmla="val 6737"/>
            </a:avLst>
          </a:prstGeom>
          <a:solidFill>
            <a:srgbClr val="F8FAFC"/>
          </a:solidFill>
          <a:ln w="15875">
            <a:solidFill>
              <a:srgbClr val="CBD5E1"/>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Because Nat explained each step, his book was more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than Moore’s, which a newspaper said was full of errors.</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THE WORD THAT FITS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Fill-in-the-Blank</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E8F8EF"/>
          </a:solidFill>
          <a:ln w="15875">
            <a:solidFill>
              <a:srgbClr val="9ED9B5"/>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Nat would soon </a:t>
            </a:r>
            <a:pPr indent="0" marL="0">
              <a:buNone/>
            </a:pPr>
            <a:r>
              <a:rPr lang="en-US" sz="2200" b="1" dirty="0">
                <a:solidFill>
                  <a:srgbClr val="1E8E52"/>
                </a:solidFill>
                <a:latin typeface="Calibri" pitchFamily="34" charset="0"/>
                <a:ea typeface="Calibri" pitchFamily="34" charset="-122"/>
                <a:cs typeface="Calibri" pitchFamily="34" charset="-120"/>
              </a:rPr>
              <a:t>navigate</a:t>
            </a:r>
            <a:pPr indent="0" marL="0">
              <a:buNone/>
            </a:pPr>
            <a:r>
              <a:rPr lang="en-US" sz="2200" dirty="0">
                <a:solidFill>
                  <a:srgbClr val="1E293B"/>
                </a:solidFill>
                <a:latin typeface="Calibri" pitchFamily="34" charset="0"/>
                <a:ea typeface="Calibri" pitchFamily="34" charset="-122"/>
                <a:cs typeface="Calibri" pitchFamily="34" charset="-120"/>
              </a:rPr>
              <a:t> the Putnam all the way to Sumatra, using his own corrected tables.</a:t>
            </a:r>
            <a:endParaRPr lang="en-US" sz="2200" dirty="0"/>
          </a:p>
        </p:txBody>
      </p:sp>
      <p:sp>
        <p:nvSpPr>
          <p:cNvPr id="10" name="Shape 8"/>
          <p:cNvSpPr/>
          <p:nvPr/>
        </p:nvSpPr>
        <p:spPr>
          <a:xfrm>
            <a:off x="502920" y="2777490"/>
            <a:ext cx="11185855" cy="1085850"/>
          </a:xfrm>
          <a:prstGeom prst="roundRect">
            <a:avLst>
              <a:gd name="adj" fmla="val 6737"/>
            </a:avLst>
          </a:prstGeom>
          <a:solidFill>
            <a:srgbClr val="E8F8EF"/>
          </a:solidFill>
          <a:ln w="15875">
            <a:solidFill>
              <a:srgbClr val="9ED9B5"/>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The </a:t>
            </a:r>
            <a:pPr indent="0" marL="0">
              <a:buNone/>
            </a:pPr>
            <a:r>
              <a:rPr lang="en-US" sz="2200" b="1" dirty="0">
                <a:solidFill>
                  <a:srgbClr val="1E8E52"/>
                </a:solidFill>
                <a:latin typeface="Calibri" pitchFamily="34" charset="0"/>
                <a:ea typeface="Calibri" pitchFamily="34" charset="-122"/>
                <a:cs typeface="Calibri" pitchFamily="34" charset="-120"/>
              </a:rPr>
              <a:t>information</a:t>
            </a:r>
            <a:pPr indent="0" marL="0">
              <a:buNone/>
            </a:pPr>
            <a:r>
              <a:rPr lang="en-US" sz="2200" dirty="0">
                <a:solidFill>
                  <a:srgbClr val="1E293B"/>
                </a:solidFill>
                <a:latin typeface="Calibri" pitchFamily="34" charset="0"/>
                <a:ea typeface="Calibri" pitchFamily="34" charset="-122"/>
                <a:cs typeface="Calibri" pitchFamily="34" charset="-120"/>
              </a:rPr>
              <a:t> in Nat’s book could be trusted because he had checked and rechecked every figure himself.</a:t>
            </a:r>
            <a:endParaRPr lang="en-US" sz="2200" dirty="0"/>
          </a:p>
        </p:txBody>
      </p:sp>
      <p:sp>
        <p:nvSpPr>
          <p:cNvPr id="12" name="Shape 10"/>
          <p:cNvSpPr/>
          <p:nvPr/>
        </p:nvSpPr>
        <p:spPr>
          <a:xfrm>
            <a:off x="502920" y="4000500"/>
            <a:ext cx="11185855" cy="1085850"/>
          </a:xfrm>
          <a:prstGeom prst="roundRect">
            <a:avLst>
              <a:gd name="adj" fmla="val 6737"/>
            </a:avLst>
          </a:prstGeom>
          <a:solidFill>
            <a:srgbClr val="E8F8EF"/>
          </a:solidFill>
          <a:ln w="15875">
            <a:solidFill>
              <a:srgbClr val="9ED9B5"/>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As both captain and </a:t>
            </a:r>
            <a:pPr indent="0" marL="0">
              <a:buNone/>
            </a:pPr>
            <a:r>
              <a:rPr lang="en-US" sz="2200" b="1" dirty="0">
                <a:solidFill>
                  <a:srgbClr val="1E8E52"/>
                </a:solidFill>
                <a:latin typeface="Calibri" pitchFamily="34" charset="0"/>
                <a:ea typeface="Calibri" pitchFamily="34" charset="-122"/>
                <a:cs typeface="Calibri" pitchFamily="34" charset="-120"/>
              </a:rPr>
              <a:t>navigator</a:t>
            </a:r>
            <a:pPr indent="0" marL="0">
              <a:buNone/>
            </a:pPr>
            <a:r>
              <a:rPr lang="en-US" sz="2200" dirty="0">
                <a:solidFill>
                  <a:srgbClr val="1E293B"/>
                </a:solidFill>
                <a:latin typeface="Calibri" pitchFamily="34" charset="0"/>
                <a:ea typeface="Calibri" pitchFamily="34" charset="-122"/>
                <a:cs typeface="Calibri" pitchFamily="34" charset="-120"/>
              </a:rPr>
              <a:t>, Nat no longer needed anyone else to set the course — he was entirely self-sufficient at sea.</a:t>
            </a:r>
            <a:endParaRPr lang="en-US" sz="2200" dirty="0"/>
          </a:p>
        </p:txBody>
      </p:sp>
      <p:sp>
        <p:nvSpPr>
          <p:cNvPr id="14" name="Shape 12"/>
          <p:cNvSpPr/>
          <p:nvPr/>
        </p:nvSpPr>
        <p:spPr>
          <a:xfrm>
            <a:off x="502920" y="5223510"/>
            <a:ext cx="11185855" cy="1085850"/>
          </a:xfrm>
          <a:prstGeom prst="roundRect">
            <a:avLst>
              <a:gd name="adj" fmla="val 6737"/>
            </a:avLst>
          </a:prstGeom>
          <a:solidFill>
            <a:srgbClr val="E8F8EF"/>
          </a:solidFill>
          <a:ln w="15875">
            <a:solidFill>
              <a:srgbClr val="9ED9B5"/>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Because Nat explained each step, his book was more </a:t>
            </a:r>
            <a:pPr indent="0" marL="0">
              <a:buNone/>
            </a:pPr>
            <a:r>
              <a:rPr lang="en-US" sz="2200" b="1" dirty="0">
                <a:solidFill>
                  <a:srgbClr val="1E8E52"/>
                </a:solidFill>
                <a:latin typeface="Calibri" pitchFamily="34" charset="0"/>
                <a:ea typeface="Calibri" pitchFamily="34" charset="-122"/>
                <a:cs typeface="Calibri" pitchFamily="34" charset="-120"/>
              </a:rPr>
              <a:t>informative</a:t>
            </a:r>
            <a:pPr indent="0" marL="0">
              <a:buNone/>
            </a:pPr>
            <a:r>
              <a:rPr lang="en-US" sz="2200" dirty="0">
                <a:solidFill>
                  <a:srgbClr val="1E293B"/>
                </a:solidFill>
                <a:latin typeface="Calibri" pitchFamily="34" charset="0"/>
                <a:ea typeface="Calibri" pitchFamily="34" charset="-122"/>
                <a:cs typeface="Calibri" pitchFamily="34" charset="-120"/>
              </a:rPr>
              <a:t> than Moore’s, which a newspaper said was full of errors.</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FIND THE CONVENTION ERROR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Editing for Conventions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read as a hunter, not as a reader.</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Grammar</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Edit each sentence for conventions, and name the rule you applied. 1. nat corrected the book called The New American Practical Navigator. 2. In the chapter Science and Sumatra Latham shows how the world begins to trust Nat’s book. 3. Lem Harvey offered to sign on for the Putnam, he wanted to sail with Nat.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Use italics for book/ship titles, quotation marks for chapter titles. For the citation, follow: Last name, First. Title. Publisher, Year.</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CUMULATIVE REVIEW — APPLY ALL FOUR PATTERNS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Apply Patterns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look for the pattern before you are told it.</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CUMULATIVE REVIEW — APPLY ALL FOUR PATTERNS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Apply Patterns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word uses the assimilation rule correctly? (sub- before -port)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subport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support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sopport</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the correct schwa spelling for the word meaning “one who finds position at sea”?</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navigator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navigatour</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suffix correctly turns “hazard” into an adjective meaning “full of hazard”?</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hazardious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hazardous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hazardeous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CUMULATIVE REVIEW — APPLY ALL FOUR PATTERNS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Apply Patterns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word uses the assimilation rule correctly? (sub- before -port)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subport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support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sopport</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the correct schwa spelling for the word meaning “one who finds position at sea”?</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navigater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navigator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navigatour</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suffix correctly turns “hazard” into an adjective meaning “full of hazard”?</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hazardious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hazardous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hazardeous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MENTOR SENTENCE · CHAPTER 22</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RWM — Read like a Reader, Read like a Writer, Mimic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463040"/>
          </a:xfrm>
          <a:prstGeom prst="roundRect">
            <a:avLst>
              <a:gd name="adj" fmla="val 5000"/>
            </a:avLst>
          </a:prstGeom>
          <a:solidFill>
            <a:srgbClr val="FEF6E8"/>
          </a:solidFill>
          <a:ln w="15875">
            <a:solidFill>
              <a:srgbClr val="C7922C"/>
            </a:solidFill>
            <a:prstDash val="solid"/>
          </a:ln>
        </p:spPr>
      </p:sp>
      <p:sp>
        <p:nvSpPr>
          <p:cNvPr id="7" name="Text 5"/>
          <p:cNvSpPr/>
          <p:nvPr/>
        </p:nvSpPr>
        <p:spPr>
          <a:xfrm>
            <a:off x="777240" y="1645920"/>
            <a:ext cx="10637215" cy="1280160"/>
          </a:xfrm>
          <a:prstGeom prst="rect">
            <a:avLst/>
          </a:prstGeom>
          <a:noFill/>
          <a:ln/>
        </p:spPr>
        <p:txBody>
          <a:bodyPr wrap="square" lIns="0" tIns="0" rIns="0" bIns="0" rtlCol="0" anchor="ctr">
            <a:normAutofit/>
          </a:bodyPr>
          <a:lstStyle/>
          <a:p>
            <a:pPr indent="0" marL="0">
              <a:buNone/>
            </a:pPr>
            <a:r>
              <a:rPr lang="en-US" sz="2400" i="1" dirty="0">
                <a:solidFill>
                  <a:srgbClr val="1E293B"/>
                </a:solidFill>
                <a:latin typeface="Georgia" pitchFamily="34" charset="0"/>
                <a:ea typeface="Georgia" pitchFamily="34" charset="-122"/>
                <a:cs typeface="Georgia" pitchFamily="34" charset="-120"/>
              </a:rPr>
              <a:t>“The man who got a degree from Harvard without ever setting foot in a classroom!”</a:t>
            </a:r>
            <a:endParaRPr lang="en-US" sz="2400" dirty="0"/>
          </a:p>
        </p:txBody>
      </p:sp>
      <p:sp>
        <p:nvSpPr>
          <p:cNvPr id="8" name="Shape 6"/>
          <p:cNvSpPr/>
          <p:nvPr/>
        </p:nvSpPr>
        <p:spPr>
          <a:xfrm>
            <a:off x="502920" y="3246120"/>
            <a:ext cx="3606698" cy="3200400"/>
          </a:xfrm>
          <a:prstGeom prst="roundRect">
            <a:avLst>
              <a:gd name="adj" fmla="val 2286"/>
            </a:avLst>
          </a:prstGeom>
          <a:solidFill>
            <a:srgbClr val="F8FAFC"/>
          </a:solidFill>
          <a:ln w="15875">
            <a:solidFill>
              <a:srgbClr val="CBD5E1"/>
            </a:solidFill>
            <a:prstDash val="solid"/>
          </a:ln>
        </p:spPr>
      </p:sp>
      <p:sp>
        <p:nvSpPr>
          <p:cNvPr id="9" name="Text 7"/>
          <p:cNvSpPr/>
          <p:nvPr/>
        </p:nvSpPr>
        <p:spPr>
          <a:xfrm>
            <a:off x="685800"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Reader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This is how Mr. Morris — the man who once offered Nat a tutoring job he couldn’t take because of his indenture — introduces Nat to his son. Nine years of an indenture, of borrowed books and candlelight, arrive here as a single sentence. What does it mean that this is the version other people tell?</a:t>
            </a:r>
            <a:endParaRPr lang="en-US" sz="1900" dirty="0"/>
          </a:p>
        </p:txBody>
      </p:sp>
      <p:sp>
        <p:nvSpPr>
          <p:cNvPr id="10" name="Shape 8"/>
          <p:cNvSpPr/>
          <p:nvPr/>
        </p:nvSpPr>
        <p:spPr>
          <a:xfrm>
            <a:off x="4292498" y="3246120"/>
            <a:ext cx="3606698" cy="3200400"/>
          </a:xfrm>
          <a:prstGeom prst="roundRect">
            <a:avLst>
              <a:gd name="adj" fmla="val 2286"/>
            </a:avLst>
          </a:prstGeom>
          <a:solidFill>
            <a:srgbClr val="F8FAFC"/>
          </a:solidFill>
          <a:ln w="15875">
            <a:solidFill>
              <a:srgbClr val="CBD5E1"/>
            </a:solidFill>
            <a:prstDash val="solid"/>
          </a:ln>
        </p:spPr>
      </p:sp>
      <p:sp>
        <p:nvSpPr>
          <p:cNvPr id="11" name="Text 9"/>
          <p:cNvSpPr/>
          <p:nvPr/>
        </p:nvSpPr>
        <p:spPr>
          <a:xfrm>
            <a:off x="4475378"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Writer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A conclusion has to say why the story mattered, and this one does it inside a single relative clause. who got a degree from Harvard is the achievement; without ever setting foot in a classroom is the significance — it tells you what kind of achievement it was, and quietly what it cost. The contrast is the whole point, and it is built into the shape of the sentence.</a:t>
            </a:r>
            <a:endParaRPr lang="en-US" sz="1900" dirty="0"/>
          </a:p>
        </p:txBody>
      </p:sp>
      <p:sp>
        <p:nvSpPr>
          <p:cNvPr id="12" name="Shape 10"/>
          <p:cNvSpPr/>
          <p:nvPr/>
        </p:nvSpPr>
        <p:spPr>
          <a:xfrm>
            <a:off x="8082077" y="3246120"/>
            <a:ext cx="3606698" cy="3200400"/>
          </a:xfrm>
          <a:prstGeom prst="roundRect">
            <a:avLst>
              <a:gd name="adj" fmla="val 2286"/>
            </a:avLst>
          </a:prstGeom>
          <a:solidFill>
            <a:srgbClr val="F8FAFC"/>
          </a:solidFill>
          <a:ln w="15875">
            <a:solidFill>
              <a:srgbClr val="CBD5E1"/>
            </a:solidFill>
            <a:prstDash val="solid"/>
          </a:ln>
        </p:spPr>
      </p:sp>
      <p:sp>
        <p:nvSpPr>
          <p:cNvPr id="13" name="Text 11"/>
          <p:cNvSpPr/>
          <p:nvPr/>
        </p:nvSpPr>
        <p:spPr>
          <a:xfrm>
            <a:off x="8264957"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Mimic</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Write one sentence that could conclude a piece of writing about Nat. Name what he achieved, then add the contrast that shows what it signifies. One sentence, and no explaining afterwards.</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THE SAME TECHNIQUE IN YOUR OWN SENTENCE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Mimic — Your Turn</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280160"/>
          </a:xfrm>
          <a:prstGeom prst="roundRect">
            <a:avLst>
              <a:gd name="adj" fmla="val 5714"/>
            </a:avLst>
          </a:prstGeom>
          <a:solidFill>
            <a:srgbClr val="FEF6E8"/>
          </a:solidFill>
          <a:ln w="15875">
            <a:solidFill>
              <a:srgbClr val="C7922C"/>
            </a:solidFill>
            <a:prstDash val="solid"/>
          </a:ln>
        </p:spPr>
      </p:sp>
      <p:sp>
        <p:nvSpPr>
          <p:cNvPr id="7" name="Text 5"/>
          <p:cNvSpPr/>
          <p:nvPr/>
        </p:nvSpPr>
        <p:spPr>
          <a:xfrm>
            <a:off x="777240" y="1645920"/>
            <a:ext cx="10637215" cy="1097280"/>
          </a:xfrm>
          <a:prstGeom prst="rect">
            <a:avLst/>
          </a:prstGeom>
          <a:noFill/>
          <a:ln/>
        </p:spPr>
        <p:txBody>
          <a:bodyPr wrap="square" lIns="0" tIns="0" rIns="0" bIns="0" rtlCol="0" anchor="ctr">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“The man who got a degree from Harvard without ever setting foot in a classroom!”</a:t>
            </a:r>
            <a:endParaRPr lang="en-US" sz="2200" dirty="0"/>
          </a:p>
        </p:txBody>
      </p:sp>
      <p:sp>
        <p:nvSpPr>
          <p:cNvPr id="8" name="Text 6"/>
          <p:cNvSpPr/>
          <p:nvPr/>
        </p:nvSpPr>
        <p:spPr>
          <a:xfrm>
            <a:off x="502920" y="3017520"/>
            <a:ext cx="11185855" cy="1463040"/>
          </a:xfrm>
          <a:prstGeom prst="rect">
            <a:avLst/>
          </a:prstGeom>
          <a:noFill/>
          <a:ln/>
        </p:spPr>
        <p:txBody>
          <a:bodyPr wrap="square" lIns="0" tIns="0" rIns="0" bIns="0" rtlCol="0" anchor="t"/>
          <a:lstStyle/>
          <a:p>
            <a:pPr indent="0" marL="0">
              <a:buNone/>
            </a:pPr>
            <a:r>
              <a:rPr lang="en-US" sz="2100" dirty="0">
                <a:solidFill>
                  <a:srgbClr val="1E293B"/>
                </a:solidFill>
                <a:latin typeface="Calibri" pitchFamily="34" charset="0"/>
                <a:ea typeface="Calibri" pitchFamily="34" charset="-122"/>
                <a:cs typeface="Calibri" pitchFamily="34" charset="-120"/>
              </a:rPr>
              <a:t>Write one sentence that could conclude a piece of writing about Nat. Name what he achieved, then add the contrast that shows what it signifies. One sentence, and no explaining afterwards.</a:t>
            </a:r>
            <a:endParaRPr lang="en-US" sz="2100" dirty="0"/>
          </a:p>
        </p:txBody>
      </p:sp>
      <p:sp>
        <p:nvSpPr>
          <p:cNvPr id="9" name="Text 7"/>
          <p:cNvSpPr/>
          <p:nvPr/>
        </p:nvSpPr>
        <p:spPr>
          <a:xfrm>
            <a:off x="502920" y="4617720"/>
            <a:ext cx="5486400"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FRAME</a:t>
            </a:r>
            <a:endParaRPr lang="en-US" sz="1300" dirty="0"/>
          </a:p>
        </p:txBody>
      </p:sp>
      <p:sp>
        <p:nvSpPr>
          <p:cNvPr id="10" name="Shape 8"/>
          <p:cNvSpPr/>
          <p:nvPr/>
        </p:nvSpPr>
        <p:spPr>
          <a:xfrm>
            <a:off x="502920" y="4937760"/>
            <a:ext cx="11185855" cy="1097280"/>
          </a:xfrm>
          <a:prstGeom prst="roundRect">
            <a:avLst>
              <a:gd name="adj" fmla="val 6667"/>
            </a:avLst>
          </a:prstGeom>
          <a:solidFill>
            <a:srgbClr val="FFFFFF"/>
          </a:solidFill>
          <a:ln w="15875">
            <a:solidFill>
              <a:srgbClr val="C7922C"/>
            </a:solidFill>
            <a:prstDash val="solid"/>
          </a:ln>
        </p:spPr>
      </p:sp>
      <p:sp>
        <p:nvSpPr>
          <p:cNvPr id="11" name="Text 9"/>
          <p:cNvSpPr/>
          <p:nvPr/>
        </p:nvSpPr>
        <p:spPr>
          <a:xfrm>
            <a:off x="777240" y="4983480"/>
            <a:ext cx="10637215" cy="1005840"/>
          </a:xfrm>
          <a:prstGeom prst="rect">
            <a:avLst/>
          </a:prstGeom>
          <a:noFill/>
          <a:ln/>
        </p:spPr>
        <p:txBody>
          <a:bodyPr wrap="square" lIns="0" tIns="0" rIns="0" bIns="0" rtlCol="0" anchor="ctr">
            <a:normAutofit/>
          </a:bodyPr>
          <a:lstStyle/>
          <a:p>
            <a:pPr indent="0" marL="0">
              <a:buNone/>
            </a:pPr>
            <a:r>
              <a:rPr lang="en-US" sz="2600" b="1" dirty="0">
                <a:solidFill>
                  <a:srgbClr val="0E1C42"/>
                </a:solidFill>
                <a:latin typeface="Calibri" pitchFamily="34" charset="0"/>
                <a:ea typeface="Calibri" pitchFamily="34" charset="-122"/>
                <a:cs typeface="Calibri" pitchFamily="34" charset="-120"/>
              </a:rPr>
              <a:t>The ___ who ___ without ever ___.</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22 — “SCIENCE AND SUMATRA”</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14 — Chapter 22 — Science and Sumatra</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22 is about who believes in science — and who doesn’t. After the John is lost, Dr. Holyoke tells Nat and Polly that people have always “believed the superstitions and doubted the scientist.” Then the news begins to change: Nat’s book sells in London, he is asked to command the Putnam on a voyage to Sumatra, and Harvard gives him a degree. As you read, notice how Latham builds this chapter as a kind of scientific confirmation — proof that Nat’s careful work is finally being trusted.</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22</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Doubters and Believers: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doubts about “book sailing” does Dr. Holyoke describe at the start of Chapter 22? What events later in the chapter show that Nat’s work is starting to win people over?</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Science in the Title: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Why does Latham title this chapter “Science and Sumatra” — not just “Sumatra”? What does putting “science” in the title tell you about what Latham wants the reader to take away from this chapter?</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Dr. Holyoke compares seafaring to medicine: superstition on one side, the scientist on the other. What events in Chapter 22 show that people are beginning to trust Nat’s science? Why does it matter that the recognition comes from London and from Harvard?</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Chapter 22 is called “Science and Sumatra.” What does Latham mean by calling it “science” — not “mathematics,” not “navigation”? What does the word “science” contribute to the reader’s understanding of Nat’s work?</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William Blake’s poem says “To see a World in a Grain of Sand.” How does this apply to Nat’s navigation work — the work that earns him a Harvard degree in Chapter 22? What is his “grain of sand” and what “world” does it contain?</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PUBLISH · REVISE YOUR CONCLUSION &amp; WRITE YOUR CITATION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14 · PUBLISH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Today you polish the conclusion — especially the “why it matters” move — and write your Works Cited entry.</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Alex finishes the essay: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reads the conclusion draft and finds the "why it matters" sentence is still too vague. BEFORE Alex's vague ending: He showed that knowledge is important for everyone. AFTER Alex's concrete revision: He showed that the purpose of knowledge is not to impress but to protect — and that a person who truly understands something cannot rest until every sailor who needs it has it too. Notice: Alex's revision is concrete: it names the PURPOSE of knowledge and describes what a person who truly understands something DOES. It doesn't just say knowledge is important — it says what Nat did with his.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PUBLISH · REVISE YOUR CONCLUSION &amp; WRITE YOUR CITATION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14 · PUBLISH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Conclusion Revision + Citation: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Revise your "why it matters" sentence to be concrete. Then format your Works Cited entry. Alex’s example (filled): Vague: He showed knowledge is important for everyone. Concrete: He showed that the purpose of knowledge is not to impress but to protect — and that a person who truly understands something cannot rest until every sailor who needs it has it too. Works Cited: Latham, Jean Lee. Carry On, Mr. Bowditch. Houghton Mifflin, 1955. Your turn — do the same in your reading journal: My vague ending: ____________________ My concrete revision: ____________________ My Works Cited: Latham, Jean Lee. Carry On, Mr. Bowditch. Houghton Mifflin, 1955.</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“He showed that the purpose of ___ is not to ___ but to ___.” “A person who truly understands ___ cannot rest until ___.” “What Bowditch left behind was not just corrected tables but...”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14.2 — Carry On, Mr. Bowditch, Chapter 22</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