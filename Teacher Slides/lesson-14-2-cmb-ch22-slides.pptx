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14, Day 2, Chapter 22 — Science and Sumatra.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22. Ask: How does theme develop across the whole book?
Morphology: Word family sort by part of speech.
Grammar SWYK: Title formatting and MLA citation.
Poetry: Blake “Auguries of Innocence” — seeing the world in a grain of sand.
Reading: Chapter 22 — Science and Sumatra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"in science and sumatra latham describes how nat bowditch used his tables aboard the putnam to navigate waters that most Salem captains had never seen"
Corrected: "In “Science and Sumatra,” Latham describes how Nat Bowditch used his tables aboard the Putnam to navigate waters that most Salem captains had never seen."
Fixes: chapter title in quotes; capitalize “In” and “Nat Bowditch”; ship name Putnam italicized;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"in science and sumatra latham describes how nat bowditch used his tables aboard the putnam to navigate waters that most Salem captains had never seen"
Corrected: "In “Science and Sumatra,” Latham describes how Nat Bowditch used his tables aboard the Putnam to navigate waters that most Salem captains had never seen."
Fixes: chapter title in quotes; capitalize “In” and “Nat Bowditch”; ship name Putnam italicized;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Could I combine two of these sentences to make my thinking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Sort or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Apply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14 — Chapter 22 — Science and Sumatra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PUBLISH: Revise your conclusion &amp; write your citation
Focus: Today you polish the conclusion — especially the “why it matters” move — and write your Works Cited entry.
Before: BEFORE Alex's vague ending: He showed that knowledge is important for everyone.
After: AFTER Alex's concrete revision: He showed that the purpose of knowledge is not to impress but to protect — and that a person who truly understands something cannot rest until every sailor who needs it has it too.
Notice: Notice: Alex's revision is concrete: it names the PURPOSE of knowledge and describes what a person who truly understands something DOES. It doesn't just say knowledge is important — it says what Nat did with his.
Tool: Today’s Tool: Conclusion Revision + Citation — Revise your "why it matters" sentence to be concrete. Then format your Works Cited entry.
Frames: “He showed that the purpose of ___ is not to ___ but to ___.” | “A person who truly understands ___ cannot rest until ___.” | “What Bowditch left behind was not just corrected tables but...”
Prompt: Write your revised conclusion (final version) AND your Works Cited entry below. Both belong in your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14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22 — Science and Sumatra</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14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22. Ask: How does theme develop across the whole book?</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Word family sort by part of speech.</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SWYK: </a:t>
            </a:r>
            <a:pPr indent="0" marL="0">
              <a:buNone/>
            </a:pPr>
            <a:r>
              <a:rPr lang="en-US" sz="1250" dirty="0">
                <a:solidFill>
                  <a:srgbClr val="1E293B"/>
                </a:solidFill>
                <a:latin typeface="Calibri" pitchFamily="34" charset="0"/>
                <a:ea typeface="Calibri" pitchFamily="34" charset="-122"/>
                <a:cs typeface="Calibri" pitchFamily="34" charset="-120"/>
              </a:rPr>
              <a:t>Title formatting and MLA citation.</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Poetry: </a:t>
            </a:r>
            <a:pPr indent="0" marL="0">
              <a:buNone/>
            </a:pPr>
            <a:r>
              <a:rPr lang="en-US" sz="1250" dirty="0">
                <a:solidFill>
                  <a:srgbClr val="1E293B"/>
                </a:solidFill>
                <a:latin typeface="Calibri" pitchFamily="34" charset="0"/>
                <a:ea typeface="Calibri" pitchFamily="34" charset="-122"/>
                <a:cs typeface="Calibri" pitchFamily="34" charset="-120"/>
              </a:rPr>
              <a:t>Blake “Auguries of Innocence” — seeing the world in a grain of sand.</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22 — Science and Sumatra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22 takes the story to Sumatra — literally the other side of the world from Salem. The question it answers is: do Nat’s methods work everywhere? The answer Latham gives is quiet but definitive. As you read, notice how the chapter extends the novel’s central claim (that mathematics is universal) to a geographical extreme.</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the Sumatra voyage test Nat’s navigation methods in a way that Salem voyages could not? What does passing this test prove?</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Science is in the chapter title. How does Latham use Chapter 22 to argue that navigation is a science, not an art?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chapter “Science and Sumatra” proves that Carry On, Mr. Bowditch is not just a story about one harbor — it is a story about the universality of mathematics.</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“Science and Sumatra”  </a:t>
            </a:r>
            <a:pPr indent="0" marL="0">
              <a:buNone/>
            </a:pPr>
            <a:r>
              <a:rPr lang="en-US" sz="1200" dirty="0">
                <a:solidFill>
                  <a:srgbClr val="1E293B"/>
                </a:solidFill>
                <a:latin typeface="Calibri" pitchFamily="34" charset="0"/>
                <a:ea typeface="Calibri" pitchFamily="34" charset="-122"/>
                <a:cs typeface="Calibri" pitchFamily="34" charset="-120"/>
              </a:rPr>
              <a:t>Chapter titles need quotation marks.</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Carry On, Mr. Bowditch  </a:t>
            </a:r>
            <a:pPr indent="0" marL="0">
              <a:buNone/>
            </a:pPr>
            <a:r>
              <a:rPr lang="en-US" sz="1200" dirty="0">
                <a:solidFill>
                  <a:srgbClr val="1E293B"/>
                </a:solidFill>
                <a:latin typeface="Calibri" pitchFamily="34" charset="0"/>
                <a:ea typeface="Calibri" pitchFamily="34" charset="-122"/>
                <a:cs typeface="Calibri" pitchFamily="34" charset="-120"/>
              </a:rPr>
              <a:t>Book/ship titles are italicized.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science and sumatra latham describes how nat bowditch used his tables aboard the putnam to navigate waters that most Salem captains had never seen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in science and sumatra latham describes how nat bowditch used his tables aboard the putnam to navigate waters that most Salem captains had never seen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In “Science and Sumatra,” Latham describes how Nat Bowditch used his tables aboard the Putnam to navigate waters that most Salem captains had never seen.</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chapter title in quotes; capitalize “In” and “Nat Bowditch”; ship name Putnam italicized; period.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from “Auguries of Innocence”</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William Blake, 1803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To see a World in a Grain of Sand</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a Heaven in a Wild Flower,</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Hold Infinity in the palm of your hand</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And Eternity in an hour.</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Blake says “hold Infinity in the palm of your hand.” How does Nat’s navigation work actually do something like this? What is the “grain of sand” in his work, and what is the “world” it contains?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Chapter 22 connects science and a faraway place, Sumatra. Which matters more to Nat's legacy: the specific discovery he makes, or the fact that his methods work anywhere in the world? Defend your answer.</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Chapter 22 connects science and a faraway place, Sumatra. Which matters more to Nat's legacy: the specific discovery he makes, or the fact that his methods work anywhere in the world? Defend your answer.</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Could I combine two of these sentences to make my thinking clearer?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Sort or Match</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the word that fits</a:t>
            </a:r>
            <a:endParaRPr lang="en-US" sz="1100" dirty="0"/>
          </a:p>
        </p:txBody>
      </p:sp>
      <p:sp>
        <p:nvSpPr>
          <p:cNvPr id="5" name="Shape 3"/>
          <p:cNvSpPr/>
          <p:nvPr/>
        </p:nvSpPr>
        <p:spPr>
          <a:xfrm>
            <a:off x="365760" y="1097280"/>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By Chapter 22, Nat could ___ the ship through waters the crew had never seen, using only his corrected tables.</a:t>
            </a:r>
            <a:endParaRPr lang="en-US" sz="1150" dirty="0"/>
          </a:p>
        </p:txBody>
      </p:sp>
      <p:sp>
        <p:nvSpPr>
          <p:cNvPr id="7" name="Shape 5"/>
          <p:cNvSpPr/>
          <p:nvPr/>
        </p:nvSpPr>
        <p:spPr>
          <a:xfrm>
            <a:off x="365760" y="1709928"/>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64792"/>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The ___ in his corrected Navigator was accurate because he had verified it against real celestial observations, not just copied from Moore.</a:t>
            </a:r>
            <a:endParaRPr lang="en-US" sz="1150" dirty="0"/>
          </a:p>
        </p:txBody>
      </p:sp>
      <p:sp>
        <p:nvSpPr>
          <p:cNvPr id="9" name="Shape 7"/>
          <p:cNvSpPr/>
          <p:nvPr/>
        </p:nvSpPr>
        <p:spPr>
          <a:xfrm>
            <a:off x="365760" y="2322576"/>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377440"/>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As both captain and ___ , Nat no longer needed anyone else to set the course — he was entirely self-sufficient at sea.</a:t>
            </a:r>
            <a:endParaRPr lang="en-US" sz="1150" dirty="0"/>
          </a:p>
        </p:txBody>
      </p:sp>
      <p:sp>
        <p:nvSpPr>
          <p:cNvPr id="11" name="Shape 9"/>
          <p:cNvSpPr/>
          <p:nvPr/>
        </p:nvSpPr>
        <p:spPr>
          <a:xfrm>
            <a:off x="365760" y="2935224"/>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990088"/>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Nat’s lectures to the crew were far more ___ than Moore’s original text because he explained the reasoning, not just the numbers.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SWYK: Title Formatting &amp; Citations</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Show What You Know</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SHOW WHAT YOU KNOW · Grammar</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Rewrite these three sentences with correct title formatting and, where indicated, write a complete MLA citation. 1. Nat corrected the book called The New American Practical Navigator. 2. In the chapter Science and Sumatra, Latham shows how mathematics travels across the globe. 3. Write the correct MLA citation for this book: Carry On, Mr. Bowditch by Jean Lee Latham, published by Houghton Mifflin in 1955.</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Apply Patterns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Cumulative review — apply all four patterns</a:t>
            </a:r>
            <a:endParaRPr lang="en-US" sz="1100" dirty="0"/>
          </a:p>
        </p:txBody>
      </p:sp>
      <p:sp>
        <p:nvSpPr>
          <p:cNvPr id="7" name="Shape 5"/>
          <p:cNvSpPr/>
          <p:nvPr/>
        </p:nvSpPr>
        <p:spPr>
          <a:xfrm>
            <a:off x="365760" y="11430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1978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word uses the assimilation rule correctly? (sub- before -port)
</a:t>
            </a:r>
            <a:pPr indent="0" marL="0">
              <a:buNone/>
            </a:pPr>
            <a:r>
              <a:rPr lang="en-US" sz="1150" b="1" dirty="0">
                <a:solidFill>
                  <a:srgbClr val="34B76F"/>
                </a:solidFill>
                <a:latin typeface="Calibri" pitchFamily="34" charset="0"/>
                <a:ea typeface="Calibri" pitchFamily="34" charset="-122"/>
                <a:cs typeface="Calibri" pitchFamily="34" charset="-120"/>
              </a:rPr>
              <a:t>✅ support</a:t>
            </a:r>
            <a:endParaRPr lang="en-US" sz="1200" dirty="0"/>
          </a:p>
        </p:txBody>
      </p:sp>
      <p:sp>
        <p:nvSpPr>
          <p:cNvPr id="9" name="Shape 7"/>
          <p:cNvSpPr/>
          <p:nvPr/>
        </p:nvSpPr>
        <p:spPr>
          <a:xfrm>
            <a:off x="365760" y="187452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192938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is the correct schwa spelling for the word meaning “one who finds position at sea”?
</a:t>
            </a:r>
            <a:pPr indent="0" marL="0">
              <a:buNone/>
            </a:pPr>
            <a:r>
              <a:rPr lang="en-US" sz="1150" b="1" dirty="0">
                <a:solidFill>
                  <a:srgbClr val="34B76F"/>
                </a:solidFill>
                <a:latin typeface="Calibri" pitchFamily="34" charset="0"/>
                <a:ea typeface="Calibri" pitchFamily="34" charset="-122"/>
                <a:cs typeface="Calibri" pitchFamily="34" charset="-120"/>
              </a:rPr>
              <a:t>✅ navigator</a:t>
            </a:r>
            <a:endParaRPr lang="en-US" sz="1200" dirty="0"/>
          </a:p>
        </p:txBody>
      </p:sp>
      <p:sp>
        <p:nvSpPr>
          <p:cNvPr id="11" name="Shape 9"/>
          <p:cNvSpPr/>
          <p:nvPr/>
        </p:nvSpPr>
        <p:spPr>
          <a:xfrm>
            <a:off x="365760" y="26060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66090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suffix correctly turns “hazard” into an adjective meaning “full of hazard”?
</a:t>
            </a:r>
            <a:pPr indent="0" marL="0">
              <a:buNone/>
            </a:pPr>
            <a:r>
              <a:rPr lang="en-US" sz="1150" b="1" dirty="0">
                <a:solidFill>
                  <a:srgbClr val="34B76F"/>
                </a:solidFill>
                <a:latin typeface="Calibri" pitchFamily="34" charset="0"/>
                <a:ea typeface="Calibri" pitchFamily="34" charset="-122"/>
                <a:cs typeface="Calibri" pitchFamily="34" charset="-120"/>
              </a:rPr>
              <a:t>✅ hazardous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14 — Chapter 22 — Science and Sumatra</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22 — Science and Sumatra</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How does the Sumatra voyage test Nat’s navigation methods in a way that Salem voyages could not? What does passing this test prove?</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Science is in the chapter title. How does Latham use Chapter 22 to argue that navigation is a science, not an art?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What does the Sumatra voyage prove about Nat’s navigation methods that earlier voyages in familiar New England waters could not? Why is geographical distance important to this proof?</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Chapter 22 is called “Science and Sumatra.” What does Latham mean by calling it “science” — not “mathematics,” not “navigation”? What does the word “science” contribute to the reader’s understanding of Nat’s work?</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William Blake’s poem says “To see a World in a Grain of Sand.” How does this apply to Nat’s navigation work in Chapter 22? What is his “grain of sand” and what “world” does it contain?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PUBLISH  ·  Revise your conclusion &amp; write your citation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Today you polish the conclusion — especially the “why it matters” move — and write your Works Cited entry.</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vague ending: He showed that knowledge is important for everyone.</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concrete revision: He showed that the purpose of knowledge is not to impress but to protect — and that a person who truly understands something cannot rest until every sailor who needs it has it too.</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revision is concrete: it names the PURPOSE of knowledge and describes what a person who truly understands something DOES. It doesn't just say knowledge is important — it says what Nat did with his.</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CONCLUSION REVISION + CITATION</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Revise your "why it matters" sentence to be concrete. Then format your Works Cited entry.</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revised conclusion (final version) AND your Works Cited entry below. Both belong in your submission.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