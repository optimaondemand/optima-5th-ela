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 Day 2,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happens when someone everyone fears turns out to be the kindest person you’ve ever met? Where do we find home when we feel like we don’t belong?
Reading: I will make connections with Chapter 10 and answer comprehension questions about how Kit’s visit to Hannah reveals both characters.
Grammar: I will identify correct dialogue punctuation in sentences from the novel.
Spelling: I will sort words by schwa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found hannahs cottage by blackbird pond and met a kind quaker woman"
Corrected: "Kit found Hannah’s cottage by Blackbird Pond and met a kind Quaker woman."
Compare with the model: capitalize proper names (Kit, Hannah, Blackbird Pond) and the word Quaker (a specific religious group). “Hannah’s” needs an apostrophe to show possession.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"kit found hannahs cottage by blackbird pond and met a kind quaker woman"
Corrected: "Kit found Hannah’s cottage by Blackbird Pond and met a kind Quaker woman."
Compare with the model: capitalize proper names (Kit, Hannah, Blackbird Pond) and the word Quaker (a specific religious group). “Hannah’s” needs an apostrophe to show possession.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support what I'm actually trying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Sort or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Schwa &amp; Reduced Vowels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sequence: Reader, Writer, Mimic. Reveal progressively if desired.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Kit’s Path Through The Witch of Blackbird Pond — 📍 You are here: Chapter 10 — Hannah’s Cottage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distinct from the Quick Write — it is graded reading-response writing tied directly to today's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4A90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4A90D9"/>
                </a:solidFill>
                <a:latin typeface="Calibri" pitchFamily="34" charset="0"/>
                <a:ea typeface="Calibri" pitchFamily="34" charset="-122"/>
                <a:cs typeface="Calibri" pitchFamily="34" charset="-120"/>
              </a:rPr>
              <a:t>WEEK 3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Witch of Blackbird Pond</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10 — Hannah’s Cottage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  ·  Virtue: Perseverance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What happens when someone everyone fears turns out to be the kindest person you’ve ever met? Where do we find home when we feel like we don’t belong?</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make connections with Chapter 10 and answer comprehension questions about how Kit’s visit to Hannah reveals both characters.</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identify correct dialogue punctuation in sentences from the novel.</a:t>
            </a:r>
            <a:endParaRPr lang="en-US" sz="1600" dirty="0"/>
          </a:p>
        </p:txBody>
      </p:sp>
      <p:sp>
        <p:nvSpPr>
          <p:cNvPr id="12" name="Shape 10"/>
          <p:cNvSpPr/>
          <p:nvPr/>
        </p:nvSpPr>
        <p:spPr>
          <a:xfrm>
            <a:off x="365760" y="39319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02336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Spelling: </a:t>
            </a:r>
            <a:pPr indent="0" marL="0">
              <a:buNone/>
            </a:pPr>
            <a:r>
              <a:rPr lang="en-US" sz="1400" dirty="0">
                <a:solidFill>
                  <a:srgbClr val="1E293B"/>
                </a:solidFill>
                <a:latin typeface="Calibri" pitchFamily="34" charset="0"/>
                <a:ea typeface="Calibri" pitchFamily="34" charset="-122"/>
                <a:cs typeface="Calibri" pitchFamily="34" charset="-120"/>
              </a:rPr>
              <a:t>I will sort words by schwa placement.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Today, watch how Kit’s visit to Hannah’s cottage reveals both characters. Kit’s willingness to enter a “witch’s house” shows her independence. Hannah’s warmth shows she is nothing like her reputation.</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details tell you that Hannah is kind, not dangerous? What does Kit notice about the cottage that makes her feel safe?</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Why does Kit decide to keep her visits to Hannah a secret?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Hannah smiled and said , “ There did well , child .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Hannah  </a:t>
            </a:r>
            <a:pPr indent="0" marL="0">
              <a:buNone/>
            </a:pPr>
            <a:r>
              <a:rPr lang="en-US" sz="1200" dirty="0">
                <a:solidFill>
                  <a:srgbClr val="1E293B"/>
                </a:solidFill>
                <a:latin typeface="Calibri" pitchFamily="34" charset="0"/>
                <a:ea typeface="Calibri" pitchFamily="34" charset="-122"/>
                <a:cs typeface="Calibri" pitchFamily="34" charset="-120"/>
              </a:rPr>
              <a:t>Hannah is a proper name and starts with a capital letter.</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A comma comes before the opening quotation mark when a dialogue tag introduces speech.</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  </a:t>
            </a:r>
            <a:pPr indent="0" marL="0">
              <a:buNone/>
            </a:pPr>
            <a:r>
              <a:rPr lang="en-US" sz="1200" dirty="0">
                <a:solidFill>
                  <a:srgbClr val="1E293B"/>
                </a:solidFill>
                <a:latin typeface="Calibri" pitchFamily="34" charset="0"/>
                <a:ea typeface="Calibri" pitchFamily="34" charset="-122"/>
                <a:cs typeface="Calibri" pitchFamily="34" charset="-120"/>
              </a:rPr>
              <a:t>Opening quotation marks begin the spoken words.</a:t>
            </a:r>
            <a:endParaRPr lang="en-US" sz="1300" dirty="0"/>
          </a:p>
        </p:txBody>
      </p:sp>
      <p:sp>
        <p:nvSpPr>
          <p:cNvPr id="14" name="Shape 12"/>
          <p:cNvSpPr/>
          <p:nvPr/>
        </p:nvSpPr>
        <p:spPr>
          <a:xfrm>
            <a:off x="365760" y="410565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4160520"/>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There  </a:t>
            </a:r>
            <a:pPr indent="0" marL="0">
              <a:buNone/>
            </a:pPr>
            <a:r>
              <a:rPr lang="en-US" sz="1200" dirty="0">
                <a:solidFill>
                  <a:srgbClr val="1E293B"/>
                </a:solidFill>
                <a:latin typeface="Calibri" pitchFamily="34" charset="0"/>
                <a:ea typeface="Calibri" pitchFamily="34" charset="-122"/>
                <a:cs typeface="Calibri" pitchFamily="34" charset="-120"/>
              </a:rPr>
              <a:t>The first word of a direct quote is capitalized.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found hannahs cottage by blackbird pond and met a kind quaker woman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found hannahs cottage by blackbird pond and met a kind quaker woman</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Kit found Hannah’s cottage by Blackbird Pond and met a kind Quaker woman.</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capitalize proper names (Kit, Hannah, Blackbird Pond) and the word Quaker (a specific religious group). “Hannah’s” needs an apostrophe to show possession.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“The Lake Isle of Innisfree” (excerpt)</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William Butler Yeats</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I will arise and go now, and go to Innisfree,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a small cabin build there, of clay and wattles made: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Nine bean-rows will I have there, a hive for the honey-bee;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And live alone in the bee-loud glade.</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How does Kit’s visit to Hannah’s cottage connect to the idea of finding “home” in an unexpected place?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Which detail proves Hannah is kind rather than dangerous — her cottage, her cat Tom, or the way she treats Kit? Pick one and defend it with evidence from Chapter 10.</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Which detail proves Hannah is kind rather than dangerous — her cottage, her cat Tom, or the way she treats Kit? Pick one and defend it with evidence from Chapter 10.</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support what I'm actually trying to say?</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Suffixes -ive / -ative</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perceive → perceptive — Hannah has bright, perceptive eyes that notice Kit’s unhappiness | invite → inviting / invit ative — Hannah’s cottage felt warm and inviting | create → creative — Kit found creative ways to visit Hannah in secret | attract → attractive — the meadow held an attractive peace for Kit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Sort or Match</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Chapter 10 · Match to definitions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correct punctuation in conversation</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 need to be near the water,” Hannah said softly. — The comma goes inside the quotation marks, before the dialogue tag. Hannah smiled. “Thomas Tupper built this house.” — When the tag comes first and ends with a period, the quote begins with a capital letter. “There did well, child,” she said, “to come to the Meadow.” — An interrupted quote: comma inside the first set of marks, lowercase continues the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“Come in, child,” Hannah said warmly.
</a:t>
            </a:r>
            <a:pPr indent="0" marL="0">
              <a:buNone/>
            </a:pPr>
            <a:r>
              <a:rPr lang="en-US" sz="1100" dirty="0">
                <a:solidFill>
                  <a:srgbClr val="64748B"/>
                </a:solidFill>
                <a:latin typeface="Calibri" pitchFamily="34" charset="0"/>
                <a:ea typeface="Calibri" pitchFamily="34" charset="-122"/>
                <a:cs typeface="Calibri" pitchFamily="34" charset="-120"/>
              </a:rPr>
              <a:t>Correct   /   Incorrect</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said “I feel so at home here”.
</a:t>
            </a:r>
            <a:pPr indent="0" marL="0">
              <a:buNone/>
            </a:pPr>
            <a:r>
              <a:rPr lang="en-US" sz="1100" dirty="0">
                <a:solidFill>
                  <a:srgbClr val="64748B"/>
                </a:solidFill>
                <a:latin typeface="Calibri" pitchFamily="34" charset="0"/>
                <a:ea typeface="Calibri" pitchFamily="34" charset="-122"/>
                <a:cs typeface="Calibri" pitchFamily="34" charset="-120"/>
              </a:rPr>
              <a:t>Correct   /   Incorrect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swamp,” Hannah whispered, “was always beautiful to me.”
</a:t>
            </a:r>
            <a:pPr indent="0" marL="0">
              <a:buNone/>
            </a:pPr>
            <a:r>
              <a:rPr lang="en-US" sz="1100" dirty="0">
                <a:solidFill>
                  <a:srgbClr val="64748B"/>
                </a:solidFill>
                <a:latin typeface="Calibri" pitchFamily="34" charset="0"/>
                <a:ea typeface="Calibri" pitchFamily="34" charset="-122"/>
                <a:cs typeface="Calibri" pitchFamily="34" charset="-120"/>
              </a:rPr>
              <a:t>Correct   /   Incorrect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Dialogue Punctuation</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Identify correct punctuation in conversation</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 need to be near the water,” Hannah said softly. — The comma goes inside the quotation marks, before the dialogue tag. Hannah smiled. “Thomas Tupper built this house.” — When the tag comes first and ends with a period, the quote begins with a capital letter. “There did well, child,” she said, “to come to the Meadow.” — An interrupted quote: comma inside the first set of marks, lowercase continues the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“Come in, child,” Hannah said warmly.
</a:t>
            </a:r>
            <a:pPr indent="0" marL="0">
              <a:buNone/>
            </a:pPr>
            <a:r>
              <a:rPr lang="en-US" sz="1200" b="1" dirty="0">
                <a:solidFill>
                  <a:srgbClr val="34B76F"/>
                </a:solidFill>
                <a:latin typeface="Calibri" pitchFamily="34" charset="0"/>
                <a:ea typeface="Calibri" pitchFamily="34" charset="-122"/>
                <a:cs typeface="Calibri" pitchFamily="34" charset="-120"/>
              </a:rPr>
              <a:t>✅ Correct</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Kit said “I feel so at home here”.
</a:t>
            </a:r>
            <a:pPr indent="0" marL="0">
              <a:buNone/>
            </a:pPr>
            <a:r>
              <a:rPr lang="en-US" sz="1200" b="1" dirty="0">
                <a:solidFill>
                  <a:srgbClr val="34B76F"/>
                </a:solidFill>
                <a:latin typeface="Calibri" pitchFamily="34" charset="0"/>
                <a:ea typeface="Calibri" pitchFamily="34" charset="-122"/>
                <a:cs typeface="Calibri" pitchFamily="34" charset="-120"/>
              </a:rPr>
              <a:t>✅ Incorrect</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“The swamp,” Hannah whispered, “was always beautiful to me.”
</a:t>
            </a:r>
            <a:pPr indent="0" marL="0">
              <a:buNone/>
            </a:pPr>
            <a:r>
              <a:rPr lang="en-US" sz="1200" b="1" dirty="0">
                <a:solidFill>
                  <a:srgbClr val="34B76F"/>
                </a:solidFill>
                <a:latin typeface="Calibri" pitchFamily="34" charset="0"/>
                <a:ea typeface="Calibri" pitchFamily="34" charset="-122"/>
                <a:cs typeface="Calibri" pitchFamily="34" charset="-120"/>
              </a:rPr>
              <a:t>✅ Correct</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Grammar
</a:t>
            </a:r>
            <a:pPr indent="0" marL="0">
              <a:buNone/>
            </a:pPr>
            <a:r>
              <a:rPr lang="en-US" sz="1000" i="1" dirty="0">
                <a:solidFill>
                  <a:srgbClr val="1E293B"/>
                </a:solidFill>
                <a:latin typeface="Calibri" pitchFamily="34" charset="0"/>
                <a:ea typeface="Calibri" pitchFamily="34" charset="-122"/>
                <a:cs typeface="Calibri" pitchFamily="34" charset="-120"/>
              </a:rPr>
              <a:t>Rewrite this passage with correct dialogue punctuation. Add quotation marks, commas, capitals, and paragraph breaks where needed: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Schwa &amp; Reduced Vowels</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schwa placement</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in 1st Syllable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animal  ·  woman</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in Middle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separate  ·  husband  ·  distant</a:t>
            </a:r>
            <a:endParaRPr lang="en-US" sz="1300" dirty="0"/>
          </a:p>
        </p:txBody>
      </p:sp>
      <p:sp>
        <p:nvSpPr>
          <p:cNvPr id="11" name="Text 9"/>
          <p:cNvSpPr/>
          <p:nvPr/>
        </p:nvSpPr>
        <p:spPr>
          <a:xfrm>
            <a:off x="896112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Schwa in Last Syllable</a:t>
            </a:r>
            <a:endParaRPr lang="en-US" sz="1300" dirty="0"/>
          </a:p>
        </p:txBody>
      </p:sp>
      <p:sp>
        <p:nvSpPr>
          <p:cNvPr id="12" name="Text 10"/>
          <p:cNvSpPr/>
          <p:nvPr/>
        </p:nvSpPr>
        <p:spPr>
          <a:xfrm>
            <a:off x="896112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comfort  ·  welcome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RWM — Reader · Writer · Mimic</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Shape 2"/>
          <p:cNvSpPr/>
          <p:nvPr/>
        </p:nvSpPr>
        <p:spPr>
          <a:xfrm>
            <a:off x="365760" y="868680"/>
            <a:ext cx="8412480" cy="640080"/>
          </a:xfrm>
          <a:prstGeom prst="roundRect">
            <a:avLst>
              <a:gd name="adj" fmla="val 14286"/>
            </a:avLst>
          </a:prstGeom>
          <a:solidFill>
            <a:srgbClr val="F8FAFC"/>
          </a:solidFill>
          <a:ln w="12700">
            <a:solidFill>
              <a:srgbClr val="0E1C42"/>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48640" y="978408"/>
            <a:ext cx="8046720" cy="41148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“Kit almost laughed. Of all the unlikely things—a romance! She could imagine her, this scattering frail, white-haired woman… coming shyly to the door with his small treasures from some distant shore.”</a:t>
            </a:r>
            <a:endParaRPr lang="en-US" sz="1600" dirty="0"/>
          </a:p>
        </p:txBody>
      </p:sp>
      <p:sp>
        <p:nvSpPr>
          <p:cNvPr id="6" name="Shape 4"/>
          <p:cNvSpPr/>
          <p:nvPr/>
        </p:nvSpPr>
        <p:spPr>
          <a:xfrm>
            <a:off x="365760" y="1600200"/>
            <a:ext cx="8412480" cy="777240"/>
          </a:xfrm>
          <a:prstGeom prst="roundRect">
            <a:avLst>
              <a:gd name="adj" fmla="val 11765"/>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Reader: </a:t>
            </a:r>
            <a:pPr indent="0" marL="0">
              <a:buNone/>
            </a:pPr>
            <a:r>
              <a:rPr lang="en-US" sz="1200" dirty="0">
                <a:solidFill>
                  <a:srgbClr val="1E293B"/>
                </a:solidFill>
                <a:latin typeface="Calibri" pitchFamily="34" charset="0"/>
                <a:ea typeface="Calibri" pitchFamily="34" charset="-122"/>
                <a:cs typeface="Calibri" pitchFamily="34" charset="-120"/>
              </a:rPr>
              <a:t>What is Kit realizing about Hannah’s past? Why is she surprised? What does this moment show about how Kit is beginning to see Hannah as a full person, not just a “witch”?</a:t>
            </a:r>
            <a:endParaRPr lang="en-US" sz="1200" dirty="0"/>
          </a:p>
        </p:txBody>
      </p:sp>
      <p:sp>
        <p:nvSpPr>
          <p:cNvPr id="8" name="Shape 6"/>
          <p:cNvSpPr/>
          <p:nvPr/>
        </p:nvSpPr>
        <p:spPr>
          <a:xfrm>
            <a:off x="365760" y="2450592"/>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523744"/>
            <a:ext cx="8046720" cy="640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Read like a Writer: </a:t>
            </a:r>
            <a:pPr indent="0" marL="0">
              <a:buNone/>
            </a:pPr>
            <a:r>
              <a:rPr lang="en-US" sz="1200" dirty="0">
                <a:solidFill>
                  <a:srgbClr val="1E293B"/>
                </a:solidFill>
                <a:latin typeface="Calibri" pitchFamily="34" charset="0"/>
                <a:ea typeface="Calibri" pitchFamily="34" charset="-122"/>
                <a:cs typeface="Calibri" pitchFamily="34" charset="-120"/>
              </a:rPr>
              <a:t>How does Speare use the contrast between Hannah’s frail appearance and her romantic history to deepen our understanding of her? Notice the dash and exclamation point: “Of all the unlikely things—a romance!” How does that punctuation mirror Kit’s surprise?</a:t>
            </a:r>
            <a:endParaRPr lang="en-US" sz="1200" dirty="0"/>
          </a:p>
        </p:txBody>
      </p:sp>
      <p:sp>
        <p:nvSpPr>
          <p:cNvPr id="10" name="Shape 8"/>
          <p:cNvSpPr/>
          <p:nvPr/>
        </p:nvSpPr>
        <p:spPr>
          <a:xfrm>
            <a:off x="365760" y="3300984"/>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74136"/>
            <a:ext cx="8046720" cy="8229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 Mimic: </a:t>
            </a:r>
            <a:pPr indent="0" marL="0">
              <a:buNone/>
            </a:pPr>
            <a:r>
              <a:rPr lang="en-US" sz="1200" dirty="0">
                <a:solidFill>
                  <a:srgbClr val="1E293B"/>
                </a:solidFill>
                <a:latin typeface="Calibri" pitchFamily="34" charset="0"/>
                <a:ea typeface="Calibri" pitchFamily="34" charset="-122"/>
                <a:cs typeface="Calibri" pitchFamily="34" charset="-120"/>
              </a:rPr>
              <a:t>Write a sentence where a character is surprised to discover something romantic or adventurous about an elderly person. Use the frame below.</a:t>
            </a:r>
            <a:pPr indent="0" marL="0">
              <a:buNone/>
            </a:pPr>
            <a:endParaRPr lang="en-US" sz="1200" dirty="0"/>
          </a:p>
          <a:p>
            <a:pPr indent="0" marL="0">
              <a:buNone/>
            </a:pPr>
            <a:r>
              <a:rPr lang="en-US" sz="1200" b="1" i="1" dirty="0">
                <a:solidFill>
                  <a:srgbClr val="34B76F"/>
                </a:solidFill>
                <a:latin typeface="Calibri" pitchFamily="34" charset="0"/>
                <a:ea typeface="Calibri" pitchFamily="34" charset="-122"/>
                <a:cs typeface="Calibri" pitchFamily="34" charset="-120"/>
              </a:rPr>
              <a:t>Frame: [Name] couldn’t believe it. Of all the unlikely things—___! [He/She] could imagine [the person] ___.</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Shape 2"/>
          <p:cNvSpPr/>
          <p:nvPr/>
        </p:nvSpPr>
        <p:spPr>
          <a:xfrm>
            <a:off x="6492240" y="173736"/>
            <a:ext cx="2286000" cy="502920"/>
          </a:xfrm>
          <a:prstGeom prst="roundRect">
            <a:avLst>
              <a:gd name="adj" fmla="val 21818"/>
            </a:avLst>
          </a:prstGeom>
          <a:solidFill>
            <a:srgbClr val="4A90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Kit’s Path Through The Witch of Blackbird Pond — 📍 You are here: Chapter 10 — Hannah’s Cottage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4A90D9"/>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10 — Hannah’s Cottage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What details tell you that Hannah is kind, not dangerous? What does Kit notice about the cottage that makes her feel safe?</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Why does Kit decide to keep her visits to Hannah a secret?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4A90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1 What details about Hannah’s cottage and personality show that she is kind, not dangerous?</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2 Why does Kit feel such an immediate connection to Hannah? What do they have in common?</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4A90D9"/>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3 Why does Kit decide to keep her visits to Hannah a secret? What does this tell us about the conflict between Kit’s values and Wethersfield’s?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(Part C)</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SHORT CRAFT-FOCUSED RESPONSE</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Hannah says “I need to be near the water.” Kit feels the same way about the Meadows. Write 3–4 sentences explaining what the water and the Meadows represent for both characters.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2026-07-12T13:24:41Z</dcterms:created>
  <dcterms:modified xsi:type="dcterms:W3CDTF">2026-07-12T13:24:41Z</dcterms:modified>
</cp:coreProperties>
</file>