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24, Day 4, Chapter 28-29 — Source Comparison &amp; Unit Assessment. Historical content note: this novel is narrated by a Choctaw boy during the Trail of Tears / removal era — handle with the same care as the source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Isaac tells you on the first page that he is already a ghost. How does knowing the ending change how you feel as you read the beginning?
Reading: I will analyze Isaac's first-person narrative voice in Chapter 1.
Grammar: I will identify appositives in sentences from Chapter 1.
Spelling: I will sort historical vocabulary words by syllable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 needed — tap-and-notice only. Discuss why each highlighted word/punctuation mark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"this shows that they didn't care at all about what the choctaw people wanted or had a right to"
Corrected: "This evidence suggests the removal was executed without regard for the sovereignty or rights of the Choctaw Nation."
Formal: “evidence suggests” (hedged), “executed without regard for” (precise), “sovereignty or rights of the Choctaw Nation” (specific). Remove “didn’t care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"this shows that they didn't care at all about what the choctaw people wanted or had a right to"
Corrected: "This evidence suggests the removal was executed without regard for the sovereignty or rights of the Choctaw Nation."
Formal: “evidence suggests” (hedged), “executed without regard for” (precise), “sovereignty or rights of the Choctaw Nation” (specific). Remove “didn’t care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poem aloud. Give students a moment to notice before discussing.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routine — use if time allows. Read the prompt aloud. Remind students: pick a side, defend with evidence, anticipate disagreement.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Does my ending sentence actually capture my strongest point, or should I move a stronger idea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Encourage respectful disagreement about their choice/defense.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practice for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review — same word set practiced across the week (match/identify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answers yet — students tap/discuss and guess the appositive.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revealed — correct word in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focus: 🔠 Spelling: Open &amp; Closed Syllables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Tracker: Isaac’s Path — 📍 Source Comparison &amp; Unit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 students answer these after reading,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Connection — Stage: SUBMIT
Focus: Source Comparison with Claim, Evidence &amp; Reasoning
Task: Today is the Submit stage. Write the final, polished version of your source comparison paragraph. It should open with your claim, present two pieces of evidence (one from the novel, one from a source), explain how they connect, and close with what both sources together reveal. Then write: what did reading a ghost story teach you about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A0A4A"/>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8B6FC0">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8B6FC0"/>
                </a:solidFill>
                <a:latin typeface="Calibri" pitchFamily="34" charset="0"/>
                <a:ea typeface="Calibri" pitchFamily="34" charset="-122"/>
                <a:cs typeface="Calibri" pitchFamily="34" charset="-120"/>
              </a:rPr>
              <a:t>WEEK 24  ·  DAY 4</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How I Became a Ghost</a:t>
            </a:r>
            <a:endParaRPr lang="en-US" sz="2800" dirty="0"/>
          </a:p>
          <a:p>
            <a:pPr algn="l" indent="0" marL="0">
              <a:buNone/>
            </a:pPr>
            <a:r>
              <a:rPr lang="en-US" sz="2800" b="1" dirty="0">
                <a:solidFill>
                  <a:srgbClr val="FFFFFF"/>
                </a:solidFill>
                <a:latin typeface="Calibri" pitchFamily="34" charset="0"/>
                <a:ea typeface="Calibri" pitchFamily="34" charset="-122"/>
                <a:cs typeface="Calibri" pitchFamily="34" charset="-120"/>
              </a:rPr>
              <a:t>Chapter 28-29 — Source Comparison &amp; Unit Assessment</a:t>
            </a:r>
            <a:endParaRPr lang="en-US" sz="28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24  ·  Courage &amp; Remembrance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Today's Objectives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6868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5" name="Shape 3"/>
          <p:cNvSpPr/>
          <p:nvPr/>
        </p:nvSpPr>
        <p:spPr>
          <a:xfrm>
            <a:off x="365760" y="1115568"/>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94360"/>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Isaac tells you on the first page that he is already a ghost. How does knowing the ending change how you feel as you read the beginning?</a:t>
            </a:r>
            <a:endParaRPr lang="en-US" sz="1300" dirty="0"/>
          </a:p>
        </p:txBody>
      </p:sp>
      <p:sp>
        <p:nvSpPr>
          <p:cNvPr id="7" name="Text 5"/>
          <p:cNvSpPr/>
          <p:nvPr/>
        </p:nvSpPr>
        <p:spPr>
          <a:xfrm>
            <a:off x="365760" y="20116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BY THE END OF THIS LESSON...</a:t>
            </a:r>
            <a:endParaRPr lang="en-US" sz="1100" dirty="0"/>
          </a:p>
        </p:txBody>
      </p:sp>
      <p:sp>
        <p:nvSpPr>
          <p:cNvPr id="8" name="Shape 6"/>
          <p:cNvSpPr/>
          <p:nvPr/>
        </p:nvSpPr>
        <p:spPr>
          <a:xfrm>
            <a:off x="365760" y="228600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359152"/>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Reading: </a:t>
            </a:r>
            <a:pPr indent="0" marL="0">
              <a:buNone/>
            </a:pPr>
            <a:r>
              <a:rPr lang="en-US" sz="1250" dirty="0">
                <a:solidFill>
                  <a:srgbClr val="1E293B"/>
                </a:solidFill>
                <a:latin typeface="Calibri" pitchFamily="34" charset="0"/>
                <a:ea typeface="Calibri" pitchFamily="34" charset="-122"/>
                <a:cs typeface="Calibri" pitchFamily="34" charset="-120"/>
              </a:rPr>
              <a:t>I will analyze Isaac's first-person narrative voice in Chapter 1.</a:t>
            </a:r>
            <a:endParaRPr lang="en-US" sz="1500" dirty="0"/>
          </a:p>
        </p:txBody>
      </p:sp>
      <p:sp>
        <p:nvSpPr>
          <p:cNvPr id="10" name="Shape 8"/>
          <p:cNvSpPr/>
          <p:nvPr/>
        </p:nvSpPr>
        <p:spPr>
          <a:xfrm>
            <a:off x="365760" y="3090672"/>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163824"/>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Grammar: </a:t>
            </a:r>
            <a:pPr indent="0" marL="0">
              <a:buNone/>
            </a:pPr>
            <a:r>
              <a:rPr lang="en-US" sz="1250" dirty="0">
                <a:solidFill>
                  <a:srgbClr val="1E293B"/>
                </a:solidFill>
                <a:latin typeface="Calibri" pitchFamily="34" charset="0"/>
                <a:ea typeface="Calibri" pitchFamily="34" charset="-122"/>
                <a:cs typeface="Calibri" pitchFamily="34" charset="-120"/>
              </a:rPr>
              <a:t>I will identify appositives in sentences from Chapter 1.</a:t>
            </a:r>
            <a:endParaRPr lang="en-US" sz="1500" dirty="0"/>
          </a:p>
        </p:txBody>
      </p:sp>
      <p:sp>
        <p:nvSpPr>
          <p:cNvPr id="12" name="Shape 10"/>
          <p:cNvSpPr/>
          <p:nvPr/>
        </p:nvSpPr>
        <p:spPr>
          <a:xfrm>
            <a:off x="365760" y="3895344"/>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968496"/>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Spelling: </a:t>
            </a:r>
            <a:pPr indent="0" marL="0">
              <a:buNone/>
            </a:pPr>
            <a:r>
              <a:rPr lang="en-US" sz="1250" dirty="0">
                <a:solidFill>
                  <a:srgbClr val="1E293B"/>
                </a:solidFill>
                <a:latin typeface="Calibri" pitchFamily="34" charset="0"/>
                <a:ea typeface="Calibri" pitchFamily="34" charset="-122"/>
                <a:cs typeface="Calibri" pitchFamily="34" charset="-120"/>
              </a:rPr>
              <a:t>I will sort historical vocabulary words by syllable count.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What Good Readers Do</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SET YOUR READING LENS</a:t>
            </a:r>
            <a:endParaRPr lang="en-US" sz="1100" dirty="0"/>
          </a:p>
        </p:txBody>
      </p:sp>
      <p:sp>
        <p:nvSpPr>
          <p:cNvPr id="5" name="Shape 3"/>
          <p:cNvSpPr/>
          <p:nvPr/>
        </p:nvSpPr>
        <p:spPr>
          <a:xfrm>
            <a:off x="365760" y="1078992"/>
            <a:ext cx="8412480" cy="1554480"/>
          </a:xfrm>
          <a:prstGeom prst="roundRect">
            <a:avLst>
              <a:gd name="adj" fmla="val 5882"/>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70432"/>
            <a:ext cx="7955280" cy="13716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Good readers don’t finish a book and put it down unchanged. As you prepare your final submission today: what has changed in how you think about history, about stories, about the Choctaw Nation? What will you carry forward from reading this novel?</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Study What's Right</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TAP TO NOTICE</a:t>
            </a:r>
            <a:endParaRPr lang="en-US" sz="1100" dirty="0"/>
          </a:p>
        </p:txBody>
      </p:sp>
      <p:sp>
        <p:nvSpPr>
          <p:cNvPr id="5" name="Shape 3"/>
          <p:cNvSpPr/>
          <p:nvPr/>
        </p:nvSpPr>
        <p:spPr>
          <a:xfrm>
            <a:off x="365760" y="1078992"/>
            <a:ext cx="8412480" cy="914400"/>
          </a:xfrm>
          <a:prstGeom prst="roundRect">
            <a:avLst>
              <a:gd name="adj" fmla="val 10000"/>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This evidence suggests that the removal was executed without regard for Choctaw sovereignty.</a:t>
            </a:r>
            <a:endParaRPr lang="en-US" sz="1600" dirty="0"/>
          </a:p>
        </p:txBody>
      </p:sp>
      <p:sp>
        <p:nvSpPr>
          <p:cNvPr id="7" name="Text 5"/>
          <p:cNvSpPr/>
          <p:nvPr/>
        </p:nvSpPr>
        <p:spPr>
          <a:xfrm>
            <a:off x="365760" y="210312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EACH TAPPED WORD TEACHES</a:t>
            </a:r>
            <a:endParaRPr lang="en-US" sz="1100" dirty="0"/>
          </a:p>
        </p:txBody>
      </p:sp>
      <p:sp>
        <p:nvSpPr>
          <p:cNvPr id="8" name="Shape 6"/>
          <p:cNvSpPr/>
          <p:nvPr/>
        </p:nvSpPr>
        <p:spPr>
          <a:xfrm>
            <a:off x="365760" y="2377440"/>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23160"/>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This  </a:t>
            </a:r>
            <a:pPr indent="0" marL="0">
              <a:buNone/>
            </a:pPr>
            <a:r>
              <a:rPr lang="en-US" sz="1150" dirty="0">
                <a:solidFill>
                  <a:srgbClr val="1E293B"/>
                </a:solidFill>
                <a:latin typeface="Calibri" pitchFamily="34" charset="0"/>
                <a:ea typeface="Calibri" pitchFamily="34" charset="-122"/>
                <a:cs typeface="Calibri" pitchFamily="34" charset="-120"/>
              </a:rPr>
              <a:t>Refers to the preceding claim.</a:t>
            </a:r>
            <a:endParaRPr lang="en-US" sz="1250" dirty="0"/>
          </a:p>
        </p:txBody>
      </p:sp>
      <p:sp>
        <p:nvSpPr>
          <p:cNvPr id="10" name="Shape 8"/>
          <p:cNvSpPr/>
          <p:nvPr/>
        </p:nvSpPr>
        <p:spPr>
          <a:xfrm>
            <a:off x="365760" y="2889504"/>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935224"/>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evidence  </a:t>
            </a:r>
            <a:pPr indent="0" marL="0">
              <a:buNone/>
            </a:pPr>
            <a:r>
              <a:rPr lang="en-US" sz="1150" dirty="0">
                <a:solidFill>
                  <a:srgbClr val="1E293B"/>
                </a:solidFill>
                <a:latin typeface="Calibri" pitchFamily="34" charset="0"/>
                <a:ea typeface="Calibri" pitchFamily="34" charset="-122"/>
                <a:cs typeface="Calibri" pitchFamily="34" charset="-120"/>
              </a:rPr>
              <a:t>Formal noun.</a:t>
            </a:r>
            <a:endParaRPr lang="en-US" sz="1250" dirty="0"/>
          </a:p>
        </p:txBody>
      </p:sp>
      <p:sp>
        <p:nvSpPr>
          <p:cNvPr id="12" name="Shape 10"/>
          <p:cNvSpPr/>
          <p:nvPr/>
        </p:nvSpPr>
        <p:spPr>
          <a:xfrm>
            <a:off x="365760" y="3401568"/>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447288"/>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suggests  </a:t>
            </a:r>
            <a:pPr indent="0" marL="0">
              <a:buNone/>
            </a:pPr>
            <a:r>
              <a:rPr lang="en-US" sz="1150" dirty="0">
                <a:solidFill>
                  <a:srgbClr val="1E293B"/>
                </a:solidFill>
                <a:latin typeface="Calibri" pitchFamily="34" charset="0"/>
                <a:ea typeface="Calibri" pitchFamily="34" charset="-122"/>
                <a:cs typeface="Calibri" pitchFamily="34" charset="-120"/>
              </a:rPr>
              <a:t>Hedged verb: not absolute.</a:t>
            </a:r>
            <a:endParaRPr lang="en-US" sz="1250" dirty="0"/>
          </a:p>
        </p:txBody>
      </p:sp>
      <p:sp>
        <p:nvSpPr>
          <p:cNvPr id="14" name="Shape 12"/>
          <p:cNvSpPr/>
          <p:nvPr/>
        </p:nvSpPr>
        <p:spPr>
          <a:xfrm>
            <a:off x="365760" y="3913632"/>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3959352"/>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removal  </a:t>
            </a:r>
            <a:pPr indent="0" marL="0">
              <a:buNone/>
            </a:pPr>
            <a:r>
              <a:rPr lang="en-US" sz="1150" dirty="0">
                <a:solidFill>
                  <a:srgbClr val="1E293B"/>
                </a:solidFill>
                <a:latin typeface="Calibri" pitchFamily="34" charset="0"/>
                <a:ea typeface="Calibri" pitchFamily="34" charset="-122"/>
                <a:cs typeface="Calibri" pitchFamily="34" charset="-120"/>
              </a:rPr>
              <a:t>Formal term.</a:t>
            </a:r>
            <a:endParaRPr lang="en-US" sz="1250" dirty="0"/>
          </a:p>
        </p:txBody>
      </p:sp>
      <p:sp>
        <p:nvSpPr>
          <p:cNvPr id="16" name="Shape 14"/>
          <p:cNvSpPr/>
          <p:nvPr/>
        </p:nvSpPr>
        <p:spPr>
          <a:xfrm>
            <a:off x="365760" y="4425696"/>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7" name="Text 15"/>
          <p:cNvSpPr/>
          <p:nvPr/>
        </p:nvSpPr>
        <p:spPr>
          <a:xfrm>
            <a:off x="548640" y="4471416"/>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executed  </a:t>
            </a:r>
            <a:pPr indent="0" marL="0">
              <a:buNone/>
            </a:pPr>
            <a:r>
              <a:rPr lang="en-US" sz="1150" dirty="0">
                <a:solidFill>
                  <a:srgbClr val="1E293B"/>
                </a:solidFill>
                <a:latin typeface="Calibri" pitchFamily="34" charset="0"/>
                <a:ea typeface="Calibri" pitchFamily="34" charset="-122"/>
                <a:cs typeface="Calibri" pitchFamily="34" charset="-120"/>
              </a:rPr>
              <a:t>Precise.</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this shows that they didn't care at all about what the choctaw people wanted or had a right to</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this shows that they didn't care at all about what the choctaw people wanted or had a right to</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68880"/>
            <a:ext cx="8412480" cy="1371600"/>
          </a:xfrm>
          <a:prstGeom prst="roundRect">
            <a:avLst>
              <a:gd name="adj" fmla="val 6667"/>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6032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2834640"/>
            <a:ext cx="7955280" cy="457200"/>
          </a:xfrm>
          <a:prstGeom prst="rect">
            <a:avLst/>
          </a:prstGeom>
          <a:noFill/>
          <a:ln/>
        </p:spPr>
        <p:txBody>
          <a:bodyPr wrap="square" lIns="0" tIns="0" rIns="0" bIns="0" rtlCol="0" anchor="ctr"/>
          <a:lstStyle/>
          <a:p>
            <a:pPr indent="0" marL="0">
              <a:buNone/>
            </a:pPr>
            <a:r>
              <a:rPr lang="en-US" sz="1500" b="1" i="1" dirty="0">
                <a:solidFill>
                  <a:srgbClr val="1E293B"/>
                </a:solidFill>
                <a:latin typeface="Calibri" pitchFamily="34" charset="0"/>
                <a:ea typeface="Calibri" pitchFamily="34" charset="-122"/>
                <a:cs typeface="Calibri" pitchFamily="34" charset="-120"/>
              </a:rPr>
              <a:t>This evidence suggests the removal was executed without regard for the sovereignty or rights of the Choctaw Nation.</a:t>
            </a:r>
            <a:endParaRPr lang="en-US" sz="1500" dirty="0"/>
          </a:p>
        </p:txBody>
      </p:sp>
      <p:sp>
        <p:nvSpPr>
          <p:cNvPr id="13" name="Text 11"/>
          <p:cNvSpPr/>
          <p:nvPr/>
        </p:nvSpPr>
        <p:spPr>
          <a:xfrm>
            <a:off x="594360" y="3310128"/>
            <a:ext cx="7955280" cy="45720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Formal: “evidence suggests” (hedged), “executed without regard for” (precise), “sovereignty or rights of the Choctaw Nation” (specific). Remove “didn’t care at all.”</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Poetry Corner</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365760" y="868680"/>
            <a:ext cx="8412480" cy="2331720"/>
          </a:xfrm>
          <a:prstGeom prst="roundRect">
            <a:avLst>
              <a:gd name="adj" fmla="val 3922"/>
            </a:avLst>
          </a:prstGeom>
          <a:solidFill>
            <a:srgbClr val="FEF6E8"/>
          </a:solidFill>
          <a:ln/>
          <a:effectLst>
            <a:outerShdw sx="100000" sy="100000" kx="0" ky="0" algn="bl" rotWithShape="0" blurRad="101600" dist="38100" dir="2700000">
              <a:srgbClr val="000000">
                <a:alpha val="12000"/>
              </a:srgbClr>
            </a:outerShdw>
          </a:effectLst>
        </p:spPr>
      </p:sp>
      <p:sp>
        <p:nvSpPr>
          <p:cNvPr id="5" name="Text 3"/>
          <p:cNvSpPr/>
          <p:nvPr/>
        </p:nvSpPr>
        <p:spPr>
          <a:xfrm>
            <a:off x="594360" y="960120"/>
            <a:ext cx="7955280" cy="36576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For the Choctaw Nation</a:t>
            </a:r>
            <a:endParaRPr lang="en-US" sz="1900" dirty="0"/>
          </a:p>
        </p:txBody>
      </p:sp>
      <p:sp>
        <p:nvSpPr>
          <p:cNvPr id="6" name="Text 4"/>
          <p:cNvSpPr/>
          <p:nvPr/>
        </p:nvSpPr>
        <p:spPr>
          <a:xfrm>
            <a:off x="594360" y="1325880"/>
            <a:ext cx="7955280" cy="27432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by Bethany Optima Academy (original, Week 24)</a:t>
            </a:r>
            <a:endParaRPr lang="en-US" sz="1300" dirty="0"/>
          </a:p>
        </p:txBody>
      </p:sp>
      <p:sp>
        <p:nvSpPr>
          <p:cNvPr id="7" name="Text 5"/>
          <p:cNvSpPr/>
          <p:nvPr/>
        </p:nvSpPr>
        <p:spPr>
          <a:xfrm>
            <a:off x="594360" y="1627632"/>
            <a:ext cx="7955280" cy="1463040"/>
          </a:xfrm>
          <a:prstGeom prst="rect">
            <a:avLst/>
          </a:prstGeom>
          <a:noFill/>
          <a:ln/>
        </p:spPr>
        <p:txBody>
          <a:bodyPr wrap="square" lIns="0" tIns="0" rIns="0" bIns="0" rtlCol="0" anchor="t"/>
          <a:lstStyle/>
          <a:p>
            <a:pPr indent="0" marL="0">
              <a:buNone/>
            </a:pPr>
            <a:r>
              <a:rPr lang="en-US" sz="1400" i="1" dirty="0">
                <a:solidFill>
                  <a:srgbClr val="1E293B"/>
                </a:solidFill>
                <a:latin typeface="Georgia" pitchFamily="34" charset="0"/>
                <a:ea typeface="Georgia" pitchFamily="34" charset="-122"/>
                <a:cs typeface="Georgia" pitchFamily="34" charset="-120"/>
              </a:rPr>
              <a:t>We walked through ice and fire</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and carried our dead with us.</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We sang when they said stop singing.</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We remembered when they said forget.</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A ghost told us: keep walking.</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Not away from what was lost,</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but toward what we carry</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still.</a:t>
            </a:r>
            <a:endParaRPr lang="en-US" sz="1400" dirty="0"/>
          </a:p>
        </p:txBody>
      </p:sp>
      <p:sp>
        <p:nvSpPr>
          <p:cNvPr id="8" name="Text 6"/>
          <p:cNvSpPr/>
          <p:nvPr/>
        </p:nvSpPr>
        <p:spPr>
          <a:xfrm>
            <a:off x="365760" y="331012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THINK ABOUT THIS</a:t>
            </a:r>
            <a:endParaRPr lang="en-US" sz="1100" dirty="0"/>
          </a:p>
        </p:txBody>
      </p:sp>
      <p:sp>
        <p:nvSpPr>
          <p:cNvPr id="9" name="Shape 7"/>
          <p:cNvSpPr/>
          <p:nvPr/>
        </p:nvSpPr>
        <p:spPr>
          <a:xfrm>
            <a:off x="365760" y="3566160"/>
            <a:ext cx="8412480" cy="1051560"/>
          </a:xfrm>
          <a:prstGeom prst="roundRect">
            <a:avLst>
              <a:gd name="adj" fmla="val 8696"/>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3657600"/>
            <a:ext cx="7955280" cy="86868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This week, you have read the end of the novel and compared it with historical sources. In your reading journal: write two or three sentences about what both sources — Tingle’s novel AND the historical record — tell you about the Choctaw Nation that neither could tell you alone.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Quick Write (Optional)</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144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 READ THE PROMPT — 1 MINUTE</a:t>
            </a:r>
            <a:endParaRPr lang="en-US" sz="1100" dirty="0"/>
          </a:p>
        </p:txBody>
      </p:sp>
      <p:sp>
        <p:nvSpPr>
          <p:cNvPr id="5" name="Shape 3"/>
          <p:cNvSpPr/>
          <p:nvPr/>
        </p:nvSpPr>
        <p:spPr>
          <a:xfrm>
            <a:off x="457200" y="1280160"/>
            <a:ext cx="8229600" cy="1463040"/>
          </a:xfrm>
          <a:prstGeom prst="roundRect">
            <a:avLst>
              <a:gd name="adj" fmla="val 6250"/>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389888"/>
            <a:ext cx="7863840" cy="12344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Looking back across the whole novel, what is Isaac's greatest gift to the reader: the history he preserves, or the feelings he helps you understand? Defend your answer with evidence from the whole novel.</a:t>
            </a:r>
            <a:endParaRPr lang="en-US" sz="1600" dirty="0"/>
          </a:p>
        </p:txBody>
      </p:sp>
      <p:sp>
        <p:nvSpPr>
          <p:cNvPr id="7" name="Text 5"/>
          <p:cNvSpPr/>
          <p:nvPr/>
        </p:nvSpPr>
        <p:spPr>
          <a:xfrm>
            <a:off x="457200" y="29260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SENTENCE SCAFFOLD (USE WHAT HELPS)</a:t>
            </a:r>
            <a:endParaRPr lang="en-US" sz="1100" dirty="0"/>
          </a:p>
        </p:txBody>
      </p:sp>
      <p:sp>
        <p:nvSpPr>
          <p:cNvPr id="8" name="Text 6"/>
          <p:cNvSpPr/>
          <p:nvPr/>
        </p:nvSpPr>
        <p:spPr>
          <a:xfrm>
            <a:off x="457200" y="3218688"/>
            <a:ext cx="8229600" cy="822960"/>
          </a:xfrm>
          <a:prstGeom prst="rect">
            <a:avLst/>
          </a:prstGeom>
          <a:noFill/>
          <a:ln/>
        </p:spPr>
        <p:txBody>
          <a:bodyPr wrap="square" lIns="0" tIns="0" rIns="0" bIns="0" rtlCol="0" anchor="ctr"/>
          <a:lstStyle/>
          <a:p>
            <a:pPr indent="0" marL="0">
              <a:buNone/>
            </a:pPr>
            <a:r>
              <a:rPr lang="en-US" sz="1150" i="1" dirty="0">
                <a:solidFill>
                  <a:srgbClr val="0E1C42"/>
                </a:solidFill>
                <a:latin typeface="Calibri" pitchFamily="34" charset="0"/>
                <a:ea typeface="Calibri" pitchFamily="34" charset="-122"/>
                <a:cs typeface="Calibri" pitchFamily="34" charset="-120"/>
              </a:rPr>
              <a:t>I think...   →   because...   →   One piece of evidence is...   →   This matters because...   →   Someone might disagree, but...</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  Writing Time</a:t>
            </a:r>
            <a:endParaRPr lang="en-US" sz="3000" dirty="0"/>
          </a:p>
        </p:txBody>
      </p:sp>
      <p:sp>
        <p:nvSpPr>
          <p:cNvPr id="3" name="Text 1"/>
          <p:cNvSpPr/>
          <p:nvPr/>
        </p:nvSpPr>
        <p:spPr>
          <a:xfrm>
            <a:off x="914400" y="804672"/>
            <a:ext cx="7315200" cy="365760"/>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5 minutes — keep your pencil moving!</a:t>
            </a:r>
            <a:endParaRPr lang="en-US" sz="1500" dirty="0"/>
          </a:p>
        </p:txBody>
      </p:sp>
      <p:sp>
        <p:nvSpPr>
          <p:cNvPr id="4" name="Shape 2"/>
          <p:cNvSpPr/>
          <p:nvPr/>
        </p:nvSpPr>
        <p:spPr>
          <a:xfrm>
            <a:off x="457200" y="1325880"/>
            <a:ext cx="8229600" cy="1188720"/>
          </a:xfrm>
          <a:prstGeom prst="roundRect">
            <a:avLst>
              <a:gd name="adj" fmla="val 7692"/>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371600"/>
            <a:ext cx="7863840" cy="109728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 Prompt: </a:t>
            </a:r>
            <a:pPr indent="0" marL="0">
              <a:buNone/>
            </a:pPr>
            <a:r>
              <a:rPr lang="en-US" sz="1200" i="1" dirty="0">
                <a:solidFill>
                  <a:srgbClr val="1E293B"/>
                </a:solidFill>
                <a:latin typeface="Calibri" pitchFamily="34" charset="0"/>
                <a:ea typeface="Calibri" pitchFamily="34" charset="-122"/>
                <a:cs typeface="Calibri" pitchFamily="34" charset="-120"/>
              </a:rPr>
              <a:t>Looking back across the whole novel, what is Isaac's greatest gift to the reader: the history he preserves, or the feelings he helps you understand? Defend your answer with evidence from the whole novel.</a:t>
            </a:r>
            <a:endParaRPr lang="en-US" sz="1200" dirty="0"/>
          </a:p>
        </p:txBody>
      </p:sp>
      <p:sp>
        <p:nvSpPr>
          <p:cNvPr id="6" name="Shape 4"/>
          <p:cNvSpPr/>
          <p:nvPr/>
        </p:nvSpPr>
        <p:spPr>
          <a:xfrm>
            <a:off x="1554480" y="2743200"/>
            <a:ext cx="6035040" cy="1600200"/>
          </a:xfrm>
          <a:prstGeom prst="roundRect">
            <a:avLst>
              <a:gd name="adj" fmla="val 6857"/>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737360" y="2834640"/>
            <a:ext cx="5669280" cy="14173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Scaffold, if you need it:
</a:t>
            </a:r>
            <a:pPr indent="0" marL="0">
              <a:buNone/>
            </a:pPr>
            <a:r>
              <a:rPr lang="en-US" sz="1150" dirty="0">
                <a:solidFill>
                  <a:srgbClr val="1E293B"/>
                </a:solidFill>
                <a:latin typeface="Calibri" pitchFamily="34" charset="0"/>
                <a:ea typeface="Calibri" pitchFamily="34" charset="-122"/>
                <a:cs typeface="Calibri" pitchFamily="34" charset="-120"/>
              </a:rPr>
              <a:t>I think...</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because...</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One piece of evidence is...</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This matters because...</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Someone might disagree, but...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3657600" y="320040"/>
            <a:ext cx="1828800" cy="54864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3" name="Text 1"/>
          <p:cNvSpPr/>
          <p:nvPr/>
        </p:nvSpPr>
        <p:spPr>
          <a:xfrm>
            <a:off x="914400" y="822960"/>
            <a:ext cx="7315200" cy="594360"/>
          </a:xfrm>
          <a:prstGeom prst="rect">
            <a:avLst/>
          </a:prstGeom>
          <a:noFill/>
          <a:ln/>
        </p:spPr>
        <p:txBody>
          <a:bodyPr wrap="square" lIns="0" tIns="0" rIns="0" bIns="0" rtlCol="0" anchor="ctr"/>
          <a:lstStyle/>
          <a:p>
            <a:pPr algn="ctr" indent="0" marL="0">
              <a:buNone/>
            </a:pPr>
            <a:r>
              <a:rPr lang="en-US" sz="2800" b="1" dirty="0">
                <a:solidFill>
                  <a:srgbClr val="0E1C42"/>
                </a:solidFill>
                <a:latin typeface="Calibri" pitchFamily="34" charset="0"/>
                <a:ea typeface="Calibri" pitchFamily="34" charset="-122"/>
                <a:cs typeface="Calibri" pitchFamily="34" charset="-120"/>
              </a:rPr>
              <a:t>Edit &amp; Revise</a:t>
            </a:r>
            <a:endParaRPr lang="en-US" sz="2800" dirty="0"/>
          </a:p>
        </p:txBody>
      </p:sp>
      <p:sp>
        <p:nvSpPr>
          <p:cNvPr id="4" name="Text 2"/>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400" dirty="0">
                <a:solidFill>
                  <a:srgbClr val="34B76F"/>
                </a:solidFill>
                <a:latin typeface="Calibri" pitchFamily="34" charset="0"/>
                <a:ea typeface="Calibri" pitchFamily="34" charset="-122"/>
                <a:cs typeface="Calibri" pitchFamily="34" charset="-120"/>
              </a:rPr>
              <a:t>1 minute — one deliberate decision, not a full edit pass</a:t>
            </a:r>
            <a:endParaRPr lang="en-US" sz="1400" dirty="0"/>
          </a:p>
        </p:txBody>
      </p:sp>
      <p:sp>
        <p:nvSpPr>
          <p:cNvPr id="5" name="Shape 3"/>
          <p:cNvSpPr/>
          <p:nvPr/>
        </p:nvSpPr>
        <p:spPr>
          <a:xfrm>
            <a:off x="1188720" y="2011680"/>
            <a:ext cx="676656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1371600" y="2084832"/>
            <a:ext cx="6400800" cy="640080"/>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Today's revision check: </a:t>
            </a:r>
            <a:pPr indent="0" marL="0">
              <a:buNone/>
            </a:pPr>
            <a:r>
              <a:rPr lang="en-US" sz="1300" dirty="0">
                <a:solidFill>
                  <a:srgbClr val="1E293B"/>
                </a:solidFill>
                <a:latin typeface="Calibri" pitchFamily="34" charset="0"/>
                <a:ea typeface="Calibri" pitchFamily="34" charset="-122"/>
                <a:cs typeface="Calibri" pitchFamily="34" charset="-120"/>
              </a:rPr>
              <a:t>Does my ending sentence actually capture my strongest point, or should I move a stronger idea there?</a:t>
            </a:r>
            <a:endParaRPr lang="en-US" sz="1300" dirty="0"/>
          </a:p>
        </p:txBody>
      </p:sp>
      <p:sp>
        <p:nvSpPr>
          <p:cNvPr id="7" name="Text 5"/>
          <p:cNvSpPr/>
          <p:nvPr/>
        </p:nvSpPr>
        <p:spPr>
          <a:xfrm>
            <a:off x="1188720" y="3017520"/>
            <a:ext cx="6766560" cy="45720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Revision = improving ideas. Editing = fixing conventions. Pick ONE thing.</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0" y="457200"/>
            <a:ext cx="1828800" cy="64008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3" name="Text 1"/>
          <p:cNvSpPr/>
          <p:nvPr/>
        </p:nvSpPr>
        <p:spPr>
          <a:xfrm>
            <a:off x="914400" y="1005840"/>
            <a:ext cx="7315200" cy="59436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Share Time</a:t>
            </a:r>
            <a:endParaRPr lang="en-US" sz="3000" dirty="0"/>
          </a:p>
        </p:txBody>
      </p:sp>
      <p:sp>
        <p:nvSpPr>
          <p:cNvPr id="4" name="Text 2"/>
          <p:cNvSpPr/>
          <p:nvPr/>
        </p:nvSpPr>
        <p:spPr>
          <a:xfrm>
            <a:off x="914400" y="15544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3 minutes — let's hear your thinking!</a:t>
            </a:r>
            <a:endParaRPr lang="en-US" sz="1500" dirty="0"/>
          </a:p>
        </p:txBody>
      </p:sp>
      <p:sp>
        <p:nvSpPr>
          <p:cNvPr id="5" name="Shape 3"/>
          <p:cNvSpPr/>
          <p:nvPr/>
        </p:nvSpPr>
        <p:spPr>
          <a:xfrm>
            <a:off x="1828800" y="2194560"/>
            <a:ext cx="5486400" cy="1371600"/>
          </a:xfrm>
          <a:prstGeom prst="roundRect">
            <a:avLst>
              <a:gd name="adj" fmla="val 8000"/>
            </a:avLst>
          </a:prstGeom>
          <a:solidFill>
            <a:srgbClr val="FFFFFF"/>
          </a:solidFill>
          <a:ln/>
          <a:effectLst>
            <a:outerShdw sx="100000" sy="100000" kx="0" ky="0" algn="bl" rotWithShape="0" blurRad="101600" dist="38100" dir="2700000">
              <a:srgbClr val="000000">
                <a:alpha val="12000"/>
              </a:srgbClr>
            </a:outerShdw>
          </a:effectLst>
        </p:spPr>
      </p:sp>
      <p:sp>
        <p:nvSpPr>
          <p:cNvPr id="6" name="Text 4"/>
          <p:cNvSpPr/>
          <p:nvPr/>
        </p:nvSpPr>
        <p:spPr>
          <a:xfrm>
            <a:off x="2011680" y="2286000"/>
            <a:ext cx="5120640" cy="11887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Raise your hand </a:t>
            </a:r>
            <a:pPr indent="0" marL="0">
              <a:buNone/>
            </a:pPr>
            <a:r>
              <a:rPr lang="en-US" sz="1300" dirty="0">
                <a:solidFill>
                  <a:srgbClr val="1E293B"/>
                </a:solidFill>
                <a:latin typeface="Calibri" pitchFamily="34" charset="0"/>
                <a:ea typeface="Calibri" pitchFamily="34" charset="-122"/>
                <a:cs typeface="Calibri" pitchFamily="34" charset="-120"/>
              </a:rPr>
              <a:t>to share, or paste your writing in the chat.
</a:t>
            </a:r>
            <a:pPr indent="0" marL="0">
              <a:buNone/>
            </a:pPr>
            <a:r>
              <a:rPr lang="en-US" sz="1200" i="1" dirty="0">
                <a:solidFill>
                  <a:srgbClr val="64748B"/>
                </a:solidFill>
                <a:latin typeface="Calibri" pitchFamily="34" charset="0"/>
                <a:ea typeface="Calibri" pitchFamily="34" charset="-122"/>
                <a:cs typeface="Calibri" pitchFamily="34" charset="-120"/>
              </a:rPr>
              <a:t>If you disagree with a classmate's choice, say so respectfully — that's part of the thinking.</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Morphology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Morphology: Roots mem/memor + script</a:t>
            </a:r>
            <a:endParaRPr lang="en-US" sz="1100" dirty="0"/>
          </a:p>
        </p:txBody>
      </p:sp>
      <p:sp>
        <p:nvSpPr>
          <p:cNvPr id="5" name="Shape 3"/>
          <p:cNvSpPr/>
          <p:nvPr/>
        </p:nvSpPr>
        <p:spPr>
          <a:xfrm>
            <a:off x="365760" y="1097280"/>
            <a:ext cx="8412480" cy="566928"/>
          </a:xfrm>
          <a:prstGeom prst="roundRect">
            <a:avLst>
              <a:gd name="adj" fmla="val 16129"/>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mem / memor = memory → memoir, memorial, memorize, commemorate script = write → script, inscription, description, manuscript, prescribe</a:t>
            </a:r>
            <a:endParaRPr lang="en-US" sz="1150" dirty="0"/>
          </a:p>
        </p:txBody>
      </p:sp>
      <p:sp>
        <p:nvSpPr>
          <p:cNvPr id="7" name="Shape 5"/>
          <p:cNvSpPr/>
          <p:nvPr/>
        </p:nvSpPr>
        <p:spPr>
          <a:xfrm>
            <a:off x="365760" y="1737360"/>
            <a:ext cx="8412480" cy="566928"/>
          </a:xfrm>
          <a:prstGeom prst="roundRect">
            <a:avLst>
              <a:gd name="adj" fmla="val 16129"/>
            </a:avLst>
          </a:prstGeom>
          <a:solidFill>
            <a:srgbClr val="F8F4FF"/>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92224"/>
            <a:ext cx="804672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commemorate → Root: mem/memor (memory)</a:t>
            </a:r>
            <a:endParaRPr lang="en-US" sz="1150" dirty="0"/>
          </a:p>
        </p:txBody>
      </p:sp>
      <p:sp>
        <p:nvSpPr>
          <p:cNvPr id="9" name="Shape 7"/>
          <p:cNvSpPr/>
          <p:nvPr/>
        </p:nvSpPr>
        <p:spPr>
          <a:xfrm>
            <a:off x="365760" y="2377440"/>
            <a:ext cx="8412480" cy="566928"/>
          </a:xfrm>
          <a:prstGeom prst="roundRect">
            <a:avLst>
              <a:gd name="adj" fmla="val 16129"/>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432304"/>
            <a:ext cx="804672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manuscript → Root: script (write)</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Vocabulary</a:t>
            </a:r>
            <a:endParaRPr lang="en-US" sz="2600" dirty="0"/>
          </a:p>
        </p:txBody>
      </p:sp>
      <p:sp>
        <p:nvSpPr>
          <p:cNvPr id="3" name="Shape 1"/>
          <p:cNvSpPr/>
          <p:nvPr/>
        </p:nvSpPr>
        <p:spPr>
          <a:xfrm>
            <a:off x="365760" y="749808"/>
            <a:ext cx="8412480" cy="0"/>
          </a:xfrm>
          <a:prstGeom prst="line">
            <a:avLst/>
          </a:prstGeom>
          <a:noFill/>
          <a:ln w="19050">
            <a:solidFill>
              <a:srgbClr val="55C8E8"/>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Words from this week's chapters.</a:t>
            </a:r>
            <a:endParaRPr lang="en-US" sz="1100" dirty="0"/>
          </a:p>
        </p:txBody>
      </p:sp>
      <p:sp>
        <p:nvSpPr>
          <p:cNvPr id="5" name="Shape 3"/>
          <p:cNvSpPr/>
          <p:nvPr/>
        </p:nvSpPr>
        <p:spPr>
          <a:xfrm>
            <a:off x="365760" y="109728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narrator  </a:t>
            </a:r>
            <a:pPr indent="0" marL="0">
              <a:buNone/>
            </a:pPr>
            <a:r>
              <a:rPr lang="en-US" sz="1150" dirty="0">
                <a:solidFill>
                  <a:srgbClr val="1E293B"/>
                </a:solidFill>
                <a:latin typeface="Calibri" pitchFamily="34" charset="0"/>
                <a:ea typeface="Calibri" pitchFamily="34" charset="-122"/>
                <a:cs typeface="Calibri" pitchFamily="34" charset="-120"/>
              </a:rPr>
              <a:t>The person telling the story in their own words.</a:t>
            </a:r>
            <a:endParaRPr lang="en-US" sz="1300" dirty="0"/>
          </a:p>
        </p:txBody>
      </p:sp>
      <p:sp>
        <p:nvSpPr>
          <p:cNvPr id="7" name="Shape 5"/>
          <p:cNvSpPr/>
          <p:nvPr/>
        </p:nvSpPr>
        <p:spPr>
          <a:xfrm>
            <a:off x="365760" y="1691640"/>
            <a:ext cx="8412480" cy="530352"/>
          </a:xfrm>
          <a:prstGeom prst="roundRect">
            <a:avLst>
              <a:gd name="adj" fmla="val 17241"/>
            </a:avLst>
          </a:prstGeom>
          <a:solidFill>
            <a:srgbClr val="EAF6FA"/>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3736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treaty  </a:t>
            </a:r>
            <a:pPr indent="0" marL="0">
              <a:buNone/>
            </a:pPr>
            <a:r>
              <a:rPr lang="en-US" sz="1150" dirty="0">
                <a:solidFill>
                  <a:srgbClr val="1E293B"/>
                </a:solidFill>
                <a:latin typeface="Calibri" pitchFamily="34" charset="0"/>
                <a:ea typeface="Calibri" pitchFamily="34" charset="-122"/>
                <a:cs typeface="Calibri" pitchFamily="34" charset="-120"/>
              </a:rPr>
              <a:t>A formal agreement between governments.</a:t>
            </a:r>
            <a:endParaRPr lang="en-US" sz="1300" dirty="0"/>
          </a:p>
        </p:txBody>
      </p:sp>
      <p:sp>
        <p:nvSpPr>
          <p:cNvPr id="9" name="Shape 7"/>
          <p:cNvSpPr/>
          <p:nvPr/>
        </p:nvSpPr>
        <p:spPr>
          <a:xfrm>
            <a:off x="365760" y="228600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33172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memoir  </a:t>
            </a:r>
            <a:pPr indent="0" marL="0">
              <a:buNone/>
            </a:pPr>
            <a:r>
              <a:rPr lang="en-US" sz="1150" dirty="0">
                <a:solidFill>
                  <a:srgbClr val="1E293B"/>
                </a:solidFill>
                <a:latin typeface="Calibri" pitchFamily="34" charset="0"/>
                <a:ea typeface="Calibri" pitchFamily="34" charset="-122"/>
                <a:cs typeface="Calibri" pitchFamily="34" charset="-120"/>
              </a:rPr>
              <a:t>A written account of events a person lived through.</a:t>
            </a:r>
            <a:endParaRPr lang="en-US" sz="1300" dirty="0"/>
          </a:p>
        </p:txBody>
      </p:sp>
      <p:sp>
        <p:nvSpPr>
          <p:cNvPr id="11" name="Shape 9"/>
          <p:cNvSpPr/>
          <p:nvPr/>
        </p:nvSpPr>
        <p:spPr>
          <a:xfrm>
            <a:off x="365760" y="2880360"/>
            <a:ext cx="8412480" cy="530352"/>
          </a:xfrm>
          <a:prstGeom prst="roundRect">
            <a:avLst>
              <a:gd name="adj" fmla="val 17241"/>
            </a:avLst>
          </a:prstGeom>
          <a:solidFill>
            <a:srgbClr val="EAF6FA"/>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292608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removal  </a:t>
            </a:r>
            <a:pPr indent="0" marL="0">
              <a:buNone/>
            </a:pPr>
            <a:r>
              <a:rPr lang="en-US" sz="1150" dirty="0">
                <a:solidFill>
                  <a:srgbClr val="1E293B"/>
                </a:solidFill>
                <a:latin typeface="Calibri" pitchFamily="34" charset="0"/>
                <a:ea typeface="Calibri" pitchFamily="34" charset="-122"/>
                <a:cs typeface="Calibri" pitchFamily="34" charset="-120"/>
              </a:rPr>
              <a:t>Being forced from your homeland.</a:t>
            </a:r>
            <a:endParaRPr lang="en-US" sz="1300" dirty="0"/>
          </a:p>
        </p:txBody>
      </p:sp>
      <p:sp>
        <p:nvSpPr>
          <p:cNvPr id="13" name="Shape 11"/>
          <p:cNvSpPr/>
          <p:nvPr/>
        </p:nvSpPr>
        <p:spPr>
          <a:xfrm>
            <a:off x="365760" y="347472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14" name="Text 12"/>
          <p:cNvSpPr/>
          <p:nvPr/>
        </p:nvSpPr>
        <p:spPr>
          <a:xfrm>
            <a:off x="548640" y="352044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prophecy  </a:t>
            </a:r>
            <a:pPr indent="0" marL="0">
              <a:buNone/>
            </a:pPr>
            <a:r>
              <a:rPr lang="en-US" sz="1150" dirty="0">
                <a:solidFill>
                  <a:srgbClr val="1E293B"/>
                </a:solidFill>
                <a:latin typeface="Calibri" pitchFamily="34" charset="0"/>
                <a:ea typeface="Calibri" pitchFamily="34" charset="-122"/>
                <a:cs typeface="Calibri" pitchFamily="34" charset="-120"/>
              </a:rPr>
              <a:t>A prediction of what will happen in the future.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Grammar: Appositives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Day 2: Identify — tap the appositive in each sentence.</a:t>
            </a:r>
            <a:endParaRPr lang="en-US" sz="1100" dirty="0"/>
          </a:p>
        </p:txBody>
      </p:sp>
      <p:sp>
        <p:nvSpPr>
          <p:cNvPr id="7" name="Text 5"/>
          <p:cNvSpPr/>
          <p:nvPr/>
        </p:nvSpPr>
        <p:spPr>
          <a:xfrm>
            <a:off x="365760" y="1097280"/>
            <a:ext cx="841248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An appositive renames or describes the noun right before it. It is set off with commas on both sides.</a:t>
            </a:r>
            <a:endParaRPr lang="en-US" sz="1150" dirty="0"/>
          </a:p>
        </p:txBody>
      </p:sp>
      <p:sp>
        <p:nvSpPr>
          <p:cNvPr id="8" name="Shape 6"/>
          <p:cNvSpPr/>
          <p:nvPr/>
        </p:nvSpPr>
        <p:spPr>
          <a:xfrm>
            <a:off x="365760" y="1600200"/>
            <a:ext cx="8412480" cy="457200"/>
          </a:xfrm>
          <a:prstGeom prst="roundRect">
            <a:avLst>
              <a:gd name="adj" fmla="val 20000"/>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645920"/>
            <a:ext cx="8046720" cy="365760"/>
          </a:xfrm>
          <a:prstGeom prst="rect">
            <a:avLst/>
          </a:prstGeom>
          <a:noFill/>
          <a:ln/>
        </p:spPr>
        <p:txBody>
          <a:bodyPr wrap="square" lIns="0" tIns="0" rIns="0" bIns="0" rtlCol="0" anchor="ctr"/>
          <a:lstStyle/>
          <a:p>
            <a:pPr indent="0" marL="0">
              <a:buNone/>
            </a:pPr>
            <a:r>
              <a:rPr lang="en-US" sz="1100" b="1" dirty="0">
                <a:solidFill>
                  <a:srgbClr val="34B76F"/>
                </a:solidFill>
                <a:latin typeface="Calibri" pitchFamily="34" charset="0"/>
                <a:ea typeface="Calibri" pitchFamily="34" charset="-122"/>
                <a:cs typeface="Calibri" pitchFamily="34" charset="-120"/>
              </a:rPr>
              <a:t>Model: </a:t>
            </a:r>
            <a:pPr indent="0" marL="0">
              <a:buNone/>
            </a:pPr>
            <a:r>
              <a:rPr lang="en-US" sz="1100" i="1" dirty="0">
                <a:solidFill>
                  <a:srgbClr val="1E293B"/>
                </a:solidFill>
                <a:latin typeface="Calibri" pitchFamily="34" charset="0"/>
                <a:ea typeface="Calibri" pitchFamily="34" charset="-122"/>
                <a:cs typeface="Calibri" pitchFamily="34" charset="-120"/>
              </a:rPr>
              <a:t>Isaac, a ten-year-old Choctaw boy, lived in Mississippi.</a:t>
            </a:r>
            <a:endParaRPr lang="en-US" sz="1100" dirty="0"/>
          </a:p>
        </p:txBody>
      </p:sp>
      <p:sp>
        <p:nvSpPr>
          <p:cNvPr id="10" name="Shape 8"/>
          <p:cNvSpPr/>
          <p:nvPr/>
        </p:nvSpPr>
        <p:spPr>
          <a:xfrm>
            <a:off x="365760" y="2130552"/>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176272"/>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Jumper, my dog, was always by my side.</a:t>
            </a:r>
            <a:endParaRPr lang="en-US" sz="1150" dirty="0"/>
          </a:p>
        </p:txBody>
      </p:sp>
      <p:sp>
        <p:nvSpPr>
          <p:cNvPr id="12" name="Shape 10"/>
          <p:cNvSpPr/>
          <p:nvPr/>
        </p:nvSpPr>
        <p:spPr>
          <a:xfrm>
            <a:off x="365760" y="2752344"/>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2798064"/>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Luke, my big brother, left to play stickball.</a:t>
            </a:r>
            <a:endParaRPr lang="en-US" sz="1150" dirty="0"/>
          </a:p>
        </p:txBody>
      </p:sp>
      <p:sp>
        <p:nvSpPr>
          <p:cNvPr id="14" name="Shape 12"/>
          <p:cNvSpPr/>
          <p:nvPr/>
        </p:nvSpPr>
        <p:spPr>
          <a:xfrm>
            <a:off x="365760" y="3374136"/>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3419856"/>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Treaty Talk, news from the Nahullos, had come to town.</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Grammar: Appositives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Day 2: Identify — tap the appositive in each sentence.</a:t>
            </a:r>
            <a:endParaRPr lang="en-US" sz="1100" dirty="0"/>
          </a:p>
        </p:txBody>
      </p:sp>
      <p:sp>
        <p:nvSpPr>
          <p:cNvPr id="7" name="Text 5"/>
          <p:cNvSpPr/>
          <p:nvPr/>
        </p:nvSpPr>
        <p:spPr>
          <a:xfrm>
            <a:off x="365760" y="1097280"/>
            <a:ext cx="841248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An appositive renames or describes the noun right before it. It is set off with commas on both sides.</a:t>
            </a:r>
            <a:endParaRPr lang="en-US" sz="1150" dirty="0"/>
          </a:p>
        </p:txBody>
      </p:sp>
      <p:sp>
        <p:nvSpPr>
          <p:cNvPr id="8" name="Shape 6"/>
          <p:cNvSpPr/>
          <p:nvPr/>
        </p:nvSpPr>
        <p:spPr>
          <a:xfrm>
            <a:off x="365760" y="1600200"/>
            <a:ext cx="8412480" cy="457200"/>
          </a:xfrm>
          <a:prstGeom prst="roundRect">
            <a:avLst>
              <a:gd name="adj" fmla="val 20000"/>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645920"/>
            <a:ext cx="8046720" cy="365760"/>
          </a:xfrm>
          <a:prstGeom prst="rect">
            <a:avLst/>
          </a:prstGeom>
          <a:noFill/>
          <a:ln/>
        </p:spPr>
        <p:txBody>
          <a:bodyPr wrap="square" lIns="0" tIns="0" rIns="0" bIns="0" rtlCol="0" anchor="ctr"/>
          <a:lstStyle/>
          <a:p>
            <a:pPr indent="0" marL="0">
              <a:buNone/>
            </a:pPr>
            <a:r>
              <a:rPr lang="en-US" sz="1100" b="1" dirty="0">
                <a:solidFill>
                  <a:srgbClr val="34B76F"/>
                </a:solidFill>
                <a:latin typeface="Calibri" pitchFamily="34" charset="0"/>
                <a:ea typeface="Calibri" pitchFamily="34" charset="-122"/>
                <a:cs typeface="Calibri" pitchFamily="34" charset="-120"/>
              </a:rPr>
              <a:t>Model: </a:t>
            </a:r>
            <a:pPr indent="0" marL="0">
              <a:buNone/>
            </a:pPr>
            <a:r>
              <a:rPr lang="en-US" sz="1100" i="1" dirty="0">
                <a:solidFill>
                  <a:srgbClr val="1E293B"/>
                </a:solidFill>
                <a:latin typeface="Calibri" pitchFamily="34" charset="0"/>
                <a:ea typeface="Calibri" pitchFamily="34" charset="-122"/>
                <a:cs typeface="Calibri" pitchFamily="34" charset="-120"/>
              </a:rPr>
              <a:t>Isaac, a ten-year-old Choctaw boy, lived in Mississippi.</a:t>
            </a:r>
            <a:endParaRPr lang="en-US" sz="1100" dirty="0"/>
          </a:p>
        </p:txBody>
      </p:sp>
      <p:sp>
        <p:nvSpPr>
          <p:cNvPr id="10" name="Shape 8"/>
          <p:cNvSpPr/>
          <p:nvPr/>
        </p:nvSpPr>
        <p:spPr>
          <a:xfrm>
            <a:off x="365760" y="2130552"/>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176272"/>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Jumper, my dog, was always by my side.
</a:t>
            </a:r>
            <a:pPr indent="0" marL="0">
              <a:buNone/>
            </a:pPr>
            <a:r>
              <a:rPr lang="en-US" sz="1200" b="1" dirty="0">
                <a:solidFill>
                  <a:srgbClr val="34B76F"/>
                </a:solidFill>
                <a:latin typeface="Calibri" pitchFamily="34" charset="0"/>
                <a:ea typeface="Calibri" pitchFamily="34" charset="-122"/>
                <a:cs typeface="Calibri" pitchFamily="34" charset="-120"/>
              </a:rPr>
              <a:t>✅ my</a:t>
            </a:r>
            <a:endParaRPr lang="en-US" sz="1150" dirty="0"/>
          </a:p>
        </p:txBody>
      </p:sp>
      <p:sp>
        <p:nvSpPr>
          <p:cNvPr id="12" name="Shape 10"/>
          <p:cNvSpPr/>
          <p:nvPr/>
        </p:nvSpPr>
        <p:spPr>
          <a:xfrm>
            <a:off x="365760" y="2752344"/>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2798064"/>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Luke, my big brother, left to play stickball.
</a:t>
            </a:r>
            <a:pPr indent="0" marL="0">
              <a:buNone/>
            </a:pPr>
            <a:r>
              <a:rPr lang="en-US" sz="1200" b="1" dirty="0">
                <a:solidFill>
                  <a:srgbClr val="34B76F"/>
                </a:solidFill>
                <a:latin typeface="Calibri" pitchFamily="34" charset="0"/>
                <a:ea typeface="Calibri" pitchFamily="34" charset="-122"/>
                <a:cs typeface="Calibri" pitchFamily="34" charset="-120"/>
              </a:rPr>
              <a:t>✅ my</a:t>
            </a:r>
            <a:endParaRPr lang="en-US" sz="1150" dirty="0"/>
          </a:p>
        </p:txBody>
      </p:sp>
      <p:sp>
        <p:nvSpPr>
          <p:cNvPr id="14" name="Shape 12"/>
          <p:cNvSpPr/>
          <p:nvPr/>
        </p:nvSpPr>
        <p:spPr>
          <a:xfrm>
            <a:off x="365760" y="3374136"/>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3419856"/>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Treaty Talk, news from the Nahullos, had come to town.
</a:t>
            </a:r>
            <a:pPr indent="0" marL="0">
              <a:buNone/>
            </a:pPr>
            <a:r>
              <a:rPr lang="en-US" sz="1200" b="1" dirty="0">
                <a:solidFill>
                  <a:srgbClr val="34B76F"/>
                </a:solidFill>
                <a:latin typeface="Calibri" pitchFamily="34" charset="0"/>
                <a:ea typeface="Calibri" pitchFamily="34" charset="-122"/>
                <a:cs typeface="Calibri" pitchFamily="34" charset="-120"/>
              </a:rPr>
              <a:t>✅ news</a:t>
            </a:r>
            <a:endParaRPr lang="en-US" sz="1150" dirty="0"/>
          </a:p>
        </p:txBody>
      </p:sp>
      <p:sp>
        <p:nvSpPr>
          <p:cNvPr id="16" name="Shape 14"/>
          <p:cNvSpPr/>
          <p:nvPr/>
        </p:nvSpPr>
        <p:spPr>
          <a:xfrm>
            <a:off x="365760" y="4014216"/>
            <a:ext cx="8412480" cy="777240"/>
          </a:xfrm>
          <a:prstGeom prst="roundRect">
            <a:avLst>
              <a:gd name="adj" fmla="val 11765"/>
            </a:avLst>
          </a:prstGeom>
          <a:solidFill>
            <a:srgbClr val="FEF6E8"/>
          </a:solidFill>
          <a:ln w="12700">
            <a:solidFill>
              <a:srgbClr val="C7922C"/>
            </a:solidFill>
            <a:prstDash val="solid"/>
          </a:ln>
        </p:spPr>
      </p:sp>
      <p:sp>
        <p:nvSpPr>
          <p:cNvPr id="17" name="Text 15"/>
          <p:cNvSpPr/>
          <p:nvPr/>
        </p:nvSpPr>
        <p:spPr>
          <a:xfrm>
            <a:off x="548640" y="4087368"/>
            <a:ext cx="8046720" cy="640080"/>
          </a:xfrm>
          <a:prstGeom prst="rect">
            <a:avLst/>
          </a:prstGeom>
          <a:noFill/>
          <a:ln/>
        </p:spPr>
        <p:txBody>
          <a:bodyPr wrap="square" lIns="0" tIns="0" rIns="0" bIns="0" rtlCol="0" anchor="t"/>
          <a:lstStyle/>
          <a:p>
            <a:pPr indent="0" marL="0">
              <a:buNone/>
            </a:pPr>
            <a:r>
              <a:rPr lang="en-US" sz="1050" b="1" dirty="0">
                <a:solidFill>
                  <a:srgbClr val="C7922C"/>
                </a:solidFill>
                <a:latin typeface="Calibri" pitchFamily="34" charset="0"/>
                <a:ea typeface="Calibri" pitchFamily="34" charset="-122"/>
                <a:cs typeface="Calibri" pitchFamily="34" charset="-120"/>
              </a:rPr>
              <a:t>🫖 Show What You Know · Show What You Know
</a:t>
            </a:r>
            <a:pPr indent="0" marL="0">
              <a:buNone/>
            </a:pPr>
            <a:r>
              <a:rPr lang="en-US" sz="1050" i="1" dirty="0">
                <a:solidFill>
                  <a:srgbClr val="1E293B"/>
                </a:solidFill>
                <a:latin typeface="Calibri" pitchFamily="34" charset="0"/>
                <a:ea typeface="Calibri" pitchFamily="34" charset="-122"/>
                <a:cs typeface="Calibri" pitchFamily="34" charset="-120"/>
              </a:rPr>
              <a:t>Read this sentence: “Isaac’s father, a quiet and dignified man, held Mother’s hand.” What is the appositive? What does it tell you about Isaac’s father?</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Spelling — Spelling: Open &amp; Closed Syllables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Sort the words by their first syllable.</a:t>
            </a:r>
            <a:endParaRPr lang="en-US" sz="1100" dirty="0"/>
          </a:p>
        </p:txBody>
      </p:sp>
      <p:sp>
        <p:nvSpPr>
          <p:cNvPr id="7" name="Text 5"/>
          <p:cNvSpPr/>
          <p:nvPr/>
        </p:nvSpPr>
        <p:spPr>
          <a:xfrm>
            <a:off x="365760" y="1143000"/>
            <a:ext cx="271272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2 syllables</a:t>
            </a:r>
            <a:endParaRPr lang="en-US" sz="1300" dirty="0"/>
          </a:p>
        </p:txBody>
      </p:sp>
      <p:sp>
        <p:nvSpPr>
          <p:cNvPr id="8" name="Text 6"/>
          <p:cNvSpPr/>
          <p:nvPr/>
        </p:nvSpPr>
        <p:spPr>
          <a:xfrm>
            <a:off x="365760" y="1527048"/>
            <a:ext cx="271272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Choctaw</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treaty</a:t>
            </a:r>
            <a:endParaRPr lang="en-US" sz="1300" dirty="0"/>
          </a:p>
        </p:txBody>
      </p:sp>
      <p:sp>
        <p:nvSpPr>
          <p:cNvPr id="9" name="Text 7"/>
          <p:cNvSpPr/>
          <p:nvPr/>
        </p:nvSpPr>
        <p:spPr>
          <a:xfrm>
            <a:off x="3169920" y="1143000"/>
            <a:ext cx="271272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4 syllables</a:t>
            </a:r>
            <a:endParaRPr lang="en-US" sz="1300" dirty="0"/>
          </a:p>
        </p:txBody>
      </p:sp>
      <p:sp>
        <p:nvSpPr>
          <p:cNvPr id="10" name="Text 8"/>
          <p:cNvSpPr/>
          <p:nvPr/>
        </p:nvSpPr>
        <p:spPr>
          <a:xfrm>
            <a:off x="3169920" y="1527048"/>
            <a:ext cx="271272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Mississippi</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territory</a:t>
            </a:r>
            <a:endParaRPr lang="en-US" sz="1300" dirty="0"/>
          </a:p>
        </p:txBody>
      </p:sp>
      <p:sp>
        <p:nvSpPr>
          <p:cNvPr id="11" name="Text 9"/>
          <p:cNvSpPr/>
          <p:nvPr/>
        </p:nvSpPr>
        <p:spPr>
          <a:xfrm>
            <a:off x="5974080" y="1143000"/>
            <a:ext cx="271272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3 syllables</a:t>
            </a:r>
            <a:endParaRPr lang="en-US" sz="1300" dirty="0"/>
          </a:p>
        </p:txBody>
      </p:sp>
      <p:sp>
        <p:nvSpPr>
          <p:cNvPr id="12" name="Text 10"/>
          <p:cNvSpPr/>
          <p:nvPr/>
        </p:nvSpPr>
        <p:spPr>
          <a:xfrm>
            <a:off x="5974080" y="1527048"/>
            <a:ext cx="271272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removal</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government</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Reading Focus + Story Journey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YOUR STORY JOURNEY</a:t>
            </a:r>
            <a:endParaRPr lang="en-US" sz="1100" dirty="0"/>
          </a:p>
        </p:txBody>
      </p:sp>
      <p:sp>
        <p:nvSpPr>
          <p:cNvPr id="7" name="Shape 5"/>
          <p:cNvSpPr/>
          <p:nvPr/>
        </p:nvSpPr>
        <p:spPr>
          <a:xfrm>
            <a:off x="365760" y="1078992"/>
            <a:ext cx="8412480" cy="777240"/>
          </a:xfrm>
          <a:prstGeom prst="roundRect">
            <a:avLst>
              <a:gd name="adj" fmla="val 1176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955280" cy="594360"/>
          </a:xfrm>
          <a:prstGeom prst="rect">
            <a:avLst/>
          </a:prstGeom>
          <a:noFill/>
          <a:ln/>
        </p:spPr>
        <p:txBody>
          <a:bodyPr wrap="square" lIns="0" tIns="0" rIns="0" bIns="0" rtlCol="0" anchor="ctr"/>
          <a:lstStyle/>
          <a:p>
            <a:pPr indent="0" marL="0">
              <a:buNone/>
            </a:pPr>
            <a:r>
              <a:rPr lang="en-US" sz="1250" b="1" dirty="0">
                <a:solidFill>
                  <a:srgbClr val="1E293B"/>
                </a:solidFill>
                <a:latin typeface="Calibri" pitchFamily="34" charset="0"/>
                <a:ea typeface="Calibri" pitchFamily="34" charset="-122"/>
                <a:cs typeface="Calibri" pitchFamily="34" charset="-120"/>
              </a:rPr>
              <a:t>Isaac’s Path — 📍 Source Comparison &amp; Unit Close</a:t>
            </a:r>
            <a:endParaRPr lang="en-US" sz="1250" dirty="0"/>
          </a:p>
        </p:txBody>
      </p:sp>
      <p:sp>
        <p:nvSpPr>
          <p:cNvPr id="9" name="Text 7"/>
          <p:cNvSpPr/>
          <p:nvPr/>
        </p:nvSpPr>
        <p:spPr>
          <a:xfrm>
            <a:off x="365760" y="1975104"/>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TODAY YOU ARE READING</a:t>
            </a:r>
            <a:endParaRPr lang="en-US" sz="1100" dirty="0"/>
          </a:p>
        </p:txBody>
      </p:sp>
      <p:sp>
        <p:nvSpPr>
          <p:cNvPr id="10" name="Shape 8"/>
          <p:cNvSpPr/>
          <p:nvPr/>
        </p:nvSpPr>
        <p:spPr>
          <a:xfrm>
            <a:off x="365760" y="2231136"/>
            <a:ext cx="8412480" cy="640080"/>
          </a:xfrm>
          <a:prstGeom prst="roundRect">
            <a:avLst>
              <a:gd name="adj" fmla="val 14286"/>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304288"/>
            <a:ext cx="7955280" cy="493776"/>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Chapter 28-29 — Source Comparison &amp; Unit Assessment</a:t>
            </a:r>
            <a:endParaRPr lang="en-US" sz="1500" dirty="0"/>
          </a:p>
        </p:txBody>
      </p:sp>
      <p:sp>
        <p:nvSpPr>
          <p:cNvPr id="12" name="Text 10"/>
          <p:cNvSpPr/>
          <p:nvPr/>
        </p:nvSpPr>
        <p:spPr>
          <a:xfrm>
            <a:off x="365760" y="2999232"/>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KEEP YOUR READING LENS IN MIND</a:t>
            </a:r>
            <a:endParaRPr lang="en-US" sz="1100" dirty="0"/>
          </a:p>
        </p:txBody>
      </p:sp>
      <p:sp>
        <p:nvSpPr>
          <p:cNvPr id="13" name="Shape 11"/>
          <p:cNvSpPr/>
          <p:nvPr/>
        </p:nvSpPr>
        <p:spPr>
          <a:xfrm>
            <a:off x="365760" y="3255264"/>
            <a:ext cx="8412480" cy="1280160"/>
          </a:xfrm>
          <a:prstGeom prst="roundRect">
            <a:avLst>
              <a:gd name="adj" fmla="val 7143"/>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46704"/>
            <a:ext cx="7955280" cy="1097280"/>
          </a:xfrm>
          <a:prstGeom prst="rect">
            <a:avLst/>
          </a:prstGeom>
          <a:noFill/>
          <a:ln/>
        </p:spPr>
        <p:txBody>
          <a:bodyPr wrap="square" lIns="0" tIns="0" rIns="0" bIns="0" rtlCol="0" anchor="t"/>
          <a:lstStyle/>
          <a:p>
            <a:pPr indent="0" marL="0">
              <a:buNone/>
            </a:pPr>
            <a:r>
              <a:rPr lang="en-US" sz="1150" i="1" dirty="0">
                <a:solidFill>
                  <a:srgbClr val="1E293B"/>
                </a:solidFill>
                <a:latin typeface="Calibri" pitchFamily="34" charset="0"/>
                <a:ea typeface="Calibri" pitchFamily="34" charset="-122"/>
                <a:cs typeface="Calibri" pitchFamily="34" charset="-120"/>
              </a:rPr>
              <a:t>Good readers don’t finish a book and put it down unchanged. As you prepare your final submission today: what has changed in how you think about history, about stories, about the Choctaw Nation? What will you carry forward from reading this novel?</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Comprehension Questions — Preview</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YOU'LL ANSWER (PART A)</a:t>
            </a:r>
            <a:endParaRPr lang="en-US" sz="1100" dirty="0"/>
          </a:p>
        </p:txBody>
      </p:sp>
      <p:sp>
        <p:nvSpPr>
          <p:cNvPr id="5" name="Shape 3"/>
          <p:cNvSpPr/>
          <p:nvPr/>
        </p:nvSpPr>
        <p:spPr>
          <a:xfrm>
            <a:off x="365760" y="1097280"/>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70432"/>
            <a:ext cx="8046720" cy="768096"/>
          </a:xfrm>
          <a:prstGeom prst="rect">
            <a:avLst/>
          </a:prstGeom>
          <a:noFill/>
          <a:ln/>
        </p:spPr>
        <p:txBody>
          <a:bodyPr wrap="square" lIns="0" tIns="0" rIns="0" bIns="0"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1.  </a:t>
            </a:r>
            <a:pPr indent="0" marL="0">
              <a:buNone/>
            </a:pPr>
            <a:r>
              <a:rPr lang="en-US" sz="1150" dirty="0">
                <a:solidFill>
                  <a:srgbClr val="1E293B"/>
                </a:solidFill>
                <a:latin typeface="Calibri" pitchFamily="34" charset="0"/>
                <a:ea typeface="Calibri" pitchFamily="34" charset="-122"/>
                <a:cs typeface="Calibri" pitchFamily="34" charset="-120"/>
              </a:rPr>
              <a:t>Complete your source comparison paragraph (if not already done) and paste it here. Then write one sentence: what is your claim?</a:t>
            </a:r>
            <a:endParaRPr lang="en-US" sz="1300" dirty="0"/>
          </a:p>
        </p:txBody>
      </p:sp>
      <p:sp>
        <p:nvSpPr>
          <p:cNvPr id="7" name="Shape 5"/>
          <p:cNvSpPr/>
          <p:nvPr/>
        </p:nvSpPr>
        <p:spPr>
          <a:xfrm>
            <a:off x="365760" y="2084832"/>
            <a:ext cx="8412480" cy="914400"/>
          </a:xfrm>
          <a:prstGeom prst="roundRect">
            <a:avLst>
              <a:gd name="adj" fmla="val 10000"/>
            </a:avLst>
          </a:prstGeom>
          <a:solidFill>
            <a:srgbClr val="F4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57984"/>
            <a:ext cx="8046720" cy="768096"/>
          </a:xfrm>
          <a:prstGeom prst="rect">
            <a:avLst/>
          </a:prstGeom>
          <a:noFill/>
          <a:ln/>
        </p:spPr>
        <p:txBody>
          <a:bodyPr wrap="square" lIns="0" tIns="0" rIns="0" bIns="0"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2.  </a:t>
            </a:r>
            <a:pPr indent="0" marL="0">
              <a:buNone/>
            </a:pPr>
            <a:r>
              <a:rPr lang="en-US" sz="1150" dirty="0">
                <a:solidFill>
                  <a:srgbClr val="1E293B"/>
                </a:solidFill>
                <a:latin typeface="Calibri" pitchFamily="34" charset="0"/>
                <a:ea typeface="Calibri" pitchFamily="34" charset="-122"/>
                <a:cs typeface="Calibri" pitchFamily="34" charset="-120"/>
              </a:rPr>
              <a:t>Of everything you read in this novel, what single moment, sentence, or image will stay with you? Why?</a:t>
            </a:r>
            <a:endParaRPr lang="en-US" sz="1300" dirty="0"/>
          </a:p>
        </p:txBody>
      </p:sp>
      <p:sp>
        <p:nvSpPr>
          <p:cNvPr id="9" name="Shape 7"/>
          <p:cNvSpPr/>
          <p:nvPr/>
        </p:nvSpPr>
        <p:spPr>
          <a:xfrm>
            <a:off x="365760" y="3072384"/>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145536"/>
            <a:ext cx="8046720" cy="768096"/>
          </a:xfrm>
          <a:prstGeom prst="rect">
            <a:avLst/>
          </a:prstGeom>
          <a:noFill/>
          <a:ln/>
        </p:spPr>
        <p:txBody>
          <a:bodyPr wrap="square" lIns="0" tIns="0" rIns="0" bIns="0"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3.  </a:t>
            </a:r>
            <a:pPr indent="0" marL="0">
              <a:buNone/>
            </a:pPr>
            <a:r>
              <a:rPr lang="en-US" sz="1150" dirty="0">
                <a:solidFill>
                  <a:srgbClr val="1E293B"/>
                </a:solidFill>
                <a:latin typeface="Calibri" pitchFamily="34" charset="0"/>
                <a:ea typeface="Calibri" pitchFamily="34" charset="-122"/>
                <a:cs typeface="Calibri" pitchFamily="34" charset="-120"/>
              </a:rPr>
              <a:t>Pushmataha says: “Remember us.” What does it mean for a reader to “remember” after finishing a novel? What responsibility does a reader carry after reading a story like this one?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Writing Connection</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41248"/>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STAGE: SUBMIT</a:t>
            </a:r>
            <a:endParaRPr lang="en-US" sz="1100" dirty="0"/>
          </a:p>
        </p:txBody>
      </p:sp>
      <p:sp>
        <p:nvSpPr>
          <p:cNvPr id="5" name="Shape 3"/>
          <p:cNvSpPr/>
          <p:nvPr/>
        </p:nvSpPr>
        <p:spPr>
          <a:xfrm>
            <a:off x="365760" y="1097280"/>
            <a:ext cx="8412480" cy="502920"/>
          </a:xfrm>
          <a:prstGeom prst="roundRect">
            <a:avLst>
              <a:gd name="adj" fmla="val 18182"/>
            </a:avLst>
          </a:prstGeom>
          <a:solidFill>
            <a:srgbClr val="E8F8E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1148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Source Comparison with Claim, Evidence &amp; Reasoning</a:t>
            </a:r>
            <a:endParaRPr lang="en-US" sz="1300" dirty="0"/>
          </a:p>
        </p:txBody>
      </p:sp>
      <p:sp>
        <p:nvSpPr>
          <p:cNvPr id="7" name="Text 5"/>
          <p:cNvSpPr/>
          <p:nvPr/>
        </p:nvSpPr>
        <p:spPr>
          <a:xfrm>
            <a:off x="365760" y="175564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TODAY'S TASK</a:t>
            </a:r>
            <a:endParaRPr lang="en-US" sz="1100" dirty="0"/>
          </a:p>
        </p:txBody>
      </p:sp>
      <p:sp>
        <p:nvSpPr>
          <p:cNvPr id="8" name="Shape 6"/>
          <p:cNvSpPr/>
          <p:nvPr/>
        </p:nvSpPr>
        <p:spPr>
          <a:xfrm>
            <a:off x="365760" y="2011680"/>
            <a:ext cx="8412480" cy="2377440"/>
          </a:xfrm>
          <a:prstGeom prst="roundRect">
            <a:avLst>
              <a:gd name="adj" fmla="val 3846"/>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103120"/>
            <a:ext cx="8046720" cy="219456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Today is the Submit stage. Write the final, polished version of your source comparison paragraph. It should open with your claim, present two pieces of evidence (one from the novel, one from a source), explain how they connect, and close with what both sources together reveal. Then write: what did reading a ghost story teach you about history?</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2026-07-13T17:32:04Z</dcterms:created>
  <dcterms:modified xsi:type="dcterms:W3CDTF">2026-07-13T17:32:04Z</dcterms:modified>
</cp:coreProperties>
</file>