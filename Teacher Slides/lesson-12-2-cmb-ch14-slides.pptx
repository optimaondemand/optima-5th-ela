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12.2: Chapter 14, "Nineteen Guns". Banner quote: “The Astrea mounts nineteen guns, Captain Prince.” (Chapter 14 • Carry On, Mr. Bowditch).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question: How does returning home change the conflict? Today you read Chapter 14 and continue drafting your expository research piece. Keep asking: How do conflict and setting shape Nat’s decisions?
Objectives:
- 🌱 Morphology: Identify fract/frag and rupt in new words: which break is it?
- ✏️ Grammar SWYK: Identify where the main sentence starts and put the comma after the introductory phrase.
- 🔤 Spelling: I will identify which ending a noun takes.
- 📖 Reading: I will identify the technical terms Chapter 14 needs and say what each one lets a person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 no answer needed. Ask students why each highlighted word or mark is correct before revealing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practical knowledge nat had gained aboard the henry was more valuable then any lesson he had learned in the chandlery
Corrected: The practical knowledge Nat had gained aboard the Henry was more valuable than any lesson he had learned in the chandlery.
Fixes: capitalize “The” and “Henry”; “then” → “than” (comparison); period at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practical knowledge nat had gained aboard the henry was more valuable then any lesson he had learned in the chandlery
Corrected: The practical knowledge Nat had gained aboard the Henry was more valuable than any lesson he had learned in the chandlery.
Fixes: capitalize “The” and “Henry”; “then” → “than” (comparison); period at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
Alfred, Lord Tennyson wrote this poem in 1869. It is very short — only six lines — but Tennyson said it captured his life’s philosophical question: what is the connection between the smallest particular and the whole universe? Read it today, as Nat, home in Salem after the Henry voyage, gets ready to sail again — having learned how much one small error in a table can matter. Write your response in your reading journal.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Could I combine two of these sentences to make my thinking clearer?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Invite respectful disagreement about their choice and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Morphology: Roots fract/frag + rupt — Identify — which break is it?.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match each word to its meaning. Letters are scrambled.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fracture = a break in something solid
fragment = a broken-off piece
interrupt = to break into someone’s turn
abrupt = broken off short, sudden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Vocabulary: Identify -al and -ous — Identify — spot the suffix in this week’s words.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sort the words into the groups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Sorted:
-al Adjectives “relating to”: lunar, nautical, practical, mathematical
-ous/-eous Adjectives “full of”: erroneous, hazardous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Grammar: Commas with Introductory Phrases — Identify — where does the main sentence start?.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Working by candlelight in the ship’s cabin, Nat checked every figure twice. — spot1
2. In the winter of 1802, he finished the last of the tables. — spot2
3. Although the work took years, he never considered abandoning it. — spot3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graded Show What You Know for today. Students write it in the Word Study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Spelling: Suffixes -al and -ic — Identify — which ending fits?.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Nat’s corrections were practical, not theoretical. — spellspot1
2. His method was strictly scientific. — spellspot2
3. The voyage followed the coastal route. — spellspot3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sentence aloud twice. Work through Reader → Writer → Mimic.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write their own sentence in the reading journal.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reading. Students open their novels to Chapter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stopping points before students read, so they know where to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Draft: Build Body Section 2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Draft: Build Body Section 2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5715000"/>
            <a:ext cx="12191695" cy="1143000"/>
          </a:xfrm>
          <a:prstGeom prst="rect">
            <a:avLst/>
          </a:prstGeom>
          <a:solidFill>
            <a:srgbClr val="17295C"/>
          </a:solidFill>
          <a:ln w="12700">
            <a:solidFill>
              <a:srgbClr val="17295C"/>
            </a:solidFill>
            <a:prstDash val="solid"/>
          </a:ln>
        </p:spPr>
      </p:sp>
      <p:sp>
        <p:nvSpPr>
          <p:cNvPr id="3" name="Text 1"/>
          <p:cNvSpPr/>
          <p:nvPr/>
        </p:nvSpPr>
        <p:spPr>
          <a:xfrm>
            <a:off x="731520" y="914400"/>
            <a:ext cx="10058400" cy="457200"/>
          </a:xfrm>
          <a:prstGeom prst="rect">
            <a:avLst/>
          </a:prstGeom>
          <a:noFill/>
          <a:ln/>
        </p:spPr>
        <p:txBody>
          <a:bodyPr wrap="square" lIns="0" tIns="0" rIns="0" bIns="0" rtlCol="0" anchor="ctr"/>
          <a:lstStyle/>
          <a:p>
            <a:pPr indent="0" marL="0">
              <a:buNone/>
            </a:pPr>
            <a:r>
              <a:rPr lang="en-US" sz="1800" b="1" spc="300" kern="0" dirty="0">
                <a:solidFill>
                  <a:srgbClr val="55C8E8"/>
                </a:solidFill>
                <a:latin typeface="Calibri" pitchFamily="34" charset="0"/>
                <a:ea typeface="Calibri" pitchFamily="34" charset="-122"/>
                <a:cs typeface="Calibri" pitchFamily="34" charset="-120"/>
              </a:rPr>
              <a:t>WEEK 12  ·  DAY 2  ·  LESSON 12.2</a:t>
            </a:r>
            <a:endParaRPr lang="en-US" sz="1800" dirty="0"/>
          </a:p>
        </p:txBody>
      </p:sp>
      <p:sp>
        <p:nvSpPr>
          <p:cNvPr id="4" name="Text 2"/>
          <p:cNvSpPr/>
          <p:nvPr/>
        </p:nvSpPr>
        <p:spPr>
          <a:xfrm>
            <a:off x="731520" y="1737360"/>
            <a:ext cx="105156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Carry On, Mr. Bowditch</a:t>
            </a:r>
            <a:endParaRPr lang="en-US" sz="4400" dirty="0"/>
          </a:p>
        </p:txBody>
      </p:sp>
      <p:sp>
        <p:nvSpPr>
          <p:cNvPr id="5" name="Text 3"/>
          <p:cNvSpPr/>
          <p:nvPr/>
        </p:nvSpPr>
        <p:spPr>
          <a:xfrm>
            <a:off x="731520" y="2606040"/>
            <a:ext cx="10515600" cy="822960"/>
          </a:xfrm>
          <a:prstGeom prst="rect">
            <a:avLst/>
          </a:prstGeom>
          <a:noFill/>
          <a:ln/>
        </p:spPr>
        <p:txBody>
          <a:bodyPr wrap="square" lIns="0" tIns="0" rIns="0" bIns="0" rtlCol="0" anchor="ctr"/>
          <a:lstStyle/>
          <a:p>
            <a:pPr indent="0" marL="0">
              <a:buNone/>
            </a:pPr>
            <a:r>
              <a:rPr lang="en-US" sz="3400" dirty="0">
                <a:solidFill>
                  <a:srgbClr val="FFFFFF"/>
                </a:solidFill>
                <a:latin typeface="Calibri" pitchFamily="34" charset="0"/>
                <a:ea typeface="Calibri" pitchFamily="34" charset="-122"/>
                <a:cs typeface="Calibri" pitchFamily="34" charset="-120"/>
              </a:rPr>
              <a:t>Chapter 14 — Nineteen Guns</a:t>
            </a:r>
            <a:endParaRPr lang="en-US" sz="3400" dirty="0"/>
          </a:p>
        </p:txBody>
      </p:sp>
      <p:sp>
        <p:nvSpPr>
          <p:cNvPr id="6" name="Text 4"/>
          <p:cNvSpPr/>
          <p:nvPr/>
        </p:nvSpPr>
        <p:spPr>
          <a:xfrm>
            <a:off x="731520" y="3794760"/>
            <a:ext cx="10607040" cy="1371600"/>
          </a:xfrm>
          <a:prstGeom prst="rect">
            <a:avLst/>
          </a:prstGeom>
          <a:noFill/>
          <a:ln/>
        </p:spPr>
        <p:txBody>
          <a:bodyPr wrap="square" lIns="0" tIns="0" rIns="0" bIns="0" rtlCol="0" anchor="t"/>
          <a:lstStyle/>
          <a:p>
            <a:pPr indent="0" marL="0">
              <a:buNone/>
            </a:pPr>
            <a:r>
              <a:rPr lang="en-US" sz="2000" i="1" dirty="0">
                <a:solidFill>
                  <a:srgbClr val="DCE6F5"/>
                </a:solidFill>
                <a:latin typeface="Calibri" pitchFamily="34" charset="0"/>
                <a:ea typeface="Calibri" pitchFamily="34" charset="-122"/>
                <a:cs typeface="Calibri" pitchFamily="34" charset="-120"/>
              </a:rPr>
              <a:t>“The Astrea mounts nineteen guns, Captain Prince.”</a:t>
            </a:r>
            <a:pPr indent="0" marL="0">
              <a:buNone/>
            </a:pPr>
            <a:r>
              <a:rPr lang="en-US" sz="1600" dirty="0">
                <a:solidFill>
                  <a:srgbClr val="55C8E8"/>
                </a:solidFill>
                <a:latin typeface="Calibri" pitchFamily="34" charset="0"/>
                <a:ea typeface="Calibri" pitchFamily="34" charset="-122"/>
                <a:cs typeface="Calibri" pitchFamily="34" charset="-120"/>
              </a:rPr>
              <a:t>  — Chapter 14 • Carry On, Mr. Bowditch</a:t>
            </a:r>
            <a:endParaRPr lang="en-US" sz="2000" dirty="0"/>
          </a:p>
        </p:txBody>
      </p:sp>
      <p:sp>
        <p:nvSpPr>
          <p:cNvPr id="7" name="Text 5"/>
          <p:cNvSpPr/>
          <p:nvPr/>
        </p:nvSpPr>
        <p:spPr>
          <a:xfrm>
            <a:off x="731520" y="5943600"/>
            <a:ext cx="10058400" cy="548640"/>
          </a:xfrm>
          <a:prstGeom prst="rect">
            <a:avLst/>
          </a:prstGeom>
          <a:noFill/>
          <a:ln/>
        </p:spPr>
        <p:txBody>
          <a:bodyPr wrap="square" lIns="0" tIns="0" rIns="0" bIns="0" rtlCol="0" anchor="ctr"/>
          <a:lstStyle/>
          <a:p>
            <a:pPr indent="0" marL="0">
              <a:buNone/>
            </a:pPr>
            <a:r>
              <a:rPr lang="en-US" sz="1800" dirty="0">
                <a:solidFill>
                  <a:srgbClr val="DCE6F5"/>
                </a:solidFill>
                <a:latin typeface="Calibri" pitchFamily="34" charset="0"/>
                <a:ea typeface="Calibri" pitchFamily="34" charset="-122"/>
                <a:cs typeface="Calibri" pitchFamily="34" charset="-120"/>
              </a:rPr>
              <a:t>🧭  Grade 5 ELA  ·  Optima Academy Online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TODAY’S ARC — IDENTIFY</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Today's Objectives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4754880" cy="4892040"/>
          </a:xfrm>
          <a:prstGeom prst="roundRect">
            <a:avLst>
              <a:gd name="adj" fmla="val 1538"/>
            </a:avLst>
          </a:prstGeom>
          <a:solidFill>
            <a:srgbClr val="F0E8FF"/>
          </a:solidFill>
          <a:ln w="15875">
            <a:solidFill>
              <a:srgbClr val="D6C8F0"/>
            </a:solidFill>
            <a:prstDash val="solid"/>
          </a:ln>
        </p:spPr>
      </p:sp>
      <p:sp>
        <p:nvSpPr>
          <p:cNvPr id="7" name="Text 5"/>
          <p:cNvSpPr/>
          <p:nvPr/>
        </p:nvSpPr>
        <p:spPr>
          <a:xfrm>
            <a:off x="731520" y="1737360"/>
            <a:ext cx="4297680"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CHAPTER 14</a:t>
            </a:r>
            <a:endParaRPr lang="en-US" sz="1300" dirty="0"/>
          </a:p>
        </p:txBody>
      </p:sp>
      <p:sp>
        <p:nvSpPr>
          <p:cNvPr id="8" name="Text 6"/>
          <p:cNvSpPr/>
          <p:nvPr/>
        </p:nvSpPr>
        <p:spPr>
          <a:xfrm>
            <a:off x="731520" y="2103120"/>
            <a:ext cx="4297680" cy="4160520"/>
          </a:xfrm>
          <a:prstGeom prst="rect">
            <a:avLst/>
          </a:prstGeom>
          <a:noFill/>
          <a:ln/>
        </p:spPr>
        <p:txBody>
          <a:bodyPr wrap="square" lIns="0" tIns="0" rIns="0" bIns="0" rtlCol="0" anchor="t"/>
          <a:lstStyle/>
          <a:p>
            <a:pPr indent="0" marL="0">
              <a:spcAft>
                <a:spcPts val="1100"/>
              </a:spcAft>
              <a:buNone/>
            </a:pPr>
            <a:r>
              <a:rPr lang="en-US" sz="2400" b="1" dirty="0">
                <a:solidFill>
                  <a:srgbClr val="6B4FA8"/>
                </a:solidFill>
                <a:latin typeface="Calibri" pitchFamily="34" charset="0"/>
                <a:ea typeface="Calibri" pitchFamily="34" charset="-122"/>
                <a:cs typeface="Calibri" pitchFamily="34" charset="-120"/>
              </a:rPr>
              <a:t>How does returning home change the conflict?</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Today you read Chapter 14 and continue drafting your expository research piece. Keep asking: How do conflict and setting shape Nat’s decisions?</a:t>
            </a:r>
            <a:endParaRPr lang="en-US" sz="2400" dirty="0"/>
          </a:p>
        </p:txBody>
      </p:sp>
      <p:sp>
        <p:nvSpPr>
          <p:cNvPr id="9" name="Shape 7"/>
          <p:cNvSpPr/>
          <p:nvPr/>
        </p:nvSpPr>
        <p:spPr>
          <a:xfrm>
            <a:off x="5532120" y="1554480"/>
            <a:ext cx="6156655" cy="4892040"/>
          </a:xfrm>
          <a:prstGeom prst="roundRect">
            <a:avLst>
              <a:gd name="adj" fmla="val 1495"/>
            </a:avLst>
          </a:prstGeom>
          <a:solidFill>
            <a:srgbClr val="F8FAFC"/>
          </a:solidFill>
          <a:ln w="15875">
            <a:solidFill>
              <a:srgbClr val="CBD5E1"/>
            </a:solidFill>
            <a:prstDash val="solid"/>
          </a:ln>
        </p:spPr>
      </p:sp>
      <p:sp>
        <p:nvSpPr>
          <p:cNvPr id="10" name="Text 8"/>
          <p:cNvSpPr/>
          <p:nvPr/>
        </p:nvSpPr>
        <p:spPr>
          <a:xfrm>
            <a:off x="5760720" y="1737360"/>
            <a:ext cx="56994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BY THE END OF THIS LESSON…</a:t>
            </a:r>
            <a:endParaRPr lang="en-US" sz="1300" dirty="0"/>
          </a:p>
        </p:txBody>
      </p:sp>
      <p:sp>
        <p:nvSpPr>
          <p:cNvPr id="11" name="Text 9"/>
          <p:cNvSpPr/>
          <p:nvPr/>
        </p:nvSpPr>
        <p:spPr>
          <a:xfrm>
            <a:off x="5760720" y="2103120"/>
            <a:ext cx="5699455" cy="416052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Morphology: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Identify fract/frag and rupt in new words: which break is it?</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Grammar SWYK: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Identify where the main sentence starts and put the comma after the introductory phrase.</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Spelling: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identify which ending a noun takes.</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Reading: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identify the technical terms Chapter 14 needs and say what each one lets a person do.</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READ CLOSELY FOR THE WORDS THAT CARRY THE MEANING</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Read closely and gather evidence. Chapter 14 begins in Salem, then follows the Astrea to sea, to Lisbon, and to Madeira, and the language shifts with each setting — home and harbor words, then gun-drill and port words. Collect the terms this chapter needs, and for each one ask what it lets a person do.</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Collect the terms: List the navigation and sailing words the chapter needs — longitude, lunars, masthead, bearing, tables.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Work out the meaning from the work it does: Ask what the word lets a sailor do. In this book a technical term is a tool, not decoration.</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Test what the term unlocks: Reread the moment with the term defined and see how much the scene changes.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Watch for as you read:</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READ CLOSELY FOR THE WORDS THAT CARRY THE MEANING</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How does the setting — Salem, then the Astrea at sea, Lisbon, and Madeira — shape what Nat does? Is conflict still present here, or does it shift?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What does “Nineteen Guns” signify? Why does a merchant ship like the Astrea carry guns, and why does that matter to the story?</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How does Nat’s relationship with Elizabeth Boardman develop in this chapter? How does this personal element affect his character?</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CORRECT MODEL — NOTICE WHAT EACH HIGHLIGHTED PART TEACHES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Study What’s Right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371600"/>
          </a:xfrm>
          <a:prstGeom prst="roundRect">
            <a:avLst>
              <a:gd name="adj" fmla="val 5333"/>
            </a:avLst>
          </a:prstGeom>
          <a:solidFill>
            <a:srgbClr val="E8F8EF"/>
          </a:solidFill>
          <a:ln w="15875">
            <a:solidFill>
              <a:srgbClr val="9ED9B5"/>
            </a:solidFill>
            <a:prstDash val="solid"/>
          </a:ln>
        </p:spPr>
      </p:sp>
      <p:sp>
        <p:nvSpPr>
          <p:cNvPr id="7" name="Text 5"/>
          <p:cNvSpPr/>
          <p:nvPr/>
        </p:nvSpPr>
        <p:spPr>
          <a:xfrm>
            <a:off x="777240" y="1645920"/>
            <a:ext cx="10637215" cy="1188720"/>
          </a:xfrm>
          <a:prstGeom prst="rect">
            <a:avLst/>
          </a:prstGeom>
          <a:noFill/>
          <a:ln/>
        </p:spPr>
        <p:txBody>
          <a:bodyPr wrap="square" lIns="0" tIns="0" rIns="0" bIns="0" rtlCol="0" anchor="ctr">
            <a:normAutofit/>
          </a:bodyPr>
          <a:lstStyle/>
          <a:p>
            <a:pPr indent="0" marL="0">
              <a:buNone/>
            </a:pPr>
            <a:r>
              <a:rPr lang="en-US" sz="2600" b="1" u="sng" dirty="0">
                <a:solidFill>
                  <a:srgbClr val="1E8E52"/>
                </a:solidFill>
                <a:latin typeface="Calibri" pitchFamily="34" charset="0"/>
                <a:ea typeface="Calibri" pitchFamily="34" charset="-122"/>
                <a:cs typeface="Calibri" pitchFamily="34" charset="-120"/>
              </a:rPr>
              <a:t>Across the harbor</a:t>
            </a:r>
            <a:pPr indent="0" marL="0">
              <a:buNone/>
            </a:pPr>
            <a:r>
              <a:rPr lang="en-US" sz="2600" dirty="0">
                <a:solidFill>
                  <a:srgbClr val="1E293B"/>
                </a:solidFill>
                <a:latin typeface="Calibri" pitchFamily="34" charset="0"/>
                <a:ea typeface="Calibri" pitchFamily="34" charset="-122"/>
                <a:cs typeface="Calibri" pitchFamily="34" charset="-120"/>
              </a:rPr>
              <a:t>, the nineteen guns of the Astrea warned that this </a:t>
            </a:r>
            <a:pPr indent="0" marL="0">
              <a:buNone/>
            </a:pPr>
            <a:r>
              <a:rPr lang="en-US" sz="2600" b="1" u="sng" dirty="0">
                <a:solidFill>
                  <a:srgbClr val="1E8E52"/>
                </a:solidFill>
                <a:latin typeface="Calibri" pitchFamily="34" charset="0"/>
                <a:ea typeface="Calibri" pitchFamily="34" charset="-122"/>
                <a:cs typeface="Calibri" pitchFamily="34" charset="-120"/>
              </a:rPr>
              <a:t>nautical</a:t>
            </a:r>
            <a:pPr indent="0" marL="0">
              <a:buNone/>
            </a:pPr>
            <a:r>
              <a:rPr lang="en-US" sz="2600" dirty="0">
                <a:solidFill>
                  <a:srgbClr val="1E293B"/>
                </a:solidFill>
                <a:latin typeface="Calibri" pitchFamily="34" charset="0"/>
                <a:ea typeface="Calibri" pitchFamily="34" charset="-122"/>
                <a:cs typeface="Calibri" pitchFamily="34" charset="-120"/>
              </a:rPr>
              <a:t> venture was ready for trouble </a:t>
            </a:r>
            <a:pPr indent="0" marL="0">
              <a:buNone/>
            </a:pPr>
            <a:r>
              <a:rPr lang="en-US" sz="2600" b="1" u="sng" dirty="0">
                <a:solidFill>
                  <a:srgbClr val="1E8E52"/>
                </a:solidFill>
                <a:latin typeface="Calibri" pitchFamily="34" charset="0"/>
                <a:ea typeface="Calibri" pitchFamily="34" charset="-122"/>
                <a:cs typeface="Calibri" pitchFamily="34" charset="-120"/>
              </a:rPr>
              <a:t>from French privateers</a:t>
            </a:r>
            <a:pPr indent="0" marL="0">
              <a:buNone/>
            </a:pPr>
            <a:r>
              <a:rPr lang="en-US" sz="2600" dirty="0">
                <a:solidFill>
                  <a:srgbClr val="1E293B"/>
                </a:solidFill>
                <a:latin typeface="Calibri" pitchFamily="34" charset="0"/>
                <a:ea typeface="Calibri" pitchFamily="34" charset="-122"/>
                <a:cs typeface="Calibri" pitchFamily="34" charset="-120"/>
              </a:rPr>
              <a:t>.</a:t>
            </a:r>
            <a:endParaRPr lang="en-US" sz="2600" dirty="0"/>
          </a:p>
        </p:txBody>
      </p:sp>
      <p:sp>
        <p:nvSpPr>
          <p:cNvPr id="8" name="Text 6"/>
          <p:cNvSpPr/>
          <p:nvPr/>
        </p:nvSpPr>
        <p:spPr>
          <a:xfrm>
            <a:off x="502920" y="3063240"/>
            <a:ext cx="11185855"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WHAT EACH HIGHLIGHTED PART TEACHES</a:t>
            </a:r>
            <a:endParaRPr lang="en-US" sz="1300" dirty="0"/>
          </a:p>
        </p:txBody>
      </p:sp>
      <p:sp>
        <p:nvSpPr>
          <p:cNvPr id="9" name="Text 7"/>
          <p:cNvSpPr/>
          <p:nvPr/>
        </p:nvSpPr>
        <p:spPr>
          <a:xfrm>
            <a:off x="594360" y="3383280"/>
            <a:ext cx="11002975" cy="306324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Across the harbor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“across the harbor” is a prepositional phrase telling where the guns could be seen.</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nautical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“nautical” uses the suffix -ical (relating to). The root naut means sailor.</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from French privateers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“from French privateers” is a prepositional phrase telling what kind of trouble.</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HOW MANY ERRORS CAN YOU FIND?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the practical knowledge nat had gained aboard the henry was more valuable then any lesson he had learned in the chandlery</a:t>
            </a:r>
            <a:endParaRPr lang="en-US" sz="2600" dirty="0"/>
          </a:p>
        </p:txBody>
      </p:sp>
      <p:sp>
        <p:nvSpPr>
          <p:cNvPr id="11" name="Text 9"/>
          <p:cNvSpPr/>
          <p:nvPr/>
        </p:nvSpPr>
        <p:spPr>
          <a:xfrm>
            <a:off x="502920" y="3566160"/>
            <a:ext cx="11185855" cy="54864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Rewrite the sentence correctly in your reading journal. Use the model to guide you.</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ANSWER REVEALED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the practical knowledge nat had gained aboard the henry was more valuable then any lesson he had learned in the chandlery</a:t>
            </a:r>
            <a:endParaRPr lang="en-US" sz="2600" dirty="0"/>
          </a:p>
        </p:txBody>
      </p:sp>
      <p:sp>
        <p:nvSpPr>
          <p:cNvPr id="11" name="Text 9"/>
          <p:cNvSpPr/>
          <p:nvPr/>
        </p:nvSpPr>
        <p:spPr>
          <a:xfrm>
            <a:off x="502920" y="3520440"/>
            <a:ext cx="11185855"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 CORRECTED</a:t>
            </a:r>
            <a:endParaRPr lang="en-US" sz="1300" dirty="0"/>
          </a:p>
        </p:txBody>
      </p:sp>
      <p:sp>
        <p:nvSpPr>
          <p:cNvPr id="12" name="Shape 10"/>
          <p:cNvSpPr/>
          <p:nvPr/>
        </p:nvSpPr>
        <p:spPr>
          <a:xfrm>
            <a:off x="502920" y="3840480"/>
            <a:ext cx="11185855" cy="1280160"/>
          </a:xfrm>
          <a:prstGeom prst="roundRect">
            <a:avLst>
              <a:gd name="adj" fmla="val 5714"/>
            </a:avLst>
          </a:prstGeom>
          <a:solidFill>
            <a:srgbClr val="E8F8EF"/>
          </a:solidFill>
          <a:ln w="15875">
            <a:solidFill>
              <a:srgbClr val="9ED9B5"/>
            </a:solidFill>
            <a:prstDash val="solid"/>
          </a:ln>
        </p:spPr>
      </p:sp>
      <p:sp>
        <p:nvSpPr>
          <p:cNvPr id="13" name="Text 11"/>
          <p:cNvSpPr/>
          <p:nvPr/>
        </p:nvSpPr>
        <p:spPr>
          <a:xfrm>
            <a:off x="777240" y="3886200"/>
            <a:ext cx="10637215" cy="1188720"/>
          </a:xfrm>
          <a:prstGeom prst="rect">
            <a:avLst/>
          </a:prstGeom>
          <a:noFill/>
          <a:ln/>
        </p:spPr>
        <p:txBody>
          <a:bodyPr wrap="square" lIns="0" tIns="0" rIns="0" bIns="0" rtlCol="0" anchor="ctr">
            <a:normAutofit/>
          </a:bodyPr>
          <a:lstStyle/>
          <a:p>
            <a:pPr indent="0" marL="0">
              <a:buNone/>
            </a:pPr>
            <a:r>
              <a:rPr lang="en-US" sz="2600" b="1" dirty="0">
                <a:solidFill>
                  <a:srgbClr val="1E8E52"/>
                </a:solidFill>
                <a:latin typeface="Calibri" pitchFamily="34" charset="0"/>
                <a:ea typeface="Calibri" pitchFamily="34" charset="-122"/>
                <a:cs typeface="Calibri" pitchFamily="34" charset="-120"/>
              </a:rPr>
              <a:t>The practical knowledge Nat had gained aboard the Henry was more valuable than any lesson he had learned in the chandlery.</a:t>
            </a:r>
            <a:endParaRPr lang="en-US" sz="2600" dirty="0"/>
          </a:p>
        </p:txBody>
      </p:sp>
      <p:sp>
        <p:nvSpPr>
          <p:cNvPr id="14" name="Text 12"/>
          <p:cNvSpPr/>
          <p:nvPr/>
        </p:nvSpPr>
        <p:spPr>
          <a:xfrm>
            <a:off x="502920" y="5257800"/>
            <a:ext cx="11185855" cy="1188720"/>
          </a:xfrm>
          <a:prstGeom prst="rect">
            <a:avLst/>
          </a:prstGeom>
          <a:noFill/>
          <a:ln/>
        </p:spPr>
        <p:txBody>
          <a:bodyPr wrap="square" lIns="0" tIns="0" rIns="0" bIns="0" rtlCol="0" anchor="t"/>
          <a:lstStyle/>
          <a:p>
            <a:pPr indent="0" marL="0">
              <a:buNone/>
            </a:pPr>
            <a:r>
              <a:rPr lang="en-US" sz="1800" i="1" dirty="0">
                <a:solidFill>
                  <a:srgbClr val="475569"/>
                </a:solidFill>
                <a:latin typeface="Calibri" pitchFamily="34" charset="0"/>
                <a:ea typeface="Calibri" pitchFamily="34" charset="-122"/>
                <a:cs typeface="Calibri" pitchFamily="34" charset="-120"/>
              </a:rPr>
              <a:t>Fixes: capitalize “The” and “Henry”; “then” → “than” (comparison); period at end.</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“FLOWER IN THE CRANNIED WALL”</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Poetry Corner</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6035040"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691640"/>
            <a:ext cx="5577840" cy="365760"/>
          </a:xfrm>
          <a:prstGeom prst="rect">
            <a:avLst/>
          </a:prstGeom>
          <a:noFill/>
          <a:ln/>
        </p:spPr>
        <p:txBody>
          <a:bodyPr wrap="square" lIns="0" tIns="0" rIns="0" bIns="0" rtlCol="0" anchor="ctr"/>
          <a:lstStyle/>
          <a:p>
            <a:pPr indent="0" marL="0">
              <a:buNone/>
            </a:pPr>
            <a:r>
              <a:rPr lang="en-US" sz="1500" i="1" dirty="0">
                <a:solidFill>
                  <a:srgbClr val="475569"/>
                </a:solidFill>
                <a:latin typeface="Calibri" pitchFamily="34" charset="0"/>
                <a:ea typeface="Calibri" pitchFamily="34" charset="-122"/>
                <a:cs typeface="Calibri" pitchFamily="34" charset="-120"/>
              </a:rPr>
              <a:t>Alfred, Lord Tennyson, 1869 — public domain</a:t>
            </a:r>
            <a:endParaRPr lang="en-US" sz="1500" dirty="0"/>
          </a:p>
        </p:txBody>
      </p:sp>
      <p:sp>
        <p:nvSpPr>
          <p:cNvPr id="8" name="Text 6"/>
          <p:cNvSpPr/>
          <p:nvPr/>
        </p:nvSpPr>
        <p:spPr>
          <a:xfrm>
            <a:off x="731520" y="2103120"/>
            <a:ext cx="5577840" cy="4206240"/>
          </a:xfrm>
          <a:prstGeom prst="rect">
            <a:avLst/>
          </a:prstGeom>
          <a:noFill/>
          <a:ln/>
        </p:spPr>
        <p:txBody>
          <a:bodyPr wrap="square" lIns="0" tIns="0" rIns="0" bIns="0" rtlCol="0" anchor="t">
            <a:normAutofit/>
          </a:bodyPr>
          <a:lstStyle/>
          <a:p>
            <a:pPr indent="0" marL="0">
              <a:buNone/>
            </a:pPr>
            <a:r>
              <a:rPr lang="en-US" sz="2200" i="1" dirty="0">
                <a:solidFill>
                  <a:srgbClr val="1E293B"/>
                </a:solidFill>
                <a:latin typeface="Georgia" pitchFamily="34" charset="0"/>
                <a:ea typeface="Georgia" pitchFamily="34" charset="-122"/>
                <a:cs typeface="Georgia" pitchFamily="34" charset="-120"/>
              </a:rPr>
              <a:t>Flower in the crannied wall,</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 </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I pluck you out of the crannies,</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 </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I hold you here, root and all, in my hand,</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 </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Little flower — but if I could understand</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 </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What you are, root and all, and all in all,</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 </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I should know what God and man is.</a:t>
            </a:r>
            <a:endParaRPr lang="en-US" sz="2200" dirty="0"/>
          </a:p>
        </p:txBody>
      </p:sp>
      <p:sp>
        <p:nvSpPr>
          <p:cNvPr id="9" name="Shape 7"/>
          <p:cNvSpPr/>
          <p:nvPr/>
        </p:nvSpPr>
        <p:spPr>
          <a:xfrm>
            <a:off x="6812280" y="1554480"/>
            <a:ext cx="4876495" cy="4892040"/>
          </a:xfrm>
          <a:prstGeom prst="roundRect">
            <a:avLst>
              <a:gd name="adj" fmla="val 1500"/>
            </a:avLst>
          </a:prstGeom>
          <a:solidFill>
            <a:srgbClr val="F0E8FF"/>
          </a:solidFill>
          <a:ln w="15875">
            <a:solidFill>
              <a:srgbClr val="D6C8F0"/>
            </a:solidFill>
            <a:prstDash val="solid"/>
          </a:ln>
        </p:spPr>
      </p:sp>
      <p:sp>
        <p:nvSpPr>
          <p:cNvPr id="10" name="Text 8"/>
          <p:cNvSpPr/>
          <p:nvPr/>
        </p:nvSpPr>
        <p:spPr>
          <a:xfrm>
            <a:off x="7040880" y="1737360"/>
            <a:ext cx="4419295"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 THINK ABOUT THIS</a:t>
            </a:r>
            <a:endParaRPr lang="en-US" sz="1300" dirty="0"/>
          </a:p>
        </p:txBody>
      </p:sp>
      <p:sp>
        <p:nvSpPr>
          <p:cNvPr id="11" name="Text 9"/>
          <p:cNvSpPr/>
          <p:nvPr/>
        </p:nvSpPr>
        <p:spPr>
          <a:xfrm>
            <a:off x="7040880" y="2103120"/>
            <a:ext cx="4419295" cy="4160520"/>
          </a:xfrm>
          <a:prstGeom prst="rect">
            <a:avLst/>
          </a:prstGeom>
          <a:noFill/>
          <a:ln/>
        </p:spPr>
        <p:txBody>
          <a:bodyPr wrap="square" lIns="0" tIns="0" rIns="0" bIns="0" rtlCol="0" anchor="t"/>
          <a:lstStyle/>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 Tennyson is saying: if I could fully understand even this tiny flower — its roots, its chemistry, its place in the universe — I would understand everything. This is the same logic Nat applies: if you understand the mathematics of the moon’s position precisely enough, you can know where you are anywhere on earth.</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How is Nat’s approach to the error he found in Moore’s Navigator like Tennyson’s approach to the flower? What does he believe understanding one small thing precisely can reveal?</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READ THE PROMPT — 1 MINUTE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Quick Write (Optional)</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2651760"/>
          </a:xfrm>
          <a:prstGeom prst="roundRect">
            <a:avLst>
              <a:gd name="adj" fmla="val 2759"/>
            </a:avLst>
          </a:prstGeom>
          <a:solidFill>
            <a:srgbClr val="FEF6E8"/>
          </a:solidFill>
          <a:ln w="15875">
            <a:solidFill>
              <a:srgbClr val="C7922C"/>
            </a:solidFill>
            <a:prstDash val="solid"/>
          </a:ln>
        </p:spPr>
      </p:sp>
      <p:sp>
        <p:nvSpPr>
          <p:cNvPr id="7" name="Text 5"/>
          <p:cNvSpPr/>
          <p:nvPr/>
        </p:nvSpPr>
        <p:spPr>
          <a:xfrm>
            <a:off x="822960" y="1691640"/>
            <a:ext cx="10545775" cy="2377440"/>
          </a:xfrm>
          <a:prstGeom prst="rect">
            <a:avLst/>
          </a:prstGeom>
          <a:noFill/>
          <a:ln/>
        </p:spPr>
        <p:txBody>
          <a:bodyPr wrap="square" lIns="0" tIns="0" rIns="0" bIns="0" rtlCol="0" anchor="ctr"/>
          <a:lstStyle/>
          <a:p>
            <a:pPr indent="0" marL="0">
              <a:buNone/>
            </a:pPr>
            <a:r>
              <a:rPr lang="en-US" sz="2800" dirty="0">
                <a:solidFill>
                  <a:srgbClr val="1E293B"/>
                </a:solidFill>
                <a:latin typeface="Calibri" pitchFamily="34" charset="0"/>
                <a:ea typeface="Calibri" pitchFamily="34" charset="-122"/>
                <a:cs typeface="Calibri" pitchFamily="34" charset="-120"/>
              </a:rPr>
              <a:t>The Astrea mounts nineteen guns, and Nat's scalp prickles when he hears it. In Chapter 14, which is the bigger challenge for Nat: the danger at sea, or sailing with Lem Harvey? Defend your answer with evidence.</a:t>
            </a:r>
            <a:endParaRPr lang="en-US" sz="2800" dirty="0"/>
          </a:p>
        </p:txBody>
      </p:sp>
      <p:sp>
        <p:nvSpPr>
          <p:cNvPr id="8" name="Text 6"/>
          <p:cNvSpPr/>
          <p:nvPr/>
        </p:nvSpPr>
        <p:spPr>
          <a:xfrm>
            <a:off x="502920" y="4434840"/>
            <a:ext cx="111858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SENTENCE SCAFFOLD (USE WHAT HELPS)</a:t>
            </a:r>
            <a:endParaRPr lang="en-US" sz="1300" dirty="0"/>
          </a:p>
        </p:txBody>
      </p:sp>
      <p:sp>
        <p:nvSpPr>
          <p:cNvPr id="9" name="Text 7"/>
          <p:cNvSpPr/>
          <p:nvPr/>
        </p:nvSpPr>
        <p:spPr>
          <a:xfrm>
            <a:off x="502920" y="4754880"/>
            <a:ext cx="11185855" cy="822960"/>
          </a:xfrm>
          <a:prstGeom prst="rect">
            <a:avLst/>
          </a:prstGeom>
          <a:noFill/>
          <a:ln/>
        </p:spPr>
        <p:txBody>
          <a:bodyPr wrap="square" lIns="0" tIns="0" rIns="0" bIns="0" rtlCol="0" anchor="t"/>
          <a:lstStyle/>
          <a:p>
            <a:pPr indent="0" marL="0">
              <a:buNone/>
            </a:pPr>
            <a:r>
              <a:rPr lang="en-US" sz="2000"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502920" y="36576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Writing Time</a:t>
            </a:r>
            <a:endParaRPr lang="en-US" sz="3600" dirty="0"/>
          </a:p>
        </p:txBody>
      </p:sp>
      <p:sp>
        <p:nvSpPr>
          <p:cNvPr id="3" name="Text 1"/>
          <p:cNvSpPr/>
          <p:nvPr/>
        </p:nvSpPr>
        <p:spPr>
          <a:xfrm>
            <a:off x="502920" y="1051560"/>
            <a:ext cx="11185855" cy="457200"/>
          </a:xfrm>
          <a:prstGeom prst="rect">
            <a:avLst/>
          </a:prstGeom>
          <a:noFill/>
          <a:ln/>
        </p:spPr>
        <p:txBody>
          <a:bodyPr wrap="square" lIns="0" tIns="0" rIns="0" bIns="0" rtlCol="0" anchor="ctr"/>
          <a:lstStyle/>
          <a:p>
            <a:pPr algn="ctr" indent="0" marL="0">
              <a:buNone/>
            </a:pPr>
            <a:r>
              <a:rPr lang="en-US" sz="2200" dirty="0">
                <a:solidFill>
                  <a:srgbClr val="C7922C"/>
                </a:solidFill>
                <a:latin typeface="Calibri" pitchFamily="34" charset="0"/>
                <a:ea typeface="Calibri" pitchFamily="34" charset="-122"/>
                <a:cs typeface="Calibri" pitchFamily="34" charset="-120"/>
              </a:rPr>
              <a:t>5 minutes — keep your pencil moving!</a:t>
            </a:r>
            <a:endParaRPr lang="en-US" sz="2200" dirty="0"/>
          </a:p>
        </p:txBody>
      </p:sp>
      <p:sp>
        <p:nvSpPr>
          <p:cNvPr id="4" name="Shape 2"/>
          <p:cNvSpPr/>
          <p:nvPr/>
        </p:nvSpPr>
        <p:spPr>
          <a:xfrm>
            <a:off x="502920" y="1737360"/>
            <a:ext cx="11185855" cy="2194560"/>
          </a:xfrm>
          <a:prstGeom prst="roundRect">
            <a:avLst>
              <a:gd name="adj" fmla="val 3333"/>
            </a:avLst>
          </a:prstGeom>
          <a:solidFill>
            <a:srgbClr val="FFFFFF"/>
          </a:solidFill>
          <a:ln w="15875">
            <a:solidFill>
              <a:srgbClr val="C7922C"/>
            </a:solidFill>
            <a:prstDash val="solid"/>
          </a:ln>
        </p:spPr>
      </p:sp>
      <p:sp>
        <p:nvSpPr>
          <p:cNvPr id="5" name="Text 3"/>
          <p:cNvSpPr/>
          <p:nvPr/>
        </p:nvSpPr>
        <p:spPr>
          <a:xfrm>
            <a:off x="777240" y="1828800"/>
            <a:ext cx="10637215" cy="2011680"/>
          </a:xfrm>
          <a:prstGeom prst="rect">
            <a:avLst/>
          </a:prstGeom>
          <a:noFill/>
          <a:ln/>
        </p:spPr>
        <p:txBody>
          <a:bodyPr wrap="square" lIns="0" tIns="0" rIns="0" bIns="0" rtlCol="0" anchor="ctr"/>
          <a:lstStyle/>
          <a:p>
            <a:pPr indent="0" marL="0">
              <a:buNone/>
            </a:pPr>
            <a:r>
              <a:rPr lang="en-US" sz="2300" b="1" dirty="0">
                <a:solidFill>
                  <a:srgbClr val="C7922C"/>
                </a:solidFill>
                <a:latin typeface="Calibri" pitchFamily="34" charset="0"/>
                <a:ea typeface="Calibri" pitchFamily="34" charset="-122"/>
                <a:cs typeface="Calibri" pitchFamily="34" charset="-120"/>
              </a:rPr>
              <a:t>Prompt: </a:t>
            </a:r>
            <a:pPr indent="0" marL="0">
              <a:buNone/>
            </a:pPr>
            <a:r>
              <a:rPr lang="en-US" sz="2300" dirty="0">
                <a:solidFill>
                  <a:srgbClr val="1E293B"/>
                </a:solidFill>
                <a:latin typeface="Calibri" pitchFamily="34" charset="0"/>
                <a:ea typeface="Calibri" pitchFamily="34" charset="-122"/>
                <a:cs typeface="Calibri" pitchFamily="34" charset="-120"/>
              </a:rPr>
              <a:t>The Astrea mounts nineteen guns, and Nat's scalp prickles when he hears it. In Chapter 14, which is the bigger challenge for Nat: the danger at sea, or sailing with Lem Harvey? Defend your answer with evidence.</a:t>
            </a:r>
            <a:endParaRPr lang="en-US" sz="2300" dirty="0"/>
          </a:p>
        </p:txBody>
      </p:sp>
      <p:sp>
        <p:nvSpPr>
          <p:cNvPr id="6" name="Shape 4"/>
          <p:cNvSpPr/>
          <p:nvPr/>
        </p:nvSpPr>
        <p:spPr>
          <a:xfrm>
            <a:off x="2926080" y="4160520"/>
            <a:ext cx="6339535" cy="2286000"/>
          </a:xfrm>
          <a:prstGeom prst="roundRect">
            <a:avLst>
              <a:gd name="adj" fmla="val 3200"/>
            </a:avLst>
          </a:prstGeom>
          <a:solidFill>
            <a:srgbClr val="FFFFFF"/>
          </a:solidFill>
          <a:ln w="15875">
            <a:solidFill>
              <a:srgbClr val="EBD3A2"/>
            </a:solidFill>
            <a:prstDash val="solid"/>
          </a:ln>
        </p:spPr>
      </p:sp>
      <p:sp>
        <p:nvSpPr>
          <p:cNvPr id="7" name="Text 5"/>
          <p:cNvSpPr/>
          <p:nvPr/>
        </p:nvSpPr>
        <p:spPr>
          <a:xfrm>
            <a:off x="3154680" y="4251960"/>
            <a:ext cx="5882335" cy="2103120"/>
          </a:xfrm>
          <a:prstGeom prst="rect">
            <a:avLst/>
          </a:prstGeom>
          <a:noFill/>
          <a:ln/>
        </p:spPr>
        <p:txBody>
          <a:bodyPr wrap="square" lIns="0" tIns="0" rIns="0" bIns="0" rtlCol="0" anchor="t"/>
          <a:lstStyle/>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Scaffold, if you need it:</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I think...</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One piece of evidence is...</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This matters because...</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Edit &amp; Revise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E8E52"/>
                </a:solidFill>
                <a:latin typeface="Calibri" pitchFamily="34" charset="0"/>
                <a:ea typeface="Calibri" pitchFamily="34" charset="-122"/>
                <a:cs typeface="Calibri" pitchFamily="34" charset="-120"/>
              </a:rPr>
              <a:t>1 minute — one deliberate decision, not a full edit pass</a:t>
            </a:r>
            <a:endParaRPr lang="en-US" sz="2200" dirty="0"/>
          </a:p>
        </p:txBody>
      </p:sp>
      <p:sp>
        <p:nvSpPr>
          <p:cNvPr id="4" name="Shape 2"/>
          <p:cNvSpPr/>
          <p:nvPr/>
        </p:nvSpPr>
        <p:spPr>
          <a:xfrm>
            <a:off x="1463040" y="2194560"/>
            <a:ext cx="9265615" cy="1737360"/>
          </a:xfrm>
          <a:prstGeom prst="roundRect">
            <a:avLst>
              <a:gd name="adj" fmla="val 4211"/>
            </a:avLst>
          </a:prstGeom>
          <a:solidFill>
            <a:srgbClr val="FFFFFF"/>
          </a:solidFill>
          <a:ln w="15875">
            <a:solidFill>
              <a:srgbClr val="1E8E52"/>
            </a:solidFill>
            <a:prstDash val="solid"/>
          </a:ln>
        </p:spPr>
      </p:sp>
      <p:sp>
        <p:nvSpPr>
          <p:cNvPr id="5" name="Text 3"/>
          <p:cNvSpPr/>
          <p:nvPr/>
        </p:nvSpPr>
        <p:spPr>
          <a:xfrm>
            <a:off x="1737360" y="2286000"/>
            <a:ext cx="8716975" cy="1554480"/>
          </a:xfrm>
          <a:prstGeom prst="rect">
            <a:avLst/>
          </a:prstGeom>
          <a:noFill/>
          <a:ln/>
        </p:spPr>
        <p:txBody>
          <a:bodyPr wrap="square" lIns="0" tIns="0" rIns="0" bIns="0" rtlCol="0" anchor="ctr"/>
          <a:lstStyle/>
          <a:p>
            <a:pPr algn="ctr" indent="0" marL="0">
              <a:buNone/>
            </a:pPr>
            <a:r>
              <a:rPr lang="en-US" sz="2600" b="1" dirty="0">
                <a:solidFill>
                  <a:srgbClr val="1E8E52"/>
                </a:solidFill>
                <a:latin typeface="Calibri" pitchFamily="34" charset="0"/>
                <a:ea typeface="Calibri" pitchFamily="34" charset="-122"/>
                <a:cs typeface="Calibri" pitchFamily="34" charset="-120"/>
              </a:rPr>
              <a:t>Today's revision check: </a:t>
            </a:r>
            <a:pPr algn="ctr" indent="0" marL="0">
              <a:buNone/>
            </a:pPr>
            <a:r>
              <a:rPr lang="en-US" sz="2600" dirty="0">
                <a:solidFill>
                  <a:srgbClr val="1E293B"/>
                </a:solidFill>
                <a:latin typeface="Calibri" pitchFamily="34" charset="0"/>
                <a:ea typeface="Calibri" pitchFamily="34" charset="-122"/>
                <a:cs typeface="Calibri" pitchFamily="34" charset="-120"/>
              </a:rPr>
              <a:t>Could I combine two of these sentences to make my thinking clearer?</a:t>
            </a:r>
            <a:endParaRPr lang="en-US" sz="2600" dirty="0"/>
          </a:p>
        </p:txBody>
      </p:sp>
      <p:sp>
        <p:nvSpPr>
          <p:cNvPr id="6" name="Text 4"/>
          <p:cNvSpPr/>
          <p:nvPr/>
        </p:nvSpPr>
        <p:spPr>
          <a:xfrm>
            <a:off x="502920" y="4389120"/>
            <a:ext cx="11185855" cy="548640"/>
          </a:xfrm>
          <a:prstGeom prst="rect">
            <a:avLst/>
          </a:prstGeom>
          <a:noFill/>
          <a:ln/>
        </p:spPr>
        <p:txBody>
          <a:bodyPr wrap="square" lIns="0" tIns="0" rIns="0" bIns="0" rtlCol="0" anchor="ctr"/>
          <a:lstStyle/>
          <a:p>
            <a:pPr algn="ctr" indent="0" marL="0">
              <a:buNone/>
            </a:pPr>
            <a:r>
              <a:rPr lang="en-US" sz="2000" i="1" dirty="0">
                <a:solidFill>
                  <a:srgbClr val="475569"/>
                </a:solidFill>
                <a:latin typeface="Calibri" pitchFamily="34" charset="0"/>
                <a:ea typeface="Calibri" pitchFamily="34" charset="-122"/>
                <a:cs typeface="Calibri" pitchFamily="34" charset="-120"/>
              </a:rPr>
              <a:t>Revision = improving ideas.   Editing = fixing conventions.   Pick ONE thing.</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Share Time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B7FA0"/>
                </a:solidFill>
                <a:latin typeface="Calibri" pitchFamily="34" charset="0"/>
                <a:ea typeface="Calibri" pitchFamily="34" charset="-122"/>
                <a:cs typeface="Calibri" pitchFamily="34" charset="-120"/>
              </a:rPr>
              <a:t>3 minutes — let's hear your thinking!</a:t>
            </a:r>
            <a:endParaRPr lang="en-US" sz="2200" dirty="0"/>
          </a:p>
        </p:txBody>
      </p:sp>
      <p:sp>
        <p:nvSpPr>
          <p:cNvPr id="4" name="Shape 2"/>
          <p:cNvSpPr/>
          <p:nvPr/>
        </p:nvSpPr>
        <p:spPr>
          <a:xfrm>
            <a:off x="1828800" y="2194560"/>
            <a:ext cx="8534095" cy="2377440"/>
          </a:xfrm>
          <a:prstGeom prst="roundRect">
            <a:avLst>
              <a:gd name="adj" fmla="val 3077"/>
            </a:avLst>
          </a:prstGeom>
          <a:solidFill>
            <a:srgbClr val="FFFFFF"/>
          </a:solidFill>
          <a:ln w="15875">
            <a:solidFill>
              <a:srgbClr val="55C8E8"/>
            </a:solidFill>
            <a:prstDash val="solid"/>
          </a:ln>
        </p:spPr>
      </p:sp>
      <p:sp>
        <p:nvSpPr>
          <p:cNvPr id="5" name="Text 3"/>
          <p:cNvSpPr/>
          <p:nvPr/>
        </p:nvSpPr>
        <p:spPr>
          <a:xfrm>
            <a:off x="2103120" y="2331720"/>
            <a:ext cx="7985455" cy="2103120"/>
          </a:xfrm>
          <a:prstGeom prst="rect">
            <a:avLst/>
          </a:prstGeom>
          <a:noFill/>
          <a:ln/>
        </p:spPr>
        <p:txBody>
          <a:bodyPr wrap="square" lIns="0" tIns="0" rIns="0" bIns="0" rtlCol="0" anchor="ctr"/>
          <a:lstStyle/>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Raise your hand to share, or paste your writing in the chat.</a:t>
            </a:r>
            <a:endParaRPr lang="en-US" sz="2200" dirty="0"/>
          </a:p>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If you disagree with a classmate’s choice, say so respectfully — and give your evidence. That is part of the thinking.</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WHICH BREAK IS IT?</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fract/frag + rupt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Yesterday you met both roots. Today, identify which one a word is built on. They mean the same thing, so the only way to tell is to look for the letters themselves.</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WHICH BREAK IS IT?</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fract/frag + rupt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MATCH EACH WORD TO ITS MEANING</a:t>
            </a:r>
            <a:endParaRPr lang="en-US" sz="1300" dirty="0"/>
          </a:p>
        </p:txBody>
      </p:sp>
      <p:sp>
        <p:nvSpPr>
          <p:cNvPr id="9" name="Shape 7"/>
          <p:cNvSpPr/>
          <p:nvPr/>
        </p:nvSpPr>
        <p:spPr>
          <a:xfrm>
            <a:off x="502920" y="1965960"/>
            <a:ext cx="3291840" cy="982980"/>
          </a:xfrm>
          <a:prstGeom prst="roundRect">
            <a:avLst>
              <a:gd name="adj" fmla="val 7442"/>
            </a:avLst>
          </a:prstGeom>
          <a:solidFill>
            <a:srgbClr val="F0E8FF"/>
          </a:solidFill>
          <a:ln w="15875">
            <a:solidFill>
              <a:srgbClr val="D6C8F0"/>
            </a:solidFill>
            <a:prstDash val="solid"/>
          </a:ln>
        </p:spPr>
      </p:sp>
      <p:sp>
        <p:nvSpPr>
          <p:cNvPr id="10" name="Text 8"/>
          <p:cNvSpPr/>
          <p:nvPr/>
        </p:nvSpPr>
        <p:spPr>
          <a:xfrm>
            <a:off x="685800" y="196596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1. fracture</a:t>
            </a:r>
            <a:endParaRPr lang="en-US" sz="2200" dirty="0"/>
          </a:p>
        </p:txBody>
      </p:sp>
      <p:sp>
        <p:nvSpPr>
          <p:cNvPr id="11" name="Shape 9"/>
          <p:cNvSpPr/>
          <p:nvPr/>
        </p:nvSpPr>
        <p:spPr>
          <a:xfrm>
            <a:off x="4069080" y="1965960"/>
            <a:ext cx="7619695" cy="982980"/>
          </a:xfrm>
          <a:prstGeom prst="roundRect">
            <a:avLst>
              <a:gd name="adj" fmla="val 7442"/>
            </a:avLst>
          </a:prstGeom>
          <a:solidFill>
            <a:srgbClr val="F8FAFC"/>
          </a:solidFill>
          <a:ln w="15875">
            <a:solidFill>
              <a:srgbClr val="CBD5E1"/>
            </a:solidFill>
            <a:prstDash val="solid"/>
          </a:ln>
        </p:spPr>
      </p:sp>
      <p:sp>
        <p:nvSpPr>
          <p:cNvPr id="12" name="Text 10"/>
          <p:cNvSpPr/>
          <p:nvPr/>
        </p:nvSpPr>
        <p:spPr>
          <a:xfrm>
            <a:off x="4251960" y="196596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A. to break into someone’s turn</a:t>
            </a:r>
            <a:endParaRPr lang="en-US" sz="1900" dirty="0"/>
          </a:p>
        </p:txBody>
      </p:sp>
      <p:sp>
        <p:nvSpPr>
          <p:cNvPr id="13" name="Shape 11"/>
          <p:cNvSpPr/>
          <p:nvPr/>
        </p:nvSpPr>
        <p:spPr>
          <a:xfrm>
            <a:off x="502920" y="3086100"/>
            <a:ext cx="3291840" cy="982980"/>
          </a:xfrm>
          <a:prstGeom prst="roundRect">
            <a:avLst>
              <a:gd name="adj" fmla="val 7442"/>
            </a:avLst>
          </a:prstGeom>
          <a:solidFill>
            <a:srgbClr val="F0E8FF"/>
          </a:solidFill>
          <a:ln w="15875">
            <a:solidFill>
              <a:srgbClr val="D6C8F0"/>
            </a:solidFill>
            <a:prstDash val="solid"/>
          </a:ln>
        </p:spPr>
      </p:sp>
      <p:sp>
        <p:nvSpPr>
          <p:cNvPr id="14" name="Text 12"/>
          <p:cNvSpPr/>
          <p:nvPr/>
        </p:nvSpPr>
        <p:spPr>
          <a:xfrm>
            <a:off x="685800" y="308610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2. fragment</a:t>
            </a:r>
            <a:endParaRPr lang="en-US" sz="2200" dirty="0"/>
          </a:p>
        </p:txBody>
      </p:sp>
      <p:sp>
        <p:nvSpPr>
          <p:cNvPr id="15" name="Shape 13"/>
          <p:cNvSpPr/>
          <p:nvPr/>
        </p:nvSpPr>
        <p:spPr>
          <a:xfrm>
            <a:off x="4069080" y="3086100"/>
            <a:ext cx="7619695" cy="982980"/>
          </a:xfrm>
          <a:prstGeom prst="roundRect">
            <a:avLst>
              <a:gd name="adj" fmla="val 7442"/>
            </a:avLst>
          </a:prstGeom>
          <a:solidFill>
            <a:srgbClr val="F8FAFC"/>
          </a:solidFill>
          <a:ln w="15875">
            <a:solidFill>
              <a:srgbClr val="CBD5E1"/>
            </a:solidFill>
            <a:prstDash val="solid"/>
          </a:ln>
        </p:spPr>
      </p:sp>
      <p:sp>
        <p:nvSpPr>
          <p:cNvPr id="16" name="Text 14"/>
          <p:cNvSpPr/>
          <p:nvPr/>
        </p:nvSpPr>
        <p:spPr>
          <a:xfrm>
            <a:off x="4251960" y="308610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B. broken off short, sudden</a:t>
            </a:r>
            <a:endParaRPr lang="en-US" sz="1900" dirty="0"/>
          </a:p>
        </p:txBody>
      </p:sp>
      <p:sp>
        <p:nvSpPr>
          <p:cNvPr id="17" name="Shape 15"/>
          <p:cNvSpPr/>
          <p:nvPr/>
        </p:nvSpPr>
        <p:spPr>
          <a:xfrm>
            <a:off x="502920" y="4206240"/>
            <a:ext cx="3291840" cy="982980"/>
          </a:xfrm>
          <a:prstGeom prst="roundRect">
            <a:avLst>
              <a:gd name="adj" fmla="val 7442"/>
            </a:avLst>
          </a:prstGeom>
          <a:solidFill>
            <a:srgbClr val="F0E8FF"/>
          </a:solidFill>
          <a:ln w="15875">
            <a:solidFill>
              <a:srgbClr val="D6C8F0"/>
            </a:solidFill>
            <a:prstDash val="solid"/>
          </a:ln>
        </p:spPr>
      </p:sp>
      <p:sp>
        <p:nvSpPr>
          <p:cNvPr id="18" name="Text 16"/>
          <p:cNvSpPr/>
          <p:nvPr/>
        </p:nvSpPr>
        <p:spPr>
          <a:xfrm>
            <a:off x="685800" y="420624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3. interrupt</a:t>
            </a:r>
            <a:endParaRPr lang="en-US" sz="2200" dirty="0"/>
          </a:p>
        </p:txBody>
      </p:sp>
      <p:sp>
        <p:nvSpPr>
          <p:cNvPr id="19" name="Shape 17"/>
          <p:cNvSpPr/>
          <p:nvPr/>
        </p:nvSpPr>
        <p:spPr>
          <a:xfrm>
            <a:off x="4069080" y="4206240"/>
            <a:ext cx="7619695" cy="982980"/>
          </a:xfrm>
          <a:prstGeom prst="roundRect">
            <a:avLst>
              <a:gd name="adj" fmla="val 7442"/>
            </a:avLst>
          </a:prstGeom>
          <a:solidFill>
            <a:srgbClr val="F8FAFC"/>
          </a:solidFill>
          <a:ln w="15875">
            <a:solidFill>
              <a:srgbClr val="CBD5E1"/>
            </a:solidFill>
            <a:prstDash val="solid"/>
          </a:ln>
        </p:spPr>
      </p:sp>
      <p:sp>
        <p:nvSpPr>
          <p:cNvPr id="20" name="Text 18"/>
          <p:cNvSpPr/>
          <p:nvPr/>
        </p:nvSpPr>
        <p:spPr>
          <a:xfrm>
            <a:off x="4251960" y="420624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C. a break in something solid</a:t>
            </a:r>
            <a:endParaRPr lang="en-US" sz="1900" dirty="0"/>
          </a:p>
        </p:txBody>
      </p:sp>
      <p:sp>
        <p:nvSpPr>
          <p:cNvPr id="21" name="Shape 19"/>
          <p:cNvSpPr/>
          <p:nvPr/>
        </p:nvSpPr>
        <p:spPr>
          <a:xfrm>
            <a:off x="502920" y="5326380"/>
            <a:ext cx="3291840" cy="982980"/>
          </a:xfrm>
          <a:prstGeom prst="roundRect">
            <a:avLst>
              <a:gd name="adj" fmla="val 7442"/>
            </a:avLst>
          </a:prstGeom>
          <a:solidFill>
            <a:srgbClr val="F0E8FF"/>
          </a:solidFill>
          <a:ln w="15875">
            <a:solidFill>
              <a:srgbClr val="D6C8F0"/>
            </a:solidFill>
            <a:prstDash val="solid"/>
          </a:ln>
        </p:spPr>
      </p:sp>
      <p:sp>
        <p:nvSpPr>
          <p:cNvPr id="22" name="Text 20"/>
          <p:cNvSpPr/>
          <p:nvPr/>
        </p:nvSpPr>
        <p:spPr>
          <a:xfrm>
            <a:off x="685800" y="532638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4. abrupt</a:t>
            </a:r>
            <a:endParaRPr lang="en-US" sz="2200" dirty="0"/>
          </a:p>
        </p:txBody>
      </p:sp>
      <p:sp>
        <p:nvSpPr>
          <p:cNvPr id="23" name="Shape 21"/>
          <p:cNvSpPr/>
          <p:nvPr/>
        </p:nvSpPr>
        <p:spPr>
          <a:xfrm>
            <a:off x="4069080" y="5326380"/>
            <a:ext cx="7619695" cy="982980"/>
          </a:xfrm>
          <a:prstGeom prst="roundRect">
            <a:avLst>
              <a:gd name="adj" fmla="val 7442"/>
            </a:avLst>
          </a:prstGeom>
          <a:solidFill>
            <a:srgbClr val="F8FAFC"/>
          </a:solidFill>
          <a:ln w="15875">
            <a:solidFill>
              <a:srgbClr val="CBD5E1"/>
            </a:solidFill>
            <a:prstDash val="solid"/>
          </a:ln>
        </p:spPr>
      </p:sp>
      <p:sp>
        <p:nvSpPr>
          <p:cNvPr id="24" name="Text 22"/>
          <p:cNvSpPr/>
          <p:nvPr/>
        </p:nvSpPr>
        <p:spPr>
          <a:xfrm>
            <a:off x="4251960" y="532638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D. a broken-off piece</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WHICH BREAK IS IT?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fract/frag + rupt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MATCHED</a:t>
            </a:r>
            <a:endParaRPr lang="en-US" sz="1300" dirty="0"/>
          </a:p>
        </p:txBody>
      </p:sp>
      <p:sp>
        <p:nvSpPr>
          <p:cNvPr id="9" name="Shape 7"/>
          <p:cNvSpPr/>
          <p:nvPr/>
        </p:nvSpPr>
        <p:spPr>
          <a:xfrm>
            <a:off x="502920" y="1965960"/>
            <a:ext cx="11185855" cy="982980"/>
          </a:xfrm>
          <a:prstGeom prst="roundRect">
            <a:avLst>
              <a:gd name="adj" fmla="val 7442"/>
            </a:avLst>
          </a:prstGeom>
          <a:solidFill>
            <a:srgbClr val="E8F8EF"/>
          </a:solidFill>
          <a:ln w="15875">
            <a:solidFill>
              <a:srgbClr val="9ED9B5"/>
            </a:solidFill>
            <a:prstDash val="solid"/>
          </a:ln>
        </p:spPr>
      </p:sp>
      <p:sp>
        <p:nvSpPr>
          <p:cNvPr id="10" name="Text 8"/>
          <p:cNvSpPr/>
          <p:nvPr/>
        </p:nvSpPr>
        <p:spPr>
          <a:xfrm>
            <a:off x="731520" y="196596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fracture  =  </a:t>
            </a:r>
            <a:pPr indent="0" marL="0">
              <a:buNone/>
            </a:pPr>
            <a:r>
              <a:rPr lang="en-US" sz="2000" dirty="0">
                <a:solidFill>
                  <a:srgbClr val="1E293B"/>
                </a:solidFill>
                <a:latin typeface="Calibri" pitchFamily="34" charset="0"/>
                <a:ea typeface="Calibri" pitchFamily="34" charset="-122"/>
                <a:cs typeface="Calibri" pitchFamily="34" charset="-120"/>
              </a:rPr>
              <a:t>a break in something solid</a:t>
            </a:r>
            <a:endParaRPr lang="en-US" sz="2200" dirty="0"/>
          </a:p>
        </p:txBody>
      </p:sp>
      <p:sp>
        <p:nvSpPr>
          <p:cNvPr id="11" name="Shape 9"/>
          <p:cNvSpPr/>
          <p:nvPr/>
        </p:nvSpPr>
        <p:spPr>
          <a:xfrm>
            <a:off x="502920" y="3086100"/>
            <a:ext cx="11185855" cy="982980"/>
          </a:xfrm>
          <a:prstGeom prst="roundRect">
            <a:avLst>
              <a:gd name="adj" fmla="val 7442"/>
            </a:avLst>
          </a:prstGeom>
          <a:solidFill>
            <a:srgbClr val="E8F8EF"/>
          </a:solidFill>
          <a:ln w="15875">
            <a:solidFill>
              <a:srgbClr val="9ED9B5"/>
            </a:solidFill>
            <a:prstDash val="solid"/>
          </a:ln>
        </p:spPr>
      </p:sp>
      <p:sp>
        <p:nvSpPr>
          <p:cNvPr id="12" name="Text 10"/>
          <p:cNvSpPr/>
          <p:nvPr/>
        </p:nvSpPr>
        <p:spPr>
          <a:xfrm>
            <a:off x="731520" y="308610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fragment  =  </a:t>
            </a:r>
            <a:pPr indent="0" marL="0">
              <a:buNone/>
            </a:pPr>
            <a:r>
              <a:rPr lang="en-US" sz="2000" dirty="0">
                <a:solidFill>
                  <a:srgbClr val="1E293B"/>
                </a:solidFill>
                <a:latin typeface="Calibri" pitchFamily="34" charset="0"/>
                <a:ea typeface="Calibri" pitchFamily="34" charset="-122"/>
                <a:cs typeface="Calibri" pitchFamily="34" charset="-120"/>
              </a:rPr>
              <a:t>a broken-off piece</a:t>
            </a:r>
            <a:endParaRPr lang="en-US" sz="2200" dirty="0"/>
          </a:p>
        </p:txBody>
      </p:sp>
      <p:sp>
        <p:nvSpPr>
          <p:cNvPr id="13" name="Shape 11"/>
          <p:cNvSpPr/>
          <p:nvPr/>
        </p:nvSpPr>
        <p:spPr>
          <a:xfrm>
            <a:off x="502920" y="4206240"/>
            <a:ext cx="11185855" cy="982980"/>
          </a:xfrm>
          <a:prstGeom prst="roundRect">
            <a:avLst>
              <a:gd name="adj" fmla="val 7442"/>
            </a:avLst>
          </a:prstGeom>
          <a:solidFill>
            <a:srgbClr val="E8F8EF"/>
          </a:solidFill>
          <a:ln w="15875">
            <a:solidFill>
              <a:srgbClr val="9ED9B5"/>
            </a:solidFill>
            <a:prstDash val="solid"/>
          </a:ln>
        </p:spPr>
      </p:sp>
      <p:sp>
        <p:nvSpPr>
          <p:cNvPr id="14" name="Text 12"/>
          <p:cNvSpPr/>
          <p:nvPr/>
        </p:nvSpPr>
        <p:spPr>
          <a:xfrm>
            <a:off x="731520" y="420624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interrupt  =  </a:t>
            </a:r>
            <a:pPr indent="0" marL="0">
              <a:buNone/>
            </a:pPr>
            <a:r>
              <a:rPr lang="en-US" sz="2000" dirty="0">
                <a:solidFill>
                  <a:srgbClr val="1E293B"/>
                </a:solidFill>
                <a:latin typeface="Calibri" pitchFamily="34" charset="0"/>
                <a:ea typeface="Calibri" pitchFamily="34" charset="-122"/>
                <a:cs typeface="Calibri" pitchFamily="34" charset="-120"/>
              </a:rPr>
              <a:t>to break into someone’s turn</a:t>
            </a:r>
            <a:endParaRPr lang="en-US" sz="2200" dirty="0"/>
          </a:p>
        </p:txBody>
      </p:sp>
      <p:sp>
        <p:nvSpPr>
          <p:cNvPr id="15" name="Shape 13"/>
          <p:cNvSpPr/>
          <p:nvPr/>
        </p:nvSpPr>
        <p:spPr>
          <a:xfrm>
            <a:off x="502920" y="5326380"/>
            <a:ext cx="11185855" cy="982980"/>
          </a:xfrm>
          <a:prstGeom prst="roundRect">
            <a:avLst>
              <a:gd name="adj" fmla="val 7442"/>
            </a:avLst>
          </a:prstGeom>
          <a:solidFill>
            <a:srgbClr val="E8F8EF"/>
          </a:solidFill>
          <a:ln w="15875">
            <a:solidFill>
              <a:srgbClr val="9ED9B5"/>
            </a:solidFill>
            <a:prstDash val="solid"/>
          </a:ln>
        </p:spPr>
      </p:sp>
      <p:sp>
        <p:nvSpPr>
          <p:cNvPr id="16" name="Text 14"/>
          <p:cNvSpPr/>
          <p:nvPr/>
        </p:nvSpPr>
        <p:spPr>
          <a:xfrm>
            <a:off x="731520" y="532638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abrupt  =  </a:t>
            </a:r>
            <a:pPr indent="0" marL="0">
              <a:buNone/>
            </a:pPr>
            <a:r>
              <a:rPr lang="en-US" sz="2000" dirty="0">
                <a:solidFill>
                  <a:srgbClr val="1E293B"/>
                </a:solidFill>
                <a:latin typeface="Calibri" pitchFamily="34" charset="0"/>
                <a:ea typeface="Calibri" pitchFamily="34" charset="-122"/>
                <a:cs typeface="Calibri" pitchFamily="34" charset="-120"/>
              </a:rPr>
              <a:t>broken off short, sudden</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SPOT THE SUFFIX IN THIS WEEK’S WORDS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Identify -al and -ous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Sort this week’s vocabulary words by their suffix. Remember: all six are adjectives. Use the suffix to help you group them.</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SPOT THE SUFFIX IN THIS WEEK’S WORDS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Identify -al and -ous</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SORT THESE WORDS</a:t>
            </a:r>
            <a:endParaRPr lang="en-US" sz="1300" dirty="0"/>
          </a:p>
        </p:txBody>
      </p:sp>
      <p:sp>
        <p:nvSpPr>
          <p:cNvPr id="9" name="Shape 7"/>
          <p:cNvSpPr/>
          <p:nvPr/>
        </p:nvSpPr>
        <p:spPr>
          <a:xfrm>
            <a:off x="502920" y="1920240"/>
            <a:ext cx="11185855" cy="1463040"/>
          </a:xfrm>
          <a:prstGeom prst="roundRect">
            <a:avLst>
              <a:gd name="adj" fmla="val 5000"/>
            </a:avLst>
          </a:prstGeom>
          <a:solidFill>
            <a:srgbClr val="E5F7FC"/>
          </a:solidFill>
          <a:ln w="15875">
            <a:solidFill>
              <a:srgbClr val="A6DDEE"/>
            </a:solidFill>
            <a:prstDash val="solid"/>
          </a:ln>
        </p:spPr>
      </p:sp>
      <p:sp>
        <p:nvSpPr>
          <p:cNvPr id="10" name="Text 8"/>
          <p:cNvSpPr/>
          <p:nvPr/>
        </p:nvSpPr>
        <p:spPr>
          <a:xfrm>
            <a:off x="777240" y="1965960"/>
            <a:ext cx="10637215" cy="1371600"/>
          </a:xfrm>
          <a:prstGeom prst="rect">
            <a:avLst/>
          </a:prstGeom>
          <a:noFill/>
          <a:ln/>
        </p:spPr>
        <p:txBody>
          <a:bodyPr wrap="square" lIns="0" tIns="0" rIns="0" bIns="0" rtlCol="0" anchor="ctr"/>
          <a:lstStyle/>
          <a:p>
            <a:pPr algn="ctr" indent="0" marL="0">
              <a:buNone/>
            </a:pPr>
            <a:r>
              <a:rPr lang="en-US" sz="2600" b="1" dirty="0">
                <a:solidFill>
                  <a:srgbClr val="0E1C42"/>
                </a:solidFill>
                <a:latin typeface="Calibri" pitchFamily="34" charset="0"/>
                <a:ea typeface="Calibri" pitchFamily="34" charset="-122"/>
                <a:cs typeface="Calibri" pitchFamily="34" charset="-120"/>
              </a:rPr>
              <a:t>lunar     ·     erroneous     ·     nautical     ·     hazardous     ·     practical     ·     mathematical</a:t>
            </a:r>
            <a:endParaRPr lang="en-US" sz="2600" dirty="0"/>
          </a:p>
        </p:txBody>
      </p:sp>
      <p:sp>
        <p:nvSpPr>
          <p:cNvPr id="11" name="Text 9"/>
          <p:cNvSpPr/>
          <p:nvPr/>
        </p:nvSpPr>
        <p:spPr>
          <a:xfrm>
            <a:off x="502920" y="36118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INTO THESE GROUPS</a:t>
            </a:r>
            <a:endParaRPr lang="en-US" sz="1300" dirty="0"/>
          </a:p>
        </p:txBody>
      </p:sp>
      <p:sp>
        <p:nvSpPr>
          <p:cNvPr id="12" name="Shape 10"/>
          <p:cNvSpPr/>
          <p:nvPr/>
        </p:nvSpPr>
        <p:spPr>
          <a:xfrm>
            <a:off x="502920" y="3977640"/>
            <a:ext cx="5501488" cy="1097280"/>
          </a:xfrm>
          <a:prstGeom prst="roundRect">
            <a:avLst>
              <a:gd name="adj" fmla="val 6667"/>
            </a:avLst>
          </a:prstGeom>
          <a:solidFill>
            <a:srgbClr val="F8FAFC"/>
          </a:solidFill>
          <a:ln w="15875">
            <a:solidFill>
              <a:srgbClr val="CBD5E1"/>
            </a:solidFill>
            <a:prstDash val="solid"/>
          </a:ln>
        </p:spPr>
      </p:sp>
      <p:sp>
        <p:nvSpPr>
          <p:cNvPr id="13" name="Text 11"/>
          <p:cNvSpPr/>
          <p:nvPr/>
        </p:nvSpPr>
        <p:spPr>
          <a:xfrm>
            <a:off x="685800" y="4050792"/>
            <a:ext cx="513572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-al Adjectives “relating to”</a:t>
            </a:r>
            <a:endParaRPr lang="en-US" sz="2200" dirty="0"/>
          </a:p>
        </p:txBody>
      </p:sp>
      <p:sp>
        <p:nvSpPr>
          <p:cNvPr id="14" name="Shape 12"/>
          <p:cNvSpPr/>
          <p:nvPr/>
        </p:nvSpPr>
        <p:spPr>
          <a:xfrm>
            <a:off x="6187288" y="3977640"/>
            <a:ext cx="5501488" cy="1097280"/>
          </a:xfrm>
          <a:prstGeom prst="roundRect">
            <a:avLst>
              <a:gd name="adj" fmla="val 6667"/>
            </a:avLst>
          </a:prstGeom>
          <a:solidFill>
            <a:srgbClr val="F8FAFC"/>
          </a:solidFill>
          <a:ln w="15875">
            <a:solidFill>
              <a:srgbClr val="CBD5E1"/>
            </a:solidFill>
            <a:prstDash val="solid"/>
          </a:ln>
        </p:spPr>
      </p:sp>
      <p:sp>
        <p:nvSpPr>
          <p:cNvPr id="15" name="Text 13"/>
          <p:cNvSpPr/>
          <p:nvPr/>
        </p:nvSpPr>
        <p:spPr>
          <a:xfrm>
            <a:off x="6370168" y="4050792"/>
            <a:ext cx="513572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-ous/-eous Adjectives “full of”</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SPOT THE SUFFIX IN THIS WEEK’S WORDS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Identify -al and -ous</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5501488" cy="4892040"/>
          </a:xfrm>
          <a:prstGeom prst="roundRect">
            <a:avLst>
              <a:gd name="adj" fmla="val 1495"/>
            </a:avLst>
          </a:prstGeom>
          <a:solidFill>
            <a:srgbClr val="E8F8EF"/>
          </a:solidFill>
          <a:ln w="15875">
            <a:solidFill>
              <a:srgbClr val="9ED9B5"/>
            </a:solidFill>
            <a:prstDash val="solid"/>
          </a:ln>
        </p:spPr>
      </p:sp>
      <p:sp>
        <p:nvSpPr>
          <p:cNvPr id="9" name="Text 7"/>
          <p:cNvSpPr/>
          <p:nvPr/>
        </p:nvSpPr>
        <p:spPr>
          <a:xfrm>
            <a:off x="685800" y="1691640"/>
            <a:ext cx="513572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-al Adjectives “relating to”</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lunar</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nautical</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practical</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mathematical</a:t>
            </a:r>
            <a:endParaRPr lang="en-US" sz="2100" dirty="0"/>
          </a:p>
        </p:txBody>
      </p:sp>
      <p:sp>
        <p:nvSpPr>
          <p:cNvPr id="10" name="Shape 8"/>
          <p:cNvSpPr/>
          <p:nvPr/>
        </p:nvSpPr>
        <p:spPr>
          <a:xfrm>
            <a:off x="6187288" y="1554480"/>
            <a:ext cx="5501488" cy="4892040"/>
          </a:xfrm>
          <a:prstGeom prst="roundRect">
            <a:avLst>
              <a:gd name="adj" fmla="val 1495"/>
            </a:avLst>
          </a:prstGeom>
          <a:solidFill>
            <a:srgbClr val="E8F8EF"/>
          </a:solidFill>
          <a:ln w="15875">
            <a:solidFill>
              <a:srgbClr val="9ED9B5"/>
            </a:solidFill>
            <a:prstDash val="solid"/>
          </a:ln>
        </p:spPr>
      </p:sp>
      <p:sp>
        <p:nvSpPr>
          <p:cNvPr id="11" name="Text 9"/>
          <p:cNvSpPr/>
          <p:nvPr/>
        </p:nvSpPr>
        <p:spPr>
          <a:xfrm>
            <a:off x="6370168" y="1691640"/>
            <a:ext cx="513572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-ous/-eous Adjectives “full of”</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erroneous</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hazardous</a:t>
            </a:r>
            <a:endParaRPr 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WHERE DOES THE MAIN SENTENCE START?</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Commas with Introductory Phrases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Before you start: find the comma and ask what the part in front of it is doing.</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Yesterday you learned what the comma marks. Today, identify where it belongs. Find the subject and verb of the main sentence, then put the comma immediately before them.</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WHERE DOES THE MAIN SENTENCE START?</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Commas with Introductory Phrases</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Where does the main sentence begin?</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Working by candlelight in the ship’s cabin, Nat checked every figure twice.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Working by candlelight in the ship’s cabin Nat checked every figure twice.</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Where does the main sentence begin?</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In the winter of 1802 he finished the last of the tables.</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In the winter of 1802, he finished the last of the tables.</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Where does the main sentence begin?</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Although the work took years, he never considered abandoning it.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Although the work took years he never considered abandoning it.</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WHERE DOES THE MAIN SENTENCE START?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Commas with Introductory Phrases</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Where does the main sentence begin?</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Working by candlelight in the ship’s cabin, Nat checked every figure twice.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Working by candlelight in the ship’s cabin Nat checked every figure twice.</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Where does the main sentence begin?</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In the winter of 1802 he finished the last of the tables.</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In the winter of 1802, he finished the last of the tables.</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Where does the main sentence begin?</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Although the work took years, he never considered abandoning it.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Although the work took years he never considered abandoning it.</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GRADED TODAY</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 Show What You Know · Grammar</a:t>
            </a:r>
            <a:endParaRPr lang="en-US" sz="3000" dirty="0"/>
          </a:p>
        </p:txBody>
      </p:sp>
      <p:sp>
        <p:nvSpPr>
          <p:cNvPr id="5" name="Shape 3"/>
          <p:cNvSpPr/>
          <p:nvPr/>
        </p:nvSpPr>
        <p:spPr>
          <a:xfrm>
            <a:off x="9402775" y="384048"/>
            <a:ext cx="2286000" cy="457200"/>
          </a:xfrm>
          <a:prstGeom prst="roundRect">
            <a:avLst>
              <a:gd name="adj" fmla="val 24000"/>
            </a:avLst>
          </a:prstGeom>
          <a:solidFill>
            <a:srgbClr val="C7922C"/>
          </a:solidFill>
          <a:ln w="12700">
            <a:solidFill>
              <a:srgbClr val="C7922C"/>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SWYK</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4892040"/>
          </a:xfrm>
          <a:prstGeom prst="roundRect">
            <a:avLst>
              <a:gd name="adj" fmla="val 1495"/>
            </a:avLst>
          </a:prstGeom>
          <a:solidFill>
            <a:srgbClr val="FEF6E8"/>
          </a:solidFill>
          <a:ln w="15875">
            <a:solidFill>
              <a:srgbClr val="C7922C"/>
            </a:solidFill>
            <a:prstDash val="solid"/>
          </a:ln>
        </p:spPr>
      </p:sp>
      <p:sp>
        <p:nvSpPr>
          <p:cNvPr id="9" name="Text 7"/>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Add the missing commas and explain each one: (1) After three years at sea Nat came home. (2) Because the tables were wrong ships were lost. (3) However the printer was not to blame.</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to write: Write all three corrected sentences, then name where the main sentence begins in each.</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WHICH ENDING FITS?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Suffixes -al and -ic</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Yesterday you met both endings. Today, identify which one a noun takes. There is no rule that covers every case, but there are strong habits: nouns ending in -y or -ce usually take -ic; most others reach for -al.</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In your reading journal, write the correct spelling of each word and note which pattern it uses: myster___ · gorge___ · har mon___ · enorm___</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WHICH ENDING FITS?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Suffixes -al and -ic</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Which spelling is correct?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Nat’s corrections were practical, not theoretical.</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Nat’s corrections were practicic, not theoretical.</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spelling is correct?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His method was strictly scienceic.</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His method was strictly scientific.</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spelling is correct?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The voyage followed the coastal route.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The voyage followed the coastic route.</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WHICH ENDING FITS?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Suffixes -al and -ic</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Which spelling is correct?</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Nat’s corrections were practical, not theoretical.</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Nat’s corrections were practicic, not theoretical.</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spelling is correct?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His method was strictly scienceic.</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His method was strictly scientific.</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spelling is correct?</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The voyage followed the coastal route.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The voyage followed the coastic route.</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MENTOR SENTENCE · CHAPTER 14</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RWM — Read like a Reader, Read like a Writer, Mimic</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463040"/>
          </a:xfrm>
          <a:prstGeom prst="roundRect">
            <a:avLst>
              <a:gd name="adj" fmla="val 5000"/>
            </a:avLst>
          </a:prstGeom>
          <a:solidFill>
            <a:srgbClr val="FEF6E8"/>
          </a:solidFill>
          <a:ln w="15875">
            <a:solidFill>
              <a:srgbClr val="C7922C"/>
            </a:solidFill>
            <a:prstDash val="solid"/>
          </a:ln>
        </p:spPr>
      </p:sp>
      <p:sp>
        <p:nvSpPr>
          <p:cNvPr id="7" name="Text 5"/>
          <p:cNvSpPr/>
          <p:nvPr/>
        </p:nvSpPr>
        <p:spPr>
          <a:xfrm>
            <a:off x="777240" y="1645920"/>
            <a:ext cx="10637215" cy="1280160"/>
          </a:xfrm>
          <a:prstGeom prst="rect">
            <a:avLst/>
          </a:prstGeom>
          <a:noFill/>
          <a:ln/>
        </p:spPr>
        <p:txBody>
          <a:bodyPr wrap="square" lIns="0" tIns="0" rIns="0" bIns="0" rtlCol="0" anchor="ctr">
            <a:normAutofit/>
          </a:bodyPr>
          <a:lstStyle/>
          <a:p>
            <a:pPr indent="0" marL="0">
              <a:buNone/>
            </a:pPr>
            <a:r>
              <a:rPr lang="en-US" sz="2400" i="1" dirty="0">
                <a:solidFill>
                  <a:srgbClr val="1E293B"/>
                </a:solidFill>
                <a:latin typeface="Georgia" pitchFamily="34" charset="0"/>
                <a:ea typeface="Georgia" pitchFamily="34" charset="-122"/>
                <a:cs typeface="Georgia" pitchFamily="34" charset="-120"/>
              </a:rPr>
              <a:t>“He knew Lem Harvey — a huge fellow with hulking shoulders and a sullen, swarthy face.”</a:t>
            </a:r>
            <a:endParaRPr lang="en-US" sz="2400" dirty="0"/>
          </a:p>
        </p:txBody>
      </p:sp>
      <p:sp>
        <p:nvSpPr>
          <p:cNvPr id="8" name="Shape 6"/>
          <p:cNvSpPr/>
          <p:nvPr/>
        </p:nvSpPr>
        <p:spPr>
          <a:xfrm>
            <a:off x="502920" y="3246120"/>
            <a:ext cx="3606698" cy="3200400"/>
          </a:xfrm>
          <a:prstGeom prst="roundRect">
            <a:avLst>
              <a:gd name="adj" fmla="val 2286"/>
            </a:avLst>
          </a:prstGeom>
          <a:solidFill>
            <a:srgbClr val="F8FAFC"/>
          </a:solidFill>
          <a:ln w="15875">
            <a:solidFill>
              <a:srgbClr val="CBD5E1"/>
            </a:solidFill>
            <a:prstDash val="solid"/>
          </a:ln>
        </p:spPr>
      </p:sp>
      <p:sp>
        <p:nvSpPr>
          <p:cNvPr id="9" name="Text 7"/>
          <p:cNvSpPr/>
          <p:nvPr/>
        </p:nvSpPr>
        <p:spPr>
          <a:xfrm>
            <a:off x="685800"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Read like a Reader</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The name Lem Harvey means nothing to a reader and everything to Nat. What does Latham get to skip by telling you who he is right here, before he has done anything?</a:t>
            </a:r>
            <a:endParaRPr lang="en-US" sz="1900" dirty="0"/>
          </a:p>
        </p:txBody>
      </p:sp>
      <p:sp>
        <p:nvSpPr>
          <p:cNvPr id="10" name="Shape 8"/>
          <p:cNvSpPr/>
          <p:nvPr/>
        </p:nvSpPr>
        <p:spPr>
          <a:xfrm>
            <a:off x="4292498" y="3246120"/>
            <a:ext cx="3606698" cy="3200400"/>
          </a:xfrm>
          <a:prstGeom prst="roundRect">
            <a:avLst>
              <a:gd name="adj" fmla="val 2286"/>
            </a:avLst>
          </a:prstGeom>
          <a:solidFill>
            <a:srgbClr val="F8FAFC"/>
          </a:solidFill>
          <a:ln w="15875">
            <a:solidFill>
              <a:srgbClr val="CBD5E1"/>
            </a:solidFill>
            <a:prstDash val="solid"/>
          </a:ln>
        </p:spPr>
      </p:sp>
      <p:sp>
        <p:nvSpPr>
          <p:cNvPr id="11" name="Text 9"/>
          <p:cNvSpPr/>
          <p:nvPr/>
        </p:nvSpPr>
        <p:spPr>
          <a:xfrm>
            <a:off x="4475378"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Read like a Writer</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Latham defines a name the moment she uses it. The dash opens a definition and the rest of the sentence fills it in, so the reader never has to stop and wonder. This is the move explanatory writing needs: when a term arrives, define it inside the same sentence rather than in a separate one afterwards.</a:t>
            </a:r>
            <a:endParaRPr lang="en-US" sz="1900" dirty="0"/>
          </a:p>
        </p:txBody>
      </p:sp>
      <p:sp>
        <p:nvSpPr>
          <p:cNvPr id="12" name="Shape 10"/>
          <p:cNvSpPr/>
          <p:nvPr/>
        </p:nvSpPr>
        <p:spPr>
          <a:xfrm>
            <a:off x="8082077" y="3246120"/>
            <a:ext cx="3606698" cy="3200400"/>
          </a:xfrm>
          <a:prstGeom prst="roundRect">
            <a:avLst>
              <a:gd name="adj" fmla="val 2286"/>
            </a:avLst>
          </a:prstGeom>
          <a:solidFill>
            <a:srgbClr val="F8FAFC"/>
          </a:solidFill>
          <a:ln w="15875">
            <a:solidFill>
              <a:srgbClr val="CBD5E1"/>
            </a:solidFill>
            <a:prstDash val="solid"/>
          </a:ln>
        </p:spPr>
      </p:sp>
      <p:sp>
        <p:nvSpPr>
          <p:cNvPr id="13" name="Text 11"/>
          <p:cNvSpPr/>
          <p:nvPr/>
        </p:nvSpPr>
        <p:spPr>
          <a:xfrm>
            <a:off x="8264957"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Mimic</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Write one sentence that names a person, a ship or a tool from Chapter 14 and defines it in the same sentence with a dash. Keep the definition to concrete details.</a:t>
            </a:r>
            <a:endParaRPr lang="en-US" sz="1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THE SAME TECHNIQUE IN YOUR OWN SENTENCE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Mimic — Your Turn</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280160"/>
          </a:xfrm>
          <a:prstGeom prst="roundRect">
            <a:avLst>
              <a:gd name="adj" fmla="val 5714"/>
            </a:avLst>
          </a:prstGeom>
          <a:solidFill>
            <a:srgbClr val="FEF6E8"/>
          </a:solidFill>
          <a:ln w="15875">
            <a:solidFill>
              <a:srgbClr val="C7922C"/>
            </a:solidFill>
            <a:prstDash val="solid"/>
          </a:ln>
        </p:spPr>
      </p:sp>
      <p:sp>
        <p:nvSpPr>
          <p:cNvPr id="7" name="Text 5"/>
          <p:cNvSpPr/>
          <p:nvPr/>
        </p:nvSpPr>
        <p:spPr>
          <a:xfrm>
            <a:off x="777240" y="1645920"/>
            <a:ext cx="10637215" cy="1097280"/>
          </a:xfrm>
          <a:prstGeom prst="rect">
            <a:avLst/>
          </a:prstGeom>
          <a:noFill/>
          <a:ln/>
        </p:spPr>
        <p:txBody>
          <a:bodyPr wrap="square" lIns="0" tIns="0" rIns="0" bIns="0" rtlCol="0" anchor="ctr">
            <a:normAutofit/>
          </a:bodyPr>
          <a:lstStyle/>
          <a:p>
            <a:pPr indent="0" marL="0">
              <a:buNone/>
            </a:pPr>
            <a:r>
              <a:rPr lang="en-US" sz="2200" i="1" dirty="0">
                <a:solidFill>
                  <a:srgbClr val="1E293B"/>
                </a:solidFill>
                <a:latin typeface="Georgia" pitchFamily="34" charset="0"/>
                <a:ea typeface="Georgia" pitchFamily="34" charset="-122"/>
                <a:cs typeface="Georgia" pitchFamily="34" charset="-120"/>
              </a:rPr>
              <a:t>“He knew Lem Harvey — a huge fellow with hulking shoulders and a sullen, swarthy face.”</a:t>
            </a:r>
            <a:endParaRPr lang="en-US" sz="2200" dirty="0"/>
          </a:p>
        </p:txBody>
      </p:sp>
      <p:sp>
        <p:nvSpPr>
          <p:cNvPr id="8" name="Text 6"/>
          <p:cNvSpPr/>
          <p:nvPr/>
        </p:nvSpPr>
        <p:spPr>
          <a:xfrm>
            <a:off x="502920" y="3017520"/>
            <a:ext cx="11185855" cy="1463040"/>
          </a:xfrm>
          <a:prstGeom prst="rect">
            <a:avLst/>
          </a:prstGeom>
          <a:noFill/>
          <a:ln/>
        </p:spPr>
        <p:txBody>
          <a:bodyPr wrap="square" lIns="0" tIns="0" rIns="0" bIns="0" rtlCol="0" anchor="t"/>
          <a:lstStyle/>
          <a:p>
            <a:pPr indent="0" marL="0">
              <a:buNone/>
            </a:pPr>
            <a:r>
              <a:rPr lang="en-US" sz="2100" dirty="0">
                <a:solidFill>
                  <a:srgbClr val="1E293B"/>
                </a:solidFill>
                <a:latin typeface="Calibri" pitchFamily="34" charset="0"/>
                <a:ea typeface="Calibri" pitchFamily="34" charset="-122"/>
                <a:cs typeface="Calibri" pitchFamily="34" charset="-120"/>
              </a:rPr>
              <a:t>Write one sentence that names a person, a ship or a tool from Chapter 14 and defines it in the same sentence with a dash. Keep the definition to concrete details.</a:t>
            </a:r>
            <a:endParaRPr lang="en-US" sz="2100" dirty="0"/>
          </a:p>
        </p:txBody>
      </p:sp>
      <p:sp>
        <p:nvSpPr>
          <p:cNvPr id="9" name="Text 7"/>
          <p:cNvSpPr/>
          <p:nvPr/>
        </p:nvSpPr>
        <p:spPr>
          <a:xfrm>
            <a:off x="502920" y="4617720"/>
            <a:ext cx="5486400"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SENTENCE FRAME</a:t>
            </a:r>
            <a:endParaRPr lang="en-US" sz="1300" dirty="0"/>
          </a:p>
        </p:txBody>
      </p:sp>
      <p:sp>
        <p:nvSpPr>
          <p:cNvPr id="10" name="Shape 8"/>
          <p:cNvSpPr/>
          <p:nvPr/>
        </p:nvSpPr>
        <p:spPr>
          <a:xfrm>
            <a:off x="502920" y="4937760"/>
            <a:ext cx="11185855" cy="1097280"/>
          </a:xfrm>
          <a:prstGeom prst="roundRect">
            <a:avLst>
              <a:gd name="adj" fmla="val 6667"/>
            </a:avLst>
          </a:prstGeom>
          <a:solidFill>
            <a:srgbClr val="FFFFFF"/>
          </a:solidFill>
          <a:ln w="15875">
            <a:solidFill>
              <a:srgbClr val="C7922C"/>
            </a:solidFill>
            <a:prstDash val="solid"/>
          </a:ln>
        </p:spPr>
      </p:sp>
      <p:sp>
        <p:nvSpPr>
          <p:cNvPr id="11" name="Text 9"/>
          <p:cNvSpPr/>
          <p:nvPr/>
        </p:nvSpPr>
        <p:spPr>
          <a:xfrm>
            <a:off x="777240" y="4983480"/>
            <a:ext cx="10637215" cy="1005840"/>
          </a:xfrm>
          <a:prstGeom prst="rect">
            <a:avLst/>
          </a:prstGeom>
          <a:noFill/>
          <a:ln/>
        </p:spPr>
        <p:txBody>
          <a:bodyPr wrap="square" lIns="0" tIns="0" rIns="0" bIns="0" rtlCol="0" anchor="ctr">
            <a:normAutofit/>
          </a:bodyPr>
          <a:lstStyle/>
          <a:p>
            <a:pPr indent="0" marL="0">
              <a:buNone/>
            </a:pPr>
            <a:r>
              <a:rPr lang="en-US" sz="2600" b="1" dirty="0">
                <a:solidFill>
                  <a:srgbClr val="0E1C42"/>
                </a:solidFill>
                <a:latin typeface="Calibri" pitchFamily="34" charset="0"/>
                <a:ea typeface="Calibri" pitchFamily="34" charset="-122"/>
                <a:cs typeface="Calibri" pitchFamily="34" charset="-120"/>
              </a:rPr>
              <a:t>[Name] — ___ with ___ and ___.</a:t>
            </a:r>
            <a:endParaRPr lang="en-US" sz="2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CHAPTER 14 — “NINETEEN GUNS”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Reading Focus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E5F7FC"/>
          </a:solidFill>
          <a:ln w="15875">
            <a:solidFill>
              <a:srgbClr val="A6DDEE"/>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 You are here: Week 12 — Chapter 14 — Nineteen Guns</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Chapter 14 opens in Salem, with Nat home from the Henry voyage. Then Mr. Derby gives Captain Prince a new ship, the Astrea, bound for Lisbon, Madeira and Manila — and she mounts nineteen guns, because of the trouble with France. That is where the chapter’s title comes from. Pay attention to how each setting — Salem, the Astrea’s deck, Lisbon, and Madeira — creates a new kind of conflict for Nat: saying good-by to Elizabeth, sailing with Lem Harvey, and learning to treat every sail as a possible enemy.</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STOPPING POINTS IN CHAPTER 14</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Pause &amp; Think</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0E8FF"/>
          </a:solidFill>
          <a:ln w="15875">
            <a:solidFill>
              <a:srgbClr val="D6C8F0"/>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The Guns and What They Mean: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Mr. Derby tells Captain Prince that the Astrea mounts nineteen guns. Why does Nat’s scalp prickle when he hears this? What do the guns tell you about the danger ahead on this voyage?</a:t>
            </a:r>
            <a:endParaRPr lang="en-US" sz="2400" dirty="0"/>
          </a:p>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Setting Shifts: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In Chapter 13, Nat was at sea on the Henry. Chapter 14 moves from Salem to the Astrea’s deck, then to Lisbon and Madeira. How does each setting change the type of conflict he faces? What new tensions arise — at home, on board with Lem Harvey, and in port?</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PART A: CHAPTER THINKING · WHAT STUDENTS WILL ANSWER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Comprehension Questions — Preview</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900"/>
              </a:spcAft>
              <a:buNone/>
            </a:pPr>
            <a:r>
              <a:rPr lang="en-US" sz="2100" b="1" dirty="0">
                <a:solidFill>
                  <a:srgbClr val="C7922C"/>
                </a:solidFill>
                <a:latin typeface="Calibri" pitchFamily="34" charset="0"/>
                <a:ea typeface="Calibri" pitchFamily="34" charset="-122"/>
                <a:cs typeface="Calibri" pitchFamily="34" charset="-120"/>
              </a:rPr>
              <a:t>1.  </a:t>
            </a:r>
            <a:pPr indent="0" marL="0">
              <a:spcAft>
                <a:spcPts val="900"/>
              </a:spcAft>
              <a:buNone/>
            </a:pPr>
            <a:r>
              <a:rPr lang="en-US" sz="2100" dirty="0">
                <a:solidFill>
                  <a:srgbClr val="1E293B"/>
                </a:solidFill>
                <a:latin typeface="Calibri" pitchFamily="34" charset="0"/>
                <a:ea typeface="Calibri" pitchFamily="34" charset="-122"/>
                <a:cs typeface="Calibri" pitchFamily="34" charset="-120"/>
              </a:rPr>
              <a:t>Chapter 14 is titled “Nineteen Guns.” The title refers to the nineteen guns the Astrea carries for her voyage to Lisbon, Madeira and Manila — a sign of danger from French privateers. Why does Nat’s scalp prickle when Mr. Derby mentions the guns? How do the guns, and Lem Harvey’s drills, change life on board?</a:t>
            </a:r>
            <a:endParaRPr lang="en-US" sz="2100" dirty="0"/>
          </a:p>
          <a:p>
            <a:pPr indent="0" marL="0">
              <a:spcAft>
                <a:spcPts val="900"/>
              </a:spcAft>
              <a:buNone/>
            </a:pPr>
            <a:r>
              <a:rPr lang="en-US" sz="2100" b="1" dirty="0">
                <a:solidFill>
                  <a:srgbClr val="C7922C"/>
                </a:solidFill>
                <a:latin typeface="Calibri" pitchFamily="34" charset="0"/>
                <a:ea typeface="Calibri" pitchFamily="34" charset="-122"/>
                <a:cs typeface="Calibri" pitchFamily="34" charset="-120"/>
              </a:rPr>
              <a:t>2.  </a:t>
            </a:r>
            <a:pPr indent="0" marL="0">
              <a:spcAft>
                <a:spcPts val="900"/>
              </a:spcAft>
              <a:buNone/>
            </a:pPr>
            <a:r>
              <a:rPr lang="en-US" sz="2100" dirty="0">
                <a:solidFill>
                  <a:srgbClr val="1E293B"/>
                </a:solidFill>
                <a:latin typeface="Calibri" pitchFamily="34" charset="0"/>
                <a:ea typeface="Calibri" pitchFamily="34" charset="-122"/>
                <a:cs typeface="Calibri" pitchFamily="34" charset="-120"/>
              </a:rPr>
              <a:t>In Chapter 13, Nat faced one type of conflict (finding an error in Moore’s tables). In Chapter 14, the setting keeps shifting — Salem, then the Astrea at sea, Lisbon, and Madeira. Describe how the conflict changes as the setting shifts. What new tensions appear?</a:t>
            </a:r>
            <a:endParaRPr lang="en-US" sz="2100" dirty="0"/>
          </a:p>
          <a:p>
            <a:pPr indent="0" marL="0">
              <a:spcAft>
                <a:spcPts val="900"/>
              </a:spcAft>
              <a:buNone/>
            </a:pPr>
            <a:r>
              <a:rPr lang="en-US" sz="2100" b="1" dirty="0">
                <a:solidFill>
                  <a:srgbClr val="C7922C"/>
                </a:solidFill>
                <a:latin typeface="Calibri" pitchFamily="34" charset="0"/>
                <a:ea typeface="Calibri" pitchFamily="34" charset="-122"/>
                <a:cs typeface="Calibri" pitchFamily="34" charset="-120"/>
              </a:rPr>
              <a:t>3.  </a:t>
            </a:r>
            <a:pPr indent="0" marL="0">
              <a:spcAft>
                <a:spcPts val="900"/>
              </a:spcAft>
              <a:buNone/>
            </a:pPr>
            <a:r>
              <a:rPr lang="en-US" sz="2100" dirty="0">
                <a:solidFill>
                  <a:srgbClr val="1E293B"/>
                </a:solidFill>
                <a:latin typeface="Calibri" pitchFamily="34" charset="0"/>
                <a:ea typeface="Calibri" pitchFamily="34" charset="-122"/>
                <a:cs typeface="Calibri" pitchFamily="34" charset="-120"/>
              </a:rPr>
              <a:t>How does Chapter 14 develop Nat’s character beyond his mathematical abilities? What personal qualities — beyond intelligence — does this chapter reveal?</a:t>
            </a:r>
            <a:endParaRPr 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DRAFT · BUILD BODY SECTION 2 EVIDENCE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12 · DRAFT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Today’s focus: Your Body 2 is open. Now fill it with the F+E+S evidence you planned. Today you write the main evidence for your second body section.</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Watch How — Meet Alex, our example writer: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Alex builds the evidence for Body 2 (making navigation accessible). BEFORE Alex’s notes: Error in Moore’s tables. Sailors could die because of bad math. Prince says find more. AFTER Alex’s F+E+S: Fact: In Chapter 13, while serving as clerk and second mate on the Henry, Bowditch found an error in one of the tables in Moore’s Navigator — the book all sailors trusted — and a wrong figure like that could lead ships onto reefs. Explanation: He did not shrug it off. Prince’s note told him to “Find some more errors,” and Nat grinned and carried on. Significance: This was not self-promotion — it was a gift to every sailor who would ever navigate by those tables, most of whom would never know his name. Notice: Alex’s significance sentence is the most important one. It answers the reader’s unspoken question: “So what?” The answer connects directly back to the claim (knowledge accessible to everyone).</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DRAFT · BUILD BODY SECTION 2 EVIDENCE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12 · DRAFT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Today’s Tool: F+E+S Builder (Body 2):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Build your Body 2 evidence using the same four-part structure. Alex’s example (filled): Fact: In Ch. 13, Bowditch found an error in one of the tables in Moore’s Navigator. Explanation: Prince’s note told him to “Find some more errors,” and Nat grinned and carried on. Significance: This was not self-promotion — it was a gift to every sailor who would navigate by those tables. Your turn — do the same in your reading journal: Fact (what happened in which chapter?): ____________________ Explanation (what does this mean or show?): ____________________ Significance (why does this prove your claim?): ____________________</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Sentence Frames You Can Borrow: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“In Chapter ___, Bowditch ___.” “He did not ___; instead, he ___.” “This was not ___ but ___; it proved that...”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Now you try. Use what Alex showed you. Borrow a sentence frame if you want. Type below.</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12.2 — Carry On, Mr. Bowditch, Chapter 14</dc:title>
  <dc:subject>PptxGenJS Presentation</dc:subject>
  <dc:creator>Optima Academy Online</dc:creator>
  <cp:lastModifiedBy>Optima Academy Online</cp:lastModifiedBy>
  <cp:revision>1</cp:revision>
  <dcterms:created xsi:type="dcterms:W3CDTF">2026-10-29T19:41:22Z</dcterms:created>
  <dcterms:modified xsi:type="dcterms:W3CDTF">2026-10-29T19:41:22Z</dcterms:modified>
</cp:coreProperties>
</file>