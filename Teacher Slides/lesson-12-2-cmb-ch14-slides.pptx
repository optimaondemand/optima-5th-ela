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12, Day 2, Chapter 14 — Nineteen Guns.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14 and continue drafting your expository research piece. Keep asking: How do conflict and setting shape Nat’s decisions?
Morphology: Identify -al and -ous suffixes in scientific and maritime vocabulary.
Grammar SWYK: Identify prepositional phrases; add them to improve expository sentences.
Spelling: Identify the correct -ous/-ious/-eous spelling in new words.
Reading: Chapter 14 — Nineteen Guns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practical knowledge nat had gained aboard the henry was more valuable then any lesson he had learned in the chandlery"
Corrected: "The practical knowledge Nat had gained aboard the Henry was more valuable than any lesson he had learned in the chandlery."
Fixes: capitalize “The” and “Henry”; “then” → “than” (comparison);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practical knowledge nat had gained aboard the henry was more valuable then any lesson he had learned in the chandlery"
Corrected: "The practical knowledge Nat had gained aboard the Henry was more valuable than any lesson he had learned in the chandlery."
Fixes: capitalize “The” and “Henry”; “then” → “than” (comparison);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Could I combine two of these sentences to make my thinking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Sort or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Identify the Correct -ous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12 — Chapter 14 — Nineteen Guns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DRAFT: Build Body Section 2 evidence
Focus: Your Body 2 is open. Now fill it with the F+E+S evidence you planned. Today you write the main evidence for your second body section.
Before: BEFORE Alex’s notes: Moore’s errors — hundreds of them. Sailors dying because of bad math. Nat corrects them all.
After: AFTER Alex’s F+E+S: Fact: In Chapter 13, while working as supercargo on the Henry, Bowditch discovered that Moore’s Navigator — the book all sailors trusted — contained hundreds of erroneous calculations that could lead ships onto reefs. Explanation: He did not report this to someone else or write it in a complaint; he corrected every single one himself, eventually amassing over 8,000 corrections. Significance: This was not self-promotion — it was a gift to every sailor who would ever navigate by those tables, most of whom would never know his name.
Notice: Notice: Alex’s significance sentence is the most important one. It answers the reader’s unspoken question: “So what?” The answer connects directly back to the claim (knowledge accessible to everyone).
Tool: Today’s Tool: F+E+S Builder (Body 2) — Build your Body 2 evidence using the same four-part structure.
Frames: “In Chapter ___, Bowditch ___.” | “He did not ___; instead, he ___.” | “This was not ___ but ___; it proved that...”
Prompt: Write your Body 2 F+E+S evidence: Fact (specific event + chapter) → Explanation → Significance.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12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14 — Nineteen Guns</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12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14 and continue drafting your expository research piece. Keep asking: How do conflict and setting shape Nat’s decisions?</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Identify -al and -ous suffixes in scientific and maritime vocabulary.</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SWYK: </a:t>
            </a:r>
            <a:pPr indent="0" marL="0">
              <a:buNone/>
            </a:pPr>
            <a:r>
              <a:rPr lang="en-US" sz="1250" dirty="0">
                <a:solidFill>
                  <a:srgbClr val="1E293B"/>
                </a:solidFill>
                <a:latin typeface="Calibri" pitchFamily="34" charset="0"/>
                <a:ea typeface="Calibri" pitchFamily="34" charset="-122"/>
                <a:cs typeface="Calibri" pitchFamily="34" charset="-120"/>
              </a:rPr>
              <a:t>Identify prepositional phrases; add them to improve expository sentences.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Identify the correct -ous/-ious/-eous spelling in new words.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14 — Nineteen Guns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14 brings Nat back to Salem. The setting shifts from the open sea to the harbor, from isolation to community — and everything changes. Good readers notice how the same character can act very differently depending on where he is and who is watching. As you read, ask: does Nat behave differently now that he is back on land?</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the setting of Salem — society, reputation, community — shape what Nat does with his discovery about Moore’s Navigator? Is conflict still present here, or does it shift?</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“Nineteen Guns” signify? What is being honored, and why does that matter to the story?</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Nat’s relationship with Elizabeth (Polly) Ingersoll develop in this chapter? How does this personal element affect his character?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Across the harbor , the nautical salute of nineteen guns announced the Henry’s return from her first voyage .</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Across the harbor  </a:t>
            </a:r>
            <a:pPr indent="0" marL="0">
              <a:buNone/>
            </a:pPr>
            <a:r>
              <a:rPr lang="en-US" sz="1200" dirty="0">
                <a:solidFill>
                  <a:srgbClr val="1E293B"/>
                </a:solidFill>
                <a:latin typeface="Calibri" pitchFamily="34" charset="0"/>
                <a:ea typeface="Calibri" pitchFamily="34" charset="-122"/>
                <a:cs typeface="Calibri" pitchFamily="34" charset="-120"/>
              </a:rPr>
              <a:t>“across the harbor” is a prepositional phrase telling where the guns boomed.</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nautical  </a:t>
            </a:r>
            <a:pPr indent="0" marL="0">
              <a:buNone/>
            </a:pPr>
            <a:r>
              <a:rPr lang="en-US" sz="1200" dirty="0">
                <a:solidFill>
                  <a:srgbClr val="1E293B"/>
                </a:solidFill>
                <a:latin typeface="Calibri" pitchFamily="34" charset="0"/>
                <a:ea typeface="Calibri" pitchFamily="34" charset="-122"/>
                <a:cs typeface="Calibri" pitchFamily="34" charset="-120"/>
              </a:rPr>
              <a:t>“nautical” uses the suffix -ical (relating to). The root naut means sailor.</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from her first voyage  </a:t>
            </a:r>
            <a:pPr indent="0" marL="0">
              <a:buNone/>
            </a:pPr>
            <a:r>
              <a:rPr lang="en-US" sz="1200" dirty="0">
                <a:solidFill>
                  <a:srgbClr val="1E293B"/>
                </a:solidFill>
                <a:latin typeface="Calibri" pitchFamily="34" charset="0"/>
                <a:ea typeface="Calibri" pitchFamily="34" charset="-122"/>
                <a:cs typeface="Calibri" pitchFamily="34" charset="-120"/>
              </a:rPr>
              <a:t>“from her first voyage” is a prepositional phrase telling which voyage.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practical knowledge nat had gained aboard the henry was more valuable then any lesson he had learned in the chandlery</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practical knowledge nat had gained aboard the henry was more valuable then any lesson he had learned in the chandlery</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practical knowledge Nat had gained aboard the Henry was more valuable than any lesson he had learned in the chandlery.</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and “Henry”; “then” → “than” (comparison); period at end.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“Flower in the Crannied Wall”</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Alfred, Lord Tennyson, 1869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Flower in the crannied wall,</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I pluck you out of the crannies,</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I hold you here, root and all, in my hand,</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Little flower — but if I could understand</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What you are, root and all, and all in all,</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I should know what God and man is.</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How is Nat’s approach to errors in Moore’s Navigator like Tennyson’s approach to the flower? What does he believe understanding one small thing precisely can reveal?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ship fires nineteen guns in this chapter. Which moment in Chapter 14 deserves that kind of celebration more — the guns' actual reason, or something Nat does quietly that no one salutes? Defend your answer.</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ship fires nineteen guns in this chapter. Which moment in Chapter 14 deserves that kind of celebration more — the guns' actual reason, or something Nat does quietly that no one salutes? Defend your answer.</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Could I combine two of these sentences to make my thinking clearer?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Identify -al and -ous in New Words</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celestial = relating to sailors, ships, and navigation</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glorious = full of glory; magnificent; wonderful</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rigorous = full of rigor; extremely thorough and demanding</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nautical = relating to the stars, sky, or heaven above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Sort or Match</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Identify — spot the suffix in this week’s words</a:t>
            </a:r>
            <a:endParaRPr lang="en-US" sz="1100" dirty="0"/>
          </a:p>
        </p:txBody>
      </p:sp>
      <p:sp>
        <p:nvSpPr>
          <p:cNvPr id="5" name="Text 3"/>
          <p:cNvSpPr/>
          <p:nvPr/>
        </p:nvSpPr>
        <p:spPr>
          <a:xfrm>
            <a:off x="36576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-al Adjectives “relating to”</a:t>
            </a:r>
            <a:endParaRPr lang="en-US" sz="1300" dirty="0"/>
          </a:p>
        </p:txBody>
      </p:sp>
      <p:sp>
        <p:nvSpPr>
          <p:cNvPr id="6" name="Text 4"/>
          <p:cNvSpPr/>
          <p:nvPr/>
        </p:nvSpPr>
        <p:spPr>
          <a:xfrm>
            <a:off x="36576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lunar  ·  nautical  ·  practical  ·  mathematical</a:t>
            </a:r>
            <a:endParaRPr lang="en-US" sz="1300" dirty="0"/>
          </a:p>
        </p:txBody>
      </p:sp>
      <p:sp>
        <p:nvSpPr>
          <p:cNvPr id="7" name="Text 5"/>
          <p:cNvSpPr/>
          <p:nvPr/>
        </p:nvSpPr>
        <p:spPr>
          <a:xfrm>
            <a:off x="466344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-ous/-eous Adjectives “full of”</a:t>
            </a:r>
            <a:endParaRPr lang="en-US" sz="1300" dirty="0"/>
          </a:p>
        </p:txBody>
      </p:sp>
      <p:sp>
        <p:nvSpPr>
          <p:cNvPr id="8" name="Text 6"/>
          <p:cNvSpPr/>
          <p:nvPr/>
        </p:nvSpPr>
        <p:spPr>
          <a:xfrm>
            <a:off x="466344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erroneous  ·  hazardous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SWYK: Identify and Add Phrases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Show What You Know — prepositional phrases</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worked on his corrections throughout the night.” — How many prepositional phrases?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One: “on his corrections”   /   Two: “on his corrections” AND “throughout the night”</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“In Salem, Nat began his systematic work on the navigation tables.” What does “In Salem” add?</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It tells where the action happened (setting)   /   It tells when the action happened (time)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SWYK: Identify and Add Phrases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Show What You Know — prepositional phrases</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worked on his corrections throughout the night.” — How many prepositional phrases?
</a:t>
            </a:r>
            <a:pPr indent="0" marL="0">
              <a:buNone/>
            </a:pPr>
            <a:r>
              <a:rPr lang="en-US" sz="1200" b="1" dirty="0">
                <a:solidFill>
                  <a:srgbClr val="34B76F"/>
                </a:solidFill>
                <a:latin typeface="Calibri" pitchFamily="34" charset="0"/>
                <a:ea typeface="Calibri" pitchFamily="34" charset="-122"/>
                <a:cs typeface="Calibri" pitchFamily="34" charset="-120"/>
              </a:rPr>
              <a:t>✅ Two: “on his corrections” AND “throughout the night”</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“In Salem, Nat began his systematic work on the navigation tables.” What does “In Salem” add?
</a:t>
            </a:r>
            <a:pPr indent="0" marL="0">
              <a:buNone/>
            </a:pPr>
            <a:r>
              <a:rPr lang="en-US" sz="1200" b="1" dirty="0">
                <a:solidFill>
                  <a:srgbClr val="34B76F"/>
                </a:solidFill>
                <a:latin typeface="Calibri" pitchFamily="34" charset="0"/>
                <a:ea typeface="Calibri" pitchFamily="34" charset="-122"/>
                <a:cs typeface="Calibri" pitchFamily="34" charset="-120"/>
              </a:rPr>
              <a:t>✅ It tells where the action happened (setting)</a:t>
            </a:r>
            <a:endParaRPr lang="en-US" sz="1200" dirty="0"/>
          </a:p>
        </p:txBody>
      </p:sp>
      <p:sp>
        <p:nvSpPr>
          <p:cNvPr id="11" name="Shape 9"/>
          <p:cNvSpPr/>
          <p:nvPr/>
        </p:nvSpPr>
        <p:spPr>
          <a:xfrm>
            <a:off x="365760" y="2624328"/>
            <a:ext cx="8412480" cy="685800"/>
          </a:xfrm>
          <a:prstGeom prst="roundRect">
            <a:avLst>
              <a:gd name="adj" fmla="val 13333"/>
            </a:avLst>
          </a:prstGeom>
          <a:solidFill>
            <a:srgbClr val="FEF6E8"/>
          </a:solidFill>
          <a:ln w="12700">
            <a:solidFill>
              <a:srgbClr val="C7922C"/>
            </a:solidFill>
            <a:prstDash val="solid"/>
          </a:ln>
        </p:spPr>
      </p:sp>
      <p:sp>
        <p:nvSpPr>
          <p:cNvPr id="12" name="Text 10"/>
          <p:cNvSpPr/>
          <p:nvPr/>
        </p:nvSpPr>
        <p:spPr>
          <a:xfrm>
            <a:off x="548640" y="2679192"/>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Grammar
</a:t>
            </a:r>
            <a:pPr indent="0" marL="0">
              <a:buNone/>
            </a:pPr>
            <a:r>
              <a:rPr lang="en-US" sz="1000" i="1" dirty="0">
                <a:solidFill>
                  <a:srgbClr val="1E293B"/>
                </a:solidFill>
                <a:latin typeface="Calibri" pitchFamily="34" charset="0"/>
                <a:ea typeface="Calibri" pitchFamily="34" charset="-122"/>
                <a:cs typeface="Calibri" pitchFamily="34" charset="-120"/>
              </a:rPr>
              <a:t>Take this bare expository sentence about Nat and expand it by adding at least two prepositional phrases. Then identify each phrase and what question it answers (where? when? how? with what?).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Identify the Correct -ous Spelling</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Identify — -ous, -ious, or -eous?</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word courag_ous : which ending is correct?
</a:t>
            </a:r>
            <a:pPr indent="0" marL="0">
              <a:buNone/>
            </a:pPr>
            <a:r>
              <a:rPr lang="en-US" sz="1150" b="1" dirty="0">
                <a:solidFill>
                  <a:srgbClr val="34B76F"/>
                </a:solidFill>
                <a:latin typeface="Calibri" pitchFamily="34" charset="0"/>
                <a:ea typeface="Calibri" pitchFamily="34" charset="-122"/>
                <a:cs typeface="Calibri" pitchFamily="34" charset="-120"/>
              </a:rPr>
              <a:t>✅ -eous → courageous (keep e to preserve soft /j/ in g )</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word ambit_ous : which ending?
</a:t>
            </a:r>
            <a:pPr indent="0" marL="0">
              <a:buNone/>
            </a:pPr>
            <a:r>
              <a:rPr lang="en-US" sz="1150" b="1" dirty="0">
                <a:solidFill>
                  <a:srgbClr val="34B76F"/>
                </a:solidFill>
                <a:latin typeface="Calibri" pitchFamily="34" charset="0"/>
                <a:ea typeface="Calibri" pitchFamily="34" charset="-122"/>
                <a:cs typeface="Calibri" pitchFamily="34" charset="-120"/>
              </a:rPr>
              <a:t>✅ -ious → ambitious (base ends in a soft sound, uses -ious)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12 — Chapter 14 — Nineteen Guns</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14 — Nineteen Guns</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How does the setting of Salem — society, reputation, community — shape what Nat does with his discovery about Moore’s Navigator? Is conflict still present here, or does it shift?</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What does “Nineteen Guns” signify? What is being honored, and why does that matter to the story?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Chapter 14 is titled “Nineteen Guns.” Explain the significance of the nineteen-gun salute in the context of Nat’s personal journey. The salute is for the captain, not for Nat — yet it matters to him. Why?</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In Chapter 13, Nat faced one type of conflict (discovering errors). In Chapter 14, he faces a new type of conflict in Salem. Describe how the conflict changes when the setting shifts from sea to shore. What new tensions appear?</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How does Chapter 14 develop Nat’s character beyond his mathematical abilities? What personal qualities — beyond intelligence — does this chapter reveal?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DRAFT  ·  Build Body Section 2 evidence</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Your Body 2 is open. Now fill it with the F+E+S evidence you planned. Today you write the main evidence for your second body section.</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notes: Moore’s errors — hundreds of them. Sailors dying because of bad math. Nat corrects them all.</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F+E+S: Fact: In Chapter 13, while working as supercargo on the Henry, Bowditch discovered that Moore’s Navigator — the book all sailors trusted — contained hundreds of erroneous calculations that could lead ships onto reefs. Explanation: He did not report this to someone else or write it in a complaint; he corrected every single one himself, eventually amassing over 8,000 corrections. Significance: This was not self-promotion — it was a gift to every sailor who would ever navigate by those tables, most of whom would never know his name.</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significance sentence is the most important one. It answers the reader’s unspoken question: “So what?” The answer connects directly back to the claim (knowledge accessible to everyone).</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F+E+S BUILDER (BODY 2)</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Build your Body 2 evidence using the same four-part structure.</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Body 2 F+E+S evidence: Fact (specific event + chapter) → Explanation → Significance.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