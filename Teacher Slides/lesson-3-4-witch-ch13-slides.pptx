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4,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Does the person who understands you best always offer you what you need?
Reading: I will make connections with Ch. 13 and answer comprehension questions.
Grammar: I will explain the importance of dialogue punctuation and paragraphing.
Spelling: I will utilize schwa and reduced vowels in a challenge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eaton told kit that shakespeare should of gone on with the tempest story"
Corrected: "Nat Eaton told Kit that Shakespeare should have gone on with The Tempest story."
Compare with the model: names are capitalized (Nat Eaton, Kit, Shakespeare), “should have” not “should of,” and The Tempest is a book title (italicized or underlined). The sentence needs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eaton told kit that shakespeare should of gone on with the tempest story"
Corrected: "Nat Eaton told Kit that Shakespeare should have gone on with The Tempest story."
Compare with the model: names are capitalized (Nat Eaton, Kit, Shakespeare), “should have” not “should of,” and The Tempest is a book title (italicized or underlined). The sentence needs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Schwa &amp; Reduced Vowels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13 — Nat, Kit, and Shakespeare at Hannah’s cottage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3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13 — Nat, Kit, and Shakespeare at Hannah's</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Does the person who understands you best always offer you what you need?</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 13 and answer comprehension questions.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the importance of dialogue punctuation and paragraphing.</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utilize schwa and reduced vowels in a challenge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As you finish this week’s reading, think about how Kit has changed since Chapter 9. She started the week failing at the dame school. She ends it with a secret friendship, a student, and two very different young men paying attention to her. What do these events reveal about who Kit really is?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has Kit learned about herself through the events of Chapters 9–13?</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 Kit’s relationships with Nat and William reveal different sides of who she 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Hannah watched Kit and Nat talking and smiled because she knew they were becoming friends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Hannah  </a:t>
            </a:r>
            <a:pPr indent="0" marL="0">
              <a:buNone/>
            </a:pPr>
            <a:r>
              <a:rPr lang="en-US" sz="1200" dirty="0">
                <a:solidFill>
                  <a:srgbClr val="1E293B"/>
                </a:solidFill>
                <a:latin typeface="Calibri" pitchFamily="34" charset="0"/>
                <a:ea typeface="Calibri" pitchFamily="34" charset="-122"/>
                <a:cs typeface="Calibri" pitchFamily="34" charset="-120"/>
              </a:rPr>
              <a:t>"Hannah" is a name, so it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Kit  </a:t>
            </a:r>
            <a:pPr indent="0" marL="0">
              <a:buNone/>
            </a:pPr>
            <a:r>
              <a:rPr lang="en-US" sz="1200" dirty="0">
                <a:solidFill>
                  <a:srgbClr val="1E293B"/>
                </a:solidFill>
                <a:latin typeface="Calibri" pitchFamily="34" charset="0"/>
                <a:ea typeface="Calibri" pitchFamily="34" charset="-122"/>
                <a:cs typeface="Calibri" pitchFamily="34" charset="-120"/>
              </a:rPr>
              <a:t>"Kit" is a name, so it starts with a capital letter.</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Nat  </a:t>
            </a:r>
            <a:pPr indent="0" marL="0">
              <a:buNone/>
            </a:pPr>
            <a:r>
              <a:rPr lang="en-US" sz="1200" dirty="0">
                <a:solidFill>
                  <a:srgbClr val="1E293B"/>
                </a:solidFill>
                <a:latin typeface="Calibri" pitchFamily="34" charset="0"/>
                <a:ea typeface="Calibri" pitchFamily="34" charset="-122"/>
                <a:cs typeface="Calibri" pitchFamily="34" charset="-120"/>
              </a:rPr>
              <a:t>"Nat" is a name, so it starts with a capital letter.</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knew  </a:t>
            </a:r>
            <a:pPr indent="0" marL="0">
              <a:buNone/>
            </a:pPr>
            <a:r>
              <a:rPr lang="en-US" sz="1200" dirty="0">
                <a:solidFill>
                  <a:srgbClr val="1E293B"/>
                </a:solidFill>
                <a:latin typeface="Calibri" pitchFamily="34" charset="0"/>
                <a:ea typeface="Calibri" pitchFamily="34" charset="-122"/>
                <a:cs typeface="Calibri" pitchFamily="34" charset="-120"/>
              </a:rPr>
              <a:t>"Knew" is the correct past tense of "know." It sounds like "new" but is spelled differently.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nat eaton told kit that shakespeare should of gone on with the tempest story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nat eaton told kit that shakespeare should of gone on with the tempest story</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Nat Eaton told Kit that Shakespeare should have gone on with The Tempest story.</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names are capitalized (Nat Eaton, Kit, Shakespeare), “should have” not “should of,” and The Tempest is a book title (italicized or underlined). The sentence needs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Exiled</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Edna St. Vincent Millay</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Searching my heart for its true sorrow,</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This is the thing I find to be: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That I am weary of words and people,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Sick of the city, wanting the sea;</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Wanting the sticky, salty sweetness</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Of the strong wind and shattered spray;</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Wanting the loud sound and the soft sound</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Of the big surf that breaks all day.</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Kit feels caught between two worlds — Barbados and Connecticut. How does this poem help you understand what it feels like to not quite belong anywhere?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understands the real Kit better — Nat or William? Defend your answer with evidence from Chapters 9–13. Someone might disagree and say William offers Kit something Nat can't — security.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 understands the real Kit better — Nat or William? Defend your answer with evidence from Chapters 9–13. Someone might disagree and say William offers Kit something Nat can't — security.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-ive / -ative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create → creative (having the quality of creating) | imagine → imaginative (tending to imagine) | act → active (tending to act) | perceive → perceptive (having the quality of perceiving)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from Chapters 9–13</a:t>
            </a:r>
            <a:endParaRPr lang="en-US" sz="1100" dirty="0"/>
          </a:p>
        </p:txBody>
      </p:sp>
      <p:sp>
        <p:nvSpPr>
          <p:cNvPr id="5" name="Text 3"/>
          <p:cNvSpPr/>
          <p:nvPr/>
        </p:nvSpPr>
        <p:spPr>
          <a:xfrm>
            <a:off x="365760" y="1097280"/>
            <a:ext cx="84124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Words: hornbook, primer, improvise, contagious, banished, kinship, refuge, perceive</a:t>
            </a:r>
            <a:endParaRPr lang="en-US" sz="1200" dirty="0"/>
          </a:p>
        </p:txBody>
      </p:sp>
      <p:sp>
        <p:nvSpPr>
          <p:cNvPr id="6" name="Shape 4"/>
          <p:cNvSpPr/>
          <p:nvPr/>
        </p:nvSpPr>
        <p:spPr>
          <a:xfrm>
            <a:off x="365760" y="15544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00200"/>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Write 3 sentences using 3 different vocabulary words. Show you understand each word's meaning.</a:t>
            </a:r>
            <a:endParaRPr lang="en-US" sz="1100" dirty="0"/>
          </a:p>
        </p:txBody>
      </p:sp>
      <p:sp>
        <p:nvSpPr>
          <p:cNvPr id="8" name="Shape 6"/>
          <p:cNvSpPr/>
          <p:nvPr/>
        </p:nvSpPr>
        <p:spPr>
          <a:xfrm>
            <a:off x="365760" y="2066544"/>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12264"/>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Create a word web connecting 3 vocabulary words to the novel. Explain how the words connect to characters or events.</a:t>
            </a:r>
            <a:endParaRPr lang="en-US" sz="1100" dirty="0"/>
          </a:p>
        </p:txBody>
      </p:sp>
      <p:sp>
        <p:nvSpPr>
          <p:cNvPr id="10" name="Shape 8"/>
          <p:cNvSpPr/>
          <p:nvPr/>
        </p:nvSpPr>
        <p:spPr>
          <a:xfrm>
            <a:off x="365760" y="2578608"/>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624328"/>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Write a paragraph using 4 or more vocabulary words. The paragraph should connect to something from the novel.</a:t>
            </a:r>
            <a:endParaRPr lang="en-US" sz="1100" dirty="0"/>
          </a:p>
        </p:txBody>
      </p:sp>
      <p:sp>
        <p:nvSpPr>
          <p:cNvPr id="12" name="Shape 10"/>
          <p:cNvSpPr/>
          <p:nvPr/>
        </p:nvSpPr>
        <p:spPr>
          <a:xfrm>
            <a:off x="365760" y="3090672"/>
            <a:ext cx="8412480" cy="457200"/>
          </a:xfrm>
          <a:prstGeom prst="roundRect">
            <a:avLst>
              <a:gd name="adj" fmla="val 20000"/>
            </a:avLst>
          </a:prstGeom>
          <a:solidFill>
            <a:srgbClr val="EAF6FA"/>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36392"/>
            <a:ext cx="8046720" cy="3657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Describe a scene from this week’s reading that illustrates 2 vocabulary words. Explain how each word fits the scene.</a:t>
            </a:r>
            <a:endParaRPr lang="en-US" sz="1100" dirty="0"/>
          </a:p>
        </p:txBody>
      </p:sp>
      <p:sp>
        <p:nvSpPr>
          <p:cNvPr id="14" name="Shape 12"/>
          <p:cNvSpPr/>
          <p:nvPr/>
        </p:nvSpPr>
        <p:spPr>
          <a:xfrm>
            <a:off x="365760" y="3648456"/>
            <a:ext cx="8412480" cy="640080"/>
          </a:xfrm>
          <a:prstGeom prst="roundRect">
            <a:avLst>
              <a:gd name="adj" fmla="val 14286"/>
            </a:avLst>
          </a:prstGeom>
          <a:solidFill>
            <a:srgbClr val="FEF6E8"/>
          </a:solidFill>
          <a:ln w="12700">
            <a:solidFill>
              <a:srgbClr val="C7922C"/>
            </a:solidFill>
            <a:prstDash val="solid"/>
          </a:ln>
        </p:spPr>
      </p:sp>
      <p:sp>
        <p:nvSpPr>
          <p:cNvPr id="15" name="Text 13"/>
          <p:cNvSpPr/>
          <p:nvPr/>
        </p:nvSpPr>
        <p:spPr>
          <a:xfrm>
            <a:off x="548640" y="3694176"/>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00" i="1" dirty="0">
                <a:solidFill>
                  <a:srgbClr val="1E293B"/>
                </a:solidFill>
                <a:latin typeface="Calibri" pitchFamily="34" charset="0"/>
                <a:ea typeface="Calibri" pitchFamily="34" charset="-122"/>
                <a:cs typeface="Calibri" pitchFamily="34" charset="-120"/>
              </a:rPr>
              <a:t>Choose ONE activity from the board. Then write your response in the box below.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importance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Well-punctuated: “Shakespeare should have gone on with the story,” Nat said. “He didn’t tell what happened when that young prince took her back to England.” The quotation marks show exactly what Nat says. The comma before the dialogue tag keeps the sentence flowing. A new paragraph would start when Kit replies.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Nat said I'd like to take you back to the islands.   /   “I’d like to take you back to the islands,” Nat said.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Hannah smiled. “Go with your friend, child,” she said softly.   /   Hannah smiled, go with your friend child she said softly.</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100" dirty="0">
                <a:solidFill>
                  <a:srgbClr val="64748B"/>
                </a:solidFill>
                <a:latin typeface="Calibri" pitchFamily="34" charset="0"/>
                <a:ea typeface="Calibri" pitchFamily="34" charset="-122"/>
                <a:cs typeface="Calibri" pitchFamily="34" charset="-120"/>
              </a:rPr>
              <a:t>Kit asked do you believe in witches Judith.   /   “Do you believe in witches, Judith?” Kit asked.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the importance</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Well-punctuated: “Shakespeare should have gone on with the story,” Nat said. “He didn’t tell what happened when that young prince took her back to England.” The quotation marks show exactly what Nat says. The comma before the dialogue tag keeps the sentence flowing. A new paragraph would start when Kit replies.</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“I’d like to take you back to the islands,” Nat said.</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Hannah smiled. “Go with your friend, child,” she said softly.</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is correct?
</a:t>
            </a:r>
            <a:pPr indent="0" marL="0">
              <a:buNone/>
            </a:pPr>
            <a:r>
              <a:rPr lang="en-US" sz="1200" b="1" dirty="0">
                <a:solidFill>
                  <a:srgbClr val="34B76F"/>
                </a:solidFill>
                <a:latin typeface="Calibri" pitchFamily="34" charset="0"/>
                <a:ea typeface="Calibri" pitchFamily="34" charset="-122"/>
                <a:cs typeface="Calibri" pitchFamily="34" charset="-120"/>
              </a:rPr>
              <a:t>✅ “Do you believe in witches, Judith?” Kit asked.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Schwa &amp; Reduced Vowels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Challenge — find the tricky vowel</a:t>
            </a:r>
            <a:endParaRPr lang="en-US" sz="1100" dirty="0"/>
          </a:p>
        </p:txBody>
      </p:sp>
      <p:sp>
        <p:nvSpPr>
          <p:cNvPr id="7" name="Shape 5"/>
          <p:cNvSpPr/>
          <p:nvPr/>
        </p:nvSpPr>
        <p:spPr>
          <a:xfrm>
            <a:off x="365760" y="1143000"/>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97864"/>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prim_r
</a:t>
            </a:r>
            <a:pPr indent="0" marL="0">
              <a:buNone/>
            </a:pPr>
            <a:r>
              <a:rPr lang="en-US" sz="1100" i="1" dirty="0">
                <a:solidFill>
                  <a:srgbClr val="64748B"/>
                </a:solidFill>
                <a:latin typeface="Calibri" pitchFamily="34" charset="0"/>
                <a:ea typeface="Calibri" pitchFamily="34" charset="-122"/>
                <a:cs typeface="Calibri" pitchFamily="34" charset="-120"/>
              </a:rPr>
              <a:t>primer   ((e makes the schwa sound in the second syllable — PRIM-er))</a:t>
            </a:r>
            <a:endParaRPr lang="en-US" sz="1400" dirty="0"/>
          </a:p>
        </p:txBody>
      </p:sp>
      <p:sp>
        <p:nvSpPr>
          <p:cNvPr id="9" name="Shape 7"/>
          <p:cNvSpPr/>
          <p:nvPr/>
        </p:nvSpPr>
        <p:spPr>
          <a:xfrm>
            <a:off x="365760" y="1901952"/>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1956816"/>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ref_ge
</a:t>
            </a:r>
            <a:pPr indent="0" marL="0">
              <a:buNone/>
            </a:pPr>
            <a:r>
              <a:rPr lang="en-US" sz="1100" i="1" dirty="0">
                <a:solidFill>
                  <a:srgbClr val="64748B"/>
                </a:solidFill>
                <a:latin typeface="Calibri" pitchFamily="34" charset="0"/>
                <a:ea typeface="Calibri" pitchFamily="34" charset="-122"/>
                <a:cs typeface="Calibri" pitchFamily="34" charset="-120"/>
              </a:rPr>
              <a:t>refuge   ((u makes the schwa-like reduced vowel — REF-yooj))</a:t>
            </a:r>
            <a:endParaRPr lang="en-US" sz="1400" dirty="0"/>
          </a:p>
        </p:txBody>
      </p:sp>
      <p:sp>
        <p:nvSpPr>
          <p:cNvPr id="11" name="Shape 9"/>
          <p:cNvSpPr/>
          <p:nvPr/>
        </p:nvSpPr>
        <p:spPr>
          <a:xfrm>
            <a:off x="365760" y="2660904"/>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15768"/>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cont_gious
</a:t>
            </a:r>
            <a:pPr indent="0" marL="0">
              <a:buNone/>
            </a:pPr>
            <a:r>
              <a:rPr lang="en-US" sz="1100" i="1" dirty="0">
                <a:solidFill>
                  <a:srgbClr val="64748B"/>
                </a:solidFill>
                <a:latin typeface="Calibri" pitchFamily="34" charset="0"/>
                <a:ea typeface="Calibri" pitchFamily="34" charset="-122"/>
                <a:cs typeface="Calibri" pitchFamily="34" charset="-120"/>
              </a:rPr>
              <a:t>contagious   ((a makes the reduced vowel sound in the second syllable — con-TAY-jus))</a:t>
            </a:r>
            <a:endParaRPr lang="en-US" sz="1400" dirty="0"/>
          </a:p>
        </p:txBody>
      </p:sp>
      <p:sp>
        <p:nvSpPr>
          <p:cNvPr id="13" name="Shape 11"/>
          <p:cNvSpPr/>
          <p:nvPr/>
        </p:nvSpPr>
        <p:spPr>
          <a:xfrm>
            <a:off x="365760" y="3419856"/>
            <a:ext cx="8412480" cy="685800"/>
          </a:xfrm>
          <a:prstGeom prst="roundRect">
            <a:avLst>
              <a:gd name="adj" fmla="val 13333"/>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74720"/>
            <a:ext cx="8046720" cy="57607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perc_ive
</a:t>
            </a:r>
            <a:pPr indent="0" marL="0">
              <a:buNone/>
            </a:pPr>
            <a:r>
              <a:rPr lang="en-US" sz="1100" i="1" dirty="0">
                <a:solidFill>
                  <a:srgbClr val="64748B"/>
                </a:solidFill>
                <a:latin typeface="Calibri" pitchFamily="34" charset="0"/>
                <a:ea typeface="Calibri" pitchFamily="34" charset="-122"/>
                <a:cs typeface="Calibri" pitchFamily="34" charset="-120"/>
              </a:rPr>
              <a:t>perceive   ((e fills the blank — per-SEEV; remember “i before e except after 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13 — Nat, Kit, and Shakespeare at Hannah’s cottage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13 — Nat, Kit, and Shakespeare at Hannah's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has Kit learned about herself through the events of Chapters 9–13?</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do Kit’s relationships with Nat and William reveal different sides of who she is?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How does Nat understand Kit differently than William does? Give a specific example from this chapter.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Why is Kit both attracted to and hurt by what Nat says about her not being “the Puritan type”?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Cross-Week Question: Think about Kit’s journey from Chapter 9 to Chapter 13. How do the events of this week — the dame school, Hannah, Prudence, and Nat — reveal who Kit really is? Use at least two specific examples.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Nat compares Kit to a character in The Tempest . William offers her a house. Write 3–4 sentences explaining which man understands Kit better and why. Use evidence from this week’s reading.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