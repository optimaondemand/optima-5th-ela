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8, Day 2, Chapter 10 — ‘Disperse, Ye Rebels!’.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What happens when talent becomes pride—and pride blinds you to warnings that could save you?
Reading: I will identify how the author builds toward a turning point through warnings, character choices, and foreshadowing.
Grammar: I will identify appositives in sentences from the novel.
Spelling: I will sort words by root pattern—dict vs. scrib/script.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
Corrected: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
Corrected: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optional routine — use it if time allows. 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this detail necessary, or can I cut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Practice only today — not the graded strand.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Sort or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Possessives vs. Plurals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Johnny’s Path Through Johnny Tremain — 📍 You are here: Chapter 10 — ‘Disperse, Ye Rebels!’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argument-writing arc. Stage: Reasons. Focus: Learn what REASONS are—the “because” statements that support your claim.
Prompt: Write TWO reasons that support your claim. Use the “because test.” Write two reasons. Each should answer “why” your claim is true. Use the because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1A1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C7922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C7922C"/>
                </a:solidFill>
                <a:latin typeface="Calibri" pitchFamily="34" charset="0"/>
                <a:ea typeface="Calibri" pitchFamily="34" charset="-122"/>
                <a:cs typeface="Calibri" pitchFamily="34" charset="-120"/>
              </a:rPr>
              <a:t>WEEK 8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Johnny Tremain</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10 — ‘Disperse, Ye Rebels!’</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8  ·  Virtue: Integrity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What happens when talent becomes pride—and pride blinds you to warnings that could save you?</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identify how the author builds toward a turning point through warnings, character choices, and foreshadowing.</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identify appositives in sentences from the novel.</a:t>
            </a:r>
            <a:endParaRPr lang="en-US" sz="1600" dirty="0"/>
          </a:p>
        </p:txBody>
      </p:sp>
      <p:sp>
        <p:nvSpPr>
          <p:cNvPr id="12" name="Shape 10"/>
          <p:cNvSpPr/>
          <p:nvPr/>
        </p:nvSpPr>
        <p:spPr>
          <a:xfrm>
            <a:off x="365760" y="39319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02336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Spelling: </a:t>
            </a:r>
            <a:pPr indent="0" marL="0">
              <a:buNone/>
            </a:pPr>
            <a:r>
              <a:rPr lang="en-US" sz="1400" dirty="0">
                <a:solidFill>
                  <a:srgbClr val="1E293B"/>
                </a:solidFill>
                <a:latin typeface="Calibri" pitchFamily="34" charset="0"/>
                <a:ea typeface="Calibri" pitchFamily="34" charset="-122"/>
                <a:cs typeface="Calibri" pitchFamily="34" charset="-120"/>
              </a:rPr>
              <a:t>I will sort words by root pattern—dict vs. scrib/script.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track how an author builds toward a turning point. Today, pay attention to the warnings Johnny receives. Ask yourself: Who tries to warn Johnny? Does he listen? What signals does the author give that something is about to go wrong?</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Mr. Lapham warns Johnny directly about his pride. How does Johnny respond? What does his response tell you?</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Before the accident, what small clues does the author plant that something terrible is about to happen?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Doctor Warren’s horse waited outside while the soldiers’ boots rang on the cobblestones.</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Doctor Warren’s  </a:t>
            </a:r>
            <a:pPr indent="0" marL="0">
              <a:buNone/>
            </a:pPr>
            <a:r>
              <a:rPr lang="en-US" sz="1200" dirty="0">
                <a:solidFill>
                  <a:srgbClr val="1E293B"/>
                </a:solidFill>
                <a:latin typeface="Calibri" pitchFamily="34" charset="0"/>
                <a:ea typeface="Calibri" pitchFamily="34" charset="-122"/>
                <a:cs typeface="Calibri" pitchFamily="34" charset="-120"/>
              </a:rPr>
              <a:t>“Warren’s”: singular possessive. One person (Warren) owns the horse. Rule: singular noun + ’s.</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soldiers’  </a:t>
            </a:r>
            <a:pPr indent="0" marL="0">
              <a:buNone/>
            </a:pPr>
            <a:r>
              <a:rPr lang="en-US" sz="1200" dirty="0">
                <a:solidFill>
                  <a:srgbClr val="1E293B"/>
                </a:solidFill>
                <a:latin typeface="Calibri" pitchFamily="34" charset="0"/>
                <a:ea typeface="Calibri" pitchFamily="34" charset="-122"/>
                <a:cs typeface="Calibri" pitchFamily="34" charset="-120"/>
              </a:rPr>
              <a:t>“soldiers’”: plural possessive. Many soldiers own the boots. Rule: plural noun ending in -s + ’ only.</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cobblestones.  </a:t>
            </a:r>
            <a:pPr indent="0" marL="0">
              <a:buNone/>
            </a:pPr>
            <a:r>
              <a:rPr lang="en-US" sz="1200" dirty="0">
                <a:solidFill>
                  <a:srgbClr val="1E293B"/>
                </a:solidFill>
                <a:latin typeface="Calibri" pitchFamily="34" charset="0"/>
                <a:ea typeface="Calibri" pitchFamily="34" charset="-122"/>
                <a:cs typeface="Calibri" pitchFamily="34" charset="-120"/>
              </a:rPr>
              <a:t>“cobblestones” is just a plural noun, not a possessive. No apostrophe needed.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423160"/>
          </a:xfrm>
          <a:prstGeom prst="roundRect">
            <a:avLst>
              <a:gd name="adj" fmla="val 3774"/>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Paul Revere’s Ride (stanzas from the ride)</a:t>
            </a:r>
            <a:endParaRPr lang="en-US" sz="20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Henry Wadsworth Longfellow</a:t>
            </a:r>
            <a:endParaRPr lang="en-US" sz="1300" dirty="0"/>
          </a:p>
        </p:txBody>
      </p:sp>
      <p:sp>
        <p:nvSpPr>
          <p:cNvPr id="7" name="Text 5"/>
          <p:cNvSpPr/>
          <p:nvPr/>
        </p:nvSpPr>
        <p:spPr>
          <a:xfrm>
            <a:off x="594360" y="1645920"/>
            <a:ext cx="7955280" cy="1554480"/>
          </a:xfrm>
          <a:prstGeom prst="rect">
            <a:avLst/>
          </a:prstGeom>
          <a:noFill/>
          <a:ln/>
        </p:spPr>
        <p:txBody>
          <a:bodyPr wrap="square" lIns="0" tIns="0" rIns="0" bIns="0" rtlCol="0" anchor="t"/>
          <a:lstStyle/>
          <a:p>
            <a:pPr indent="0" marL="0">
              <a:buNone/>
            </a:pPr>
            <a:r>
              <a:rPr lang="en-US" sz="1600" i="1" dirty="0">
                <a:solidFill>
                  <a:srgbClr val="1E293B"/>
                </a:solidFill>
                <a:latin typeface="Georgia" pitchFamily="34" charset="0"/>
                <a:ea typeface="Georgia" pitchFamily="34" charset="-122"/>
                <a:cs typeface="Georgia" pitchFamily="34" charset="-120"/>
              </a:rPr>
              <a:t>It was twelve by the village clock</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When he crossed the bridge into Medford town.</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He heard the crowing of the cock,</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And the barking of the farmer’s dog,</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And felt the damp of the river fog,</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That rises after the sun goes down.</a:t>
            </a:r>
            <a:endParaRPr lang="en-US" sz="1600" dirty="0"/>
          </a:p>
          <a:p>
            <a:pPr indent="0" marL="0">
              <a:buNone/>
            </a:pP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It was one by the village clock,</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When he galloped into Lexington.</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He saw the gilded weathercock</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Swim in the moonlight as he passed,</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And the meetinghouse windows, blank and bare,</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Gaze at him with a spectral glare,</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As if they already stood aghast</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At the bloody work they would look upon.</a:t>
            </a:r>
            <a:endParaRPr lang="en-US" sz="1600" dirty="0"/>
          </a:p>
        </p:txBody>
      </p:sp>
      <p:sp>
        <p:nvSpPr>
          <p:cNvPr id="8" name="Text 6"/>
          <p:cNvSpPr/>
          <p:nvPr/>
        </p:nvSpPr>
        <p:spPr>
          <a:xfrm>
            <a:off x="365760" y="34290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685032"/>
            <a:ext cx="84124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776472"/>
            <a:ext cx="7955280" cy="73152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Longfellow marks the ride by the clock striking midnight, one, and two in the morning. Chapter 10 also tracks the clock precisely—the fourteenth, fifteenth, eighteenth of April. How does counting time create urgency in both the poem and the novel? What would be lost if we didn’t know exactly what hour it was?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Is it right for Doctor Warren and the Minute Men to prepare secretly for war, or should they have tried harder to avoid conflict? Defend your answer with evidence from Chapter 10. Someone might disagree and say the redcoats gave them no real choice. What would you say back?</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Is it right for Doctor Warren and the Minute Men to prepare secretly for war, or should they have tried harder to avoid conflict? Defend your answer with evidence from Chapter 10. Someone might disagree and say the redcoats gave them no real choice. What would you say back?</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this detail necessary, or can I cut it?</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dict &amp; scrib/script</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You know the meanings: sub- = under/below; inter- = between/among. | Now look for these prefixes in words connected to Chapter 10. Remember: the prefix comes first and changes the meaning of the base word. | From Chapter 10: Revere and Warren worked to inter cept British plans. Revere had to sub merge his true mission as he rowed past the Somerset in the dark. Billy Dawes inter acted with British soldiers, pretending to be drunk.</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Sort or Match</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Chapter 10 · Quick Match</a:t>
            </a:r>
            <a:endParaRPr lang="en-US" sz="1100" dirty="0"/>
          </a:p>
        </p:txBody>
      </p:sp>
      <p:sp>
        <p:nvSpPr>
          <p:cNvPr id="5" name="Shape 3"/>
          <p:cNvSpPr/>
          <p:nvPr/>
        </p:nvSpPr>
        <p:spPr>
          <a:xfrm>
            <a:off x="365760" y="1097280"/>
            <a:ext cx="8412480" cy="502920"/>
          </a:xfrm>
          <a:prstGeom prst="roundRect">
            <a:avLst>
              <a:gd name="adj" fmla="val 18182"/>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expedition  </a:t>
            </a:r>
            <a:pPr indent="0" marL="0">
              <a:buNone/>
            </a:pPr>
            <a:r>
              <a:rPr lang="en-US" sz="1100" dirty="0">
                <a:solidFill>
                  <a:srgbClr val="1E293B"/>
                </a:solidFill>
                <a:latin typeface="Calibri" pitchFamily="34" charset="0"/>
                <a:ea typeface="Calibri" pitchFamily="34" charset="-122"/>
                <a:cs typeface="Calibri" pitchFamily="34" charset="-120"/>
              </a:rPr>
              <a:t>a military journey or march toward a specific target</a:t>
            </a:r>
            <a:endParaRPr lang="en-US" sz="1300" dirty="0"/>
          </a:p>
        </p:txBody>
      </p:sp>
      <p:sp>
        <p:nvSpPr>
          <p:cNvPr id="7" name="Shape 5"/>
          <p:cNvSpPr/>
          <p:nvPr/>
        </p:nvSpPr>
        <p:spPr>
          <a:xfrm>
            <a:off x="365760" y="1664208"/>
            <a:ext cx="8412480" cy="502920"/>
          </a:xfrm>
          <a:prstGeom prst="roundRect">
            <a:avLst>
              <a:gd name="adj" fmla="val 18182"/>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09928"/>
            <a:ext cx="8046720" cy="4114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grenadier  </a:t>
            </a:r>
            <a:pPr indent="0" marL="0">
              <a:buNone/>
            </a:pPr>
            <a:r>
              <a:rPr lang="en-US" sz="1100" dirty="0">
                <a:solidFill>
                  <a:srgbClr val="1E293B"/>
                </a:solidFill>
                <a:latin typeface="Calibri" pitchFamily="34" charset="0"/>
                <a:ea typeface="Calibri" pitchFamily="34" charset="-122"/>
                <a:cs typeface="Calibri" pitchFamily="34" charset="-120"/>
              </a:rPr>
              <a:t>a soldier selected for strength, trained for difficult assignments</a:t>
            </a:r>
            <a:endParaRPr lang="en-US" sz="1300" dirty="0"/>
          </a:p>
        </p:txBody>
      </p:sp>
      <p:sp>
        <p:nvSpPr>
          <p:cNvPr id="9" name="Shape 7"/>
          <p:cNvSpPr/>
          <p:nvPr/>
        </p:nvSpPr>
        <p:spPr>
          <a:xfrm>
            <a:off x="365760" y="2231136"/>
            <a:ext cx="8412480" cy="502920"/>
          </a:xfrm>
          <a:prstGeom prst="roundRect">
            <a:avLst>
              <a:gd name="adj" fmla="val 18182"/>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76856"/>
            <a:ext cx="8046720" cy="4114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muster  </a:t>
            </a:r>
            <a:pPr indent="0" marL="0">
              <a:buNone/>
            </a:pPr>
            <a:r>
              <a:rPr lang="en-US" sz="1100" dirty="0">
                <a:solidFill>
                  <a:srgbClr val="1E293B"/>
                </a:solidFill>
                <a:latin typeface="Calibri" pitchFamily="34" charset="0"/>
                <a:ea typeface="Calibri" pitchFamily="34" charset="-122"/>
                <a:cs typeface="Calibri" pitchFamily="34" charset="-120"/>
              </a:rPr>
              <a:t>to gather or assemble troops for duty or battle</a:t>
            </a:r>
            <a:endParaRPr lang="en-US" sz="1300" dirty="0"/>
          </a:p>
        </p:txBody>
      </p:sp>
      <p:sp>
        <p:nvSpPr>
          <p:cNvPr id="11" name="Shape 9"/>
          <p:cNvSpPr/>
          <p:nvPr/>
        </p:nvSpPr>
        <p:spPr>
          <a:xfrm>
            <a:off x="365760" y="2798064"/>
            <a:ext cx="8412480" cy="502920"/>
          </a:xfrm>
          <a:prstGeom prst="roundRect">
            <a:avLst>
              <a:gd name="adj" fmla="val 18182"/>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43784"/>
            <a:ext cx="8046720" cy="4114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contraband  </a:t>
            </a:r>
            <a:pPr indent="0" marL="0">
              <a:buNone/>
            </a:pPr>
            <a:r>
              <a:rPr lang="en-US" sz="1100" dirty="0">
                <a:solidFill>
                  <a:srgbClr val="1E293B"/>
                </a:solidFill>
                <a:latin typeface="Calibri" pitchFamily="34" charset="0"/>
                <a:ea typeface="Calibri" pitchFamily="34" charset="-122"/>
                <a:cs typeface="Calibri" pitchFamily="34" charset="-120"/>
              </a:rPr>
              <a:t>goods transported or smuggled against official orders</a:t>
            </a:r>
            <a:endParaRPr lang="en-US" sz="1300" dirty="0"/>
          </a:p>
        </p:txBody>
      </p:sp>
      <p:sp>
        <p:nvSpPr>
          <p:cNvPr id="13" name="Shape 11"/>
          <p:cNvSpPr/>
          <p:nvPr/>
        </p:nvSpPr>
        <p:spPr>
          <a:xfrm>
            <a:off x="365760" y="3364992"/>
            <a:ext cx="8412480" cy="502920"/>
          </a:xfrm>
          <a:prstGeom prst="roundRect">
            <a:avLst>
              <a:gd name="adj" fmla="val 18182"/>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410712"/>
            <a:ext cx="8046720" cy="4114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sortie  </a:t>
            </a:r>
            <a:pPr indent="0" marL="0">
              <a:buNone/>
            </a:pPr>
            <a:r>
              <a:rPr lang="en-US" sz="1100" dirty="0">
                <a:solidFill>
                  <a:srgbClr val="1E293B"/>
                </a:solidFill>
                <a:latin typeface="Calibri" pitchFamily="34" charset="0"/>
                <a:ea typeface="Calibri" pitchFamily="34" charset="-122"/>
                <a:cs typeface="Calibri" pitchFamily="34" charset="-120"/>
              </a:rPr>
              <a:t>a military mission or armed attack launched from a defended position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Possessive Nouns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Identify · Spot possessives in Chapter 10 sentences</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Singular + ’s: Doctor Warren’s surgery • Colonel Smith’s orders Plural ending in -s + ’ only: the officers’ plans • the horses’ stalls Irregular plural + ’s: the men’s regiment • the women’s concerns From Chapter 10: “Doctor Warren’s horse waited outside while the soldiers’ boots rang on the cobblestones.”</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Doctor Warren’s horse waited patiently outside the surgery.</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soldiers and Colonel Smith’s officers boarded the boats at midnight.</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Minute Men answered the alarm’s call from across the countryside.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Possessive Nouns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Identify · Spot possessives in Chapter 10 sentences</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Singular + ’s: Doctor Warren’s surgery • Colonel Smith’s orders Plural ending in -s + ’ only: the officers’ plans • the horses’ stalls Irregular plural + ’s: the men’s regiment • the women’s concerns From Chapter 10: “Doctor Warren’s horse waited outside while the soldiers’ boots rang on the cobblestones.”</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Doctor Warren’s horse waited patiently outside the surgery.
</a:t>
            </a:r>
            <a:pPr indent="0" marL="0">
              <a:buNone/>
            </a:pPr>
            <a:r>
              <a:rPr lang="en-US" sz="1200" b="1" dirty="0">
                <a:solidFill>
                  <a:srgbClr val="34B76F"/>
                </a:solidFill>
                <a:latin typeface="Calibri" pitchFamily="34" charset="0"/>
                <a:ea typeface="Calibri" pitchFamily="34" charset="-122"/>
                <a:cs typeface="Calibri" pitchFamily="34" charset="-120"/>
              </a:rPr>
              <a:t>✅ Warren’s</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soldiers and Colonel Smith’s officers boarded the boats at midnight.
</a:t>
            </a:r>
            <a:pPr indent="0" marL="0">
              <a:buNone/>
            </a:pPr>
            <a:r>
              <a:rPr lang="en-US" sz="1200" b="1" dirty="0">
                <a:solidFill>
                  <a:srgbClr val="34B76F"/>
                </a:solidFill>
                <a:latin typeface="Calibri" pitchFamily="34" charset="0"/>
                <a:ea typeface="Calibri" pitchFamily="34" charset="-122"/>
                <a:cs typeface="Calibri" pitchFamily="34" charset="-120"/>
              </a:rPr>
              <a:t>✅ Colonel Smith’s</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Minute Men answered the alarm’s call from across the countryside.
</a:t>
            </a:r>
            <a:pPr indent="0" marL="0">
              <a:buNone/>
            </a:pPr>
            <a:r>
              <a:rPr lang="en-US" sz="1200" b="1" dirty="0">
                <a:solidFill>
                  <a:srgbClr val="34B76F"/>
                </a:solidFill>
                <a:latin typeface="Calibri" pitchFamily="34" charset="0"/>
                <a:ea typeface="Calibri" pitchFamily="34" charset="-122"/>
                <a:cs typeface="Calibri" pitchFamily="34" charset="-120"/>
              </a:rPr>
              <a:t>✅ alarm’s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 Spelling: Possessives vs. Plurals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Identify · Plural or possessive? The apostrophe tells you</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Possessive</a:t>
            </a:r>
            <a:endParaRPr lang="en-US" sz="1300" dirty="0"/>
          </a:p>
        </p:txBody>
      </p:sp>
      <p:sp>
        <p:nvSpPr>
          <p:cNvPr id="8" name="Text 6"/>
          <p:cNvSpPr/>
          <p:nvPr/>
        </p:nvSpPr>
        <p:spPr>
          <a:xfrm>
            <a:off x="36576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Revere’s  ·  Percy’s  ·  Dawes’s  ·  Warren’s</a:t>
            </a:r>
            <a:endParaRPr lang="en-US" sz="13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Plural</a:t>
            </a:r>
            <a:endParaRPr lang="en-US" sz="1300" dirty="0"/>
          </a:p>
        </p:txBody>
      </p:sp>
      <p:sp>
        <p:nvSpPr>
          <p:cNvPr id="10" name="Text 8"/>
          <p:cNvSpPr/>
          <p:nvPr/>
        </p:nvSpPr>
        <p:spPr>
          <a:xfrm>
            <a:off x="466344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lanterns  ·  grenadiers  ·  boats  ·  riders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Johnny’s Path Through Johnny Tremain — 📍 You are here: Chapter 10 — ‘Disperse, Ye Rebels!’</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10 — ‘Disperse, Ye Rebels!’</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Mr. Lapham warns Johnny directly about his pride. How does Johnny respond? What does his response tell you?</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Before the accident, what small clues does the author plant that something terrible is about to happen?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Why does Sam Adams want the tea destroyed rather than simply returned to England? What does his goal reveal about his true aims?</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Describe Paul Revere’s plan for warning Lexington. What could go wrong, and how does he prepare for those possibilities?</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When Rab says goodbye and leaves for Lexington, Johnny struggles to say the right thing and fails. What does this moment reveal about how Johnny has changed—and about the relationship between the two boys?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 Argument Writing</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THIS WEEK'S ARGUMENT-WRITING ARC</a:t>
            </a:r>
            <a:endParaRPr lang="en-US" sz="1100" dirty="0"/>
          </a:p>
        </p:txBody>
      </p:sp>
      <p:sp>
        <p:nvSpPr>
          <p:cNvPr id="5" name="Shape 3"/>
          <p:cNvSpPr/>
          <p:nvPr/>
        </p:nvSpPr>
        <p:spPr>
          <a:xfrm>
            <a:off x="365760" y="1115568"/>
            <a:ext cx="2029968" cy="502920"/>
          </a:xfrm>
          <a:prstGeom prst="roundRect">
            <a:avLst>
              <a:gd name="adj" fmla="val 14545"/>
            </a:avLst>
          </a:prstGeom>
          <a:solidFill>
            <a:srgbClr val="34B76F"/>
          </a:solidFill>
          <a:ln/>
        </p:spPr>
      </p:sp>
      <p:sp>
        <p:nvSpPr>
          <p:cNvPr id="6" name="Text 4"/>
          <p:cNvSpPr/>
          <p:nvPr/>
        </p:nvSpPr>
        <p:spPr>
          <a:xfrm>
            <a:off x="393192" y="1115568"/>
            <a:ext cx="1975104"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Reasons</a:t>
            </a:r>
            <a:endParaRPr lang="en-US" sz="950" dirty="0"/>
          </a:p>
        </p:txBody>
      </p:sp>
      <p:sp>
        <p:nvSpPr>
          <p:cNvPr id="7" name="Shape 5"/>
          <p:cNvSpPr/>
          <p:nvPr/>
        </p:nvSpPr>
        <p:spPr>
          <a:xfrm>
            <a:off x="2468880" y="1115568"/>
            <a:ext cx="2029968" cy="502920"/>
          </a:xfrm>
          <a:prstGeom prst="roundRect">
            <a:avLst>
              <a:gd name="adj" fmla="val 14545"/>
            </a:avLst>
          </a:prstGeom>
          <a:solidFill>
            <a:srgbClr val="F8FAFC"/>
          </a:solidFill>
          <a:ln/>
        </p:spPr>
      </p:sp>
      <p:sp>
        <p:nvSpPr>
          <p:cNvPr id="8" name="Text 6"/>
          <p:cNvSpPr/>
          <p:nvPr/>
        </p:nvSpPr>
        <p:spPr>
          <a:xfrm>
            <a:off x="249631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Evidence</a:t>
            </a:r>
            <a:endParaRPr lang="en-US" sz="950" dirty="0"/>
          </a:p>
        </p:txBody>
      </p:sp>
      <p:sp>
        <p:nvSpPr>
          <p:cNvPr id="9" name="Shape 7"/>
          <p:cNvSpPr/>
          <p:nvPr/>
        </p:nvSpPr>
        <p:spPr>
          <a:xfrm>
            <a:off x="4572000" y="1115568"/>
            <a:ext cx="2029968" cy="502920"/>
          </a:xfrm>
          <a:prstGeom prst="roundRect">
            <a:avLst>
              <a:gd name="adj" fmla="val 14545"/>
            </a:avLst>
          </a:prstGeom>
          <a:solidFill>
            <a:srgbClr val="F8FAFC"/>
          </a:solidFill>
          <a:ln/>
        </p:spPr>
      </p:sp>
      <p:sp>
        <p:nvSpPr>
          <p:cNvPr id="10" name="Text 8"/>
          <p:cNvSpPr/>
          <p:nvPr/>
        </p:nvSpPr>
        <p:spPr>
          <a:xfrm>
            <a:off x="459943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Draft</a:t>
            </a:r>
            <a:endParaRPr lang="en-US" sz="950" dirty="0"/>
          </a:p>
        </p:txBody>
      </p:sp>
      <p:sp>
        <p:nvSpPr>
          <p:cNvPr id="11" name="Shape 9"/>
          <p:cNvSpPr/>
          <p:nvPr/>
        </p:nvSpPr>
        <p:spPr>
          <a:xfrm>
            <a:off x="6675120" y="1115568"/>
            <a:ext cx="2029968" cy="502920"/>
          </a:xfrm>
          <a:prstGeom prst="roundRect">
            <a:avLst>
              <a:gd name="adj" fmla="val 14545"/>
            </a:avLst>
          </a:prstGeom>
          <a:solidFill>
            <a:srgbClr val="F8FAFC"/>
          </a:solidFill>
          <a:ln/>
        </p:spPr>
      </p:sp>
      <p:sp>
        <p:nvSpPr>
          <p:cNvPr id="12" name="Text 10"/>
          <p:cNvSpPr/>
          <p:nvPr/>
        </p:nvSpPr>
        <p:spPr>
          <a:xfrm>
            <a:off x="670255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Revise</a:t>
            </a:r>
            <a:endParaRPr lang="en-US" sz="950" dirty="0"/>
          </a:p>
        </p:txBody>
      </p:sp>
      <p:sp>
        <p:nvSpPr>
          <p:cNvPr id="13" name="Text 11"/>
          <p:cNvSpPr/>
          <p:nvPr/>
        </p:nvSpPr>
        <p:spPr>
          <a:xfrm>
            <a:off x="365760" y="178308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 — REASONS</a:t>
            </a:r>
            <a:endParaRPr lang="en-US" sz="1100" dirty="0"/>
          </a:p>
        </p:txBody>
      </p:sp>
      <p:sp>
        <p:nvSpPr>
          <p:cNvPr id="14" name="Shape 12"/>
          <p:cNvSpPr/>
          <p:nvPr/>
        </p:nvSpPr>
        <p:spPr>
          <a:xfrm>
            <a:off x="365760" y="2029968"/>
            <a:ext cx="8412480" cy="603504"/>
          </a:xfrm>
          <a:prstGeom prst="roundRect">
            <a:avLst>
              <a:gd name="adj" fmla="val 15152"/>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2084832"/>
            <a:ext cx="8046720" cy="493776"/>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Learn what REASONS are—the “because” statements that support your claim.</a:t>
            </a:r>
            <a:endParaRPr lang="en-US" sz="1300" dirty="0"/>
          </a:p>
        </p:txBody>
      </p:sp>
      <p:sp>
        <p:nvSpPr>
          <p:cNvPr id="16" name="Text 14"/>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SENTENCE FRAMES</a:t>
            </a:r>
            <a:endParaRPr lang="en-US" sz="1100" dirty="0"/>
          </a:p>
        </p:txBody>
      </p:sp>
      <p:sp>
        <p:nvSpPr>
          <p:cNvPr id="17" name="Shape 15"/>
          <p:cNvSpPr/>
          <p:nvPr/>
        </p:nvSpPr>
        <p:spPr>
          <a:xfrm>
            <a:off x="365760" y="299923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18" name="Text 16"/>
          <p:cNvSpPr/>
          <p:nvPr/>
        </p:nvSpPr>
        <p:spPr>
          <a:xfrm>
            <a:off x="548640" y="3054096"/>
            <a:ext cx="8046720" cy="667512"/>
          </a:xfrm>
          <a:prstGeom prst="rect">
            <a:avLst/>
          </a:prstGeom>
          <a:noFill/>
          <a:ln/>
        </p:spPr>
        <p:txBody>
          <a:bodyPr wrap="square" lIns="0" tIns="0" rIns="0" bIns="0" rtlCol="0" anchor="t"/>
          <a:lstStyle/>
          <a:p>
            <a:pPr indent="0" marL="0">
              <a:buNone/>
            </a:pPr>
            <a:r>
              <a:rPr lang="en-US" sz="1050" i="1" dirty="0">
                <a:solidFill>
                  <a:srgbClr val="1E293B"/>
                </a:solidFill>
                <a:latin typeface="Calibri" pitchFamily="34" charset="0"/>
                <a:ea typeface="Calibri" pitchFamily="34" charset="-122"/>
                <a:cs typeface="Calibri" pitchFamily="34" charset="-120"/>
              </a:rPr>
              <a:t>Write TWO reasons that support your claim. Use the “because test.” Write two reasons. Each should answer “why” your claim is true. Use the because test.</a:t>
            </a:r>
            <a:endParaRPr lang="en-US" sz="1050" dirty="0"/>
          </a:p>
        </p:txBody>
      </p:sp>
      <p:sp>
        <p:nvSpPr>
          <p:cNvPr id="19" name="Text 17"/>
          <p:cNvSpPr/>
          <p:nvPr/>
        </p:nvSpPr>
        <p:spPr>
          <a:xfrm>
            <a:off x="365760" y="385876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NOW YOU TRY</a:t>
            </a:r>
            <a:endParaRPr lang="en-US" sz="1100" dirty="0"/>
          </a:p>
        </p:txBody>
      </p:sp>
      <p:sp>
        <p:nvSpPr>
          <p:cNvPr id="20" name="Shape 18"/>
          <p:cNvSpPr/>
          <p:nvPr/>
        </p:nvSpPr>
        <p:spPr>
          <a:xfrm>
            <a:off x="365760" y="4114800"/>
            <a:ext cx="8412480" cy="914400"/>
          </a:xfrm>
          <a:prstGeom prst="roundRect">
            <a:avLst>
              <a:gd name="adj" fmla="val 10000"/>
            </a:avLst>
          </a:prstGeom>
          <a:solidFill>
            <a:srgbClr val="FEF6E8"/>
          </a:solidFill>
          <a:ln/>
          <a:effectLst>
            <a:outerShdw sx="100000" sy="100000" kx="0" ky="0" algn="bl" rotWithShape="0" blurRad="101600" dist="38100" dir="2700000">
              <a:srgbClr val="000000">
                <a:alpha val="12000"/>
              </a:srgbClr>
            </a:outerShdw>
          </a:effectLst>
        </p:spPr>
      </p:sp>
      <p:sp>
        <p:nvSpPr>
          <p:cNvPr id="21" name="Text 19"/>
          <p:cNvSpPr/>
          <p:nvPr/>
        </p:nvSpPr>
        <p:spPr>
          <a:xfrm>
            <a:off x="548640" y="4169664"/>
            <a:ext cx="8046720" cy="804672"/>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TWO reasons that support your claim. Use the “because test.” Write two reasons. Each should answer “why” your claim is true. Use the because test.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2026-07-12T13:39:52Z</dcterms:created>
  <dcterms:modified xsi:type="dcterms:W3CDTF">2026-07-12T13:39:52Z</dcterms:modified>
</cp:coreProperties>
</file>