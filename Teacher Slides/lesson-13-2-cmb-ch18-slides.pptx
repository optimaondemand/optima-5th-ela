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13.2: Chapter 18, "The Astrea to the Rescue". Banner quote: “Great guns, man, you’ve been here three hours!” (Chapter 18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What does Nat hold on to when danger — and then grief — arrives? Today you read Chapter 18 and continue revising your expository piece. Keep asking: How does figurative language contribute to meaning?
Objectives:
- 🧭 Morphology: Identify fer and duct/duce in new words: carried or led?
- ✏️ Grammar SWYK: Identify compound and complex sentences; join ideas both ways.
- 🔤 Spelling: I will identify which prefix a word carries and what it adds.
- 📖 Reading: I will identify the choices Latham makes in Chapter 18 that show how she sees Nat.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sailors who trusted nat knew that his calculations which had never failed him would transfer their ship safely from port to port
Corrected: The sailors who trusted Nat knew that his calculations, which had never failed him, would transfer their ship safely from port to port.
Fixes: capitalize “The” and “Nat”; commas around non-restrictive “which had never failed him”; period at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sailors who trusted nat knew that his calculations which had never failed him would transfer their ship safely from port to port
Corrected: The sailors who trusted Nat knew that his calculations, which had never failed him, would transfer their ship safely from port to port.
Fixes: capitalize “The” and “Nat”; commas around non-restrictive “which had never failed him”; period at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
Henry Wadsworth Longfellow published “The Wreck of the Hesperus” in 1842 — a dramatic poem about a sea disaster caused by ignoring a warning. Read these opening stanzas today, as Nat’s Astrea turns back to guard three slow ships that have fallen behind the convoy. Write your response in your reading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 and answer someone who disagrees.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of these sentences to make my thinking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to its meaning. Letters are scrambled.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transfer = fer — to carry across
conference = fer — carrying ideas together
conduct = duct — to lead together
introduce = duce — to lead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words into the groups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trans- (across): translate, transfer
inter- (between): intersect, interval
sub- (under): submarine, subscribe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Compound &amp; Complex Sentences for Explanation — Identify — compound or complex?.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Nat corrected the tables, so the next voyage was safer. — spot1
2. Since he could not afford school, he taught himself Latin. — spot2
3. The crew doubted him; the figures did not. — spot3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Prefixes trans-, sub-, inter- — Identify — which direction?.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international — spellspot1
2. submarine — spellspot2
3. transport — spellspot3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sentence aloud twice. Work through Reader → Writer → Mimic.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their own sentence in the reading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Revise &amp; Edit: Check your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Revise &amp; Edit: Check your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13  ·  DAY 2  ·  LESSON 13.2</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18 — The Astrea to the Rescue</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“Great guns, man, you’ve been here three hours!”</a:t>
            </a:r>
            <a:pPr indent="0" marL="0">
              <a:buNone/>
            </a:pPr>
            <a:r>
              <a:rPr lang="en-US" sz="1600" dirty="0">
                <a:solidFill>
                  <a:srgbClr val="55C8E8"/>
                </a:solidFill>
                <a:latin typeface="Calibri" pitchFamily="34" charset="0"/>
                <a:ea typeface="Calibri" pitchFamily="34" charset="-122"/>
                <a:cs typeface="Calibri" pitchFamily="34" charset="-120"/>
              </a:rPr>
              <a:t>  — Chapter 18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 — IDENTIFY</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18</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What does Nat hold on to when danger — and then grief — arrives?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you read Chapter 18 and continue revising your expository piece. Keep asking: How does figurative language contribute to meaning?</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Identify fer and duct/duce in new words: carried or led?</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SWYK: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Identify compound and complex sentences; join ideas both ways.</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Spelling: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identify which prefix a word carries and what it adds.</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identify the choices Latham makes in Chapter 18 that show how she sees Nat.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CLOSELY FOR THE AUTHOR’S HAND</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Read closely and gather evidence. In Chapter 18 the Astrea leaves the safety of a British convoy to guard three slow American ships, and Latham does not report it flatly — she writes the lookout’s cry, the cleared decks, the long wait below. Ask why a biographer would make you feel a scene instead of summarizing it, and what that choice tells you about how she sees Nat.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Find the author in the sentence: Look for words that judge, admire or explain. Those are Latham, not the record.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Ask what she includes and leaves out: Perspective shows in what gets a whole chapter and what gets a sentence.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Test it against another telling: Ask how a different biographer — or Nat himself — might have written the same event.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CLOSELY FOR THE AUTHOR’S HAND</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When the Astrea turns back to guard the three slow ships, what figurative language does Latham use to show the danger or the crew’s mood? Identify at least one specific example as you read.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When three French ships bear down on the Astrea, Nat takes charge of the powder room. What does he do down there, and what does that tell you about him?</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This chapter shows Nat facing danger at sea and then terrible news from home. How does the language Latham uses help convey what is at stake?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Nat, </a:t>
            </a:r>
            <a:pPr indent="0" marL="0">
              <a:buNone/>
            </a:pPr>
            <a:r>
              <a:rPr lang="en-US" sz="2600" b="1" u="sng" dirty="0">
                <a:solidFill>
                  <a:srgbClr val="1E8E52"/>
                </a:solidFill>
                <a:latin typeface="Calibri" pitchFamily="34" charset="0"/>
                <a:ea typeface="Calibri" pitchFamily="34" charset="-122"/>
                <a:cs typeface="Calibri" pitchFamily="34" charset="-120"/>
              </a:rPr>
              <a:t>who had spent years calculating exact positions at sea</a:t>
            </a:r>
            <a:pPr indent="0" marL="0">
              <a:buNone/>
            </a:pPr>
            <a:r>
              <a:rPr lang="en-US" sz="2600" dirty="0">
                <a:solidFill>
                  <a:srgbClr val="1E293B"/>
                </a:solidFill>
                <a:latin typeface="Calibri" pitchFamily="34" charset="0"/>
                <a:ea typeface="Calibri" pitchFamily="34" charset="-122"/>
                <a:cs typeface="Calibri" pitchFamily="34" charset="-120"/>
              </a:rPr>
              <a:t>, knew the </a:t>
            </a:r>
            <a:pPr indent="0" marL="0">
              <a:buNone/>
            </a:pPr>
            <a:r>
              <a:rPr lang="en-US" sz="2600" b="1" u="sng" dirty="0">
                <a:solidFill>
                  <a:srgbClr val="1E8E52"/>
                </a:solidFill>
                <a:latin typeface="Calibri" pitchFamily="34" charset="0"/>
                <a:ea typeface="Calibri" pitchFamily="34" charset="-122"/>
                <a:cs typeface="Calibri" pitchFamily="34" charset="-120"/>
              </a:rPr>
              <a:t>precise interval</a:t>
            </a:r>
            <a:pPr indent="0" marL="0">
              <a:buNone/>
            </a:pPr>
            <a:r>
              <a:rPr lang="en-US" sz="2600" dirty="0">
                <a:solidFill>
                  <a:srgbClr val="1E293B"/>
                </a:solidFill>
                <a:latin typeface="Calibri" pitchFamily="34" charset="0"/>
                <a:ea typeface="Calibri" pitchFamily="34" charset="-122"/>
                <a:cs typeface="Calibri" pitchFamily="34" charset="-120"/>
              </a:rPr>
              <a:t> between each lunar observation.</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who had spent years calculating exact positions at sea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Non-restrictive relative clause — adds extra info about Nat. Comma before who, which/who for people.</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precise interval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inter- = between. The precise interval between observations.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sailors who trusted nat knew that his calculations which had never failed him would transfer their ship safely from port to port</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sailors who trusted nat knew that his calculations which had never failed him would transfer their ship safely from port to port</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The sailors who trusted Nat knew that his calculations, which had never failed him, would transfer their ship safely from port to port.</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capitalize “The” and “Nat”; commas around non-restrictive “which had never failed him”; period at end.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“THE WRECK OF THE HESPERUS” (OPENING)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Poetry Corner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6035040"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691640"/>
            <a:ext cx="5577840" cy="365760"/>
          </a:xfrm>
          <a:prstGeom prst="rect">
            <a:avLst/>
          </a:prstGeom>
          <a:noFill/>
          <a:ln/>
        </p:spPr>
        <p:txBody>
          <a:bodyPr wrap="square" lIns="0" tIns="0" rIns="0" bIns="0"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Henry Wadsworth Longfellow, 1842 — public domain</a:t>
            </a:r>
            <a:endParaRPr lang="en-US" sz="1500" dirty="0"/>
          </a:p>
        </p:txBody>
      </p:sp>
      <p:sp>
        <p:nvSpPr>
          <p:cNvPr id="8" name="Text 6"/>
          <p:cNvSpPr/>
          <p:nvPr/>
        </p:nvSpPr>
        <p:spPr>
          <a:xfrm>
            <a:off x="731520" y="2103120"/>
            <a:ext cx="5577840" cy="4206240"/>
          </a:xfrm>
          <a:prstGeom prst="rect">
            <a:avLst/>
          </a:prstGeom>
          <a:noFill/>
          <a:ln/>
        </p:spPr>
        <p:txBody>
          <a:bodyPr wrap="square" lIns="0" tIns="0" rIns="0" bIns="0" rtlCol="0" anchor="t">
            <a:normAutofit/>
          </a:bodyPr>
          <a:lstStyle/>
          <a:p>
            <a:pPr indent="0" marL="0">
              <a:buNone/>
            </a:pPr>
            <a:r>
              <a:rPr lang="en-US" sz="1700" i="1" dirty="0">
                <a:solidFill>
                  <a:srgbClr val="1E293B"/>
                </a:solidFill>
                <a:latin typeface="Georgia" pitchFamily="34" charset="0"/>
                <a:ea typeface="Georgia" pitchFamily="34" charset="-122"/>
                <a:cs typeface="Georgia" pitchFamily="34" charset="-120"/>
              </a:rPr>
              <a:t>It was the schooner Hesperus,</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That sailed the wintry sea;</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And the skipper had taken his little daughter,</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To bear him company.</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Blue were her eyes as the fairy-flax,</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Her cheeks like the dawn of day,</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And her bosom white as the hawthorn buds,</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That ope in the month of May.</a:t>
            </a:r>
            <a:endParaRPr lang="en-US" sz="1700" dirty="0"/>
          </a:p>
        </p:txBody>
      </p:sp>
      <p:sp>
        <p:nvSpPr>
          <p:cNvPr id="9" name="Shape 7"/>
          <p:cNvSpPr/>
          <p:nvPr/>
        </p:nvSpPr>
        <p:spPr>
          <a:xfrm>
            <a:off x="6812280" y="1554480"/>
            <a:ext cx="4876495" cy="4892040"/>
          </a:xfrm>
          <a:prstGeom prst="roundRect">
            <a:avLst>
              <a:gd name="adj" fmla="val 1500"/>
            </a:avLst>
          </a:prstGeom>
          <a:solidFill>
            <a:srgbClr val="F0E8FF"/>
          </a:solidFill>
          <a:ln w="15875">
            <a:solidFill>
              <a:srgbClr val="D6C8F0"/>
            </a:solidFill>
            <a:prstDash val="solid"/>
          </a:ln>
        </p:spPr>
      </p:sp>
      <p:sp>
        <p:nvSpPr>
          <p:cNvPr id="10" name="Text 8"/>
          <p:cNvSpPr/>
          <p:nvPr/>
        </p:nvSpPr>
        <p:spPr>
          <a:xfrm>
            <a:off x="7040880" y="1737360"/>
            <a:ext cx="4419295"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 THINK ABOUT THIS</a:t>
            </a:r>
            <a:endParaRPr lang="en-US" sz="1300" dirty="0"/>
          </a:p>
        </p:txBody>
      </p:sp>
      <p:sp>
        <p:nvSpPr>
          <p:cNvPr id="11" name="Text 9"/>
          <p:cNvSpPr/>
          <p:nvPr/>
        </p:nvSpPr>
        <p:spPr>
          <a:xfrm>
            <a:off x="7040880" y="2103120"/>
            <a:ext cx="4419295" cy="4160520"/>
          </a:xfrm>
          <a:prstGeom prst="rect">
            <a:avLst/>
          </a:prstGeom>
          <a:noFill/>
          <a:ln/>
        </p:spPr>
        <p:txBody>
          <a:bodyPr wrap="square" lIns="0" tIns="0" rIns="0" bIns="0" rtlCol="0" anchor="t"/>
          <a:lstStyle/>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 Longfellow uses simile extensively in this poem: “eyes as the fairy-flax,” “cheeks like the dawn of day.” Notice how these comparisons create a vivid picture quickly. The poem’s tragedy comes partly from how beautiful and innocent the girl is made to seem before the storm strikes.</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Longfellow’s poem is about a wreck caused by a captain who ignored a warning. How does this contrast with Nat’s approach to the sea? What does Nat represent that the Hesperus’s captain did not?</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800" dirty="0">
                <a:solidFill>
                  <a:srgbClr val="1E293B"/>
                </a:solidFill>
                <a:latin typeface="Calibri" pitchFamily="34" charset="0"/>
                <a:ea typeface="Calibri" pitchFamily="34" charset="-122"/>
                <a:cs typeface="Calibri" pitchFamily="34" charset="-120"/>
              </a:rPr>
              <a:t>While the French ships close in, Nat sits in the powder room working figures and loses track of three hours. Is that a strength or a weakness? Defend your answer with evidence from Chapter 18. Then answer someone who disagrees.</a:t>
            </a:r>
            <a:endParaRPr lang="en-US" sz="28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While the French ships close in, Nat sits in the powder room working figures and loses track of three hours. Is that a strength or a weakness? Defend your answer with evidence from Chapter 18. Then answer someone who disagrees.</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Someone might disagree, but...</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Could I combine two of these sentences to make my thinking clearer?</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CARRIED OR 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fer + duct/duce</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MATCH EACH WORD TO ITS MEANING</a:t>
            </a:r>
            <a:endParaRPr lang="en-US" sz="1300" dirty="0"/>
          </a:p>
        </p:txBody>
      </p:sp>
      <p:sp>
        <p:nvSpPr>
          <p:cNvPr id="9" name="Shape 7"/>
          <p:cNvSpPr/>
          <p:nvPr/>
        </p:nvSpPr>
        <p:spPr>
          <a:xfrm>
            <a:off x="502920" y="1965960"/>
            <a:ext cx="3291840" cy="982980"/>
          </a:xfrm>
          <a:prstGeom prst="roundRect">
            <a:avLst>
              <a:gd name="adj" fmla="val 7442"/>
            </a:avLst>
          </a:prstGeom>
          <a:solidFill>
            <a:srgbClr val="F0E8FF"/>
          </a:solidFill>
          <a:ln w="15875">
            <a:solidFill>
              <a:srgbClr val="D6C8F0"/>
            </a:solidFill>
            <a:prstDash val="solid"/>
          </a:ln>
        </p:spPr>
      </p:sp>
      <p:sp>
        <p:nvSpPr>
          <p:cNvPr id="10" name="Text 8"/>
          <p:cNvSpPr/>
          <p:nvPr/>
        </p:nvSpPr>
        <p:spPr>
          <a:xfrm>
            <a:off x="685800" y="196596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1. transfer</a:t>
            </a:r>
            <a:endParaRPr lang="en-US" sz="2200" dirty="0"/>
          </a:p>
        </p:txBody>
      </p:sp>
      <p:sp>
        <p:nvSpPr>
          <p:cNvPr id="11" name="Shape 9"/>
          <p:cNvSpPr/>
          <p:nvPr/>
        </p:nvSpPr>
        <p:spPr>
          <a:xfrm>
            <a:off x="4069080" y="1965960"/>
            <a:ext cx="7619695" cy="982980"/>
          </a:xfrm>
          <a:prstGeom prst="roundRect">
            <a:avLst>
              <a:gd name="adj" fmla="val 7442"/>
            </a:avLst>
          </a:prstGeom>
          <a:solidFill>
            <a:srgbClr val="F8FAFC"/>
          </a:solidFill>
          <a:ln w="15875">
            <a:solidFill>
              <a:srgbClr val="CBD5E1"/>
            </a:solidFill>
            <a:prstDash val="solid"/>
          </a:ln>
        </p:spPr>
      </p:sp>
      <p:sp>
        <p:nvSpPr>
          <p:cNvPr id="12" name="Text 10"/>
          <p:cNvSpPr/>
          <p:nvPr/>
        </p:nvSpPr>
        <p:spPr>
          <a:xfrm>
            <a:off x="4251960" y="196596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A. duct — to lead together</a:t>
            </a:r>
            <a:endParaRPr lang="en-US" sz="1900" dirty="0"/>
          </a:p>
        </p:txBody>
      </p:sp>
      <p:sp>
        <p:nvSpPr>
          <p:cNvPr id="13" name="Shape 11"/>
          <p:cNvSpPr/>
          <p:nvPr/>
        </p:nvSpPr>
        <p:spPr>
          <a:xfrm>
            <a:off x="502920" y="3086100"/>
            <a:ext cx="3291840" cy="982980"/>
          </a:xfrm>
          <a:prstGeom prst="roundRect">
            <a:avLst>
              <a:gd name="adj" fmla="val 7442"/>
            </a:avLst>
          </a:prstGeom>
          <a:solidFill>
            <a:srgbClr val="F0E8FF"/>
          </a:solidFill>
          <a:ln w="15875">
            <a:solidFill>
              <a:srgbClr val="D6C8F0"/>
            </a:solidFill>
            <a:prstDash val="solid"/>
          </a:ln>
        </p:spPr>
      </p:sp>
      <p:sp>
        <p:nvSpPr>
          <p:cNvPr id="14" name="Text 12"/>
          <p:cNvSpPr/>
          <p:nvPr/>
        </p:nvSpPr>
        <p:spPr>
          <a:xfrm>
            <a:off x="685800" y="308610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2. conference</a:t>
            </a:r>
            <a:endParaRPr lang="en-US" sz="2200" dirty="0"/>
          </a:p>
        </p:txBody>
      </p:sp>
      <p:sp>
        <p:nvSpPr>
          <p:cNvPr id="15" name="Shape 13"/>
          <p:cNvSpPr/>
          <p:nvPr/>
        </p:nvSpPr>
        <p:spPr>
          <a:xfrm>
            <a:off x="4069080" y="3086100"/>
            <a:ext cx="7619695" cy="982980"/>
          </a:xfrm>
          <a:prstGeom prst="roundRect">
            <a:avLst>
              <a:gd name="adj" fmla="val 7442"/>
            </a:avLst>
          </a:prstGeom>
          <a:solidFill>
            <a:srgbClr val="F8FAFC"/>
          </a:solidFill>
          <a:ln w="15875">
            <a:solidFill>
              <a:srgbClr val="CBD5E1"/>
            </a:solidFill>
            <a:prstDash val="solid"/>
          </a:ln>
        </p:spPr>
      </p:sp>
      <p:sp>
        <p:nvSpPr>
          <p:cNvPr id="16" name="Text 14"/>
          <p:cNvSpPr/>
          <p:nvPr/>
        </p:nvSpPr>
        <p:spPr>
          <a:xfrm>
            <a:off x="4251960" y="308610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B. duce — to lead into</a:t>
            </a:r>
            <a:endParaRPr lang="en-US" sz="1900" dirty="0"/>
          </a:p>
        </p:txBody>
      </p:sp>
      <p:sp>
        <p:nvSpPr>
          <p:cNvPr id="17" name="Shape 15"/>
          <p:cNvSpPr/>
          <p:nvPr/>
        </p:nvSpPr>
        <p:spPr>
          <a:xfrm>
            <a:off x="502920" y="4206240"/>
            <a:ext cx="3291840" cy="982980"/>
          </a:xfrm>
          <a:prstGeom prst="roundRect">
            <a:avLst>
              <a:gd name="adj" fmla="val 7442"/>
            </a:avLst>
          </a:prstGeom>
          <a:solidFill>
            <a:srgbClr val="F0E8FF"/>
          </a:solidFill>
          <a:ln w="15875">
            <a:solidFill>
              <a:srgbClr val="D6C8F0"/>
            </a:solidFill>
            <a:prstDash val="solid"/>
          </a:ln>
        </p:spPr>
      </p:sp>
      <p:sp>
        <p:nvSpPr>
          <p:cNvPr id="18" name="Text 16"/>
          <p:cNvSpPr/>
          <p:nvPr/>
        </p:nvSpPr>
        <p:spPr>
          <a:xfrm>
            <a:off x="685800" y="420624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3. conduct</a:t>
            </a:r>
            <a:endParaRPr lang="en-US" sz="2200" dirty="0"/>
          </a:p>
        </p:txBody>
      </p:sp>
      <p:sp>
        <p:nvSpPr>
          <p:cNvPr id="19" name="Shape 17"/>
          <p:cNvSpPr/>
          <p:nvPr/>
        </p:nvSpPr>
        <p:spPr>
          <a:xfrm>
            <a:off x="4069080" y="4206240"/>
            <a:ext cx="7619695" cy="982980"/>
          </a:xfrm>
          <a:prstGeom prst="roundRect">
            <a:avLst>
              <a:gd name="adj" fmla="val 7442"/>
            </a:avLst>
          </a:prstGeom>
          <a:solidFill>
            <a:srgbClr val="F8FAFC"/>
          </a:solidFill>
          <a:ln w="15875">
            <a:solidFill>
              <a:srgbClr val="CBD5E1"/>
            </a:solidFill>
            <a:prstDash val="solid"/>
          </a:ln>
        </p:spPr>
      </p:sp>
      <p:sp>
        <p:nvSpPr>
          <p:cNvPr id="20" name="Text 18"/>
          <p:cNvSpPr/>
          <p:nvPr/>
        </p:nvSpPr>
        <p:spPr>
          <a:xfrm>
            <a:off x="4251960" y="420624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C. fer — to carry across</a:t>
            </a:r>
            <a:endParaRPr lang="en-US" sz="1900" dirty="0"/>
          </a:p>
        </p:txBody>
      </p:sp>
      <p:sp>
        <p:nvSpPr>
          <p:cNvPr id="21" name="Shape 19"/>
          <p:cNvSpPr/>
          <p:nvPr/>
        </p:nvSpPr>
        <p:spPr>
          <a:xfrm>
            <a:off x="502920" y="5326380"/>
            <a:ext cx="3291840" cy="982980"/>
          </a:xfrm>
          <a:prstGeom prst="roundRect">
            <a:avLst>
              <a:gd name="adj" fmla="val 7442"/>
            </a:avLst>
          </a:prstGeom>
          <a:solidFill>
            <a:srgbClr val="F0E8FF"/>
          </a:solidFill>
          <a:ln w="15875">
            <a:solidFill>
              <a:srgbClr val="D6C8F0"/>
            </a:solidFill>
            <a:prstDash val="solid"/>
          </a:ln>
        </p:spPr>
      </p:sp>
      <p:sp>
        <p:nvSpPr>
          <p:cNvPr id="22" name="Text 20"/>
          <p:cNvSpPr/>
          <p:nvPr/>
        </p:nvSpPr>
        <p:spPr>
          <a:xfrm>
            <a:off x="685800" y="532638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4. introduce</a:t>
            </a:r>
            <a:endParaRPr lang="en-US" sz="2200" dirty="0"/>
          </a:p>
        </p:txBody>
      </p:sp>
      <p:sp>
        <p:nvSpPr>
          <p:cNvPr id="23" name="Shape 21"/>
          <p:cNvSpPr/>
          <p:nvPr/>
        </p:nvSpPr>
        <p:spPr>
          <a:xfrm>
            <a:off x="4069080" y="5326380"/>
            <a:ext cx="7619695" cy="982980"/>
          </a:xfrm>
          <a:prstGeom prst="roundRect">
            <a:avLst>
              <a:gd name="adj" fmla="val 7442"/>
            </a:avLst>
          </a:prstGeom>
          <a:solidFill>
            <a:srgbClr val="F8FAFC"/>
          </a:solidFill>
          <a:ln w="15875">
            <a:solidFill>
              <a:srgbClr val="CBD5E1"/>
            </a:solidFill>
            <a:prstDash val="solid"/>
          </a:ln>
        </p:spPr>
      </p:sp>
      <p:sp>
        <p:nvSpPr>
          <p:cNvPr id="24" name="Text 22"/>
          <p:cNvSpPr/>
          <p:nvPr/>
        </p:nvSpPr>
        <p:spPr>
          <a:xfrm>
            <a:off x="4251960" y="532638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D. fer — carrying ideas together</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CARRIED OR LED?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fer + duct/duce</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MATCHED</a:t>
            </a:r>
            <a:endParaRPr lang="en-US" sz="1300" dirty="0"/>
          </a:p>
        </p:txBody>
      </p:sp>
      <p:sp>
        <p:nvSpPr>
          <p:cNvPr id="9" name="Shape 7"/>
          <p:cNvSpPr/>
          <p:nvPr/>
        </p:nvSpPr>
        <p:spPr>
          <a:xfrm>
            <a:off x="502920" y="1965960"/>
            <a:ext cx="11185855" cy="982980"/>
          </a:xfrm>
          <a:prstGeom prst="roundRect">
            <a:avLst>
              <a:gd name="adj" fmla="val 7442"/>
            </a:avLst>
          </a:prstGeom>
          <a:solidFill>
            <a:srgbClr val="E8F8EF"/>
          </a:solidFill>
          <a:ln w="15875">
            <a:solidFill>
              <a:srgbClr val="9ED9B5"/>
            </a:solidFill>
            <a:prstDash val="solid"/>
          </a:ln>
        </p:spPr>
      </p:sp>
      <p:sp>
        <p:nvSpPr>
          <p:cNvPr id="10" name="Text 8"/>
          <p:cNvSpPr/>
          <p:nvPr/>
        </p:nvSpPr>
        <p:spPr>
          <a:xfrm>
            <a:off x="731520" y="196596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transfer  =  </a:t>
            </a:r>
            <a:pPr indent="0" marL="0">
              <a:buNone/>
            </a:pPr>
            <a:r>
              <a:rPr lang="en-US" sz="2000" dirty="0">
                <a:solidFill>
                  <a:srgbClr val="1E293B"/>
                </a:solidFill>
                <a:latin typeface="Calibri" pitchFamily="34" charset="0"/>
                <a:ea typeface="Calibri" pitchFamily="34" charset="-122"/>
                <a:cs typeface="Calibri" pitchFamily="34" charset="-120"/>
              </a:rPr>
              <a:t>fer — to carry across</a:t>
            </a:r>
            <a:endParaRPr lang="en-US" sz="2200" dirty="0"/>
          </a:p>
        </p:txBody>
      </p:sp>
      <p:sp>
        <p:nvSpPr>
          <p:cNvPr id="11" name="Shape 9"/>
          <p:cNvSpPr/>
          <p:nvPr/>
        </p:nvSpPr>
        <p:spPr>
          <a:xfrm>
            <a:off x="502920" y="3086100"/>
            <a:ext cx="11185855" cy="982980"/>
          </a:xfrm>
          <a:prstGeom prst="roundRect">
            <a:avLst>
              <a:gd name="adj" fmla="val 7442"/>
            </a:avLst>
          </a:prstGeom>
          <a:solidFill>
            <a:srgbClr val="E8F8EF"/>
          </a:solidFill>
          <a:ln w="15875">
            <a:solidFill>
              <a:srgbClr val="9ED9B5"/>
            </a:solidFill>
            <a:prstDash val="solid"/>
          </a:ln>
        </p:spPr>
      </p:sp>
      <p:sp>
        <p:nvSpPr>
          <p:cNvPr id="12" name="Text 10"/>
          <p:cNvSpPr/>
          <p:nvPr/>
        </p:nvSpPr>
        <p:spPr>
          <a:xfrm>
            <a:off x="731520" y="308610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conference  =  </a:t>
            </a:r>
            <a:pPr indent="0" marL="0">
              <a:buNone/>
            </a:pPr>
            <a:r>
              <a:rPr lang="en-US" sz="2000" dirty="0">
                <a:solidFill>
                  <a:srgbClr val="1E293B"/>
                </a:solidFill>
                <a:latin typeface="Calibri" pitchFamily="34" charset="0"/>
                <a:ea typeface="Calibri" pitchFamily="34" charset="-122"/>
                <a:cs typeface="Calibri" pitchFamily="34" charset="-120"/>
              </a:rPr>
              <a:t>fer — carrying ideas together</a:t>
            </a:r>
            <a:endParaRPr lang="en-US" sz="2200" dirty="0"/>
          </a:p>
        </p:txBody>
      </p:sp>
      <p:sp>
        <p:nvSpPr>
          <p:cNvPr id="13" name="Shape 11"/>
          <p:cNvSpPr/>
          <p:nvPr/>
        </p:nvSpPr>
        <p:spPr>
          <a:xfrm>
            <a:off x="502920" y="4206240"/>
            <a:ext cx="11185855" cy="982980"/>
          </a:xfrm>
          <a:prstGeom prst="roundRect">
            <a:avLst>
              <a:gd name="adj" fmla="val 7442"/>
            </a:avLst>
          </a:prstGeom>
          <a:solidFill>
            <a:srgbClr val="E8F8EF"/>
          </a:solidFill>
          <a:ln w="15875">
            <a:solidFill>
              <a:srgbClr val="9ED9B5"/>
            </a:solidFill>
            <a:prstDash val="solid"/>
          </a:ln>
        </p:spPr>
      </p:sp>
      <p:sp>
        <p:nvSpPr>
          <p:cNvPr id="14" name="Text 12"/>
          <p:cNvSpPr/>
          <p:nvPr/>
        </p:nvSpPr>
        <p:spPr>
          <a:xfrm>
            <a:off x="731520" y="420624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conduct  =  </a:t>
            </a:r>
            <a:pPr indent="0" marL="0">
              <a:buNone/>
            </a:pPr>
            <a:r>
              <a:rPr lang="en-US" sz="2000" dirty="0">
                <a:solidFill>
                  <a:srgbClr val="1E293B"/>
                </a:solidFill>
                <a:latin typeface="Calibri" pitchFamily="34" charset="0"/>
                <a:ea typeface="Calibri" pitchFamily="34" charset="-122"/>
                <a:cs typeface="Calibri" pitchFamily="34" charset="-120"/>
              </a:rPr>
              <a:t>duct — to lead together</a:t>
            </a:r>
            <a:endParaRPr lang="en-US" sz="2200" dirty="0"/>
          </a:p>
        </p:txBody>
      </p:sp>
      <p:sp>
        <p:nvSpPr>
          <p:cNvPr id="15" name="Shape 13"/>
          <p:cNvSpPr/>
          <p:nvPr/>
        </p:nvSpPr>
        <p:spPr>
          <a:xfrm>
            <a:off x="502920" y="5326380"/>
            <a:ext cx="11185855" cy="982980"/>
          </a:xfrm>
          <a:prstGeom prst="roundRect">
            <a:avLst>
              <a:gd name="adj" fmla="val 7442"/>
            </a:avLst>
          </a:prstGeom>
          <a:solidFill>
            <a:srgbClr val="E8F8EF"/>
          </a:solidFill>
          <a:ln w="15875">
            <a:solidFill>
              <a:srgbClr val="9ED9B5"/>
            </a:solidFill>
            <a:prstDash val="solid"/>
          </a:ln>
        </p:spPr>
      </p:sp>
      <p:sp>
        <p:nvSpPr>
          <p:cNvPr id="16" name="Text 14"/>
          <p:cNvSpPr/>
          <p:nvPr/>
        </p:nvSpPr>
        <p:spPr>
          <a:xfrm>
            <a:off x="731520" y="532638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introduce  =  </a:t>
            </a:r>
            <a:pPr indent="0" marL="0">
              <a:buNone/>
            </a:pPr>
            <a:r>
              <a:rPr lang="en-US" sz="2000" dirty="0">
                <a:solidFill>
                  <a:srgbClr val="1E293B"/>
                </a:solidFill>
                <a:latin typeface="Calibri" pitchFamily="34" charset="0"/>
                <a:ea typeface="Calibri" pitchFamily="34" charset="-122"/>
                <a:cs typeface="Calibri" pitchFamily="34" charset="-120"/>
              </a:rPr>
              <a:t>duce — to lead into</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GROUP WORDS BY WHICH PREFIX THEY USE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Sort by Prefix</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SORT THESE WORDS</a:t>
            </a:r>
            <a:endParaRPr lang="en-US" sz="1300" dirty="0"/>
          </a:p>
        </p:txBody>
      </p:sp>
      <p:sp>
        <p:nvSpPr>
          <p:cNvPr id="9" name="Shape 7"/>
          <p:cNvSpPr/>
          <p:nvPr/>
        </p:nvSpPr>
        <p:spPr>
          <a:xfrm>
            <a:off x="502920" y="1920240"/>
            <a:ext cx="11185855" cy="1463040"/>
          </a:xfrm>
          <a:prstGeom prst="roundRect">
            <a:avLst>
              <a:gd name="adj" fmla="val 5000"/>
            </a:avLst>
          </a:prstGeom>
          <a:solidFill>
            <a:srgbClr val="E5F7FC"/>
          </a:solidFill>
          <a:ln w="15875">
            <a:solidFill>
              <a:srgbClr val="A6DDEE"/>
            </a:solidFill>
            <a:prstDash val="solid"/>
          </a:ln>
        </p:spPr>
      </p:sp>
      <p:sp>
        <p:nvSpPr>
          <p:cNvPr id="10" name="Text 8"/>
          <p:cNvSpPr/>
          <p:nvPr/>
        </p:nvSpPr>
        <p:spPr>
          <a:xfrm>
            <a:off x="777240" y="1965960"/>
            <a:ext cx="10637215" cy="1371600"/>
          </a:xfrm>
          <a:prstGeom prst="rect">
            <a:avLst/>
          </a:prstGeom>
          <a:noFill/>
          <a:ln/>
        </p:spPr>
        <p:txBody>
          <a:bodyPr wrap="square" lIns="0" tIns="0" rIns="0" bIns="0" rtlCol="0" anchor="ctr"/>
          <a:lstStyle/>
          <a:p>
            <a:pPr algn="ctr" indent="0" marL="0">
              <a:buNone/>
            </a:pPr>
            <a:r>
              <a:rPr lang="en-US" sz="2600" b="1" dirty="0">
                <a:solidFill>
                  <a:srgbClr val="0E1C42"/>
                </a:solidFill>
                <a:latin typeface="Calibri" pitchFamily="34" charset="0"/>
                <a:ea typeface="Calibri" pitchFamily="34" charset="-122"/>
                <a:cs typeface="Calibri" pitchFamily="34" charset="-120"/>
              </a:rPr>
              <a:t>translate     ·     intersect     ·     submarine     ·     interval     ·     transfer     ·     subscribe</a:t>
            </a:r>
            <a:endParaRPr lang="en-US" sz="2600" dirty="0"/>
          </a:p>
        </p:txBody>
      </p:sp>
      <p:sp>
        <p:nvSpPr>
          <p:cNvPr id="11" name="Text 9"/>
          <p:cNvSpPr/>
          <p:nvPr/>
        </p:nvSpPr>
        <p:spPr>
          <a:xfrm>
            <a:off x="502920" y="36118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INTO THESE GROUPS</a:t>
            </a:r>
            <a:endParaRPr lang="en-US" sz="1300" dirty="0"/>
          </a:p>
        </p:txBody>
      </p:sp>
      <p:sp>
        <p:nvSpPr>
          <p:cNvPr id="12" name="Shape 10"/>
          <p:cNvSpPr/>
          <p:nvPr/>
        </p:nvSpPr>
        <p:spPr>
          <a:xfrm>
            <a:off x="502920" y="3977640"/>
            <a:ext cx="3606698" cy="1097280"/>
          </a:xfrm>
          <a:prstGeom prst="roundRect">
            <a:avLst>
              <a:gd name="adj" fmla="val 6667"/>
            </a:avLst>
          </a:prstGeom>
          <a:solidFill>
            <a:srgbClr val="F8FAFC"/>
          </a:solidFill>
          <a:ln w="15875">
            <a:solidFill>
              <a:srgbClr val="CBD5E1"/>
            </a:solidFill>
            <a:prstDash val="solid"/>
          </a:ln>
        </p:spPr>
      </p:sp>
      <p:sp>
        <p:nvSpPr>
          <p:cNvPr id="13" name="Text 11"/>
          <p:cNvSpPr/>
          <p:nvPr/>
        </p:nvSpPr>
        <p:spPr>
          <a:xfrm>
            <a:off x="685800"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trans- (across)</a:t>
            </a:r>
            <a:endParaRPr lang="en-US" sz="2200" dirty="0"/>
          </a:p>
        </p:txBody>
      </p:sp>
      <p:sp>
        <p:nvSpPr>
          <p:cNvPr id="14" name="Shape 12"/>
          <p:cNvSpPr/>
          <p:nvPr/>
        </p:nvSpPr>
        <p:spPr>
          <a:xfrm>
            <a:off x="4292498" y="3977640"/>
            <a:ext cx="3606698" cy="1097280"/>
          </a:xfrm>
          <a:prstGeom prst="roundRect">
            <a:avLst>
              <a:gd name="adj" fmla="val 6667"/>
            </a:avLst>
          </a:prstGeom>
          <a:solidFill>
            <a:srgbClr val="F8FAFC"/>
          </a:solidFill>
          <a:ln w="15875">
            <a:solidFill>
              <a:srgbClr val="CBD5E1"/>
            </a:solidFill>
            <a:prstDash val="solid"/>
          </a:ln>
        </p:spPr>
      </p:sp>
      <p:sp>
        <p:nvSpPr>
          <p:cNvPr id="15" name="Text 13"/>
          <p:cNvSpPr/>
          <p:nvPr/>
        </p:nvSpPr>
        <p:spPr>
          <a:xfrm>
            <a:off x="4475378"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inter- (between)</a:t>
            </a:r>
            <a:endParaRPr lang="en-US" sz="2200" dirty="0"/>
          </a:p>
        </p:txBody>
      </p:sp>
      <p:sp>
        <p:nvSpPr>
          <p:cNvPr id="16" name="Shape 14"/>
          <p:cNvSpPr/>
          <p:nvPr/>
        </p:nvSpPr>
        <p:spPr>
          <a:xfrm>
            <a:off x="8082077" y="3977640"/>
            <a:ext cx="3606698" cy="1097280"/>
          </a:xfrm>
          <a:prstGeom prst="roundRect">
            <a:avLst>
              <a:gd name="adj" fmla="val 6667"/>
            </a:avLst>
          </a:prstGeom>
          <a:solidFill>
            <a:srgbClr val="F8FAFC"/>
          </a:solidFill>
          <a:ln w="15875">
            <a:solidFill>
              <a:srgbClr val="CBD5E1"/>
            </a:solidFill>
            <a:prstDash val="solid"/>
          </a:ln>
        </p:spPr>
      </p:sp>
      <p:sp>
        <p:nvSpPr>
          <p:cNvPr id="17" name="Text 15"/>
          <p:cNvSpPr/>
          <p:nvPr/>
        </p:nvSpPr>
        <p:spPr>
          <a:xfrm>
            <a:off x="8264957"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sub- (under)</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GROUP WORDS BY WHICH PREFIX THEY USE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Sort by Prefix</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3606698" cy="4892040"/>
          </a:xfrm>
          <a:prstGeom prst="roundRect">
            <a:avLst>
              <a:gd name="adj" fmla="val 2028"/>
            </a:avLst>
          </a:prstGeom>
          <a:solidFill>
            <a:srgbClr val="E8F8EF"/>
          </a:solidFill>
          <a:ln w="15875">
            <a:solidFill>
              <a:srgbClr val="9ED9B5"/>
            </a:solidFill>
            <a:prstDash val="solid"/>
          </a:ln>
        </p:spPr>
      </p:sp>
      <p:sp>
        <p:nvSpPr>
          <p:cNvPr id="9" name="Text 7"/>
          <p:cNvSpPr/>
          <p:nvPr/>
        </p:nvSpPr>
        <p:spPr>
          <a:xfrm>
            <a:off x="685800"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trans- (across)</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translate</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transfer</a:t>
            </a:r>
            <a:endParaRPr lang="en-US" sz="2100" dirty="0"/>
          </a:p>
        </p:txBody>
      </p:sp>
      <p:sp>
        <p:nvSpPr>
          <p:cNvPr id="10" name="Shape 8"/>
          <p:cNvSpPr/>
          <p:nvPr/>
        </p:nvSpPr>
        <p:spPr>
          <a:xfrm>
            <a:off x="4292498" y="1554480"/>
            <a:ext cx="3606698" cy="4892040"/>
          </a:xfrm>
          <a:prstGeom prst="roundRect">
            <a:avLst>
              <a:gd name="adj" fmla="val 2028"/>
            </a:avLst>
          </a:prstGeom>
          <a:solidFill>
            <a:srgbClr val="E8F8EF"/>
          </a:solidFill>
          <a:ln w="15875">
            <a:solidFill>
              <a:srgbClr val="9ED9B5"/>
            </a:solidFill>
            <a:prstDash val="solid"/>
          </a:ln>
        </p:spPr>
      </p:sp>
      <p:sp>
        <p:nvSpPr>
          <p:cNvPr id="11" name="Text 9"/>
          <p:cNvSpPr/>
          <p:nvPr/>
        </p:nvSpPr>
        <p:spPr>
          <a:xfrm>
            <a:off x="4475378"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inter- (between)</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intersect</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interval</a:t>
            </a:r>
            <a:endParaRPr lang="en-US" sz="2100" dirty="0"/>
          </a:p>
        </p:txBody>
      </p:sp>
      <p:sp>
        <p:nvSpPr>
          <p:cNvPr id="12" name="Shape 10"/>
          <p:cNvSpPr/>
          <p:nvPr/>
        </p:nvSpPr>
        <p:spPr>
          <a:xfrm>
            <a:off x="8082077" y="1554480"/>
            <a:ext cx="3606698" cy="4892040"/>
          </a:xfrm>
          <a:prstGeom prst="roundRect">
            <a:avLst>
              <a:gd name="adj" fmla="val 2028"/>
            </a:avLst>
          </a:prstGeom>
          <a:solidFill>
            <a:srgbClr val="E8F8EF"/>
          </a:solidFill>
          <a:ln w="15875">
            <a:solidFill>
              <a:srgbClr val="9ED9B5"/>
            </a:solidFill>
            <a:prstDash val="solid"/>
          </a:ln>
        </p:spPr>
      </p:sp>
      <p:sp>
        <p:nvSpPr>
          <p:cNvPr id="13" name="Text 11"/>
          <p:cNvSpPr/>
          <p:nvPr/>
        </p:nvSpPr>
        <p:spPr>
          <a:xfrm>
            <a:off x="8264957"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sub- (under)</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submarine</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subscribe</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COMPOUND OR COMPLEX?</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Compound &amp; Complex Sentences for Explanation</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Before you start: find the joint, then test each half on its own.</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COMPOUND OR COMPLEX?</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Compound &amp; Complex Sentences for Explanation</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Compound or complex?</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 corrected the tables, so the next voyage was safer.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 corrected the tables so that the next voyage was safer.</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Compound or complex?</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Since he could not afford school, he taught himself Latin.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Since he could not afford school he taught himself Latin.</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Compound or complex?</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crew doubted him; the figures did not.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crew doubted him, the figures did not.</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COMPOUND OR COMPLEX?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Compound &amp; Complex Sentences for Explanation</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Compound or complex?</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Nat corrected the tables, so the next voyage was safer.</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Nat corrected the tables so that the next voyage was safer.</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Compound or complex?</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Since he could not afford school, he taught himself Latin.</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Since he could not afford school he taught himself Latin.</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Compound or complex?</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The crew doubted him; the figures did not.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The crew doubted him, the figures did not.</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Grammar</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Join each pair twice — once as a compound sentence and once as a complex one — then say which version explains better: (1) The tables were wrong. Ships were lost. (2) He never went to college. He read Newton in Latin.</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Write four sentences in all. For each pair, name which version shows the relationship between the ideas and why.</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WHICH DIRECTION?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Prefixes trans-, sub-, inter-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Yesterday you met all three. Today, identify the direction each word is travelling. Across, under, or between — the prefix tells you before the root does.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Write these in your reading journal, showing the original prefix + root: illegal · irregular · immobile · connect · collect</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WHICH DIRECTION?</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Prefixes trans-, sub-, inter-</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word means between nations?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international</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subnational</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word means under the sea?</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transmarine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submarine</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word means to carry across?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transport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interport</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WHICH DIRECTION?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Prefixes trans-, sub-, inter-</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word means between nations?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international</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subnational</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word means under the sea?</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transmarine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submarine</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word means to carry across?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transport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interport</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MENTOR SENTENCE · CHAPTER 18</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RWM — Read like a Reader, Read like a Writer, Mimic</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463040"/>
          </a:xfrm>
          <a:prstGeom prst="roundRect">
            <a:avLst>
              <a:gd name="adj" fmla="val 5000"/>
            </a:avLst>
          </a:prstGeom>
          <a:solidFill>
            <a:srgbClr val="FEF6E8"/>
          </a:solidFill>
          <a:ln w="15875">
            <a:solidFill>
              <a:srgbClr val="C7922C"/>
            </a:solidFill>
            <a:prstDash val="solid"/>
          </a:ln>
        </p:spPr>
      </p:sp>
      <p:sp>
        <p:nvSpPr>
          <p:cNvPr id="7" name="Text 5"/>
          <p:cNvSpPr/>
          <p:nvPr/>
        </p:nvSpPr>
        <p:spPr>
          <a:xfrm>
            <a:off x="777240" y="1645920"/>
            <a:ext cx="10637215" cy="1280160"/>
          </a:xfrm>
          <a:prstGeom prst="rect">
            <a:avLst/>
          </a:prstGeom>
          <a:noFill/>
          <a:ln/>
        </p:spPr>
        <p:txBody>
          <a:bodyPr wrap="square" lIns="0" tIns="0" rIns="0" bIns="0" rtlCol="0" anchor="ctr">
            <a:normAutofit/>
          </a:bodyPr>
          <a:lstStyle/>
          <a:p>
            <a:pPr indent="0" marL="0">
              <a:buNone/>
            </a:pPr>
            <a:r>
              <a:rPr lang="en-US" sz="2400" i="1" dirty="0">
                <a:solidFill>
                  <a:srgbClr val="1E293B"/>
                </a:solidFill>
                <a:latin typeface="Georgia" pitchFamily="34" charset="0"/>
                <a:ea typeface="Georgia" pitchFamily="34" charset="-122"/>
                <a:cs typeface="Georgia" pitchFamily="34" charset="-120"/>
              </a:rPr>
              <a:t>“Little Charlie Waldo, the new cabin boy, listened big-eyed while Prince explained the danger of French spies.”</a:t>
            </a:r>
            <a:endParaRPr lang="en-US" sz="2400" dirty="0"/>
          </a:p>
        </p:txBody>
      </p:sp>
      <p:sp>
        <p:nvSpPr>
          <p:cNvPr id="8" name="Shape 6"/>
          <p:cNvSpPr/>
          <p:nvPr/>
        </p:nvSpPr>
        <p:spPr>
          <a:xfrm>
            <a:off x="502920" y="3246120"/>
            <a:ext cx="3606698" cy="3200400"/>
          </a:xfrm>
          <a:prstGeom prst="roundRect">
            <a:avLst>
              <a:gd name="adj" fmla="val 2286"/>
            </a:avLst>
          </a:prstGeom>
          <a:solidFill>
            <a:srgbClr val="F8FAFC"/>
          </a:solidFill>
          <a:ln w="15875">
            <a:solidFill>
              <a:srgbClr val="CBD5E1"/>
            </a:solidFill>
            <a:prstDash val="solid"/>
          </a:ln>
        </p:spPr>
      </p:sp>
      <p:sp>
        <p:nvSpPr>
          <p:cNvPr id="9" name="Text 7"/>
          <p:cNvSpPr/>
          <p:nvPr/>
        </p:nvSpPr>
        <p:spPr>
          <a:xfrm>
            <a:off x="685800"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Reader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Charlie is the smallest and newest person aboard, and he is listening to a warning about spies. Why does Latham put him in this scene at all?</a:t>
            </a:r>
            <a:endParaRPr lang="en-US" sz="1900" dirty="0"/>
          </a:p>
        </p:txBody>
      </p:sp>
      <p:sp>
        <p:nvSpPr>
          <p:cNvPr id="10" name="Shape 8"/>
          <p:cNvSpPr/>
          <p:nvPr/>
        </p:nvSpPr>
        <p:spPr>
          <a:xfrm>
            <a:off x="4292498" y="3246120"/>
            <a:ext cx="3606698" cy="3200400"/>
          </a:xfrm>
          <a:prstGeom prst="roundRect">
            <a:avLst>
              <a:gd name="adj" fmla="val 2286"/>
            </a:avLst>
          </a:prstGeom>
          <a:solidFill>
            <a:srgbClr val="F8FAFC"/>
          </a:solidFill>
          <a:ln w="15875">
            <a:solidFill>
              <a:srgbClr val="CBD5E1"/>
            </a:solidFill>
            <a:prstDash val="solid"/>
          </a:ln>
        </p:spPr>
      </p:sp>
      <p:sp>
        <p:nvSpPr>
          <p:cNvPr id="11" name="Text 9"/>
          <p:cNvSpPr/>
          <p:nvPr/>
        </p:nvSpPr>
        <p:spPr>
          <a:xfrm>
            <a:off x="4475378"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Writer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Every detail here is doing a job. the new cabin boy tells you why he does not already know this. big-eyed tells you how serious the warning sounds to someone hearing it for the first time. And while ties his listening to Prince’s explaining, so the two happen at once. Ask it of any detail you write: what would the reader lose without this?</a:t>
            </a:r>
            <a:endParaRPr lang="en-US" sz="1900" dirty="0"/>
          </a:p>
        </p:txBody>
      </p:sp>
      <p:sp>
        <p:nvSpPr>
          <p:cNvPr id="12" name="Shape 10"/>
          <p:cNvSpPr/>
          <p:nvPr/>
        </p:nvSpPr>
        <p:spPr>
          <a:xfrm>
            <a:off x="8082077" y="3246120"/>
            <a:ext cx="3606698" cy="3200400"/>
          </a:xfrm>
          <a:prstGeom prst="roundRect">
            <a:avLst>
              <a:gd name="adj" fmla="val 2286"/>
            </a:avLst>
          </a:prstGeom>
          <a:solidFill>
            <a:srgbClr val="F8FAFC"/>
          </a:solidFill>
          <a:ln w="15875">
            <a:solidFill>
              <a:srgbClr val="CBD5E1"/>
            </a:solidFill>
            <a:prstDash val="solid"/>
          </a:ln>
        </p:spPr>
      </p:sp>
      <p:sp>
        <p:nvSpPr>
          <p:cNvPr id="13" name="Text 11"/>
          <p:cNvSpPr/>
          <p:nvPr/>
        </p:nvSpPr>
        <p:spPr>
          <a:xfrm>
            <a:off x="8264957"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Mimic</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Write one sentence about Chapter 18 with a person in it, one detail that explains why they matter here, and a while clause putting two actions at the same time. Be ready to say why each detail earns its place.</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THE SAME TECHNIQUE IN YOUR OWN SENTENCE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Mimic — Your Turn</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280160"/>
          </a:xfrm>
          <a:prstGeom prst="roundRect">
            <a:avLst>
              <a:gd name="adj" fmla="val 5714"/>
            </a:avLst>
          </a:prstGeom>
          <a:solidFill>
            <a:srgbClr val="FEF6E8"/>
          </a:solidFill>
          <a:ln w="15875">
            <a:solidFill>
              <a:srgbClr val="C7922C"/>
            </a:solidFill>
            <a:prstDash val="solid"/>
          </a:ln>
        </p:spPr>
      </p:sp>
      <p:sp>
        <p:nvSpPr>
          <p:cNvPr id="7" name="Text 5"/>
          <p:cNvSpPr/>
          <p:nvPr/>
        </p:nvSpPr>
        <p:spPr>
          <a:xfrm>
            <a:off x="777240" y="1645920"/>
            <a:ext cx="10637215" cy="1097280"/>
          </a:xfrm>
          <a:prstGeom prst="rect">
            <a:avLst/>
          </a:prstGeom>
          <a:noFill/>
          <a:ln/>
        </p:spPr>
        <p:txBody>
          <a:bodyPr wrap="square" lIns="0" tIns="0" rIns="0" bIns="0" rtlCol="0" anchor="ctr">
            <a:normAutofit/>
          </a:bodyPr>
          <a:lstStyle/>
          <a:p>
            <a:pPr indent="0" marL="0">
              <a:buNone/>
            </a:pPr>
            <a:r>
              <a:rPr lang="en-US" sz="2200" i="1" dirty="0">
                <a:solidFill>
                  <a:srgbClr val="1E293B"/>
                </a:solidFill>
                <a:latin typeface="Georgia" pitchFamily="34" charset="0"/>
                <a:ea typeface="Georgia" pitchFamily="34" charset="-122"/>
                <a:cs typeface="Georgia" pitchFamily="34" charset="-120"/>
              </a:rPr>
              <a:t>“Little Charlie Waldo, the new cabin boy, listened big-eyed while Prince explained the danger of French spies.”</a:t>
            </a:r>
            <a:endParaRPr lang="en-US" sz="2200" dirty="0"/>
          </a:p>
        </p:txBody>
      </p:sp>
      <p:sp>
        <p:nvSpPr>
          <p:cNvPr id="8" name="Text 6"/>
          <p:cNvSpPr/>
          <p:nvPr/>
        </p:nvSpPr>
        <p:spPr>
          <a:xfrm>
            <a:off x="502920" y="3017520"/>
            <a:ext cx="11185855" cy="1463040"/>
          </a:xfrm>
          <a:prstGeom prst="rect">
            <a:avLst/>
          </a:prstGeom>
          <a:noFill/>
          <a:ln/>
        </p:spPr>
        <p:txBody>
          <a:bodyPr wrap="square" lIns="0" tIns="0" rIns="0" bIns="0" rtlCol="0" anchor="t"/>
          <a:lstStyle/>
          <a:p>
            <a:pPr indent="0" marL="0">
              <a:buNone/>
            </a:pPr>
            <a:r>
              <a:rPr lang="en-US" sz="2100" dirty="0">
                <a:solidFill>
                  <a:srgbClr val="1E293B"/>
                </a:solidFill>
                <a:latin typeface="Calibri" pitchFamily="34" charset="0"/>
                <a:ea typeface="Calibri" pitchFamily="34" charset="-122"/>
                <a:cs typeface="Calibri" pitchFamily="34" charset="-120"/>
              </a:rPr>
              <a:t>Write one sentence about Chapter 18 with a person in it, one detail that explains why they matter here, and a while clause putting two actions at the same time. Be ready to say why each detail earns its place.</a:t>
            </a:r>
            <a:endParaRPr lang="en-US" sz="2100" dirty="0"/>
          </a:p>
        </p:txBody>
      </p:sp>
      <p:sp>
        <p:nvSpPr>
          <p:cNvPr id="9" name="Text 7"/>
          <p:cNvSpPr/>
          <p:nvPr/>
        </p:nvSpPr>
        <p:spPr>
          <a:xfrm>
            <a:off x="502920" y="4617720"/>
            <a:ext cx="5486400"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FRAME</a:t>
            </a:r>
            <a:endParaRPr lang="en-US" sz="1300" dirty="0"/>
          </a:p>
        </p:txBody>
      </p:sp>
      <p:sp>
        <p:nvSpPr>
          <p:cNvPr id="10" name="Shape 8"/>
          <p:cNvSpPr/>
          <p:nvPr/>
        </p:nvSpPr>
        <p:spPr>
          <a:xfrm>
            <a:off x="502920" y="4937760"/>
            <a:ext cx="11185855" cy="1097280"/>
          </a:xfrm>
          <a:prstGeom prst="roundRect">
            <a:avLst>
              <a:gd name="adj" fmla="val 6667"/>
            </a:avLst>
          </a:prstGeom>
          <a:solidFill>
            <a:srgbClr val="FFFFFF"/>
          </a:solidFill>
          <a:ln w="15875">
            <a:solidFill>
              <a:srgbClr val="C7922C"/>
            </a:solidFill>
            <a:prstDash val="solid"/>
          </a:ln>
        </p:spPr>
      </p:sp>
      <p:sp>
        <p:nvSpPr>
          <p:cNvPr id="11" name="Text 9"/>
          <p:cNvSpPr/>
          <p:nvPr/>
        </p:nvSpPr>
        <p:spPr>
          <a:xfrm>
            <a:off x="777240" y="4983480"/>
            <a:ext cx="10637215" cy="1005840"/>
          </a:xfrm>
          <a:prstGeom prst="rect">
            <a:avLst/>
          </a:prstGeom>
          <a:noFill/>
          <a:ln/>
        </p:spPr>
        <p:txBody>
          <a:bodyPr wrap="square" lIns="0" tIns="0" rIns="0" bIns="0" rtlCol="0" anchor="ctr">
            <a:normAutofit/>
          </a:bodyPr>
          <a:lstStyle/>
          <a:p>
            <a:pPr indent="0" marL="0">
              <a:buNone/>
            </a:pPr>
            <a:r>
              <a:rPr lang="en-US" sz="2600" b="1" dirty="0">
                <a:solidFill>
                  <a:srgbClr val="0E1C42"/>
                </a:solidFill>
                <a:latin typeface="Calibri" pitchFamily="34" charset="0"/>
                <a:ea typeface="Calibri" pitchFamily="34" charset="-122"/>
                <a:cs typeface="Calibri" pitchFamily="34" charset="-120"/>
              </a:rPr>
              <a:t>[Name], the ___, ___ while [someone] ___.</a:t>
            </a:r>
            <a:endParaRPr lang="en-US" sz="2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18 — “THE ASTREA TO THE RESCUE”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Week 13 — Chapter 18 — The Astrea to the Rescue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Nat sails as supercargo with a sea chest full of books, planning to check every figure in every table that’s published. Near Cadiz, three heavy-laden American ships fall behind a British convoy, and Captain Prince turns the Astrea back to guard them. When three French ships come in sight, Nat takes the powder room — and loses himself in his figures. Later, off Alicante, a captain from Salem brings terrible news. Pay attention to Latham’s figurative language in this chapter: how does she use imagery to make the danger and the grief physical and immediate?</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18</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The Figurative Emergency: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How does Latham use figurative language to make the Astrea’s turn back toward the three slow ships feel urgent and real? Find one specific example and explain what it contributes.</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Nat’s Role: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While the French ships close in, Nat sits in the powder room with his slate. Why does he lose track of time? What does Captain Prince’s reaction tell you about how others see Nat?</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000"/>
              </a:spcAft>
              <a:buNone/>
            </a:pPr>
            <a:r>
              <a:rPr lang="en-US" sz="2300" b="1" dirty="0">
                <a:solidFill>
                  <a:srgbClr val="C7922C"/>
                </a:solidFill>
                <a:latin typeface="Calibri" pitchFamily="34" charset="0"/>
                <a:ea typeface="Calibri" pitchFamily="34" charset="-122"/>
                <a:cs typeface="Calibri" pitchFamily="34" charset="-120"/>
              </a:rPr>
              <a:t>1.  </a:t>
            </a:r>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In Chapter 18 the Astrea leaves the convoy to guard three slow American ships, and three French ships bear down on her. How does Latham use figurative language in this chapter to make the moment feel immediate and real? Identify one specific example and explain its contribution.</a:t>
            </a:r>
            <a:endParaRPr lang="en-US" sz="2300" dirty="0"/>
          </a:p>
          <a:p>
            <a:pPr indent="0" marL="0">
              <a:spcAft>
                <a:spcPts val="1000"/>
              </a:spcAft>
              <a:buNone/>
            </a:pPr>
            <a:r>
              <a:rPr lang="en-US" sz="2300" b="1" dirty="0">
                <a:solidFill>
                  <a:srgbClr val="C7922C"/>
                </a:solidFill>
                <a:latin typeface="Calibri" pitchFamily="34" charset="0"/>
                <a:ea typeface="Calibri" pitchFamily="34" charset="-122"/>
                <a:cs typeface="Calibri" pitchFamily="34" charset="-120"/>
              </a:rPr>
              <a:t>2.  </a:t>
            </a:r>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Nat spends the French encounter in the powder room, working figures on his slate — for three hours. What does that show about him? Later, how does work help him after he hears that Elizabeth has died?</a:t>
            </a:r>
            <a:endParaRPr lang="en-US" sz="2300" dirty="0"/>
          </a:p>
          <a:p>
            <a:pPr indent="0" marL="0">
              <a:spcAft>
                <a:spcPts val="1000"/>
              </a:spcAft>
              <a:buNone/>
            </a:pPr>
            <a:r>
              <a:rPr lang="en-US" sz="2300" b="1" dirty="0">
                <a:solidFill>
                  <a:srgbClr val="C7922C"/>
                </a:solidFill>
                <a:latin typeface="Calibri" pitchFamily="34" charset="0"/>
                <a:ea typeface="Calibri" pitchFamily="34" charset="-122"/>
                <a:cs typeface="Calibri" pitchFamily="34" charset="-120"/>
              </a:rPr>
              <a:t>3.  </a:t>
            </a:r>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How does Chapter 18 develop what we understand about Nat’s purpose — why his work checking the navigation tables in Moore matters? Use a relative clause in your response.</a:t>
            </a:r>
            <a:endParaRPr lang="en-US" sz="2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REVISE &amp; EDIT · CHECK YOUR ORGANIZATION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13 · REVISE &amp; EDIT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Today you check whether each section of your essay does its job. Strong organization means every paragraph has one clear focus and contributes to the claim.</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reads each section and writes one sentence saying what it does. BEFORE Alex’s draft diagnosis: Introduction does: sets up the claim. Body 1 does: shows Nat’s self-education. Body 2 does: um, talks about navigation stuff. Conclusion does: says the claim again. AFTER Alex’s honest diagnosis: Body 2 needs a clearer job. Alex refocuses it: Body 2 does: shows how Nat took his self-education and turned it outward — making it accessible to others, not keeping it to himself. Conclusion does: synthesizes Body 1 + 2 to show why the combination is what makes Bowditch extraordinary. Notice: Alex’s honest assessment of Body 2 was “talks about navigation stuff” — too vague. Revising the job description forces Alex to clarify what the section actually argues. If you can’t say what a section does in one sentence, it probably needs reorganizing.</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REVISE &amp; EDIT · CHECK YOUR ORGANIZATION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13 · REVISE &amp; EDIT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Section Job Check: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Write one sentence for each section of your essay: what does it do? Then check: does the section actually do that job? Alex’s example (filled): Introduction: Sets up the claim (fog scene → Nat’s background → thesis). ✓ Body 1: Shows Nat’s self-education (chandlery nights, notebooks). ✓ Body 2: Shows how Nat turned self-education outward — making knowledge accessible. Revised and refocused. ✓ Conclusion: Synthesizes both body sections and returns to the opening fog scene. ✓ Your turn — do the same in your reading journal: My Introduction does: ____________________ My Body 1 does: ____________________ My Body 2 does: ____________________ My Conclusion does: ____________________ The section that needs the clearest refocus is ___ because: ____________________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“My Body ___ section’s job is to show ___.” “To make that section do its job, I need to add ___ and cut ___.” “The most important thing my conclusion must do is ___...”</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13.2 — Carry On, Mr. Bowditch, Chapter 18</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