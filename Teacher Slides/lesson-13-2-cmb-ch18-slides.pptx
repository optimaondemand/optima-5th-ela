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13, Day 2, Chapter 18 — The Astrea to the Rescue.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18 and continue revising your expository piece. Keep asking: How does figurative language contribute to meaning?
Morphology: Identify trans-/inter-/sub- in new words.
Grammar SWYK: Identify and add relative clauses.
Spelling: Identify assimilated prefixes.
Reading: Chapter 18 — The Astrea to the Rescue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sailors who trusted nat knew that his calculations which had never failed him would transfer their ship safely through the dangerous passage"
Corrected: "The sailors who trusted Nat knew that his calculations, which had never failed him, would transfer their ship safely through the dangerous passage."
Fixes: capitalize “The” and “Nat”; commas around non-restrictive “which had never failed him”;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sailors who trusted nat knew that his calculations which had never failed him would transfer their ship safely through the dangerous passage"
Corrected: "The sailors who trusted Nat knew that his calculations, which had never failed him, would transfer their ship safely through the dangerous passage."
Fixes: capitalize “The” and “Nat”; commas around non-restrictive “which had never failed him”;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Identify Assimilated Prefixes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13 — Chapter 18 — The Astrea to the Rescue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REVISE &amp; EDIT: Check your organization
Focus: Today you check whether each section of your essay does its job. Strong organization means every paragraph has one clear focus and contributes to the claim.
Before: BEFORE Alex’s draft diagnosis: Introduction does: sets up the claim. Body 1 does: shows Nat’s self-education. Body 2 does: um, talks about navigation stuff. Conclusion does: says the claim again.
After: AFTER Alex’s honest diagnosis: Body 2 needs a clearer job. Alex refocuses it: Body 2 does: shows how Nat took his self-education and turned it outward — making it accessible to others, not keeping it to himself. Conclusion does: synthesizes Body 1 + 2 to show why the combination is what makes Bowditch extraordinary.
Notice: Notice: Alex’s honest assessment of Body 2 was “talks about navigation stuff” — too vague. Revising the job description forces Alex to clarify what the section actually argues. If you can’t say what a section does in one sentence, it probably needs reorganizing.
Tool: Today’s Tool: Section Job Check — Write one sentence for each section of your essay: what does it do? Then check: does the section actually do that job?
Frames: “My Body ___ section’s job is to show ___.” | “To make that section do its job, I need to add ___ and cut ___.” | “The most important thing my conclusion must do is ___...”
Prompt: Write a one-sentence job description for each section of your essay. Then identify which section needs the most reorganization and explain what you’ll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13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18 — The Astrea to the Rescue</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13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18 and continue revising your expository piece. Keep asking: How does figurative language contribute to meaning?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Identify trans-/inter-/sub- in new words.</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SWYK: </a:t>
            </a:r>
            <a:pPr indent="0" marL="0">
              <a:buNone/>
            </a:pPr>
            <a:r>
              <a:rPr lang="en-US" sz="1250" dirty="0">
                <a:solidFill>
                  <a:srgbClr val="1E293B"/>
                </a:solidFill>
                <a:latin typeface="Calibri" pitchFamily="34" charset="0"/>
                <a:ea typeface="Calibri" pitchFamily="34" charset="-122"/>
                <a:cs typeface="Calibri" pitchFamily="34" charset="-120"/>
              </a:rPr>
              <a:t>Identify and add relative clauses.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Identify assimilated prefixes.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18 — The Astrea to the Rescue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18 is a chapter of action — the Astrea rushes to rescue a vessel in distress. But Latham doesn’t write this as a simple adventure scene. She uses figurative language to make the reader feel the urgency, the darkness, the cold spray of the sea. Good readers identify specific figurative language and explain what work it is doing in the text.</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When Latham writes about the rescue, what figurative language does she use to convey urgency or danger? Identify at least one specific example as you read.</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Nat’s mathematical precision contribute to the rescue? Where does his skill intersect with the moment of crisis?</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This chapter shows Nat in an emergency. How does the figurative language Latham uses help convey what is at stake?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who had spent years calculating exact positions at sea , knew the precise interval between each lunar observation.</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who had spent years calculating exact positions at sea  </a:t>
            </a:r>
            <a:pPr indent="0" marL="0">
              <a:buNone/>
            </a:pPr>
            <a:r>
              <a:rPr lang="en-US" sz="1200" dirty="0">
                <a:solidFill>
                  <a:srgbClr val="1E293B"/>
                </a:solidFill>
                <a:latin typeface="Calibri" pitchFamily="34" charset="0"/>
                <a:ea typeface="Calibri" pitchFamily="34" charset="-122"/>
                <a:cs typeface="Calibri" pitchFamily="34" charset="-120"/>
              </a:rPr>
              <a:t>Non-restrictive relative clause — adds extra info about Nat. Comma before who, which/who for people.</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precise interval  </a:t>
            </a:r>
            <a:pPr indent="0" marL="0">
              <a:buNone/>
            </a:pPr>
            <a:r>
              <a:rPr lang="en-US" sz="1200" dirty="0">
                <a:solidFill>
                  <a:srgbClr val="1E293B"/>
                </a:solidFill>
                <a:latin typeface="Calibri" pitchFamily="34" charset="0"/>
                <a:ea typeface="Calibri" pitchFamily="34" charset="-122"/>
                <a:cs typeface="Calibri" pitchFamily="34" charset="-120"/>
              </a:rPr>
              <a:t>inter- = between. The precise interval between observations.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sailors who trusted nat knew that his calculations which had never failed him would transfer their ship safely through the dangerous passage</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sailors who trusted nat knew that his calculations which had never failed him would transfer their ship safely through the dangerous passage</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sailors who trusted Nat knew that his calculations, which had never failed him, would transfer their ship safely through the dangerous passage.</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and “Nat”; commas around non-restrictive “which had never failed him”;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“The Wreck of the Hesperus” (opening)</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Henry Wadsworth Longfellow, 1842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It was the schooner Hesperus,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That sailed the wintry sea;</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the skipper had taken his little daughter,</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To bear him company.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Blue were her eyes as the fairy-flax,</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Her cheeks like the dawn of day,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her bosom white as the hawthorn buds,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That ope in the month of May.</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Longfellow’s poem is about a wreck caused by a captain who ignored a warning. How does this contrast with Nat’s approach to the sea? What does Nat represent that the Hesperus’s captain did not?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Astrea sails to the rescue in this chapter. Was it more important that help arrived, or that Nat's methods made the rescue possible in the first place? Defend your answer with evidence from Chapter 18.</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Astrea sails to the rescue in this chapter. Was it more important that help arrived, or that Nat's methods made the rescue possible in the first place? Defend your answer with evidence from Chapter 18.</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Identify trans-/inter-/sub- in New Words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transcend = crossing across an entire continent</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submerge = to go or extend below the surface</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interchangeable = able to be exchanged between things without difference</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transcontinental = to go beyond ordinary limits; to rise above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Identify — group words by which prefix they use</a:t>
            </a:r>
            <a:endParaRPr lang="en-US" sz="1100" dirty="0"/>
          </a:p>
        </p:txBody>
      </p:sp>
      <p:sp>
        <p:nvSpPr>
          <p:cNvPr id="5" name="Text 3"/>
          <p:cNvSpPr/>
          <p:nvPr/>
        </p:nvSpPr>
        <p:spPr>
          <a:xfrm>
            <a:off x="36576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trans- (across)</a:t>
            </a:r>
            <a:endParaRPr lang="en-US" sz="1300" dirty="0"/>
          </a:p>
        </p:txBody>
      </p:sp>
      <p:sp>
        <p:nvSpPr>
          <p:cNvPr id="6" name="Text 4"/>
          <p:cNvSpPr/>
          <p:nvPr/>
        </p:nvSpPr>
        <p:spPr>
          <a:xfrm>
            <a:off x="36576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translate  ·  transfer</a:t>
            </a:r>
            <a:endParaRPr lang="en-US" sz="1300" dirty="0"/>
          </a:p>
        </p:txBody>
      </p:sp>
      <p:sp>
        <p:nvSpPr>
          <p:cNvPr id="7" name="Text 5"/>
          <p:cNvSpPr/>
          <p:nvPr/>
        </p:nvSpPr>
        <p:spPr>
          <a:xfrm>
            <a:off x="466344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inter- (between)</a:t>
            </a:r>
            <a:endParaRPr lang="en-US" sz="1300" dirty="0"/>
          </a:p>
        </p:txBody>
      </p:sp>
      <p:sp>
        <p:nvSpPr>
          <p:cNvPr id="8" name="Text 6"/>
          <p:cNvSpPr/>
          <p:nvPr/>
        </p:nvSpPr>
        <p:spPr>
          <a:xfrm>
            <a:off x="466344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intersect  ·  interval</a:t>
            </a:r>
            <a:endParaRPr lang="en-US" sz="1300" dirty="0"/>
          </a:p>
        </p:txBody>
      </p:sp>
      <p:sp>
        <p:nvSpPr>
          <p:cNvPr id="9" name="Text 7"/>
          <p:cNvSpPr/>
          <p:nvPr/>
        </p:nvSpPr>
        <p:spPr>
          <a:xfrm>
            <a:off x="896112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sub- (under)</a:t>
            </a:r>
            <a:endParaRPr lang="en-US" sz="1300" dirty="0"/>
          </a:p>
        </p:txBody>
      </p:sp>
      <p:sp>
        <p:nvSpPr>
          <p:cNvPr id="10" name="Text 8"/>
          <p:cNvSpPr/>
          <p:nvPr/>
        </p:nvSpPr>
        <p:spPr>
          <a:xfrm>
            <a:off x="896112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submarine  ·  subscribe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and Add Relative Clauses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Astrea, which was the fastest ship in Salem Harbor , reached the distressed vessel before nightfall.” — This relative clause is: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Restrictive — it identifies which Astrea   /   Non-restrictive — it adds extra info; the Astrea is already identified by name</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“Any navigator who could calculate lunar distances was worth his weight in gold.” — This clause is: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Restrictive — it defines which type of navigator (no comma, uses “who”)   /   Non-restrictive — it adds optional extra info about the navigator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and Add Relative Clauses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Astrea, which was the fastest ship in Salem Harbor , reached the distressed vessel before nightfall.” — This relative clause is:
</a:t>
            </a:r>
            <a:pPr indent="0" marL="0">
              <a:buNone/>
            </a:pPr>
            <a:r>
              <a:rPr lang="en-US" sz="1200" b="1" dirty="0">
                <a:solidFill>
                  <a:srgbClr val="34B76F"/>
                </a:solidFill>
                <a:latin typeface="Calibri" pitchFamily="34" charset="0"/>
                <a:ea typeface="Calibri" pitchFamily="34" charset="-122"/>
                <a:cs typeface="Calibri" pitchFamily="34" charset="-120"/>
              </a:rPr>
              <a:t>✅ Non-restrictive — it adds extra info; the Astrea is already identified by name</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“Any navigator who could calculate lunar distances was worth his weight in gold.” — This clause is:
</a:t>
            </a:r>
            <a:pPr indent="0" marL="0">
              <a:buNone/>
            </a:pPr>
            <a:r>
              <a:rPr lang="en-US" sz="1200" b="1" dirty="0">
                <a:solidFill>
                  <a:srgbClr val="34B76F"/>
                </a:solidFill>
                <a:latin typeface="Calibri" pitchFamily="34" charset="0"/>
                <a:ea typeface="Calibri" pitchFamily="34" charset="-122"/>
                <a:cs typeface="Calibri" pitchFamily="34" charset="-120"/>
              </a:rPr>
              <a:t>✅ Restrictive — it defines which type of navigator (no comma, uses “who”)</a:t>
            </a:r>
            <a:endParaRPr lang="en-US" sz="1200" dirty="0"/>
          </a:p>
        </p:txBody>
      </p:sp>
      <p:sp>
        <p:nvSpPr>
          <p:cNvPr id="11" name="Shape 9"/>
          <p:cNvSpPr/>
          <p:nvPr/>
        </p:nvSpPr>
        <p:spPr>
          <a:xfrm>
            <a:off x="365760" y="2624328"/>
            <a:ext cx="8412480" cy="685800"/>
          </a:xfrm>
          <a:prstGeom prst="roundRect">
            <a:avLst>
              <a:gd name="adj" fmla="val 13333"/>
            </a:avLst>
          </a:prstGeom>
          <a:solidFill>
            <a:srgbClr val="FEF6E8"/>
          </a:solidFill>
          <a:ln w="12700">
            <a:solidFill>
              <a:srgbClr val="C7922C"/>
            </a:solidFill>
            <a:prstDash val="solid"/>
          </a:ln>
        </p:spPr>
      </p:sp>
      <p:sp>
        <p:nvSpPr>
          <p:cNvPr id="12" name="Text 10"/>
          <p:cNvSpPr/>
          <p:nvPr/>
        </p:nvSpPr>
        <p:spPr>
          <a:xfrm>
            <a:off x="548640" y="267919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Grammar
</a:t>
            </a:r>
            <a:pPr indent="0" marL="0">
              <a:buNone/>
            </a:pPr>
            <a:r>
              <a:rPr lang="en-US" sz="1000" i="1" dirty="0">
                <a:solidFill>
                  <a:srgbClr val="1E293B"/>
                </a:solidFill>
                <a:latin typeface="Calibri" pitchFamily="34" charset="0"/>
                <a:ea typeface="Calibri" pitchFamily="34" charset="-122"/>
                <a:cs typeface="Calibri" pitchFamily="34" charset="-120"/>
              </a:rPr>
              <a:t>Expand each simple sentence by adding a relative clause. Then identify whether your clause is restrictive (no comma, uses “that”) or non-restrictive (comma, uses “which” or “who”).</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Identify Assimilated Prefixes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Identify — find the hidden prefix</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support — which prefix does this contain?
</a:t>
            </a:r>
            <a:pPr indent="0" marL="0">
              <a:buNone/>
            </a:pPr>
            <a:r>
              <a:rPr lang="en-US" sz="1150" b="1" dirty="0">
                <a:solidFill>
                  <a:srgbClr val="34B76F"/>
                </a:solidFill>
                <a:latin typeface="Calibri" pitchFamily="34" charset="0"/>
                <a:ea typeface="Calibri" pitchFamily="34" charset="-122"/>
                <a:cs typeface="Calibri" pitchFamily="34" charset="-120"/>
              </a:rPr>
              <a:t>✅ sub- (the b became p to match the root port )</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suffix — which prefix?
</a:t>
            </a:r>
            <a:pPr indent="0" marL="0">
              <a:buNone/>
            </a:pPr>
            <a:r>
              <a:rPr lang="en-US" sz="1150" b="1" dirty="0">
                <a:solidFill>
                  <a:srgbClr val="34B76F"/>
                </a:solidFill>
                <a:latin typeface="Calibri" pitchFamily="34" charset="0"/>
                <a:ea typeface="Calibri" pitchFamily="34" charset="-122"/>
                <a:cs typeface="Calibri" pitchFamily="34" charset="-120"/>
              </a:rPr>
              <a:t>✅ sub- (the b became f to match the root fix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13 — Chapter 18 — The Astrea to the Rescue</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18 — The Astrea to the Rescue</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When Latham writes about the rescue, what figurative language does she use to convey urgency or danger? Identify at least one specific example as you read.</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Nat’s mathematical precision contribute to the rescue? Where does his skill intersect with the moment of crisis?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Chapter 18 is an action chapter — a rescue at sea. How does Latham use figurative language in this chapter to make the danger feel immediate and real? Identify one specific example and explain its contribution.</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In the rescue, Nat’s mathematical precision intersects with the emergency. Explain exactly how his skill contributes to the successful rescue — and why a navigator with less precision might have failed.</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How does Chapter 18 develop what we understand about Nat’s purpose — why his work with the almanac matters? Use a relative clause in your response.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REVISE &amp; EDIT  ·  Check your organization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Today you check whether each section of your essay does its job. Strong organization means every paragraph has one clear focus and contributes to the claim.</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draft diagnosis: Introduction does: sets up the claim. Body 1 does: shows Nat’s self-education. Body 2 does: um, talks about navigation stuff. Conclusion does: says the claim again.</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honest diagnosis: Body 2 needs a clearer job. Alex refocuses it: Body 2 does: shows how Nat took his self-education and turned it outward — making it accessible to others, not keeping it to himself. Conclusion does: synthesizes Body 1 + 2 to show why the combination is what makes Bowditch extraordinary.</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honest assessment of Body 2 was “talks about navigation stuff” — too vague. Revising the job description forces Alex to clarify what the section actually argues. If you can’t say what a section does in one sentence, it probably needs reorganizing.</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SECTION JOB CHECK</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Write one sentence for each section of your essay: what does it do? Then check: does the section actually do that job?</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a one-sentence job description for each section of your essay. Then identify which section needs the most reorganization and explain what you’ll do.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