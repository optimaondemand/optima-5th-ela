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25, Day 1, Week 25 — Day 1: The California Gold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In January 1849, thousands of people abandoned their homes and families to rush toward California. Before Jack and Praiseworthy even emerge from their potato barrels, this is the world they’re entering. Today you build the background to understand why.
Morphology: I will identify the roots aud (hear) and oral/or (speak) and explain what they mean.
Grammar: I will identify prepositional phrases that describe a setting.
Reading: I will analyze the California Gold Rush and explain the three routes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gold-seekers scrambled and pushed, desperate to reach their cabins aboard the Lady Wilma."
Corrected: "One possible fix: On the crowded upper deck, the gold-seekers scrambled and pushed, desperate to reach their cabins aboard the Lady Wilma."
The phrase “On the crowded upper deck” is prepositional (starts with “on”) and tells us exactly WHERE the chaos is happening. Many other prepositional phrases also work — “In the main saloon,” “Below the smokestack,”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gold-seekers scrambled and pushed, desperate to reach their cabins aboard the Lady Wilma."
Corrected: "One possible fix: On the crowded upper deck, the gold-seekers scrambled and pushed, desperate to reach their cabins aboard the Lady Wilma."
The phrase “On the crowded upper deck” is prepositional (starts with “on”) and tells us exactly WHERE the chaos is happening. Many other prepositional phrases also work — “In the main saloon,” “Below the smokestack,”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Did I use a capital letter at the start of each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Word Study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Big Geography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25 — Day 1: The California Gold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Focus: Your adventure story begins here
Task: Fill in your plan: Hero, Problem/Goal, Setting, and Stakes. Bullet points are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25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25 — Day 1: The California Gold Rush</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25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In January 1849, thousands of people abandoned their homes and families to rush toward California. Before Jack and Praiseworthy even emerge from their potato barrels, this is the world they’re entering. Today you build the background to understand why.</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a:t>
            </a:r>
            <a:pPr indent="0" marL="0">
              <a:buNone/>
            </a:pPr>
            <a:r>
              <a:rPr lang="en-US" sz="1250" dirty="0">
                <a:solidFill>
                  <a:srgbClr val="1E293B"/>
                </a:solidFill>
                <a:latin typeface="Calibri" pitchFamily="34" charset="0"/>
                <a:ea typeface="Calibri" pitchFamily="34" charset="-122"/>
                <a:cs typeface="Calibri" pitchFamily="34" charset="-120"/>
              </a:rPr>
              <a:t>I will identify the roots aud (hear) and oral/or (speak) and explain what they mean.</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prepositional phrases that describe a setting.</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the California Gold Rush and explain the three routes west.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Before starting a historical novel, good readers build context — they understand the real world the characters are moving through. As you read By the Great Horn Spoon! , notice how Fleischman uses real Gold Rush details: the route around Cape Horn, the overcrowded ships, the mix of passengers from everywhere, the race to get there before the gold is gone. The comedy of the novel works because the situation is completely real — and completely impossible. Write in your reading journal.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In the creaking darkness of her cargo hold , the stowaways waited for the perfect moment to emerge.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In the creaking darkness of her cargo hold  </a:t>
            </a:r>
            <a:pPr indent="0" marL="0">
              <a:buNone/>
            </a:pPr>
            <a:r>
              <a:rPr lang="en-US" sz="1150" dirty="0">
                <a:solidFill>
                  <a:srgbClr val="1E293B"/>
                </a:solidFill>
                <a:latin typeface="Calibri" pitchFamily="34" charset="0"/>
                <a:ea typeface="Calibri" pitchFamily="34" charset="-122"/>
                <a:cs typeface="Calibri" pitchFamily="34" charset="-120"/>
              </a:rPr>
              <a:t>In the creaking darkness of her cargo hold' is a prepositional phrase. It begins with the preposition “In” and tells WHERE the stowaways are hiding. Setting detail!</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for the perfect moment  </a:t>
            </a:r>
            <a:pPr indent="0" marL="0">
              <a:buNone/>
            </a:pPr>
            <a:r>
              <a:rPr lang="en-US" sz="1150" dirty="0">
                <a:solidFill>
                  <a:srgbClr val="1E293B"/>
                </a:solidFill>
                <a:latin typeface="Calibri" pitchFamily="34" charset="0"/>
                <a:ea typeface="Calibri" pitchFamily="34" charset="-122"/>
                <a:cs typeface="Calibri" pitchFamily="34" charset="-120"/>
              </a:rPr>
              <a:t>For the perfect moment' is also a prepositional phrase. It begins with “for” and tells us WHAT they were waiting for.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gold-seekers scrambled and pushed, desperate to reach their cabins aboard the Lady Wilma.</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gold-seekers scrambled and pushed, desperate to reach their cabins aboard the Lady Wilma.</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One possible fix: On the crowded upper deck, the gold-seekers scrambled and pushed, desperate to reach their cabins aboard the Lady Wilma.</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phrase “On the crowded upper deck” is prepositional (starts with “on”) and tells us exactly WHERE the chaos is happening. Many other prepositional phrases also work — “In the main saloon,” “Below the smokestack,” etc.</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Thousands of people abandoned everything to chase the Gold Rush dream. Was leaving home for a fortune more brave, or more reckless? Defend your answer with evidence from today's background reading.</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Thousands of people abandoned everything to chase the Gold Rush dream. Was leaving home for a fortune more brave, or more reckless? Defend your answer with evidence from today's background reading.</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Did I use a capital letter at the start of each sentence?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aud + oral/or</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aud (Latin) means hear . When you see this root, the word usually has something to do with listening or sound.</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oral/or (Latin) means speak or mouth . When you see this root, the word usually has something to do with speaking, words, or the mouth.</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aud ible — able to be heard (an audible sound is one you can actually hear)</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aud ience — a group of people listening (those who hear a performance)</a:t>
            </a:r>
            <a:endParaRPr lang="en-US" sz="1100" dirty="0"/>
          </a:p>
        </p:txBody>
      </p:sp>
      <p:sp>
        <p:nvSpPr>
          <p:cNvPr id="13" name="Shape 11"/>
          <p:cNvSpPr/>
          <p:nvPr/>
        </p:nvSpPr>
        <p:spPr>
          <a:xfrm>
            <a:off x="365760" y="3410712"/>
            <a:ext cx="8412480" cy="777240"/>
          </a:xfrm>
          <a:prstGeom prst="roundRect">
            <a:avLst>
              <a:gd name="adj" fmla="val 11765"/>
            </a:avLst>
          </a:prstGeom>
          <a:solidFill>
            <a:srgbClr val="FEF6E8"/>
          </a:solidFill>
          <a:ln w="12700">
            <a:solidFill>
              <a:srgbClr val="C7922C"/>
            </a:solidFill>
            <a:prstDash val="solid"/>
          </a:ln>
        </p:spPr>
      </p:sp>
      <p:sp>
        <p:nvSpPr>
          <p:cNvPr id="14" name="Text 12"/>
          <p:cNvSpPr/>
          <p:nvPr/>
        </p:nvSpPr>
        <p:spPr>
          <a:xfrm>
            <a:off x="548640" y="3483864"/>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050" i="1" dirty="0">
                <a:solidFill>
                  <a:srgbClr val="1E293B"/>
                </a:solidFill>
                <a:latin typeface="Calibri" pitchFamily="34" charset="0"/>
                <a:ea typeface="Calibri" pitchFamily="34" charset="-122"/>
                <a:cs typeface="Calibri" pitchFamily="34" charset="-120"/>
              </a:rPr>
              <a:t>What do the words audible , audience , and audition all have in common? Write one sentence that names the shared root and explains what it means.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Five words you’ll meet this week — let’s figure them out together</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stowaway  </a:t>
            </a:r>
            <a:pPr indent="0" marL="0">
              <a:buNone/>
            </a:pPr>
            <a:r>
              <a:rPr lang="en-US" sz="1150" dirty="0">
                <a:solidFill>
                  <a:srgbClr val="1E293B"/>
                </a:solidFill>
                <a:latin typeface="Calibri" pitchFamily="34" charset="0"/>
                <a:ea typeface="Calibri" pitchFamily="34" charset="-122"/>
                <a:cs typeface="Calibri" pitchFamily="34" charset="-120"/>
              </a:rPr>
              <a:t>A person who hides on a ship (or other vehicle) to travel without paying or being detected.</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paddlewheel  </a:t>
            </a:r>
            <a:pPr indent="0" marL="0">
              <a:buNone/>
            </a:pPr>
            <a:r>
              <a:rPr lang="en-US" sz="1150" dirty="0">
                <a:solidFill>
                  <a:srgbClr val="1E293B"/>
                </a:solidFill>
                <a:latin typeface="Calibri" pitchFamily="34" charset="0"/>
                <a:ea typeface="Calibri" pitchFamily="34" charset="-122"/>
                <a:cs typeface="Calibri" pitchFamily="34" charset="-120"/>
              </a:rPr>
              <a:t>A large wheel with flat paddles that rotates to propel a ship through water.</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porthole  </a:t>
            </a:r>
            <a:pPr indent="0" marL="0">
              <a:buNone/>
            </a:pPr>
            <a:r>
              <a:rPr lang="en-US" sz="1150" dirty="0">
                <a:solidFill>
                  <a:srgbClr val="1E293B"/>
                </a:solidFill>
                <a:latin typeface="Calibri" pitchFamily="34" charset="0"/>
                <a:ea typeface="Calibri" pitchFamily="34" charset="-122"/>
                <a:cs typeface="Calibri" pitchFamily="34" charset="-120"/>
              </a:rPr>
              <a:t>A small circular window built into the side of a ship, often sealed with thick glass.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Prepositional Phrases for Setting</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 what is a prepositional phrase, and how does it build a setting?</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prepositional phrase begins with a preposition (a word that shows relationship — in, on, under, through, around, at, of, by, with, from, toward ) and ends with a noun or pronoun. It tells us where , when , how , or in what way something happens.</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From the novel:</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 In the creaking darkness of her cargo hold , there sat eighteen barrels of potatoes.”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Big Geography Words</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Define — break these multisyllabic words apart</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Cal · i · for · ni · a — 5 syllables — the destination</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Sac · ra · men · to — 4 syllables — California’s capital</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Pat · a · go · ni · a — 5 syllables — the cold southern region near Cape Horn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25 — Day 1: The California Gold Rush</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25 — Day 1: The California Gold Rush</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Before starting a historical novel, good readers build context — they understand the real world the characters are moving through. As you read By the Great Horn Spoon! , notice how Fleischman uses real Gold Rush details: the route around Cape Horn, the overcrowded ships, the mix of passengers from everywhere, the race to get there before the gold is gone. The comedy of the novel works because the situation is completely real — and completely impossible. Write in your reading journal.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The California Gold Rush</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According to the passage, what caused the California Gold Rush to begin in 1849? Who were the people who joined it, and what were they called?</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Describe the Cape Horn sea route in your own words. What were two challenges travelers faced on this route? Why is it significant that Jack and Praiseworthy’s ship, the Lady Wilma, is taking this route?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Our novel begins on January 27, 1849, in Boston harbor — just as the Gold Rush is sweeping the country. Based on what you read today, explain why this moment is an exciting and unusual time in American history. Use at least one specific detail from the passage in your answer.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Your adventure story begins here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Fill in your plan: Hero, Problem/Goal, Setting, and Stakes. Bullet points are fine.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2026-07-13T17:56:38Z</dcterms:created>
  <dcterms:modified xsi:type="dcterms:W3CDTF">2026-07-13T17:56:38Z</dcterms:modified>
</cp:coreProperties>
</file>