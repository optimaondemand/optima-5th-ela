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31 Day 3 — Comparison Project: Full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makes a comparison essay do more than just describe two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warm-up before diving into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most significant difference between the two novels is not the definition of courage itself but the context in which it must be exercised both authors suggest however that courage at its core is a choice made under pressure in which the character could have chosen safety"
Corrected: "The most significant difference between the two novels is not the definition of courage itself but the context in which it must be exercised. Both authors suggest, however, that courage at its core is a choice made under pressure — one in which the character could have chosen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most significant difference between the two novels is not the definition of courage itself but the context in which it must be exercised both authors suggest however that courage at its core is a choice made under pressure in which the character could have chosen safety"
Corrected: "The most significant difference between the two novels is not the definition of courage itself but the context in which it must be exercised. Both authors suggest, however, that courage at its core is a choice made under pressure — one in which the character could have chosen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today's reading/project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model example aloud before students write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progress: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checklist before students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34B76F">
              <a:alpha val="15000"/>
            </a:srgbClr>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algn="l" indent="0" marL="0">
              <a:buNone/>
            </a:pPr>
            <a:r>
              <a:rPr lang="en-US" sz="1300" b="1" spc="400" kern="0" dirty="0">
                <a:solidFill>
                  <a:srgbClr val="34B76F"/>
                </a:solidFill>
                <a:latin typeface="Calibri" pitchFamily="34" charset="0"/>
                <a:ea typeface="Calibri" pitchFamily="34" charset="-122"/>
                <a:cs typeface="Calibri" pitchFamily="34" charset="-120"/>
              </a:rPr>
              <a:t>WEEK 31  ·  DAY 3</a:t>
            </a:r>
            <a:endParaRPr lang="en-US" sz="13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Year-End Synthesis · 5th Grade ELA</a:t>
            </a:r>
            <a:endParaRPr lang="en-US" sz="1400" dirty="0"/>
          </a:p>
        </p:txBody>
      </p:sp>
      <p:sp>
        <p:nvSpPr>
          <p:cNvPr id="5" name="Text 3"/>
          <p:cNvSpPr/>
          <p:nvPr/>
        </p:nvSpPr>
        <p:spPr>
          <a:xfrm>
            <a:off x="457200" y="1234440"/>
            <a:ext cx="8229600" cy="12801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Comparison Project: Full Draft</a:t>
            </a:r>
            <a:endParaRPr lang="en-US" sz="3000" dirty="0"/>
          </a:p>
        </p:txBody>
      </p:sp>
      <p:sp>
        <p:nvSpPr>
          <p:cNvPr id="6" name="Text 4"/>
          <p:cNvSpPr/>
          <p:nvPr/>
        </p:nvSpPr>
        <p:spPr>
          <a:xfrm>
            <a:off x="457200" y="2468880"/>
            <a:ext cx="8229600" cy="548640"/>
          </a:xfrm>
          <a:prstGeom prst="rect">
            <a:avLst/>
          </a:prstGeom>
          <a:noFill/>
          <a:ln/>
        </p:spPr>
        <p:txBody>
          <a:bodyPr wrap="square" lIns="0" tIns="0" rIns="0" bIns="0" rtlCol="0" anchor="ctr"/>
          <a:lstStyle/>
          <a:p>
            <a:pPr algn="l" indent="0" marL="0">
              <a:buNone/>
            </a:pPr>
            <a:r>
              <a:rPr lang="en-US" sz="1400" i="1" dirty="0">
                <a:solidFill>
                  <a:srgbClr val="34B76F"/>
                </a:solidFill>
                <a:latin typeface="Georgia" pitchFamily="34" charset="0"/>
                <a:ea typeface="Georgia" pitchFamily="34" charset="-122"/>
                <a:cs typeface="Georgia" pitchFamily="34" charset="-120"/>
              </a:rPr>
              <a:t>Build the comparison paragraph — and start your closing</a:t>
            </a:r>
            <a:endParaRPr lang="en-US" sz="14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Year-End Synthesis  ·  Portfolio &amp;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914400"/>
            <a:ext cx="8412480" cy="1188720"/>
          </a:xfrm>
          <a:prstGeom prst="roundRect">
            <a:avLst>
              <a:gd name="adj" fmla="val 7692"/>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24128"/>
            <a:ext cx="7955280" cy="969264"/>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What makes a comparison essay do more than just describe two things?</a:t>
            </a:r>
            <a:endParaRPr lang="en-US" sz="1600" dirty="0"/>
          </a:p>
        </p:txBody>
      </p:sp>
      <p:sp>
        <p:nvSpPr>
          <p:cNvPr id="6" name="Text 4"/>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TODAY'S ARC</a:t>
            </a:r>
            <a:endParaRPr lang="en-US" sz="1100" dirty="0"/>
          </a:p>
        </p:txBody>
      </p:sp>
      <p:sp>
        <p:nvSpPr>
          <p:cNvPr id="7" name="Shape 5"/>
          <p:cNvSpPr/>
          <p:nvPr/>
        </p:nvSpPr>
        <p:spPr>
          <a:xfrm>
            <a:off x="365760" y="257860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63347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SWYK: </a:t>
            </a:r>
            <a:pPr indent="0" marL="0">
              <a:buNone/>
            </a:pPr>
            <a:r>
              <a:rPr lang="en-US" sz="1200" dirty="0">
                <a:solidFill>
                  <a:srgbClr val="1E293B"/>
                </a:solidFill>
                <a:latin typeface="Calibri" pitchFamily="34" charset="0"/>
                <a:ea typeface="Calibri" pitchFamily="34" charset="-122"/>
                <a:cs typeface="Calibri" pitchFamily="34" charset="-120"/>
              </a:rPr>
              <a:t>I will edit two passages for all grade-level misspellings.</a:t>
            </a:r>
            <a:endParaRPr lang="en-US" sz="1500" dirty="0"/>
          </a:p>
        </p:txBody>
      </p:sp>
      <p:sp>
        <p:nvSpPr>
          <p:cNvPr id="9" name="Shape 7"/>
          <p:cNvSpPr/>
          <p:nvPr/>
        </p:nvSpPr>
        <p:spPr>
          <a:xfrm>
            <a:off x="365760" y="327355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32841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Project: </a:t>
            </a:r>
            <a:pPr indent="0" marL="0">
              <a:buNone/>
            </a:pPr>
            <a:r>
              <a:rPr lang="en-US" sz="1200" dirty="0">
                <a:solidFill>
                  <a:srgbClr val="1E293B"/>
                </a:solidFill>
                <a:latin typeface="Calibri" pitchFamily="34" charset="0"/>
                <a:ea typeface="Calibri" pitchFamily="34" charset="-122"/>
                <a:cs typeface="Calibri" pitchFamily="34" charset="-120"/>
              </a:rPr>
              <a:t>I will complete the comparison paragraph and closing of my essay.</a:t>
            </a:r>
            <a:endParaRPr lang="en-US" sz="1500" dirty="0"/>
          </a:p>
        </p:txBody>
      </p:sp>
      <p:sp>
        <p:nvSpPr>
          <p:cNvPr id="11" name="Shape 9"/>
          <p:cNvSpPr/>
          <p:nvPr/>
        </p:nvSpPr>
        <p:spPr>
          <a:xfrm>
            <a:off x="365760" y="39684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02336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00" dirty="0">
                <a:solidFill>
                  <a:srgbClr val="1E293B"/>
                </a:solidFill>
                <a:latin typeface="Calibri" pitchFamily="34" charset="0"/>
                <a:ea typeface="Calibri" pitchFamily="34" charset="-122"/>
                <a:cs typeface="Calibri" pitchFamily="34" charset="-120"/>
              </a:rPr>
              <a:t>I will check my draft for sentence variety and transition words.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Reading Journal — Before You Begin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REFLECT FIRST</a:t>
            </a:r>
            <a:endParaRPr lang="en-US" sz="1100" dirty="0"/>
          </a:p>
        </p:txBody>
      </p:sp>
      <p:sp>
        <p:nvSpPr>
          <p:cNvPr id="5" name="Shape 3"/>
          <p:cNvSpPr/>
          <p:nvPr/>
        </p:nvSpPr>
        <p:spPr>
          <a:xfrm>
            <a:off x="365760" y="1097280"/>
            <a:ext cx="8412480" cy="2194560"/>
          </a:xfrm>
          <a:prstGeom prst="roundRect">
            <a:avLst>
              <a:gd name="adj" fmla="val 416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92024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Today you write the comparison paragraph — the one that explains WHY the difference between your two novels matters. What is the most interesting difference between the two novels' treatment of your theme? Write 2 sentences.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a:t>
            </a:r>
            <a:endParaRPr lang="en-US" sz="1100" dirty="0"/>
          </a:p>
        </p:txBody>
      </p:sp>
      <p:sp>
        <p:nvSpPr>
          <p:cNvPr id="5" name="Shape 3"/>
          <p:cNvSpPr/>
          <p:nvPr/>
        </p:nvSpPr>
        <p:spPr>
          <a:xfrm>
            <a:off x="365760" y="1078992"/>
            <a:ext cx="8412480" cy="1051560"/>
          </a:xfrm>
          <a:prstGeom prst="roundRect">
            <a:avLst>
              <a:gd name="adj" fmla="val 869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In contrast to Kit Tyler's private, inner courage, standing at the center of a crowd demanding blood, Johnny Tremain demonstrates the courage of public conviction.</a:t>
            </a:r>
            <a:endParaRPr lang="en-US" sz="15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THIS TEACHES</a:t>
            </a:r>
            <a:endParaRPr lang="en-US" sz="1100" dirty="0"/>
          </a:p>
        </p:txBody>
      </p:sp>
      <p:sp>
        <p:nvSpPr>
          <p:cNvPr id="8" name="Shape 6"/>
          <p:cNvSpPr/>
          <p:nvPr/>
        </p:nvSpPr>
        <p:spPr>
          <a:xfrm>
            <a:off x="365760" y="2560320"/>
            <a:ext cx="8412480" cy="1737360"/>
          </a:xfrm>
          <a:prstGeom prst="roundRect">
            <a:avLst>
              <a:gd name="adj" fmla="val 5263"/>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0048"/>
            <a:ext cx="8046720" cy="1517904"/>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Participial phrase opener: "Standing at the center of a crowd demanding blood" sets the scene for Johnny Tremain without a separate sentence. One opening modifier, two contrasting subjects, one verb — the most efficient comparison sentence structure.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most significant difference between the two novels is not the definition of courage itself but the context in which it must be exercised both authors suggest however that courage at its core is a choice made under pressure in which the character could have chosen safety</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most significant difference between the two novels is not the definition of courage itself but the context in which it must be exercised both authors suggest however that courage at its core is a choice made under pressure in which the character could have chosen safety</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743200"/>
            <a:ext cx="8412480" cy="1737360"/>
          </a:xfrm>
          <a:prstGeom prst="roundRect">
            <a:avLst>
              <a:gd name="adj" fmla="val 526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8346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3127248"/>
            <a:ext cx="7955280" cy="1234440"/>
          </a:xfrm>
          <a:prstGeom prst="rect">
            <a:avLst/>
          </a:prstGeom>
          <a:noFill/>
          <a:ln/>
        </p:spPr>
        <p:txBody>
          <a:bodyPr wrap="square" lIns="0" tIns="0" rIns="0" bIns="0" rtlCol="0" anchor="t"/>
          <a:lstStyle/>
          <a:p>
            <a:pPr indent="0" marL="0">
              <a:buNone/>
            </a:pPr>
            <a:r>
              <a:rPr lang="en-US" sz="1300" b="1" i="1" dirty="0">
                <a:solidFill>
                  <a:srgbClr val="1E293B"/>
                </a:solidFill>
                <a:latin typeface="Calibri" pitchFamily="34" charset="0"/>
                <a:ea typeface="Calibri" pitchFamily="34" charset="-122"/>
                <a:cs typeface="Calibri" pitchFamily="34" charset="-120"/>
              </a:rPr>
              <a:t>The most significant difference between the two novels is not the definition of courage itself but the context in which it must be exercised. Both authors suggest, however, that courage at its core is a choice made under pressure — one in which the character could have chosen safety.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Cumulative Review — SWYK</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fortitude · tenacious · ludicrous · extraction · notoriety · consequently · nevertheless · validity · furthermore · persistence · descriptive · exuberance · however · therefore · creativity · prosperous · defiance · colonial · rebellion · maritime · navigation · celestial · latitude · longitude</a:t>
            </a:r>
            <a:endParaRPr lang="en-US" sz="1150" dirty="0"/>
          </a:p>
        </p:txBody>
      </p:sp>
      <p:sp>
        <p:nvSpPr>
          <p:cNvPr id="6" name="Shape 4"/>
          <p:cNvSpPr/>
          <p:nvPr/>
        </p:nvSpPr>
        <p:spPr>
          <a:xfrm>
            <a:off x="365760" y="1508760"/>
            <a:ext cx="8412480" cy="1371600"/>
          </a:xfrm>
          <a:prstGeom prst="roundRect">
            <a:avLst>
              <a:gd name="adj" fmla="val 6667"/>
            </a:avLst>
          </a:prstGeom>
          <a:solidFill>
            <a:srgbClr val="FEF6E8"/>
          </a:solidFill>
          <a:ln w="12700">
            <a:solidFill>
              <a:srgbClr val="C7922C"/>
            </a:solidFill>
            <a:prstDash val="solid"/>
          </a:ln>
        </p:spPr>
      </p:sp>
      <p:sp>
        <p:nvSpPr>
          <p:cNvPr id="7" name="Text 5"/>
          <p:cNvSpPr/>
          <p:nvPr/>
        </p:nvSpPr>
        <p:spPr>
          <a:xfrm>
            <a:off x="548640" y="1581912"/>
            <a:ext cx="8046720" cy="122529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a:t>
            </a:r>
            <a:pPr indent="0" marL="0">
              <a:buNone/>
            </a:pPr>
            <a:r>
              <a:rPr lang="en-US" sz="1100" i="1" dirty="0">
                <a:solidFill>
                  <a:srgbClr val="1E293B"/>
                </a:solidFill>
                <a:latin typeface="Calibri" pitchFamily="34" charset="0"/>
                <a:ea typeface="Calibri" pitchFamily="34" charset="-122"/>
                <a:cs typeface="Calibri" pitchFamily="34" charset="-120"/>
              </a:rPr>
              <a:t>Edit both passages below. Find and correct every misspelling. Write the corrected version in full, marking each correction in [brackets].</a:t>
            </a:r>
            <a:endParaRPr lang="en-US" sz="1100" dirty="0"/>
          </a:p>
          <a:p>
            <a:pPr indent="0" marL="0">
              <a:buNone/>
            </a:pPr>
            <a:endParaRPr lang="en-US" sz="1100" dirty="0"/>
          </a:p>
          <a:p>
            <a:pPr indent="0" marL="0">
              <a:buNone/>
            </a:pPr>
            <a:r>
              <a:rPr lang="en-US" sz="1100" i="1" dirty="0">
                <a:solidFill>
                  <a:srgbClr val="1E293B"/>
                </a:solidFill>
                <a:latin typeface="Calibri" pitchFamily="34" charset="0"/>
                <a:ea typeface="Calibri" pitchFamily="34" charset="-122"/>
                <a:cs typeface="Calibri" pitchFamily="34" charset="-120"/>
              </a:rPr>
              <a:t>Passage 1: "Kit Tyler demonstrated remarkable persistance and fortitued... Nevertheles, her courage was ultimatly personal — an act of exuberence... rather than a publically declared act of resistence."</a:t>
            </a:r>
            <a:endParaRPr lang="en-US" sz="1100" dirty="0"/>
          </a:p>
          <a:p>
            <a:pPr indent="0" marL="0">
              <a:buNone/>
            </a:pPr>
            <a:endParaRPr lang="en-US" sz="1100" dirty="0"/>
          </a:p>
          <a:p>
            <a:pPr indent="0" marL="0">
              <a:buNone/>
            </a:pPr>
            <a:r>
              <a:rPr lang="en-US" sz="1100" i="1" dirty="0">
                <a:solidFill>
                  <a:srgbClr val="1E293B"/>
                </a:solidFill>
                <a:latin typeface="Calibri" pitchFamily="34" charset="0"/>
                <a:ea typeface="Calibri" pitchFamily="34" charset="-122"/>
                <a:cs typeface="Calibri" pitchFamily="34" charset="-120"/>
              </a:rPr>
              <a:t>Passage 2: "Praiseworthy's notoreity as Bullwhip had a certain validity, although the original event was ludicrus in its exageration. Consequentley, both he and Jack discovered that who they became... was more valuble than any gold they found."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Year-Long Review — Use</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941832"/>
            <a:ext cx="8412480" cy="1005840"/>
          </a:xfrm>
          <a:prstGeom prst="roundRect">
            <a:avLst>
              <a:gd name="adj" fmla="val 9091"/>
            </a:avLst>
          </a:prstGeom>
          <a:solidFill>
            <a:srgbClr val="FEF6E8"/>
          </a:solidFill>
          <a:ln w="12700">
            <a:solidFill>
              <a:srgbClr val="C7922C"/>
            </a:solidFill>
            <a:prstDash val="solid"/>
          </a:ln>
        </p:spPr>
      </p:sp>
      <p:sp>
        <p:nvSpPr>
          <p:cNvPr id="5" name="Text 3"/>
          <p:cNvSpPr/>
          <p:nvPr/>
        </p:nvSpPr>
        <p:spPr>
          <a:xfrm>
            <a:off x="548640" y="1014984"/>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Look at your draft from Day 2. Find one place where you can use a word containing a unit root to be more precise. Write the original sentence and the revised sentence with the root word underlined.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Sentence Variety Check in Your Draft</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941832"/>
            <a:ext cx="8412480" cy="1005840"/>
          </a:xfrm>
          <a:prstGeom prst="roundRect">
            <a:avLst>
              <a:gd name="adj" fmla="val 9091"/>
            </a:avLst>
          </a:prstGeom>
          <a:solidFill>
            <a:srgbClr val="FEF6E8"/>
          </a:solidFill>
          <a:ln w="12700">
            <a:solidFill>
              <a:srgbClr val="C7922C"/>
            </a:solidFill>
            <a:prstDash val="solid"/>
          </a:ln>
        </p:spPr>
      </p:sp>
      <p:sp>
        <p:nvSpPr>
          <p:cNvPr id="5" name="Text 3"/>
          <p:cNvSpPr/>
          <p:nvPr/>
        </p:nvSpPr>
        <p:spPr>
          <a:xfrm>
            <a:off x="548640" y="1014984"/>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Read the first body paragraph of your draft aloud. Does every sentence begin the same way? Find and revise one sentence to begin with a participial phrase or a subordinating conjunction. Write both versions.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Writing Workshop: The Comparison Paragraph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The paragraph that makes your essay a real argument</a:t>
            </a:r>
            <a:endParaRPr lang="en-US" sz="1100" dirty="0"/>
          </a:p>
        </p:txBody>
      </p:sp>
      <p:sp>
        <p:nvSpPr>
          <p:cNvPr id="5" name="Shape 3"/>
          <p:cNvSpPr/>
          <p:nvPr/>
        </p:nvSpPr>
        <p:spPr>
          <a:xfrm>
            <a:off x="365760" y="105156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09728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1. State the similarity: Both novels agree that... [what they share about the theme]</a:t>
            </a:r>
            <a:endParaRPr lang="en-US" sz="1100" dirty="0"/>
          </a:p>
        </p:txBody>
      </p:sp>
      <p:sp>
        <p:nvSpPr>
          <p:cNvPr id="7" name="Shape 5"/>
          <p:cNvSpPr/>
          <p:nvPr/>
        </p:nvSpPr>
        <p:spPr>
          <a:xfrm>
            <a:off x="365760" y="1618488"/>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2. State the key difference: However, [Novel 1] shows this through [method], while [Novel 2] reveals it through [different method].</a:t>
            </a:r>
            <a:endParaRPr lang="en-US" sz="1100" dirty="0"/>
          </a:p>
        </p:txBody>
      </p:sp>
      <p:sp>
        <p:nvSpPr>
          <p:cNvPr id="9" name="Shape 7"/>
          <p:cNvSpPr/>
          <p:nvPr/>
        </p:nvSpPr>
        <p:spPr>
          <a:xfrm>
            <a:off x="365760" y="218541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3113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3. Explain WHY the difference matters: This difference is significant because... / What this reveals is...</a:t>
            </a:r>
            <a:endParaRPr lang="en-US" sz="1100" dirty="0"/>
          </a:p>
        </p:txBody>
      </p:sp>
      <p:sp>
        <p:nvSpPr>
          <p:cNvPr id="11" name="Shape 9"/>
          <p:cNvSpPr/>
          <p:nvPr/>
        </p:nvSpPr>
        <p:spPr>
          <a:xfrm>
            <a:off x="365760" y="2752344"/>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9806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4. Connect to the bigger idea: Together, these two novels suggest that [theme insight].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Model Example</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3566160"/>
          </a:xfrm>
          <a:prstGeom prst="roundRect">
            <a:avLst>
              <a:gd name="adj" fmla="val 2564"/>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05840"/>
            <a:ext cx="7955280" cy="3291840"/>
          </a:xfrm>
          <a:prstGeom prst="rect">
            <a:avLst/>
          </a:prstGeom>
          <a:noFill/>
          <a:ln/>
        </p:spPr>
        <p:txBody>
          <a:bodyPr wrap="square" lIns="0" tIns="0" rIns="0" bIns="0" rtlCol="0" anchor="t"/>
          <a:lstStyle/>
          <a:p>
            <a:pPr indent="0" marL="0">
              <a:buNone/>
            </a:pPr>
            <a:r>
              <a:rPr lang="en-US" sz="1300" i="1" dirty="0">
                <a:solidFill>
                  <a:srgbClr val="1E293B"/>
                </a:solidFill>
                <a:latin typeface="Georgia" pitchFamily="34" charset="0"/>
                <a:ea typeface="Georgia" pitchFamily="34" charset="-122"/>
                <a:cs typeface="Georgia" pitchFamily="34" charset="-120"/>
              </a:rPr>
              <a:t>Both Kit Tyler and Praiseworthy demonstrate that courage does not require drama. However, Kit's courage is inward — she endures suspicion and isolation without public announcement, while Praiseworthy's courage is quietly outward — each calm action performed in full view of others who notice exactly what he is doing. This difference is significant because it shows two distinct social contexts: in Puritan New England, courage had to be invisible to be safe; in Gold Rush California, courage could be visible because no one had the authority to punish it. Together, these two novels suggest that courage is always shaped by the society in which it must be exercised.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Draft Question 1</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comparison paragraph following the four-step structure above. Use at least two transition words (however, although, while, in contrast, both...and, therefore, consequently). Underline each transition.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Draft Question 2</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closing paragraph. It should: restate your comparison claim in different words, explain what this comparison reveals about the theme beyond the novels, and end with a sentence about why these texts matter as a pair.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Draft Question 3 — Self-Assessment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Read your full draft (opening + body 1 + body 2 + comparison + closing). What is the strongest part of your essay? What is the weakest part — and what would make it stronger?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Project Workshop</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22960"/>
            <a:ext cx="2029968" cy="384048"/>
          </a:xfrm>
          <a:prstGeom prst="roundRect">
            <a:avLst>
              <a:gd name="adj" fmla="val 47619"/>
            </a:avLst>
          </a:prstGeom>
          <a:solidFill>
            <a:srgbClr val="34B76F"/>
          </a:solidFill>
          <a:ln/>
        </p:spPr>
      </p:sp>
      <p:sp>
        <p:nvSpPr>
          <p:cNvPr id="5" name="Text 3"/>
          <p:cNvSpPr/>
          <p:nvPr/>
        </p:nvSpPr>
        <p:spPr>
          <a:xfrm>
            <a:off x="36576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Plan</a:t>
            </a:r>
            <a:endParaRPr lang="en-US" sz="1100" dirty="0"/>
          </a:p>
        </p:txBody>
      </p:sp>
      <p:sp>
        <p:nvSpPr>
          <p:cNvPr id="6" name="Shape 4"/>
          <p:cNvSpPr/>
          <p:nvPr/>
        </p:nvSpPr>
        <p:spPr>
          <a:xfrm>
            <a:off x="2468880" y="822960"/>
            <a:ext cx="2029968" cy="384048"/>
          </a:xfrm>
          <a:prstGeom prst="roundRect">
            <a:avLst>
              <a:gd name="adj" fmla="val 47619"/>
            </a:avLst>
          </a:prstGeom>
          <a:solidFill>
            <a:srgbClr val="34B76F"/>
          </a:solidFill>
          <a:ln/>
        </p:spPr>
      </p:sp>
      <p:sp>
        <p:nvSpPr>
          <p:cNvPr id="7" name="Text 5"/>
          <p:cNvSpPr/>
          <p:nvPr/>
        </p:nvSpPr>
        <p:spPr>
          <a:xfrm>
            <a:off x="246888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Draft</a:t>
            </a:r>
            <a:endParaRPr lang="en-US" sz="1100" dirty="0"/>
          </a:p>
        </p:txBody>
      </p:sp>
      <p:sp>
        <p:nvSpPr>
          <p:cNvPr id="8" name="Shape 6"/>
          <p:cNvSpPr/>
          <p:nvPr/>
        </p:nvSpPr>
        <p:spPr>
          <a:xfrm>
            <a:off x="4572000" y="822960"/>
            <a:ext cx="2029968" cy="384048"/>
          </a:xfrm>
          <a:prstGeom prst="roundRect">
            <a:avLst>
              <a:gd name="adj" fmla="val 47619"/>
            </a:avLst>
          </a:prstGeom>
          <a:solidFill>
            <a:srgbClr val="C7922C"/>
          </a:solidFill>
          <a:ln/>
        </p:spPr>
      </p:sp>
      <p:sp>
        <p:nvSpPr>
          <p:cNvPr id="9" name="Text 7"/>
          <p:cNvSpPr/>
          <p:nvPr/>
        </p:nvSpPr>
        <p:spPr>
          <a:xfrm>
            <a:off x="457200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Revise</a:t>
            </a:r>
            <a:endParaRPr lang="en-US" sz="1100" dirty="0"/>
          </a:p>
        </p:txBody>
      </p:sp>
      <p:sp>
        <p:nvSpPr>
          <p:cNvPr id="10" name="Shape 8"/>
          <p:cNvSpPr/>
          <p:nvPr/>
        </p:nvSpPr>
        <p:spPr>
          <a:xfrm>
            <a:off x="6675120" y="822960"/>
            <a:ext cx="2029968" cy="384048"/>
          </a:xfrm>
          <a:prstGeom prst="roundRect">
            <a:avLst>
              <a:gd name="adj" fmla="val 47619"/>
            </a:avLst>
          </a:prstGeom>
          <a:solidFill>
            <a:srgbClr val="E2E8F4"/>
          </a:solidFill>
          <a:ln/>
        </p:spPr>
      </p:sp>
      <p:sp>
        <p:nvSpPr>
          <p:cNvPr id="11" name="Text 9"/>
          <p:cNvSpPr/>
          <p:nvPr/>
        </p:nvSpPr>
        <p:spPr>
          <a:xfrm>
            <a:off x="667512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Publish</a:t>
            </a:r>
            <a:endParaRPr lang="en-US" sz="1100" dirty="0"/>
          </a:p>
        </p:txBody>
      </p:sp>
      <p:sp>
        <p:nvSpPr>
          <p:cNvPr id="12" name="Text 10"/>
          <p:cNvSpPr/>
          <p:nvPr/>
        </p:nvSpPr>
        <p:spPr>
          <a:xfrm>
            <a:off x="365760" y="13716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FULL DRAFT CHECKLIST BEFORE PEER REVIEW</a:t>
            </a:r>
            <a:endParaRPr lang="en-US" sz="1100" dirty="0"/>
          </a:p>
        </p:txBody>
      </p:sp>
      <p:sp>
        <p:nvSpPr>
          <p:cNvPr id="13" name="Shape 11"/>
          <p:cNvSpPr/>
          <p:nvPr/>
        </p:nvSpPr>
        <p:spPr>
          <a:xfrm>
            <a:off x="365760" y="1664208"/>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1700784"/>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Opening paragraph with hook, both novels named, and comparison claim</a:t>
            </a:r>
            <a:endParaRPr lang="en-US" sz="1050" dirty="0"/>
          </a:p>
        </p:txBody>
      </p:sp>
      <p:sp>
        <p:nvSpPr>
          <p:cNvPr id="15" name="Shape 13"/>
          <p:cNvSpPr/>
          <p:nvPr/>
        </p:nvSpPr>
        <p:spPr>
          <a:xfrm>
            <a:off x="365760" y="217627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2212848"/>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Body paragraph 1: Novel 1 claim + Evidence A + Evidence B + explained</a:t>
            </a:r>
            <a:endParaRPr lang="en-US" sz="1050" dirty="0"/>
          </a:p>
        </p:txBody>
      </p:sp>
      <p:sp>
        <p:nvSpPr>
          <p:cNvPr id="17" name="Shape 15"/>
          <p:cNvSpPr/>
          <p:nvPr/>
        </p:nvSpPr>
        <p:spPr>
          <a:xfrm>
            <a:off x="365760" y="2688336"/>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2724912"/>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Body paragraph 2: Novel 2 claim + Evidence A + Evidence B + explained</a:t>
            </a:r>
            <a:endParaRPr lang="en-US" sz="1050" dirty="0"/>
          </a:p>
        </p:txBody>
      </p:sp>
      <p:sp>
        <p:nvSpPr>
          <p:cNvPr id="19" name="Shape 17"/>
          <p:cNvSpPr/>
          <p:nvPr/>
        </p:nvSpPr>
        <p:spPr>
          <a:xfrm>
            <a:off x="365760" y="320040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20" name="Text 18"/>
          <p:cNvSpPr/>
          <p:nvPr/>
        </p:nvSpPr>
        <p:spPr>
          <a:xfrm>
            <a:off x="548640" y="3236976"/>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Comparison paragraph: similarity + key difference + why it matters + bigger idea</a:t>
            </a:r>
            <a:endParaRPr lang="en-US" sz="1050" dirty="0"/>
          </a:p>
        </p:txBody>
      </p:sp>
      <p:sp>
        <p:nvSpPr>
          <p:cNvPr id="21" name="Shape 19"/>
          <p:cNvSpPr/>
          <p:nvPr/>
        </p:nvSpPr>
        <p:spPr>
          <a:xfrm>
            <a:off x="365760" y="3712464"/>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22" name="Text 20"/>
          <p:cNvSpPr/>
          <p:nvPr/>
        </p:nvSpPr>
        <p:spPr>
          <a:xfrm>
            <a:off x="548640" y="3749040"/>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Closing: restated claim + significance + why this pair matters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Today's Writing Task</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WRITE NOW</a:t>
            </a:r>
            <a:endParaRPr lang="en-US" sz="1100" dirty="0"/>
          </a:p>
        </p:txBody>
      </p:sp>
      <p:sp>
        <p:nvSpPr>
          <p:cNvPr id="5" name="Shape 3"/>
          <p:cNvSpPr/>
          <p:nvPr/>
        </p:nvSpPr>
        <p:spPr>
          <a:xfrm>
            <a:off x="365760" y="1097280"/>
            <a:ext cx="8412480" cy="2651760"/>
          </a:xfrm>
          <a:prstGeom prst="roundRect">
            <a:avLst>
              <a:gd name="adj" fmla="val 3448"/>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23774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Copy your full draft here (or confirm all five sections are written). Tomorrow you'll do peer review.</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Before You Finish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23544"/>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the comparison paragraph with all four steps and transitions underlined.</a:t>
            </a:r>
            <a:endParaRPr lang="en-US" sz="1250" dirty="0"/>
          </a:p>
        </p:txBody>
      </p:sp>
      <p:sp>
        <p:nvSpPr>
          <p:cNvPr id="6" name="Shape 4"/>
          <p:cNvSpPr/>
          <p:nvPr/>
        </p:nvSpPr>
        <p:spPr>
          <a:xfrm>
            <a:off x="365760" y="1618488"/>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wrote my closing paragraph — restated claim, significance, why this pair matters.</a:t>
            </a:r>
            <a:endParaRPr lang="en-US" sz="1250" dirty="0"/>
          </a:p>
        </p:txBody>
      </p:sp>
      <p:sp>
        <p:nvSpPr>
          <p:cNvPr id="8" name="Shape 6"/>
          <p:cNvSpPr/>
          <p:nvPr/>
        </p:nvSpPr>
        <p:spPr>
          <a:xfrm>
            <a:off x="365760" y="2368296"/>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my Spelling SWYK: edited both passages with corrections in brackets.</a:t>
            </a:r>
            <a:endParaRPr lang="en-US" sz="1250" dirty="0"/>
          </a:p>
        </p:txBody>
      </p:sp>
      <p:sp>
        <p:nvSpPr>
          <p:cNvPr id="10" name="Shape 8"/>
          <p:cNvSpPr/>
          <p:nvPr/>
        </p:nvSpPr>
        <p:spPr>
          <a:xfrm>
            <a:off x="365760" y="3118104"/>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72968"/>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a self-assessment identifying my essay's strength and one area to improve.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2026-07-13T17:55:36Z</dcterms:created>
  <dcterms:modified xsi:type="dcterms:W3CDTF">2026-07-13T17:55:36Z</dcterms:modified>
</cp:coreProperties>
</file>