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6, Day 3, Chapter 3 — An Earth of Brass.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When everything you were good at is taken away, what’s left of who you are?
Reading: I will apply what good readers do by noticing how Johnny responds to failure across Chapter 3.
Grammar: I will use appositives in my own writing to add information to a sentence.
Spelling: I will apply my knowledge of scrib/script by writing and explaining a word from that root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"johnny once the best apprentice in boston now wandered the streets looking for any work he could find"
Corrected: "Johnny, once the best apprentice in Boston, now wandered the streets looking for any work he could find."
Compare with the model: “Johnny” is a proper name—capital. “Boston” is a proper noun—capital. “Once the best apprentice in Boston” is an appositive renaming Johnny—commas before and after it. Add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"johnny once the best apprentice in boston now wandered the streets looking for any work he could find"
Corrected: "Johnny, once the best apprentice in Boston, now wandered the streets looking for any work he could find."
Compare with the model: “Johnny” is a proper name—capital. “Boston” is a proper noun—capital. “Once the best apprentice in Boston” is an appositive renaming Johnny—commas before and after it. Add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optional routine — use it if time allows.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of these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dict vs. scrib/script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sequence: Reader, Writer, Mimic. Reveal progressively if desired.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Johnny’s Path Through Johnny Tremain — 📍 You are here: Chapter 3 — An Earth of Brass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argument-writing arc. Stage: Evidence. Focus: Learn what EVIDENCE is—the specific proof from the text that supports a reason.
Prompt: Find ONE piece of evidence from Chapter 3 that supports a reason from your argument. Apply the Proof Test. Name your reason, then write your evidence from Chapter 3. Apply all three checks: from text, connects to reason, 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1A1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C7922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C7922C"/>
                </a:solidFill>
                <a:latin typeface="Calibri" pitchFamily="34" charset="0"/>
                <a:ea typeface="Calibri" pitchFamily="34" charset="-122"/>
                <a:cs typeface="Calibri" pitchFamily="34" charset="-120"/>
              </a:rPr>
              <a:t>WEEK 6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Johnny Tremain</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3 — An Earth of Brass</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6  ·  Virtue: Integrity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When everything you were good at is taken away, what’s left of who you are?</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apply what good readers do by noticing how Johnny responds to failure across Chapter 3.</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use appositives in my own writing to add information to a sentence.</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apply my knowledge of scrib/script by writing and explaining a word from that root family.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Pause &amp; Think as you read — watch for these moments:</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Mr. Lapham just warned Johnny about his pride. Do you think Johnny is really listening? Why or why not? What details show whether Johnny takes the warning seriously?</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The accident just happened. How will this change Johnny’s life? Think about everything silversmithing meant to him—his identity, his income, his future. What has he lost?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silversmith’s hand, a twisted reminder of that terrible Sunday, could no longer hold a tool.</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The silversmith’s hand,  </a:t>
            </a:r>
            <a:pPr indent="0" marL="0">
              <a:buNone/>
            </a:pPr>
            <a:r>
              <a:rPr lang="en-US" sz="1200" dirty="0">
                <a:solidFill>
                  <a:srgbClr val="1E293B"/>
                </a:solidFill>
                <a:latin typeface="Calibri" pitchFamily="34" charset="0"/>
                <a:ea typeface="Calibri" pitchFamily="34" charset="-122"/>
                <a:cs typeface="Calibri" pitchFamily="34" charset="-120"/>
              </a:rPr>
              <a:t>“The silversmith’s hand” is a possessive noun phrase—no capital needed unless it starts a sentence.</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a twisted reminder of that terrible Sunday,  </a:t>
            </a:r>
            <a:pPr indent="0" marL="0">
              <a:buNone/>
            </a:pPr>
            <a:r>
              <a:rPr lang="en-US" sz="1200" dirty="0">
                <a:solidFill>
                  <a:srgbClr val="1E293B"/>
                </a:solidFill>
                <a:latin typeface="Calibri" pitchFamily="34" charset="0"/>
                <a:ea typeface="Calibri" pitchFamily="34" charset="-122"/>
                <a:cs typeface="Calibri" pitchFamily="34" charset="-120"/>
              </a:rPr>
              <a:t>“A twisted reminder of that terrible Sunday” is an appositive—it renames or describes the hand. Commas set it off.</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could no longer hold  </a:t>
            </a:r>
            <a:pPr indent="0" marL="0">
              <a:buNone/>
            </a:pPr>
            <a:r>
              <a:rPr lang="en-US" sz="1200" dirty="0">
                <a:solidFill>
                  <a:srgbClr val="1E293B"/>
                </a:solidFill>
                <a:latin typeface="Calibri" pitchFamily="34" charset="0"/>
                <a:ea typeface="Calibri" pitchFamily="34" charset="-122"/>
                <a:cs typeface="Calibri" pitchFamily="34" charset="-120"/>
              </a:rPr>
              <a:t>“Could no longer hold” is past tense, matching the rest of the narrative.</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tool.  </a:t>
            </a:r>
            <a:pPr indent="0" marL="0">
              <a:buNone/>
            </a:pPr>
            <a:r>
              <a:rPr lang="en-US" sz="1200" dirty="0">
                <a:solidFill>
                  <a:srgbClr val="1E293B"/>
                </a:solidFill>
                <a:latin typeface="Calibri" pitchFamily="34" charset="0"/>
                <a:ea typeface="Calibri" pitchFamily="34" charset="-122"/>
                <a:cs typeface="Calibri" pitchFamily="34" charset="-120"/>
              </a:rPr>
              <a:t>“Tool” is the object of the verb—what the hand could no longer hold.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johnny once the best apprentice in boston now wandered the streets looking for any work he could find</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johnny once the best apprentice in boston now wandered the streets looking for any work he could find</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Johnny, once the best apprentice in Boston, now wandered the streets looking for any work he could find.</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“Johnny” is a proper name—capital. “Boston” is a proper noun—capital. “Once the best apprentice in Boston” is an appositive renaming Johnny—commas before and after it. Add a period at the end.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Which loss has hurt Johnny more so far — his ability to work as a silversmith, or the respect he used to command from the other apprentices? Defend your choice with evidence from Chapter 3.</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Which loss has hurt Johnny more so far — his ability to work as a silversmith, or the respect he used to command from the other apprentices? Defend your choice with evidence from Chapter 3.</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Could I combine two of these sentences?</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dict &amp; scrib/script</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describe (de + scrib) — Johnny had to describe his bad hand to every master in Boston | verdict (ver + dict) — every shop seemed to deliver the same verdict: you won’t do | predict (pre + dict) — no one could predict that Johnny would remember the Lyte cup | manuscript (manu + script) — at the Observer, Rab handled manuscripts and printed broadsides | prescription (pre + script) — the unspoken prescription for his despair was to go to Merchant Lyte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Use It</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Chapter 3 · Quick Match</a:t>
            </a:r>
            <a:endParaRPr lang="en-US" sz="1100" dirty="0"/>
          </a:p>
        </p:txBody>
      </p:sp>
      <p:sp>
        <p:nvSpPr>
          <p:cNvPr id="5" name="Text 3"/>
          <p:cNvSpPr/>
          <p:nvPr/>
        </p:nvSpPr>
        <p:spPr>
          <a:xfrm>
            <a:off x="365760" y="1097280"/>
            <a:ext cx="841248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(No extracted vocabulary content for this day — see source HTML.)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Appositives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Use · Write your own appositives in Chapter 3 context</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“Rab, the printer’s apprentice at the Boston Observer , listened without pity or false comfort.” “Lavinia Lyte, a tall dark woman of striking beauty , stepped off the gangplank as if the crowd were there to greet her.” Try it: NOUN + comma + [your phrase] + comma + rest of sentence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Rab,</a:t>
            </a:r>
            <a:pPr indent="0" marL="0">
              <a:buNone/>
            </a:pP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the printer’s apprentice at the Boston Observer,   /   Boston’s most famous publisher,</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Lapham,</a:t>
            </a:r>
            <a:pPr indent="0" marL="0">
              <a:buNone/>
            </a:pP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the elderly master silversmith,   /   a ship captain on Hancock’s Wharf,</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Lavinia Lyte,</a:t>
            </a:r>
            <a:pPr indent="0" marL="0">
              <a:buNone/>
            </a:pP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the judge’s daughter,   /   a tall dark woman newly returned from London,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Appositives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Use · Write your own appositives in Chapter 3 context</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“Rab, the printer’s apprentice at the Boston Observer , listened without pity or false comfort.” “Lavinia Lyte, a tall dark woman of striking beauty , stepped off the gangplank as if the crowd were there to greet her.” Try it: NOUN + comma + [your phrase] + comma + rest of sentence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Rab,
</a:t>
            </a:r>
            <a:pPr indent="0" marL="0">
              <a:buNone/>
            </a:pPr>
            <a:r>
              <a:rPr lang="en-US" sz="1200" b="1" dirty="0">
                <a:solidFill>
                  <a:srgbClr val="34B76F"/>
                </a:solidFill>
                <a:latin typeface="Calibri" pitchFamily="34" charset="0"/>
                <a:ea typeface="Calibri" pitchFamily="34" charset="-122"/>
                <a:cs typeface="Calibri" pitchFamily="34" charset="-120"/>
              </a:rPr>
              <a:t>✅ the printer’s apprentice at the Boston Observer,</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Lapham,
</a:t>
            </a:r>
            <a:pPr indent="0" marL="0">
              <a:buNone/>
            </a:pPr>
            <a:r>
              <a:rPr lang="en-US" sz="1200" b="1" dirty="0">
                <a:solidFill>
                  <a:srgbClr val="34B76F"/>
                </a:solidFill>
                <a:latin typeface="Calibri" pitchFamily="34" charset="0"/>
                <a:ea typeface="Calibri" pitchFamily="34" charset="-122"/>
                <a:cs typeface="Calibri" pitchFamily="34" charset="-120"/>
              </a:rPr>
              <a:t>✅ the elderly master silversmith,</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Lavinia Lyte,
</a:t>
            </a:r>
            <a:pPr indent="0" marL="0">
              <a:buNone/>
            </a:pPr>
            <a:r>
              <a:rPr lang="en-US" sz="1200" b="1" dirty="0">
                <a:solidFill>
                  <a:srgbClr val="34B76F"/>
                </a:solidFill>
                <a:latin typeface="Calibri" pitchFamily="34" charset="0"/>
                <a:ea typeface="Calibri" pitchFamily="34" charset="-122"/>
                <a:cs typeface="Calibri" pitchFamily="34" charset="-120"/>
              </a:rPr>
              <a:t>✅ a tall dark woman newly returned from London,</a:t>
            </a:r>
            <a:endParaRPr lang="en-US" sz="1200" dirty="0"/>
          </a:p>
        </p:txBody>
      </p:sp>
      <p:sp>
        <p:nvSpPr>
          <p:cNvPr id="14" name="Shape 12"/>
          <p:cNvSpPr/>
          <p:nvPr/>
        </p:nvSpPr>
        <p:spPr>
          <a:xfrm>
            <a:off x="365760" y="3950208"/>
            <a:ext cx="8412480" cy="685800"/>
          </a:xfrm>
          <a:prstGeom prst="roundRect">
            <a:avLst>
              <a:gd name="adj" fmla="val 13333"/>
            </a:avLst>
          </a:prstGeom>
          <a:solidFill>
            <a:srgbClr val="FEF6E8"/>
          </a:solidFill>
          <a:ln w="12700">
            <a:solidFill>
              <a:srgbClr val="C7922C"/>
            </a:solidFill>
            <a:prstDash val="solid"/>
          </a:ln>
        </p:spPr>
      </p:sp>
      <p:sp>
        <p:nvSpPr>
          <p:cNvPr id="15" name="Text 13"/>
          <p:cNvSpPr/>
          <p:nvPr/>
        </p:nvSpPr>
        <p:spPr>
          <a:xfrm>
            <a:off x="548640" y="40050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Spelling
</a:t>
            </a:r>
            <a:pPr indent="0" marL="0">
              <a:buNone/>
            </a:pPr>
            <a:r>
              <a:rPr lang="en-US" sz="1000" i="1" dirty="0">
                <a:solidFill>
                  <a:srgbClr val="1E293B"/>
                </a:solidFill>
                <a:latin typeface="Calibri" pitchFamily="34" charset="0"/>
                <a:ea typeface="Calibri" pitchFamily="34" charset="-122"/>
                <a:cs typeface="Calibri" pitchFamily="34" charset="-120"/>
              </a:rPr>
              <a:t>Choose one word with the root scrib or script . Write a sentence using that word, then explain how the root helps you understand its meaning.</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dict vs. scrib/script Roots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words by root pattern</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dict (say / declare)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dictate  ·  predict  ·  verdict</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scrib / script (write)</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prescribe  ·  scripture  ·  inscribe  ·  description  ·  manuscript</a:t>
            </a:r>
            <a:endParaRPr lang="en-US" sz="1300" dirty="0"/>
          </a:p>
        </p:txBody>
      </p:sp>
      <p:sp>
        <p:nvSpPr>
          <p:cNvPr id="11" name="Shape 9"/>
          <p:cNvSpPr/>
          <p:nvPr/>
        </p:nvSpPr>
        <p:spPr>
          <a:xfrm>
            <a:off x="365760" y="3264408"/>
            <a:ext cx="8412480" cy="685800"/>
          </a:xfrm>
          <a:prstGeom prst="roundRect">
            <a:avLst>
              <a:gd name="adj" fmla="val 13333"/>
            </a:avLst>
          </a:prstGeom>
          <a:solidFill>
            <a:srgbClr val="FEF6E8"/>
          </a:solidFill>
          <a:ln w="12700">
            <a:solidFill>
              <a:srgbClr val="C7922C"/>
            </a:solidFill>
            <a:prstDash val="solid"/>
          </a:ln>
        </p:spPr>
      </p:sp>
      <p:sp>
        <p:nvSpPr>
          <p:cNvPr id="12" name="Text 10"/>
          <p:cNvSpPr/>
          <p:nvPr/>
        </p:nvSpPr>
        <p:spPr>
          <a:xfrm>
            <a:off x="548640" y="33192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Spelling
</a:t>
            </a:r>
            <a:pPr indent="0" marL="0">
              <a:buNone/>
            </a:pPr>
            <a:r>
              <a:rPr lang="en-US" sz="1000" i="1" dirty="0">
                <a:solidFill>
                  <a:srgbClr val="1E293B"/>
                </a:solidFill>
                <a:latin typeface="Calibri" pitchFamily="34" charset="0"/>
                <a:ea typeface="Calibri" pitchFamily="34" charset="-122"/>
                <a:cs typeface="Calibri" pitchFamily="34" charset="-120"/>
              </a:rPr>
              <a:t>Choose one word with the root scrib or script . Write a sentence using that word, then explain how the root helps you understand its meaning.</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RWM — Reader · Writer · Mimic</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Shape 2"/>
          <p:cNvSpPr/>
          <p:nvPr/>
        </p:nvSpPr>
        <p:spPr>
          <a:xfrm>
            <a:off x="365760" y="868680"/>
            <a:ext cx="8412480" cy="640080"/>
          </a:xfrm>
          <a:prstGeom prst="roundRect">
            <a:avLst>
              <a:gd name="adj" fmla="val 14286"/>
            </a:avLst>
          </a:prstGeom>
          <a:solidFill>
            <a:srgbClr val="F8FAFC"/>
          </a:solidFill>
          <a:ln w="12700">
            <a:solidFill>
              <a:srgbClr val="0E1C42"/>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978408"/>
            <a:ext cx="8046720" cy="41148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 sat a long time with his arms hugging his knees. Now he knew what to do.”</a:t>
            </a:r>
            <a:endParaRPr lang="en-US" sz="1600" dirty="0"/>
          </a:p>
        </p:txBody>
      </p:sp>
      <p:sp>
        <p:nvSpPr>
          <p:cNvPr id="6" name="Shape 4"/>
          <p:cNvSpPr/>
          <p:nvPr/>
        </p:nvSpPr>
        <p:spPr>
          <a:xfrm>
            <a:off x="365760" y="1600200"/>
            <a:ext cx="8412480" cy="777240"/>
          </a:xfrm>
          <a:prstGeom prst="roundRect">
            <a:avLst>
              <a:gd name="adj" fmla="val 11765"/>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Reader: </a:t>
            </a:r>
            <a:pPr indent="0" marL="0">
              <a:buNone/>
            </a:pPr>
            <a:r>
              <a:rPr lang="en-US" sz="1200" dirty="0">
                <a:solidFill>
                  <a:srgbClr val="1E293B"/>
                </a:solidFill>
                <a:latin typeface="Calibri" pitchFamily="34" charset="0"/>
                <a:ea typeface="Calibri" pitchFamily="34" charset="-122"/>
                <a:cs typeface="Calibri" pitchFamily="34" charset="-120"/>
              </a:rPr>
              <a:t>Johnny has just spent weeks failing, being rejected, and being told there is no work for him. Then he breaks down crying at his mother’s grave. Why does he feel so certain in this moment? What does the calm after despair tell you?</a:t>
            </a:r>
            <a:endParaRPr lang="en-US" sz="1200" dirty="0"/>
          </a:p>
        </p:txBody>
      </p:sp>
      <p:sp>
        <p:nvSpPr>
          <p:cNvPr id="8" name="Shape 6"/>
          <p:cNvSpPr/>
          <p:nvPr/>
        </p:nvSpPr>
        <p:spPr>
          <a:xfrm>
            <a:off x="365760" y="2450592"/>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523744"/>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Writer: </a:t>
            </a:r>
            <a:pPr indent="0" marL="0">
              <a:buNone/>
            </a:pPr>
            <a:r>
              <a:rPr lang="en-US" sz="1200" dirty="0">
                <a:solidFill>
                  <a:srgbClr val="1E293B"/>
                </a:solidFill>
                <a:latin typeface="Calibri" pitchFamily="34" charset="0"/>
                <a:ea typeface="Calibri" pitchFamily="34" charset="-122"/>
                <a:cs typeface="Calibri" pitchFamily="34" charset="-120"/>
              </a:rPr>
              <a:t>Two short sentences—almost like two heartbeats. The first shows stillness; the second shows clarity. Notice how the author uses short, simple sentences at turning points. Why not a longer sentence here?</a:t>
            </a:r>
            <a:endParaRPr lang="en-US" sz="1200" dirty="0"/>
          </a:p>
        </p:txBody>
      </p:sp>
      <p:sp>
        <p:nvSpPr>
          <p:cNvPr id="10" name="Shape 8"/>
          <p:cNvSpPr/>
          <p:nvPr/>
        </p:nvSpPr>
        <p:spPr>
          <a:xfrm>
            <a:off x="365760" y="3300984"/>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74136"/>
            <a:ext cx="8046720" cy="822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Mimic: </a:t>
            </a:r>
            <a:pPr indent="0" marL="0">
              <a:buNone/>
            </a:pPr>
            <a:r>
              <a:rPr lang="en-US" sz="1200" dirty="0">
                <a:solidFill>
                  <a:srgbClr val="1E293B"/>
                </a:solidFill>
                <a:latin typeface="Calibri" pitchFamily="34" charset="0"/>
                <a:ea typeface="Calibri" pitchFamily="34" charset="-122"/>
                <a:cs typeface="Calibri" pitchFamily="34" charset="-120"/>
              </a:rPr>
              <a:t>Write two short sentences that show a character reaching a decision after a long struggle. First sentence = the pause. Second sentence = the resolution.</a:t>
            </a:r>
            <a:pPr indent="0" marL="0">
              <a:buNone/>
            </a:pPr>
            <a:endParaRPr lang="en-US" sz="1200" dirty="0"/>
          </a:p>
          <a:p>
            <a:pPr indent="0" marL="0">
              <a:buNone/>
            </a:pPr>
            <a:r>
              <a:rPr lang="en-US" sz="1200" b="1" i="1" dirty="0">
                <a:solidFill>
                  <a:srgbClr val="34B76F"/>
                </a:solidFill>
                <a:latin typeface="Calibri" pitchFamily="34" charset="0"/>
                <a:ea typeface="Calibri" pitchFamily="34" charset="-122"/>
                <a:cs typeface="Calibri" pitchFamily="34" charset="-120"/>
              </a:rPr>
              <a:t>Frame: He/She waited. Now ___.</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Johnny’s Path Through Johnny Tremain — 📍 You are here: Chapter 3 — An Earth of Brass</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3 — An Earth of Brass</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Mr. Lapham just warned Johnny about his pride. Do you think Johnny is really listening? Why or why not? What details show whether Johnny takes the warning seriously?</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The accident just happened. How will this change Johnny’s life? Think about everything silversmithing meant to him—his identity, his income, his future. What has he lost?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How has Johnny’s life changed since the accident? Describe at least two specific ways.</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Why does Johnny refuse some types of work even though he is desperate? What does this reveal about his character?</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What finally pushes Johnny to decide to visit Merchant Lyte? Why is this a turning point in the story?</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 Argument Writing</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THIS WEEK'S ARGUMENT-WRITING ARC</a:t>
            </a:r>
            <a:endParaRPr lang="en-US" sz="1100" dirty="0"/>
          </a:p>
        </p:txBody>
      </p:sp>
      <p:sp>
        <p:nvSpPr>
          <p:cNvPr id="5" name="Shape 3"/>
          <p:cNvSpPr/>
          <p:nvPr/>
        </p:nvSpPr>
        <p:spPr>
          <a:xfrm>
            <a:off x="365760" y="1115568"/>
            <a:ext cx="2029968" cy="502920"/>
          </a:xfrm>
          <a:prstGeom prst="roundRect">
            <a:avLst>
              <a:gd name="adj" fmla="val 14545"/>
            </a:avLst>
          </a:prstGeom>
          <a:solidFill>
            <a:srgbClr val="E8F8EF"/>
          </a:solidFill>
          <a:ln/>
        </p:spPr>
      </p:sp>
      <p:sp>
        <p:nvSpPr>
          <p:cNvPr id="6" name="Text 4"/>
          <p:cNvSpPr/>
          <p:nvPr/>
        </p:nvSpPr>
        <p:spPr>
          <a:xfrm>
            <a:off x="393192" y="1115568"/>
            <a:ext cx="1975104" cy="502920"/>
          </a:xfrm>
          <a:prstGeom prst="rect">
            <a:avLst/>
          </a:prstGeom>
          <a:noFill/>
          <a:ln/>
        </p:spPr>
        <p:txBody>
          <a:bodyPr wrap="square" lIns="0" tIns="0" rIns="0" bIns="0" rtlCol="0" anchor="ctr"/>
          <a:lstStyle/>
          <a:p>
            <a:pPr algn="ctr" indent="0" marL="0">
              <a:buNone/>
            </a:pPr>
            <a:r>
              <a:rPr lang="en-US" sz="950" dirty="0">
                <a:solidFill>
                  <a:srgbClr val="34B76F"/>
                </a:solidFill>
                <a:latin typeface="Calibri" pitchFamily="34" charset="0"/>
                <a:ea typeface="Calibri" pitchFamily="34" charset="-122"/>
                <a:cs typeface="Calibri" pitchFamily="34" charset="-120"/>
              </a:rPr>
              <a:t>Reasons</a:t>
            </a:r>
            <a:endParaRPr lang="en-US" sz="950" dirty="0"/>
          </a:p>
        </p:txBody>
      </p:sp>
      <p:sp>
        <p:nvSpPr>
          <p:cNvPr id="7" name="Shape 5"/>
          <p:cNvSpPr/>
          <p:nvPr/>
        </p:nvSpPr>
        <p:spPr>
          <a:xfrm>
            <a:off x="2468880" y="1115568"/>
            <a:ext cx="2029968" cy="502920"/>
          </a:xfrm>
          <a:prstGeom prst="roundRect">
            <a:avLst>
              <a:gd name="adj" fmla="val 14545"/>
            </a:avLst>
          </a:prstGeom>
          <a:solidFill>
            <a:srgbClr val="34B76F"/>
          </a:solidFill>
          <a:ln/>
        </p:spPr>
      </p:sp>
      <p:sp>
        <p:nvSpPr>
          <p:cNvPr id="8" name="Text 6"/>
          <p:cNvSpPr/>
          <p:nvPr/>
        </p:nvSpPr>
        <p:spPr>
          <a:xfrm>
            <a:off x="2496312" y="1115568"/>
            <a:ext cx="1975104"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p>
        </p:txBody>
      </p:sp>
      <p:sp>
        <p:nvSpPr>
          <p:cNvPr id="9" name="Shape 7"/>
          <p:cNvSpPr/>
          <p:nvPr/>
        </p:nvSpPr>
        <p:spPr>
          <a:xfrm>
            <a:off x="4572000" y="1115568"/>
            <a:ext cx="2029968" cy="502920"/>
          </a:xfrm>
          <a:prstGeom prst="roundRect">
            <a:avLst>
              <a:gd name="adj" fmla="val 14545"/>
            </a:avLst>
          </a:prstGeom>
          <a:solidFill>
            <a:srgbClr val="F8FAFC"/>
          </a:solidFill>
          <a:ln/>
        </p:spPr>
      </p:sp>
      <p:sp>
        <p:nvSpPr>
          <p:cNvPr id="10" name="Text 8"/>
          <p:cNvSpPr/>
          <p:nvPr/>
        </p:nvSpPr>
        <p:spPr>
          <a:xfrm>
            <a:off x="459943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Draft</a:t>
            </a:r>
            <a:endParaRPr lang="en-US" sz="950" dirty="0"/>
          </a:p>
        </p:txBody>
      </p:sp>
      <p:sp>
        <p:nvSpPr>
          <p:cNvPr id="11" name="Shape 9"/>
          <p:cNvSpPr/>
          <p:nvPr/>
        </p:nvSpPr>
        <p:spPr>
          <a:xfrm>
            <a:off x="6675120" y="1115568"/>
            <a:ext cx="2029968" cy="502920"/>
          </a:xfrm>
          <a:prstGeom prst="roundRect">
            <a:avLst>
              <a:gd name="adj" fmla="val 14545"/>
            </a:avLst>
          </a:prstGeom>
          <a:solidFill>
            <a:srgbClr val="F8FAFC"/>
          </a:solidFill>
          <a:ln/>
        </p:spPr>
      </p:sp>
      <p:sp>
        <p:nvSpPr>
          <p:cNvPr id="12" name="Text 10"/>
          <p:cNvSpPr/>
          <p:nvPr/>
        </p:nvSpPr>
        <p:spPr>
          <a:xfrm>
            <a:off x="670255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Revise</a:t>
            </a:r>
            <a:endParaRPr lang="en-US" sz="950" dirty="0"/>
          </a:p>
        </p:txBody>
      </p:sp>
      <p:sp>
        <p:nvSpPr>
          <p:cNvPr id="13" name="Text 11"/>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 — EVIDENCE</a:t>
            </a:r>
            <a:endParaRPr lang="en-US" sz="1100" dirty="0"/>
          </a:p>
        </p:txBody>
      </p:sp>
      <p:sp>
        <p:nvSpPr>
          <p:cNvPr id="14" name="Shape 12"/>
          <p:cNvSpPr/>
          <p:nvPr/>
        </p:nvSpPr>
        <p:spPr>
          <a:xfrm>
            <a:off x="365760" y="2029968"/>
            <a:ext cx="8412480" cy="603504"/>
          </a:xfrm>
          <a:prstGeom prst="roundRect">
            <a:avLst>
              <a:gd name="adj" fmla="val 15152"/>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2084832"/>
            <a:ext cx="8046720" cy="49377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Learn what EVIDENCE is—the specific proof from the text that supports a reason.</a:t>
            </a:r>
            <a:endParaRPr lang="en-US" sz="1300" dirty="0"/>
          </a:p>
        </p:txBody>
      </p:sp>
      <p:sp>
        <p:nvSpPr>
          <p:cNvPr id="16" name="Text 14"/>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SENTENCE FRAMES</a:t>
            </a:r>
            <a:endParaRPr lang="en-US" sz="1100" dirty="0"/>
          </a:p>
        </p:txBody>
      </p:sp>
      <p:sp>
        <p:nvSpPr>
          <p:cNvPr id="17" name="Shape 15"/>
          <p:cNvSpPr/>
          <p:nvPr/>
        </p:nvSpPr>
        <p:spPr>
          <a:xfrm>
            <a:off x="365760" y="299923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3054096"/>
            <a:ext cx="8046720" cy="667512"/>
          </a:xfrm>
          <a:prstGeom prst="rect">
            <a:avLst/>
          </a:prstGeom>
          <a:noFill/>
          <a:ln/>
        </p:spPr>
        <p:txBody>
          <a:bodyPr wrap="square" lIns="0" tIns="0" rIns="0" bIns="0" rtlCol="0" anchor="t"/>
          <a:lstStyle/>
          <a:p>
            <a:pPr indent="0" marL="0">
              <a:buNone/>
            </a:pPr>
            <a:r>
              <a:rPr lang="en-US" sz="1050" i="1" dirty="0">
                <a:solidFill>
                  <a:srgbClr val="1E293B"/>
                </a:solidFill>
                <a:latin typeface="Calibri" pitchFamily="34" charset="0"/>
                <a:ea typeface="Calibri" pitchFamily="34" charset="-122"/>
                <a:cs typeface="Calibri" pitchFamily="34" charset="-120"/>
              </a:rPr>
              <a:t>Find ONE piece of evidence from Chapter 3 that supports a reason from your argument. Apply the Proof Test. Name your reason, then write your evidence from Chapter 3. Apply all three checks: from text, connects to reason, specific.</a:t>
            </a:r>
            <a:endParaRPr lang="en-US" sz="1050" dirty="0"/>
          </a:p>
        </p:txBody>
      </p:sp>
      <p:sp>
        <p:nvSpPr>
          <p:cNvPr id="19" name="Text 17"/>
          <p:cNvSpPr/>
          <p:nvPr/>
        </p:nvSpPr>
        <p:spPr>
          <a:xfrm>
            <a:off x="365760" y="385876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NOW YOU TRY</a:t>
            </a:r>
            <a:endParaRPr lang="en-US" sz="1100" dirty="0"/>
          </a:p>
        </p:txBody>
      </p:sp>
      <p:sp>
        <p:nvSpPr>
          <p:cNvPr id="20" name="Shape 18"/>
          <p:cNvSpPr/>
          <p:nvPr/>
        </p:nvSpPr>
        <p:spPr>
          <a:xfrm>
            <a:off x="365760" y="4114800"/>
            <a:ext cx="8412480" cy="914400"/>
          </a:xfrm>
          <a:prstGeom prst="roundRect">
            <a:avLst>
              <a:gd name="adj" fmla="val 10000"/>
            </a:avLst>
          </a:prstGeom>
          <a:solidFill>
            <a:srgbClr val="FEF6E8"/>
          </a:solidFill>
          <a:ln/>
          <a:effectLst>
            <a:outerShdw sx="100000" sy="100000" kx="0" ky="0" algn="bl" rotWithShape="0" blurRad="101600" dist="38100" dir="2700000">
              <a:srgbClr val="000000">
                <a:alpha val="12000"/>
              </a:srgbClr>
            </a:outerShdw>
          </a:effectLst>
        </p:spPr>
      </p:sp>
      <p:sp>
        <p:nvSpPr>
          <p:cNvPr id="21" name="Text 19"/>
          <p:cNvSpPr/>
          <p:nvPr/>
        </p:nvSpPr>
        <p:spPr>
          <a:xfrm>
            <a:off x="548640" y="4169664"/>
            <a:ext cx="80467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Find ONE piece of evidence from Chapter 3 that supports a reason from your argument. Apply the Proof Test. Name your reason, then write your evidence from Chapter 3. Apply all three checks: from text, connects to reason, specific.</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2026-07-12T13:39:51Z</dcterms:created>
  <dcterms:modified xsi:type="dcterms:W3CDTF">2026-07-12T13:39:51Z</dcterms:modified>
</cp:coreProperties>
</file>