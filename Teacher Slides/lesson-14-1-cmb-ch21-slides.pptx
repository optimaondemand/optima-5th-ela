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14, Day 1, Chapter 21 — Sealing Is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21. Ask: How does theme develop across the whole book?
Morphology SWYK: Word families — navigate/navigation/navigator; inform/information/informative.
Grammar: Title formatting (italics, quotation marks) and MLA citations.
Spelling: Cumulative four-pattern review.
Reading: Chapter 21 — Sealing Is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"in the chapter called sealing is safer nat must decide between a voyage that is cautious and one that will test everything he knows about navigation"
Corrected: "In the chapter called “Sealing Is Safer,” Nat must decide between a voyage that is cautious and one that will test everything he knows about navigation."
Fixes: capitalize “In”; chapter title in quotation marks; capitalize “Nat”;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"in the chapter called sealing is safer nat must decide between a voyage that is cautious and one that will test everything he knows about navigation"
Corrected: "In the chapter called “Sealing Is Safer,” Nat must decide between a voyage that is cautious and one that will test everything he knows about navigation."
Fixes: capitalize “In”; chapter title in quotation marks; capitalize “Nat”;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detail here I could cut because it doesn't support my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Graded SWYK strand today: 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Decode &amp;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Cumulative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14 — Chapter 21 — Sealing Is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PUBLISH: Draft your conclusion
Focus: A conclusion synthesizes — it finds the larger insight that connects your two body sections. Today you write a first draft using the 3-Move Formula.
Before: BEFORE Alex's first attempt: In conclusion, Bowditch was extraordinary because he worked hard and helped sailors. These two things show he was a great person.
After: AFTER Alex's synthesis draft: What Bowditch's story reveals, when you hold both body sections together, is not just that he was disciplined or that he was generous — but that discipline and generosity were the same impulse for him. He worked hard not to prove himself, but because he couldn't stand the idea of sailors dying from errors that mathematics could fix.
Notice: Notice: Alex's revised conclusion does NOT repeat the body sections. It finds the connection BETWEEN them — the idea that discipline and generosity were the same thing for Nat. That is synthesis.
Tool: Today’s Tool: 3-Move Synthesis Formula — A strong conclusion has three moves: (1) Larger insight — what do your two body sections reveal together? (2) Return to hook — call back your opening image. (3) Why it matters — beyond Bowditch, what does this mean?
Frames: “What Bowditch's story reveals, when you hold both body sections together, is ___.” | “That [return to opening scene] was the proof of everything he had worked toward.” | “He showed that ___ — not just for himself, but for...”
Prompt: Draft your conclusion using all three moves: (1) larger insight, (2) return to your hook, (3) why it matters. This is the last thing your reader will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14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21 — Sealing Is Safer</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14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21. Ask: How does theme develop across the whole book?</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SWYK: </a:t>
            </a:r>
            <a:pPr indent="0" marL="0">
              <a:buNone/>
            </a:pPr>
            <a:r>
              <a:rPr lang="en-US" sz="1250" dirty="0">
                <a:solidFill>
                  <a:srgbClr val="1E293B"/>
                </a:solidFill>
                <a:latin typeface="Calibri" pitchFamily="34" charset="0"/>
                <a:ea typeface="Calibri" pitchFamily="34" charset="-122"/>
                <a:cs typeface="Calibri" pitchFamily="34" charset="-120"/>
              </a:rPr>
              <a:t>Word families — navigate/navigation/navigator; inform/information/informative.</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Title formatting (italics, quotation marks) and MLA citations.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Cumulative four-pattern review.</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21 — Sealing Is Safer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This is the final week. Chapters 21–24 bring the whole arc of Nat’s life to its resolution. Good readers don’t just finish — they synthesize. They ask: what does the whole story mean? How does the theme develop from Chapter 1 all the way to the end? And how does what you’ve read about Nat’s life connect to the expository essay you’ve been writing about him?</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Chapter 21 is called “Sealing Is Safer.” What does that title suggest about the kind of choice Nat faces? What does his response to that choice tell you about his character?</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Look at the major theme of the whole book: the tension between what is safe and what is meaningful. How does Chapter 21 bring that theme to the surface in its final form?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Chapter 21, Latham shows that choosing a meaningful path — even a dangerous one — was always more important to Nat than choosing the safer one.</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Latham shows  </a:t>
            </a:r>
            <a:pPr indent="0" marL="0">
              <a:buNone/>
            </a:pPr>
            <a:r>
              <a:rPr lang="en-US" sz="1200" dirty="0">
                <a:solidFill>
                  <a:srgbClr val="1E293B"/>
                </a:solidFill>
                <a:latin typeface="Calibri" pitchFamily="34" charset="0"/>
                <a:ea typeface="Calibri" pitchFamily="34" charset="-122"/>
                <a:cs typeface="Calibri" pitchFamily="34" charset="-120"/>
              </a:rPr>
              <a:t>Chapter titles go in quotation marks. Book and ship titles are italicized.</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safer  </a:t>
            </a:r>
            <a:pPr indent="0" marL="0">
              <a:buNone/>
            </a:pPr>
            <a:r>
              <a:rPr lang="en-US" sz="1200" dirty="0">
                <a:solidFill>
                  <a:srgbClr val="1E293B"/>
                </a:solidFill>
                <a:latin typeface="Calibri" pitchFamily="34" charset="0"/>
                <a:ea typeface="Calibri" pitchFamily="34" charset="-122"/>
                <a:cs typeface="Calibri" pitchFamily="34" charset="-120"/>
              </a:rPr>
              <a:t>“safer” is correctly compared here; the superlative would be “safest.”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the chapter called sealing is safer nat must decide between a voyage that is cautious and one that will test everything he knows about navigation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the chapter called sealing is safer nat must decide between a voyage that is cautious and one that will test everything he knows about navigation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In the chapter called “Sealing Is Safer,” Nat must decide between a voyage that is cautious and one that will test everything he knows about navigation.</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“In”; chapter title in quotation marks; capitalize “Nat”; period at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argues that sealing is safer than some kinds of sailing. Do you agree that the danger Nat describes in Chapter 21 is really about the sea, or is it really about trusting untested methods? Defend your answer with evidence.</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argues that sealing is safer than some kinds of sailing. Do you agree that the danger Nat describes in Chapter 21 is really about the sea, or is it really about trusting untested methods? Defend your answer with evidence.</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detail here I could cut because it doesn't support my point?</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Word Families</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Family 1: navig- (Latin: to sail, to guide a ship) | navigate (v) — to find one’s way, especially by sea · navigation (n) — the science of finding position and charting a course · navigator (n) — one who navigates | Family 2: inform- (Latin: to give form or shape to; to pass knowledge to someone) | inform (v) — to tell; to give information to · information (n) — facts; knowledge communicated · informative (adj) — providing useful information</a:t>
            </a:r>
            <a:endParaRPr lang="en-US" sz="1150" dirty="0"/>
          </a:p>
        </p:txBody>
      </p:sp>
      <p:sp>
        <p:nvSpPr>
          <p:cNvPr id="7" name="Shape 5"/>
          <p:cNvSpPr/>
          <p:nvPr/>
        </p:nvSpPr>
        <p:spPr>
          <a:xfrm>
            <a:off x="365760" y="1709928"/>
            <a:ext cx="8412480" cy="777240"/>
          </a:xfrm>
          <a:prstGeom prst="roundRect">
            <a:avLst>
              <a:gd name="adj" fmla="val 11765"/>
            </a:avLst>
          </a:prstGeom>
          <a:solidFill>
            <a:srgbClr val="FEF6E8"/>
          </a:solidFill>
          <a:ln w="12700">
            <a:solidFill>
              <a:srgbClr val="C7922C"/>
            </a:solidFill>
            <a:prstDash val="solid"/>
          </a:ln>
        </p:spPr>
      </p:sp>
      <p:sp>
        <p:nvSpPr>
          <p:cNvPr id="8" name="Text 6"/>
          <p:cNvSpPr/>
          <p:nvPr/>
        </p:nvSpPr>
        <p:spPr>
          <a:xfrm>
            <a:off x="548640" y="1783080"/>
            <a:ext cx="8046720" cy="640080"/>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Morphology
</a:t>
            </a:r>
            <a:pPr indent="0" marL="0">
              <a:buNone/>
            </a:pPr>
            <a:r>
              <a:rPr lang="en-US" sz="1100" i="1" dirty="0">
                <a:solidFill>
                  <a:srgbClr val="1E293B"/>
                </a:solidFill>
                <a:latin typeface="Calibri" pitchFamily="34" charset="0"/>
                <a:ea typeface="Calibri" pitchFamily="34" charset="-122"/>
                <a:cs typeface="Calibri" pitchFamily="34" charset="-120"/>
              </a:rPr>
              <a:t>Word families: for each of the six words (navigate, navigation, navigator, inform, information, informative), identify: (1) its part of speech, (2) the root and what it means, (3) a sentence using the word in the context of Carry On, Mr. Bowditch .</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Decode &amp; Discover</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Review the six words from the two families</a:t>
            </a:r>
            <a:endParaRPr lang="en-US" sz="1100" dirty="0"/>
          </a:p>
        </p:txBody>
      </p:sp>
      <p:sp>
        <p:nvSpPr>
          <p:cNvPr id="5" name="Shape 3"/>
          <p:cNvSpPr/>
          <p:nvPr/>
        </p:nvSpPr>
        <p:spPr>
          <a:xfrm>
            <a:off x="365760" y="10972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43000"/>
            <a:ext cx="8046720" cy="41148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navigator  </a:t>
            </a:r>
            <a:pPr indent="0" marL="0">
              <a:buNone/>
            </a:pPr>
            <a:r>
              <a:rPr lang="en-US" sz="1100" dirty="0">
                <a:solidFill>
                  <a:srgbClr val="1E293B"/>
                </a:solidFill>
                <a:latin typeface="Calibri" pitchFamily="34" charset="0"/>
                <a:ea typeface="Calibri" pitchFamily="34" charset="-122"/>
                <a:cs typeface="Calibri" pitchFamily="34" charset="-120"/>
              </a:rPr>
              <a:t>a person who guides a ship by plotting its course</a:t>
            </a:r>
            <a:endParaRPr lang="en-US" sz="1300" dirty="0"/>
          </a:p>
        </p:txBody>
      </p:sp>
      <p:sp>
        <p:nvSpPr>
          <p:cNvPr id="7" name="Shape 5"/>
          <p:cNvSpPr/>
          <p:nvPr/>
        </p:nvSpPr>
        <p:spPr>
          <a:xfrm>
            <a:off x="365760" y="1664208"/>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09928"/>
            <a:ext cx="8046720" cy="41148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navigation  </a:t>
            </a:r>
            <a:pPr indent="0" marL="0">
              <a:buNone/>
            </a:pPr>
            <a:r>
              <a:rPr lang="en-US" sz="1100" dirty="0">
                <a:solidFill>
                  <a:srgbClr val="1E293B"/>
                </a:solidFill>
                <a:latin typeface="Calibri" pitchFamily="34" charset="0"/>
                <a:ea typeface="Calibri" pitchFamily="34" charset="-122"/>
                <a:cs typeface="Calibri" pitchFamily="34" charset="-120"/>
              </a:rPr>
              <a:t>the science of finding position and planning a course at sea</a:t>
            </a:r>
            <a:endParaRPr lang="en-US" sz="1300" dirty="0"/>
          </a:p>
        </p:txBody>
      </p:sp>
      <p:sp>
        <p:nvSpPr>
          <p:cNvPr id="9" name="Shape 7"/>
          <p:cNvSpPr/>
          <p:nvPr/>
        </p:nvSpPr>
        <p:spPr>
          <a:xfrm>
            <a:off x="365760" y="2231136"/>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76856"/>
            <a:ext cx="8046720" cy="41148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informative  </a:t>
            </a:r>
            <a:pPr indent="0" marL="0">
              <a:buNone/>
            </a:pPr>
            <a:r>
              <a:rPr lang="en-US" sz="1100" dirty="0">
                <a:solidFill>
                  <a:srgbClr val="1E293B"/>
                </a:solidFill>
                <a:latin typeface="Calibri" pitchFamily="34" charset="0"/>
                <a:ea typeface="Calibri" pitchFamily="34" charset="-122"/>
                <a:cs typeface="Calibri" pitchFamily="34" charset="-120"/>
              </a:rPr>
              <a:t>providing useful facts or knowledge</a:t>
            </a:r>
            <a:endParaRPr lang="en-US" sz="1300" dirty="0"/>
          </a:p>
        </p:txBody>
      </p:sp>
      <p:sp>
        <p:nvSpPr>
          <p:cNvPr id="11" name="Shape 9"/>
          <p:cNvSpPr/>
          <p:nvPr/>
        </p:nvSpPr>
        <p:spPr>
          <a:xfrm>
            <a:off x="365760" y="27980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43784"/>
            <a:ext cx="8046720" cy="41148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navigate  </a:t>
            </a:r>
            <a:pPr indent="0" marL="0">
              <a:buNone/>
            </a:pPr>
            <a:r>
              <a:rPr lang="en-US" sz="1100" dirty="0">
                <a:solidFill>
                  <a:srgbClr val="1E293B"/>
                </a:solidFill>
                <a:latin typeface="Calibri" pitchFamily="34" charset="0"/>
                <a:ea typeface="Calibri" pitchFamily="34" charset="-122"/>
                <a:cs typeface="Calibri" pitchFamily="34" charset="-120"/>
              </a:rPr>
              <a:t>to guide a ship using calculations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Title Formatting &amp; Citations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Italics for books and ships · Quotes for chapters · MLA for citations</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Rule 1: Italicize (or underline) book titles and ship names. Latham, Jean Lee. Carry On, Mr. Bowditch. Houghton Mifflin, 1955. Nat served as supercargo aboard the Henry on his first major voyage. Rule 2: Use quotation marks around chapter titles and section headings. The final chapter, “Man Against the Fog,” is the climax of the entire biography. In “Sealing Is Safer,” Latham contrasts safe choices with meaningful ones. Rule 3: MLA source citation for a book. Author last name, First name. Title of Book. Publisher, Year. Latham, Jean Lee. Carry On, Mr. Bowditch. Houghton Mifflin, 1955.</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sentence uses title formatting correctly?</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The chapter Man Against the Fog ends the book.   /   The chapter “Man Against the Fog” ends Carry On, Mr. Bowditch .</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citation is correctly formatted?</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Jean Lee Latham, Carry On Mr. Bowditch, Houghton Mifflin 1955   /   Latham, Jean Lee. Carry On, Mr. Bowditch. Houghton Mifflin, 1955.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Title Formatting &amp; Citations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Italics for books and ships · Quotes for chapters · MLA for citations</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Rule 1: Italicize (or underline) book titles and ship names. Latham, Jean Lee. Carry On, Mr. Bowditch. Houghton Mifflin, 1955. Nat served as supercargo aboard the Henry on his first major voyage. Rule 2: Use quotation marks around chapter titles and section headings. The final chapter, “Man Against the Fog,” is the climax of the entire biography. In “Sealing Is Safer,” Latham contrasts safe choices with meaningful ones. Rule 3: MLA source citation for a book. Author last name, First name. Title of Book. Publisher, Year. Latham, Jean Lee. Carry On, Mr. Bowditch. Houghton Mifflin, 1955.</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sentence uses title formatting correctly?
</a:t>
            </a:r>
            <a:pPr indent="0" marL="0">
              <a:buNone/>
            </a:pPr>
            <a:r>
              <a:rPr lang="en-US" sz="1200" b="1" dirty="0">
                <a:solidFill>
                  <a:srgbClr val="34B76F"/>
                </a:solidFill>
                <a:latin typeface="Calibri" pitchFamily="34" charset="0"/>
                <a:ea typeface="Calibri" pitchFamily="34" charset="-122"/>
                <a:cs typeface="Calibri" pitchFamily="34" charset="-120"/>
              </a:rPr>
              <a:t>✅ The chapter “Man Against the Fog” ends Carry On, Mr. Bowditch .</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citation is correctly formatted?
</a:t>
            </a:r>
            <a:pPr indent="0" marL="0">
              <a:buNone/>
            </a:pPr>
            <a:r>
              <a:rPr lang="en-US" sz="1200" b="1" dirty="0">
                <a:solidFill>
                  <a:srgbClr val="34B76F"/>
                </a:solidFill>
                <a:latin typeface="Calibri" pitchFamily="34" charset="0"/>
                <a:ea typeface="Calibri" pitchFamily="34" charset="-122"/>
                <a:cs typeface="Calibri" pitchFamily="34" charset="-120"/>
              </a:rPr>
              <a:t>✅ Latham, Jean Lee. Carry On, Mr. Bowditch. Houghton Mifflin, 1955.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Cumulative 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Four patterns from the CMB unit</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Four patterns to remember
</a:t>
            </a:r>
            <a:pPr indent="0" marL="0">
              <a:buNone/>
            </a:pPr>
            <a:r>
              <a:rPr lang="en-US" sz="1100" dirty="0">
                <a:solidFill>
                  <a:srgbClr val="1E293B"/>
                </a:solidFill>
                <a:latin typeface="Calibri" pitchFamily="34" charset="0"/>
                <a:ea typeface="Calibri" pitchFamily="34" charset="-122"/>
                <a:cs typeface="Calibri" pitchFamily="34" charset="-120"/>
              </a:rPr>
              <a:t>Schwa vowels (Week 11): Unstressed syllables often reduce to a schwa sound (/&amp;schwa/). You have to memorize these because you can’t rely on how they sound. Ex: navi ga tion, astro no mer, cal cu late -ous / -ious / -eous (Week 12): All mean “full of” or “having the quality of.” The spelling depends on the root. Ex: hazardous, ambitious, courageous Assimilated prefixes (Week 13): Prefixes change spelling to match the root’s first letter. Ex: sub + port = support ; in + possible = impossible Word families (Week 14): Changing a suffix changes the part of speech but not the core meaning. Ex: navigate → navigation → navigator</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14 — Chapter 21 — Sealing Is Safer</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21 — Sealing Is Safer</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Chapter 21 is called “Sealing Is Safer.” What does that title suggest about the kind of choice Nat faces? What does his response to that choice tell you about his character?</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Look at the major theme of the whole book: the tension between what is safe and what is meaningful. How does Chapter 21 bring that theme to the surface in its final form?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Chapter 21 is called “Sealing Is Safer.” What is the choice Nat faces, and what does he choose? What does his choice reveal about his values at this point in his life — after everything he has experienced from Chapter 1 to Chapter 20?</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How does the theme of safety vs. meaning develop in Chapter 21? Connect this chapter to at least one earlier chapter where the same tension appeared — and explain how Nat’s response has stayed consistent or changed.</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Think about the word family: navigate / navigation / navigator . By Chapter 21, how has Nat’s relationship to each of these words changed from Chapter 1? Which word best describes him now, and why?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PUBLISH  ·  Draft your conclusion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A conclusion synthesizes — it finds the larger insight that connects your two body sections. Today you write a first draft using the 3-Move Formula.</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first attempt: In conclusion, Bowditch was extraordinary because he worked hard and helped sailors. These two things show he was a great person.</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synthesis draft: What Bowditch's story reveals, when you hold both body sections together, is not just that he was disciplined or that he was generous — but that discipline and generosity were the same impulse for him. He worked hard not to prove himself, but because he couldn't stand the idea of sailors dying from errors that mathematics could fix.</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revised conclusion does NOT repeat the body sections. It finds the connection BETWEEN them — the idea that discipline and generosity were the same thing for Nat. That is synthesis.</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3-MOVE SYNTHESIS FORMULA</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 strong conclusion has three moves: (1) Larger insight — what do your two body sections reveal together? (2) Return to hook — call back your opening image. (3) Why it matters — beyond Bowditch, what does this mean?</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Draft your conclusion using all three moves: (1) larger insight, (2) return to your hook, (3) why it matters. This is the last thing your reader will read.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