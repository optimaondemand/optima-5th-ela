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14.1: Chapter 21, "Sealing Is Safer". Banner quote: “Every ship is in danger, every time it sails.” (Polly • Chapter 21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When is a “safe” choice not safe at all? Today you read Chapter 21. Ask: How does theme develop across the whole book?
Objectives:
- 🧭 Morphology SWYK: Word families — navigate/navigation/navigator; inform/information/informative.
- ✏️ Grammar: I will define the conventions an editor checks in a finished essay.
- 🔤 Spelling: Cumulative four-pattern review.
- 📖 Reading: I will synthesize the book so far by tracing how the events of Chapters 1–21 build one life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the chapter called sealing is safer nat invests in a sealing ship while he finishes his book on navigation
Corrected: In the chapter called “Sealing Is Safer,” Nat invests in a sealing ship while he finishes his book on navigation.
Fixes: capitalize “In”; chapter title in quotation marks; capitalize “Nat”;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in the chapter called sealing is safer nat invests in a sealing ship while he finishes his book on navigation
Corrected: In the chapter called “Sealing Is Safer,” Nat invests in a sealing ship while he finishes his book on navigation.
Fixes: capitalize “In”; chapter title in quotation marks; capitalize “Nat”;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Word Families — navigate → navigation → navigator · inform → information → informative.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Word Families — navigate → navigation → navigator · inform → information → informative.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cards. Have students say each word, then use it in a sentence about the chapter.
navigate: Verb. To find a route and guide a ship (or vehicle) along it. Root: navig- (sail).
navigation: Noun. The science or practice of finding position and planning a course at sea. Root: navig- (sail) + -ation (act of).
navigator: Noun. A person who navigates. Root: navig- + -ator (one who does).
inform: Verb. To give information to; to tell. Root: in- (into) + form (shape) = to give shape/knowledge to someone.
information: Noun. Facts or knowledge communicated. Root: inform + -ation (the act or result of).
informative: Adjective. Providing useful information. Root: inform + -ative (having the quality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Word Family Flip Cards — Review the six words from the two families.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navigator = a person who guides a ship by plotting its course
informative = providing useful facts or knowledge
navigation = the science of finding position and planning a course at sea
navigate = to guide a ship using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Editing for Conventions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Editing for Conventions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Bowditch published The New American Practical Navigator in 1802. — spot1
2. The tables were wrong, so ships were lost. — spot2
3. After years of checking every figure, Nat finished the book.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Cumulative Review — Four patterns from the CMB unit.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Cumulative Review — Four patterns from the CMB unit.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A doer ending: navigator, surveyor
An adjective ending: nautical, magnetic
A prefix of direction: submarine, international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Draft your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Draft your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Publish: Draft your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14  ·  DAY 1  ·  LESSON 14.1</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21 — Sealing Is Safer</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“Every ship is in danger, every time it sails.”</a:t>
            </a:r>
            <a:pPr indent="0" marL="0">
              <a:buNone/>
            </a:pPr>
            <a:r>
              <a:rPr lang="en-US" sz="1600" dirty="0">
                <a:solidFill>
                  <a:srgbClr val="55C8E8"/>
                </a:solidFill>
                <a:latin typeface="Calibri" pitchFamily="34" charset="0"/>
                <a:ea typeface="Calibri" pitchFamily="34" charset="-122"/>
                <a:cs typeface="Calibri" pitchFamily="34" charset="-120"/>
              </a:rPr>
              <a:t>  — Polly • Chapter 21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PUBLISH</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21</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When is a “safe” choice not safe at all?</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21. Ask: How does theme develop across the whole book?</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Word families — navigate/navigation/navigator; inform/information/informative.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the conventions an editor checks in a finished essay.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Cumulative four-pattern review.</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synthesize the book so far by tracing how the events of Chapters 1–21 build one life story.</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BIOGRAPHY AND EXPOSITORY WRITING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This is the final week. Chapters 21–24 bring the whole arc of Nat’s life to its resolution. Good readers don’t just finish — they synthesize. They ask: what does the whole story mean? How does the theme develop from Chapter 1 all the way to the end? And how does what you’ve read about Nat’s life connect to the expository essay you’ve been writing about him?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Put the threads together: Hold the events, the problem-solving, the perseverance and the technical work in one view.</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State the significance: Say why this life mattered beyond itself. That is what expository writing about a person has to do.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Support every claim: For each thing you say about the whole book, name the chapter you would send a reader 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BIOGRAPHY AND EXPOSITORY WRITING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Chapter 21 is called “Sealing Is Safer.” Who says sealing is safer, and safer than what? Watch what happens to the “safe” investment. What does that tell you about the title?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Look at a major theme of the whole book: the sea is never truly safe, and knowledge is what makes sailors safer. How does Chapter 21 bring that theme to the surface — in Polly’s words about Nat’s book and in what happens to the sealer?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Chapter 21, </a:t>
            </a:r>
            <a:pPr indent="0" marL="0">
              <a:buNone/>
            </a:pPr>
            <a:r>
              <a:rPr lang="en-US" sz="2600" b="1" u="sng" dirty="0">
                <a:solidFill>
                  <a:srgbClr val="1E8E52"/>
                </a:solidFill>
                <a:latin typeface="Calibri" pitchFamily="34" charset="0"/>
                <a:ea typeface="Calibri" pitchFamily="34" charset="-122"/>
                <a:cs typeface="Calibri" pitchFamily="34" charset="-120"/>
              </a:rPr>
              <a:t>Latham shows</a:t>
            </a:r>
            <a:pPr indent="0" marL="0">
              <a:buNone/>
            </a:pPr>
            <a:r>
              <a:rPr lang="en-US" sz="2600" dirty="0">
                <a:solidFill>
                  <a:srgbClr val="1E293B"/>
                </a:solidFill>
                <a:latin typeface="Calibri" pitchFamily="34" charset="0"/>
                <a:ea typeface="Calibri" pitchFamily="34" charset="-122"/>
                <a:cs typeface="Calibri" pitchFamily="34" charset="-120"/>
              </a:rPr>
              <a:t> that Polly believed Nat’s book on navigation would make every ship </a:t>
            </a:r>
            <a:pPr indent="0" marL="0">
              <a:buNone/>
            </a:pPr>
            <a:r>
              <a:rPr lang="en-US" sz="2600" b="1" u="sng" dirty="0">
                <a:solidFill>
                  <a:srgbClr val="1E8E52"/>
                </a:solidFill>
                <a:latin typeface="Calibri" pitchFamily="34" charset="0"/>
                <a:ea typeface="Calibri" pitchFamily="34" charset="-122"/>
                <a:cs typeface="Calibri" pitchFamily="34" charset="-120"/>
              </a:rPr>
              <a:t>safer</a:t>
            </a:r>
            <a:pPr indent="0" marL="0">
              <a:buNone/>
            </a:pPr>
            <a:r>
              <a:rPr lang="en-US" sz="2600" dirty="0">
                <a:solidFill>
                  <a:srgbClr val="1E293B"/>
                </a:solidFill>
                <a:latin typeface="Calibri" pitchFamily="34" charset="0"/>
                <a:ea typeface="Calibri" pitchFamily="34" charset="-122"/>
                <a:cs typeface="Calibri" pitchFamily="34" charset="-120"/>
              </a:rPr>
              <a:t> every time it went to sea.</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Latham shows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Chapter titles go in quotation marks. Book and ship titles are italicized.</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safer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“safer” is correctly compared here; the superlative would be “safest.”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the chapter called sealing is safer nat invests in a sealing ship while he finishes his book on navigation</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in the chapter called sealing is safer nat invests in a sealing ship while he finishes his book on navigation</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In the chapter called “Sealing Is Safer,” Nat invests in a sealing ship while he finishes his book on navigation.</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“In”; chapter title in quotation marks; capitalize “Nat”; period at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300" dirty="0">
                <a:solidFill>
                  <a:srgbClr val="1E293B"/>
                </a:solidFill>
                <a:latin typeface="Calibri" pitchFamily="34" charset="0"/>
                <a:ea typeface="Calibri" pitchFamily="34" charset="-122"/>
                <a:cs typeface="Calibri" pitchFamily="34" charset="-120"/>
              </a:rPr>
              <a:t>Captain Ingersoll and Captain Prince say sealing is safer, and Nat puts up a third of the money for the John. What does the chapter title "Sealing Is Safer" really teach: that there is no such thing as a safe choice, or that Nat's real investment was his book? Defend your answer with evidence from Chapter 21.</a:t>
            </a:r>
            <a:endParaRPr lang="en-US" sz="23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000" b="1" dirty="0">
                <a:solidFill>
                  <a:srgbClr val="C7922C"/>
                </a:solidFill>
                <a:latin typeface="Calibri" pitchFamily="34" charset="0"/>
                <a:ea typeface="Calibri" pitchFamily="34" charset="-122"/>
                <a:cs typeface="Calibri" pitchFamily="34" charset="-120"/>
              </a:rPr>
              <a:t>Prompt: </a:t>
            </a:r>
            <a:pPr indent="0" marL="0">
              <a:buNone/>
            </a:pPr>
            <a:r>
              <a:rPr lang="en-US" sz="2000" dirty="0">
                <a:solidFill>
                  <a:srgbClr val="1E293B"/>
                </a:solidFill>
                <a:latin typeface="Calibri" pitchFamily="34" charset="0"/>
                <a:ea typeface="Calibri" pitchFamily="34" charset="-122"/>
                <a:cs typeface="Calibri" pitchFamily="34" charset="-120"/>
              </a:rPr>
              <a:t>Captain Ingersoll and Captain Prince say sealing is safer, and Nat puts up a third of the money for the John. What does the chapter title "Sealing Is Safer" really teach: that there is no such thing as a safe choice, or that Nat's real investment was his book? Defend your answer with evidence from Chapter 21.</a:t>
            </a:r>
            <a:endParaRPr lang="en-US" sz="20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NAVIGATE → NAVIGATION → NAVIGATOR · INFORM → INFORMATION → INFORMATIVE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Word Families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Hunt the base word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All of these words come from the same family.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Two word families from the biography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Family 1: navig-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navigate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Family 2: inform-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inform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Try these first: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part do they all share?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How does the meaning shift as the endings change?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NAVIGATE → NAVIGATION → NAVIGATOR · INFORM → INFORMATION → INFORMATIVE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Word Families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Which one is the parent word?</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NAVIGATE → NAVIGATION → NAVIGATOR · INFORM → INFORMATION → INFORMATIVE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Word Families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3606698" cy="2354580"/>
          </a:xfrm>
          <a:prstGeom prst="roundRect">
            <a:avLst>
              <a:gd name="adj" fmla="val 3107"/>
            </a:avLst>
          </a:prstGeom>
          <a:solidFill>
            <a:srgbClr val="E5F7FC"/>
          </a:solidFill>
          <a:ln w="15875">
            <a:solidFill>
              <a:srgbClr val="A6DDEE"/>
            </a:solidFill>
            <a:prstDash val="solid"/>
          </a:ln>
        </p:spPr>
      </p:sp>
      <p:sp>
        <p:nvSpPr>
          <p:cNvPr id="7" name="Text 5"/>
          <p:cNvSpPr/>
          <p:nvPr/>
        </p:nvSpPr>
        <p:spPr>
          <a:xfrm>
            <a:off x="685800"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navigate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Verb. To find a route and guide a ship (or vehicle) along it. Root: navig- (sail).</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 could navigate Salem Harbor in December fog without being able to see the shore — using only mathematics. — Ch. 24</a:t>
            </a:r>
            <a:endParaRPr lang="en-US" sz="2400" dirty="0"/>
          </a:p>
        </p:txBody>
      </p:sp>
      <p:sp>
        <p:nvSpPr>
          <p:cNvPr id="8" name="Shape 6"/>
          <p:cNvSpPr/>
          <p:nvPr/>
        </p:nvSpPr>
        <p:spPr>
          <a:xfrm>
            <a:off x="4292498" y="1554480"/>
            <a:ext cx="3606698" cy="2354580"/>
          </a:xfrm>
          <a:prstGeom prst="roundRect">
            <a:avLst>
              <a:gd name="adj" fmla="val 3107"/>
            </a:avLst>
          </a:prstGeom>
          <a:solidFill>
            <a:srgbClr val="E5F7FC"/>
          </a:solidFill>
          <a:ln w="15875">
            <a:solidFill>
              <a:srgbClr val="A6DDEE"/>
            </a:solidFill>
            <a:prstDash val="solid"/>
          </a:ln>
        </p:spPr>
      </p:sp>
      <p:sp>
        <p:nvSpPr>
          <p:cNvPr id="9" name="Text 7"/>
          <p:cNvSpPr/>
          <p:nvPr/>
        </p:nvSpPr>
        <p:spPr>
          <a:xfrm>
            <a:off x="4475378"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navigation</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Noun. The science or practice of finding position and planning a course at sea. Root: navig- (sail) + -ation (act of).</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In the spring, Nat finished his book on navigation, and the manuscript went to Mr. Blunt. — Ch. 21</a:t>
            </a:r>
            <a:endParaRPr lang="en-US" sz="2400" dirty="0"/>
          </a:p>
        </p:txBody>
      </p:sp>
      <p:sp>
        <p:nvSpPr>
          <p:cNvPr id="10" name="Shape 8"/>
          <p:cNvSpPr/>
          <p:nvPr/>
        </p:nvSpPr>
        <p:spPr>
          <a:xfrm>
            <a:off x="8082077" y="1554480"/>
            <a:ext cx="3606698" cy="2354580"/>
          </a:xfrm>
          <a:prstGeom prst="roundRect">
            <a:avLst>
              <a:gd name="adj" fmla="val 3107"/>
            </a:avLst>
          </a:prstGeom>
          <a:solidFill>
            <a:srgbClr val="E5F7FC"/>
          </a:solidFill>
          <a:ln w="15875">
            <a:solidFill>
              <a:srgbClr val="A6DDEE"/>
            </a:solidFill>
            <a:prstDash val="solid"/>
          </a:ln>
        </p:spPr>
      </p:sp>
      <p:sp>
        <p:nvSpPr>
          <p:cNvPr id="11" name="Text 9"/>
          <p:cNvSpPr/>
          <p:nvPr/>
        </p:nvSpPr>
        <p:spPr>
          <a:xfrm>
            <a:off x="8264957"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navigator</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Noun. A person who navigates. Root: navig- + -ator (one who does).</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As a navigator, Nat had no equal in Salem — and when he was given command of his own ship, everyone on board knew it. — Ch. 23</a:t>
            </a:r>
            <a:endParaRPr lang="en-US" sz="2400" dirty="0"/>
          </a:p>
        </p:txBody>
      </p:sp>
      <p:sp>
        <p:nvSpPr>
          <p:cNvPr id="12" name="Shape 10"/>
          <p:cNvSpPr/>
          <p:nvPr/>
        </p:nvSpPr>
        <p:spPr>
          <a:xfrm>
            <a:off x="502920" y="4091940"/>
            <a:ext cx="3606698" cy="2354580"/>
          </a:xfrm>
          <a:prstGeom prst="roundRect">
            <a:avLst>
              <a:gd name="adj" fmla="val 3107"/>
            </a:avLst>
          </a:prstGeom>
          <a:solidFill>
            <a:srgbClr val="E5F7FC"/>
          </a:solidFill>
          <a:ln w="15875">
            <a:solidFill>
              <a:srgbClr val="A6DDEE"/>
            </a:solidFill>
            <a:prstDash val="solid"/>
          </a:ln>
        </p:spPr>
      </p:sp>
      <p:sp>
        <p:nvSpPr>
          <p:cNvPr id="13" name="Text 11"/>
          <p:cNvSpPr/>
          <p:nvPr/>
        </p:nvSpPr>
        <p:spPr>
          <a:xfrm>
            <a:off x="685800"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inform</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Verb. To give information to; to tell. Root: in- (into) + form (shape) = to give shape/knowledge to someone.</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Nat’s corrected tables would inform the decisions of every navigator who used them — even those who would never know his name. — Ch. 22</a:t>
            </a:r>
            <a:endParaRPr lang="en-US" sz="2400" dirty="0"/>
          </a:p>
        </p:txBody>
      </p:sp>
      <p:sp>
        <p:nvSpPr>
          <p:cNvPr id="14" name="Shape 12"/>
          <p:cNvSpPr/>
          <p:nvPr/>
        </p:nvSpPr>
        <p:spPr>
          <a:xfrm>
            <a:off x="4292498" y="4091940"/>
            <a:ext cx="3606698" cy="2354580"/>
          </a:xfrm>
          <a:prstGeom prst="roundRect">
            <a:avLst>
              <a:gd name="adj" fmla="val 3107"/>
            </a:avLst>
          </a:prstGeom>
          <a:solidFill>
            <a:srgbClr val="E5F7FC"/>
          </a:solidFill>
          <a:ln w="15875">
            <a:solidFill>
              <a:srgbClr val="A6DDEE"/>
            </a:solidFill>
            <a:prstDash val="solid"/>
          </a:ln>
        </p:spPr>
      </p:sp>
      <p:sp>
        <p:nvSpPr>
          <p:cNvPr id="15" name="Text 13"/>
          <p:cNvSpPr/>
          <p:nvPr/>
        </p:nvSpPr>
        <p:spPr>
          <a:xfrm>
            <a:off x="4475378"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information</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Noun. Facts or knowledge communicated. Root: inform + -ation (the act or result of).</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The information in Nat’s corrected Navigator was not just accurate — it was organized so that any sailor could use it. — Chs. 21–24</a:t>
            </a:r>
            <a:endParaRPr lang="en-US" sz="2400" dirty="0"/>
          </a:p>
        </p:txBody>
      </p:sp>
      <p:sp>
        <p:nvSpPr>
          <p:cNvPr id="16" name="Shape 14"/>
          <p:cNvSpPr/>
          <p:nvPr/>
        </p:nvSpPr>
        <p:spPr>
          <a:xfrm>
            <a:off x="8082077" y="4091940"/>
            <a:ext cx="3606698" cy="2354580"/>
          </a:xfrm>
          <a:prstGeom prst="roundRect">
            <a:avLst>
              <a:gd name="adj" fmla="val 3107"/>
            </a:avLst>
          </a:prstGeom>
          <a:solidFill>
            <a:srgbClr val="E5F7FC"/>
          </a:solidFill>
          <a:ln w="15875">
            <a:solidFill>
              <a:srgbClr val="A6DDEE"/>
            </a:solidFill>
            <a:prstDash val="solid"/>
          </a:ln>
        </p:spPr>
      </p:sp>
      <p:sp>
        <p:nvSpPr>
          <p:cNvPr id="17" name="Text 15"/>
          <p:cNvSpPr/>
          <p:nvPr/>
        </p:nvSpPr>
        <p:spPr>
          <a:xfrm>
            <a:off x="8264957"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informative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Adjective. Providing useful information. Root: inform + -ative (having the quality of).</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 wrote each paragraph over and over to make his book informative for the man before the mast — not just numbers, but clear explanations. — Ch. 21</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Morphology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Word families: for each of the six words (navigate, navigation, navigator, inform, information, informative), identify: (1) its part of speech, (2) the root and what it means, (3) a sentence using the word in the context of Carry On, Mr. Bowditch.</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navigate (v): root navig- (sail). Sentence:... navigation (n):... navigator (n):... inform (v):... information (n):... informative (adj):...</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REVIEW THE SIX WORDS FROM THE TWO FAMILIES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Family Flip Cards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Flip each card. Can you give a definition using the root meaning before you check?</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REVIEW THE SIX WORDS FROM THE TWO FAMILIES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Family Flip Cards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navigator</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the science of finding position and planning a course at sea</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informative</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to guide a ship using calculations</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navigation</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a person who guides a ship by plotting its course</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navigate</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providing useful facts or knowledge</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REVIEW THE SIX WORDS FROM THE TWO FAMILIES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Family Flip Cards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navigator  =  </a:t>
            </a:r>
            <a:pPr indent="0" marL="0">
              <a:buNone/>
            </a:pPr>
            <a:r>
              <a:rPr lang="en-US" sz="2000" dirty="0">
                <a:solidFill>
                  <a:srgbClr val="1E293B"/>
                </a:solidFill>
                <a:latin typeface="Calibri" pitchFamily="34" charset="0"/>
                <a:ea typeface="Calibri" pitchFamily="34" charset="-122"/>
                <a:cs typeface="Calibri" pitchFamily="34" charset="-120"/>
              </a:rPr>
              <a:t>a person who guides a ship by plotting its course</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informative  =  </a:t>
            </a:r>
            <a:pPr indent="0" marL="0">
              <a:buNone/>
            </a:pPr>
            <a:r>
              <a:rPr lang="en-US" sz="2000" dirty="0">
                <a:solidFill>
                  <a:srgbClr val="1E293B"/>
                </a:solidFill>
                <a:latin typeface="Calibri" pitchFamily="34" charset="0"/>
                <a:ea typeface="Calibri" pitchFamily="34" charset="-122"/>
                <a:cs typeface="Calibri" pitchFamily="34" charset="-120"/>
              </a:rPr>
              <a:t>providing useful facts or knowledge</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navigation  =  </a:t>
            </a:r>
            <a:pPr indent="0" marL="0">
              <a:buNone/>
            </a:pPr>
            <a:r>
              <a:rPr lang="en-US" sz="2000" dirty="0">
                <a:solidFill>
                  <a:srgbClr val="1E293B"/>
                </a:solidFill>
                <a:latin typeface="Calibri" pitchFamily="34" charset="0"/>
                <a:ea typeface="Calibri" pitchFamily="34" charset="-122"/>
                <a:cs typeface="Calibri" pitchFamily="34" charset="-120"/>
              </a:rPr>
              <a:t>the science of finding position and planning a course at sea</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navigate  =  </a:t>
            </a:r>
            <a:pPr indent="0" marL="0">
              <a:buNone/>
            </a:pPr>
            <a:r>
              <a:rPr lang="en-US" sz="2000" dirty="0">
                <a:solidFill>
                  <a:srgbClr val="1E293B"/>
                </a:solidFill>
                <a:latin typeface="Calibri" pitchFamily="34" charset="0"/>
                <a:ea typeface="Calibri" pitchFamily="34" charset="-122"/>
                <a:cs typeface="Calibri" pitchFamily="34" charset="-120"/>
              </a:rPr>
              <a:t>to guide a ship using calculations</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 you notice?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these as an editor would — hunting, not reading for the story.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The Editing Checklist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Sentence boundaries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Commas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Verb tense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Pronouns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Titles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Capitals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Think it through.</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does your eye catch first?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Which rule does that break — can you name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How would you fix it without changing the meaning?</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follows the conventions?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Bowditch published The New American Practical Navigator in 1802.</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Bowditch published “The New American Practical Navigator” in 1802.</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follows the conventions?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tables were wrong, ships were lost.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tables were wrong, so ships were lost.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follows the conventions?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After years of checking every figure Nat finished the book.</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After years of checking every figure, Nat finished the book.</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Editing for Conventions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follows the conventions?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Bowditch published The New American Practical Navigator in 1802.</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Bowditch published “The New American Practical Navigator” in 1802.</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follows the conventions?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tables were wrong, ships were lost.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tables were wrong, so ships were lost.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follows the conventions?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After years of checking every figure Nat finished the book.</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After years of checking every figure, Nat finished the book.</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FOUR PATTERNS FROM THE CMB UNIT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Cumulative Review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Sort them yourself first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Every pattern from the year, in one pile.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Four patterns to remember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Schwa vowels (Week 11)</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-ous / -ious / -eous (Week 12)</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Assimilated prefixes (Week 13)</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Word families (Week 14)</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your reading journal, write one example word for each of the four patterns above. Then write a sentence using one word from each pattern. You should have four words and four sentences total.</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FOUR PATTERNS FROM THE CMB UNIT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Cumulative Review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Work through these before you read 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Which pattern does each word belong 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Which two are easiest to mix up?</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Which one do you still have to stop and think about?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Four patterns from this unit, in one place.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Sort each word by the pattern it depends on.</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FOUR PATTERNS FROM THE CMB UNIT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Cumulative Review</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navigator     ·     surveyor     ·     nautical     ·     magnetic     ·     submarine     ·     international</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360669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 doer ending</a:t>
            </a:r>
            <a:endParaRPr lang="en-US" sz="2200" dirty="0"/>
          </a:p>
        </p:txBody>
      </p:sp>
      <p:sp>
        <p:nvSpPr>
          <p:cNvPr id="14" name="Shape 12"/>
          <p:cNvSpPr/>
          <p:nvPr/>
        </p:nvSpPr>
        <p:spPr>
          <a:xfrm>
            <a:off x="4292498" y="3977640"/>
            <a:ext cx="360669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4475378"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An adjective ending</a:t>
            </a:r>
            <a:endParaRPr lang="en-US" sz="2200" dirty="0"/>
          </a:p>
        </p:txBody>
      </p:sp>
      <p:sp>
        <p:nvSpPr>
          <p:cNvPr id="16" name="Shape 14"/>
          <p:cNvSpPr/>
          <p:nvPr/>
        </p:nvSpPr>
        <p:spPr>
          <a:xfrm>
            <a:off x="8082077" y="3977640"/>
            <a:ext cx="3606698" cy="1097280"/>
          </a:xfrm>
          <a:prstGeom prst="roundRect">
            <a:avLst>
              <a:gd name="adj" fmla="val 6667"/>
            </a:avLst>
          </a:prstGeom>
          <a:solidFill>
            <a:srgbClr val="F8FAFC"/>
          </a:solidFill>
          <a:ln w="15875">
            <a:solidFill>
              <a:srgbClr val="CBD5E1"/>
            </a:solidFill>
            <a:prstDash val="solid"/>
          </a:ln>
        </p:spPr>
      </p:sp>
      <p:sp>
        <p:nvSpPr>
          <p:cNvPr id="17" name="Text 15"/>
          <p:cNvSpPr/>
          <p:nvPr/>
        </p:nvSpPr>
        <p:spPr>
          <a:xfrm>
            <a:off x="8264957"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A prefix of direction</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FOUR PATTERNS FROM THE CMB UNIT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Cumulative Review</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3606698" cy="4892040"/>
          </a:xfrm>
          <a:prstGeom prst="roundRect">
            <a:avLst>
              <a:gd name="adj" fmla="val 2028"/>
            </a:avLst>
          </a:prstGeom>
          <a:solidFill>
            <a:srgbClr val="E8F8EF"/>
          </a:solidFill>
          <a:ln w="15875">
            <a:solidFill>
              <a:srgbClr val="9ED9B5"/>
            </a:solidFill>
            <a:prstDash val="solid"/>
          </a:ln>
        </p:spPr>
      </p:sp>
      <p:sp>
        <p:nvSpPr>
          <p:cNvPr id="9" name="Text 7"/>
          <p:cNvSpPr/>
          <p:nvPr/>
        </p:nvSpPr>
        <p:spPr>
          <a:xfrm>
            <a:off x="685800"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 doer ending</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navigator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surveyor</a:t>
            </a:r>
            <a:endParaRPr lang="en-US" sz="2100" dirty="0"/>
          </a:p>
        </p:txBody>
      </p:sp>
      <p:sp>
        <p:nvSpPr>
          <p:cNvPr id="10" name="Shape 8"/>
          <p:cNvSpPr/>
          <p:nvPr/>
        </p:nvSpPr>
        <p:spPr>
          <a:xfrm>
            <a:off x="4292498" y="1554480"/>
            <a:ext cx="3606698" cy="4892040"/>
          </a:xfrm>
          <a:prstGeom prst="roundRect">
            <a:avLst>
              <a:gd name="adj" fmla="val 2028"/>
            </a:avLst>
          </a:prstGeom>
          <a:solidFill>
            <a:srgbClr val="E8F8EF"/>
          </a:solidFill>
          <a:ln w="15875">
            <a:solidFill>
              <a:srgbClr val="9ED9B5"/>
            </a:solidFill>
            <a:prstDash val="solid"/>
          </a:ln>
        </p:spPr>
      </p:sp>
      <p:sp>
        <p:nvSpPr>
          <p:cNvPr id="11" name="Text 9"/>
          <p:cNvSpPr/>
          <p:nvPr/>
        </p:nvSpPr>
        <p:spPr>
          <a:xfrm>
            <a:off x="4475378"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An adjective ending</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nautical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magnetic</a:t>
            </a:r>
            <a:endParaRPr lang="en-US" sz="2100" dirty="0"/>
          </a:p>
        </p:txBody>
      </p:sp>
      <p:sp>
        <p:nvSpPr>
          <p:cNvPr id="12" name="Shape 10"/>
          <p:cNvSpPr/>
          <p:nvPr/>
        </p:nvSpPr>
        <p:spPr>
          <a:xfrm>
            <a:off x="8082077" y="1554480"/>
            <a:ext cx="3606698" cy="4892040"/>
          </a:xfrm>
          <a:prstGeom prst="roundRect">
            <a:avLst>
              <a:gd name="adj" fmla="val 2028"/>
            </a:avLst>
          </a:prstGeom>
          <a:solidFill>
            <a:srgbClr val="E8F8EF"/>
          </a:solidFill>
          <a:ln w="15875">
            <a:solidFill>
              <a:srgbClr val="9ED9B5"/>
            </a:solidFill>
            <a:prstDash val="solid"/>
          </a:ln>
        </p:spPr>
      </p:sp>
      <p:sp>
        <p:nvSpPr>
          <p:cNvPr id="13" name="Text 11"/>
          <p:cNvSpPr/>
          <p:nvPr/>
        </p:nvSpPr>
        <p:spPr>
          <a:xfrm>
            <a:off x="8264957"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A prefix of direction</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submarine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international</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21 — “SEALING IS SAFER”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 You are here: Week 14 — Chapter 21 — Sealing Is Safer</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Chapter 21 is full of big moments. Nat works day and night on his book on navigation, writing each paragraph over and over so the man before the mast can understand it. Polly cheers him on, and before long they are married. Then Captain Ingersoll and Captain Prince ask Nat to put up one third of the money for a sealing ship, the John. Sealing, they say, has less risk than whaling and less danger than the pepper trade. As you read, notice who calls what “safe” — and what actually happens. Think about how this connects to the novel’s central theme: the sea is never truly safe, and knowledge is the best protection a sailor has.</a:t>
            </a:r>
            <a:endParaRPr lang="en-US" sz="2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21</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“Safe” Investment: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Why do Captain Ingersoll and Captain Prince say sealing is safer? Safer than what? What does Nat decide to do, and what happens to the John? Why is the chapter title ironic?</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Connecting to Earlier Chapters: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The novel has been building toward this moment since Chapter 6 (“Sail by Ash Breeze”). How does the theme in Chapter 21 echo what Sam Smith told Nat so many years before? Is Nat sailing by ash breeze again — in a different form?</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Chapter 21 is called “Sealing Is Safer.” Who says sealing is safer, and what happens to the sealer John? Why is the title ironic? What do Nat’s choices in this chapter — finishing his book and investing in the sealer — reveal about his values after everything he has experienced from Chapter 1 to Chapter 20?</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How does the theme of safety at sea develop in Chapter 21? Think about Polly’s words, “Every ship is in danger, every time it sails,” and Zack Selby’s sneer when the John is lost. Connect this chapter to at least one earlier chapter where the same tension appeared — and explain how Nat’s response has stayed consistent or changed.</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Think about the word family: navigate / navigation / navigator. By Chapter 21, how has Nat’s relationship to each of these words changed from Chapter 1? Which word best describes him now, and why?</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DRAFT YOUR CONCLUSION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(1/3)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A conclusion synthesizes — it finds the larger insight that connects your two body sections. Today you write a first draft using the 3-Move Formula.</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Alex finishes the essay: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has written the introduction and two body sections. Now Alex needs a conclusion that synthesizes — not just repeats. BEFORE Alex's first attempt: In conclusion, Bowditch was extraordinary because he worked hard and helped sailors. These two things show he was a great person. AFTER Alex's synthesis draft: What Bowditch's story reveals, when you hold both body sections together, is not just that he was disciplined or that he was generous — but that discipline and generosity were the same impulse for him. He worked hard not to prove himself, but because he couldn't stand the idea of sailors dying from errors that mathematics could fix. Notice: Alex's revised conclusion does NOT repeat the body sections. It finds the connection BETWEEN them — the idea that discipline and generosity were the same thing for Nat. That is synthesis.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DRAFT YOUR CONCLUSION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(2/3)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3-Move Synthesis Formula: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 strong conclusion has three moves: (1) Larger insight — what do your two body sections reveal together? (2) Return to hook — call back your opening image. (3) Why it matters — beyond Bowditch, what does this mean? Alex’s example (filled): Move 1 — Larger insight: What Body 1 + Body 2 reveal together → “discipline and generosity were the same impulse for him” Move 2 — Return to hook: Call back the fog scene → “That December night in Salem Harbor, when he navigated through the fog, was the proof.” Move 3 — Why it matters: Beyond Bowditch → “He showed that knowledge’s highest purpose is not to be held, but to be given.” Your turn — do the same in your reading journal: Move 1 (larger insight): What do Body 1 + Body 2 reveal together? ____________________ Move 2 (return to hook): How do I call back my opening? ____________________ Move 3 (why it matters): What does this mean beyond Bowditch?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Bowditch's story reveals, when you hold both body sections together, is ___.” “That [return to opening scene] was the proof of everything he had worked toward.” “He showed that ___ — not just for himself, but for...”</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PUBLISH · DRAFT YOUR CONCLUSION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14 · PUBLISH  (3/3)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14.1 — Carry On, Mr. Bowditch, Chapter 21</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