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23, Day 3, Chapter 26 — Choctaw Rattlesnake.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"pushmataha spoke his words were powerful all the choctaw four listened and they agreed"
Corrected: "When Pushmataha spoke, his words were powerful — and the Choctaw Four agreed."
Subordinate the first clause: “When Pushmataha spoke.” Em dash before the outcome gives weight. “All... listened and they agreed” → just “agreed” (tighter).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"pushmataha spoke his words were powerful all the choctaw four listened and they agreed"
Corrected: "When Pushmataha spoke, his words were powerful — and the Choctaw Four agreed."
Subordinate the first clause: “When Pushmataha spoke.” Em dash before the outcome gives weight. “All... listened and they agreed” → just “agreed” (tighter).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more specific word I could use here instead of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 Reader / Writer / Mimic. Read the sentence aloud, then work through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26 — Choctaw Rattlesnake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APPLY
Focus: Publish Narrative/Literary Analysis Piece
Task: Today is the Apply stage. Read your draft from Day 2. Make one pass for each: (1) strong verbs, (2) sentence variety, (3) clear pronouns. Mark your three best sentences with a star. Mark one sentence you want to completely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23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26 — Choctaw Rattlesnake</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23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notice when the oppressed use the land itself as a tool. In Chapter 26, the rattlesnake appears. As you read: who controls it? How is it used? And what does its appearance say about the relationship between the Choctaw people and the natural world?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rattlesnake appeared without warning, and the soldiers froze in their tracks.</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appeared  </a:t>
            </a:r>
            <a:pPr indent="0" marL="0">
              <a:buNone/>
            </a:pPr>
            <a:r>
              <a:rPr lang="en-US" sz="1150" dirty="0">
                <a:solidFill>
                  <a:srgbClr val="1E293B"/>
                </a:solidFill>
                <a:latin typeface="Calibri" pitchFamily="34" charset="0"/>
                <a:ea typeface="Calibri" pitchFamily="34" charset="-122"/>
                <a:cs typeface="Calibri" pitchFamily="34" charset="-120"/>
              </a:rPr>
              <a:t>Strong verb.</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warning,  </a:t>
            </a:r>
            <a:pPr indent="0" marL="0">
              <a:buNone/>
            </a:pPr>
            <a:r>
              <a:rPr lang="en-US" sz="1150" dirty="0">
                <a:solidFill>
                  <a:srgbClr val="1E293B"/>
                </a:solidFill>
                <a:latin typeface="Calibri" pitchFamily="34" charset="0"/>
                <a:ea typeface="Calibri" pitchFamily="34" charset="-122"/>
                <a:cs typeface="Calibri" pitchFamily="34" charset="-120"/>
              </a:rPr>
              <a:t>Comma.</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and  </a:t>
            </a:r>
            <a:pPr indent="0" marL="0">
              <a:buNone/>
            </a:pPr>
            <a:r>
              <a:rPr lang="en-US" sz="1150" dirty="0">
                <a:solidFill>
                  <a:srgbClr val="1E293B"/>
                </a:solidFill>
                <a:latin typeface="Calibri" pitchFamily="34" charset="0"/>
                <a:ea typeface="Calibri" pitchFamily="34" charset="-122"/>
                <a:cs typeface="Calibri" pitchFamily="34" charset="-120"/>
              </a:rPr>
              <a:t>FANBOYS.</a:t>
            </a:r>
            <a:endParaRPr lang="en-US" sz="1250" dirty="0"/>
          </a:p>
        </p:txBody>
      </p:sp>
      <p:sp>
        <p:nvSpPr>
          <p:cNvPr id="14" name="Shape 12"/>
          <p:cNvSpPr/>
          <p:nvPr/>
        </p:nvSpPr>
        <p:spPr>
          <a:xfrm>
            <a:off x="365760" y="391363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959352"/>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froze  </a:t>
            </a:r>
            <a:pPr indent="0" marL="0">
              <a:buNone/>
            </a:pPr>
            <a:r>
              <a:rPr lang="en-US" sz="1150" dirty="0">
                <a:solidFill>
                  <a:srgbClr val="1E293B"/>
                </a:solidFill>
                <a:latin typeface="Calibri" pitchFamily="34" charset="0"/>
                <a:ea typeface="Calibri" pitchFamily="34" charset="-122"/>
                <a:cs typeface="Calibri" pitchFamily="34" charset="-120"/>
              </a:rPr>
              <a:t>Strong verb.</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pushmataha spoke his words were powerful all the choctaw four listened and they agreed</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pushmataha spoke his words were powerful all the choctaw four listened and they agreed</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When Pushmataha spoke, his words were powerful — and the Choctaw Four agreed.</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Subordinate the first clause: “When Pushmataha spoke.” Em dash before the outcome gives weight. “All... listened and they agreed” → just “agreed” (tighter).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rattlesnake appears as a Choctaw symbol in this chapter. Do you think this symbol represents danger to be feared, or power to be respected? Defend your answer with evidence from Chapter 26.</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The rattlesnake appears as a Choctaw symbol in this chapter. Do you think this symbol represents danger to be feared, or power to be respected? Defend your answer with evidence from Chapter 26.</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more specific word I could use here instead of a vague one?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RWM — Read · Notice · Try</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THE SENTENCE</a:t>
            </a:r>
            <a:endParaRPr lang="en-US" sz="1100" dirty="0"/>
          </a:p>
        </p:txBody>
      </p:sp>
      <p:sp>
        <p:nvSpPr>
          <p:cNvPr id="5" name="Shape 3"/>
          <p:cNvSpPr/>
          <p:nvPr/>
        </p:nvSpPr>
        <p:spPr>
          <a:xfrm>
            <a:off x="365760" y="1078992"/>
            <a:ext cx="8412480" cy="685800"/>
          </a:xfrm>
          <a:prstGeom prst="roundRect">
            <a:avLst>
              <a:gd name="adj" fmla="val 13333"/>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“That must be why ghosts know everything. While everybody else is sleeping, we are watching.”</a:t>
            </a:r>
            <a:endParaRPr lang="en-US" sz="1600" dirty="0"/>
          </a:p>
        </p:txBody>
      </p:sp>
      <p:sp>
        <p:nvSpPr>
          <p:cNvPr id="7" name="Shape 5"/>
          <p:cNvSpPr/>
          <p:nvPr/>
        </p:nvSpPr>
        <p:spPr>
          <a:xfrm>
            <a:off x="365760" y="18745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929384"/>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Reader
</a:t>
            </a:r>
            <a:pPr indent="0" marL="0">
              <a:buNone/>
            </a:pPr>
            <a:r>
              <a:rPr lang="en-US" sz="1100" dirty="0">
                <a:solidFill>
                  <a:srgbClr val="1E293B"/>
                </a:solidFill>
                <a:latin typeface="Calibri" pitchFamily="34" charset="0"/>
                <a:ea typeface="Calibri" pitchFamily="34" charset="-122"/>
                <a:cs typeface="Calibri" pitchFamily="34" charset="-120"/>
              </a:rPr>
              <a:t>What does this sentence make you see or feel?</a:t>
            </a:r>
            <a:endParaRPr lang="en-US" sz="1150" dirty="0"/>
          </a:p>
        </p:txBody>
      </p:sp>
      <p:sp>
        <p:nvSpPr>
          <p:cNvPr id="9" name="Shape 7"/>
          <p:cNvSpPr/>
          <p:nvPr/>
        </p:nvSpPr>
        <p:spPr>
          <a:xfrm>
            <a:off x="365760" y="266090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715768"/>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Writer
</a:t>
            </a:r>
            <a:pPr indent="0" marL="0">
              <a:buNone/>
            </a:pPr>
            <a:r>
              <a:rPr lang="en-US" sz="1100" dirty="0">
                <a:solidFill>
                  <a:srgbClr val="1E293B"/>
                </a:solidFill>
                <a:latin typeface="Calibri" pitchFamily="34" charset="0"/>
                <a:ea typeface="Calibri" pitchFamily="34" charset="-122"/>
                <a:cs typeface="Calibri" pitchFamily="34" charset="-120"/>
              </a:rPr>
              <a:t>Isaac as narrator shares a ghost insight directly with the reader — breaking the fourth wall slightly. The humor is gentle but the observation is real: ghosts have time.</a:t>
            </a:r>
            <a:endParaRPr lang="en-US" sz="1150" dirty="0"/>
          </a:p>
        </p:txBody>
      </p:sp>
      <p:sp>
        <p:nvSpPr>
          <p:cNvPr id="11" name="Shape 9"/>
          <p:cNvSpPr/>
          <p:nvPr/>
        </p:nvSpPr>
        <p:spPr>
          <a:xfrm>
            <a:off x="365760" y="3447288"/>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02152"/>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Try It
</a:t>
            </a:r>
            <a:pPr indent="0" marL="0">
              <a:buNone/>
            </a:pPr>
            <a:r>
              <a:rPr lang="en-US" sz="1100" dirty="0">
                <a:solidFill>
                  <a:srgbClr val="1E293B"/>
                </a:solidFill>
                <a:latin typeface="Calibri" pitchFamily="34" charset="0"/>
                <a:ea typeface="Calibri" pitchFamily="34" charset="-122"/>
                <a:cs typeface="Calibri" pitchFamily="34" charset="-120"/>
              </a:rPr>
              <a:t>Write one sentence where a narrator shares an insight with the reader, as if confiding something discovered.</a:t>
            </a:r>
            <a:endParaRPr lang="en-US" sz="1150" dirty="0"/>
          </a:p>
        </p:txBody>
      </p:sp>
      <p:sp>
        <p:nvSpPr>
          <p:cNvPr id="13" name="Shape 11"/>
          <p:cNvSpPr/>
          <p:nvPr/>
        </p:nvSpPr>
        <p:spPr>
          <a:xfrm>
            <a:off x="365760" y="4251960"/>
            <a:ext cx="8412480" cy="457200"/>
          </a:xfrm>
          <a:prstGeom prst="roundRect">
            <a:avLst>
              <a:gd name="adj" fmla="val 20000"/>
            </a:avLst>
          </a:prstGeom>
          <a:solidFill>
            <a:srgbClr val="F0E8FF"/>
          </a:solidFill>
          <a:ln w="12700">
            <a:solidFill>
              <a:srgbClr val="8B6FC0"/>
            </a:solidFill>
            <a:prstDash val="solid"/>
          </a:ln>
        </p:spPr>
      </p:sp>
      <p:sp>
        <p:nvSpPr>
          <p:cNvPr id="14" name="Text 12"/>
          <p:cNvSpPr/>
          <p:nvPr/>
        </p:nvSpPr>
        <p:spPr>
          <a:xfrm>
            <a:off x="548640" y="4288536"/>
            <a:ext cx="8046720" cy="365760"/>
          </a:xfrm>
          <a:prstGeom prst="rect">
            <a:avLst/>
          </a:prstGeom>
          <a:noFill/>
          <a:ln/>
        </p:spPr>
        <p:txBody>
          <a:bodyPr wrap="square" lIns="0" tIns="0" rIns="0" bIns="0" rtlCol="0" anchor="ctr"/>
          <a:lstStyle/>
          <a:p>
            <a:pPr indent="0" marL="0">
              <a:buNone/>
            </a:pPr>
            <a:r>
              <a:rPr lang="en-US" sz="1050" b="1" dirty="0">
                <a:solidFill>
                  <a:srgbClr val="8B6FC0"/>
                </a:solidFill>
                <a:latin typeface="Calibri" pitchFamily="34" charset="0"/>
                <a:ea typeface="Calibri" pitchFamily="34" charset="-122"/>
                <a:cs typeface="Calibri" pitchFamily="34" charset="-120"/>
              </a:rPr>
              <a:t>Sentence frame: </a:t>
            </a:r>
            <a:pPr indent="0" marL="0">
              <a:buNone/>
            </a:pPr>
            <a:r>
              <a:rPr lang="en-US" sz="1050" i="1" dirty="0">
                <a:solidFill>
                  <a:srgbClr val="1E293B"/>
                </a:solidFill>
                <a:latin typeface="Calibri" pitchFamily="34" charset="0"/>
                <a:ea typeface="Calibri" pitchFamily="34" charset="-122"/>
                <a:cs typeface="Calibri" pitchFamily="34" charset="-120"/>
              </a:rPr>
              <a:t>That must be why ___ . While ___ , ___ .</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26 — Choctaw Rattlesnake</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26 — Choctaw Rattlesnake</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notice when the oppressed use the land itself as a tool. In Chapter 26, the rattlesnake appears. As you read: who controls it? How is it used? And what does its appearance say about the relationship between the Choctaw people and the natural world?</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How does the Choctaw rattlesnake appear and what does it do in Chapter 26? How do the soldiers respond?</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The rattlesnake is controlled by someone who understands Choctaw tradition. What does this say about the power of cultural knowledge? What advantage does understanding your own land and traditions give you?</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 Week Closer. In Chapters 24, 25, and 26: a soldier makes a vow, Isaac witnesses mass death, and the rattlesnake turns fear back on the soldiers. What argument does Tingle make across these three chapters about how justice works? What does justice require?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APPLY</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Publish Narrative/Literary Analysis Piece</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Apply stage. Read your draft from Day 2. Make one pass for each: (1) strong verbs, (2) sentence variety, (3) clear pronouns. Mark your three best sentences with a star. Mark one sentence you want to completely rewrite.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2026-07-13T17:32:03Z</dcterms:created>
  <dcterms:modified xsi:type="dcterms:W3CDTF">2026-07-13T17:32:03Z</dcterms:modified>
</cp:coreProperties>
</file>