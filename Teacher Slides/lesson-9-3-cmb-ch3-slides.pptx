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Week 9, Day 3, Chapter 3 — Word from the Pilgrim.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Q: Chapter 3 brings Nat face to face with real loss. But there’s something he holds onto — something nobody can take away. Today you’ll use what you’ve learned this week and watch Nat do the same.
Word Study: I will use the roots naut/nav/port and our vocabulary words in context.
Grammar: I will use active voice when writing and recognizing sentences.
Spelling: I will use the long /ā/ patterns (AI and A–E) to write words correctly.
Reading: I will notice how Nat responds to hardship in Chapter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lens aloud before students open their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 needed — tap-and-notice only. Discuss why each highlighted word/punctuation mark is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news about tom perry made nat very sad"
Corrected: "The news about Tom Perry made Nat very sad."
What needed fixing: the → The — every sentence starts with a capital letter tom → Tom — first name, proper noun perry → Perry — last name, proper noun nat → Nat — first name (nickname for Nathaniel), proper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Fix-it: "the news about tom perry made nat very sad"
Corrected: "The news about Tom Perry made Nat very sad."
What needed fixing: the → The — every sentence starts with a capital letter tom → Tom — first name, proper noun perry → Perry — last name, proper noun nat → Nat — first name (nickname for Nathaniel), proper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routine — use if time allows. Read the prompt aloud. Remind students: pick a side, defend with evidence, anticipate disagreement.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Remind: choose a side, defend with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Focus: Is there a stronger, more specific word I could use here instead of a vague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3-4 students. Encourage respectful disagreement about their choice/defense.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Vocabulary mode: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answers yet — students discuss and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revealed — correct labels in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Spelling focus: 🔤 Spelling: Sort New Words &amp; Show What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Tracker: Nat’s Path Through Carry On, Mr. Bowditch — 📍 You are here: Chapter 3 — Word from the Pilgrim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Preview only — students answer these after reading, in the Assignment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Connection — RESEARCH CLAIM: Identify your evidence categories
Focus: Before you can write body sections, you need to know what KINDS of evidence you’re looking for. Today you map your evidence buckets.
Before: BEFORE Alex’s first thought: I’ll just find examples of Nat being smart.
After: AFTER Alex’s evidence categories: (1) How he learned despite obstacles — chandlery years, self-education. (2) What he discovered and corrected — Moore’s Navigator errors. (3) How his work helped others — teaching sailors, the American Practical Navigator.
Notice: Notice: “Examples of Nat being smart” is too vague to organize an essay. Alex’s three categories give the essay structure BEFORE any drafting happens. Each category becomes a body section.
Tool: Today’s Tool: Evidence Categories — Map out 2–3 categories your evidence will fall into. Each category will become a body section.
Frames: “One quality that supports my claim is ___.” | “Evidence for this appears in chapters ___ when Nat ___.” | “A second type of evidence comes from ___...”
Prompt: Name 2 evidence categories your essay will use. For each one, name the chapters where you expect to find the strongest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Shape 0"/>
          <p:cNvSpPr/>
          <p:nvPr/>
        </p:nvSpPr>
        <p:spPr>
          <a:xfrm>
            <a:off x="0" y="4114800"/>
            <a:ext cx="9144000" cy="1028700"/>
          </a:xfrm>
          <a:prstGeom prst="rect">
            <a:avLst/>
          </a:prstGeom>
          <a:solidFill>
            <a:srgbClr val="55C8E8">
              <a:alpha val="15000"/>
            </a:srgbClr>
          </a:solidFill>
          <a:ln/>
        </p:spPr>
      </p:sp>
      <p:sp>
        <p:nvSpPr>
          <p:cNvPr id="3" name="Text 1"/>
          <p:cNvSpPr/>
          <p:nvPr/>
        </p:nvSpPr>
        <p:spPr>
          <a:xfrm>
            <a:off x="457200" y="640080"/>
            <a:ext cx="8229600" cy="365760"/>
          </a:xfrm>
          <a:prstGeom prst="rect">
            <a:avLst/>
          </a:prstGeom>
          <a:noFill/>
          <a:ln/>
        </p:spPr>
        <p:txBody>
          <a:bodyPr wrap="square" lIns="0" tIns="0" rIns="0" bIns="0" rtlCol="0" anchor="ctr"/>
          <a:lstStyle/>
          <a:p>
            <a:pPr algn="l" indent="0" marL="0">
              <a:buNone/>
            </a:pPr>
            <a:r>
              <a:rPr lang="en-US" sz="1300" b="1" spc="400" kern="0" dirty="0">
                <a:solidFill>
                  <a:srgbClr val="55C8E8"/>
                </a:solidFill>
                <a:latin typeface="Calibri" pitchFamily="34" charset="0"/>
                <a:ea typeface="Calibri" pitchFamily="34" charset="-122"/>
                <a:cs typeface="Calibri" pitchFamily="34" charset="-120"/>
              </a:rPr>
              <a:t>WEEK 9  ·  DAY 3</a:t>
            </a:r>
            <a:endParaRPr lang="en-US" sz="1300" dirty="0"/>
          </a:p>
        </p:txBody>
      </p:sp>
      <p:sp>
        <p:nvSpPr>
          <p:cNvPr id="4" name="Text 2"/>
          <p:cNvSpPr/>
          <p:nvPr/>
        </p:nvSpPr>
        <p:spPr>
          <a:xfrm>
            <a:off x="457200" y="1097280"/>
            <a:ext cx="8229600" cy="164592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Carry On, Mr. Bowditch</a:t>
            </a:r>
            <a:endParaRPr lang="en-US" sz="3000" dirty="0"/>
          </a:p>
          <a:p>
            <a:pPr algn="l" indent="0" marL="0">
              <a:buNone/>
            </a:pPr>
            <a:r>
              <a:rPr lang="en-US" sz="3000" b="1" dirty="0">
                <a:solidFill>
                  <a:srgbClr val="FFFFFF"/>
                </a:solidFill>
                <a:latin typeface="Calibri" pitchFamily="34" charset="0"/>
                <a:ea typeface="Calibri" pitchFamily="34" charset="-122"/>
                <a:cs typeface="Calibri" pitchFamily="34" charset="-120"/>
              </a:rPr>
              <a:t>Chapter 3 — Word from the Pilgrim</a:t>
            </a:r>
            <a:endParaRPr lang="en-US" sz="3000" dirty="0"/>
          </a:p>
        </p:txBody>
      </p:sp>
      <p:sp>
        <p:nvSpPr>
          <p:cNvPr id="5" name="Text 3"/>
          <p:cNvSpPr/>
          <p:nvPr/>
        </p:nvSpPr>
        <p:spPr>
          <a:xfrm>
            <a:off x="457200" y="4434840"/>
            <a:ext cx="8229600" cy="365760"/>
          </a:xfrm>
          <a:prstGeom prst="rect">
            <a:avLst/>
          </a:prstGeom>
          <a:noFill/>
          <a:ln/>
        </p:spPr>
        <p:txBody>
          <a:bodyPr wrap="square" lIns="0" tIns="0" rIns="0" bIns="0" rtlCol="0" anchor="ctr"/>
          <a:lstStyle/>
          <a:p>
            <a:pPr algn="l" indent="0" marL="0">
              <a:buNone/>
            </a:pPr>
            <a:r>
              <a:rPr lang="en-US" sz="1200" dirty="0">
                <a:solidFill>
                  <a:srgbClr val="FFFFFF"/>
                </a:solidFill>
                <a:latin typeface="Calibri" pitchFamily="34" charset="0"/>
                <a:ea typeface="Calibri" pitchFamily="34" charset="-122"/>
                <a:cs typeface="Calibri" pitchFamily="34" charset="-120"/>
              </a:rPr>
              <a:t>🧭  Week 9  ·  Virtue: Perseverance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Today's Objectives</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6868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BIG QUESTION</a:t>
            </a:r>
            <a:endParaRPr lang="en-US" sz="1100" dirty="0"/>
          </a:p>
        </p:txBody>
      </p:sp>
      <p:sp>
        <p:nvSpPr>
          <p:cNvPr id="5" name="Shape 3"/>
          <p:cNvSpPr/>
          <p:nvPr/>
        </p:nvSpPr>
        <p:spPr>
          <a:xfrm>
            <a:off x="365760" y="1115568"/>
            <a:ext cx="8412480" cy="777240"/>
          </a:xfrm>
          <a:prstGeom prst="roundRect">
            <a:avLst>
              <a:gd name="adj" fmla="val 11765"/>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07008"/>
            <a:ext cx="7955280" cy="594360"/>
          </a:xfrm>
          <a:prstGeom prst="rect">
            <a:avLst/>
          </a:prstGeom>
          <a:noFill/>
          <a:ln/>
        </p:spPr>
        <p:txBody>
          <a:bodyPr wrap="square" lIns="0" tIns="0" rIns="0" bIns="0" rtlCol="0" anchor="ctr"/>
          <a:lstStyle/>
          <a:p>
            <a:pPr indent="0" marL="0">
              <a:buNone/>
            </a:pPr>
            <a:r>
              <a:rPr lang="en-US" sz="1300" i="1" dirty="0">
                <a:solidFill>
                  <a:srgbClr val="1E293B"/>
                </a:solidFill>
                <a:latin typeface="Calibri" pitchFamily="34" charset="0"/>
                <a:ea typeface="Calibri" pitchFamily="34" charset="-122"/>
                <a:cs typeface="Calibri" pitchFamily="34" charset="-120"/>
              </a:rPr>
              <a:t>Chapter 3 brings Nat face to face with real loss. But there’s something he holds onto — something nobody can take away. Today you’ll use what you’ve learned this week and watch Nat do the same.</a:t>
            </a:r>
            <a:endParaRPr lang="en-US" sz="1300" dirty="0"/>
          </a:p>
        </p:txBody>
      </p:sp>
      <p:sp>
        <p:nvSpPr>
          <p:cNvPr id="7" name="Text 5"/>
          <p:cNvSpPr/>
          <p:nvPr/>
        </p:nvSpPr>
        <p:spPr>
          <a:xfrm>
            <a:off x="365760" y="20116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BY THE END OF THIS LESSON...</a:t>
            </a:r>
            <a:endParaRPr lang="en-US" sz="1100" dirty="0"/>
          </a:p>
        </p:txBody>
      </p:sp>
      <p:sp>
        <p:nvSpPr>
          <p:cNvPr id="8" name="Shape 6"/>
          <p:cNvSpPr/>
          <p:nvPr/>
        </p:nvSpPr>
        <p:spPr>
          <a:xfrm>
            <a:off x="365760" y="2286000"/>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359152"/>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Word Study: </a:t>
            </a:r>
            <a:pPr indent="0" marL="0">
              <a:buNone/>
            </a:pPr>
            <a:r>
              <a:rPr lang="en-US" sz="1250" dirty="0">
                <a:solidFill>
                  <a:srgbClr val="1E293B"/>
                </a:solidFill>
                <a:latin typeface="Calibri" pitchFamily="34" charset="0"/>
                <a:ea typeface="Calibri" pitchFamily="34" charset="-122"/>
                <a:cs typeface="Calibri" pitchFamily="34" charset="-120"/>
              </a:rPr>
              <a:t>I will use the roots naut/nav/port and our vocabulary words in context.</a:t>
            </a:r>
            <a:endParaRPr lang="en-US" sz="1500" dirty="0"/>
          </a:p>
        </p:txBody>
      </p:sp>
      <p:sp>
        <p:nvSpPr>
          <p:cNvPr id="10" name="Shape 8"/>
          <p:cNvSpPr/>
          <p:nvPr/>
        </p:nvSpPr>
        <p:spPr>
          <a:xfrm>
            <a:off x="365760" y="3090672"/>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163824"/>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Grammar: </a:t>
            </a:r>
            <a:pPr indent="0" marL="0">
              <a:buNone/>
            </a:pPr>
            <a:r>
              <a:rPr lang="en-US" sz="1250" dirty="0">
                <a:solidFill>
                  <a:srgbClr val="1E293B"/>
                </a:solidFill>
                <a:latin typeface="Calibri" pitchFamily="34" charset="0"/>
                <a:ea typeface="Calibri" pitchFamily="34" charset="-122"/>
                <a:cs typeface="Calibri" pitchFamily="34" charset="-120"/>
              </a:rPr>
              <a:t>I will use active voice when writing and recognizing sentences.</a:t>
            </a:r>
            <a:endParaRPr lang="en-US" sz="1500" dirty="0"/>
          </a:p>
        </p:txBody>
      </p:sp>
      <p:sp>
        <p:nvSpPr>
          <p:cNvPr id="12" name="Shape 10"/>
          <p:cNvSpPr/>
          <p:nvPr/>
        </p:nvSpPr>
        <p:spPr>
          <a:xfrm>
            <a:off x="365760" y="3895344"/>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968496"/>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Spelling: </a:t>
            </a:r>
            <a:pPr indent="0" marL="0">
              <a:buNone/>
            </a:pPr>
            <a:r>
              <a:rPr lang="en-US" sz="1250" dirty="0">
                <a:solidFill>
                  <a:srgbClr val="1E293B"/>
                </a:solidFill>
                <a:latin typeface="Calibri" pitchFamily="34" charset="0"/>
                <a:ea typeface="Calibri" pitchFamily="34" charset="-122"/>
                <a:cs typeface="Calibri" pitchFamily="34" charset="-120"/>
              </a:rPr>
              <a:t>I will use the long /ā/ patterns (AI and A–E) to write words correctly.</a:t>
            </a:r>
            <a:endParaRPr lang="en-US" sz="1500" dirty="0"/>
          </a:p>
        </p:txBody>
      </p:sp>
      <p:sp>
        <p:nvSpPr>
          <p:cNvPr id="14" name="Shape 12"/>
          <p:cNvSpPr/>
          <p:nvPr/>
        </p:nvSpPr>
        <p:spPr>
          <a:xfrm>
            <a:off x="365760" y="4700016"/>
            <a:ext cx="8412480" cy="713232"/>
          </a:xfrm>
          <a:prstGeom prst="roundRect">
            <a:avLst>
              <a:gd name="adj" fmla="val 12821"/>
            </a:avLst>
          </a:prstGeom>
          <a:solidFill>
            <a:srgbClr val="F8FAFC"/>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4773168"/>
            <a:ext cx="8046720" cy="566928"/>
          </a:xfrm>
          <a:prstGeom prst="rect">
            <a:avLst/>
          </a:prstGeom>
          <a:noFill/>
          <a:ln/>
        </p:spPr>
        <p:txBody>
          <a:bodyPr wrap="square" lIns="0" tIns="0" rIns="0" bIns="0" rtlCol="0" anchor="ctr"/>
          <a:lstStyle/>
          <a:p>
            <a:pPr indent="0" marL="0">
              <a:buNone/>
            </a:pPr>
            <a:r>
              <a:rPr lang="en-US" sz="1500" dirty="0">
                <a:solidFill>
                  <a:srgbClr val="000000"/>
                </a:solidFill>
              </a:rPr>
              <a:t>📖  </a:t>
            </a:r>
            <a:pPr indent="0" marL="0">
              <a:buNone/>
            </a:pPr>
            <a:r>
              <a:rPr lang="en-US" sz="1300" b="1" dirty="0">
                <a:solidFill>
                  <a:srgbClr val="0E1C42"/>
                </a:solidFill>
                <a:latin typeface="Calibri" pitchFamily="34" charset="0"/>
                <a:ea typeface="Calibri" pitchFamily="34" charset="-122"/>
                <a:cs typeface="Calibri" pitchFamily="34" charset="-120"/>
              </a:rPr>
              <a:t>Reading: </a:t>
            </a:r>
            <a:pPr indent="0" marL="0">
              <a:buNone/>
            </a:pPr>
            <a:r>
              <a:rPr lang="en-US" sz="1250" dirty="0">
                <a:solidFill>
                  <a:srgbClr val="1E293B"/>
                </a:solidFill>
                <a:latin typeface="Calibri" pitchFamily="34" charset="0"/>
                <a:ea typeface="Calibri" pitchFamily="34" charset="-122"/>
                <a:cs typeface="Calibri" pitchFamily="34" charset="-120"/>
              </a:rPr>
              <a:t>I will notice how Nat responds to hardship in Chapter 3.</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What Good Readers Do</a:t>
            </a:r>
            <a:endParaRPr lang="en-US" sz="26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SET YOUR READING LENS</a:t>
            </a:r>
            <a:endParaRPr lang="en-US" sz="1100" dirty="0"/>
          </a:p>
        </p:txBody>
      </p:sp>
      <p:sp>
        <p:nvSpPr>
          <p:cNvPr id="5" name="Shape 3"/>
          <p:cNvSpPr/>
          <p:nvPr/>
        </p:nvSpPr>
        <p:spPr>
          <a:xfrm>
            <a:off x="365760" y="1078992"/>
            <a:ext cx="8412480" cy="1051560"/>
          </a:xfrm>
          <a:prstGeom prst="roundRect">
            <a:avLst>
              <a:gd name="adj" fmla="val 869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170432"/>
            <a:ext cx="7955280" cy="86868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Notice what a character reaches for when things fall apart. — Good readers watch how a character responds to hardship — not just what happens to them, but what they do. In Chapter 3, Nat faces a real loss. Something he was counting on disappears. As you read, carry this question with you: what does Nat reach for when the world goes sideways? Watch for the moment the answer becomes clear.</a:t>
            </a:r>
            <a:endParaRPr lang="en-US" sz="1300" dirty="0"/>
          </a:p>
        </p:txBody>
      </p:sp>
      <p:sp>
        <p:nvSpPr>
          <p:cNvPr id="7" name="Text 5"/>
          <p:cNvSpPr/>
          <p:nvPr/>
        </p:nvSpPr>
        <p:spPr>
          <a:xfrm>
            <a:off x="365760" y="228600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FOR THIS AS YOU READ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Study What's Right</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CORRECT MODEL — TAP TO NOTICE</a:t>
            </a:r>
            <a:endParaRPr lang="en-US" sz="1100" dirty="0"/>
          </a:p>
        </p:txBody>
      </p:sp>
      <p:sp>
        <p:nvSpPr>
          <p:cNvPr id="5" name="Shape 3"/>
          <p:cNvSpPr/>
          <p:nvPr/>
        </p:nvSpPr>
        <p:spPr>
          <a:xfrm>
            <a:off x="365760" y="1078992"/>
            <a:ext cx="841248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48640" y="1188720"/>
            <a:ext cx="8046720" cy="68580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Dr. Stearns visited the Bowditch family to share important news.</a:t>
            </a:r>
            <a:endParaRPr lang="en-US" sz="1600" dirty="0"/>
          </a:p>
        </p:txBody>
      </p:sp>
      <p:sp>
        <p:nvSpPr>
          <p:cNvPr id="7" name="Text 5"/>
          <p:cNvSpPr/>
          <p:nvPr/>
        </p:nvSpPr>
        <p:spPr>
          <a:xfrm>
            <a:off x="365760" y="210312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EACH TAPPED WORD TEACHES</a:t>
            </a:r>
            <a:endParaRPr lang="en-US" sz="1100" dirty="0"/>
          </a:p>
        </p:txBody>
      </p:sp>
      <p:sp>
        <p:nvSpPr>
          <p:cNvPr id="8" name="Shape 6"/>
          <p:cNvSpPr/>
          <p:nvPr/>
        </p:nvSpPr>
        <p:spPr>
          <a:xfrm>
            <a:off x="365760" y="2377440"/>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432304"/>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Dr.  </a:t>
            </a:r>
            <a:pPr indent="0" marL="0">
              <a:buNone/>
            </a:pPr>
            <a:r>
              <a:rPr lang="en-US" sz="1200" dirty="0">
                <a:solidFill>
                  <a:srgbClr val="1E293B"/>
                </a:solidFill>
                <a:latin typeface="Calibri" pitchFamily="34" charset="0"/>
                <a:ea typeface="Calibri" pitchFamily="34" charset="-122"/>
                <a:cs typeface="Calibri" pitchFamily="34" charset="-120"/>
              </a:rPr>
              <a:t>“Dr.” is a title that comes before a name. Titles before names are always capitalized, and “Dr.” also gets a period because it is an abbreviation.</a:t>
            </a:r>
            <a:endParaRPr lang="en-US" sz="1300" dirty="0"/>
          </a:p>
        </p:txBody>
      </p:sp>
      <p:sp>
        <p:nvSpPr>
          <p:cNvPr id="10" name="Shape 8"/>
          <p:cNvSpPr/>
          <p:nvPr/>
        </p:nvSpPr>
        <p:spPr>
          <a:xfrm>
            <a:off x="365760" y="2953512"/>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3008376"/>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Stearns  </a:t>
            </a:r>
            <a:pPr indent="0" marL="0">
              <a:buNone/>
            </a:pPr>
            <a:r>
              <a:rPr lang="en-US" sz="1200" dirty="0">
                <a:solidFill>
                  <a:srgbClr val="1E293B"/>
                </a:solidFill>
                <a:latin typeface="Calibri" pitchFamily="34" charset="0"/>
                <a:ea typeface="Calibri" pitchFamily="34" charset="-122"/>
                <a:cs typeface="Calibri" pitchFamily="34" charset="-120"/>
              </a:rPr>
              <a:t>“Stearns” is a person’s last name — a proper noun. Last names are always capitalized.</a:t>
            </a:r>
            <a:endParaRPr lang="en-US" sz="1300" dirty="0"/>
          </a:p>
        </p:txBody>
      </p:sp>
      <p:sp>
        <p:nvSpPr>
          <p:cNvPr id="12" name="Shape 10"/>
          <p:cNvSpPr/>
          <p:nvPr/>
        </p:nvSpPr>
        <p:spPr>
          <a:xfrm>
            <a:off x="365760" y="3529584"/>
            <a:ext cx="8412480" cy="512064"/>
          </a:xfrm>
          <a:prstGeom prst="roundRect">
            <a:avLst>
              <a:gd name="adj" fmla="val 17857"/>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584448"/>
            <a:ext cx="8046720" cy="402336"/>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Bowditch  </a:t>
            </a:r>
            <a:pPr indent="0" marL="0">
              <a:buNone/>
            </a:pPr>
            <a:r>
              <a:rPr lang="en-US" sz="1200" dirty="0">
                <a:solidFill>
                  <a:srgbClr val="1E293B"/>
                </a:solidFill>
                <a:latin typeface="Calibri" pitchFamily="34" charset="0"/>
                <a:ea typeface="Calibri" pitchFamily="34" charset="-122"/>
                <a:cs typeface="Calibri" pitchFamily="34" charset="-120"/>
              </a:rPr>
              <a:t>“Bowditch” is the family’s name — a proper noun. Family names and last names always get a capital letter.</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news about tom perry made nat very sad</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Daily Oral Language — Fix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NEEDS FIXING</a:t>
            </a:r>
            <a:endParaRPr lang="en-US" sz="1100" dirty="0"/>
          </a:p>
        </p:txBody>
      </p:sp>
      <p:sp>
        <p:nvSpPr>
          <p:cNvPr id="7" name="Shape 5"/>
          <p:cNvSpPr/>
          <p:nvPr/>
        </p:nvSpPr>
        <p:spPr>
          <a:xfrm>
            <a:off x="365760" y="1078992"/>
            <a:ext cx="8412480" cy="777240"/>
          </a:xfrm>
          <a:prstGeom prst="roundRect">
            <a:avLst>
              <a:gd name="adj" fmla="val 11765"/>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48640" y="1188720"/>
            <a:ext cx="8046720" cy="5486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the news about tom perry made nat very sad</a:t>
            </a:r>
            <a:endParaRPr lang="en-US" sz="1600" dirty="0"/>
          </a:p>
        </p:txBody>
      </p:sp>
      <p:sp>
        <p:nvSpPr>
          <p:cNvPr id="9" name="Text 7"/>
          <p:cNvSpPr/>
          <p:nvPr/>
        </p:nvSpPr>
        <p:spPr>
          <a:xfrm>
            <a:off x="457200" y="1965960"/>
            <a:ext cx="8229600" cy="384048"/>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Rewrite the corrected sentence in your notebook.</a:t>
            </a:r>
            <a:endParaRPr lang="en-US" sz="1500" dirty="0"/>
          </a:p>
        </p:txBody>
      </p:sp>
      <p:sp>
        <p:nvSpPr>
          <p:cNvPr id="10" name="Shape 8"/>
          <p:cNvSpPr/>
          <p:nvPr/>
        </p:nvSpPr>
        <p:spPr>
          <a:xfrm>
            <a:off x="365760" y="2468880"/>
            <a:ext cx="8412480" cy="1371600"/>
          </a:xfrm>
          <a:prstGeom prst="roundRect">
            <a:avLst>
              <a:gd name="adj" fmla="val 6667"/>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560320"/>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2" name="Text 10"/>
          <p:cNvSpPr/>
          <p:nvPr/>
        </p:nvSpPr>
        <p:spPr>
          <a:xfrm>
            <a:off x="594360" y="2834640"/>
            <a:ext cx="7955280" cy="457200"/>
          </a:xfrm>
          <a:prstGeom prst="rect">
            <a:avLst/>
          </a:prstGeom>
          <a:noFill/>
          <a:ln/>
        </p:spPr>
        <p:txBody>
          <a:bodyPr wrap="square" lIns="0" tIns="0" rIns="0" bIns="0" rtlCol="0" anchor="ctr"/>
          <a:lstStyle/>
          <a:p>
            <a:pPr indent="0" marL="0">
              <a:buNone/>
            </a:pPr>
            <a:r>
              <a:rPr lang="en-US" sz="1500" b="1" i="1" dirty="0">
                <a:solidFill>
                  <a:srgbClr val="1E293B"/>
                </a:solidFill>
                <a:latin typeface="Calibri" pitchFamily="34" charset="0"/>
                <a:ea typeface="Calibri" pitchFamily="34" charset="-122"/>
                <a:cs typeface="Calibri" pitchFamily="34" charset="-120"/>
              </a:rPr>
              <a:t>The news about Tom Perry made Nat very sad.</a:t>
            </a:r>
            <a:endParaRPr lang="en-US" sz="1500" dirty="0"/>
          </a:p>
        </p:txBody>
      </p:sp>
      <p:sp>
        <p:nvSpPr>
          <p:cNvPr id="13" name="Text 11"/>
          <p:cNvSpPr/>
          <p:nvPr/>
        </p:nvSpPr>
        <p:spPr>
          <a:xfrm>
            <a:off x="594360" y="3310128"/>
            <a:ext cx="7955280" cy="45720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What needed fixing: the → The — every sentence starts with a capital letter tom → Tom — first name, proper noun perry → Perry — last name, proper noun nat → Nat — first name (nickname for Nathaniel), proper noun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Quick Write (Optional)</a:t>
            </a:r>
            <a:endParaRPr lang="en-US" sz="26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280160"/>
            <a:ext cx="8229600" cy="1463040"/>
          </a:xfrm>
          <a:prstGeom prst="roundRect">
            <a:avLst>
              <a:gd name="adj" fmla="val 625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389888"/>
            <a:ext cx="7863840" cy="1234440"/>
          </a:xfrm>
          <a:prstGeom prst="rect">
            <a:avLst/>
          </a:prstGeom>
          <a:noFill/>
          <a:ln/>
        </p:spPr>
        <p:txBody>
          <a:bodyPr wrap="square" lIns="0" tIns="0" rIns="0" bIns="0" rtlCol="0" anchor="ctr"/>
          <a:lstStyle/>
          <a:p>
            <a:pPr indent="0" marL="0">
              <a:buNone/>
            </a:pPr>
            <a:r>
              <a:rPr lang="en-US" sz="1600" i="1" dirty="0">
                <a:solidFill>
                  <a:srgbClr val="1E293B"/>
                </a:solidFill>
                <a:latin typeface="Calibri" pitchFamily="34" charset="0"/>
                <a:ea typeface="Calibri" pitchFamily="34" charset="-122"/>
                <a:cs typeface="Calibri" pitchFamily="34" charset="-120"/>
              </a:rPr>
              <a:t>Which hardship has hit Nat harder so far: losing his ship money, or having to leave school? Defend your answer with evidence from Chapters 1-3.</a:t>
            </a:r>
            <a:endParaRPr lang="en-US" sz="1600" dirty="0"/>
          </a:p>
        </p:txBody>
      </p:sp>
      <p:sp>
        <p:nvSpPr>
          <p:cNvPr id="7" name="Text 5"/>
          <p:cNvSpPr/>
          <p:nvPr/>
        </p:nvSpPr>
        <p:spPr>
          <a:xfrm>
            <a:off x="457200" y="2926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SENTENCE SCAFFOLD (USE WHAT HELPS)</a:t>
            </a:r>
            <a:endParaRPr lang="en-US" sz="1100" dirty="0"/>
          </a:p>
        </p:txBody>
      </p:sp>
      <p:sp>
        <p:nvSpPr>
          <p:cNvPr id="8" name="Text 6"/>
          <p:cNvSpPr/>
          <p:nvPr/>
        </p:nvSpPr>
        <p:spPr>
          <a:xfrm>
            <a:off x="457200" y="3218688"/>
            <a:ext cx="8229600" cy="822960"/>
          </a:xfrm>
          <a:prstGeom prst="rect">
            <a:avLst/>
          </a:prstGeom>
          <a:noFill/>
          <a:ln/>
        </p:spPr>
        <p:txBody>
          <a:bodyPr wrap="square" lIns="0" tIns="0" rIns="0" bIns="0" rtlCol="0" anchor="ctr"/>
          <a:lstStyle/>
          <a:p>
            <a:pPr indent="0" marL="0">
              <a:buNone/>
            </a:pPr>
            <a:r>
              <a:rPr lang="en-US" sz="1150" i="1" dirty="0">
                <a:solidFill>
                  <a:srgbClr val="0E1C42"/>
                </a:solidFill>
                <a:latin typeface="Calibri" pitchFamily="34" charset="0"/>
                <a:ea typeface="Calibri" pitchFamily="34" charset="-122"/>
                <a:cs typeface="Calibri" pitchFamily="34" charset="-120"/>
              </a:rPr>
              <a:t>I think...   →   because...   →   One piece of evidence is...   →   This matters because...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  Writing Time</a:t>
            </a:r>
            <a:endParaRPr lang="en-US" sz="3000" dirty="0"/>
          </a:p>
        </p:txBody>
      </p:sp>
      <p:sp>
        <p:nvSpPr>
          <p:cNvPr id="3" name="Text 1"/>
          <p:cNvSpPr/>
          <p:nvPr/>
        </p:nvSpPr>
        <p:spPr>
          <a:xfrm>
            <a:off x="914400" y="804672"/>
            <a:ext cx="7315200" cy="365760"/>
          </a:xfrm>
          <a:prstGeom prst="rect">
            <a:avLst/>
          </a:prstGeom>
          <a:noFill/>
          <a:ln/>
        </p:spPr>
        <p:txBody>
          <a:bodyPr wrap="square" lIns="0" tIns="0" rIns="0" bIns="0" rtlCol="0" anchor="ctr"/>
          <a:lstStyle/>
          <a:p>
            <a:pPr algn="ctr" indent="0" marL="0">
              <a:buNone/>
            </a:pPr>
            <a:r>
              <a:rPr lang="en-US" sz="1500" dirty="0">
                <a:solidFill>
                  <a:srgbClr val="C7922C"/>
                </a:solidFill>
                <a:latin typeface="Calibri" pitchFamily="34" charset="0"/>
                <a:ea typeface="Calibri" pitchFamily="34" charset="-122"/>
                <a:cs typeface="Calibri" pitchFamily="34" charset="-120"/>
              </a:rPr>
              <a:t>5 minutes — keep your pencil moving!</a:t>
            </a:r>
            <a:endParaRPr lang="en-US" sz="1500" dirty="0"/>
          </a:p>
        </p:txBody>
      </p:sp>
      <p:sp>
        <p:nvSpPr>
          <p:cNvPr id="4" name="Shape 2"/>
          <p:cNvSpPr/>
          <p:nvPr/>
        </p:nvSpPr>
        <p:spPr>
          <a:xfrm>
            <a:off x="457200" y="1325880"/>
            <a:ext cx="8229600" cy="1188720"/>
          </a:xfrm>
          <a:prstGeom prst="roundRect">
            <a:avLst>
              <a:gd name="adj" fmla="val 7692"/>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371600"/>
            <a:ext cx="7863840" cy="109728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Which hardship has hit Nat harder so far: losing his ship money, or having to leave school? Defend your answer with evidence from Chapters 1-3.</a:t>
            </a:r>
            <a:endParaRPr lang="en-US" sz="1200" dirty="0"/>
          </a:p>
        </p:txBody>
      </p:sp>
      <p:sp>
        <p:nvSpPr>
          <p:cNvPr id="6" name="Shape 4"/>
          <p:cNvSpPr/>
          <p:nvPr/>
        </p:nvSpPr>
        <p:spPr>
          <a:xfrm>
            <a:off x="1554480" y="2743200"/>
            <a:ext cx="6035040" cy="1600200"/>
          </a:xfrm>
          <a:prstGeom prst="roundRect">
            <a:avLst>
              <a:gd name="adj" fmla="val 6857"/>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1737360" y="2834640"/>
            <a:ext cx="5669280" cy="14173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Scaffold, if you need it:
</a:t>
            </a:r>
            <a:pPr indent="0" marL="0">
              <a:buNone/>
            </a:pPr>
            <a:r>
              <a:rPr lang="en-US" sz="1150" dirty="0">
                <a:solidFill>
                  <a:srgbClr val="1E293B"/>
                </a:solidFill>
                <a:latin typeface="Calibri" pitchFamily="34" charset="0"/>
                <a:ea typeface="Calibri" pitchFamily="34" charset="-122"/>
                <a:cs typeface="Calibri" pitchFamily="34" charset="-120"/>
              </a:rPr>
              <a:t>I think...</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because...</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One piece of evidence is...</a:t>
            </a:r>
            <a:endParaRPr lang="en-US" sz="1300" dirty="0"/>
          </a:p>
          <a:p>
            <a:pPr indent="0" marL="0">
              <a:buNone/>
            </a:pPr>
            <a:r>
              <a:rPr lang="en-US" sz="1150" dirty="0">
                <a:solidFill>
                  <a:srgbClr val="1E293B"/>
                </a:solidFill>
                <a:latin typeface="Calibri" pitchFamily="34" charset="0"/>
                <a:ea typeface="Calibri" pitchFamily="34" charset="-122"/>
                <a:cs typeface="Calibri" pitchFamily="34" charset="-120"/>
              </a:rPr>
              <a:t>This matters because...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20040"/>
            <a:ext cx="1828800" cy="548640"/>
          </a:xfrm>
          <a:prstGeom prst="rect">
            <a:avLst/>
          </a:prstGeom>
          <a:noFill/>
          <a:ln/>
        </p:spPr>
        <p:txBody>
          <a:bodyPr wrap="square" lIns="0" tIns="0" rIns="0" bIns="0" rtlCol="0" anchor="ctr"/>
          <a:lstStyle/>
          <a:p>
            <a:pPr algn="ctr" indent="0" marL="0">
              <a:buNone/>
            </a:pPr>
            <a:r>
              <a:rPr lang="en-US" sz="3600" dirty="0">
                <a:solidFill>
                  <a:srgbClr val="000000"/>
                </a:solidFill>
              </a:rPr>
              <a:t>🔍</a:t>
            </a:r>
            <a:endParaRPr lang="en-US" sz="3600" dirty="0"/>
          </a:p>
        </p:txBody>
      </p:sp>
      <p:sp>
        <p:nvSpPr>
          <p:cNvPr id="3" name="Text 1"/>
          <p:cNvSpPr/>
          <p:nvPr/>
        </p:nvSpPr>
        <p:spPr>
          <a:xfrm>
            <a:off x="914400" y="822960"/>
            <a:ext cx="7315200" cy="594360"/>
          </a:xfrm>
          <a:prstGeom prst="rect">
            <a:avLst/>
          </a:prstGeom>
          <a:noFill/>
          <a:ln/>
        </p:spPr>
        <p:txBody>
          <a:bodyPr wrap="square" lIns="0" tIns="0" rIns="0" bIns="0" rtlCol="0" anchor="ctr"/>
          <a:lstStyle/>
          <a:p>
            <a:pPr algn="ctr" indent="0" marL="0">
              <a:buNone/>
            </a:pPr>
            <a:r>
              <a:rPr lang="en-US" sz="2800" b="1" dirty="0">
                <a:solidFill>
                  <a:srgbClr val="0E1C42"/>
                </a:solidFill>
                <a:latin typeface="Calibri" pitchFamily="34" charset="0"/>
                <a:ea typeface="Calibri" pitchFamily="34" charset="-122"/>
                <a:cs typeface="Calibri" pitchFamily="34" charset="-120"/>
              </a:rPr>
              <a:t>Edit &amp; Revise</a:t>
            </a:r>
            <a:endParaRPr lang="en-US" sz="2800" dirty="0"/>
          </a:p>
        </p:txBody>
      </p:sp>
      <p:sp>
        <p:nvSpPr>
          <p:cNvPr id="4" name="Text 2"/>
          <p:cNvSpPr/>
          <p:nvPr/>
        </p:nvSpPr>
        <p:spPr>
          <a:xfrm>
            <a:off x="914400" y="1371600"/>
            <a:ext cx="7315200" cy="411480"/>
          </a:xfrm>
          <a:prstGeom prst="rect">
            <a:avLst/>
          </a:prstGeom>
          <a:noFill/>
          <a:ln/>
        </p:spPr>
        <p:txBody>
          <a:bodyPr wrap="square" lIns="0" tIns="0" rIns="0" bIns="0" rtlCol="0" anchor="ctr"/>
          <a:lstStyle/>
          <a:p>
            <a:pPr algn="ctr" indent="0" marL="0">
              <a:buNone/>
            </a:pPr>
            <a:r>
              <a:rPr lang="en-US" sz="1400" dirty="0">
                <a:solidFill>
                  <a:srgbClr val="34B76F"/>
                </a:solidFill>
                <a:latin typeface="Calibri" pitchFamily="34" charset="0"/>
                <a:ea typeface="Calibri" pitchFamily="34" charset="-122"/>
                <a:cs typeface="Calibri" pitchFamily="34" charset="-120"/>
              </a:rPr>
              <a:t>1 minute — one deliberate decision, not a full edit pass</a:t>
            </a:r>
            <a:endParaRPr lang="en-US" sz="1400" dirty="0"/>
          </a:p>
        </p:txBody>
      </p:sp>
      <p:sp>
        <p:nvSpPr>
          <p:cNvPr id="5" name="Shape 3"/>
          <p:cNvSpPr/>
          <p:nvPr/>
        </p:nvSpPr>
        <p:spPr>
          <a:xfrm>
            <a:off x="1188720" y="2011680"/>
            <a:ext cx="676656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371600" y="2084832"/>
            <a:ext cx="6400800" cy="640080"/>
          </a:xfrm>
          <a:prstGeom prst="rect">
            <a:avLst/>
          </a:prstGeom>
          <a:noFill/>
          <a:ln/>
        </p:spPr>
        <p:txBody>
          <a:bodyPr wrap="square" lIns="0" tIns="0" rIns="0" bIns="0" rtlCol="0" anchor="ctr"/>
          <a:lstStyle/>
          <a:p>
            <a:pPr indent="0" marL="0">
              <a:buNone/>
            </a:pPr>
            <a:r>
              <a:rPr lang="en-US" sz="1300" b="1" dirty="0">
                <a:solidFill>
                  <a:srgbClr val="34B76F"/>
                </a:solidFill>
                <a:latin typeface="Calibri" pitchFamily="34" charset="0"/>
                <a:ea typeface="Calibri" pitchFamily="34" charset="-122"/>
                <a:cs typeface="Calibri" pitchFamily="34" charset="-120"/>
              </a:rPr>
              <a:t>Today's revision check: </a:t>
            </a:r>
            <a:pPr indent="0" marL="0">
              <a:buNone/>
            </a:pPr>
            <a:r>
              <a:rPr lang="en-US" sz="1300" dirty="0">
                <a:solidFill>
                  <a:srgbClr val="1E293B"/>
                </a:solidFill>
                <a:latin typeface="Calibri" pitchFamily="34" charset="0"/>
                <a:ea typeface="Calibri" pitchFamily="34" charset="-122"/>
                <a:cs typeface="Calibri" pitchFamily="34" charset="-120"/>
              </a:rPr>
              <a:t>Is there a stronger, more specific word I could use here instead of a vague one?</a:t>
            </a:r>
            <a:endParaRPr lang="en-US" sz="1300" dirty="0"/>
          </a:p>
        </p:txBody>
      </p:sp>
      <p:sp>
        <p:nvSpPr>
          <p:cNvPr id="7" name="Text 5"/>
          <p:cNvSpPr/>
          <p:nvPr/>
        </p:nvSpPr>
        <p:spPr>
          <a:xfrm>
            <a:off x="1188720" y="3017520"/>
            <a:ext cx="6766560" cy="457200"/>
          </a:xfrm>
          <a:prstGeom prst="rect">
            <a:avLst/>
          </a:prstGeom>
          <a:noFill/>
          <a:ln/>
        </p:spPr>
        <p:txBody>
          <a:bodyPr wrap="square" lIns="0" tIns="0" rIns="0" bIns="0" rtlCol="0" anchor="ctr"/>
          <a:lstStyle/>
          <a:p>
            <a:pPr algn="ctr" indent="0" marL="0">
              <a:buNone/>
            </a:pPr>
            <a:r>
              <a:rPr lang="en-US" sz="1200" i="1" dirty="0">
                <a:solidFill>
                  <a:srgbClr val="64748B"/>
                </a:solidFill>
                <a:latin typeface="Calibri" pitchFamily="34" charset="0"/>
                <a:ea typeface="Calibri" pitchFamily="34" charset="-122"/>
                <a:cs typeface="Calibri" pitchFamily="34" charset="-120"/>
              </a:rPr>
              <a:t>Revision = improving ideas. Editing = fixing conventions. Pick ONE thing.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1005840"/>
            <a:ext cx="7315200" cy="594360"/>
          </a:xfrm>
          <a:prstGeom prst="rect">
            <a:avLst/>
          </a:prstGeom>
          <a:noFill/>
          <a:ln/>
        </p:spPr>
        <p:txBody>
          <a:bodyPr wrap="square" lIns="0" tIns="0" rIns="0" bIns="0" rtlCol="0" anchor="ctr"/>
          <a:lstStyle/>
          <a:p>
            <a:pPr algn="ctr" indent="0" marL="0">
              <a:buNone/>
            </a:pPr>
            <a:r>
              <a:rPr lang="en-US" sz="3000" b="1" dirty="0">
                <a:solidFill>
                  <a:srgbClr val="0E1C42"/>
                </a:solidFill>
                <a:latin typeface="Calibri" pitchFamily="34" charset="0"/>
                <a:ea typeface="Calibri" pitchFamily="34" charset="-122"/>
                <a:cs typeface="Calibri" pitchFamily="34" charset="-120"/>
              </a:rPr>
              <a:t>Share Time</a:t>
            </a:r>
            <a:endParaRPr lang="en-US" sz="3000" dirty="0"/>
          </a:p>
        </p:txBody>
      </p:sp>
      <p:sp>
        <p:nvSpPr>
          <p:cNvPr id="4" name="Text 2"/>
          <p:cNvSpPr/>
          <p:nvPr/>
        </p:nvSpPr>
        <p:spPr>
          <a:xfrm>
            <a:off x="914400" y="1554480"/>
            <a:ext cx="7315200" cy="411480"/>
          </a:xfrm>
          <a:prstGeom prst="rect">
            <a:avLst/>
          </a:prstGeom>
          <a:noFill/>
          <a:ln/>
        </p:spPr>
        <p:txBody>
          <a:bodyPr wrap="square" lIns="0" tIns="0" rIns="0" bIns="0" rtlCol="0" anchor="ctr"/>
          <a:lstStyle/>
          <a:p>
            <a:pPr algn="ctr" indent="0" marL="0">
              <a:buNone/>
            </a:pPr>
            <a:r>
              <a:rPr lang="en-US" sz="1500" dirty="0">
                <a:solidFill>
                  <a:srgbClr val="55C8E8"/>
                </a:solidFill>
                <a:latin typeface="Calibri" pitchFamily="34" charset="0"/>
                <a:ea typeface="Calibri" pitchFamily="34" charset="-122"/>
                <a:cs typeface="Calibri" pitchFamily="34" charset="-120"/>
              </a:rPr>
              <a:t>3 minutes — let's hear your thinking!</a:t>
            </a:r>
            <a:endParaRPr lang="en-US" sz="1500" dirty="0"/>
          </a:p>
        </p:txBody>
      </p:sp>
      <p:sp>
        <p:nvSpPr>
          <p:cNvPr id="5" name="Shape 3"/>
          <p:cNvSpPr/>
          <p:nvPr/>
        </p:nvSpPr>
        <p:spPr>
          <a:xfrm>
            <a:off x="1828800" y="2194560"/>
            <a:ext cx="5486400" cy="1371600"/>
          </a:xfrm>
          <a:prstGeom prst="roundRect">
            <a:avLst>
              <a:gd name="adj" fmla="val 8000"/>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011680" y="2286000"/>
            <a:ext cx="5120640" cy="1188720"/>
          </a:xfrm>
          <a:prstGeom prst="rect">
            <a:avLst/>
          </a:prstGeom>
          <a:noFill/>
          <a:ln/>
        </p:spPr>
        <p:txBody>
          <a:bodyPr wrap="square" lIns="0" tIns="0" rIns="0" bIns="0" rtlCol="0" anchor="t"/>
          <a:lstStyle/>
          <a:p>
            <a:pPr indent="0" marL="0">
              <a:buNone/>
            </a:pPr>
            <a:r>
              <a:rPr lang="en-US" sz="1300" b="1" dirty="0">
                <a:solidFill>
                  <a:srgbClr val="0E1C42"/>
                </a:solidFill>
                <a:latin typeface="Calibri" pitchFamily="34" charset="0"/>
                <a:ea typeface="Calibri" pitchFamily="34" charset="-122"/>
                <a:cs typeface="Calibri" pitchFamily="34" charset="-120"/>
              </a:rPr>
              <a:t>Raise your hand </a:t>
            </a:r>
            <a:pPr indent="0" marL="0">
              <a:buNone/>
            </a:pPr>
            <a:r>
              <a:rPr lang="en-US" sz="1300" dirty="0">
                <a:solidFill>
                  <a:srgbClr val="1E293B"/>
                </a:solidFill>
                <a:latin typeface="Calibri" pitchFamily="34" charset="0"/>
                <a:ea typeface="Calibri" pitchFamily="34" charset="-122"/>
                <a:cs typeface="Calibri" pitchFamily="34" charset="-120"/>
              </a:rPr>
              <a:t>to share, or paste your writing in the chat.
</a:t>
            </a:r>
            <a:pPr indent="0" marL="0">
              <a:buNone/>
            </a:pPr>
            <a:r>
              <a:rPr lang="en-US" sz="1200" i="1" dirty="0">
                <a:solidFill>
                  <a:srgbClr val="64748B"/>
                </a:solidFill>
                <a:latin typeface="Calibri" pitchFamily="34" charset="0"/>
                <a:ea typeface="Calibri" pitchFamily="34" charset="-122"/>
                <a:cs typeface="Calibri" pitchFamily="34" charset="-120"/>
              </a:rPr>
              <a:t>If you disagree with a classmate's choice, say so respectfully — that's part of the thinking.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Vocabulary — Use It</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Use it — match the right word to each sentence</a:t>
            </a:r>
            <a:endParaRPr lang="en-US" sz="1100" dirty="0"/>
          </a:p>
        </p:txBody>
      </p:sp>
      <p:sp>
        <p:nvSpPr>
          <p:cNvPr id="5" name="Text 3"/>
          <p:cNvSpPr/>
          <p:nvPr/>
        </p:nvSpPr>
        <p:spPr>
          <a:xfrm>
            <a:off x="365760" y="1097280"/>
            <a:ext cx="8412480" cy="320040"/>
          </a:xfrm>
          <a:prstGeom prst="rect">
            <a:avLst/>
          </a:prstGeom>
          <a:noFill/>
          <a:ln/>
        </p:spPr>
        <p:txBody>
          <a:bodyPr wrap="square" lIns="0" tIns="0" rIns="0" bIns="0" rtlCol="0" anchor="ctr"/>
          <a:lstStyle/>
          <a:p>
            <a:pPr indent="0" marL="0">
              <a:buNone/>
            </a:pPr>
            <a:r>
              <a:rPr lang="en-US" sz="1200" b="1" dirty="0">
                <a:solidFill>
                  <a:srgbClr val="0E1C42"/>
                </a:solidFill>
                <a:latin typeface="Calibri" pitchFamily="34" charset="0"/>
                <a:ea typeface="Calibri" pitchFamily="34" charset="-122"/>
                <a:cs typeface="Calibri" pitchFamily="34" charset="-120"/>
              </a:rPr>
              <a:t>Word Bank: privateer  ·  chandlery  ·  wharf  ·  cooperage  ·  expectation  ·  indenture</a:t>
            </a:r>
            <a:endParaRPr lang="en-US" sz="1200" dirty="0"/>
          </a:p>
        </p:txBody>
      </p:sp>
      <p:sp>
        <p:nvSpPr>
          <p:cNvPr id="6" name="Shape 4"/>
          <p:cNvSpPr/>
          <p:nvPr/>
        </p:nvSpPr>
        <p:spPr>
          <a:xfrm>
            <a:off x="365760" y="1481328"/>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536192"/>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Ships tied up at the _____________ each morning to unload barrels of salt fish and bales of rope.</a:t>
            </a:r>
            <a:endParaRPr lang="en-US" sz="1150" dirty="0"/>
          </a:p>
        </p:txBody>
      </p:sp>
      <p:sp>
        <p:nvSpPr>
          <p:cNvPr id="8" name="Shape 6"/>
          <p:cNvSpPr/>
          <p:nvPr/>
        </p:nvSpPr>
        <p:spPr>
          <a:xfrm>
            <a:off x="365760" y="2093976"/>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9" name="Text 7"/>
          <p:cNvSpPr/>
          <p:nvPr/>
        </p:nvSpPr>
        <p:spPr>
          <a:xfrm>
            <a:off x="548640" y="2148840"/>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At the _____________ , sailors could buy candles, tar, and rope — everything a ship needed to sail.</a:t>
            </a:r>
            <a:endParaRPr lang="en-US" sz="1150" dirty="0"/>
          </a:p>
        </p:txBody>
      </p:sp>
      <p:sp>
        <p:nvSpPr>
          <p:cNvPr id="10" name="Shape 8"/>
          <p:cNvSpPr/>
          <p:nvPr/>
        </p:nvSpPr>
        <p:spPr>
          <a:xfrm>
            <a:off x="365760" y="2706624"/>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761488"/>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Nat signed the _____________ that bound him to work at Ropes &amp; Hodges for nine years — a legal agreement he could not break.</a:t>
            </a:r>
            <a:endParaRPr lang="en-US" sz="1150" dirty="0"/>
          </a:p>
        </p:txBody>
      </p:sp>
      <p:sp>
        <p:nvSpPr>
          <p:cNvPr id="12" name="Shape 10"/>
          <p:cNvSpPr/>
          <p:nvPr/>
        </p:nvSpPr>
        <p:spPr>
          <a:xfrm>
            <a:off x="365760" y="3319272"/>
            <a:ext cx="8412480" cy="548640"/>
          </a:xfrm>
          <a:prstGeom prst="roundRect">
            <a:avLst>
              <a:gd name="adj" fmla="val 16667"/>
            </a:avLst>
          </a:prstGeom>
          <a:solidFill>
            <a:srgbClr val="E5F7FC"/>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374136"/>
            <a:ext cx="8046720" cy="438912"/>
          </a:xfrm>
          <a:prstGeom prst="rect">
            <a:avLst/>
          </a:prstGeom>
          <a:noFill/>
          <a:ln/>
        </p:spPr>
        <p:txBody>
          <a:bodyPr wrap="square" lIns="0" tIns="0" rIns="0" bIns="0" rtlCol="0" anchor="ctr"/>
          <a:lstStyle/>
          <a:p>
            <a:pPr indent="0" marL="0">
              <a:buNone/>
            </a:pPr>
            <a:r>
              <a:rPr lang="en-US" sz="1150" i="1" dirty="0">
                <a:solidFill>
                  <a:srgbClr val="1E293B"/>
                </a:solidFill>
                <a:latin typeface="Calibri" pitchFamily="34" charset="0"/>
                <a:ea typeface="Calibri" pitchFamily="34" charset="-122"/>
                <a:cs typeface="Calibri" pitchFamily="34" charset="-120"/>
              </a:rPr>
              <a:t>Tom Perry sailed on a _____________ — a privately owned ship carrying a government license to attack enemy vessels during wartime.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Picking the Active Voice</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Use it — recognize which sentence uses active voice</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Active voice: The subject does the action. “Nat solved the problem.” Passive voice: The subject receives the action (often includes was/were/by ). “The problem was solved by Nat.”</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Passive: “The arithmetic problem was solved by Nat in a matter of seconds.”</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Nat solved the arithmetic problem in a matter of seconds.   /   The problem, in seconds, was what Nat solved.</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Passive: “Important news was brought to the Bowditch family by Dr. Stearns.”</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The family was told the news by someone who visited them.   /   Dr. Stearns brought important news to the Bowditch family.</a:t>
            </a:r>
            <a:endParaRPr lang="en-US" sz="1200" dirty="0"/>
          </a:p>
        </p:txBody>
      </p:sp>
      <p:sp>
        <p:nvSpPr>
          <p:cNvPr id="12" name="Shape 10"/>
          <p:cNvSpPr/>
          <p:nvPr/>
        </p:nvSpPr>
        <p:spPr>
          <a:xfrm>
            <a:off x="365760" y="32004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552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Passive: “The pieces of the expectation slip were scattered on the water by Nat.”</a:t>
            </a:r>
            <a:pPr indent="0" marL="0">
              <a:buNone/>
            </a:pPr>
            <a:endParaRPr lang="en-US" sz="1200" dirty="0"/>
          </a:p>
          <a:p>
            <a:pPr indent="0" marL="0">
              <a:buNone/>
            </a:pPr>
            <a:r>
              <a:rPr lang="en-US" sz="1100" dirty="0">
                <a:solidFill>
                  <a:srgbClr val="64748B"/>
                </a:solidFill>
                <a:latin typeface="Calibri" pitchFamily="34" charset="0"/>
                <a:ea typeface="Calibri" pitchFamily="34" charset="-122"/>
                <a:cs typeface="Calibri" pitchFamily="34" charset="-120"/>
              </a:rPr>
              <a:t>Nat scattered the pieces of the expectation slip on the water.   /   The water was where the pieces were scattered by Nat.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Grammar — ✏️ Grammar: Picking the Active Voice</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Use it — recognize which sentence uses active voice</a:t>
            </a:r>
            <a:endParaRPr lang="en-US" sz="1100" dirty="0"/>
          </a:p>
        </p:txBody>
      </p:sp>
      <p:sp>
        <p:nvSpPr>
          <p:cNvPr id="7" name="Text 5"/>
          <p:cNvSpPr/>
          <p:nvPr/>
        </p:nvSpPr>
        <p:spPr>
          <a:xfrm>
            <a:off x="365760" y="1078992"/>
            <a:ext cx="8412480" cy="594360"/>
          </a:xfrm>
          <a:prstGeom prst="rect">
            <a:avLst/>
          </a:prstGeom>
          <a:noFill/>
          <a:ln/>
        </p:spPr>
        <p:txBody>
          <a:bodyPr wrap="square" lIns="0" tIns="0" rIns="0" bIns="0"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Active voice: The subject does the action. “Nat solved the problem.” Passive voice: The subject receives the action (often includes was/were/by ). “The problem was solved by Nat.”</a:t>
            </a:r>
            <a:endParaRPr lang="en-US" sz="1100" dirty="0"/>
          </a:p>
        </p:txBody>
      </p:sp>
      <p:sp>
        <p:nvSpPr>
          <p:cNvPr id="8" name="Shape 6"/>
          <p:cNvSpPr/>
          <p:nvPr/>
        </p:nvSpPr>
        <p:spPr>
          <a:xfrm>
            <a:off x="365760" y="173736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9" name="Text 7"/>
          <p:cNvSpPr/>
          <p:nvPr/>
        </p:nvSpPr>
        <p:spPr>
          <a:xfrm>
            <a:off x="548640" y="179222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Passive: “The arithmetic problem was solved by Nat in a matter of seconds.”
</a:t>
            </a:r>
            <a:pPr indent="0" marL="0">
              <a:buNone/>
            </a:pPr>
            <a:r>
              <a:rPr lang="en-US" sz="1200" b="1" dirty="0">
                <a:solidFill>
                  <a:srgbClr val="34B76F"/>
                </a:solidFill>
                <a:latin typeface="Calibri" pitchFamily="34" charset="0"/>
                <a:ea typeface="Calibri" pitchFamily="34" charset="-122"/>
                <a:cs typeface="Calibri" pitchFamily="34" charset="-120"/>
              </a:rPr>
              <a:t>✅ Nat solved the arithmetic problem in a matter of seconds.</a:t>
            </a:r>
            <a:endParaRPr lang="en-US" sz="1200" dirty="0"/>
          </a:p>
        </p:txBody>
      </p:sp>
      <p:sp>
        <p:nvSpPr>
          <p:cNvPr id="10" name="Shape 8"/>
          <p:cNvSpPr/>
          <p:nvPr/>
        </p:nvSpPr>
        <p:spPr>
          <a:xfrm>
            <a:off x="365760" y="246888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1" name="Text 9"/>
          <p:cNvSpPr/>
          <p:nvPr/>
        </p:nvSpPr>
        <p:spPr>
          <a:xfrm>
            <a:off x="548640" y="252374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Passive: “Important news was brought to the Bowditch family by Dr. Stearns.”
</a:t>
            </a:r>
            <a:pPr indent="0" marL="0">
              <a:buNone/>
            </a:pPr>
            <a:r>
              <a:rPr lang="en-US" sz="1200" b="1" dirty="0">
                <a:solidFill>
                  <a:srgbClr val="34B76F"/>
                </a:solidFill>
                <a:latin typeface="Calibri" pitchFamily="34" charset="0"/>
                <a:ea typeface="Calibri" pitchFamily="34" charset="-122"/>
                <a:cs typeface="Calibri" pitchFamily="34" charset="-120"/>
              </a:rPr>
              <a:t>✅ Dr. Stearns brought important news to the Bowditch family.</a:t>
            </a:r>
            <a:endParaRPr lang="en-US" sz="1200" dirty="0"/>
          </a:p>
        </p:txBody>
      </p:sp>
      <p:sp>
        <p:nvSpPr>
          <p:cNvPr id="12" name="Shape 10"/>
          <p:cNvSpPr/>
          <p:nvPr/>
        </p:nvSpPr>
        <p:spPr>
          <a:xfrm>
            <a:off x="365760" y="32004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3" name="Text 11"/>
          <p:cNvSpPr/>
          <p:nvPr/>
        </p:nvSpPr>
        <p:spPr>
          <a:xfrm>
            <a:off x="548640" y="3255264"/>
            <a:ext cx="8046720" cy="548640"/>
          </a:xfrm>
          <a:prstGeom prst="rect">
            <a:avLst/>
          </a:prstGeom>
          <a:noFill/>
          <a:ln/>
        </p:spPr>
        <p:txBody>
          <a:bodyPr wrap="square" lIns="0" tIns="0" rIns="0" bIns="0" rtlCol="0" anchor="ctr"/>
          <a:lstStyle/>
          <a:p>
            <a:pPr indent="0" marL="0">
              <a:buNone/>
            </a:pPr>
            <a:r>
              <a:rPr lang="en-US" sz="1200" i="1" dirty="0">
                <a:solidFill>
                  <a:srgbClr val="1E293B"/>
                </a:solidFill>
                <a:latin typeface="Calibri" pitchFamily="34" charset="0"/>
                <a:ea typeface="Calibri" pitchFamily="34" charset="-122"/>
                <a:cs typeface="Calibri" pitchFamily="34" charset="-120"/>
              </a:rPr>
              <a:t>Passive: “The pieces of the expectation slip were scattered on the water by Nat.”
</a:t>
            </a:r>
            <a:pPr indent="0" marL="0">
              <a:buNone/>
            </a:pPr>
            <a:r>
              <a:rPr lang="en-US" sz="1200" b="1" dirty="0">
                <a:solidFill>
                  <a:srgbClr val="34B76F"/>
                </a:solidFill>
                <a:latin typeface="Calibri" pitchFamily="34" charset="0"/>
                <a:ea typeface="Calibri" pitchFamily="34" charset="-122"/>
                <a:cs typeface="Calibri" pitchFamily="34" charset="-120"/>
              </a:rPr>
              <a:t>✅ Nat scattered the pieces of the expectation slip on the water.</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Spelling — 🔤 Spelling: Sort New Words &amp; Show What You Know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0E1C42"/>
                </a:solidFill>
                <a:latin typeface="Calibri" pitchFamily="34" charset="0"/>
                <a:ea typeface="Calibri" pitchFamily="34" charset="-122"/>
                <a:cs typeface="Calibri" pitchFamily="34" charset="-120"/>
              </a:rPr>
              <a:t>Use it — sort eight new words, then write your own</a:t>
            </a:r>
            <a:endParaRPr lang="en-US" sz="1100" dirty="0"/>
          </a:p>
        </p:txBody>
      </p:sp>
      <p:sp>
        <p:nvSpPr>
          <p:cNvPr id="7" name="Text 5"/>
          <p:cNvSpPr/>
          <p:nvPr/>
        </p:nvSpPr>
        <p:spPr>
          <a:xfrm>
            <a:off x="365760" y="114300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A</a:t>
            </a:r>
            <a:endParaRPr lang="en-US" sz="1300" dirty="0"/>
          </a:p>
        </p:txBody>
      </p:sp>
      <p:sp>
        <p:nvSpPr>
          <p:cNvPr id="8" name="Text 6"/>
          <p:cNvSpPr/>
          <p:nvPr/>
        </p:nvSpPr>
        <p:spPr>
          <a:xfrm>
            <a:off x="365760" y="1508760"/>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wait  ·  bait  ·  rain  ·  hail</a:t>
            </a:r>
            <a:endParaRPr lang="en-US" sz="1300" dirty="0"/>
          </a:p>
        </p:txBody>
      </p:sp>
      <p:sp>
        <p:nvSpPr>
          <p:cNvPr id="9" name="Text 7"/>
          <p:cNvSpPr/>
          <p:nvPr/>
        </p:nvSpPr>
        <p:spPr>
          <a:xfrm>
            <a:off x="4663440" y="1143000"/>
            <a:ext cx="4023360" cy="320040"/>
          </a:xfrm>
          <a:prstGeom prst="rect">
            <a:avLst/>
          </a:prstGeom>
          <a:noFill/>
          <a:ln/>
        </p:spPr>
        <p:txBody>
          <a:bodyPr wrap="square" lIns="0" tIns="0" rIns="0" bIns="0" rtlCol="0" anchor="ctr"/>
          <a:lstStyle/>
          <a:p>
            <a:pPr indent="0" marL="0">
              <a:buNone/>
            </a:pPr>
            <a:r>
              <a:rPr lang="en-US" sz="1300" b="1" dirty="0">
                <a:solidFill>
                  <a:srgbClr val="0E1C42"/>
                </a:solidFill>
                <a:latin typeface="Calibri" pitchFamily="34" charset="0"/>
                <a:ea typeface="Calibri" pitchFamily="34" charset="-122"/>
                <a:cs typeface="Calibri" pitchFamily="34" charset="-120"/>
              </a:rPr>
              <a:t>B</a:t>
            </a:r>
            <a:endParaRPr lang="en-US" sz="1300" dirty="0"/>
          </a:p>
        </p:txBody>
      </p:sp>
      <p:sp>
        <p:nvSpPr>
          <p:cNvPr id="10" name="Text 8"/>
          <p:cNvSpPr/>
          <p:nvPr/>
        </p:nvSpPr>
        <p:spPr>
          <a:xfrm>
            <a:off x="4663440" y="1508760"/>
            <a:ext cx="4023360" cy="182880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shake  ·  gave  ·  pale  ·  came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Reading Focus + Story Journey</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6492240" y="173736"/>
            <a:ext cx="2286000" cy="502920"/>
          </a:xfrm>
          <a:prstGeom prst="roundRect">
            <a:avLst>
              <a:gd name="adj" fmla="val 21818"/>
            </a:avLst>
          </a:prstGeom>
          <a:solidFill>
            <a:srgbClr val="55C8E8"/>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YOUR STORY JOURNEY</a:t>
            </a:r>
            <a:endParaRPr lang="en-US" sz="1100" dirty="0"/>
          </a:p>
        </p:txBody>
      </p:sp>
      <p:sp>
        <p:nvSpPr>
          <p:cNvPr id="7" name="Shape 5"/>
          <p:cNvSpPr/>
          <p:nvPr/>
        </p:nvSpPr>
        <p:spPr>
          <a:xfrm>
            <a:off x="365760" y="1078992"/>
            <a:ext cx="8412480" cy="777240"/>
          </a:xfrm>
          <a:prstGeom prst="roundRect">
            <a:avLst>
              <a:gd name="adj" fmla="val 11765"/>
            </a:avLst>
          </a:prstGeom>
          <a:solidFill>
            <a:srgbClr val="F8FAFC"/>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170432"/>
            <a:ext cx="7955280" cy="594360"/>
          </a:xfrm>
          <a:prstGeom prst="rect">
            <a:avLst/>
          </a:prstGeom>
          <a:noFill/>
          <a:ln/>
        </p:spPr>
        <p:txBody>
          <a:bodyPr wrap="square" lIns="0" tIns="0" rIns="0" bIns="0" rtlCol="0" anchor="ctr"/>
          <a:lstStyle/>
          <a:p>
            <a:pPr indent="0" marL="0">
              <a:buNone/>
            </a:pPr>
            <a:r>
              <a:rPr lang="en-US" sz="1250" b="1" dirty="0">
                <a:solidFill>
                  <a:srgbClr val="1E293B"/>
                </a:solidFill>
                <a:latin typeface="Calibri" pitchFamily="34" charset="0"/>
                <a:ea typeface="Calibri" pitchFamily="34" charset="-122"/>
                <a:cs typeface="Calibri" pitchFamily="34" charset="-120"/>
              </a:rPr>
              <a:t>Nat’s Path Through Carry On, Mr. Bowditch — 📍 You are here: Chapter 3 — Word from the Pilgrim</a:t>
            </a:r>
            <a:endParaRPr lang="en-US" sz="1250" dirty="0"/>
          </a:p>
        </p:txBody>
      </p:sp>
      <p:sp>
        <p:nvSpPr>
          <p:cNvPr id="9" name="Text 7"/>
          <p:cNvSpPr/>
          <p:nvPr/>
        </p:nvSpPr>
        <p:spPr>
          <a:xfrm>
            <a:off x="365760" y="1975104"/>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TODAY YOU ARE READING</a:t>
            </a:r>
            <a:endParaRPr lang="en-US" sz="1100" dirty="0"/>
          </a:p>
        </p:txBody>
      </p:sp>
      <p:sp>
        <p:nvSpPr>
          <p:cNvPr id="10" name="Shape 8"/>
          <p:cNvSpPr/>
          <p:nvPr/>
        </p:nvSpPr>
        <p:spPr>
          <a:xfrm>
            <a:off x="365760" y="2231136"/>
            <a:ext cx="8412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304288"/>
            <a:ext cx="7955280" cy="493776"/>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Chapter 3 — Word from the Pilgrim</a:t>
            </a:r>
            <a:endParaRPr lang="en-US" sz="1500" dirty="0"/>
          </a:p>
        </p:txBody>
      </p:sp>
      <p:sp>
        <p:nvSpPr>
          <p:cNvPr id="12" name="Text 10"/>
          <p:cNvSpPr/>
          <p:nvPr/>
        </p:nvSpPr>
        <p:spPr>
          <a:xfrm>
            <a:off x="365760" y="299923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KEEP YOUR READING LENS IN MIND</a:t>
            </a:r>
            <a:endParaRPr lang="en-US" sz="1100" dirty="0"/>
          </a:p>
        </p:txBody>
      </p:sp>
      <p:sp>
        <p:nvSpPr>
          <p:cNvPr id="13" name="Shape 11"/>
          <p:cNvSpPr/>
          <p:nvPr/>
        </p:nvSpPr>
        <p:spPr>
          <a:xfrm>
            <a:off x="365760" y="3255264"/>
            <a:ext cx="8412480" cy="1280160"/>
          </a:xfrm>
          <a:prstGeom prst="roundRect">
            <a:avLst>
              <a:gd name="adj" fmla="val 7143"/>
            </a:avLst>
          </a:prstGeom>
          <a:solidFill>
            <a:srgbClr val="F0E8FF"/>
          </a:solidFill>
          <a:ln/>
          <a:effectLst>
            <a:outerShdw sx="100000" sy="100000" kx="0" ky="0" algn="bl" rotWithShape="0" blurRad="101600" dist="38100" dir="2700000">
              <a:srgbClr val="000000">
                <a:alpha val="12000"/>
              </a:srgbClr>
            </a:outerShdw>
          </a:effectLst>
        </p:spPr>
      </p:sp>
      <p:sp>
        <p:nvSpPr>
          <p:cNvPr id="14" name="Text 12"/>
          <p:cNvSpPr/>
          <p:nvPr/>
        </p:nvSpPr>
        <p:spPr>
          <a:xfrm>
            <a:off x="594360" y="3346704"/>
            <a:ext cx="7955280" cy="1097280"/>
          </a:xfrm>
          <a:prstGeom prst="rect">
            <a:avLst/>
          </a:prstGeom>
          <a:noFill/>
          <a:ln/>
        </p:spPr>
        <p:txBody>
          <a:bodyPr wrap="square" lIns="0" tIns="0" rIns="0" bIns="0" rtlCol="0" anchor="t"/>
          <a:lstStyle/>
          <a:p>
            <a:pPr indent="0" marL="0">
              <a:buNone/>
            </a:pPr>
            <a:r>
              <a:rPr lang="en-US" sz="1200" i="1" dirty="0">
                <a:solidFill>
                  <a:srgbClr val="1E293B"/>
                </a:solidFill>
                <a:latin typeface="Calibri" pitchFamily="34" charset="0"/>
                <a:ea typeface="Calibri" pitchFamily="34" charset="-122"/>
                <a:cs typeface="Calibri" pitchFamily="34" charset="-120"/>
              </a:rPr>
              <a:t>(See Reading tab for today's focus.)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Comprehension Questions — Preview</a:t>
            </a:r>
            <a:endParaRPr lang="en-US" sz="26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365760" y="8229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WHAT YOU'LL ANSWER (PART A)</a:t>
            </a:r>
            <a:endParaRPr lang="en-US" sz="1100" dirty="0"/>
          </a:p>
        </p:txBody>
      </p:sp>
      <p:sp>
        <p:nvSpPr>
          <p:cNvPr id="5" name="Shape 3"/>
          <p:cNvSpPr/>
          <p:nvPr/>
        </p:nvSpPr>
        <p:spPr>
          <a:xfrm>
            <a:off x="365760" y="1097280"/>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70432"/>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1.  </a:t>
            </a:r>
            <a:pPr indent="0" marL="0">
              <a:buNone/>
            </a:pPr>
            <a:r>
              <a:rPr lang="en-US" sz="1150" dirty="0">
                <a:solidFill>
                  <a:srgbClr val="1E293B"/>
                </a:solidFill>
                <a:latin typeface="Calibri" pitchFamily="34" charset="0"/>
                <a:ea typeface="Calibri" pitchFamily="34" charset="-122"/>
                <a:cs typeface="Calibri" pitchFamily="34" charset="-120"/>
              </a:rPr>
              <a:t>When Master Watson dismisses Nat, saying the arithmetic problem is too hard, what does Nat do next? What does his response reveal about how he approaches learning?</a:t>
            </a:r>
            <a:endParaRPr lang="en-US" sz="1300" dirty="0"/>
          </a:p>
        </p:txBody>
      </p:sp>
      <p:sp>
        <p:nvSpPr>
          <p:cNvPr id="7" name="Shape 5"/>
          <p:cNvSpPr/>
          <p:nvPr/>
        </p:nvSpPr>
        <p:spPr>
          <a:xfrm>
            <a:off x="365760" y="2084832"/>
            <a:ext cx="8412480" cy="914400"/>
          </a:xfrm>
          <a:prstGeom prst="roundRect">
            <a:avLst>
              <a:gd name="adj" fmla="val 10000"/>
            </a:avLst>
          </a:prstGeom>
          <a:solidFill>
            <a:srgbClr val="F4F7FC"/>
          </a:solidFill>
          <a:ln/>
          <a:effectLst>
            <a:outerShdw sx="100000" sy="100000" kx="0" ky="0" algn="bl" rotWithShape="0" blurRad="101600" dist="38100" dir="2700000">
              <a:srgbClr val="000000">
                <a:alpha val="12000"/>
              </a:srgbClr>
            </a:outerShdw>
          </a:effectLst>
        </p:spPr>
      </p:sp>
      <p:sp>
        <p:nvSpPr>
          <p:cNvPr id="8" name="Text 6"/>
          <p:cNvSpPr/>
          <p:nvPr/>
        </p:nvSpPr>
        <p:spPr>
          <a:xfrm>
            <a:off x="548640" y="2157984"/>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2.  </a:t>
            </a:r>
            <a:pPr indent="0" marL="0">
              <a:buNone/>
            </a:pPr>
            <a:r>
              <a:rPr lang="en-US" sz="1150" dirty="0">
                <a:solidFill>
                  <a:srgbClr val="1E293B"/>
                </a:solidFill>
                <a:latin typeface="Calibri" pitchFamily="34" charset="0"/>
                <a:ea typeface="Calibri" pitchFamily="34" charset="-122"/>
                <a:cs typeface="Calibri" pitchFamily="34" charset="-120"/>
              </a:rPr>
              <a:t>Dr. Stearns tells Nat: “Two plus two is four. Always. Nobody’s going to shake you when you say that.” What does Dr. Stearns mean? Why do you think he gives Nat this particular lesson on this particular day?</a:t>
            </a:r>
            <a:endParaRPr lang="en-US" sz="1300" dirty="0"/>
          </a:p>
        </p:txBody>
      </p:sp>
      <p:sp>
        <p:nvSpPr>
          <p:cNvPr id="9" name="Shape 7"/>
          <p:cNvSpPr/>
          <p:nvPr/>
        </p:nvSpPr>
        <p:spPr>
          <a:xfrm>
            <a:off x="365760" y="3072384"/>
            <a:ext cx="8412480" cy="914400"/>
          </a:xfrm>
          <a:prstGeom prst="roundRect">
            <a:avLst>
              <a:gd name="adj" fmla="val 10000"/>
            </a:avLst>
          </a:prstGeom>
          <a:solidFill>
            <a:srgbClr val="F8FAFC"/>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3145536"/>
            <a:ext cx="8046720" cy="768096"/>
          </a:xfrm>
          <a:prstGeom prst="rect">
            <a:avLst/>
          </a:prstGeom>
          <a:noFill/>
          <a:ln/>
        </p:spPr>
        <p:txBody>
          <a:bodyPr wrap="square" lIns="0" tIns="0" rIns="0" bIns="0" rtlCol="0" anchor="ctr"/>
          <a:lstStyle/>
          <a:p>
            <a:pPr indent="0" marL="0">
              <a:buNone/>
            </a:pPr>
            <a:r>
              <a:rPr lang="en-US" sz="1300" b="1" dirty="0">
                <a:solidFill>
                  <a:srgbClr val="55C8E8"/>
                </a:solidFill>
                <a:latin typeface="Calibri" pitchFamily="34" charset="0"/>
                <a:ea typeface="Calibri" pitchFamily="34" charset="-122"/>
                <a:cs typeface="Calibri" pitchFamily="34" charset="-120"/>
              </a:rPr>
              <a:t>3.  </a:t>
            </a:r>
            <a:pPr indent="0" marL="0">
              <a:buNone/>
            </a:pPr>
            <a:r>
              <a:rPr lang="en-US" sz="1150" dirty="0">
                <a:solidFill>
                  <a:srgbClr val="1E293B"/>
                </a:solidFill>
                <a:latin typeface="Calibri" pitchFamily="34" charset="0"/>
                <a:ea typeface="Calibri" pitchFamily="34" charset="-122"/>
                <a:cs typeface="Calibri" pitchFamily="34" charset="-120"/>
              </a:rPr>
              <a:t>At the end of Chapter 3, Nat tears the expectation slip and lets the pieces fall into the water. The narrator says he is “saying good-by to a lot of things.” What is Nat letting go of — and what does he hold onto?</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600" b="1" dirty="0">
                <a:solidFill>
                  <a:srgbClr val="0E1C42"/>
                </a:solidFill>
                <a:latin typeface="Calibri" pitchFamily="34" charset="0"/>
                <a:ea typeface="Calibri" pitchFamily="34" charset="-122"/>
                <a:cs typeface="Calibri" pitchFamily="34" charset="-120"/>
              </a:rPr>
              <a:t>✍️ Writing Connection — Research Essay</a:t>
            </a:r>
            <a:endParaRPr lang="en-US" sz="26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365760" y="841248"/>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STAGE: RESEARCH CLAIM  ·  Identify your evidence categories</a:t>
            </a:r>
            <a:endParaRPr lang="en-US" sz="1100" dirty="0"/>
          </a:p>
        </p:txBody>
      </p:sp>
      <p:sp>
        <p:nvSpPr>
          <p:cNvPr id="5" name="Shape 3"/>
          <p:cNvSpPr/>
          <p:nvPr/>
        </p:nvSpPr>
        <p:spPr>
          <a:xfrm>
            <a:off x="365760" y="1097280"/>
            <a:ext cx="8412480" cy="548640"/>
          </a:xfrm>
          <a:prstGeom prst="roundRect">
            <a:avLst>
              <a:gd name="adj" fmla="val 16667"/>
            </a:avLst>
          </a:prstGeom>
          <a:solidFill>
            <a:srgbClr val="E8F8EF"/>
          </a:solidFill>
          <a:ln/>
          <a:effectLst>
            <a:outerShdw sx="100000" sy="100000" kx="0" ky="0" algn="bl" rotWithShape="0" blurRad="101600" dist="38100" dir="2700000">
              <a:srgbClr val="000000">
                <a:alpha val="12000"/>
              </a:srgbClr>
            </a:outerShdw>
          </a:effectLst>
        </p:spPr>
      </p:sp>
      <p:sp>
        <p:nvSpPr>
          <p:cNvPr id="6" name="Text 4"/>
          <p:cNvSpPr/>
          <p:nvPr/>
        </p:nvSpPr>
        <p:spPr>
          <a:xfrm>
            <a:off x="548640" y="1152144"/>
            <a:ext cx="8046720" cy="438912"/>
          </a:xfrm>
          <a:prstGeom prst="rect">
            <a:avLst/>
          </a:prstGeom>
          <a:noFill/>
          <a:ln/>
        </p:spPr>
        <p:txBody>
          <a:bodyPr wrap="square" lIns="0" tIns="0" rIns="0" bIns="0" rtlCol="0" anchor="ctr"/>
          <a:lstStyle/>
          <a:p>
            <a:pPr indent="0" marL="0">
              <a:buNone/>
            </a:pPr>
            <a:r>
              <a:rPr lang="en-US" sz="1150" b="1" dirty="0">
                <a:solidFill>
                  <a:srgbClr val="1E293B"/>
                </a:solidFill>
                <a:latin typeface="Calibri" pitchFamily="34" charset="0"/>
                <a:ea typeface="Calibri" pitchFamily="34" charset="-122"/>
                <a:cs typeface="Calibri" pitchFamily="34" charset="-120"/>
              </a:rPr>
              <a:t>Before you can write body sections, you need to know what KINDS of evidence you’re looking for. Today you map your evidence buckets.</a:t>
            </a:r>
            <a:endParaRPr lang="en-US" sz="1150" dirty="0"/>
          </a:p>
        </p:txBody>
      </p:sp>
      <p:sp>
        <p:nvSpPr>
          <p:cNvPr id="7" name="Text 5"/>
          <p:cNvSpPr/>
          <p:nvPr/>
        </p:nvSpPr>
        <p:spPr>
          <a:xfrm>
            <a:off x="365760" y="17830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 WATCH HOW ALEX DOES IT</a:t>
            </a:r>
            <a:endParaRPr lang="en-US" sz="1100" dirty="0"/>
          </a:p>
        </p:txBody>
      </p:sp>
      <p:sp>
        <p:nvSpPr>
          <p:cNvPr id="8" name="Shape 6"/>
          <p:cNvSpPr/>
          <p:nvPr/>
        </p:nvSpPr>
        <p:spPr>
          <a:xfrm>
            <a:off x="365760" y="2029968"/>
            <a:ext cx="4114800" cy="1051560"/>
          </a:xfrm>
          <a:prstGeom prst="roundRect">
            <a:avLst>
              <a:gd name="adj" fmla="val 8696"/>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0292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BEFORE Alex’s first thought: I’ll just find examples of Nat being smart.</a:t>
            </a:r>
            <a:endParaRPr lang="en-US" sz="950" dirty="0"/>
          </a:p>
        </p:txBody>
      </p:sp>
      <p:sp>
        <p:nvSpPr>
          <p:cNvPr id="10" name="Shape 8"/>
          <p:cNvSpPr/>
          <p:nvPr/>
        </p:nvSpPr>
        <p:spPr>
          <a:xfrm>
            <a:off x="4663440" y="2029968"/>
            <a:ext cx="4114800" cy="1051560"/>
          </a:xfrm>
          <a:prstGeom prst="roundRect">
            <a:avLst>
              <a:gd name="adj" fmla="val 8696"/>
            </a:avLst>
          </a:prstGeom>
          <a:solidFill>
            <a:srgbClr val="EAF6FA"/>
          </a:solidFill>
          <a:ln/>
          <a:effectLst>
            <a:outerShdw sx="100000" sy="100000" kx="0" ky="0" algn="bl" rotWithShape="0" blurRad="101600" dist="38100" dir="2700000">
              <a:srgbClr val="000000">
                <a:alpha val="12000"/>
              </a:srgbClr>
            </a:outerShdw>
          </a:effectLst>
        </p:spPr>
      </p:sp>
      <p:sp>
        <p:nvSpPr>
          <p:cNvPr id="11" name="Text 9"/>
          <p:cNvSpPr/>
          <p:nvPr/>
        </p:nvSpPr>
        <p:spPr>
          <a:xfrm>
            <a:off x="4800600" y="2084832"/>
            <a:ext cx="3840480" cy="941832"/>
          </a:xfrm>
          <a:prstGeom prst="rect">
            <a:avLst/>
          </a:prstGeom>
          <a:noFill/>
          <a:ln/>
        </p:spPr>
        <p:txBody>
          <a:bodyPr wrap="square" lIns="0" tIns="0" rIns="0" bIns="0" rtlCol="0" anchor="t"/>
          <a:lstStyle/>
          <a:p>
            <a:pPr indent="0" marL="0">
              <a:buNone/>
            </a:pPr>
            <a:r>
              <a:rPr lang="en-US" sz="950" dirty="0">
                <a:solidFill>
                  <a:srgbClr val="1E293B"/>
                </a:solidFill>
                <a:latin typeface="Calibri" pitchFamily="34" charset="0"/>
                <a:ea typeface="Calibri" pitchFamily="34" charset="-122"/>
                <a:cs typeface="Calibri" pitchFamily="34" charset="-120"/>
              </a:rPr>
              <a:t>AFTER Alex’s evidence categories: (1) How he learned despite obstacles — chandlery years, self-education. (2) What he discovered and corrected — Moore’s Navigator errors. (3) How his work helped others — teaching sailors, the American Practical Navigator.</a:t>
            </a:r>
            <a:endParaRPr lang="en-US" sz="950" dirty="0"/>
          </a:p>
        </p:txBody>
      </p:sp>
      <p:sp>
        <p:nvSpPr>
          <p:cNvPr id="12" name="Text 10"/>
          <p:cNvSpPr/>
          <p:nvPr/>
        </p:nvSpPr>
        <p:spPr>
          <a:xfrm>
            <a:off x="365760" y="3127248"/>
            <a:ext cx="8412480" cy="457200"/>
          </a:xfrm>
          <a:prstGeom prst="rect">
            <a:avLst/>
          </a:prstGeom>
          <a:noFill/>
          <a:ln/>
        </p:spPr>
        <p:txBody>
          <a:bodyPr wrap="square" lIns="0" tIns="0" rIns="0" bIns="0"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Notice: “Examples of Nat being smart” is too vague to organize an essay. Alex’s three categories give the essay structure BEFORE any drafting happens. Each category becomes a body section.</a:t>
            </a:r>
            <a:endParaRPr lang="en-US" sz="950" dirty="0"/>
          </a:p>
        </p:txBody>
      </p:sp>
      <p:sp>
        <p:nvSpPr>
          <p:cNvPr id="13" name="Text 11"/>
          <p:cNvSpPr/>
          <p:nvPr/>
        </p:nvSpPr>
        <p:spPr>
          <a:xfrm>
            <a:off x="365760" y="3639312"/>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 TODAY’S TOOL: EVIDENCE CATEGORIES</a:t>
            </a:r>
            <a:endParaRPr lang="en-US" sz="1100" dirty="0"/>
          </a:p>
        </p:txBody>
      </p:sp>
      <p:sp>
        <p:nvSpPr>
          <p:cNvPr id="14" name="Shape 12"/>
          <p:cNvSpPr/>
          <p:nvPr/>
        </p:nvSpPr>
        <p:spPr>
          <a:xfrm>
            <a:off x="365760" y="3877056"/>
            <a:ext cx="8412480" cy="502920"/>
          </a:xfrm>
          <a:prstGeom prst="roundRect">
            <a:avLst>
              <a:gd name="adj" fmla="val 18182"/>
            </a:avLst>
          </a:prstGeom>
          <a:solidFill>
            <a:srgbClr val="F0E8FF"/>
          </a:solidFill>
          <a:ln/>
          <a:effectLst>
            <a:outerShdw sx="100000" sy="100000" kx="0" ky="0" algn="bl" rotWithShape="0" blurRad="101600" dist="38100" dir="2700000">
              <a:srgbClr val="000000">
                <a:alpha val="12000"/>
              </a:srgbClr>
            </a:outerShdw>
          </a:effectLst>
        </p:spPr>
      </p:sp>
      <p:sp>
        <p:nvSpPr>
          <p:cNvPr id="15" name="Text 13"/>
          <p:cNvSpPr/>
          <p:nvPr/>
        </p:nvSpPr>
        <p:spPr>
          <a:xfrm>
            <a:off x="548640" y="3922776"/>
            <a:ext cx="8046720" cy="411480"/>
          </a:xfrm>
          <a:prstGeom prst="rect">
            <a:avLst/>
          </a:prstGeom>
          <a:noFill/>
          <a:ln/>
        </p:spPr>
        <p:txBody>
          <a:bodyPr wrap="square" lIns="0" tIns="0" rIns="0" bIns="0" rtlCol="0" anchor="ctr"/>
          <a:lstStyle/>
          <a:p>
            <a:pPr indent="0" marL="0">
              <a:buNone/>
            </a:pPr>
            <a:r>
              <a:rPr lang="en-US" sz="1050" dirty="0">
                <a:solidFill>
                  <a:srgbClr val="1E293B"/>
                </a:solidFill>
                <a:latin typeface="Calibri" pitchFamily="34" charset="0"/>
                <a:ea typeface="Calibri" pitchFamily="34" charset="-122"/>
                <a:cs typeface="Calibri" pitchFamily="34" charset="-120"/>
              </a:rPr>
              <a:t>Map out 2–3 categories your evidence will fall into. Each category will become a body section.</a:t>
            </a:r>
            <a:endParaRPr lang="en-US" sz="1050" dirty="0"/>
          </a:p>
        </p:txBody>
      </p:sp>
      <p:sp>
        <p:nvSpPr>
          <p:cNvPr id="16" name="Text 14"/>
          <p:cNvSpPr/>
          <p:nvPr/>
        </p:nvSpPr>
        <p:spPr>
          <a:xfrm>
            <a:off x="365760" y="4462272"/>
            <a:ext cx="8046720" cy="292608"/>
          </a:xfrm>
          <a:prstGeom prst="rect">
            <a:avLst/>
          </a:prstGeom>
          <a:noFill/>
          <a:ln/>
        </p:spPr>
        <p:txBody>
          <a:bodyPr wrap="square" lIns="0" tIns="0" rIns="0" bIns="0" rtlCol="0" anchor="ctr"/>
          <a:lstStyle/>
          <a:p>
            <a:pPr indent="0" marL="0">
              <a:buNone/>
            </a:pPr>
            <a:r>
              <a:rPr lang="en-US" sz="1100" b="1" spc="200" kern="0" dirty="0">
                <a:solidFill>
                  <a:srgbClr val="34B76F"/>
                </a:solidFill>
                <a:latin typeface="Calibri" pitchFamily="34" charset="0"/>
                <a:ea typeface="Calibri" pitchFamily="34" charset="-122"/>
                <a:cs typeface="Calibri" pitchFamily="34" charset="-120"/>
              </a:rPr>
              <a:t>📝 NOW YOU TRY</a:t>
            </a:r>
            <a:endParaRPr lang="en-US" sz="1100" dirty="0"/>
          </a:p>
        </p:txBody>
      </p:sp>
      <p:sp>
        <p:nvSpPr>
          <p:cNvPr id="17" name="Shape 15"/>
          <p:cNvSpPr/>
          <p:nvPr/>
        </p:nvSpPr>
        <p:spPr>
          <a:xfrm>
            <a:off x="365760" y="4681728"/>
            <a:ext cx="8412480" cy="384048"/>
          </a:xfrm>
          <a:prstGeom prst="roundRect">
            <a:avLst>
              <a:gd name="adj" fmla="val 23810"/>
            </a:avLst>
          </a:prstGeom>
          <a:solidFill>
            <a:srgbClr val="FEF6E8"/>
          </a:solidFill>
          <a:ln/>
          <a:effectLst>
            <a:outerShdw sx="100000" sy="100000" kx="0" ky="0" algn="bl" rotWithShape="0" blurRad="101600" dist="38100" dir="2700000">
              <a:srgbClr val="000000">
                <a:alpha val="12000"/>
              </a:srgbClr>
            </a:outerShdw>
          </a:effectLst>
        </p:spPr>
      </p:sp>
      <p:sp>
        <p:nvSpPr>
          <p:cNvPr id="18" name="Text 16"/>
          <p:cNvSpPr/>
          <p:nvPr/>
        </p:nvSpPr>
        <p:spPr>
          <a:xfrm>
            <a:off x="548640" y="4700016"/>
            <a:ext cx="8046720" cy="347472"/>
          </a:xfrm>
          <a:prstGeom prst="rect">
            <a:avLst/>
          </a:prstGeom>
          <a:noFill/>
          <a:ln/>
        </p:spPr>
        <p:txBody>
          <a:bodyPr wrap="square" lIns="0" tIns="0" rIns="0" bIns="0" rtlCol="0" anchor="ctr"/>
          <a:lstStyle/>
          <a:p>
            <a:pPr indent="0" marL="0">
              <a:buNone/>
            </a:pPr>
            <a:r>
              <a:rPr lang="en-US" sz="1000" dirty="0">
                <a:solidFill>
                  <a:srgbClr val="1E293B"/>
                </a:solidFill>
                <a:latin typeface="Calibri" pitchFamily="34" charset="0"/>
                <a:ea typeface="Calibri" pitchFamily="34" charset="-122"/>
                <a:cs typeface="Calibri" pitchFamily="34" charset="-120"/>
              </a:rPr>
              <a:t>Name 2 evidence categories your essay will use. For each one, name the chapters where you expect to find the strongest evidence.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2026-07-13T16:49:16Z</dcterms:created>
  <dcterms:modified xsi:type="dcterms:W3CDTF">2026-07-13T16:49:16Z</dcterms:modified>
</cp:coreProperties>
</file>