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9.3: Chapter 3, "Word from the Pilgrim". Banner quote: “Two plus two is four. Always. Nobody’s going to shake you when you say that.” (— Nat to Hab ·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 you hold onto when everything else changes? Chapter 3 brings Nat face to face with real loss. But there’s something he holds onto — something nobody can take away. Today you’ll use what you’ve learned this week and watch Nat do the same.
Objectives:
- 🔑 Word Study: I will use the roots naut/nav/port and our vocabulary words in context.
- ✏️ Grammar: I will use appositives to combine two sentences into one.
- 🔤 Spelling: I will use the accent to sort new words and spell the quiet syllable correctly.
- 📖 Reading: I will analyze a passage from Chapter 3 to separate what rests on the record from what Latham 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news about tom perry made nat very sad
Corrected: The news about Tom Perry made Nat very sad.
What needed fixing: the → The — every sentence starts with a capital letter tom → Tom — first name, proper noun perry → Perry — last name, proper noun nat → Nat — first name (nickname for Nathaniel),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news about tom perry made nat very sad
Corrected: The news about Tom Perry made Nat very sad.
What needed fixing: the → The — every sentence starts with a capital letter tom → Tom — first name, proper noun perry → Perry — last name, proper noun nat → Nat — first name (nickname for Nathaniel),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naut / nav and port in Action — Use it — choose the right root word for each sentence.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navigator  2. astronautics  3. transport  4.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navigator
2. navigate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transport
4. nautical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Words in the World — Use it — match the right word to each sentence.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indentured = Bound by contract to work for years without pay
reckoning = Working out a ship’s position by speed and time
apprentice = A young person learning a trade from a master
almanac = A yearly book of tables, tides and star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wharf
2. chandlery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indenture
4. privateer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Use — combine sentences with an appositive.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Use — combine sentences with an appositive.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sailor  2. a merchant ship  3. a busy port  4. a minister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 was indentured to Ropes and Hodges, a ship chandlery on the waterfront.
2. Dr. Bentley, the brightest man in Salem, gave Nat a Latin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Nat studied the Principia, a book written entirely in Latin.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Apply — sort new words and show what you know.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Accent on syllable 1: almanac, latitude, mariner, quadrant
Accent on syllable 2: barometer, equator,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Identify your evidence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Identify your evidence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9  ·  DAY 3  ·  LESSON 9.3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3 — Word from the Pilgrim</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“Two plus two is four. Always. Nobody’s going to shake you when you say that.”</a:t>
            </a:r>
            <a:pPr indent="0" marL="0">
              <a:buNone/>
            </a:pPr>
            <a:r>
              <a:rPr lang="en-US" sz="1600" dirty="0">
                <a:solidFill>
                  <a:srgbClr val="55C8E8"/>
                </a:solidFill>
                <a:latin typeface="Calibri" pitchFamily="34" charset="0"/>
                <a:ea typeface="Calibri" pitchFamily="34" charset="-122"/>
                <a:cs typeface="Calibri" pitchFamily="34" charset="-120"/>
              </a:rPr>
              <a:t>  — — Nat to Hab · Chapter 3</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BIG QUESTION</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000"/>
              </a:spcAft>
              <a:buNone/>
            </a:pPr>
            <a:r>
              <a:rPr lang="en-US" sz="2300" b="1" dirty="0">
                <a:solidFill>
                  <a:srgbClr val="6B4FA8"/>
                </a:solidFill>
                <a:latin typeface="Calibri" pitchFamily="34" charset="0"/>
                <a:ea typeface="Calibri" pitchFamily="34" charset="-122"/>
                <a:cs typeface="Calibri" pitchFamily="34" charset="-120"/>
              </a:rPr>
              <a:t>What do you hold onto when everything else changes?</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Chapter 3 brings Nat face to face with real loss. But there’s something he holds onto — something nobody can take away. Today you’ll use what you’ve learned this week and watch Nat do the same.</a:t>
            </a:r>
            <a:endParaRPr lang="en-US" sz="23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Word Study: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use the roots naut/nav/port and our vocabulary words in context.</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use appositives to combine two sentences into one.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use the accent to sort new words and spell the quiet syllable correctly.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analyze a passage from Chapter 3 to separate what rests on the record from what Latham shaped.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A REAL LIFE, SHAPED BY AN AUTHOR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Today reread one passage from Chapter 3 and look at it as an author’s work. Latham had no recording of these conversations. She had letters, records and dates, and she built scenes out of them. Reread the passage and ask which parts must rest on the record, and which parts are Latham deciding how the moment should feel.</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Remember it happened: This was a real life. Ask what Latham could actually have known, and where she must be filling in.</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Watch for story shape: A biography still uses scenes, dialogue and suspense. Notice where Latham writes like a novelist.</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Separate record from craft: Ask which details are the historical record, and which are the author’s choices about how to tell it.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Nat</a:t>
            </a:r>
            <a:pPr indent="0" marL="0">
              <a:buNone/>
            </a:pPr>
            <a:r>
              <a:rPr lang="en-US" sz="2600" dirty="0">
                <a:solidFill>
                  <a:srgbClr val="1E293B"/>
                </a:solidFill>
                <a:latin typeface="Calibri" pitchFamily="34" charset="0"/>
                <a:ea typeface="Calibri" pitchFamily="34" charset="-122"/>
                <a:cs typeface="Calibri" pitchFamily="34" charset="-120"/>
              </a:rPr>
              <a:t> and </a:t>
            </a:r>
            <a:pPr indent="0" marL="0">
              <a:buNone/>
            </a:pPr>
            <a:r>
              <a:rPr lang="en-US" sz="2600" b="1" u="sng" dirty="0">
                <a:solidFill>
                  <a:srgbClr val="1E8E52"/>
                </a:solidFill>
                <a:latin typeface="Calibri" pitchFamily="34" charset="0"/>
                <a:ea typeface="Calibri" pitchFamily="34" charset="-122"/>
                <a:cs typeface="Calibri" pitchFamily="34" charset="-120"/>
              </a:rPr>
              <a:t>Lizza</a:t>
            </a:r>
            <a:pPr indent="0" marL="0">
              <a:buNone/>
            </a:pPr>
            <a:r>
              <a:rPr lang="en-US" sz="2600" dirty="0">
                <a:solidFill>
                  <a:srgbClr val="1E293B"/>
                </a:solidFill>
                <a:latin typeface="Calibri" pitchFamily="34" charset="0"/>
                <a:ea typeface="Calibri" pitchFamily="34" charset="-122"/>
                <a:cs typeface="Calibri" pitchFamily="34" charset="-120"/>
              </a:rPr>
              <a:t> visited </a:t>
            </a:r>
            <a:pPr indent="0" marL="0">
              <a:buNone/>
            </a:pPr>
            <a:r>
              <a:rPr lang="en-US" sz="2600" b="1" u="sng" dirty="0">
                <a:solidFill>
                  <a:srgbClr val="1E8E52"/>
                </a:solidFill>
                <a:latin typeface="Calibri" pitchFamily="34" charset="0"/>
                <a:ea typeface="Calibri" pitchFamily="34" charset="-122"/>
                <a:cs typeface="Calibri" pitchFamily="34" charset="-120"/>
              </a:rPr>
              <a:t>Dr. Stearns’</a:t>
            </a:r>
            <a:pPr indent="0" marL="0">
              <a:buNone/>
            </a:pPr>
            <a:r>
              <a:rPr lang="en-US" sz="2600" dirty="0">
                <a:solidFill>
                  <a:srgbClr val="1E293B"/>
                </a:solidFill>
                <a:latin typeface="Calibri" pitchFamily="34" charset="0"/>
                <a:ea typeface="Calibri" pitchFamily="34" charset="-122"/>
                <a:cs typeface="Calibri" pitchFamily="34" charset="-120"/>
              </a:rPr>
              <a:t> apothecary shop to hear news of Tom Perry.</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 is a person’s first name (a nickname for Nathaniel) — a proper noun. Names are always capitalized.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Lizza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“Lizza” is a person’s first name — a proper noun. Names always get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Dr. Stearns’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“Dr. Stearns’” is a title plus a last name. Titles before names are capitalized, “Dr.” gets a period because it is an abbreviation, and the apostrophe shows the shop belongs to him.</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news about tom perry made nat very sad</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news about tom perry made nat very sad</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news about Tom Perry made Nat very sad.</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What needed fixing: the → The — every sentence starts with a capital letter tom → Tom — first name, proper noun perry → Perry — last name, proper noun nat → Nat — first name (nickname for Nathaniel), proper noun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400" dirty="0">
                <a:solidFill>
                  <a:srgbClr val="1E293B"/>
                </a:solidFill>
                <a:latin typeface="Calibri" pitchFamily="34" charset="0"/>
                <a:ea typeface="Calibri" pitchFamily="34" charset="-122"/>
                <a:cs typeface="Calibri" pitchFamily="34" charset="-120"/>
              </a:rPr>
              <a:t>Master Watson calls Nat "too little" for big problems, and later Nat tells Hab that two plus two is four, always. Which matters more to Nat in Chapter 3: proving he can do hard work, or finding something that can't be taken from him? Defend your answer with evidence.</a:t>
            </a:r>
            <a:endParaRPr lang="en-US" sz="24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Master Watson calls Nat "too little" for big problems, and later Nat tells Hab that two plus two is four, always. Which matters more to Nat in Chapter 3: proving he can do hard work, or finding something that can't be taken from him? Defend your answer with evidence.</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You’ve learned the roots naut / nav (ship, sailor, guide) and port (carry). Now put them to work. Read each sentence below and click the word that best fits the blank. Think about which root it contains and what the sentence needs.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naut / nav = ship, sail. port = carry.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the right word. The root tells you which one fits.</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navigator · astronautics · transport · port</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sailor who guides a ship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Space travel by ship is called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carry goods from one place to another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harbour where ships load and unload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sailor who guides a ship is a </a:t>
            </a:r>
            <a:pPr indent="0" marL="0">
              <a:buNone/>
            </a:pPr>
            <a:r>
              <a:rPr lang="en-US" sz="2200" b="1" dirty="0">
                <a:solidFill>
                  <a:srgbClr val="1E8E52"/>
                </a:solidFill>
                <a:latin typeface="Calibri" pitchFamily="34" charset="0"/>
                <a:ea typeface="Calibri" pitchFamily="34" charset="-122"/>
                <a:cs typeface="Calibri" pitchFamily="34" charset="-120"/>
              </a:rPr>
              <a:t>navigator</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Space travel by ship is called </a:t>
            </a:r>
            <a:pPr indent="0" marL="0">
              <a:buNone/>
            </a:pPr>
            <a:r>
              <a:rPr lang="en-US" sz="2200" b="1" dirty="0">
                <a:solidFill>
                  <a:srgbClr val="1E8E52"/>
                </a:solidFill>
                <a:latin typeface="Calibri" pitchFamily="34" charset="0"/>
                <a:ea typeface="Calibri" pitchFamily="34" charset="-122"/>
                <a:cs typeface="Calibri" pitchFamily="34" charset="-120"/>
              </a:rPr>
              <a:t>astronautics</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carry goods from one place to another is to </a:t>
            </a:r>
            <a:pPr indent="0" marL="0">
              <a:buNone/>
            </a:pPr>
            <a:r>
              <a:rPr lang="en-US" sz="2200" b="1" dirty="0">
                <a:solidFill>
                  <a:srgbClr val="1E8E52"/>
                </a:solidFill>
                <a:latin typeface="Calibri" pitchFamily="34" charset="0"/>
                <a:ea typeface="Calibri" pitchFamily="34" charset="-122"/>
                <a:cs typeface="Calibri" pitchFamily="34" charset="-120"/>
              </a:rPr>
              <a:t>transport</a:t>
            </a:r>
            <a:pPr indent="0" marL="0">
              <a:buNone/>
            </a:pPr>
            <a:r>
              <a:rPr lang="en-US" sz="2200" dirty="0">
                <a:solidFill>
                  <a:srgbClr val="1E293B"/>
                </a:solidFill>
                <a:latin typeface="Calibri" pitchFamily="34" charset="0"/>
                <a:ea typeface="Calibri" pitchFamily="34" charset="-122"/>
                <a:cs typeface="Calibri" pitchFamily="34" charset="-120"/>
              </a:rPr>
              <a:t> them.</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A harbour where ships load and unload is a </a:t>
            </a:r>
            <a:pPr indent="0" marL="0">
              <a:buNone/>
            </a:pPr>
            <a:r>
              <a:rPr lang="en-US" sz="2200" b="1" dirty="0">
                <a:solidFill>
                  <a:srgbClr val="1E8E52"/>
                </a:solidFill>
                <a:latin typeface="Calibri" pitchFamily="34" charset="0"/>
                <a:ea typeface="Calibri" pitchFamily="34" charset="-122"/>
                <a:cs typeface="Calibri" pitchFamily="34" charset="-120"/>
              </a:rPr>
              <a:t>port</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Captain Bowditch was a skilled _____________ who could read the stars to find his position at sea.</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narrator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transporter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The ship had to _____________ carefully around the dangerous rocks near the harbor mouth.</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narrate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negotiate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Captain Bowditch was a skilled _____________ who could read the stars to find his position at sea.</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navigator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narrator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transporter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The ship had to _____________ carefully around the dangerous rocks near the harbor mouth.</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narrate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negotiate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The dock workers used a cart to _____________ the heavy barrels from the ship to the chandlery.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translate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negotiate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Nat read every _____________ chart he could find — maps of the ocean floor, the tides, and the currents.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nautical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natural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national</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CHOOSE THE RIGHT ROOT WORD FOR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in Action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The dock workers used a cart to _____________ the heavy barrels from the ship to the chandlery.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translate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negotiate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Nat read every _____________ chart he could find — maps of the ocean floor, the tides, and the currents.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nautical</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natural</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national</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the word from our unit vocabulary that best completes each sentence. Think about what the sentence is describing — then find the word whose meaning fits exactly.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Word bank: privateer • chandlery • wharf • cooperage • expectation • indenture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Match each word to the sentence it belongs in.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indentured</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A young person learning a trade from a master</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reckoning</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A yearly book of tables, tides and star positions</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apprentice</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Bound by contract to work for years without pay</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almanac</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Working out a ship’s position by speed and time</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indentured  =  </a:t>
            </a:r>
            <a:pPr indent="0" marL="0">
              <a:buNone/>
            </a:pPr>
            <a:r>
              <a:rPr lang="en-US" sz="2000" dirty="0">
                <a:solidFill>
                  <a:srgbClr val="1E293B"/>
                </a:solidFill>
                <a:latin typeface="Calibri" pitchFamily="34" charset="0"/>
                <a:ea typeface="Calibri" pitchFamily="34" charset="-122"/>
                <a:cs typeface="Calibri" pitchFamily="34" charset="-120"/>
              </a:rPr>
              <a:t>Bound by contract to work for years without pay</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reckoning  =  </a:t>
            </a:r>
            <a:pPr indent="0" marL="0">
              <a:buNone/>
            </a:pPr>
            <a:r>
              <a:rPr lang="en-US" sz="2000" dirty="0">
                <a:solidFill>
                  <a:srgbClr val="1E293B"/>
                </a:solidFill>
                <a:latin typeface="Calibri" pitchFamily="34" charset="0"/>
                <a:ea typeface="Calibri" pitchFamily="34" charset="-122"/>
                <a:cs typeface="Calibri" pitchFamily="34" charset="-120"/>
              </a:rPr>
              <a:t>Working out a ship’s position by speed and time</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apprentice  =  </a:t>
            </a:r>
            <a:pPr indent="0" marL="0">
              <a:buNone/>
            </a:pPr>
            <a:r>
              <a:rPr lang="en-US" sz="2000" dirty="0">
                <a:solidFill>
                  <a:srgbClr val="1E293B"/>
                </a:solidFill>
                <a:latin typeface="Calibri" pitchFamily="34" charset="0"/>
                <a:ea typeface="Calibri" pitchFamily="34" charset="-122"/>
                <a:cs typeface="Calibri" pitchFamily="34" charset="-120"/>
              </a:rPr>
              <a:t>A young person learning a trade from a master</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almanac  =  </a:t>
            </a:r>
            <a:pPr indent="0" marL="0">
              <a:buNone/>
            </a:pPr>
            <a:r>
              <a:rPr lang="en-US" sz="2000" dirty="0">
                <a:solidFill>
                  <a:srgbClr val="1E293B"/>
                </a:solidFill>
                <a:latin typeface="Calibri" pitchFamily="34" charset="0"/>
                <a:ea typeface="Calibri" pitchFamily="34" charset="-122"/>
                <a:cs typeface="Calibri" pitchFamily="34" charset="-120"/>
              </a:rPr>
              <a:t>A yearly book of tables, tides and star positions</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Ships tied up at the _____________ each morning to unload barrels of salt fish and bales of rope.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chandlery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wharf</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cooperage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At the _____________, sailors could buy candles, tar, and rope — everything a ship needed to sail.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chandlery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cooperage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privateer</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Ships tied up at the _____________ each morning to unload barrels of salt fish and bales of rope.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chandlery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wharf</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cooperage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At the _____________, sailors could buy candles, tar, and rope — everything a ship needed to sail.</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chandlery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cooperage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privateer</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Nat signed the _____________ that bound him to work at Ropes &amp; Hodges for nine years — a legal agreement he could not break.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expectation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privateer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indenture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Tom Perry sailed on a _____________ — a privately owned ship carrying a government license to attack enemy vessels during wartime.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privateer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indenture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expectation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IT — MATCH THE RIGHT WORD TO EACH SENTENCE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Words in the World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Nat signed the _____________ that bound him to work at Ropes &amp; Hodges for nine years — a legal agreement he could not break.</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expectation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privateer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indenture</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Tom Perry sailed on a _____________ — a privately owned ship carrying a government license to attack enemy vessels during wartime.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privateer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indenture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expectation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find the extra piece and the punctuation holding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Quick Reminder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Two sentences: Nat was indentured to Ropes and Hodges. It was a ship chandlery on the waterfront.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One sentence, with an appositive: Nat was indentured to Ropes and Hodges, a ship chandlery on the waterfront.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Nothing was lost. One whole sentence disappeared — and the commas are what tell the reader the phrase is an aside.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use them. Chapter 3 is crowded with people the reader has to be told about fast — Master Watson, Dr. Stearns, Dr. Prince, Dr. Holyoke. That is exactly the job an appositive does: one sentence instead of two, with the fact tucked in between commas.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An appositive renames the noun beside it, and sits between commas.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Nathaniel Bowditch was a sailor. He taught himself Latin.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Nathaniel Bowditch, a sailor, taught himself Latin.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Two sentences became one. a sailor renames Nathaniel and takes a comma on each side.</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a sailor · a merchant ship · a busy port · a minister</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Nathaniel Bowditch,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taught himself Latin.</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Henry,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sailed for the Isle of Bourbon.</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Salem,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sent ships around the world.</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Dr. Bentley,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gave Nat a Latin grammar.</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Nathaniel Bowditch, </a:t>
            </a:r>
            <a:pPr indent="0" marL="0">
              <a:buNone/>
            </a:pPr>
            <a:r>
              <a:rPr lang="en-US" sz="2200" b="1" dirty="0">
                <a:solidFill>
                  <a:srgbClr val="1E8E52"/>
                </a:solidFill>
                <a:latin typeface="Calibri" pitchFamily="34" charset="0"/>
                <a:ea typeface="Calibri" pitchFamily="34" charset="-122"/>
                <a:cs typeface="Calibri" pitchFamily="34" charset="-120"/>
              </a:rPr>
              <a:t>a sailor</a:t>
            </a:r>
            <a:pPr indent="0" marL="0">
              <a:buNone/>
            </a:pPr>
            <a:r>
              <a:rPr lang="en-US" sz="2200" dirty="0">
                <a:solidFill>
                  <a:srgbClr val="1E293B"/>
                </a:solidFill>
                <a:latin typeface="Calibri" pitchFamily="34" charset="0"/>
                <a:ea typeface="Calibri" pitchFamily="34" charset="-122"/>
                <a:cs typeface="Calibri" pitchFamily="34" charset="-120"/>
              </a:rPr>
              <a:t>, taught himself Latin.</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Henry, </a:t>
            </a:r>
            <a:pPr indent="0" marL="0">
              <a:buNone/>
            </a:pPr>
            <a:r>
              <a:rPr lang="en-US" sz="2200" b="1" dirty="0">
                <a:solidFill>
                  <a:srgbClr val="1E8E52"/>
                </a:solidFill>
                <a:latin typeface="Calibri" pitchFamily="34" charset="0"/>
                <a:ea typeface="Calibri" pitchFamily="34" charset="-122"/>
                <a:cs typeface="Calibri" pitchFamily="34" charset="-120"/>
              </a:rPr>
              <a:t>a merchant ship</a:t>
            </a:r>
            <a:pPr indent="0" marL="0">
              <a:buNone/>
            </a:pPr>
            <a:r>
              <a:rPr lang="en-US" sz="2200" dirty="0">
                <a:solidFill>
                  <a:srgbClr val="1E293B"/>
                </a:solidFill>
                <a:latin typeface="Calibri" pitchFamily="34" charset="0"/>
                <a:ea typeface="Calibri" pitchFamily="34" charset="-122"/>
                <a:cs typeface="Calibri" pitchFamily="34" charset="-120"/>
              </a:rPr>
              <a:t>, sailed for the Isle of Bourbon.</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Salem, </a:t>
            </a:r>
            <a:pPr indent="0" marL="0">
              <a:buNone/>
            </a:pPr>
            <a:r>
              <a:rPr lang="en-US" sz="2200" b="1" dirty="0">
                <a:solidFill>
                  <a:srgbClr val="1E8E52"/>
                </a:solidFill>
                <a:latin typeface="Calibri" pitchFamily="34" charset="0"/>
                <a:ea typeface="Calibri" pitchFamily="34" charset="-122"/>
                <a:cs typeface="Calibri" pitchFamily="34" charset="-120"/>
              </a:rPr>
              <a:t>a busy port</a:t>
            </a:r>
            <a:pPr indent="0" marL="0">
              <a:buNone/>
            </a:pPr>
            <a:r>
              <a:rPr lang="en-US" sz="2200" dirty="0">
                <a:solidFill>
                  <a:srgbClr val="1E293B"/>
                </a:solidFill>
                <a:latin typeface="Calibri" pitchFamily="34" charset="0"/>
                <a:ea typeface="Calibri" pitchFamily="34" charset="-122"/>
                <a:cs typeface="Calibri" pitchFamily="34" charset="-120"/>
              </a:rPr>
              <a:t>, sent ships around the world.</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Dr. Bentley, </a:t>
            </a:r>
            <a:pPr indent="0" marL="0">
              <a:buNone/>
            </a:pPr>
            <a:r>
              <a:rPr lang="en-US" sz="2200" b="1" dirty="0">
                <a:solidFill>
                  <a:srgbClr val="1E8E52"/>
                </a:solidFill>
                <a:latin typeface="Calibri" pitchFamily="34" charset="0"/>
                <a:ea typeface="Calibri" pitchFamily="34" charset="-122"/>
                <a:cs typeface="Calibri" pitchFamily="34" charset="-120"/>
              </a:rPr>
              <a:t>a minister</a:t>
            </a:r>
            <a:pPr indent="0" marL="0">
              <a:buNone/>
            </a:pPr>
            <a:r>
              <a:rPr lang="en-US" sz="2200" dirty="0">
                <a:solidFill>
                  <a:srgbClr val="1E293B"/>
                </a:solidFill>
                <a:latin typeface="Calibri" pitchFamily="34" charset="0"/>
                <a:ea typeface="Calibri" pitchFamily="34" charset="-122"/>
                <a:cs typeface="Calibri" pitchFamily="34" charset="-120"/>
              </a:rPr>
              <a:t>, gave Nat a Latin grammar.</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Two sentences: “Nat was indentured to Ropes and Hodges. It was a ship chandlery on the waterfront.” Which version combines them with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was indentured to Ropes and Hodges, a ship chandlery on the waterfront.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was indentured to Ropes and Hodges and it was a ship chandlery on the waterfront.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Two sentences: “Dr. Bentley gave Nat a Latin grammar. Dr. Bentley was the brightest man in Salem.” Which version combines them with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Dr. Bentley gave Nat a Latin grammar because he was the brightest man in Salem.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Dr. Bentley, the brightest man in Salem, gave Nat a Latin grammar.</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Two sentences: “Nat was indentured to Ropes and Hodges. It was a ship chandlery on the waterfront.” Which version combines them with an appositive?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 was indentured to Ropes and Hodges, a ship chandlery on the waterfront.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 was indentured to Ropes and Hodges and it was a ship chandlery on the waterfront.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Two sentences: “Dr. Bentley gave Nat a Latin grammar. Dr. Bentley was the brightest man in Salem.” Which version combines them with an appositive?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Dr. Bentley gave Nat a Latin grammar because he was the brightest man in Salem.</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Dr. Bentley, the brightest man in Salem, gave Nat a Latin grammar.</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727448"/>
          </a:xfrm>
          <a:prstGeom prst="roundRect">
            <a:avLst>
              <a:gd name="adj" fmla="val 1547"/>
            </a:avLst>
          </a:prstGeom>
          <a:solidFill>
            <a:srgbClr val="F8FAFC"/>
          </a:solidFill>
          <a:ln w="15875">
            <a:solidFill>
              <a:srgbClr val="CBD5E1"/>
            </a:solidFill>
            <a:prstDash val="solid"/>
          </a:ln>
        </p:spPr>
      </p:sp>
      <p:sp>
        <p:nvSpPr>
          <p:cNvPr id="9" name="Text 7"/>
          <p:cNvSpPr/>
          <p:nvPr/>
        </p:nvSpPr>
        <p:spPr>
          <a:xfrm>
            <a:off x="731520" y="1627632"/>
            <a:ext cx="10728655" cy="458114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Two sentences: “Nat studied the Principia. The Principia was written entirely in Latin.” Which version combines them with an appositive?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studied the Principia, a book written entirely in Latin.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studied the Principia; it was written entirely in Latin.</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COMBINE SENTENCES WITH AN APPOSITIVE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727448"/>
          </a:xfrm>
          <a:prstGeom prst="roundRect">
            <a:avLst>
              <a:gd name="adj" fmla="val 1547"/>
            </a:avLst>
          </a:prstGeom>
          <a:solidFill>
            <a:srgbClr val="F8FAFC"/>
          </a:solidFill>
          <a:ln w="15875">
            <a:solidFill>
              <a:srgbClr val="CBD5E1"/>
            </a:solidFill>
            <a:prstDash val="solid"/>
          </a:ln>
        </p:spPr>
      </p:sp>
      <p:sp>
        <p:nvSpPr>
          <p:cNvPr id="9" name="Text 7"/>
          <p:cNvSpPr/>
          <p:nvPr/>
        </p:nvSpPr>
        <p:spPr>
          <a:xfrm>
            <a:off x="731520" y="1627632"/>
            <a:ext cx="10728655" cy="458114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Two sentences: “Nat studied the Principia. The Principia was written entirely in Latin.” Which version combines them with an appositive?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 studied the Principia, a book written entirely in Latin.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 studied the Principia; it was written entirely in Latin.</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APPLY — SORT NEW WORDS AND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lazy beat and notice its vowel is not what it looks like.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Remember the rule: one syllable takes the stress; the rest flatten toward the schwa. Sort the new words below by where the accent sits.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Now apply it to words you have not sorted yet. Chapter 3 puts Nat in Master Watson’s schoolroom and Dr. Stearns’ apothecary shop, in a town full of ships. Sort each word by where its accent falls, then write about what happens to the syllables that lose out.</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APPLY — SORT NEW WORDS AND SHOW WHAT YOU KNOW</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almanac     ·     barometer     ·     equator     ·     horizon     ·     latitude     ·     mariner     ·     quadrant</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1</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2</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APPLY — SORT NEW WORDS AND SHOW WHAT YOU KNOW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1</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almanac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latitude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mariner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quadrant</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2</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barometer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equator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horizon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Write two sentences about something Nat experiences in Chapter 3. In the first, use a word whose accent falls on the first syllable (mariner, almanac, latitude, quadrant). In the second, use a word whose accent falls on the second (horizon, equator, barometer).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Two sentences tied to Chapter 3. Mark the accented syllable in each of the two words you chose, and circle any vowel that has collapsed into a schwa.</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3</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“When anyone asked about April 19, 1775, the Battle of Lexington would be the right answer — no matter what else happened on that day.”</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April 19, 1775 is also the day something happened in Nat’s own family. Latham is pointing out that one date can belong to history and to a single household at the same time. Which answer does the world keep, and which one does Nat keep?</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This sentence is about how chronology gets organised, and it argues with itself. The main clause gives the official answer. Then the dash adds no matter what else happened on that day, which quietly admits the official answer leaves things out. When you organise writing by date, you are choosing what the date is for.</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that names a date and the event history remembers it for, then use a dash to add what that official answer leaves out. No frame this time — you have the shape.</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3 — “WORD FROM THE PILGRIM”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3 — Word from the Pilgrim</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 starts school — and surprises everyone. Then Nat goes to Dr. Stearns’ shop for news that changes everything. At the end, Nat stands at the water with something small in his hands.</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3</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&amp; Think — Stop 1: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Master Watson refuses to give Nat big problems because he is “too little.” What does Nat do? What does his response tell you about how he thinks about learning and difficulty?</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&amp; Think — Stop 2: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At the end of Chapter 3, the narrator says: “He was saying good-by to a lot of things.” What do you think Nat is saying goodbye to? And what is he holding onto?</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1.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When Master Watson says Nat is “too little” for big problems, what does Nat do next? What does his response reveal about how he approaches learning?</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2.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After Master Watson shakes him for his answer about April 19, 1775, Nat tells Hab: “Two plus two is four. Always. Nobody’s going to shake you when you say that.” What does Nat mean? Why does arithmetic appeal to him at this moment?</a:t>
            </a:r>
            <a:endParaRPr lang="en-US" sz="2200" dirty="0"/>
          </a:p>
          <a:p>
            <a:pPr indent="0" marL="0">
              <a:spcAft>
                <a:spcPts val="1000"/>
              </a:spcAft>
              <a:buNone/>
            </a:pPr>
            <a:r>
              <a:rPr lang="en-US" sz="2200" b="1" dirty="0">
                <a:solidFill>
                  <a:srgbClr val="C7922C"/>
                </a:solidFill>
                <a:latin typeface="Calibri" pitchFamily="34" charset="0"/>
                <a:ea typeface="Calibri" pitchFamily="34" charset="-122"/>
                <a:cs typeface="Calibri" pitchFamily="34" charset="-120"/>
              </a:rPr>
              <a:t>3.  </a:t>
            </a:r>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At the end of Chapter 3, Nat tears the expectation slip and lets the pieces fall into the water. The narrator says he is “saying good-by to a lot of things.” What is Nat letting go of — and what does he hold onto?</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IDENTIFY YOUR EVIDENCE CATEGORIES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Before you can write body sections, you need to know what KINDS of evidence you’re looking for. Today you map your evidence buckets.</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thinks about what categories of evidence will appear in the book. BEFORE Alex’s first thought: I’ll just find examples of Nat being smart. AFTER Alex’s evidence categories: (1) How he learned despite obstacles — chandlery years, self-education. (2) What he discovered and corrected — Moore’s Navigator errors. (3) How his work helped others — teaching sailors, the American Practical Navigator. Notice: “Examples of Nat being smart” is too vague to organize an essay. Alex’s three categories give the essay structure BEFORE any drafting happens. Each category becomes a body section.</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IDENTIFY YOUR EVIDENCE CATEGORIES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Evidence Categories: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Map out 2–3 categories your evidence will fall into. Each category will become a body section. Alex’s example (filled): Category 1 How he learned despite obstacles Chs. 5–8 mainly Category 2 What he discovered and corrected Chs. 13–16 mainly Category 3 How his work transformed navigation Chs. 16–24 mainly Your turn — do the same in your reading journal: My Category 1: ____________________ Where I expect to find evidence: Chapters ___ My Category 2: ____________________ Where I expect to find evidence: Chapters 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“One quality that supports my claim is ___.” “Evidence for this appears in chapters ___ when Nat ___.” “A second type of evidence comes from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9.3 — Carry On, Mr. Bowditch, Chapter 3</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