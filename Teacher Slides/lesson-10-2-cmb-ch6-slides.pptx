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10.2: Chapter 6, "Sail by Ash Breeze!". Banner quote: “Only a weakling gives up when he’s becalmed! A strong man sails by ash breeze!” (Sam Smith • Chapter 6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 you do when the wind dies? Nat is indentured for nine years. No Harvard. No wind in his sails. Chapter 6 gives him — and you — a philosophy for exactly that moment: sail by ash breeze. When you can’t go by wind, you row.
Objectives:
- 🌱 Morphology: Identify graph/gram/scribe roots in new words.
- ✏️ Grammar SWYK: Identify tense shifts and write the correction.
- 🔤 Spelling: I will identify which ending a verb calls for.
- 📖 Reading: I will identify the problem Chapter 6 puts in front of Nat and the action he takes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wrote down everything sam smith told him and fills his notebook
Corrected: Nat wrote down everything Sam Smith told him and filled his notebook.
Three fixes: “Nat” capitalized; “Sam Smith” both words capitalized (first + last name); “fills” → “filled” (tense shift: “wrote” is past, so “fills” must become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wrote down everything sam smith told him and fills his notebook
Corrected: Nat wrote down everything Sam Smith told him and filled his notebook.
Three fixes: “Nat” capitalized; “Sam Smith” both words capitalized (first + last name); “fills” → “filled” (tense shift: “wrote” is past, so “fills” must become “filled”).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
Henry Wadsworth Longfellow was a New England poet who grew up just one generation after Nat Bowditch. He understood something about what it means to keep rowing when there is no wind. Write your response in your reading journal. No digital textbox needed for poetry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 and answer someone who disagrees.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Could I combine two of these sentences to make my thinking clearer?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graph / gram / scribe — Identify — which root is doing the work?.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paragraph = graph — a block of writing
telegram = gram — the message that arrives
transcribe = scribe — to write across into a new form
grammar = gram — the rules of what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Word Sort — Identify — sort this week’s words by category.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Mathematics &amp; Scholarship: bookkeeping, logarithm, almanac, apprentice
Ships &amp; the Sea: latitude, celestial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Identify Tense Shifts — Show What You Know — spot and fix errors in informational writing.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Tense shift — “masters” should be “mastered” — sp1
2. Consistent past tense ✓ — sp2
3. Tense shift — “use” should be “used” — sp3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Identify — -er or -or?.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sentence aloud twice. Work through Reader → Writer → Mimic.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their own sentence in the reading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Choose evidence for Body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Choose evidence for Body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10  ·  DAY 2  ·  LESSON 10.2</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6 — Sail by Ash Breeze!</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“Only a weakling gives up when he’s becalmed! A strong man sails by ash breeze!”</a:t>
            </a:r>
            <a:pPr indent="0" marL="0">
              <a:buNone/>
            </a:pPr>
            <a:r>
              <a:rPr lang="en-US" sz="1600" dirty="0">
                <a:solidFill>
                  <a:srgbClr val="55C8E8"/>
                </a:solidFill>
                <a:latin typeface="Calibri" pitchFamily="34" charset="0"/>
                <a:ea typeface="Calibri" pitchFamily="34" charset="-122"/>
                <a:cs typeface="Calibri" pitchFamily="34" charset="-120"/>
              </a:rPr>
              <a:t>  — Sam Smith • Chapter 6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BIG IDEA</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000"/>
              </a:spcAft>
              <a:buNone/>
            </a:pPr>
            <a:r>
              <a:rPr lang="en-US" sz="2300" b="1" dirty="0">
                <a:solidFill>
                  <a:srgbClr val="6B4FA8"/>
                </a:solidFill>
                <a:latin typeface="Calibri" pitchFamily="34" charset="0"/>
                <a:ea typeface="Calibri" pitchFamily="34" charset="-122"/>
                <a:cs typeface="Calibri" pitchFamily="34" charset="-120"/>
              </a:rPr>
              <a:t>What do you do when the wind dies?</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Nat is indentured for nine years. No Harvard. No wind in his sails. Chapter 6 gives him — and you — a philosophy for exactly that moment: sail by ash breeze. When you can’t go by wind, you row.</a:t>
            </a:r>
            <a:endParaRPr lang="en-US" sz="23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graph/gram/scribe roots in new words.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SWYK: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Identify tense shifts and write the correction.</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which ending a verb calls for.</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identify the problem Chapter 6 puts in front of Nat and the action he takes about it.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PROBLEM AND THE RESPONSE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closely and gather evidence. Chapter 6 hands Nat both a problem and a way of meeting it — sail by ash breeze, which means rowing when the wind dies. Notice what he does immediately after he hears it. In a life story, advice only counts once you can see it turn into an action.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problem: For each event, say plainly what problem it puts in front of Nat.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what he does with it: Look for the specific action he takes. A life story turns on what a person does next.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Follow the consequence forward: Ask what this makes possible later. A life story is a chain, not a 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Who explains the “ash breeze” philosophy, and what is the literal meaning (what do sailors actually do when there is no wind)?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CLOSELY FOR THE PROBLEM AND THE RESPONSE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Nat apply this idea to his own situation at Ropes and Hodges?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Nat do with the notebook Mr. Hodges gives him? What is his “ash breeze”?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Nat</a:t>
            </a:r>
            <a:pPr indent="0" marL="0">
              <a:buNone/>
            </a:pPr>
            <a:r>
              <a:rPr lang="en-US" sz="2600" dirty="0">
                <a:solidFill>
                  <a:srgbClr val="1E293B"/>
                </a:solidFill>
                <a:latin typeface="Calibri" pitchFamily="34" charset="0"/>
                <a:ea typeface="Calibri" pitchFamily="34" charset="-122"/>
                <a:cs typeface="Calibri" pitchFamily="34" charset="-120"/>
              </a:rPr>
              <a:t> </a:t>
            </a:r>
            <a:pPr indent="0" marL="0">
              <a:buNone/>
            </a:pPr>
            <a:r>
              <a:rPr lang="en-US" sz="2600" b="1" u="sng" dirty="0">
                <a:solidFill>
                  <a:srgbClr val="1E8E52"/>
                </a:solidFill>
                <a:latin typeface="Calibri" pitchFamily="34" charset="0"/>
                <a:ea typeface="Calibri" pitchFamily="34" charset="-122"/>
                <a:cs typeface="Calibri" pitchFamily="34" charset="-120"/>
              </a:rPr>
              <a:t>was</a:t>
            </a:r>
            <a:pPr indent="0" marL="0">
              <a:buNone/>
            </a:pPr>
            <a:r>
              <a:rPr lang="en-US" sz="2600" dirty="0">
                <a:solidFill>
                  <a:srgbClr val="1E293B"/>
                </a:solidFill>
                <a:latin typeface="Calibri" pitchFamily="34" charset="0"/>
                <a:ea typeface="Calibri" pitchFamily="34" charset="-122"/>
                <a:cs typeface="Calibri" pitchFamily="34" charset="-120"/>
              </a:rPr>
              <a:t> busy at his desk behind the counter, </a:t>
            </a:r>
            <a:pPr indent="0" marL="0">
              <a:buNone/>
            </a:pPr>
            <a:r>
              <a:rPr lang="en-US" sz="2600" b="1" u="sng" dirty="0">
                <a:solidFill>
                  <a:srgbClr val="1E8E52"/>
                </a:solidFill>
                <a:latin typeface="Calibri" pitchFamily="34" charset="0"/>
                <a:ea typeface="Calibri" pitchFamily="34" charset="-122"/>
                <a:cs typeface="Calibri" pitchFamily="34" charset="-120"/>
              </a:rPr>
              <a:t>writing things in his notebook.</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 is a proper noun — always capitalized.</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was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"was" is past tense. It sets the time frame for the whole sentence. Good writers keep tense consistent.</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writing things in his notebook.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"writing things in his notebook" tells what Nat was doing at that same past moment. The whole sentence stays in one time frame.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wrote down everything sam smith told him and fills his notebook</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wrote down everything sam smith told him and fills his notebook</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Nat wrote down everything Sam Smith told him and filled his notebook.</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Three fixes: “Nat” capitalized; “Sam Smith” both words capitalized (first + last name); “fills” → “filled” (tense shift: “wrote” is past, so “fills” must become “filled”).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FROM “A PSALM OF LIFE”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Poetry Corner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6035040"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691640"/>
            <a:ext cx="5577840" cy="365760"/>
          </a:xfrm>
          <a:prstGeom prst="rect">
            <a:avLst/>
          </a:prstGeom>
          <a:noFill/>
          <a:ln/>
        </p:spPr>
        <p:txBody>
          <a:bodyPr wrap="square" lIns="0" tIns="0" rIns="0" bIns="0" rtlCol="0" anchor="ctr"/>
          <a:lstStyle/>
          <a:p>
            <a:pPr indent="0" marL="0">
              <a:buNone/>
            </a:pPr>
            <a:r>
              <a:rPr lang="en-US" sz="1500" i="1" dirty="0">
                <a:solidFill>
                  <a:srgbClr val="475569"/>
                </a:solidFill>
                <a:latin typeface="Calibri" pitchFamily="34" charset="0"/>
                <a:ea typeface="Calibri" pitchFamily="34" charset="-122"/>
                <a:cs typeface="Calibri" pitchFamily="34" charset="-120"/>
              </a:rPr>
              <a:t>Henry Wadsworth Longfellow, 1838 — public domain</a:t>
            </a:r>
            <a:endParaRPr lang="en-US" sz="1500" dirty="0"/>
          </a:p>
        </p:txBody>
      </p:sp>
      <p:sp>
        <p:nvSpPr>
          <p:cNvPr id="8" name="Text 6"/>
          <p:cNvSpPr/>
          <p:nvPr/>
        </p:nvSpPr>
        <p:spPr>
          <a:xfrm>
            <a:off x="731520" y="2103120"/>
            <a:ext cx="5577840" cy="4206240"/>
          </a:xfrm>
          <a:prstGeom prst="rect">
            <a:avLst/>
          </a:prstGeom>
          <a:noFill/>
          <a:ln/>
        </p:spPr>
        <p:txBody>
          <a:bodyPr wrap="square" lIns="0" tIns="0" rIns="0" bIns="0" rtlCol="0" anchor="t">
            <a:normAutofit/>
          </a:bodyPr>
          <a:lstStyle/>
          <a:p>
            <a:pPr indent="0" marL="0">
              <a:buNone/>
            </a:pPr>
            <a:r>
              <a:rPr lang="en-US" sz="1700" i="1" dirty="0">
                <a:solidFill>
                  <a:srgbClr val="1E293B"/>
                </a:solidFill>
                <a:latin typeface="Georgia" pitchFamily="34" charset="0"/>
                <a:ea typeface="Georgia" pitchFamily="34" charset="-122"/>
                <a:cs typeface="Georgia" pitchFamily="34" charset="-120"/>
              </a:rPr>
              <a:t>Lives of great men all remind us</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We can make our lives sublime,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And, departing, leave behind us</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Footprints on the sands of time;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Let us, then, be up and doing,</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With a heart for any fate;</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Still achieving, still pursuing,</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 </a:t>
            </a:r>
            <a:endParaRPr lang="en-US" sz="1700" dirty="0"/>
          </a:p>
          <a:p>
            <a:pPr indent="0" marL="0">
              <a:buNone/>
            </a:pPr>
            <a:r>
              <a:rPr lang="en-US" sz="1700" i="1" dirty="0">
                <a:solidFill>
                  <a:srgbClr val="1E293B"/>
                </a:solidFill>
                <a:latin typeface="Georgia" pitchFamily="34" charset="0"/>
                <a:ea typeface="Georgia" pitchFamily="34" charset="-122"/>
                <a:cs typeface="Georgia" pitchFamily="34" charset="-120"/>
              </a:rPr>
              <a:t>Learn to labor and to wait.</a:t>
            </a:r>
            <a:endParaRPr lang="en-US" sz="1700" dirty="0"/>
          </a:p>
        </p:txBody>
      </p:sp>
      <p:sp>
        <p:nvSpPr>
          <p:cNvPr id="9" name="Shape 7"/>
          <p:cNvSpPr/>
          <p:nvPr/>
        </p:nvSpPr>
        <p:spPr>
          <a:xfrm>
            <a:off x="6812280" y="1554480"/>
            <a:ext cx="4876495" cy="4892040"/>
          </a:xfrm>
          <a:prstGeom prst="roundRect">
            <a:avLst>
              <a:gd name="adj" fmla="val 1500"/>
            </a:avLst>
          </a:prstGeom>
          <a:solidFill>
            <a:srgbClr val="F0E8FF"/>
          </a:solidFill>
          <a:ln w="15875">
            <a:solidFill>
              <a:srgbClr val="D6C8F0"/>
            </a:solidFill>
            <a:prstDash val="solid"/>
          </a:ln>
        </p:spPr>
      </p:sp>
      <p:sp>
        <p:nvSpPr>
          <p:cNvPr id="10" name="Text 8"/>
          <p:cNvSpPr/>
          <p:nvPr/>
        </p:nvSpPr>
        <p:spPr>
          <a:xfrm>
            <a:off x="7040880" y="1737360"/>
            <a:ext cx="4419295"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 THINK ABOUT THIS</a:t>
            </a:r>
            <a:endParaRPr lang="en-US" sz="1300" dirty="0"/>
          </a:p>
        </p:txBody>
      </p:sp>
      <p:sp>
        <p:nvSpPr>
          <p:cNvPr id="11" name="Text 9"/>
          <p:cNvSpPr/>
          <p:nvPr/>
        </p:nvSpPr>
        <p:spPr>
          <a:xfrm>
            <a:off x="7040880" y="2103120"/>
            <a:ext cx="4419295" cy="416052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Sublime means noble or elevated. “Sands of time” is a metaphor for how quickly time passes and we are forgotten.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Longfellow writes “learn to labor and to wait.” Nat is at the very start of a nine-year indenture he never chose. He works all day and fills his notebook with everything Sam teaches him. Where do you see him laboring? What might he be waiting for? How does this poem connect to “sail by ash breeze”?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400" dirty="0">
                <a:solidFill>
                  <a:srgbClr val="1E293B"/>
                </a:solidFill>
                <a:latin typeface="Calibri" pitchFamily="34" charset="0"/>
                <a:ea typeface="Calibri" pitchFamily="34" charset="-122"/>
                <a:cs typeface="Calibri" pitchFamily="34" charset="-120"/>
              </a:rPr>
              <a:t>Sam Smith says only a weakling gives up when he's becalmed. Is "sail by ash breeze" good advice for Nat's nine years at the chandlery, or does it ask too much of a twelve-year-old? Defend your answer with evidence from Chapter 6. Then answer someone who disagrees.</a:t>
            </a:r>
            <a:endParaRPr lang="en-US" sz="24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Sam Smith says only a weakling gives up when he's becalmed. Is "sail by ash breeze" good advice for Nat's nine years at the chandlery, or does it ask too much of a twelve-year-old? Defend your answer with evidence from Chapter 6. Then answer someone who disagrees.</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Someone might disagree, but...</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Could I combine two of these sentences to make my thinking clearer?</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ROOT IS DOING THE WORK?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Yesterday you met the three roots. Today, identify them inside longer words. Ask each word one question: is this the act of writing, or the thing that was written?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Three Roots, One Idea</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graph = write or draw → autograph, paragraph, biography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gram = the thing written or drawn → diagram, telegram, grammar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scribe / script = write → manuscript, transcribe, inscribe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You met script/scribe back in the Witch unit. Here it is again, standing beside two Greek cousins that do the same work.</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pattern: graph and scribe are usually the act of writing; gram is usually the thing you end up with.</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Match game: Tap a word, then tap its definition. Use the roots to guide you.</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ROOT IS DOING THE WORK?</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paragraph</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scribe — to write across into a new form</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telegram</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gram — the rules of what is written</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transcribe</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graph — a block of writing</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grammar</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gram — the message that arrives</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WHICH ROOT IS DOING THE WORK?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paragraph  =  </a:t>
            </a:r>
            <a:pPr indent="0" marL="0">
              <a:buNone/>
            </a:pPr>
            <a:r>
              <a:rPr lang="en-US" sz="2000" dirty="0">
                <a:solidFill>
                  <a:srgbClr val="1E293B"/>
                </a:solidFill>
                <a:latin typeface="Calibri" pitchFamily="34" charset="0"/>
                <a:ea typeface="Calibri" pitchFamily="34" charset="-122"/>
                <a:cs typeface="Calibri" pitchFamily="34" charset="-120"/>
              </a:rPr>
              <a:t>graph — a block of writing</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telegram  =  </a:t>
            </a:r>
            <a:pPr indent="0" marL="0">
              <a:buNone/>
            </a:pPr>
            <a:r>
              <a:rPr lang="en-US" sz="2000" dirty="0">
                <a:solidFill>
                  <a:srgbClr val="1E293B"/>
                </a:solidFill>
                <a:latin typeface="Calibri" pitchFamily="34" charset="0"/>
                <a:ea typeface="Calibri" pitchFamily="34" charset="-122"/>
                <a:cs typeface="Calibri" pitchFamily="34" charset="-120"/>
              </a:rPr>
              <a:t>gram — the message that arrives</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transcribe  =  </a:t>
            </a:r>
            <a:pPr indent="0" marL="0">
              <a:buNone/>
            </a:pPr>
            <a:r>
              <a:rPr lang="en-US" sz="2000" dirty="0">
                <a:solidFill>
                  <a:srgbClr val="1E293B"/>
                </a:solidFill>
                <a:latin typeface="Calibri" pitchFamily="34" charset="0"/>
                <a:ea typeface="Calibri" pitchFamily="34" charset="-122"/>
                <a:cs typeface="Calibri" pitchFamily="34" charset="-120"/>
              </a:rPr>
              <a:t>scribe — to write across into a new form</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grammar  =  </a:t>
            </a:r>
            <a:pPr indent="0" marL="0">
              <a:buNone/>
            </a:pPr>
            <a:r>
              <a:rPr lang="en-US" sz="2000" dirty="0">
                <a:solidFill>
                  <a:srgbClr val="1E293B"/>
                </a:solidFill>
                <a:latin typeface="Calibri" pitchFamily="34" charset="0"/>
                <a:ea typeface="Calibri" pitchFamily="34" charset="-122"/>
                <a:cs typeface="Calibri" pitchFamily="34" charset="-120"/>
              </a:rPr>
              <a:t>gram — the rules of what is written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CATEGORY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Nat’s extraordinary achievement was bringing mathematics into navigation. Today, sort this week’s six vocabulary words into two categories: words from the world of mathematics and scholarship, and words from the world of ships and the sea.</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Notice: Nat needs both categories. His life’s work was uniting them — using mathematics to transform navigation at sea.</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CATEGORY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bookkeeping     ·     latitude     ·     logarithm     ·     celestial     ·     almanac     ·     apprentice</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Mathematics &amp; Scholarship</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Ships &amp; the Sea</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SORT THIS WEEK’S WORDS BY CATEGORY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Word Sort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Mathematics &amp; Scholarship</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bookkeeping</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logarithm</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almanac</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apprentice</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Ships &amp; the Sea</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latitude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celestial</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SPOT AND FIX ERRORS IN INFORMATIONAL WRITING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Identify Tense Shifts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Before you start: decide when each sentence happens, then check it stays there.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Good informational writers stay in one tense throughout a passage. Read each sentence below. Decide: is the tense consistent, or does it shift? If it shifts, fix it.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SPOT AND FIX ERRORS IN INFORMATIONAL WRITING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Identify Tense Shifts</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Tense shift — “masters” should be “mastered”</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Consistent past tense ✓</a:t>
            </a:r>
            <a:endParaRPr lang="en-US" sz="19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Tense shift error</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Consistent past tense ✓</a:t>
            </a:r>
            <a:endParaRPr lang="en-US" sz="19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Tense shift — “use” should be “used”</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Consistent tense ✓</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SHOW WHAT YOU KNOW — SPOT AND FIX ERRORS IN INFORMATIONAL WRITING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Identify Tense Shifts</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Tense shift — “masters” should be “mastered”</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Consistent past tense ✓</a:t>
            </a:r>
            <a:endParaRPr lang="en-US" sz="19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Tense shift error</a:t>
            </a:r>
            <a:endParaRPr lang="en-US" sz="19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Consistent past tense ✓</a:t>
            </a:r>
            <a:endParaRPr lang="en-US" sz="19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Tense shift — “use” should be “used”</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Consistent tense ✓</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Grammar</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Write the corrected version of the sentence with the tense shift from the activity above. Then write your own consistent past-tense sentence about something Nat does in Chapter 6 (the ash-breeze scene or his night studies).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Write the fixed sentence. Then write your own sentence using consistent past tense about Nat in Chapter 6.</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IDENTIFY — -ER OR -OR?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Yesterday you learned that both endings name a doer. Today, identify which one a word takes. The clue is usually the verb underneath: plain English verbs take -er; verbs that came through Latin, especially ones ending in -ate, take -or.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Which Ending?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Both endings mean one who does it. They sound the same. Only the word’s history decides.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-er on ordinary English verbs: teach → teach er, print → print er, keep → keep 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-or on words that came through Latin: navigate → naviga tor, calculate → calcula tor, inspect → inspec tor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 verb ending in -ate almost always takes -or.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And a few in -ar: scholar, beggar, liar. Rare, but worth knowing.</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MENTOR SENTENCE · CHAPTER 6</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RWM — Read like a Reader, Read like a Writer, Mimic</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463040"/>
          </a:xfrm>
          <a:prstGeom prst="roundRect">
            <a:avLst>
              <a:gd name="adj" fmla="val 5000"/>
            </a:avLst>
          </a:prstGeom>
          <a:solidFill>
            <a:srgbClr val="FEF6E8"/>
          </a:solidFill>
          <a:ln w="15875">
            <a:solidFill>
              <a:srgbClr val="C7922C"/>
            </a:solidFill>
            <a:prstDash val="solid"/>
          </a:ln>
        </p:spPr>
      </p:sp>
      <p:sp>
        <p:nvSpPr>
          <p:cNvPr id="7" name="Text 5"/>
          <p:cNvSpPr/>
          <p:nvPr/>
        </p:nvSpPr>
        <p:spPr>
          <a:xfrm>
            <a:off x="777240" y="1645920"/>
            <a:ext cx="10637215" cy="1280160"/>
          </a:xfrm>
          <a:prstGeom prst="rect">
            <a:avLst/>
          </a:prstGeom>
          <a:noFill/>
          <a:ln/>
        </p:spPr>
        <p:txBody>
          <a:bodyPr wrap="square" lIns="0" tIns="0" rIns="0" bIns="0" rtlCol="0" anchor="ctr">
            <a:normAutofit/>
          </a:bodyPr>
          <a:lstStyle/>
          <a:p>
            <a:pPr indent="0" marL="0">
              <a:buNone/>
            </a:pPr>
            <a:r>
              <a:rPr lang="en-US" sz="2400" i="1" dirty="0">
                <a:solidFill>
                  <a:srgbClr val="1E293B"/>
                </a:solidFill>
                <a:latin typeface="Georgia" pitchFamily="34" charset="0"/>
                <a:ea typeface="Georgia" pitchFamily="34" charset="-122"/>
                <a:cs typeface="Georgia" pitchFamily="34" charset="-120"/>
              </a:rPr>
              <a:t>“After they had eaten, Nat spread his work on the table.”</a:t>
            </a:r>
            <a:endParaRPr lang="en-US" sz="2400" dirty="0"/>
          </a:p>
        </p:txBody>
      </p:sp>
      <p:sp>
        <p:nvSpPr>
          <p:cNvPr id="8" name="Shape 6"/>
          <p:cNvSpPr/>
          <p:nvPr/>
        </p:nvSpPr>
        <p:spPr>
          <a:xfrm>
            <a:off x="502920" y="3246120"/>
            <a:ext cx="3606698" cy="3200400"/>
          </a:xfrm>
          <a:prstGeom prst="roundRect">
            <a:avLst>
              <a:gd name="adj" fmla="val 2286"/>
            </a:avLst>
          </a:prstGeom>
          <a:solidFill>
            <a:srgbClr val="F8FAFC"/>
          </a:solidFill>
          <a:ln w="15875">
            <a:solidFill>
              <a:srgbClr val="CBD5E1"/>
            </a:solidFill>
            <a:prstDash val="solid"/>
          </a:ln>
        </p:spPr>
      </p:sp>
      <p:sp>
        <p:nvSpPr>
          <p:cNvPr id="9" name="Text 7"/>
          <p:cNvSpPr/>
          <p:nvPr/>
        </p:nvSpPr>
        <p:spPr>
          <a:xfrm>
            <a:off x="685800"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Reader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Nat has almost no time that belongs to him. Supper ends and the books come out. What does it tell you about him that this is what he does with the end of a day?</a:t>
            </a:r>
            <a:endParaRPr lang="en-US" sz="1900" dirty="0"/>
          </a:p>
        </p:txBody>
      </p:sp>
      <p:sp>
        <p:nvSpPr>
          <p:cNvPr id="10" name="Shape 8"/>
          <p:cNvSpPr/>
          <p:nvPr/>
        </p:nvSpPr>
        <p:spPr>
          <a:xfrm>
            <a:off x="4292498" y="3246120"/>
            <a:ext cx="3606698" cy="3200400"/>
          </a:xfrm>
          <a:prstGeom prst="roundRect">
            <a:avLst>
              <a:gd name="adj" fmla="val 2286"/>
            </a:avLst>
          </a:prstGeom>
          <a:solidFill>
            <a:srgbClr val="F8FAFC"/>
          </a:solidFill>
          <a:ln w="15875">
            <a:solidFill>
              <a:srgbClr val="CBD5E1"/>
            </a:solidFill>
            <a:prstDash val="solid"/>
          </a:ln>
        </p:spPr>
      </p:sp>
      <p:sp>
        <p:nvSpPr>
          <p:cNvPr id="11" name="Text 9"/>
          <p:cNvSpPr/>
          <p:nvPr/>
        </p:nvSpPr>
        <p:spPr>
          <a:xfrm>
            <a:off x="4475378"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Read like a Writer</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Two things are working here. After is a sequence transition — it puts the two actions in order without spending a word explaining. And look at the verbs: had eaten happened first, so it takes the past perfect; spread came second, so it takes the simple past. The tense is what makes the order true. Put both verbs in the same tense and the sequence collapses.</a:t>
            </a:r>
            <a:endParaRPr lang="en-US" sz="1900" dirty="0"/>
          </a:p>
        </p:txBody>
      </p:sp>
      <p:sp>
        <p:nvSpPr>
          <p:cNvPr id="12" name="Shape 10"/>
          <p:cNvSpPr/>
          <p:nvPr/>
        </p:nvSpPr>
        <p:spPr>
          <a:xfrm>
            <a:off x="8082077" y="3246120"/>
            <a:ext cx="3606698" cy="3200400"/>
          </a:xfrm>
          <a:prstGeom prst="roundRect">
            <a:avLst>
              <a:gd name="adj" fmla="val 2286"/>
            </a:avLst>
          </a:prstGeom>
          <a:solidFill>
            <a:srgbClr val="F8FAFC"/>
          </a:solidFill>
          <a:ln w="15875">
            <a:solidFill>
              <a:srgbClr val="CBD5E1"/>
            </a:solidFill>
            <a:prstDash val="solid"/>
          </a:ln>
        </p:spPr>
      </p:sp>
      <p:sp>
        <p:nvSpPr>
          <p:cNvPr id="13" name="Text 11"/>
          <p:cNvSpPr/>
          <p:nvPr/>
        </p:nvSpPr>
        <p:spPr>
          <a:xfrm>
            <a:off x="8264957" y="3337560"/>
            <a:ext cx="3240938" cy="3017520"/>
          </a:xfrm>
          <a:prstGeom prst="rect">
            <a:avLst/>
          </a:prstGeom>
          <a:noFill/>
          <a:ln/>
        </p:spPr>
        <p:txBody>
          <a:bodyPr wrap="square" lIns="0" tIns="0" rIns="0" bIns="0" rtlCol="0" anchor="t">
            <a:normAutofit/>
          </a:bodyPr>
          <a:lstStyle/>
          <a:p>
            <a:pPr indent="0" marL="0">
              <a:buNone/>
            </a:pPr>
            <a:r>
              <a:rPr lang="en-US" sz="1900" b="1" dirty="0">
                <a:solidFill>
                  <a:srgbClr val="0E1C42"/>
                </a:solidFill>
                <a:latin typeface="Calibri" pitchFamily="34" charset="0"/>
                <a:ea typeface="Calibri" pitchFamily="34" charset="-122"/>
                <a:cs typeface="Calibri" pitchFamily="34" charset="-120"/>
              </a:rPr>
              <a:t>🖊️ Mimic</a:t>
            </a:r>
            <a:endParaRPr lang="en-US" sz="1900" dirty="0"/>
          </a:p>
          <a:p>
            <a:pPr indent="0" marL="0">
              <a:buNone/>
            </a:pPr>
            <a:r>
              <a:rPr lang="en-US" sz="1600" dirty="0">
                <a:solidFill>
                  <a:srgbClr val="1E293B"/>
                </a:solidFill>
                <a:latin typeface="Calibri" pitchFamily="34" charset="0"/>
                <a:ea typeface="Calibri" pitchFamily="34" charset="-122"/>
                <a:cs typeface="Calibri" pitchFamily="34" charset="-120"/>
              </a:rPr>
              <a:t>Write one sentence about Chapter 6 that puts two events in order. Open with After, use the past perfect for whatever happened first, and the simple past for what followed.</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USE THE SAME TECHNIQUE IN YOUR OWN SENTENCE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Mimic — Your Turn</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280160"/>
          </a:xfrm>
          <a:prstGeom prst="roundRect">
            <a:avLst>
              <a:gd name="adj" fmla="val 5714"/>
            </a:avLst>
          </a:prstGeom>
          <a:solidFill>
            <a:srgbClr val="FEF6E8"/>
          </a:solidFill>
          <a:ln w="15875">
            <a:solidFill>
              <a:srgbClr val="C7922C"/>
            </a:solidFill>
            <a:prstDash val="solid"/>
          </a:ln>
        </p:spPr>
      </p:sp>
      <p:sp>
        <p:nvSpPr>
          <p:cNvPr id="7" name="Text 5"/>
          <p:cNvSpPr/>
          <p:nvPr/>
        </p:nvSpPr>
        <p:spPr>
          <a:xfrm>
            <a:off x="777240" y="1645920"/>
            <a:ext cx="10637215" cy="1097280"/>
          </a:xfrm>
          <a:prstGeom prst="rect">
            <a:avLst/>
          </a:prstGeom>
          <a:noFill/>
          <a:ln/>
        </p:spPr>
        <p:txBody>
          <a:bodyPr wrap="square" lIns="0" tIns="0" rIns="0" bIns="0" rtlCol="0" anchor="ctr">
            <a:normAutofit/>
          </a:bodyPr>
          <a:lstStyle/>
          <a:p>
            <a:pPr indent="0" marL="0">
              <a:buNone/>
            </a:pPr>
            <a:r>
              <a:rPr lang="en-US" sz="2200" i="1" dirty="0">
                <a:solidFill>
                  <a:srgbClr val="1E293B"/>
                </a:solidFill>
                <a:latin typeface="Georgia" pitchFamily="34" charset="0"/>
                <a:ea typeface="Georgia" pitchFamily="34" charset="-122"/>
                <a:cs typeface="Georgia" pitchFamily="34" charset="-120"/>
              </a:rPr>
              <a:t>“After they had eaten, Nat spread his work on the table.”</a:t>
            </a:r>
            <a:endParaRPr lang="en-US" sz="2200" dirty="0"/>
          </a:p>
        </p:txBody>
      </p:sp>
      <p:sp>
        <p:nvSpPr>
          <p:cNvPr id="8" name="Text 6"/>
          <p:cNvSpPr/>
          <p:nvPr/>
        </p:nvSpPr>
        <p:spPr>
          <a:xfrm>
            <a:off x="502920" y="3017520"/>
            <a:ext cx="11185855" cy="14630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Write one sentence about Chapter 6 that puts two events in order. Open with After, use the past perfect for whatever happened first, and the simple past for what followed.</a:t>
            </a:r>
            <a:endParaRPr lang="en-US" sz="2100" dirty="0"/>
          </a:p>
        </p:txBody>
      </p:sp>
      <p:sp>
        <p:nvSpPr>
          <p:cNvPr id="9" name="Text 7"/>
          <p:cNvSpPr/>
          <p:nvPr/>
        </p:nvSpPr>
        <p:spPr>
          <a:xfrm>
            <a:off x="502920" y="4617720"/>
            <a:ext cx="5486400"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FRAME</a:t>
            </a:r>
            <a:endParaRPr lang="en-US" sz="1300" dirty="0"/>
          </a:p>
        </p:txBody>
      </p:sp>
      <p:sp>
        <p:nvSpPr>
          <p:cNvPr id="10" name="Shape 8"/>
          <p:cNvSpPr/>
          <p:nvPr/>
        </p:nvSpPr>
        <p:spPr>
          <a:xfrm>
            <a:off x="502920" y="4937760"/>
            <a:ext cx="11185855" cy="1097280"/>
          </a:xfrm>
          <a:prstGeom prst="roundRect">
            <a:avLst>
              <a:gd name="adj" fmla="val 6667"/>
            </a:avLst>
          </a:prstGeom>
          <a:solidFill>
            <a:srgbClr val="FFFFFF"/>
          </a:solidFill>
          <a:ln w="15875">
            <a:solidFill>
              <a:srgbClr val="C7922C"/>
            </a:solidFill>
            <a:prstDash val="solid"/>
          </a:ln>
        </p:spPr>
      </p:sp>
      <p:sp>
        <p:nvSpPr>
          <p:cNvPr id="11" name="Text 9"/>
          <p:cNvSpPr/>
          <p:nvPr/>
        </p:nvSpPr>
        <p:spPr>
          <a:xfrm>
            <a:off x="777240" y="4983480"/>
            <a:ext cx="10637215" cy="1005840"/>
          </a:xfrm>
          <a:prstGeom prst="rect">
            <a:avLst/>
          </a:prstGeom>
          <a:noFill/>
          <a:ln/>
        </p:spPr>
        <p:txBody>
          <a:bodyPr wrap="square" lIns="0" tIns="0" rIns="0" bIns="0" rtlCol="0" anchor="ctr">
            <a:normAutofit/>
          </a:bodyPr>
          <a:lstStyle/>
          <a:p>
            <a:pPr indent="0" marL="0">
              <a:buNone/>
            </a:pPr>
            <a:r>
              <a:rPr lang="en-US" sz="2600" b="1" dirty="0">
                <a:solidFill>
                  <a:srgbClr val="0E1C42"/>
                </a:solidFill>
                <a:latin typeface="Calibri" pitchFamily="34" charset="0"/>
                <a:ea typeface="Calibri" pitchFamily="34" charset="-122"/>
                <a:cs typeface="Calibri" pitchFamily="34" charset="-120"/>
              </a:rPr>
              <a:t>After [someone] had ___, [character] ___.</a:t>
            </a:r>
            <a:endParaRPr lang="en-US" sz="2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6 — “SAIL BY ASH BREEZE!”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6 — Sail by Ash Breeze!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Chapter 6, Nat moves into Mr. Hodges’ house, starts work at the chandlery, and begins his nine years. He is heartsick, but he has a question: what do you do when you can’t go where you want to go? Someone gives him the answer — and Nat immediately sees how to apply it. Watch for that moment.</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6</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at the Ash Breeze Scene: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Who tells Nat about sailing by ash breeze, and what is the literal explanation (what do sailors actually do when the wind dies)? How does Nat immediately apply this idea to his own situation?</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at Nat’s Notebook: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Mr. Hodges gives Nat a big black notebook. What does Nat start doing with it? Weeks later, what does he tell Ben Meeker the notebook is? What does this show about who Nat is?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CHAPTER 6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Explain the “ash breeze” idea in your own words. What does it literally mean for a sailor when the wind dies? Then explain how Nat applies this idea to his situation as an indentured apprentice.</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Latham writes: “Nat was busy at his desk behind the counter, writing things in his notebook.” What does this single sentence reveal about Nat’s character that could not be shown by simply saying “Nat was very hardworking”?</a:t>
            </a:r>
            <a:endParaRPr lang="en-US" sz="2100" dirty="0"/>
          </a:p>
          <a:p>
            <a:pPr indent="0" marL="0">
              <a:spcAft>
                <a:spcPts val="900"/>
              </a:spcAft>
              <a:buNone/>
            </a:pPr>
            <a:r>
              <a:rPr lang="en-US" sz="21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2100" dirty="0">
                <a:solidFill>
                  <a:srgbClr val="1E293B"/>
                </a:solidFill>
                <a:latin typeface="Calibri" pitchFamily="34" charset="0"/>
                <a:ea typeface="Calibri" pitchFamily="34" charset="-122"/>
                <a:cs typeface="Calibri" pitchFamily="34" charset="-120"/>
              </a:rPr>
              <a:t>At the end of Chapter 5, Nat’s whistle died when he left the house. By the end of Chapter 6, he is filling a notebook with everything Sam teaches him and calls it his “ash breeze.” What has changed? What is Nat’s “ash breeze” — how is he rowing when he cannot sail?</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CHOOSE EVIDENCE FOR BODY SECTION 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Planning isn’t just deciding WHAT to say — it’s deciding WHICH evidence is strongest. Today you rank your Body 1 evidence.</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has found four possible pieces of evidence for Body 1 (the self-made scholar subtopic). Now Alex has to pick the two best. BEFORE All four options: (1) Nat studies at night in the chandlery. (2) Sam Smith teaches him navigation vocabulary. (3) Nat teaches himself Latin and algebra. (4) He fills notebooks with everything he learns. AFTER Alex’s ranking: (1) Chandlery nights — most powerful, shows volume of work. (2) Filling notebooks — shows method, not just effort. Cuts: Sam Smith — Sam helps, but the EFFORT is Nat’s. Latin/algebra — supports the first point, doesn’t add new subtopic. Notice: Alex doesn’t use ALL the evidence. Using your best two pieces is stronger than listing four weak ones. The cut evidence isn’t wasted — it might appear in another body section or support your claim indirectly.</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CHOOSE EVIDENCE FOR BODY SECTION 1</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Evidence Ranker: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List 3–4 pieces of evidence for your Body 1 subtopic. Then rank them: which TWO are strongest? Alex’s example (filled): Alex’s subtopic: Nat as a self-made scholar ① Chandlery nights ← STRONGEST (volume + persistence) ② Fills notebooks ← 2nd STRONGEST (method + intentionality) ③ Sam Smith vocabulary ← cut (Sam helps, but Nat’s effort is the point) ④ Latin/algebra ← cut (supports but doesn’t add new angle) Your turn — do the same in your reading journal: My Body 1 subtopic: ___ Evidence option 1: ___ (chapters: ___) Strength: ___/3 Evidence option 2: ___ (chapters: ___) Strength: ___/3 Evidence option 3: ___ (chapters: ___) Strength: ___/3 I choose options ___ and ___ because: 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strongest evidence for my first body section is ___.” “This is especially powerful because ___.” “In Chapter ___, Nat ___, which shows that...”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10.2 — Carry On, Mr. Bowditch, Chapter 6</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