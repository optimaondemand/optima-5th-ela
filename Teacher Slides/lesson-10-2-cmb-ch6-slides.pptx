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10, Day 2, Chapter 6 — Sail by Ash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Nat is indentured for nine years. No Harvard. No wind in his sails. Chapter 6 gives him — and you — a philosophy for exactly that moment: sail by ash breeze. When you can’t go by wind, you row.
Morphology: Identify graph/gram/meter roots in scientific vocabulary.
Grammar SWYK: Identify tense shifts and write the correction.
Spelling: Identify syllable patterns in technical words.
Reading: Chapter 6 — Sail by Ash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"nat borrowed books from dr. prince and teaches himself latin at night by candlelight"
Corrected: "Nat borrowed books from Dr. Prince and taught himself Latin at night by candlelight."
Three fixes: “Nat” capitalized; “Dr. Prince” both words capitalized (title + name); “teaches” → “taught” (tense shift: “borrowed” is past, so “teaches” must become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"nat borrowed books from dr. prince and teaches himself latin at night by candlelight"
Corrected: "Nat borrowed books from Dr. Prince and taught himself Latin at night by candlelight."
Three fixes: “Nat” capitalized; “Dr. Prince” both words capitalized (title + name); “teaches” → “taught” (tense shift: “borrowed” is past, so “teaches” must become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poem aloud. Give students a moment to notice before discussing.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Could I combine two of these sentences to make my thinking clearer?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practice for the day. Practice only today — not the graded strand.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Sort or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answers yet — students discuss and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revealed — correct labels in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Identify Syllable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Nat’s Path Through Carry On, Mr. Bowditch — 📍 You are here: Chapter 6 — Sail by Ash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PLAN: Choose evidence for Body Section 1
Focus: Planning isn’t just deciding WHAT to say — it’s deciding WHICH evidence is strongest. Today you rank your Body 1 evidence.
Before: BEFORE All four options: (1) Nat studies at night in the chandlery. (2) Sam Smith teaches him navigation vocabulary. (3) Nat teaches himself Latin and algebra. (4) He fills notebooks with everything he learns.
After: AFTER Alex’s ranking: (1) Chandlery nights — most powerful, shows volume of work. (2) Filling notebooks — shows method, not just effort. Cuts: Sam Smith — Sam helps, but the EFFORT is Nat’s. Latin/algebra — supports the first point, doesn’t add new subtopic.
Notice: Notice: Alex doesn’t use ALL the evidence. Using your best two pieces is stronger than listing four weak ones. The cut evidence isn’t wasted — it might appear in another body section or support your claim indirectly.
Tool: Today’s Tool: Evidence Ranker — List 3–4 pieces of evidence for your Body 1 subtopic. Then rank them: which TWO are strongest?
Frames: “The strongest evidence for my first body section is ___.” | “This is especially powerful because ___.” | “In Chapter ___, Nat ___, which shows that...”
Prompt: List your Body 1 evidence options, rank them by strength, and choose your two best. Write your ranking and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10  ·  DAY 2</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6 — Sail by Ash Breeze!</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10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Nat is indentured for nine years. No Harvard. No wind in his sails. Chapter 6 gives him — and you — a philosophy for exactly that moment: sail by ash breeze. When you can’t go by wind, you row.</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Identify graph/gram/meter roots in scientific vocabulary.</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SWYK: </a:t>
            </a:r>
            <a:pPr indent="0" marL="0">
              <a:buNone/>
            </a:pPr>
            <a:r>
              <a:rPr lang="en-US" sz="1250" dirty="0">
                <a:solidFill>
                  <a:srgbClr val="1E293B"/>
                </a:solidFill>
                <a:latin typeface="Calibri" pitchFamily="34" charset="0"/>
                <a:ea typeface="Calibri" pitchFamily="34" charset="-122"/>
                <a:cs typeface="Calibri" pitchFamily="34" charset="-120"/>
              </a:rPr>
              <a:t>Identify tense shifts and write the correction.</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Spelling: </a:t>
            </a:r>
            <a:pPr indent="0" marL="0">
              <a:buNone/>
            </a:pPr>
            <a:r>
              <a:rPr lang="en-US" sz="1250" dirty="0">
                <a:solidFill>
                  <a:srgbClr val="1E293B"/>
                </a:solidFill>
                <a:latin typeface="Calibri" pitchFamily="34" charset="0"/>
                <a:ea typeface="Calibri" pitchFamily="34" charset="-122"/>
                <a:cs typeface="Calibri" pitchFamily="34" charset="-120"/>
              </a:rPr>
              <a:t>Identify syllable patterns in technical words.</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6 — Sail by Ash Breeze!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In Chapter 6, Nat receives a piece of wisdom that will anchor his entire life: sail by ash breeze. Good readers notice when an author plants a key idea early that will echo through the rest of a book. As you read today, pay close attention to the moment Nat hears those words — and what he immediately does with them.</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Who explains the “ash breeze” philosophy, and what is the literal meaning (what do sailors actually do when there is no wind)?</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How does Nat apply this idea to his own situation at Ropes and Hodges?</a:t>
            </a:r>
            <a:endParaRPr lang="en-US" sz="1300" dirty="0"/>
          </a:p>
        </p:txBody>
      </p:sp>
      <p:sp>
        <p:nvSpPr>
          <p:cNvPr id="12" name="Shape 10"/>
          <p:cNvSpPr/>
          <p:nvPr/>
        </p:nvSpPr>
        <p:spPr>
          <a:xfrm>
            <a:off x="365760" y="4032504"/>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4105656"/>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does Nat do at night after his long days in the chandlery? What is his “ash breeze”?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worked at his bookkeeping until the chandlery grew dark around him, and then he lit a candle and went on working.</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Nat  </a:t>
            </a:r>
            <a:pPr indent="0" marL="0">
              <a:buNone/>
            </a:pPr>
            <a:r>
              <a:rPr lang="en-US" sz="1200" dirty="0">
                <a:solidFill>
                  <a:srgbClr val="1E293B"/>
                </a:solidFill>
                <a:latin typeface="Calibri" pitchFamily="34" charset="0"/>
                <a:ea typeface="Calibri" pitchFamily="34" charset="-122"/>
                <a:cs typeface="Calibri" pitchFamily="34" charset="-120"/>
              </a:rPr>
              <a:t>Nat is a proper noun — always capitalized.</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grew  </a:t>
            </a:r>
            <a:pPr indent="0" marL="0">
              <a:buNone/>
            </a:pPr>
            <a:r>
              <a:rPr lang="en-US" sz="1200" dirty="0">
                <a:solidFill>
                  <a:srgbClr val="1E293B"/>
                </a:solidFill>
                <a:latin typeface="Calibri" pitchFamily="34" charset="0"/>
                <a:ea typeface="Calibri" pitchFamily="34" charset="-122"/>
                <a:cs typeface="Calibri" pitchFamily="34" charset="-120"/>
              </a:rPr>
              <a:t>"grew" is past tense — consistent with "worked." Good writers keep tense consistent.</a:t>
            </a:r>
            <a:endParaRPr lang="en-US" sz="1300" dirty="0"/>
          </a:p>
        </p:txBody>
      </p:sp>
      <p:sp>
        <p:nvSpPr>
          <p:cNvPr id="12" name="Shape 10"/>
          <p:cNvSpPr/>
          <p:nvPr/>
        </p:nvSpPr>
        <p:spPr>
          <a:xfrm>
            <a:off x="365760" y="3529584"/>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584448"/>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went on working.  </a:t>
            </a:r>
            <a:pPr indent="0" marL="0">
              <a:buNone/>
            </a:pPr>
            <a:r>
              <a:rPr lang="en-US" sz="1200" dirty="0">
                <a:solidFill>
                  <a:srgbClr val="1E293B"/>
                </a:solidFill>
                <a:latin typeface="Calibri" pitchFamily="34" charset="0"/>
                <a:ea typeface="Calibri" pitchFamily="34" charset="-122"/>
                <a:cs typeface="Calibri" pitchFamily="34" charset="-120"/>
              </a:rPr>
              <a:t>"went on working" keeps the past tense. The whole sentence stays in one time frame.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borrowed books from dr. prince and teaches himself latin at night by candlelight</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borrowed books from dr. prince and teaches himself latin at night by candlelight</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Nat borrowed books from Dr. Prince and taught himself Latin at night by candlelight.</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Three fixes: “Nat” capitalized; “Dr. Prince” both words capitalized (title + name); “teaches” → “taught” (tense shift: “borrowed” is past, so “teaches” must become “taught”).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Poetry Corner</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365760" y="868680"/>
            <a:ext cx="8412480" cy="2423160"/>
          </a:xfrm>
          <a:prstGeom prst="roundRect">
            <a:avLst>
              <a:gd name="adj" fmla="val 3774"/>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960120"/>
            <a:ext cx="79552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from “A Psalm of Life”</a:t>
            </a:r>
            <a:endParaRPr lang="en-US" sz="2000" dirty="0"/>
          </a:p>
        </p:txBody>
      </p:sp>
      <p:sp>
        <p:nvSpPr>
          <p:cNvPr id="6" name="Text 4"/>
          <p:cNvSpPr/>
          <p:nvPr/>
        </p:nvSpPr>
        <p:spPr>
          <a:xfrm>
            <a:off x="594360" y="1325880"/>
            <a:ext cx="7955280" cy="2743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by Henry Wadsworth Longfellow, 1838 — public domain</a:t>
            </a:r>
            <a:endParaRPr lang="en-US" sz="1300" dirty="0"/>
          </a:p>
        </p:txBody>
      </p:sp>
      <p:sp>
        <p:nvSpPr>
          <p:cNvPr id="7" name="Text 5"/>
          <p:cNvSpPr/>
          <p:nvPr/>
        </p:nvSpPr>
        <p:spPr>
          <a:xfrm>
            <a:off x="594360" y="1645920"/>
            <a:ext cx="7955280" cy="1554480"/>
          </a:xfrm>
          <a:prstGeom prst="rect">
            <a:avLst/>
          </a:prstGeom>
          <a:noFill/>
          <a:ln/>
        </p:spPr>
        <p:txBody>
          <a:bodyPr wrap="square" lIns="0" tIns="0" rIns="0" bIns="0" rtlCol="0" anchor="t"/>
          <a:lstStyle/>
          <a:p>
            <a:pPr indent="0" marL="0">
              <a:buNone/>
            </a:pPr>
            <a:r>
              <a:rPr lang="en-US" sz="1500" i="1" dirty="0">
                <a:solidFill>
                  <a:srgbClr val="1E293B"/>
                </a:solidFill>
                <a:latin typeface="Georgia" pitchFamily="34" charset="0"/>
                <a:ea typeface="Georgia" pitchFamily="34" charset="-122"/>
                <a:cs typeface="Georgia" pitchFamily="34" charset="-120"/>
              </a:rPr>
              <a:t>Lives of great men all remind us</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We can make our lives sublime,</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And, departing, leave behind us</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Footprints on the sands of time;</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Let us, then, be up and doing,</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With a heart for any fate;</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Still achieving, still pursuing,</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Learn to labor and to wait.</a:t>
            </a:r>
            <a:endParaRPr lang="en-US" sz="1500" dirty="0"/>
          </a:p>
        </p:txBody>
      </p:sp>
      <p:sp>
        <p:nvSpPr>
          <p:cNvPr id="8" name="Text 6"/>
          <p:cNvSpPr/>
          <p:nvPr/>
        </p:nvSpPr>
        <p:spPr>
          <a:xfrm>
            <a:off x="36576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THINK ABOUT THIS</a:t>
            </a:r>
            <a:endParaRPr lang="en-US" sz="1100" dirty="0"/>
          </a:p>
        </p:txBody>
      </p:sp>
      <p:sp>
        <p:nvSpPr>
          <p:cNvPr id="9" name="Shape 7"/>
          <p:cNvSpPr/>
          <p:nvPr/>
        </p:nvSpPr>
        <p:spPr>
          <a:xfrm>
            <a:off x="365760" y="3685032"/>
            <a:ext cx="8412480" cy="914400"/>
          </a:xfrm>
          <a:prstGeom prst="roundRect">
            <a:avLst>
              <a:gd name="adj" fmla="val 1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3776472"/>
            <a:ext cx="795528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Longfellow writes “learn to labor and to wait.” Nat is nine years into an indenture he never chose. He works all day and studies all night. Where do you see him laboring? What might he be waiting for? How does this poem connect to “sail by ash breeze”?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"Sail by ash breeze" means rowing when there's no wind. Which part of Nat's life right now is he most having to "row" through, instead of sail through easily? Defend your answer with evidence from Chapter 6.</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Someone might disagree, but...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"Sail by ash breeze" means rowing when there's no wind. Which part of Nat's life right now is he most having to "row" through, instead of sail through easily? Defend your answer with evidence from Chapter 6.</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Someone might disagree, but...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Could I combine two of these sentences to make my thinking clearer?</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Morphology</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Morphology: Identify graph/gram and meter in New Words</a:t>
            </a:r>
            <a:endParaRPr lang="en-US" sz="1100" dirty="0"/>
          </a:p>
        </p:txBody>
      </p:sp>
      <p:sp>
        <p:nvSpPr>
          <p:cNvPr id="5" name="Shape 3"/>
          <p:cNvSpPr/>
          <p:nvPr/>
        </p:nvSpPr>
        <p:spPr>
          <a:xfrm>
            <a:off x="365760" y="1097280"/>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biography → bio + graph (write) → a written account of someone’s life | chronometer → chrono + meter (measure) → an instrument that measures time precisely; sailors used it to find longitude | geography → geo + graph (write/record) → the written study of the earth | speedometer → speed + meter → measures how fast something moves | monogram → mono + gram (written mark) → one’s initials written as a single symbol</a:t>
            </a:r>
            <a:endParaRPr lang="en-US" sz="1150" dirty="0"/>
          </a:p>
        </p:txBody>
      </p:sp>
      <p:sp>
        <p:nvSpPr>
          <p:cNvPr id="7" name="Shape 5"/>
          <p:cNvSpPr/>
          <p:nvPr/>
        </p:nvSpPr>
        <p:spPr>
          <a:xfrm>
            <a:off x="365760" y="1664208"/>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19072"/>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biography = a written account of someone’s life</a:t>
            </a:r>
            <a:endParaRPr lang="en-US" sz="1150" dirty="0"/>
          </a:p>
        </p:txBody>
      </p:sp>
      <p:sp>
        <p:nvSpPr>
          <p:cNvPr id="9" name="Shape 7"/>
          <p:cNvSpPr/>
          <p:nvPr/>
        </p:nvSpPr>
        <p:spPr>
          <a:xfrm>
            <a:off x="365760" y="223113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286000"/>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chronometer = measures time precisely enough for navigation</a:t>
            </a:r>
            <a:endParaRPr lang="en-US" sz="1150" dirty="0"/>
          </a:p>
        </p:txBody>
      </p:sp>
      <p:sp>
        <p:nvSpPr>
          <p:cNvPr id="11" name="Shape 9"/>
          <p:cNvSpPr/>
          <p:nvPr/>
        </p:nvSpPr>
        <p:spPr>
          <a:xfrm>
            <a:off x="365760" y="2798064"/>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852928"/>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geography = written study of the earth’s surface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Sort or Match</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Identify — sort this week’s words by category</a:t>
            </a:r>
            <a:endParaRPr lang="en-US" sz="1100" dirty="0"/>
          </a:p>
        </p:txBody>
      </p:sp>
      <p:sp>
        <p:nvSpPr>
          <p:cNvPr id="5" name="Text 3"/>
          <p:cNvSpPr/>
          <p:nvPr/>
        </p:nvSpPr>
        <p:spPr>
          <a:xfrm>
            <a:off x="365760" y="109728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Mathematics &amp; Scholarship</a:t>
            </a:r>
            <a:endParaRPr lang="en-US" sz="1300" dirty="0"/>
          </a:p>
        </p:txBody>
      </p:sp>
      <p:sp>
        <p:nvSpPr>
          <p:cNvPr id="6" name="Text 4"/>
          <p:cNvSpPr/>
          <p:nvPr/>
        </p:nvSpPr>
        <p:spPr>
          <a:xfrm>
            <a:off x="365760" y="1481328"/>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bookkeeping  ·  logarithm  ·  apprentice</a:t>
            </a:r>
            <a:endParaRPr lang="en-US" sz="1300" dirty="0"/>
          </a:p>
        </p:txBody>
      </p:sp>
      <p:sp>
        <p:nvSpPr>
          <p:cNvPr id="7" name="Text 5"/>
          <p:cNvSpPr/>
          <p:nvPr/>
        </p:nvSpPr>
        <p:spPr>
          <a:xfrm>
            <a:off x="4663440" y="109728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Ships &amp; the Sea</a:t>
            </a:r>
            <a:endParaRPr lang="en-US" sz="1300" dirty="0"/>
          </a:p>
        </p:txBody>
      </p:sp>
      <p:sp>
        <p:nvSpPr>
          <p:cNvPr id="8" name="Text 6"/>
          <p:cNvSpPr/>
          <p:nvPr/>
        </p:nvSpPr>
        <p:spPr>
          <a:xfrm>
            <a:off x="4663440" y="1481328"/>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latitude  ·  celestial  ·  almanac</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Identify Tense Shifts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Show What You Know — spot and fix errors in informational writing</a:t>
            </a:r>
            <a:endParaRPr lang="en-US" sz="1100" dirty="0"/>
          </a:p>
        </p:txBody>
      </p:sp>
      <p:sp>
        <p:nvSpPr>
          <p:cNvPr id="7" name="Shape 5"/>
          <p:cNvSpPr/>
          <p:nvPr/>
        </p:nvSpPr>
        <p:spPr>
          <a:xfrm>
            <a:off x="365760" y="11430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1978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“Nat studied bookkeeping with Michael Walsh and masters it in two months.”</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Tense shift — “masters” should be “mastered”   /   Consistent past tense ✓</a:t>
            </a:r>
            <a:endParaRPr lang="en-US" sz="1200" dirty="0"/>
          </a:p>
        </p:txBody>
      </p:sp>
      <p:sp>
        <p:nvSpPr>
          <p:cNvPr id="9" name="Shape 7"/>
          <p:cNvSpPr/>
          <p:nvPr/>
        </p:nvSpPr>
        <p:spPr>
          <a:xfrm>
            <a:off x="365760" y="187452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192938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“He borrowed books from Dr. Prince and read them by candlelight.”</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Tense shift error   /   Consistent past tense ✓</a:t>
            </a:r>
            <a:endParaRPr lang="en-US" sz="1200" dirty="0"/>
          </a:p>
        </p:txBody>
      </p:sp>
      <p:sp>
        <p:nvSpPr>
          <p:cNvPr id="11" name="Shape 9"/>
          <p:cNvSpPr/>
          <p:nvPr/>
        </p:nvSpPr>
        <p:spPr>
          <a:xfrm>
            <a:off x="365760" y="26060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66090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“When sailors had no wind, they use oars made of ash wood to move the ship.”</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Tense shift — “use” should be “used”   /   Consistent tense ✓</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Identify Tense Shifts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Show What You Know — spot and fix errors in informational writing</a:t>
            </a:r>
            <a:endParaRPr lang="en-US" sz="1100" dirty="0"/>
          </a:p>
        </p:txBody>
      </p:sp>
      <p:sp>
        <p:nvSpPr>
          <p:cNvPr id="7" name="Shape 5"/>
          <p:cNvSpPr/>
          <p:nvPr/>
        </p:nvSpPr>
        <p:spPr>
          <a:xfrm>
            <a:off x="365760" y="11430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1978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“Nat studied bookkeeping with Michael Walsh and masters it in two months.”
</a:t>
            </a:r>
            <a:pPr indent="0" marL="0">
              <a:buNone/>
            </a:pPr>
            <a:r>
              <a:rPr lang="en-US" sz="1200" b="1" dirty="0">
                <a:solidFill>
                  <a:srgbClr val="34B76F"/>
                </a:solidFill>
                <a:latin typeface="Calibri" pitchFamily="34" charset="0"/>
                <a:ea typeface="Calibri" pitchFamily="34" charset="-122"/>
                <a:cs typeface="Calibri" pitchFamily="34" charset="-120"/>
              </a:rPr>
              <a:t>✅ Tense shift — “masters” should be “mastered”</a:t>
            </a:r>
            <a:endParaRPr lang="en-US" sz="1200" dirty="0"/>
          </a:p>
        </p:txBody>
      </p:sp>
      <p:sp>
        <p:nvSpPr>
          <p:cNvPr id="9" name="Shape 7"/>
          <p:cNvSpPr/>
          <p:nvPr/>
        </p:nvSpPr>
        <p:spPr>
          <a:xfrm>
            <a:off x="365760" y="187452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192938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“He borrowed books from Dr. Prince and read them by candlelight.”
</a:t>
            </a:r>
            <a:pPr indent="0" marL="0">
              <a:buNone/>
            </a:pPr>
            <a:r>
              <a:rPr lang="en-US" sz="1200" b="1" dirty="0">
                <a:solidFill>
                  <a:srgbClr val="34B76F"/>
                </a:solidFill>
                <a:latin typeface="Calibri" pitchFamily="34" charset="0"/>
                <a:ea typeface="Calibri" pitchFamily="34" charset="-122"/>
                <a:cs typeface="Calibri" pitchFamily="34" charset="-120"/>
              </a:rPr>
              <a:t>✅ Consistent past tense ✓</a:t>
            </a:r>
            <a:endParaRPr lang="en-US" sz="1200" dirty="0"/>
          </a:p>
        </p:txBody>
      </p:sp>
      <p:sp>
        <p:nvSpPr>
          <p:cNvPr id="11" name="Shape 9"/>
          <p:cNvSpPr/>
          <p:nvPr/>
        </p:nvSpPr>
        <p:spPr>
          <a:xfrm>
            <a:off x="365760" y="26060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66090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“When sailors had no wind, they use oars made of ash wood to move the ship.”
</a:t>
            </a:r>
            <a:pPr indent="0" marL="0">
              <a:buNone/>
            </a:pPr>
            <a:r>
              <a:rPr lang="en-US" sz="1200" b="1" dirty="0">
                <a:solidFill>
                  <a:srgbClr val="34B76F"/>
                </a:solidFill>
                <a:latin typeface="Calibri" pitchFamily="34" charset="0"/>
                <a:ea typeface="Calibri" pitchFamily="34" charset="-122"/>
                <a:cs typeface="Calibri" pitchFamily="34" charset="-120"/>
              </a:rPr>
              <a:t>✅ Tense shift — “use” should be “used”</a:t>
            </a:r>
            <a:endParaRPr lang="en-US" sz="1200" dirty="0"/>
          </a:p>
        </p:txBody>
      </p:sp>
      <p:sp>
        <p:nvSpPr>
          <p:cNvPr id="13" name="Shape 11"/>
          <p:cNvSpPr/>
          <p:nvPr/>
        </p:nvSpPr>
        <p:spPr>
          <a:xfrm>
            <a:off x="365760" y="3355848"/>
            <a:ext cx="8412480" cy="685800"/>
          </a:xfrm>
          <a:prstGeom prst="roundRect">
            <a:avLst>
              <a:gd name="adj" fmla="val 13333"/>
            </a:avLst>
          </a:prstGeom>
          <a:solidFill>
            <a:srgbClr val="FEF6E8"/>
          </a:solidFill>
          <a:ln w="12700">
            <a:solidFill>
              <a:srgbClr val="C7922C"/>
            </a:solidFill>
            <a:prstDash val="solid"/>
          </a:ln>
        </p:spPr>
      </p:sp>
      <p:sp>
        <p:nvSpPr>
          <p:cNvPr id="14" name="Text 12"/>
          <p:cNvSpPr/>
          <p:nvPr/>
        </p:nvSpPr>
        <p:spPr>
          <a:xfrm>
            <a:off x="548640" y="3410712"/>
            <a:ext cx="8046720" cy="548640"/>
          </a:xfrm>
          <a:prstGeom prst="rect">
            <a:avLst/>
          </a:prstGeom>
          <a:noFill/>
          <a:ln/>
        </p:spPr>
        <p:txBody>
          <a:bodyPr wrap="square" lIns="0" tIns="0" rIns="0" bIns="0" rtlCol="0" anchor="t"/>
          <a:lstStyle/>
          <a:p>
            <a:pPr indent="0" marL="0">
              <a:buNone/>
            </a:pPr>
            <a:r>
              <a:rPr lang="en-US" sz="1000" b="1" dirty="0">
                <a:solidFill>
                  <a:srgbClr val="C7922C"/>
                </a:solidFill>
                <a:latin typeface="Calibri" pitchFamily="34" charset="0"/>
                <a:ea typeface="Calibri" pitchFamily="34" charset="-122"/>
                <a:cs typeface="Calibri" pitchFamily="34" charset="-120"/>
              </a:rPr>
              <a:t>🫖 Show What You Know · Grammar
</a:t>
            </a:r>
            <a:pPr indent="0" marL="0">
              <a:buNone/>
            </a:pPr>
            <a:r>
              <a:rPr lang="en-US" sz="1000" i="1" dirty="0">
                <a:solidFill>
                  <a:srgbClr val="1E293B"/>
                </a:solidFill>
                <a:latin typeface="Calibri" pitchFamily="34" charset="0"/>
                <a:ea typeface="Calibri" pitchFamily="34" charset="-122"/>
                <a:cs typeface="Calibri" pitchFamily="34" charset="-120"/>
              </a:rPr>
              <a:t>Write the corrected version of the sentence with the tense shift from the activity above. Then write your own consistent past-tense sentence about something Nat does in Chapter 6 (the ash-breeze scene or his night studies).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Identify Syllable Patterns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Identify — mark VCV or VCCV in each word</a:t>
            </a:r>
            <a:endParaRPr lang="en-US" sz="1100" dirty="0"/>
          </a:p>
        </p:txBody>
      </p:sp>
      <p:sp>
        <p:nvSpPr>
          <p:cNvPr id="7" name="Shape 5"/>
          <p:cNvSpPr/>
          <p:nvPr/>
        </p:nvSpPr>
        <p:spPr>
          <a:xfrm>
            <a:off x="365760" y="1143000"/>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207008"/>
            <a:ext cx="8046720" cy="649224"/>
          </a:xfrm>
          <a:prstGeom prst="rect">
            <a:avLst/>
          </a:prstGeom>
          <a:noFill/>
          <a:ln/>
        </p:spPr>
        <p:txBody>
          <a:bodyPr wrap="square" lIns="0" tIns="0" rIns="0" bIns="0" rtlCol="0" anchor="ctr"/>
          <a:lstStyle/>
          <a:p>
            <a:pPr indent="0" marL="0">
              <a:buNone/>
            </a:pPr>
            <a:r>
              <a:rPr lang="en-US" sz="1150" b="1" dirty="0">
                <a:solidFill>
                  <a:srgbClr val="0E1C42"/>
                </a:solidFill>
                <a:latin typeface="Calibri" pitchFamily="34" charset="0"/>
                <a:ea typeface="Calibri" pitchFamily="34" charset="-122"/>
                <a:cs typeface="Calibri" pitchFamily="34" charset="-120"/>
              </a:rPr>
              <a:t>✏️ Identify and divide in your reading journal
</a:t>
            </a:r>
            <a:pPr indent="0" marL="0">
              <a:buNone/>
            </a:pPr>
            <a:r>
              <a:rPr lang="en-US" sz="1100" dirty="0">
                <a:solidFill>
                  <a:srgbClr val="1E293B"/>
                </a:solidFill>
                <a:latin typeface="Calibri" pitchFamily="34" charset="0"/>
                <a:ea typeface="Calibri" pitchFamily="34" charset="-122"/>
                <a:cs typeface="Calibri" pitchFamily="34" charset="-120"/>
              </a:rPr>
              <a:t>bi·og·ra·phy (4 syllables) — VCV at “bi” (open syllable, long i) chro·nom·e·ter (4 syllables) — VCCV between “n” and “o” ap·pren·tice (3 syllables) — VCCV: divide between the double “p” log·a·rithm (3 syllables) — VCCV: divide after “log” 📓 Write each word in your journal with dots between syllables. Underline the consonant pair or single consonant where you divided.</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Nat’s Path Through Carry On, Mr. Bowditch — 📍 You are here: Chapter 6 — Sail by Ash Breeze!</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6 — Sail by Ash Breeze!</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Who explains the “ash breeze” philosophy, and what is the literal meaning (what do sailors actually do when there is no wind)?</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How does Nat apply this idea to his own situation at Ropes and Hodges?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Explain the “ash breeze” idea in your own words. What does it literally mean for a sailor when the wind dies? Then explain how Nat applies this idea to his situation as an indentured apprentice.</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Latham writes: “Nat worked at his bookkeeping until the chandlery grew dark around him, and then he lit a candle and went on working.” What does this single sentence reveal about Nat’s character that could not be shown by simply saying “Nat was very hardworking”?</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At the end of Chapter 5, Nat’s whistle died when he left the house. By the middle of Chapter 6, he is studying Latin by candlelight. What has changed? What is Nat’s “ash breeze” — how is he rowing when he cannot sail?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PLAN  ·  Choose evidence for Body Section 1</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Planning isn’t just deciding WHAT to say — it’s deciding WHICH evidence is strongest. Today you rank your Body 1 evidence.</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All four options: (1) Nat studies at night in the chandlery. (2) Sam Smith teaches him navigation vocabulary. (3) Nat teaches himself Latin and algebra. (4) He fills notebooks with everything he learns.</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ranking: (1) Chandlery nights — most powerful, shows volume of work. (2) Filling notebooks — shows method, not just effort. Cuts: Sam Smith — Sam helps, but the EFFORT is Nat’s. Latin/algebra — supports the first point, doesn’t add new subtopic.</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Alex doesn’t use ALL the evidence. Using your best two pieces is stronger than listing four weak ones. The cut evidence isn’t wasted — it might appear in another body section or support your claim indirectly.</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EVIDENCE RANKER</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List 3–4 pieces of evidence for your Body 1 subtopic. Then rank them: which TWO are strongest?</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List your Body 1 evidence options, rank them by strength, and choose your two best. Write your ranking and reasoning.</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2026-07-13T16:49:16Z</dcterms:created>
  <dcterms:modified xsi:type="dcterms:W3CDTF">2026-07-13T16:49:16Z</dcterms:modified>
</cp:coreProperties>
</file>