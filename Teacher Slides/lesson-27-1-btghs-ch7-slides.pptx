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27, Day 1, Week 27 — Chapter 7: End of the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Praiseworthy doesn't invent anything. He simply notices what everyone else overlooked. The lumber was always in the hold. The captain always knew it was there. But it took Praiseworthy to connect the dots. Chapter 7 is a story about seeing clearly under pressure.
Morphology SWYK: I will define the roots curr/curs (run) and tract (pull) and write two sentences connecting them to the novel.
Grammar: I will identify compound and complex sentences and how they create momentum in action writing.
Reading: I will analyze cause-and-effect in Chapter 7 and explain Praiseworthy's key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"captain Swain leaned out of the pilothouse and he didn't have a lump of coal to fight the headwinds but Praiseworthy had a solution — the lumber in the hold"
Corrected: "Captain Swain leaned out of the pilothouse, and he didn't have a lump of coal to fight the headwinds; but Praiseworthy had a solution — the lumber in the hold."
Fixes: capitalize Captain Swain ; comma + and between two independent clauses (compound); semicolon before but to separate the third independent clause; em dash kept for drama.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"captain Swain leaned out of the pilothouse and he didn't have a lump of coal to fight the headwinds but Praiseworthy had a solution — the lumber in the hold"
Corrected: "Captain Swain leaned out of the pilothouse, and he didn't have a lump of coal to fight the headwinds; but Praiseworthy had a solution — the lumber in the hold."
Fixes: capitalize Captain Swain ; comma + and between two independent clauses (compound); semicolon before but to separate the third independent clause; em dash kept for drama.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Did I use a capital letter at the start of each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Word Study SWYK strand today: Morphology.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flip_cards.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–tion/–sion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27 — Chapter 7: End of the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BUILD THE MIDDLE
Focus: The race is won — now your hero needs a new obstacle
Task: Write the middle section of your adventure. Make things worse before they get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27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27 — Chapter 7: End of the Race</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27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Praiseworthy doesn't invent anything. He simply notices what everyone else overlooked. The lumber was always in the hold. The captain always knew it was there. But it took Praiseworthy to connect the dots. Chapter 7 is a story about seeing clearly under pressure.</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Morphology SWYK: </a:t>
            </a:r>
            <a:pPr indent="0" marL="0">
              <a:buNone/>
            </a:pPr>
            <a:r>
              <a:rPr lang="en-US" sz="1250" dirty="0">
                <a:solidFill>
                  <a:srgbClr val="1E293B"/>
                </a:solidFill>
                <a:latin typeface="Calibri" pitchFamily="34" charset="0"/>
                <a:ea typeface="Calibri" pitchFamily="34" charset="-122"/>
                <a:cs typeface="Calibri" pitchFamily="34" charset="-120"/>
              </a:rPr>
              <a:t>I will define the roots curr/curs (run) and tract (pull) and write two sentences connecting them to the novel.</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compound and complex sentences and how they create momentum in action writing.</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cause-and-effect in Chapter 7 and explain Praiseworthy's key insight.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Because the Sea Raven had loaded extra coal onto her decks , she sat dangerously low in the water and the Lady Wilma crept steadily ahead.</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Because the Sea Raven had loaded extra coal onto her decks  </a:t>
            </a:r>
            <a:pPr indent="0" marL="0">
              <a:buNone/>
            </a:pP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and the Lady Wilma crept steadily ahead.  </a:t>
            </a:r>
            <a:pPr indent="0" marL="0">
              <a:buNone/>
            </a:pP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captain Swain leaned out of the pilothouse and he didn't have a lump of coal to fight the headwinds but Praiseworthy had a solution — the lumber in the hold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captain Swain leaned out of the pilothouse and he didn't have a lump of coal to fight the headwinds but Praiseworthy had a solution — the lumber in the hold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Captain Swain leaned out of the pilothouse, and he didn't have a lump of coal to fight the headwinds; but Praiseworthy had a solution — the lumber in the hold.</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Fixes: capitalize Captain Swain ; comma + and between two independent clauses (compound); semicolon before but to separate the third independent clause; em dash kept for drama.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Praiseworthy wins the race by noticing something everyone else overlooked, not by inventing anything new. Is noticing more valuable than inventing? Defend your answer with evidence from Chapter 7.</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Praiseworthy wins the race by noticing something everyone else overlooked, not by inventing anything new. Is noticing more valuable than inventing? Defend your answer with evidence from Chapter 7.</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Did I use a capital letter at the start of each sentence?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Roots curr/curs + tract</a:t>
            </a:r>
            <a:endParaRPr lang="en-US" sz="1100" dirty="0"/>
          </a:p>
        </p:txBody>
      </p:sp>
      <p:sp>
        <p:nvSpPr>
          <p:cNvPr id="5" name="Shape 3"/>
          <p:cNvSpPr/>
          <p:nvPr/>
        </p:nvSpPr>
        <p:spPr>
          <a:xfrm>
            <a:off x="365760" y="1097280"/>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curr / curs (Latin) = run . Words with this root involve movement, flow, or the passage of time.</a:t>
            </a:r>
            <a:endParaRPr lang="en-US" sz="1100" dirty="0"/>
          </a:p>
        </p:txBody>
      </p:sp>
      <p:sp>
        <p:nvSpPr>
          <p:cNvPr id="7" name="Shape 5"/>
          <p:cNvSpPr/>
          <p:nvPr/>
        </p:nvSpPr>
        <p:spPr>
          <a:xfrm>
            <a:off x="365760" y="16642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992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tract (Latin) = pull, drag . Words with this root involve drawing something toward, or pulling it along.</a:t>
            </a:r>
            <a:endParaRPr lang="en-US" sz="1100" dirty="0"/>
          </a:p>
        </p:txBody>
      </p:sp>
      <p:sp>
        <p:nvSpPr>
          <p:cNvPr id="9" name="Shape 7"/>
          <p:cNvSpPr/>
          <p:nvPr/>
        </p:nvSpPr>
        <p:spPr>
          <a:xfrm>
            <a:off x="365760" y="2231136"/>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7685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curr ent — water (or events) running continuously</a:t>
            </a:r>
            <a:endParaRPr lang="en-US" sz="1100" dirty="0"/>
          </a:p>
        </p:txBody>
      </p:sp>
      <p:sp>
        <p:nvSpPr>
          <p:cNvPr id="11" name="Shape 9"/>
          <p:cNvSpPr/>
          <p:nvPr/>
        </p:nvSpPr>
        <p:spPr>
          <a:xfrm>
            <a:off x="365760" y="2798064"/>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oc cur — to run into; to happen</a:t>
            </a:r>
            <a:endParaRPr lang="en-US" sz="1100" dirty="0"/>
          </a:p>
        </p:txBody>
      </p:sp>
      <p:sp>
        <p:nvSpPr>
          <p:cNvPr id="13" name="Shape 11"/>
          <p:cNvSpPr/>
          <p:nvPr/>
        </p:nvSpPr>
        <p:spPr>
          <a:xfrm>
            <a:off x="365760" y="3410712"/>
            <a:ext cx="8412480" cy="777240"/>
          </a:xfrm>
          <a:prstGeom prst="roundRect">
            <a:avLst>
              <a:gd name="adj" fmla="val 11765"/>
            </a:avLst>
          </a:prstGeom>
          <a:solidFill>
            <a:srgbClr val="FEF6E8"/>
          </a:solidFill>
          <a:ln w="12700">
            <a:solidFill>
              <a:srgbClr val="C7922C"/>
            </a:solidFill>
            <a:prstDash val="solid"/>
          </a:ln>
        </p:spPr>
      </p:sp>
      <p:sp>
        <p:nvSpPr>
          <p:cNvPr id="14" name="Text 12"/>
          <p:cNvSpPr/>
          <p:nvPr/>
        </p:nvSpPr>
        <p:spPr>
          <a:xfrm>
            <a:off x="548640" y="3483864"/>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Morphology
</a:t>
            </a:r>
            <a:pPr indent="0" marL="0">
              <a:buNone/>
            </a:pPr>
            <a:r>
              <a:rPr lang="en-US" sz="1050" i="1" dirty="0">
                <a:solidFill>
                  <a:srgbClr val="1E293B"/>
                </a:solidFill>
                <a:latin typeface="Calibri" pitchFamily="34" charset="0"/>
                <a:ea typeface="Calibri" pitchFamily="34" charset="-122"/>
                <a:cs typeface="Calibri" pitchFamily="34" charset="-120"/>
              </a:rPr>
              <a:t>Write two sentences. In the first, use a word with the root curr/curs and underline the root. In the second, use a word with the root tract and underline the root. Both sentences should connect to the adventure of Chapters 7–9.</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Meet this week's five words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skedaddled  </a:t>
            </a:r>
            <a:pPr indent="0" marL="0">
              <a:buNone/>
            </a:pPr>
            <a:r>
              <a:rPr lang="en-US" sz="1150" dirty="0">
                <a:solidFill>
                  <a:srgbClr val="1E293B"/>
                </a:solidFill>
                <a:latin typeface="Calibri" pitchFamily="34" charset="0"/>
                <a:ea typeface="Calibri" pitchFamily="34" charset="-122"/>
                <a:cs typeface="Calibri" pitchFamily="34" charset="-120"/>
              </a:rPr>
              <a:t>Fled or left in a hurry. Informal American English — used by Captain Swain when the Sea Raven disappears with all the coal.</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grubstake  </a:t>
            </a:r>
            <a:pPr indent="0" marL="0">
              <a:buNone/>
            </a:pPr>
            <a:r>
              <a:rPr lang="en-US" sz="1150" dirty="0">
                <a:solidFill>
                  <a:srgbClr val="1E293B"/>
                </a:solidFill>
                <a:latin typeface="Calibri" pitchFamily="34" charset="0"/>
                <a:ea typeface="Calibri" pitchFamily="34" charset="-122"/>
                <a:cs typeface="Calibri" pitchFamily="34" charset="-120"/>
              </a:rPr>
              <a:t>Money or supplies given to a miner in return for a share of the gold found; their survival fund for mining.</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diggings  </a:t>
            </a:r>
            <a:pPr indent="0" marL="0">
              <a:buNone/>
            </a:pPr>
            <a:r>
              <a:rPr lang="en-US" sz="1150" dirty="0">
                <a:solidFill>
                  <a:srgbClr val="1E293B"/>
                </a:solidFill>
                <a:latin typeface="Calibri" pitchFamily="34" charset="0"/>
                <a:ea typeface="Calibri" pitchFamily="34" charset="-122"/>
                <a:cs typeface="Calibri" pitchFamily="34" charset="-120"/>
              </a:rPr>
              <a:t>The mining site; the place where miners dig and pan for gold.</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assay  </a:t>
            </a:r>
            <a:pPr indent="0" marL="0">
              <a:buNone/>
            </a:pPr>
            <a:r>
              <a:rPr lang="en-US" sz="1150" dirty="0">
                <a:solidFill>
                  <a:srgbClr val="1E293B"/>
                </a:solidFill>
                <a:latin typeface="Calibri" pitchFamily="34" charset="0"/>
                <a:ea typeface="Calibri" pitchFamily="34" charset="-122"/>
                <a:cs typeface="Calibri" pitchFamily="34" charset="-120"/>
              </a:rPr>
              <a:t>To test or measure the purity and value of ore or gold. Quartz Jackson 'assays' his beard dust.</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jipijapa  </a:t>
            </a:r>
            <a:pPr indent="0" marL="0">
              <a:buNone/>
            </a:pPr>
            <a:r>
              <a:rPr lang="en-US" sz="1150" dirty="0">
                <a:solidFill>
                  <a:srgbClr val="1E293B"/>
                </a:solidFill>
                <a:latin typeface="Calibri" pitchFamily="34" charset="0"/>
                <a:ea typeface="Calibri" pitchFamily="34" charset="-122"/>
                <a:cs typeface="Calibri" pitchFamily="34" charset="-120"/>
              </a:rPr>
              <a:t>A hat woven from fine palm leaves (also called a Panama hat); the hat that hides a very dangerous face on the stagecoach.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Compound &amp; Complex Sentences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Define — the two sentence types that power adventure writing</a:t>
            </a: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Compound sentence: Two independent clauses joined by a coordinating conjunction (for, and, nor, but, or, yet, so — FANBOYS) or a semicolon. Equal ideas, forward momentum. Example: “The Sea Raven passed with a blast of her whistle, and the gold-seekers on the Lady Wilma fell silent.”</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Complex sentence: An independent clause + a dependent clause (because, when, although, unless, while, since, until, if). Shows cause, condition, or time relationship. Example: “ Because the Sea Raven had loaded too much coal, she sat low in the water — and the Lady Wilma crept ahead.”</a:t>
            </a:r>
            <a:endParaRPr lang="en-US" sz="1150" dirty="0"/>
          </a:p>
        </p:txBody>
      </p:sp>
      <p:sp>
        <p:nvSpPr>
          <p:cNvPr id="9" name="Shape 7"/>
          <p:cNvSpPr/>
          <p:nvPr/>
        </p:nvSpPr>
        <p:spPr>
          <a:xfrm>
            <a:off x="365760" y="2359152"/>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action writing: Compound = simultaneous events happening together. Complex = cause and effect, the engine of adventure.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–tion/–sion Words</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Define — learn the pattern</a:t>
            </a: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The suffix –tion or –sion turns a verb into a noun meaning the act of or the state of :</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extract → extraction · distract → distraction · construct → construction</a:t>
            </a:r>
            <a:endParaRPr lang="en-US" sz="1150" dirty="0"/>
          </a:p>
        </p:txBody>
      </p:sp>
      <p:sp>
        <p:nvSpPr>
          <p:cNvPr id="9" name="Shape 7"/>
          <p:cNvSpPr/>
          <p:nvPr/>
        </p:nvSpPr>
        <p:spPr>
          <a:xfrm>
            <a:off x="365760" y="2359152"/>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excurse → excursion · attract → attraction · direct → direction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27 — Chapter 7: End of the Race</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27 — Chapter 7: End of the Race</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 Reading Focus Chapter 7 is Fleischman's payoff chapter — it delivers everything the race storyline has been building. Watch how he paces it: the coal crisis, the headwinds reversal, the lumber solution, the final sprint. Notice also that it's Praiseworthy who provides the key insight. Ask yourself: how does cause lead to effect, step by step, through this chapter?</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Chapter 7 — “End of the Race”</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The Sea Raven stole all the coal at Callao, which seemed like a devastating blow. Explain how that theft ironically helps the Lady Wilma win the race. Trace the cause-and-effect chain through the chapter.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Praiseworthy tells the captain about the lumber — but he says he “merely reminded him.” What is the pattern of how Praiseworthy solves problems? Give one other example from earlier in the novel.</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“Gentlemen, I believe we've won the race.” Praiseworthy says this after 15,000 miles and five months at sea. What makes this moment feel earned? Use at least one specific detail from the voyage to support your answer.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BUILD THE MIDDLE</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The race is won — now your hero needs a new obstacle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Write the middle section of your adventure. Make things worse before they get better.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2026-07-13T17:56:39Z</dcterms:created>
  <dcterms:modified xsi:type="dcterms:W3CDTF">2026-07-13T17:56:39Z</dcterms:modified>
</cp:coreProperties>
</file>